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22"/>
  </p:handoutMasterIdLst>
  <p:sldIdLst>
    <p:sldId id="256" r:id="rId2"/>
    <p:sldId id="275" r:id="rId3"/>
    <p:sldId id="257" r:id="rId4"/>
    <p:sldId id="284" r:id="rId5"/>
    <p:sldId id="285" r:id="rId6"/>
    <p:sldId id="268" r:id="rId7"/>
    <p:sldId id="258" r:id="rId8"/>
    <p:sldId id="283" r:id="rId9"/>
    <p:sldId id="259" r:id="rId10"/>
    <p:sldId id="260" r:id="rId11"/>
    <p:sldId id="280" r:id="rId12"/>
    <p:sldId id="281" r:id="rId13"/>
    <p:sldId id="282" r:id="rId14"/>
    <p:sldId id="286" r:id="rId15"/>
    <p:sldId id="273" r:id="rId16"/>
    <p:sldId id="298" r:id="rId17"/>
    <p:sldId id="299" r:id="rId18"/>
    <p:sldId id="301" r:id="rId19"/>
    <p:sldId id="263" r:id="rId20"/>
    <p:sldId id="287" r:id="rId21"/>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6627" name="Rectangle 3"/>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6628" name="Rectangle 4"/>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6629" name="Rectangle 5"/>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p>
            <a:pPr lvl="0" algn="r" eaLnBrk="1" hangingPunct="1"/>
            <a:fld id="{9A0DB2DC-4C9A-4742-B13C-FB6460FD3503}" type="slidenum">
              <a:rPr lang="en-US" altLang="en-US" sz="1200" dirty="0"/>
              <a:t>‹#›</a:t>
            </a:fld>
            <a:endParaRPr lang="en-US" altLang="en-US" sz="1200" dirty="0"/>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p>
            <a:pPr lvl="0" eaLnBrk="1" hangingPunct="1"/>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p>
            <a:pPr lvl="0" eaLnBrk="1" hangingPunct="1"/>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p>
            <a:pPr lvl="0" eaLnBrk="1" hangingPunct="1"/>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p>
            <a:pPr lvl="0" eaLnBrk="1" hangingPunct="1"/>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9" name="Slide Number Placeholder 8"/>
          <p:cNvSpPr>
            <a:spLocks noGrp="1"/>
          </p:cNvSpPr>
          <p:nvPr>
            <p:ph type="sldNum" sz="quarter" idx="12"/>
          </p:nvPr>
        </p:nvSpPr>
        <p:spPr/>
        <p:txBody>
          <a:bodyPr/>
          <a:lstStyle/>
          <a:p>
            <a:pPr lvl="0" eaLnBrk="1" hangingPunct="1"/>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2"/>
          </p:nvPr>
        </p:nvSpPr>
        <p:spPr/>
        <p:txBody>
          <a:bodyPr/>
          <a:lstStyle/>
          <a:p>
            <a:pPr lvl="0" eaLnBrk="1" hangingPunct="1"/>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Slide Number Placeholder 3"/>
          <p:cNvSpPr>
            <a:spLocks noGrp="1"/>
          </p:cNvSpPr>
          <p:nvPr>
            <p:ph type="sldNum" sz="quarter" idx="12"/>
          </p:nvPr>
        </p:nvSpPr>
        <p:spPr/>
        <p:txBody>
          <a:bodyPr/>
          <a:lstStyle/>
          <a:p>
            <a:pPr lvl="0" eaLnBrk="1" hangingPunct="1"/>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p>
            <a:pPr lvl="0" eaLnBrk="1" hangingPunct="1"/>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p>
            <a:pPr lvl="0" eaLnBrk="1" hangingPunct="1"/>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p>
            <a:pPr lvl="0" eaLnBrk="1" hangingPunct="1"/>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p>
            <a:pPr lvl="0" eaLnBrk="1" hangingPunct="1"/>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57200" y="274638"/>
            <a:ext cx="8229600" cy="1143000"/>
          </a:xfrm>
          <a:prstGeom prst="rect">
            <a:avLst/>
          </a:prstGeom>
          <a:noFill/>
          <a:ln w="9525">
            <a:noFill/>
          </a:ln>
        </p:spPr>
        <p:txBody>
          <a:bodyPr anchor="ctr" anchorCtr="0"/>
          <a:lstStyle/>
          <a:p>
            <a:pPr lvl="0"/>
            <a:r>
              <a:rPr lang="en-US" altLang="en-US" dirty="0"/>
              <a:t>Click to edit Master title style</a:t>
            </a:r>
          </a:p>
        </p:txBody>
      </p:sp>
      <p:sp>
        <p:nvSpPr>
          <p:cNvPr id="1027" name="Rectangle 3"/>
          <p:cNvSpPr>
            <a:spLocks noGrp="1"/>
          </p:cNvSpPr>
          <p:nvPr>
            <p:ph type="body" idx="1"/>
          </p:nvPr>
        </p:nvSpPr>
        <p:spPr>
          <a:xfrm>
            <a:off x="457200" y="1600200"/>
            <a:ext cx="8229600" cy="4525963"/>
          </a:xfrm>
          <a:prstGeom prst="rect">
            <a:avLst/>
          </a:prstGeom>
          <a:noFill/>
          <a:ln w="9525">
            <a:noFill/>
          </a:ln>
        </p:spPr>
        <p:txBody>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lstStyle>
            <a:lvl1pPr algn="r">
              <a:defRPr sz="1400"/>
            </a:lvl1pPr>
          </a:lstStyle>
          <a:p>
            <a:pPr lvl="0" eaLnBrk="1" hangingPunct="1"/>
            <a:fld id="{9A0DB2DC-4C9A-4742-B13C-FB6460FD3503}" type="slidenum">
              <a:rPr lang="en-US" altLang="en-US" dirty="0">
                <a:latin typeface="Arial" panose="020B0604020202020204" pitchFamily="34" charset="0"/>
              </a:rPr>
              <a:t>‹#›</a:t>
            </a:fld>
            <a:endParaRPr lang="en-US"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ctrTitle"/>
          </p:nvPr>
        </p:nvSpPr>
        <p:spPr>
          <a:xfrm>
            <a:off x="685800" y="2130425"/>
            <a:ext cx="7772400" cy="1470025"/>
          </a:xfrm>
        </p:spPr>
        <p:txBody>
          <a:bodyPr vert="horz" wrap="square" lIns="91440" tIns="45720" rIns="91440" bIns="45720" anchor="ctr" anchorCtr="0"/>
          <a:lstStyle/>
          <a:p>
            <a:pPr eaLnBrk="1" hangingPunct="1">
              <a:buClrTx/>
              <a:buSzTx/>
              <a:buFontTx/>
            </a:pPr>
            <a:r>
              <a:rPr lang="en-US" altLang="en-US" sz="4400" b="1" kern="1200" dirty="0">
                <a:latin typeface="Times New Roman" panose="02020603050405020304" pitchFamily="18" charset="0"/>
                <a:ea typeface="+mj-ea"/>
                <a:cs typeface="Times New Roman" panose="02020603050405020304" pitchFamily="18" charset="0"/>
              </a:rPr>
              <a:t>Basic Network Commands</a:t>
            </a:r>
            <a:endParaRPr lang="en-US" altLang="en-US" sz="4400" b="1" kern="1200" dirty="0">
              <a:latin typeface="Times New Roman" panose="02020603050405020304" pitchFamily="18" charset="0"/>
              <a:ea typeface="Times New Roman" panose="02020603050405020304" pitchFamily="18" charset="0"/>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457200" y="190500"/>
            <a:ext cx="8229600" cy="1143000"/>
          </a:xfrm>
        </p:spPr>
        <p:txBody>
          <a:bodyPr vert="horz" wrap="square" lIns="91440" tIns="45720" rIns="91440" bIns="45720" anchor="ctr" anchorCtr="0"/>
          <a:lstStyle/>
          <a:p>
            <a:pPr eaLnBrk="1" hangingPunct="1"/>
            <a:r>
              <a:rPr lang="en-US" altLang="en-US" b="1" dirty="0">
                <a:latin typeface="Times New Roman" panose="02020603050405020304" pitchFamily="18" charset="0"/>
                <a:cs typeface="Times New Roman" panose="02020603050405020304" pitchFamily="18" charset="0"/>
              </a:rPr>
              <a:t>‘hostname’</a:t>
            </a:r>
            <a:endParaRPr lang="en-US" altLang="en-US" b="1" dirty="0">
              <a:latin typeface="Times New Roman" panose="02020603050405020304" pitchFamily="18" charset="0"/>
              <a:ea typeface="Times New Roman" panose="02020603050405020304" pitchFamily="18" charset="0"/>
            </a:endParaRPr>
          </a:p>
        </p:txBody>
      </p:sp>
      <p:sp>
        <p:nvSpPr>
          <p:cNvPr id="4099" name="Rectangle 3"/>
          <p:cNvSpPr>
            <a:spLocks noGrp="1"/>
          </p:cNvSpPr>
          <p:nvPr>
            <p:ph idx="1"/>
          </p:nvPr>
        </p:nvSpPr>
        <p:spPr/>
        <p:txBody>
          <a:bodyPr vert="horz" wrap="square" lIns="91440" tIns="45720" rIns="91440" bIns="45720" anchor="t" anchorCtr="0"/>
          <a:lstStyle/>
          <a:p>
            <a:pPr algn="just" eaLnBrk="1" hangingPunct="1"/>
            <a:r>
              <a:rPr lang="en-US" altLang="en-US" dirty="0">
                <a:latin typeface="Times New Roman" panose="02020603050405020304" pitchFamily="18" charset="0"/>
                <a:cs typeface="Times New Roman" panose="02020603050405020304" pitchFamily="18" charset="0"/>
              </a:rPr>
              <a:t>This command will quickly show you the network name for your host machine (or will allow you to change that name if you possess the necessary authorization) </a:t>
            </a:r>
          </a:p>
          <a:p>
            <a:pPr algn="just" eaLnBrk="1" hangingPunct="1"/>
            <a:r>
              <a:rPr lang="en-US" altLang="en-US" dirty="0">
                <a:latin typeface="Times New Roman" panose="02020603050405020304" pitchFamily="18" charset="0"/>
                <a:cs typeface="Times New Roman" panose="02020603050405020304" pitchFamily="18" charset="0"/>
              </a:rPr>
              <a:t>Example:  </a:t>
            </a:r>
            <a:r>
              <a:rPr lang="en-US" altLang="en-US" b="1" dirty="0">
                <a:latin typeface="Times New Roman" panose="02020603050405020304" pitchFamily="18" charset="0"/>
                <a:cs typeface="Times New Roman" panose="02020603050405020304" pitchFamily="18" charset="0"/>
              </a:rPr>
              <a:t>hostname</a:t>
            </a:r>
            <a:r>
              <a:rPr lang="en-US" altLang="en-US" dirty="0">
                <a:latin typeface="Times New Roman" panose="02020603050405020304" pitchFamily="18" charset="0"/>
                <a:cs typeface="Times New Roman" panose="02020603050405020304" pitchFamily="18" charset="0"/>
              </a:rPr>
              <a:t>  </a:t>
            </a: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xfrm>
            <a:off x="457200" y="274638"/>
            <a:ext cx="8229600" cy="715962"/>
          </a:xfrm>
        </p:spPr>
        <p:txBody>
          <a:bodyPr vert="horz" wrap="square" lIns="91440" tIns="45720" rIns="91440" bIns="45720" anchor="ctr" anchorCtr="0"/>
          <a:lstStyle/>
          <a:p>
            <a:pPr eaLnBrk="1" hangingPunct="1"/>
            <a:r>
              <a:rPr lang="en-US" altLang="en-US" b="1" dirty="0">
                <a:latin typeface="Times New Roman" panose="02020603050405020304" pitchFamily="18" charset="0"/>
                <a:cs typeface="Times New Roman" panose="02020603050405020304" pitchFamily="18" charset="0"/>
              </a:rPr>
              <a:t>‘ping’</a:t>
            </a:r>
            <a:endParaRPr lang="en-US" altLang="en-US" b="1" dirty="0">
              <a:latin typeface="Times New Roman" panose="02020603050405020304" pitchFamily="18" charset="0"/>
              <a:ea typeface="Times New Roman" panose="02020603050405020304" pitchFamily="18" charset="0"/>
            </a:endParaRPr>
          </a:p>
        </p:txBody>
      </p:sp>
      <p:sp>
        <p:nvSpPr>
          <p:cNvPr id="5123" name="Rectangle 3"/>
          <p:cNvSpPr>
            <a:spLocks noGrp="1"/>
          </p:cNvSpPr>
          <p:nvPr>
            <p:ph idx="1"/>
          </p:nvPr>
        </p:nvSpPr>
        <p:spPr>
          <a:xfrm>
            <a:off x="457200" y="1143000"/>
            <a:ext cx="8229600" cy="4983163"/>
          </a:xfrm>
        </p:spPr>
        <p:txBody>
          <a:bodyPr vert="horz" wrap="square" lIns="91440" tIns="45720" rIns="91440" bIns="45720" anchor="t" anchorCtr="0"/>
          <a:lstStyle/>
          <a:p>
            <a:pPr algn="just" eaLnBrk="1" hangingPunct="1"/>
            <a:r>
              <a:rPr sz="2800" dirty="0">
                <a:latin typeface="Times New Roman" panose="02020603050405020304" pitchFamily="18" charset="0"/>
                <a:cs typeface="Times New Roman" panose="02020603050405020304" pitchFamily="18" charset="0"/>
              </a:rPr>
              <a:t>The </a:t>
            </a:r>
            <a:r>
              <a:rPr sz="2800" b="1" dirty="0">
                <a:latin typeface="Times New Roman" panose="02020603050405020304" pitchFamily="18" charset="0"/>
                <a:cs typeface="Times New Roman" panose="02020603050405020304" pitchFamily="18" charset="0"/>
              </a:rPr>
              <a:t>ping</a:t>
            </a:r>
            <a:r>
              <a:rPr sz="2800" dirty="0">
                <a:latin typeface="Times New Roman" panose="02020603050405020304" pitchFamily="18" charset="0"/>
                <a:cs typeface="Times New Roman" panose="02020603050405020304" pitchFamily="18" charset="0"/>
              </a:rPr>
              <a:t> command is used to test connectivity between two hosts. It sends ICMP echo request messages to the destination. The destination host replies with ICMP reply messages. If the ping command gets a reply from the destination host, it displays the reply along with round-trip times.</a:t>
            </a:r>
          </a:p>
          <a:p>
            <a:pPr algn="just" eaLnBrk="1" hangingPunct="1"/>
            <a:r>
              <a:rPr lang="en-US" altLang="en-US" sz="2800" dirty="0">
                <a:latin typeface="Times New Roman" panose="02020603050405020304" pitchFamily="18" charset="0"/>
                <a:cs typeface="Times New Roman" panose="02020603050405020304" pitchFamily="18" charset="0"/>
              </a:rPr>
              <a:t>Example:   </a:t>
            </a:r>
            <a:r>
              <a:rPr lang="en-US" altLang="en-US" sz="2800" b="1" dirty="0">
                <a:latin typeface="Times New Roman" panose="02020603050405020304" pitchFamily="18" charset="0"/>
                <a:cs typeface="Times New Roman" panose="02020603050405020304" pitchFamily="18" charset="0"/>
              </a:rPr>
              <a:t>ping </a:t>
            </a:r>
            <a:r>
              <a:rPr lang="en-US" altLang="en-US" sz="2800" i="1" dirty="0">
                <a:latin typeface="Times New Roman" panose="02020603050405020304" pitchFamily="18" charset="0"/>
                <a:cs typeface="Times New Roman" panose="02020603050405020304" pitchFamily="18" charset="0"/>
              </a:rPr>
              <a:t>destination host ip or name</a:t>
            </a:r>
            <a:r>
              <a:rPr lang="en-US" altLang="en-US" sz="2800" dirty="0">
                <a:latin typeface="Times New Roman" panose="02020603050405020304" pitchFamily="18" charset="0"/>
                <a:cs typeface="Times New Roman" panose="02020603050405020304" pitchFamily="18" charset="0"/>
              </a:rPr>
              <a:t>  </a:t>
            </a:r>
          </a:p>
          <a:p>
            <a:pPr algn="just" eaLnBrk="1" hangingPunct="1"/>
            <a:r>
              <a:rPr lang="en-US" altLang="en-US" sz="2800" dirty="0">
                <a:latin typeface="Times New Roman" panose="02020603050405020304" pitchFamily="18" charset="0"/>
                <a:cs typeface="Times New Roman" panose="02020603050405020304" pitchFamily="18" charset="0"/>
              </a:rPr>
              <a:t>It also confirms that a Network Interface Controller is operating properly, and that a  hostname can be ‘resolved’ to its address</a:t>
            </a:r>
          </a:p>
          <a:p>
            <a:pPr algn="just" eaLnBrk="1" hangingPunct="1"/>
            <a:r>
              <a:rPr lang="en-US" altLang="en-US" sz="2800" dirty="0">
                <a:latin typeface="Times New Roman" panose="02020603050405020304" pitchFamily="18" charset="0"/>
                <a:cs typeface="Times New Roman" panose="02020603050405020304" pitchFamily="18" charset="0"/>
              </a:rPr>
              <a:t>Example: ping www.google.com </a:t>
            </a:r>
            <a:endParaRPr lang="en-US" altLang="en-US" sz="28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vert="horz" wrap="square" lIns="91440" tIns="45720" rIns="91440" bIns="45720" anchor="ctr" anchorCtr="0"/>
          <a:lstStyle/>
          <a:p>
            <a:pPr eaLnBrk="1" hangingPunct="1"/>
            <a:r>
              <a:rPr lang="en-IN" altLang="x-none" b="1" dirty="0">
                <a:latin typeface="Times New Roman" panose="02020603050405020304" pitchFamily="18" charset="0"/>
                <a:cs typeface="Times New Roman" panose="02020603050405020304" pitchFamily="18" charset="0"/>
              </a:rPr>
              <a:t>‘ipconfig’</a:t>
            </a:r>
            <a:endParaRPr lang="en-IN" altLang="x-none" b="1" dirty="0">
              <a:latin typeface="Times New Roman" panose="02020603050405020304" pitchFamily="18" charset="0"/>
              <a:ea typeface="Times New Roman" panose="02020603050405020304" pitchFamily="18" charset="0"/>
            </a:endParaRPr>
          </a:p>
        </p:txBody>
      </p:sp>
      <p:sp>
        <p:nvSpPr>
          <p:cNvPr id="6147" name="Content Placeholder 2"/>
          <p:cNvSpPr>
            <a:spLocks noGrp="1"/>
          </p:cNvSpPr>
          <p:nvPr>
            <p:ph idx="1"/>
          </p:nvPr>
        </p:nvSpPr>
        <p:spPr/>
        <p:txBody>
          <a:bodyPr vert="horz" wrap="square" lIns="91440" tIns="45720" rIns="91440" bIns="45720" anchor="t" anchorCtr="0"/>
          <a:lstStyle/>
          <a:p>
            <a:pPr algn="just" eaLnBrk="1" hangingPunct="1"/>
            <a:r>
              <a:rPr sz="3600" dirty="0">
                <a:latin typeface="Times New Roman" panose="02020603050405020304" pitchFamily="18" charset="0"/>
                <a:cs typeface="Times New Roman" panose="02020603050405020304" pitchFamily="18" charset="0"/>
              </a:rPr>
              <a:t>This command displays all current TCP/IP network configuration values and refreshes Dynamic Host Configuration Protocol (DHCP) and Domain Name System (DNS) settings. This command is mainly used to view the IP addresses on the computers that are configured to obtain their IP address automatically. </a:t>
            </a:r>
            <a:endParaRPr lang="en-IN" altLang="x-none" sz="36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vert="horz" wrap="square" lIns="91440" tIns="45720" rIns="91440" bIns="45720" anchor="ctr" anchorCtr="0"/>
          <a:lstStyle/>
          <a:p>
            <a:pPr eaLnBrk="1" hangingPunct="1"/>
            <a:r>
              <a:rPr lang="en-IN" altLang="x-none" b="1" dirty="0">
                <a:latin typeface="Times New Roman" panose="02020603050405020304" pitchFamily="18" charset="0"/>
                <a:cs typeface="Times New Roman" panose="02020603050405020304" pitchFamily="18" charset="0"/>
              </a:rPr>
              <a:t>options</a:t>
            </a:r>
            <a:endParaRPr lang="en-IN" altLang="x-none" b="1" dirty="0">
              <a:latin typeface="Times New Roman" panose="02020603050405020304" pitchFamily="18" charset="0"/>
              <a:ea typeface="Times New Roman" panose="02020603050405020304" pitchFamily="18" charset="0"/>
            </a:endParaRPr>
          </a:p>
        </p:txBody>
      </p:sp>
      <p:graphicFrame>
        <p:nvGraphicFramePr>
          <p:cNvPr id="4" name="Content Placeholder 3"/>
          <p:cNvGraphicFramePr>
            <a:graphicFrameLocks noGrp="1"/>
          </p:cNvGraphicFramePr>
          <p:nvPr>
            <p:ph idx="1"/>
          </p:nvPr>
        </p:nvGraphicFramePr>
        <p:xfrm>
          <a:off x="457200" y="1622425"/>
          <a:ext cx="8229600" cy="4938713"/>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algn="just"/>
                      <a:r>
                        <a:rPr lang="en-IN" sz="2000">
                          <a:latin typeface="Times New Roman" panose="02020603050405020304" pitchFamily="18" charset="0"/>
                          <a:cs typeface="Times New Roman" panose="02020603050405020304" pitchFamily="18" charset="0"/>
                        </a:rPr>
                        <a:t>/all </a:t>
                      </a:r>
                    </a:p>
                  </a:txBody>
                  <a:tcPr anchor="ctr">
                    <a:lnL>
                      <a:noFill/>
                    </a:lnL>
                    <a:lnR>
                      <a:noFill/>
                    </a:lnR>
                    <a:lnT>
                      <a:noFill/>
                    </a:lnT>
                    <a:lnB>
                      <a:noFill/>
                    </a:lnB>
                  </a:tcPr>
                </a:tc>
                <a:tc>
                  <a:txBody>
                    <a:bodyPr/>
                    <a:lstStyle/>
                    <a:p>
                      <a:pPr algn="just"/>
                      <a:r>
                        <a:rPr lang="en-US" sz="2000">
                          <a:latin typeface="Times New Roman" panose="02020603050405020304" pitchFamily="18" charset="0"/>
                          <a:cs typeface="Times New Roman" panose="02020603050405020304" pitchFamily="18" charset="0"/>
                        </a:rPr>
                        <a:t>Displays the full TCP/IP configuration for all adapters.</a:t>
                      </a:r>
                    </a:p>
                  </a:txBody>
                  <a:tcPr anchor="ctr">
                    <a:lnL>
                      <a:noFill/>
                    </a:lnL>
                    <a:lnR>
                      <a:noFill/>
                    </a:lnR>
                    <a:lnT>
                      <a:noFill/>
                    </a:lnT>
                    <a:lnB>
                      <a:noFill/>
                    </a:lnB>
                  </a:tcPr>
                </a:tc>
                <a:extLst>
                  <a:ext uri="{0D108BD9-81ED-4DB2-BD59-A6C34878D82A}">
                    <a16:rowId xmlns:a16="http://schemas.microsoft.com/office/drawing/2014/main" val="10000"/>
                  </a:ext>
                </a:extLst>
              </a:tr>
              <a:tr h="0">
                <a:tc>
                  <a:txBody>
                    <a:bodyPr/>
                    <a:lstStyle/>
                    <a:p>
                      <a:pPr algn="just"/>
                      <a:r>
                        <a:rPr lang="en-IN" sz="2000" dirty="0">
                          <a:latin typeface="Times New Roman" panose="02020603050405020304" pitchFamily="18" charset="0"/>
                          <a:cs typeface="Times New Roman" panose="02020603050405020304" pitchFamily="18" charset="0"/>
                        </a:rPr>
                        <a:t>/renew [Adapter]</a:t>
                      </a:r>
                    </a:p>
                  </a:txBody>
                  <a:tcPr anchor="ctr">
                    <a:lnL>
                      <a:noFill/>
                    </a:lnL>
                    <a:lnR>
                      <a:noFill/>
                    </a:lnR>
                    <a:lnT>
                      <a:noFill/>
                    </a:lnT>
                    <a:lnB>
                      <a:noFill/>
                    </a:lnB>
                  </a:tcPr>
                </a:tc>
                <a:tc>
                  <a:txBody>
                    <a:bodyPr/>
                    <a:lstStyle/>
                    <a:p>
                      <a:pPr algn="just"/>
                      <a:r>
                        <a:rPr lang="en-US" sz="2000">
                          <a:latin typeface="Times New Roman" panose="02020603050405020304" pitchFamily="18" charset="0"/>
                          <a:cs typeface="Times New Roman" panose="02020603050405020304" pitchFamily="18" charset="0"/>
                        </a:rPr>
                        <a:t>Renews DHCP configuration for all adapters (if an adapter is not specified) or for a specific adapter if the Adapter parameter is included.</a:t>
                      </a:r>
                    </a:p>
                  </a:txBody>
                  <a:tcPr anchor="ctr">
                    <a:lnL>
                      <a:noFill/>
                    </a:lnL>
                    <a:lnR>
                      <a:noFill/>
                    </a:lnR>
                    <a:lnT>
                      <a:noFill/>
                    </a:lnT>
                    <a:lnB>
                      <a:noFill/>
                    </a:lnB>
                  </a:tcPr>
                </a:tc>
                <a:extLst>
                  <a:ext uri="{0D108BD9-81ED-4DB2-BD59-A6C34878D82A}">
                    <a16:rowId xmlns:a16="http://schemas.microsoft.com/office/drawing/2014/main" val="10001"/>
                  </a:ext>
                </a:extLst>
              </a:tr>
              <a:tr h="0">
                <a:tc>
                  <a:txBody>
                    <a:bodyPr/>
                    <a:lstStyle/>
                    <a:p>
                      <a:pPr algn="just"/>
                      <a:r>
                        <a:rPr lang="en-IN" sz="2000">
                          <a:latin typeface="Times New Roman" panose="02020603050405020304" pitchFamily="18" charset="0"/>
                          <a:cs typeface="Times New Roman" panose="02020603050405020304" pitchFamily="18" charset="0"/>
                        </a:rPr>
                        <a:t>/release [Adapter] </a:t>
                      </a:r>
                    </a:p>
                  </a:txBody>
                  <a:tcPr anchor="ctr">
                    <a:lnL>
                      <a:noFill/>
                    </a:lnL>
                    <a:lnR>
                      <a:noFill/>
                    </a:lnR>
                    <a:lnT>
                      <a:noFill/>
                    </a:lnT>
                    <a:lnB>
                      <a:noFill/>
                    </a:lnB>
                  </a:tcPr>
                </a:tc>
                <a:tc>
                  <a:txBody>
                    <a:bodyPr/>
                    <a:lstStyle/>
                    <a:p>
                      <a:pPr algn="just"/>
                      <a:r>
                        <a:rPr lang="en-US" sz="2000">
                          <a:latin typeface="Times New Roman" panose="02020603050405020304" pitchFamily="18" charset="0"/>
                          <a:cs typeface="Times New Roman" panose="02020603050405020304" pitchFamily="18" charset="0"/>
                        </a:rPr>
                        <a:t>Sends a DHCPRELEASE message to the DHCP server to release the current DHCP configuration and discard the IP address configuration for either all adapters (if an adapter is not specified) or for a specific adapter if the Adapter parameter is included.</a:t>
                      </a:r>
                    </a:p>
                  </a:txBody>
                  <a:tcPr anchor="ctr">
                    <a:lnL>
                      <a:noFill/>
                    </a:lnL>
                    <a:lnR>
                      <a:noFill/>
                    </a:lnR>
                    <a:lnT>
                      <a:noFill/>
                    </a:lnT>
                    <a:lnB>
                      <a:noFill/>
                    </a:lnB>
                  </a:tcPr>
                </a:tc>
                <a:extLst>
                  <a:ext uri="{0D108BD9-81ED-4DB2-BD59-A6C34878D82A}">
                    <a16:rowId xmlns:a16="http://schemas.microsoft.com/office/drawing/2014/main" val="10002"/>
                  </a:ext>
                </a:extLst>
              </a:tr>
              <a:tr h="0">
                <a:tc>
                  <a:txBody>
                    <a:bodyPr/>
                    <a:lstStyle/>
                    <a:p>
                      <a:pPr algn="just"/>
                      <a:r>
                        <a:rPr lang="en-IN" sz="2000">
                          <a:latin typeface="Times New Roman" panose="02020603050405020304" pitchFamily="18" charset="0"/>
                          <a:cs typeface="Times New Roman" panose="02020603050405020304" pitchFamily="18" charset="0"/>
                        </a:rPr>
                        <a:t>/flushdns</a:t>
                      </a:r>
                    </a:p>
                  </a:txBody>
                  <a:tcPr anchor="ctr">
                    <a:lnL>
                      <a:noFill/>
                    </a:lnL>
                    <a:lnR>
                      <a:noFill/>
                    </a:lnR>
                    <a:lnT>
                      <a:noFill/>
                    </a:lnT>
                    <a:lnB>
                      <a:noFill/>
                    </a:lnB>
                  </a:tcPr>
                </a:tc>
                <a:tc>
                  <a:txBody>
                    <a:bodyPr/>
                    <a:lstStyle/>
                    <a:p>
                      <a:pPr algn="just"/>
                      <a:r>
                        <a:rPr lang="en-US" sz="2000" dirty="0">
                          <a:latin typeface="Times New Roman" panose="02020603050405020304" pitchFamily="18" charset="0"/>
                          <a:cs typeface="Times New Roman" panose="02020603050405020304" pitchFamily="18" charset="0"/>
                        </a:rPr>
                        <a:t>Flushes and resets the contents of the DNS client resolver cache.</a:t>
                      </a:r>
                    </a:p>
                  </a:txBody>
                  <a:tcPr anchor="ctr">
                    <a:lnL>
                      <a:noFill/>
                    </a:lnL>
                    <a:lnR>
                      <a:noFill/>
                    </a:lnR>
                    <a:lnT>
                      <a:noFill/>
                    </a:lnT>
                    <a:lnB>
                      <a:noFill/>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p:txBody>
          <a:bodyPr vert="horz" wrap="square" lIns="91440" tIns="45720" rIns="91440" bIns="45720" anchor="ctr" anchorCtr="0"/>
          <a:lstStyle/>
          <a:p>
            <a:pPr eaLnBrk="1" hangingPunct="1"/>
            <a:r>
              <a:rPr lang="en-US" altLang="en-US" b="1" dirty="0">
                <a:latin typeface="Times New Roman" panose="02020603050405020304" pitchFamily="18" charset="0"/>
                <a:cs typeface="Times New Roman" panose="02020603050405020304" pitchFamily="18" charset="0"/>
              </a:rPr>
              <a:t>‘arp’</a:t>
            </a:r>
            <a:endParaRPr lang="en-US" altLang="en-US" b="1" dirty="0">
              <a:latin typeface="Times New Roman" panose="02020603050405020304" pitchFamily="18" charset="0"/>
              <a:ea typeface="Times New Roman" panose="02020603050405020304" pitchFamily="18" charset="0"/>
            </a:endParaRPr>
          </a:p>
        </p:txBody>
      </p:sp>
      <p:sp>
        <p:nvSpPr>
          <p:cNvPr id="8195" name="Rectangle 3"/>
          <p:cNvSpPr>
            <a:spLocks noGrp="1"/>
          </p:cNvSpPr>
          <p:nvPr>
            <p:ph idx="1"/>
          </p:nvPr>
        </p:nvSpPr>
        <p:spPr>
          <a:xfrm>
            <a:off x="457200" y="1219200"/>
            <a:ext cx="8229600" cy="4906963"/>
          </a:xfrm>
        </p:spPr>
        <p:txBody>
          <a:bodyPr vert="horz" wrap="square" lIns="91440" tIns="45720" rIns="91440" bIns="45720" anchor="t" anchorCtr="0"/>
          <a:lstStyle/>
          <a:p>
            <a:pPr algn="just" eaLnBrk="1" hangingPunct="1"/>
            <a:r>
              <a:rPr lang="en-US" altLang="en-US" dirty="0">
                <a:latin typeface="Times New Roman" panose="02020603050405020304" pitchFamily="18" charset="0"/>
                <a:cs typeface="Times New Roman" panose="02020603050405020304" pitchFamily="18" charset="0"/>
              </a:rPr>
              <a:t>This utility displays information in a host’s ARP cache (Address Resolution Protocol) and allows a user to manipulate that info </a:t>
            </a:r>
          </a:p>
          <a:p>
            <a:pPr algn="just" eaLnBrk="1" hangingPunct="1"/>
            <a:r>
              <a:rPr lang="en-US" altLang="en-US" dirty="0">
                <a:latin typeface="Times New Roman" panose="02020603050405020304" pitchFamily="18" charset="0"/>
                <a:cs typeface="Times New Roman" panose="02020603050405020304" pitchFamily="18" charset="0"/>
              </a:rPr>
              <a:t>Example:  </a:t>
            </a:r>
            <a:r>
              <a:rPr lang="en-US" altLang="en-US" b="1" dirty="0">
                <a:latin typeface="Times New Roman" panose="02020603050405020304" pitchFamily="18" charset="0"/>
                <a:cs typeface="Times New Roman" panose="02020603050405020304" pitchFamily="18" charset="0"/>
              </a:rPr>
              <a:t>arp</a:t>
            </a:r>
          </a:p>
          <a:p>
            <a:pPr algn="just" eaLnBrk="1" hangingPunct="1"/>
            <a:r>
              <a:rPr dirty="0">
                <a:latin typeface="Times New Roman" panose="02020603050405020304" pitchFamily="18" charset="0"/>
                <a:cs typeface="Times New Roman" panose="02020603050405020304" pitchFamily="18" charset="0"/>
              </a:rPr>
              <a:t>By default, this command displays the ARP table of the active NIC. </a:t>
            </a:r>
          </a:p>
          <a:p>
            <a:pPr algn="just" eaLnBrk="1" hangingPunct="1"/>
            <a:r>
              <a:rPr dirty="0">
                <a:latin typeface="Times New Roman" panose="02020603050405020304" pitchFamily="18" charset="0"/>
                <a:cs typeface="Times New Roman" panose="02020603050405020304" pitchFamily="18" charset="0"/>
              </a:rPr>
              <a:t>If multiple NICs are installed on the computer, you can use the </a:t>
            </a:r>
            <a:r>
              <a:rPr b="1" dirty="0">
                <a:latin typeface="Times New Roman" panose="02020603050405020304" pitchFamily="18" charset="0"/>
                <a:cs typeface="Times New Roman" panose="02020603050405020304" pitchFamily="18" charset="0"/>
              </a:rPr>
              <a:t>-a</a:t>
            </a:r>
            <a:r>
              <a:rPr dirty="0">
                <a:latin typeface="Times New Roman" panose="02020603050405020304" pitchFamily="18" charset="0"/>
                <a:cs typeface="Times New Roman" panose="02020603050405020304" pitchFamily="18" charset="0"/>
              </a:rPr>
              <a:t> option with this command. If the -a option is used, the ARP command displays all ARP tables.</a:t>
            </a:r>
            <a:r>
              <a:rPr lang="en-US" altLang="en-US" dirty="0">
                <a:latin typeface="Times New Roman" panose="02020603050405020304" pitchFamily="18" charset="0"/>
                <a:cs typeface="Times New Roman" panose="02020603050405020304" pitchFamily="18" charset="0"/>
              </a:rPr>
              <a:t>  </a:t>
            </a: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p:txBody>
          <a:bodyPr vert="horz" wrap="square" lIns="91440" tIns="45720" rIns="91440" bIns="45720" anchor="ctr" anchorCtr="0"/>
          <a:lstStyle/>
          <a:p>
            <a:pPr eaLnBrk="1" hangingPunct="1"/>
            <a:r>
              <a:rPr lang="en-US" altLang="en-US" b="1" dirty="0">
                <a:latin typeface="Times New Roman" panose="02020603050405020304" pitchFamily="18" charset="0"/>
                <a:cs typeface="Times New Roman" panose="02020603050405020304" pitchFamily="18" charset="0"/>
              </a:rPr>
              <a:t>‘traceroute’</a:t>
            </a:r>
            <a:endParaRPr lang="en-US" altLang="en-US" b="1" dirty="0">
              <a:latin typeface="Times New Roman" panose="02020603050405020304" pitchFamily="18" charset="0"/>
              <a:ea typeface="Times New Roman" panose="02020603050405020304" pitchFamily="18" charset="0"/>
            </a:endParaRPr>
          </a:p>
        </p:txBody>
      </p:sp>
      <p:sp>
        <p:nvSpPr>
          <p:cNvPr id="9219" name="Rectangle 3"/>
          <p:cNvSpPr>
            <a:spLocks noGrp="1"/>
          </p:cNvSpPr>
          <p:nvPr>
            <p:ph idx="1"/>
          </p:nvPr>
        </p:nvSpPr>
        <p:spPr/>
        <p:txBody>
          <a:bodyPr vert="horz" wrap="square" lIns="91440" tIns="45720" rIns="91440" bIns="45720" anchor="t" anchorCtr="0"/>
          <a:lstStyle/>
          <a:p>
            <a:pPr algn="just" eaLnBrk="1" hangingPunct="1"/>
            <a:r>
              <a:rPr lang="en-US" altLang="en-US" dirty="0">
                <a:latin typeface="Times New Roman" panose="02020603050405020304" pitchFamily="18" charset="0"/>
                <a:cs typeface="Times New Roman" panose="02020603050405020304" pitchFamily="18" charset="0"/>
              </a:rPr>
              <a:t>A tool for determining what route is being taken by packets sent over an IP network </a:t>
            </a:r>
          </a:p>
          <a:p>
            <a:pPr algn="just" eaLnBrk="1" hangingPunct="1"/>
            <a:r>
              <a:rPr lang="en-US" altLang="en-US" dirty="0">
                <a:latin typeface="Times New Roman" panose="02020603050405020304" pitchFamily="18" charset="0"/>
                <a:cs typeface="Times New Roman" panose="02020603050405020304" pitchFamily="18" charset="0"/>
              </a:rPr>
              <a:t>Example:  </a:t>
            </a:r>
            <a:r>
              <a:rPr lang="en-US" altLang="en-US" b="1" dirty="0">
                <a:latin typeface="Times New Roman" panose="02020603050405020304" pitchFamily="18" charset="0"/>
                <a:cs typeface="Times New Roman" panose="02020603050405020304" pitchFamily="18" charset="0"/>
              </a:rPr>
              <a:t>traceroute</a:t>
            </a:r>
            <a:r>
              <a:rPr lang="en-US" altLang="en-US" dirty="0">
                <a:latin typeface="Times New Roman" panose="02020603050405020304" pitchFamily="18" charset="0"/>
                <a:cs typeface="Times New Roman" panose="02020603050405020304" pitchFamily="18" charset="0"/>
              </a:rPr>
              <a:t>  </a:t>
            </a:r>
            <a:r>
              <a:rPr lang="en-IN" altLang="en-US" dirty="0">
                <a:latin typeface="Times New Roman" panose="02020603050405020304" pitchFamily="18" charset="0"/>
                <a:cs typeface="Times New Roman" panose="02020603050405020304" pitchFamily="18" charset="0"/>
              </a:rPr>
              <a:t>google.com(Linux) or tracert google.com(Windows)</a:t>
            </a:r>
            <a:endParaRPr lang="en-US" altLang="en-US" dirty="0">
              <a:latin typeface="Times New Roman" panose="02020603050405020304" pitchFamily="18" charset="0"/>
              <a:cs typeface="Times New Roman" panose="02020603050405020304" pitchFamily="18" charset="0"/>
            </a:endParaRPr>
          </a:p>
          <a:p>
            <a:pPr algn="just" eaLnBrk="1" hangingPunct="1"/>
            <a:r>
              <a:rPr lang="en-US" altLang="en-US" dirty="0">
                <a:latin typeface="Times New Roman" panose="02020603050405020304" pitchFamily="18" charset="0"/>
                <a:cs typeface="Times New Roman" panose="02020603050405020304" pitchFamily="18" charset="0"/>
              </a:rPr>
              <a:t>This tool will report on each of the ‘hops’ between network ‘routers’ along a path to the specified destination, and the elapsed times for each ‘hop’ (in milliseconds) </a:t>
            </a:r>
          </a:p>
          <a:p>
            <a:pPr algn="just" eaLnBrk="1" hangingPunct="1"/>
            <a:r>
              <a:rPr lang="en-US" altLang="en-US" dirty="0">
                <a:latin typeface="Times New Roman" panose="02020603050405020304" pitchFamily="18" charset="0"/>
                <a:cs typeface="Times New Roman" panose="02020603050405020304" pitchFamily="18" charset="0"/>
              </a:rPr>
              <a:t>(A similar tool for Linux is ‘</a:t>
            </a:r>
            <a:r>
              <a:rPr lang="en-US" altLang="en-US" b="1" dirty="0">
                <a:latin typeface="Times New Roman" panose="02020603050405020304" pitchFamily="18" charset="0"/>
                <a:cs typeface="Times New Roman" panose="02020603050405020304" pitchFamily="18" charset="0"/>
              </a:rPr>
              <a:t>tracepath</a:t>
            </a:r>
            <a:r>
              <a:rPr lang="en-US" altLang="en-US" dirty="0">
                <a:latin typeface="Times New Roman" panose="02020603050405020304" pitchFamily="18" charset="0"/>
                <a:cs typeface="Times New Roman" panose="02020603050405020304" pitchFamily="18" charset="0"/>
              </a:rPr>
              <a:t>’)    </a:t>
            </a: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vert="horz" wrap="square" lIns="91440" tIns="45720" rIns="91440" bIns="45720" anchor="ctr" anchorCtr="0"/>
          <a:lstStyle/>
          <a:p>
            <a:pPr eaLnBrk="1" hangingPunct="1"/>
            <a:r>
              <a:rPr lang="en-IN" altLang="x-none" b="1" dirty="0">
                <a:latin typeface="Times New Roman" panose="02020603050405020304" pitchFamily="18" charset="0"/>
                <a:cs typeface="Times New Roman" panose="02020603050405020304" pitchFamily="18" charset="0"/>
              </a:rPr>
              <a:t>Contd</a:t>
            </a:r>
            <a:r>
              <a:rPr lang="en-IN" altLang="x-none" b="1" dirty="0">
                <a:latin typeface="Times New Roman" panose="02020603050405020304" pitchFamily="18" charset="0"/>
                <a:ea typeface="Times New Roman" panose="02020603050405020304" pitchFamily="18" charset="0"/>
              </a:rPr>
              <a:t>…</a:t>
            </a:r>
          </a:p>
        </p:txBody>
      </p:sp>
      <p:graphicFrame>
        <p:nvGraphicFramePr>
          <p:cNvPr id="4" name="Content Placeholder 3"/>
          <p:cNvGraphicFramePr>
            <a:graphicFrameLocks noGrp="1"/>
          </p:cNvGraphicFramePr>
          <p:nvPr>
            <p:ph idx="1"/>
          </p:nvPr>
        </p:nvGraphicFramePr>
        <p:xfrm>
          <a:off x="457200" y="1417638"/>
          <a:ext cx="8229600" cy="4754563"/>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75456">
                <a:tc>
                  <a:txBody>
                    <a:bodyPr/>
                    <a:lstStyle/>
                    <a:p>
                      <a:pPr algn="just"/>
                      <a:r>
                        <a:rPr lang="en-IN">
                          <a:latin typeface="Times New Roman" panose="02020603050405020304" pitchFamily="18" charset="0"/>
                          <a:cs typeface="Times New Roman" panose="02020603050405020304" pitchFamily="18" charset="0"/>
                        </a:rPr>
                        <a:t>Option</a:t>
                      </a:r>
                    </a:p>
                  </a:txBody>
                  <a:tcPr anchor="ctr">
                    <a:lnL>
                      <a:noFill/>
                    </a:lnL>
                    <a:lnR>
                      <a:noFill/>
                    </a:lnR>
                    <a:lnT>
                      <a:noFill/>
                    </a:lnT>
                    <a:lnB>
                      <a:noFill/>
                    </a:lnB>
                  </a:tcPr>
                </a:tc>
                <a:tc>
                  <a:txBody>
                    <a:bodyPr/>
                    <a:lstStyle/>
                    <a:p>
                      <a:pPr algn="just"/>
                      <a:r>
                        <a:rPr lang="en-IN">
                          <a:latin typeface="Times New Roman" panose="02020603050405020304" pitchFamily="18" charset="0"/>
                          <a:cs typeface="Times New Roman" panose="02020603050405020304" pitchFamily="18" charset="0"/>
                        </a:rPr>
                        <a:t>Description</a:t>
                      </a:r>
                    </a:p>
                  </a:txBody>
                  <a:tcPr anchor="ctr">
                    <a:lnL>
                      <a:noFill/>
                    </a:lnL>
                    <a:lnR>
                      <a:noFill/>
                    </a:lnR>
                    <a:lnT>
                      <a:noFill/>
                    </a:lnT>
                    <a:lnB>
                      <a:noFill/>
                    </a:lnB>
                  </a:tcPr>
                </a:tc>
                <a:extLst>
                  <a:ext uri="{0D108BD9-81ED-4DB2-BD59-A6C34878D82A}">
                    <a16:rowId xmlns:a16="http://schemas.microsoft.com/office/drawing/2014/main" val="10000"/>
                  </a:ext>
                </a:extLst>
              </a:tr>
              <a:tr h="832048">
                <a:tc>
                  <a:txBody>
                    <a:bodyPr/>
                    <a:lstStyle/>
                    <a:p>
                      <a:pPr algn="just"/>
                      <a:r>
                        <a:rPr lang="en-IN" b="1">
                          <a:latin typeface="Times New Roman" panose="02020603050405020304" pitchFamily="18" charset="0"/>
                          <a:cs typeface="Times New Roman" panose="02020603050405020304" pitchFamily="18" charset="0"/>
                        </a:rPr>
                        <a:t>-d</a:t>
                      </a:r>
                      <a:endParaRPr lang="en-IN">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pPr algn="just"/>
                      <a:r>
                        <a:rPr lang="en-US">
                          <a:latin typeface="Times New Roman" panose="02020603050405020304" pitchFamily="18" charset="0"/>
                          <a:cs typeface="Times New Roman" panose="02020603050405020304" pitchFamily="18" charset="0"/>
                        </a:rPr>
                        <a:t>Do not resolve the IP addresses of intermediate routers to their names.</a:t>
                      </a:r>
                    </a:p>
                  </a:txBody>
                  <a:tcPr anchor="ctr">
                    <a:lnL>
                      <a:noFill/>
                    </a:lnL>
                    <a:lnR>
                      <a:noFill/>
                    </a:lnR>
                    <a:lnT>
                      <a:noFill/>
                    </a:lnT>
                    <a:lnB>
                      <a:noFill/>
                    </a:lnB>
                  </a:tcPr>
                </a:tc>
                <a:extLst>
                  <a:ext uri="{0D108BD9-81ED-4DB2-BD59-A6C34878D82A}">
                    <a16:rowId xmlns:a16="http://schemas.microsoft.com/office/drawing/2014/main" val="10001"/>
                  </a:ext>
                </a:extLst>
              </a:tr>
              <a:tr h="1188641">
                <a:tc>
                  <a:txBody>
                    <a:bodyPr/>
                    <a:lstStyle/>
                    <a:p>
                      <a:pPr algn="just"/>
                      <a:r>
                        <a:rPr lang="en-IN" b="1" dirty="0">
                          <a:latin typeface="Times New Roman" panose="02020603050405020304" pitchFamily="18" charset="0"/>
                          <a:cs typeface="Times New Roman" panose="02020603050405020304" pitchFamily="18" charset="0"/>
                        </a:rPr>
                        <a:t>-h</a:t>
                      </a:r>
                      <a:endParaRPr lang="en-IN"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pPr algn="just"/>
                      <a:r>
                        <a:rPr lang="en-US">
                          <a:latin typeface="Times New Roman" panose="02020603050405020304" pitchFamily="18" charset="0"/>
                          <a:cs typeface="Times New Roman" panose="02020603050405020304" pitchFamily="18" charset="0"/>
                        </a:rPr>
                        <a:t>Specifies the maximum number of hops (routers) to search on the path. The default is 30 hops.</a:t>
                      </a:r>
                    </a:p>
                  </a:txBody>
                  <a:tcPr anchor="ctr">
                    <a:lnL>
                      <a:noFill/>
                    </a:lnL>
                    <a:lnR>
                      <a:noFill/>
                    </a:lnR>
                    <a:lnT>
                      <a:noFill/>
                    </a:lnT>
                    <a:lnB>
                      <a:noFill/>
                    </a:lnB>
                  </a:tcPr>
                </a:tc>
                <a:extLst>
                  <a:ext uri="{0D108BD9-81ED-4DB2-BD59-A6C34878D82A}">
                    <a16:rowId xmlns:a16="http://schemas.microsoft.com/office/drawing/2014/main" val="10002"/>
                  </a:ext>
                </a:extLst>
              </a:tr>
              <a:tr h="2258417">
                <a:tc>
                  <a:txBody>
                    <a:bodyPr/>
                    <a:lstStyle/>
                    <a:p>
                      <a:pPr algn="just"/>
                      <a:r>
                        <a:rPr lang="en-IN" b="1">
                          <a:latin typeface="Times New Roman" panose="02020603050405020304" pitchFamily="18" charset="0"/>
                          <a:cs typeface="Times New Roman" panose="02020603050405020304" pitchFamily="18" charset="0"/>
                        </a:rPr>
                        <a:t>-w</a:t>
                      </a:r>
                      <a:endParaRPr lang="en-IN">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pPr algn="just"/>
                      <a:r>
                        <a:rPr lang="en-US" dirty="0">
                          <a:latin typeface="Times New Roman" panose="02020603050405020304" pitchFamily="18" charset="0"/>
                          <a:cs typeface="Times New Roman" panose="02020603050405020304" pitchFamily="18" charset="0"/>
                        </a:rPr>
                        <a:t>Specifies the amount of time in milliseconds to wait for a reply message from the router. If not received within the time-out, an asterisk (*) is displayed. The default time-out is 4000 (4 seconds).</a:t>
                      </a:r>
                    </a:p>
                  </a:txBody>
                  <a:tcPr anchor="ctr">
                    <a:lnL>
                      <a:noFill/>
                    </a:lnL>
                    <a:lnR>
                      <a:noFill/>
                    </a:lnR>
                    <a:lnT>
                      <a:noFill/>
                    </a:lnT>
                    <a:lnB>
                      <a:noFill/>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p:txBody>
          <a:bodyPr vert="horz" wrap="square" lIns="91440" tIns="45720" rIns="91440" bIns="45720" anchor="ctr" anchorCtr="0"/>
          <a:lstStyle/>
          <a:p>
            <a:pPr eaLnBrk="1" hangingPunct="1"/>
            <a:r>
              <a:rPr lang="en-US" altLang="en-US" b="1" dirty="0">
                <a:latin typeface="Times New Roman" panose="02020603050405020304" pitchFamily="18" charset="0"/>
                <a:cs typeface="Times New Roman" panose="02020603050405020304" pitchFamily="18" charset="0"/>
              </a:rPr>
              <a:t>‘route’</a:t>
            </a:r>
            <a:endParaRPr lang="en-US" altLang="en-US" b="1" dirty="0">
              <a:latin typeface="Times New Roman" panose="02020603050405020304" pitchFamily="18" charset="0"/>
              <a:ea typeface="Times New Roman" panose="02020603050405020304" pitchFamily="18" charset="0"/>
            </a:endParaRPr>
          </a:p>
        </p:txBody>
      </p:sp>
      <p:sp>
        <p:nvSpPr>
          <p:cNvPr id="11267" name="Rectangle 3"/>
          <p:cNvSpPr>
            <a:spLocks noGrp="1"/>
          </p:cNvSpPr>
          <p:nvPr>
            <p:ph idx="1"/>
          </p:nvPr>
        </p:nvSpPr>
        <p:spPr/>
        <p:txBody>
          <a:bodyPr vert="horz" wrap="square" lIns="91440" tIns="45720" rIns="91440" bIns="45720" anchor="t" anchorCtr="0"/>
          <a:lstStyle/>
          <a:p>
            <a:pPr algn="just" eaLnBrk="1" hangingPunct="1"/>
            <a:r>
              <a:rPr lang="en-US" altLang="en-US" dirty="0">
                <a:latin typeface="Times New Roman" panose="02020603050405020304" pitchFamily="18" charset="0"/>
                <a:cs typeface="Times New Roman" panose="02020603050405020304" pitchFamily="18" charset="0"/>
              </a:rPr>
              <a:t>It lets users display current information in a host’s ‘</a:t>
            </a:r>
            <a:r>
              <a:rPr lang="en-US" altLang="en-US" b="1" dirty="0">
                <a:latin typeface="Times New Roman" panose="02020603050405020304" pitchFamily="18" charset="0"/>
                <a:cs typeface="Times New Roman" panose="02020603050405020304" pitchFamily="18" charset="0"/>
              </a:rPr>
              <a:t>routing table</a:t>
            </a:r>
            <a:r>
              <a:rPr lang="en-US" altLang="en-US" dirty="0">
                <a:latin typeface="Times New Roman" panose="02020603050405020304" pitchFamily="18" charset="0"/>
                <a:cs typeface="Times New Roman" panose="02020603050405020304" pitchFamily="18" charset="0"/>
              </a:rPr>
              <a:t>’ database -- and it lets a privileged user manipulate that info</a:t>
            </a:r>
          </a:p>
          <a:p>
            <a:pPr algn="just" eaLnBrk="1" hangingPunct="1"/>
            <a:r>
              <a:rPr lang="en-US" altLang="en-US" dirty="0">
                <a:latin typeface="Times New Roman" panose="02020603050405020304" pitchFamily="18" charset="0"/>
                <a:cs typeface="Times New Roman" panose="02020603050405020304" pitchFamily="18" charset="0"/>
              </a:rPr>
              <a:t>Example:  </a:t>
            </a:r>
            <a:r>
              <a:rPr lang="en-US" altLang="en-US" b="1" dirty="0">
                <a:latin typeface="Times New Roman" panose="02020603050405020304" pitchFamily="18" charset="0"/>
                <a:cs typeface="Times New Roman" panose="02020603050405020304" pitchFamily="18" charset="0"/>
              </a:rPr>
              <a:t>route </a:t>
            </a:r>
            <a:r>
              <a:rPr lang="en-IN" altLang="en-US" b="1" dirty="0">
                <a:latin typeface="Times New Roman" panose="02020603050405020304" pitchFamily="18" charset="0"/>
                <a:cs typeface="Times New Roman" panose="02020603050405020304" pitchFamily="18" charset="0"/>
              </a:rPr>
              <a:t> -n(Linux) or route print (Windows)</a:t>
            </a:r>
            <a:endParaRPr lang="en-US" altLang="en-US" dirty="0">
              <a:latin typeface="Times New Roman" panose="02020603050405020304" pitchFamily="18" charset="0"/>
              <a:cs typeface="Times New Roman" panose="02020603050405020304" pitchFamily="18" charset="0"/>
            </a:endParaRPr>
          </a:p>
          <a:p>
            <a:pPr algn="just" eaLnBrk="1" hangingPunct="1"/>
            <a:r>
              <a:rPr lang="en-US" altLang="en-US" dirty="0">
                <a:latin typeface="Times New Roman" panose="02020603050405020304" pitchFamily="18" charset="0"/>
                <a:cs typeface="Times New Roman" panose="02020603050405020304" pitchFamily="18" charset="0"/>
              </a:rPr>
              <a:t>The routing table’s entries tell the kernel’s networking subsystem how to deliver, or forward, or else discard, any IP-network packets that are being received by a NIC. </a:t>
            </a: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p:txBody>
          <a:bodyPr vert="horz" wrap="square" lIns="91440" tIns="45720" rIns="91440" bIns="45720" anchor="ctr" anchorCtr="0"/>
          <a:lstStyle/>
          <a:p>
            <a:pPr eaLnBrk="1" hangingPunct="1"/>
            <a:r>
              <a:rPr lang="en-US" altLang="en-US" b="1" dirty="0">
                <a:latin typeface="Times New Roman" panose="02020603050405020304" pitchFamily="18" charset="0"/>
                <a:cs typeface="Times New Roman" panose="02020603050405020304" pitchFamily="18" charset="0"/>
              </a:rPr>
              <a:t>‘netstat’</a:t>
            </a:r>
            <a:endParaRPr lang="en-US" altLang="en-US" b="1" dirty="0">
              <a:latin typeface="Times New Roman" panose="02020603050405020304" pitchFamily="18" charset="0"/>
              <a:ea typeface="Times New Roman" panose="02020603050405020304" pitchFamily="18" charset="0"/>
            </a:endParaRPr>
          </a:p>
        </p:txBody>
      </p:sp>
      <p:sp>
        <p:nvSpPr>
          <p:cNvPr id="12291" name="Rectangle 3"/>
          <p:cNvSpPr>
            <a:spLocks noGrp="1"/>
          </p:cNvSpPr>
          <p:nvPr>
            <p:ph idx="1"/>
          </p:nvPr>
        </p:nvSpPr>
        <p:spPr/>
        <p:txBody>
          <a:bodyPr vert="horz" wrap="square" lIns="91440" tIns="45720" rIns="91440" bIns="45720" anchor="t" anchorCtr="0"/>
          <a:lstStyle/>
          <a:p>
            <a:pPr algn="just" eaLnBrk="1" hangingPunct="1"/>
            <a:r>
              <a:rPr lang="en-US" altLang="en-US" dirty="0">
                <a:latin typeface="Times New Roman" panose="02020603050405020304" pitchFamily="18" charset="0"/>
                <a:cs typeface="Times New Roman" panose="02020603050405020304" pitchFamily="18" charset="0"/>
              </a:rPr>
              <a:t>It can show a lot of information about the current state of your host’s networking subsystem – such as routing-table entries, active connections, ports and protocols, or statistics for the active Network Interfaces</a:t>
            </a:r>
          </a:p>
          <a:p>
            <a:pPr algn="just" eaLnBrk="1" hangingPunct="1"/>
            <a:r>
              <a:rPr lang="en-US" altLang="en-US" dirty="0">
                <a:latin typeface="Times New Roman" panose="02020603050405020304" pitchFamily="18" charset="0"/>
                <a:cs typeface="Times New Roman" panose="02020603050405020304" pitchFamily="18" charset="0"/>
              </a:rPr>
              <a:t>Example: </a:t>
            </a:r>
            <a:r>
              <a:rPr lang="en-US" altLang="en-US" b="1" dirty="0">
                <a:latin typeface="Times New Roman" panose="02020603050405020304" pitchFamily="18" charset="0"/>
                <a:cs typeface="Times New Roman" panose="02020603050405020304" pitchFamily="18" charset="0"/>
              </a:rPr>
              <a:t>netstat</a:t>
            </a:r>
            <a:r>
              <a:rPr lang="en-US" altLang="en-US" dirty="0">
                <a:latin typeface="Times New Roman" panose="02020603050405020304" pitchFamily="18" charset="0"/>
                <a:cs typeface="Times New Roman" panose="02020603050405020304" pitchFamily="18" charset="0"/>
              </a:rPr>
              <a:t>  </a:t>
            </a:r>
            <a:r>
              <a:rPr lang="en-IN" altLang="en-US" dirty="0">
                <a:latin typeface="Times New Roman" panose="02020603050405020304" pitchFamily="18" charset="0"/>
                <a:cs typeface="Times New Roman" panose="02020603050405020304" pitchFamily="18" charset="0"/>
              </a:rPr>
              <a:t>-an</a:t>
            </a:r>
            <a:endParaRPr lang="en-IN" altLang="en-US"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274638"/>
            <a:ext cx="8229600" cy="639762"/>
          </a:xfrm>
        </p:spPr>
        <p:txBody>
          <a:bodyPr vert="horz" wrap="square" lIns="91440" tIns="45720" rIns="91440" bIns="45720" anchor="ctr" anchorCtr="0"/>
          <a:lstStyle/>
          <a:p>
            <a:pPr eaLnBrk="1" hangingPunct="1"/>
            <a:r>
              <a:rPr lang="en-IN" altLang="x-none" b="1" dirty="0">
                <a:latin typeface="Times New Roman" panose="02020603050405020304" pitchFamily="18" charset="0"/>
                <a:cs typeface="Times New Roman" panose="02020603050405020304" pitchFamily="18" charset="0"/>
              </a:rPr>
              <a:t>Contd</a:t>
            </a:r>
            <a:r>
              <a:rPr lang="en-IN" altLang="x-none" b="1" dirty="0">
                <a:latin typeface="Times New Roman" panose="02020603050405020304" pitchFamily="18" charset="0"/>
                <a:ea typeface="Times New Roman" panose="02020603050405020304" pitchFamily="18" charset="0"/>
              </a:rPr>
              <a:t>…</a:t>
            </a:r>
          </a:p>
        </p:txBody>
      </p:sp>
      <p:sp>
        <p:nvSpPr>
          <p:cNvPr id="3" name="Content Placeholder 2"/>
          <p:cNvSpPr>
            <a:spLocks noGrp="1"/>
          </p:cNvSpPr>
          <p:nvPr>
            <p:ph idx="1"/>
          </p:nvPr>
        </p:nvSpPr>
        <p:spPr>
          <a:xfrm>
            <a:off x="457200" y="1066800"/>
            <a:ext cx="8229600" cy="5059363"/>
          </a:xfrm>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Tx/>
              <a:buSzTx/>
              <a:buFontTx/>
              <a:buChar char="•"/>
              <a:defRPr/>
            </a:pP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This command displays active connections, ports on which the computer is listening, Ethernet statistics, the IP routing table, and IP statistics.</a:t>
            </a:r>
          </a:p>
          <a:p>
            <a:pPr marL="342900" marR="0" lvl="0" indent="-342900" algn="just" defTabSz="914400" rtl="0" eaLnBrk="1" fontAlgn="base" latinLnBrk="0" hangingPunct="1">
              <a:lnSpc>
                <a:spcPct val="100000"/>
              </a:lnSpc>
              <a:spcBef>
                <a:spcPct val="20000"/>
              </a:spcBef>
              <a:spcAft>
                <a:spcPct val="0"/>
              </a:spcAft>
              <a:buClrTx/>
              <a:buSzTx/>
              <a:buFontTx/>
              <a:buChar char="•"/>
              <a:defRPr/>
            </a:pP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output of this command is organized in rows and columns. Each row represents a new connection or an entry in the output. It contains four columns. These columns provide the following information about the row.</a:t>
            </a:r>
          </a:p>
          <a:p>
            <a:pPr marL="342900" marR="0" lvl="0" indent="-342900" algn="just" defTabSz="914400" rtl="0" eaLnBrk="1" fontAlgn="base" latinLnBrk="0" hangingPunct="1">
              <a:lnSpc>
                <a:spcPct val="100000"/>
              </a:lnSpc>
              <a:spcBef>
                <a:spcPct val="20000"/>
              </a:spcBef>
              <a:spcAft>
                <a:spcPct val="0"/>
              </a:spcAft>
              <a:buClrTx/>
              <a:buSzTx/>
              <a:buFontTx/>
              <a:buChar char="•"/>
              <a:defRPr/>
            </a:pPr>
            <a:r>
              <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Proto</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This column displays the name of the protocol (TCP or UDP).</a:t>
            </a: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en-IN"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vert="horz" wrap="square" lIns="91440" tIns="45720" rIns="91440" bIns="45720" anchor="ctr" anchorCtr="0"/>
          <a:lstStyle/>
          <a:p>
            <a:pPr eaLnBrk="1" hangingPunct="1"/>
            <a:r>
              <a:rPr lang="en-IN" altLang="x-none" dirty="0">
                <a:latin typeface="Times New Roman" panose="02020603050405020304" pitchFamily="18" charset="0"/>
                <a:cs typeface="Times New Roman" panose="02020603050405020304" pitchFamily="18" charset="0"/>
              </a:rPr>
              <a:t>contd</a:t>
            </a:r>
            <a:r>
              <a:rPr lang="en-IN" altLang="x-none" dirty="0">
                <a:latin typeface="Times New Roman" panose="02020603050405020304" pitchFamily="18" charset="0"/>
                <a:ea typeface="Times New Roman" panose="02020603050405020304" pitchFamily="18" charset="0"/>
              </a:rPr>
              <a:t>…</a:t>
            </a:r>
          </a:p>
        </p:txBody>
      </p:sp>
      <p:sp>
        <p:nvSpPr>
          <p:cNvPr id="14339" name="Content Placeholder 2"/>
          <p:cNvSpPr>
            <a:spLocks noGrp="1"/>
          </p:cNvSpPr>
          <p:nvPr>
            <p:ph idx="1"/>
          </p:nvPr>
        </p:nvSpPr>
        <p:spPr/>
        <p:txBody>
          <a:bodyPr vert="horz" wrap="square" lIns="91440" tIns="45720" rIns="91440" bIns="45720" anchor="t" anchorCtr="0"/>
          <a:lstStyle/>
          <a:p>
            <a:pPr algn="just" eaLnBrk="1" hangingPunct="1"/>
            <a:r>
              <a:rPr b="1" dirty="0">
                <a:latin typeface="Times New Roman" panose="02020603050405020304" pitchFamily="18" charset="0"/>
                <a:cs typeface="Times New Roman" panose="02020603050405020304" pitchFamily="18" charset="0"/>
              </a:rPr>
              <a:t>Local Address</a:t>
            </a:r>
            <a:r>
              <a:rPr dirty="0">
                <a:latin typeface="Times New Roman" panose="02020603050405020304" pitchFamily="18" charset="0"/>
                <a:cs typeface="Times New Roman" panose="02020603050405020304" pitchFamily="18" charset="0"/>
              </a:rPr>
              <a:t>: - This column displays the IP address of the local computer and the port number being used. If the port is not yet established, the port number is shown as an asterisk (</a:t>
            </a:r>
            <a:r>
              <a:rPr b="1" dirty="0">
                <a:latin typeface="Times New Roman" panose="02020603050405020304" pitchFamily="18" charset="0"/>
                <a:cs typeface="Times New Roman" panose="02020603050405020304" pitchFamily="18" charset="0"/>
              </a:rPr>
              <a:t>*</a:t>
            </a:r>
            <a:r>
              <a:rPr dirty="0">
                <a:latin typeface="Times New Roman" panose="02020603050405020304" pitchFamily="18" charset="0"/>
                <a:cs typeface="Times New Roman" panose="02020603050405020304" pitchFamily="18" charset="0"/>
              </a:rPr>
              <a:t>).</a:t>
            </a:r>
          </a:p>
          <a:p>
            <a:pPr algn="just" eaLnBrk="1" hangingPunct="1"/>
            <a:r>
              <a:rPr b="1" dirty="0">
                <a:latin typeface="Times New Roman" panose="02020603050405020304" pitchFamily="18" charset="0"/>
                <a:cs typeface="Times New Roman" panose="02020603050405020304" pitchFamily="18" charset="0"/>
              </a:rPr>
              <a:t>Foreign Address</a:t>
            </a:r>
            <a:r>
              <a:rPr dirty="0">
                <a:latin typeface="Times New Roman" panose="02020603050405020304" pitchFamily="18" charset="0"/>
                <a:cs typeface="Times New Roman" panose="02020603050405020304" pitchFamily="18" charset="0"/>
              </a:rPr>
              <a:t>: - This column displays the IP address and port number of the remote computer to which the port is connected.</a:t>
            </a:r>
          </a:p>
          <a:p>
            <a:pPr algn="just" eaLnBrk="1" hangingPunct="1"/>
            <a:r>
              <a:rPr b="1" dirty="0">
                <a:latin typeface="Times New Roman" panose="02020603050405020304" pitchFamily="18" charset="0"/>
                <a:cs typeface="Times New Roman" panose="02020603050405020304" pitchFamily="18" charset="0"/>
              </a:rPr>
              <a:t>State</a:t>
            </a:r>
            <a:r>
              <a:rPr dirty="0">
                <a:latin typeface="Times New Roman" panose="02020603050405020304" pitchFamily="18" charset="0"/>
                <a:cs typeface="Times New Roman" panose="02020603050405020304" pitchFamily="18" charset="0"/>
              </a:rPr>
              <a:t>: - This column displays the status of the connection.</a:t>
            </a:r>
          </a:p>
          <a:p>
            <a:pPr eaLnBrk="1" hangingPunct="1"/>
            <a:endParaRPr lang="en-IN" altLang="x-none"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vert="horz" wrap="square" lIns="91440" tIns="45720" rIns="91440" bIns="45720" anchor="ctr" anchorCtr="0"/>
          <a:lstStyle/>
          <a:p>
            <a:pPr eaLnBrk="1" hangingPunct="1"/>
            <a:r>
              <a:rPr lang="en-IN" altLang="x-none" dirty="0">
                <a:latin typeface="Times New Roman" panose="02020603050405020304" pitchFamily="18" charset="0"/>
                <a:cs typeface="Times New Roman" panose="02020603050405020304" pitchFamily="18" charset="0"/>
              </a:rPr>
              <a:t>Options</a:t>
            </a:r>
            <a:r>
              <a:rPr lang="en-IN" altLang="x-none" dirty="0"/>
              <a:t> </a:t>
            </a:r>
          </a:p>
        </p:txBody>
      </p:sp>
      <p:graphicFrame>
        <p:nvGraphicFramePr>
          <p:cNvPr id="4" name="Content Placeholder 3"/>
          <p:cNvGraphicFramePr>
            <a:graphicFrameLocks noGrp="1"/>
          </p:cNvGraphicFramePr>
          <p:nvPr>
            <p:ph idx="1"/>
          </p:nvPr>
        </p:nvGraphicFramePr>
        <p:xfrm>
          <a:off x="762000" y="1433513"/>
          <a:ext cx="7543800" cy="4822825"/>
        </p:xfrm>
        <a:graphic>
          <a:graphicData uri="http://schemas.openxmlformats.org/drawingml/2006/table">
            <a:tbl>
              <a:tblPr/>
              <a:tblGrid>
                <a:gridCol w="3771900">
                  <a:extLst>
                    <a:ext uri="{9D8B030D-6E8A-4147-A177-3AD203B41FA5}">
                      <a16:colId xmlns:a16="http://schemas.microsoft.com/office/drawing/2014/main" val="20000"/>
                    </a:ext>
                  </a:extLst>
                </a:gridCol>
                <a:gridCol w="3771900">
                  <a:extLst>
                    <a:ext uri="{9D8B030D-6E8A-4147-A177-3AD203B41FA5}">
                      <a16:colId xmlns:a16="http://schemas.microsoft.com/office/drawing/2014/main" val="20001"/>
                    </a:ext>
                  </a:extLst>
                </a:gridCol>
              </a:tblGrid>
              <a:tr h="235115">
                <a:tc>
                  <a:txBody>
                    <a:bodyPr/>
                    <a:lstStyle/>
                    <a:p>
                      <a:pPr algn="just"/>
                      <a:r>
                        <a:rPr lang="en-IN" sz="1400">
                          <a:latin typeface="Times New Roman" panose="02020603050405020304" pitchFamily="18" charset="0"/>
                          <a:cs typeface="Times New Roman" panose="02020603050405020304" pitchFamily="18" charset="0"/>
                        </a:rPr>
                        <a:t>Option</a:t>
                      </a:r>
                    </a:p>
                  </a:txBody>
                  <a:tcPr marL="58779" marR="58779" marT="29389" marB="29389" anchor="ctr">
                    <a:lnL>
                      <a:noFill/>
                    </a:lnL>
                    <a:lnR>
                      <a:noFill/>
                    </a:lnR>
                    <a:lnT>
                      <a:noFill/>
                    </a:lnT>
                    <a:lnB>
                      <a:noFill/>
                    </a:lnB>
                  </a:tcPr>
                </a:tc>
                <a:tc>
                  <a:txBody>
                    <a:bodyPr/>
                    <a:lstStyle/>
                    <a:p>
                      <a:pPr algn="just"/>
                      <a:r>
                        <a:rPr lang="en-IN" sz="1400">
                          <a:latin typeface="Times New Roman" panose="02020603050405020304" pitchFamily="18" charset="0"/>
                          <a:cs typeface="Times New Roman" panose="02020603050405020304" pitchFamily="18" charset="0"/>
                        </a:rPr>
                        <a:t>Description</a:t>
                      </a:r>
                    </a:p>
                  </a:txBody>
                  <a:tcPr marL="58779" marR="58779" marT="29389" marB="29389" anchor="ctr">
                    <a:lnL>
                      <a:noFill/>
                    </a:lnL>
                    <a:lnR>
                      <a:noFill/>
                    </a:lnR>
                    <a:lnT>
                      <a:noFill/>
                    </a:lnT>
                    <a:lnB>
                      <a:noFill/>
                    </a:lnB>
                  </a:tcPr>
                </a:tc>
                <a:extLst>
                  <a:ext uri="{0D108BD9-81ED-4DB2-BD59-A6C34878D82A}">
                    <a16:rowId xmlns:a16="http://schemas.microsoft.com/office/drawing/2014/main" val="10000"/>
                  </a:ext>
                </a:extLst>
              </a:tr>
              <a:tr h="587787">
                <a:tc>
                  <a:txBody>
                    <a:bodyPr/>
                    <a:lstStyle/>
                    <a:p>
                      <a:pPr algn="just"/>
                      <a:r>
                        <a:rPr lang="en-IN" sz="1400">
                          <a:latin typeface="Times New Roman" panose="02020603050405020304" pitchFamily="18" charset="0"/>
                          <a:cs typeface="Times New Roman" panose="02020603050405020304" pitchFamily="18" charset="0"/>
                        </a:rPr>
                        <a:t>-a</a:t>
                      </a:r>
                    </a:p>
                  </a:txBody>
                  <a:tcPr marL="58779" marR="58779" marT="29389" marB="29389" anchor="ctr">
                    <a:lnL>
                      <a:noFill/>
                    </a:lnL>
                    <a:lnR>
                      <a:noFill/>
                    </a:lnR>
                    <a:lnT>
                      <a:noFill/>
                    </a:lnT>
                    <a:lnB>
                      <a:noFill/>
                    </a:lnB>
                  </a:tcPr>
                </a:tc>
                <a:tc>
                  <a:txBody>
                    <a:bodyPr/>
                    <a:lstStyle/>
                    <a:p>
                      <a:pPr algn="just"/>
                      <a:r>
                        <a:rPr lang="en-US" sz="1400">
                          <a:latin typeface="Times New Roman" panose="02020603050405020304" pitchFamily="18" charset="0"/>
                          <a:cs typeface="Times New Roman" panose="02020603050405020304" pitchFamily="18" charset="0"/>
                        </a:rPr>
                        <a:t>Displays all active TCP connections and the TCP and UDP ports on which the computer is listening.</a:t>
                      </a:r>
                    </a:p>
                  </a:txBody>
                  <a:tcPr marL="58779" marR="58779" marT="29389" marB="29389" anchor="ctr">
                    <a:lnL>
                      <a:noFill/>
                    </a:lnL>
                    <a:lnR>
                      <a:noFill/>
                    </a:lnR>
                    <a:lnT>
                      <a:noFill/>
                    </a:lnT>
                    <a:lnB>
                      <a:noFill/>
                    </a:lnB>
                  </a:tcPr>
                </a:tc>
                <a:extLst>
                  <a:ext uri="{0D108BD9-81ED-4DB2-BD59-A6C34878D82A}">
                    <a16:rowId xmlns:a16="http://schemas.microsoft.com/office/drawing/2014/main" val="10001"/>
                  </a:ext>
                </a:extLst>
              </a:tr>
              <a:tr h="587787">
                <a:tc>
                  <a:txBody>
                    <a:bodyPr/>
                    <a:lstStyle/>
                    <a:p>
                      <a:pPr algn="just"/>
                      <a:r>
                        <a:rPr lang="en-IN" sz="1400">
                          <a:latin typeface="Times New Roman" panose="02020603050405020304" pitchFamily="18" charset="0"/>
                          <a:cs typeface="Times New Roman" panose="02020603050405020304" pitchFamily="18" charset="0"/>
                        </a:rPr>
                        <a:t>-e</a:t>
                      </a:r>
                    </a:p>
                  </a:txBody>
                  <a:tcPr marL="58779" marR="58779" marT="29389" marB="29389" anchor="ctr">
                    <a:lnL>
                      <a:noFill/>
                    </a:lnL>
                    <a:lnR>
                      <a:noFill/>
                    </a:lnR>
                    <a:lnT>
                      <a:noFill/>
                    </a:lnT>
                    <a:lnB>
                      <a:noFill/>
                    </a:lnB>
                  </a:tcPr>
                </a:tc>
                <a:tc>
                  <a:txBody>
                    <a:bodyPr/>
                    <a:lstStyle/>
                    <a:p>
                      <a:pPr algn="just"/>
                      <a:r>
                        <a:rPr lang="en-US" sz="1400" dirty="0">
                          <a:latin typeface="Times New Roman" panose="02020603050405020304" pitchFamily="18" charset="0"/>
                          <a:cs typeface="Times New Roman" panose="02020603050405020304" pitchFamily="18" charset="0"/>
                        </a:rPr>
                        <a:t>Displays Ethernet statistics, such as the number of bytes and packets sent and received. </a:t>
                      </a:r>
                    </a:p>
                  </a:txBody>
                  <a:tcPr marL="58779" marR="58779" marT="29389" marB="29389" anchor="ctr">
                    <a:lnL>
                      <a:noFill/>
                    </a:lnL>
                    <a:lnR>
                      <a:noFill/>
                    </a:lnR>
                    <a:lnT>
                      <a:noFill/>
                    </a:lnT>
                    <a:lnB>
                      <a:noFill/>
                    </a:lnB>
                  </a:tcPr>
                </a:tc>
                <a:extLst>
                  <a:ext uri="{0D108BD9-81ED-4DB2-BD59-A6C34878D82A}">
                    <a16:rowId xmlns:a16="http://schemas.microsoft.com/office/drawing/2014/main" val="10002"/>
                  </a:ext>
                </a:extLst>
              </a:tr>
              <a:tr h="764124">
                <a:tc>
                  <a:txBody>
                    <a:bodyPr/>
                    <a:lstStyle/>
                    <a:p>
                      <a:pPr algn="just"/>
                      <a:r>
                        <a:rPr lang="en-IN" sz="1400">
                          <a:latin typeface="Times New Roman" panose="02020603050405020304" pitchFamily="18" charset="0"/>
                          <a:cs typeface="Times New Roman" panose="02020603050405020304" pitchFamily="18" charset="0"/>
                        </a:rPr>
                        <a:t>-n</a:t>
                      </a:r>
                    </a:p>
                  </a:txBody>
                  <a:tcPr marL="58779" marR="58779" marT="29389" marB="29389" anchor="ctr">
                    <a:lnL>
                      <a:noFill/>
                    </a:lnL>
                    <a:lnR>
                      <a:noFill/>
                    </a:lnR>
                    <a:lnT>
                      <a:noFill/>
                    </a:lnT>
                    <a:lnB>
                      <a:noFill/>
                    </a:lnB>
                  </a:tcPr>
                </a:tc>
                <a:tc>
                  <a:txBody>
                    <a:bodyPr/>
                    <a:lstStyle/>
                    <a:p>
                      <a:pPr algn="just"/>
                      <a:r>
                        <a:rPr lang="en-US" sz="1400" dirty="0">
                          <a:latin typeface="Times New Roman" panose="02020603050405020304" pitchFamily="18" charset="0"/>
                          <a:cs typeface="Times New Roman" panose="02020603050405020304" pitchFamily="18" charset="0"/>
                        </a:rPr>
                        <a:t>Displays active TCP connections, however, addresses and port numbers are expressed numerically and no attempt is made to determine names.</a:t>
                      </a:r>
                    </a:p>
                  </a:txBody>
                  <a:tcPr marL="58779" marR="58779" marT="29389" marB="29389" anchor="ctr">
                    <a:lnL>
                      <a:noFill/>
                    </a:lnL>
                    <a:lnR>
                      <a:noFill/>
                    </a:lnR>
                    <a:lnT>
                      <a:noFill/>
                    </a:lnT>
                    <a:lnB>
                      <a:noFill/>
                    </a:lnB>
                  </a:tcPr>
                </a:tc>
                <a:extLst>
                  <a:ext uri="{0D108BD9-81ED-4DB2-BD59-A6C34878D82A}">
                    <a16:rowId xmlns:a16="http://schemas.microsoft.com/office/drawing/2014/main" val="10003"/>
                  </a:ext>
                </a:extLst>
              </a:tr>
              <a:tr h="587787">
                <a:tc>
                  <a:txBody>
                    <a:bodyPr/>
                    <a:lstStyle/>
                    <a:p>
                      <a:pPr algn="just"/>
                      <a:r>
                        <a:rPr lang="en-IN" sz="1400">
                          <a:latin typeface="Times New Roman" panose="02020603050405020304" pitchFamily="18" charset="0"/>
                          <a:cs typeface="Times New Roman" panose="02020603050405020304" pitchFamily="18" charset="0"/>
                        </a:rPr>
                        <a:t>-o</a:t>
                      </a:r>
                    </a:p>
                  </a:txBody>
                  <a:tcPr marL="58779" marR="58779" marT="29389" marB="29389" anchor="ctr">
                    <a:lnL>
                      <a:noFill/>
                    </a:lnL>
                    <a:lnR>
                      <a:noFill/>
                    </a:lnR>
                    <a:lnT>
                      <a:noFill/>
                    </a:lnT>
                    <a:lnB>
                      <a:noFill/>
                    </a:lnB>
                  </a:tcPr>
                </a:tc>
                <a:tc>
                  <a:txBody>
                    <a:bodyPr/>
                    <a:lstStyle/>
                    <a:p>
                      <a:pPr algn="just"/>
                      <a:r>
                        <a:rPr lang="en-US" sz="1400" dirty="0">
                          <a:latin typeface="Times New Roman" panose="02020603050405020304" pitchFamily="18" charset="0"/>
                          <a:cs typeface="Times New Roman" panose="02020603050405020304" pitchFamily="18" charset="0"/>
                        </a:rPr>
                        <a:t>Displays active TCP connections and includes the process ID (PID) for each connection.</a:t>
                      </a:r>
                    </a:p>
                  </a:txBody>
                  <a:tcPr marL="58779" marR="58779" marT="29389" marB="29389" anchor="ctr">
                    <a:lnL>
                      <a:noFill/>
                    </a:lnL>
                    <a:lnR>
                      <a:noFill/>
                    </a:lnR>
                    <a:lnT>
                      <a:noFill/>
                    </a:lnT>
                    <a:lnB>
                      <a:noFill/>
                    </a:lnB>
                  </a:tcPr>
                </a:tc>
                <a:extLst>
                  <a:ext uri="{0D108BD9-81ED-4DB2-BD59-A6C34878D82A}">
                    <a16:rowId xmlns:a16="http://schemas.microsoft.com/office/drawing/2014/main" val="10004"/>
                  </a:ext>
                </a:extLst>
              </a:tr>
              <a:tr h="764124">
                <a:tc>
                  <a:txBody>
                    <a:bodyPr/>
                    <a:lstStyle/>
                    <a:p>
                      <a:pPr algn="just"/>
                      <a:r>
                        <a:rPr lang="en-IN" sz="1400">
                          <a:latin typeface="Times New Roman" panose="02020603050405020304" pitchFamily="18" charset="0"/>
                          <a:cs typeface="Times New Roman" panose="02020603050405020304" pitchFamily="18" charset="0"/>
                        </a:rPr>
                        <a:t>-p</a:t>
                      </a:r>
                    </a:p>
                  </a:txBody>
                  <a:tcPr marL="58779" marR="58779" marT="29389" marB="29389" anchor="ctr">
                    <a:lnL>
                      <a:noFill/>
                    </a:lnL>
                    <a:lnR>
                      <a:noFill/>
                    </a:lnR>
                    <a:lnT>
                      <a:noFill/>
                    </a:lnT>
                    <a:lnB>
                      <a:noFill/>
                    </a:lnB>
                  </a:tcPr>
                </a:tc>
                <a:tc>
                  <a:txBody>
                    <a:bodyPr/>
                    <a:lstStyle/>
                    <a:p>
                      <a:pPr algn="just"/>
                      <a:r>
                        <a:rPr lang="en-US" sz="1400">
                          <a:latin typeface="Times New Roman" panose="02020603050405020304" pitchFamily="18" charset="0"/>
                          <a:cs typeface="Times New Roman" panose="02020603050405020304" pitchFamily="18" charset="0"/>
                        </a:rPr>
                        <a:t>Shows connections for the protocol specified by Protocol. In this case, the Protocol can be TCP, UDP, tcpv6, or udpv6.</a:t>
                      </a:r>
                    </a:p>
                  </a:txBody>
                  <a:tcPr marL="58779" marR="58779" marT="29389" marB="29389" anchor="ctr">
                    <a:lnL>
                      <a:noFill/>
                    </a:lnL>
                    <a:lnR>
                      <a:noFill/>
                    </a:lnR>
                    <a:lnT>
                      <a:noFill/>
                    </a:lnT>
                    <a:lnB>
                      <a:noFill/>
                    </a:lnB>
                  </a:tcPr>
                </a:tc>
                <a:extLst>
                  <a:ext uri="{0D108BD9-81ED-4DB2-BD59-A6C34878D82A}">
                    <a16:rowId xmlns:a16="http://schemas.microsoft.com/office/drawing/2014/main" val="10005"/>
                  </a:ext>
                </a:extLst>
              </a:tr>
              <a:tr h="587787">
                <a:tc>
                  <a:txBody>
                    <a:bodyPr/>
                    <a:lstStyle/>
                    <a:p>
                      <a:pPr algn="just"/>
                      <a:r>
                        <a:rPr lang="en-IN" sz="1400">
                          <a:latin typeface="Times New Roman" panose="02020603050405020304" pitchFamily="18" charset="0"/>
                          <a:cs typeface="Times New Roman" panose="02020603050405020304" pitchFamily="18" charset="0"/>
                        </a:rPr>
                        <a:t>-s </a:t>
                      </a:r>
                    </a:p>
                  </a:txBody>
                  <a:tcPr marL="58779" marR="58779" marT="29389" marB="29389" anchor="ctr">
                    <a:lnL>
                      <a:noFill/>
                    </a:lnL>
                    <a:lnR>
                      <a:noFill/>
                    </a:lnR>
                    <a:lnT>
                      <a:noFill/>
                    </a:lnT>
                    <a:lnB>
                      <a:noFill/>
                    </a:lnB>
                  </a:tcPr>
                </a:tc>
                <a:tc>
                  <a:txBody>
                    <a:bodyPr/>
                    <a:lstStyle/>
                    <a:p>
                      <a:pPr algn="just"/>
                      <a:r>
                        <a:rPr lang="en-US" sz="1400">
                          <a:latin typeface="Times New Roman" panose="02020603050405020304" pitchFamily="18" charset="0"/>
                          <a:cs typeface="Times New Roman" panose="02020603050405020304" pitchFamily="18" charset="0"/>
                        </a:rPr>
                        <a:t>Displays statistics by protocol. By default, statistics are shown for the TCP, UDP, ICMP, and IP protocols.</a:t>
                      </a:r>
                    </a:p>
                  </a:txBody>
                  <a:tcPr marL="58779" marR="58779" marT="29389" marB="29389" anchor="ctr">
                    <a:lnL>
                      <a:noFill/>
                    </a:lnL>
                    <a:lnR>
                      <a:noFill/>
                    </a:lnR>
                    <a:lnT>
                      <a:noFill/>
                    </a:lnT>
                    <a:lnB>
                      <a:noFill/>
                    </a:lnB>
                  </a:tcPr>
                </a:tc>
                <a:extLst>
                  <a:ext uri="{0D108BD9-81ED-4DB2-BD59-A6C34878D82A}">
                    <a16:rowId xmlns:a16="http://schemas.microsoft.com/office/drawing/2014/main" val="10006"/>
                  </a:ext>
                </a:extLst>
              </a:tr>
              <a:tr h="411451">
                <a:tc>
                  <a:txBody>
                    <a:bodyPr/>
                    <a:lstStyle/>
                    <a:p>
                      <a:pPr algn="just"/>
                      <a:r>
                        <a:rPr lang="en-IN" sz="1400">
                          <a:latin typeface="Times New Roman" panose="02020603050405020304" pitchFamily="18" charset="0"/>
                          <a:cs typeface="Times New Roman" panose="02020603050405020304" pitchFamily="18" charset="0"/>
                        </a:rPr>
                        <a:t>-r </a:t>
                      </a:r>
                    </a:p>
                  </a:txBody>
                  <a:tcPr marL="58779" marR="58779" marT="29389" marB="29389" anchor="ctr">
                    <a:lnL>
                      <a:noFill/>
                    </a:lnL>
                    <a:lnR>
                      <a:noFill/>
                    </a:lnR>
                    <a:lnT>
                      <a:noFill/>
                    </a:lnT>
                    <a:lnB>
                      <a:noFill/>
                    </a:lnB>
                  </a:tcPr>
                </a:tc>
                <a:tc>
                  <a:txBody>
                    <a:bodyPr/>
                    <a:lstStyle/>
                    <a:p>
                      <a:pPr algn="just"/>
                      <a:r>
                        <a:rPr lang="en-US" sz="1400" dirty="0">
                          <a:latin typeface="Times New Roman" panose="02020603050405020304" pitchFamily="18" charset="0"/>
                          <a:cs typeface="Times New Roman" panose="02020603050405020304" pitchFamily="18" charset="0"/>
                        </a:rPr>
                        <a:t>Displays the contents of the IP routing table.</a:t>
                      </a:r>
                    </a:p>
                  </a:txBody>
                  <a:tcPr marL="58779" marR="58779" marT="29389" marB="29389" anchor="ctr">
                    <a:lnL>
                      <a:noFill/>
                    </a:lnL>
                    <a:lnR>
                      <a:noFill/>
                    </a:lnR>
                    <a:lnT>
                      <a:noFill/>
                    </a:lnT>
                    <a:lnB>
                      <a:noFill/>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vert="horz" wrap="square" lIns="91440" tIns="45720" rIns="91440" bIns="45720" anchor="ctr" anchorCtr="0"/>
          <a:lstStyle/>
          <a:p>
            <a:pPr eaLnBrk="1" hangingPunct="1"/>
            <a:r>
              <a:rPr lang="en-IN" altLang="x-none" dirty="0"/>
              <a:t>‘</a:t>
            </a:r>
            <a:r>
              <a:rPr lang="en-IN" altLang="x-none" b="1" dirty="0">
                <a:latin typeface="Times New Roman" panose="02020603050405020304" pitchFamily="18" charset="0"/>
                <a:cs typeface="Times New Roman" panose="02020603050405020304" pitchFamily="18" charset="0"/>
              </a:rPr>
              <a:t>nslookup’</a:t>
            </a:r>
            <a:endParaRPr lang="en-IN" altLang="x-none" b="1" dirty="0">
              <a:latin typeface="Times New Roman" panose="02020603050405020304" pitchFamily="18" charset="0"/>
              <a:ea typeface="Times New Roman" panose="02020603050405020304" pitchFamily="18" charset="0"/>
            </a:endParaRPr>
          </a:p>
        </p:txBody>
      </p:sp>
      <p:sp>
        <p:nvSpPr>
          <p:cNvPr id="16387" name="Content Placeholder 2"/>
          <p:cNvSpPr>
            <a:spLocks noGrp="1"/>
          </p:cNvSpPr>
          <p:nvPr>
            <p:ph idx="1"/>
          </p:nvPr>
        </p:nvSpPr>
        <p:spPr/>
        <p:txBody>
          <a:bodyPr vert="horz" wrap="square" lIns="91440" tIns="45720" rIns="91440" bIns="45720" anchor="t" anchorCtr="0"/>
          <a:lstStyle/>
          <a:p>
            <a:pPr algn="just" eaLnBrk="1" hangingPunct="1"/>
            <a:r>
              <a:rPr dirty="0">
                <a:latin typeface="Times New Roman" panose="02020603050405020304" pitchFamily="18" charset="0"/>
                <a:cs typeface="Times New Roman" panose="02020603050405020304" pitchFamily="18" charset="0"/>
              </a:rPr>
              <a:t>The nslookup, which stands for </a:t>
            </a:r>
            <a:r>
              <a:rPr b="1" dirty="0">
                <a:latin typeface="Times New Roman" panose="02020603050405020304" pitchFamily="18" charset="0"/>
                <a:cs typeface="Times New Roman" panose="02020603050405020304" pitchFamily="18" charset="0"/>
              </a:rPr>
              <a:t>name server lookup command</a:t>
            </a:r>
            <a:r>
              <a:rPr dirty="0">
                <a:latin typeface="Times New Roman" panose="02020603050405020304" pitchFamily="18" charset="0"/>
                <a:cs typeface="Times New Roman" panose="02020603050405020304" pitchFamily="18" charset="0"/>
              </a:rPr>
              <a:t>, is a network utility command used to obtain information about internet servers. </a:t>
            </a:r>
          </a:p>
          <a:p>
            <a:pPr algn="just" eaLnBrk="1" hangingPunct="1"/>
            <a:r>
              <a:rPr dirty="0">
                <a:latin typeface="Times New Roman" panose="02020603050405020304" pitchFamily="18" charset="0"/>
                <a:cs typeface="Times New Roman" panose="02020603050405020304" pitchFamily="18" charset="0"/>
              </a:rPr>
              <a:t>It provides name server information for the DNS (Domain Name System), i.e. the default DNS server’s name and IP Address.</a:t>
            </a:r>
          </a:p>
          <a:p>
            <a:pPr algn="just" eaLnBrk="1" hangingPunct="1"/>
            <a:r>
              <a:rPr b="1" dirty="0">
                <a:latin typeface="Times New Roman" panose="02020603050405020304" pitchFamily="18" charset="0"/>
                <a:cs typeface="Times New Roman" panose="02020603050405020304" pitchFamily="18" charset="0"/>
              </a:rPr>
              <a:t>Syntax</a:t>
            </a:r>
            <a:r>
              <a:rPr dirty="0">
                <a:latin typeface="Times New Roman" panose="02020603050405020304" pitchFamily="18" charset="0"/>
                <a:cs typeface="Times New Roman" panose="02020603050405020304" pitchFamily="18" charset="0"/>
              </a:rPr>
              <a:t>: nslookup or nslookup[domain_name]</a:t>
            </a:r>
            <a:endParaRPr lang="en-IN" altLang="x-none"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p:txBody>
          <a:bodyPr vert="horz" wrap="square" lIns="91440" tIns="45720" rIns="91440" bIns="45720" anchor="ctr" anchorCtr="0"/>
          <a:lstStyle/>
          <a:p>
            <a:pPr eaLnBrk="1" hangingPunct="1"/>
            <a:r>
              <a:rPr lang="en-US" altLang="en-US" b="1" dirty="0">
                <a:latin typeface="Times New Roman" panose="02020603050405020304" pitchFamily="18" charset="0"/>
                <a:cs typeface="Times New Roman" panose="02020603050405020304" pitchFamily="18" charset="0"/>
              </a:rPr>
              <a:t>‘ifconfig’</a:t>
            </a:r>
            <a:endParaRPr lang="en-US" altLang="en-US" b="1" dirty="0">
              <a:latin typeface="Times New Roman" panose="02020603050405020304" pitchFamily="18" charset="0"/>
              <a:ea typeface="Times New Roman" panose="02020603050405020304" pitchFamily="18" charset="0"/>
            </a:endParaRPr>
          </a:p>
        </p:txBody>
      </p:sp>
      <p:sp>
        <p:nvSpPr>
          <p:cNvPr id="17411" name="Rectangle 3"/>
          <p:cNvSpPr>
            <a:spLocks noGrp="1"/>
          </p:cNvSpPr>
          <p:nvPr>
            <p:ph idx="1"/>
          </p:nvPr>
        </p:nvSpPr>
        <p:spPr/>
        <p:txBody>
          <a:bodyPr vert="horz" wrap="square" lIns="91440" tIns="45720" rIns="91440" bIns="45720" anchor="t" anchorCtr="0"/>
          <a:lstStyle/>
          <a:p>
            <a:pPr algn="just" eaLnBrk="1" hangingPunct="1"/>
            <a:r>
              <a:rPr lang="en-US" altLang="en-US" dirty="0">
                <a:latin typeface="Times New Roman" panose="02020603050405020304" pitchFamily="18" charset="0"/>
                <a:cs typeface="Times New Roman" panose="02020603050405020304" pitchFamily="18" charset="0"/>
              </a:rPr>
              <a:t>This program allows a user to view status information and statistics for any network interfaces which exist in your machine, or to modify the state of a network interface if you possess the necessary authorizations</a:t>
            </a:r>
          </a:p>
          <a:p>
            <a:pPr algn="just" eaLnBrk="1" hangingPunct="1"/>
            <a:r>
              <a:rPr lang="en-US" altLang="en-US" dirty="0">
                <a:latin typeface="Times New Roman" panose="02020603050405020304" pitchFamily="18" charset="0"/>
                <a:cs typeface="Times New Roman" panose="02020603050405020304" pitchFamily="18" charset="0"/>
              </a:rPr>
              <a:t>Example:  </a:t>
            </a:r>
            <a:r>
              <a:rPr lang="en-US" altLang="en-US" b="1" dirty="0">
                <a:latin typeface="Times New Roman" panose="02020603050405020304" pitchFamily="18" charset="0"/>
                <a:cs typeface="Times New Roman" panose="02020603050405020304" pitchFamily="18" charset="0"/>
              </a:rPr>
              <a:t>ifconfig</a:t>
            </a:r>
            <a:r>
              <a:rPr lang="en-US" altLang="en-US" dirty="0">
                <a:latin typeface="Times New Roman" panose="02020603050405020304" pitchFamily="18" charset="0"/>
                <a:cs typeface="Times New Roman" panose="02020603050405020304" pitchFamily="18" charset="0"/>
              </a:rPr>
              <a:t> </a:t>
            </a:r>
          </a:p>
          <a:p>
            <a:pPr algn="just" eaLnBrk="1" hangingPunct="1"/>
            <a:r>
              <a:rPr lang="en-US" altLang="en-US" dirty="0">
                <a:latin typeface="Times New Roman" panose="02020603050405020304" pitchFamily="18" charset="0"/>
                <a:cs typeface="Times New Roman" panose="02020603050405020304" pitchFamily="18" charset="0"/>
              </a:rPr>
              <a:t>With ‘sudo’ privileges, we will be able to make changes to our interfaces’ states. </a:t>
            </a: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a:t>Telnet</a:t>
            </a:r>
          </a:p>
        </p:txBody>
      </p:sp>
      <p:sp>
        <p:nvSpPr>
          <p:cNvPr id="3" name="Content Placeholder 2"/>
          <p:cNvSpPr>
            <a:spLocks noGrp="1"/>
          </p:cNvSpPr>
          <p:nvPr>
            <p:ph idx="1"/>
          </p:nvPr>
        </p:nvSpPr>
        <p:spPr>
          <a:xfrm>
            <a:off x="457200" y="1331595"/>
            <a:ext cx="8229600" cy="4794885"/>
          </a:xfrm>
        </p:spPr>
        <p:txBody>
          <a:bodyPr/>
          <a:lstStyle/>
          <a:p>
            <a:r>
              <a:rPr lang="en-US" sz="2400"/>
              <a:t>Telnet is the standard TCP/IP protocol for virtual terminal service. It enables you to establish a connection to a remote system in such a manner that it appears as a local system. The full form of TELNET is Terminal Network.</a:t>
            </a:r>
          </a:p>
          <a:p>
            <a:r>
              <a:rPr lang="en-US" sz="2400"/>
              <a:t>Telnet protocol is mostly used by network admin to access and manage network devices remotely. It helps them access the device by telnetting to the IP address or hostname of a remote device. It allows users to access any application on a remote computer. This helps them to establish a connection to a remote system.</a:t>
            </a:r>
          </a:p>
          <a:p>
            <a:r>
              <a:rPr lang="en-IN" altLang="en-US" sz="2400" b="1"/>
              <a:t>Command- telnet [IP Address] port no.</a:t>
            </a:r>
          </a:p>
          <a:p>
            <a:r>
              <a:rPr lang="en-IN" altLang="en-US" sz="2400" b="1"/>
              <a:t>Example- telnet 192.168.10.1 80</a:t>
            </a:r>
          </a:p>
          <a:p>
            <a:r>
              <a:rPr lang="en-IN" altLang="en-US" sz="2400" b="1"/>
              <a:t>can be installed using sudo apt install telnet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a:t>SSH(secure shell)</a:t>
            </a:r>
          </a:p>
        </p:txBody>
      </p:sp>
      <p:sp>
        <p:nvSpPr>
          <p:cNvPr id="3" name="Content Placeholder 2"/>
          <p:cNvSpPr>
            <a:spLocks noGrp="1"/>
          </p:cNvSpPr>
          <p:nvPr>
            <p:ph idx="1"/>
          </p:nvPr>
        </p:nvSpPr>
        <p:spPr>
          <a:xfrm>
            <a:off x="457200" y="1320800"/>
            <a:ext cx="8229600" cy="4805680"/>
          </a:xfrm>
        </p:spPr>
        <p:txBody>
          <a:bodyPr/>
          <a:lstStyle/>
          <a:p>
            <a:r>
              <a:rPr lang="en-US" sz="2400"/>
              <a:t>SSH is a network protocol that is widely used to access and manage a device remotely. The full form of SSH is Secure Shell is a major protocol to access the network devices and servers over the internet.</a:t>
            </a:r>
          </a:p>
          <a:p>
            <a:endParaRPr lang="en-US" sz="2400"/>
          </a:p>
          <a:p>
            <a:r>
              <a:rPr lang="en-US" sz="2400"/>
              <a:t>It helps you to log into another computer over a network and allows you to execute commands in a remote machine. You can move files from one machine to another. SSH protocol encrypts traffic in both directions, which helps you to prevent trafficking, sniffing, and password theft.</a:t>
            </a:r>
          </a:p>
          <a:p>
            <a:r>
              <a:rPr lang="en-IN" altLang="en-US" sz="2400" b="1"/>
              <a:t>Command- ssh user@[ip address]</a:t>
            </a:r>
          </a:p>
          <a:p>
            <a:r>
              <a:rPr lang="en-IN" altLang="en-US" sz="2400" b="1"/>
              <a:t>Example- ssh root@10.1.1.1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b="1"/>
              <a:t>Dig command</a:t>
            </a:r>
          </a:p>
        </p:txBody>
      </p:sp>
      <p:sp>
        <p:nvSpPr>
          <p:cNvPr id="3" name="Content Placeholder 2"/>
          <p:cNvSpPr>
            <a:spLocks noGrp="1"/>
          </p:cNvSpPr>
          <p:nvPr>
            <p:ph idx="1"/>
          </p:nvPr>
        </p:nvSpPr>
        <p:spPr/>
        <p:txBody>
          <a:bodyPr/>
          <a:lstStyle/>
          <a:p>
            <a:r>
              <a:rPr lang="en-US"/>
              <a:t>dig command stands for Domain Information Groper. It is used for retrieving information about DNS name servers. It is basically used by network administrators. It is used for verifying and troubleshooting DNS problems and to perform DNS lookups. Dig command replaces older tools such as nslookup and the host.</a:t>
            </a:r>
          </a:p>
          <a:p>
            <a:r>
              <a:rPr lang="en-IN" altLang="en-US"/>
              <a:t>Example dig google.com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p:txBody>
          <a:bodyPr vert="horz" wrap="square" lIns="91440" tIns="45720" rIns="91440" bIns="45720" anchor="ctr" anchorCtr="0"/>
          <a:lstStyle/>
          <a:p>
            <a:pPr eaLnBrk="1" hangingPunct="1"/>
            <a:r>
              <a:rPr lang="en-US" altLang="en-US" b="1" dirty="0">
                <a:latin typeface="Times New Roman" panose="02020603050405020304" pitchFamily="18" charset="0"/>
                <a:cs typeface="Times New Roman" panose="02020603050405020304" pitchFamily="18" charset="0"/>
              </a:rPr>
              <a:t>‘ftp’</a:t>
            </a:r>
            <a:endParaRPr lang="en-US" altLang="en-US" b="1" dirty="0">
              <a:latin typeface="Times New Roman" panose="02020603050405020304" pitchFamily="18" charset="0"/>
              <a:ea typeface="Times New Roman" panose="02020603050405020304" pitchFamily="18" charset="0"/>
            </a:endParaRPr>
          </a:p>
        </p:txBody>
      </p:sp>
      <p:sp>
        <p:nvSpPr>
          <p:cNvPr id="18435" name="Rectangle 3"/>
          <p:cNvSpPr>
            <a:spLocks noGrp="1"/>
          </p:cNvSpPr>
          <p:nvPr>
            <p:ph idx="1"/>
          </p:nvPr>
        </p:nvSpPr>
        <p:spPr/>
        <p:txBody>
          <a:bodyPr vert="horz" wrap="square" lIns="91440" tIns="45720" rIns="91440" bIns="45720" anchor="t" anchorCtr="0"/>
          <a:lstStyle/>
          <a:p>
            <a:pPr algn="just" eaLnBrk="1" hangingPunct="1"/>
            <a:r>
              <a:rPr lang="en-US" altLang="en-US" dirty="0">
                <a:latin typeface="Times New Roman" panose="02020603050405020304" pitchFamily="18" charset="0"/>
                <a:cs typeface="Times New Roman" panose="02020603050405020304" pitchFamily="18" charset="0"/>
              </a:rPr>
              <a:t>This offers a convenient command-line interface to the File-Transfer Protocol which is implemented on the Internet</a:t>
            </a:r>
          </a:p>
          <a:p>
            <a:pPr algn="just" eaLnBrk="1" hangingPunct="1"/>
            <a:r>
              <a:rPr lang="en-US" altLang="en-US" dirty="0">
                <a:latin typeface="Times New Roman" panose="02020603050405020304" pitchFamily="18" charset="0"/>
                <a:cs typeface="Times New Roman" panose="02020603050405020304" pitchFamily="18" charset="0"/>
              </a:rPr>
              <a:t>Example:  </a:t>
            </a:r>
            <a:r>
              <a:rPr lang="en-US" altLang="en-US" b="1" dirty="0">
                <a:latin typeface="Times New Roman" panose="02020603050405020304" pitchFamily="18" charset="0"/>
                <a:cs typeface="Times New Roman" panose="02020603050405020304" pitchFamily="18" charset="0"/>
              </a:rPr>
              <a:t>ftp</a:t>
            </a:r>
            <a:r>
              <a:rPr lang="en-US" altLang="en-US" dirty="0">
                <a:latin typeface="Times New Roman" panose="02020603050405020304" pitchFamily="18" charset="0"/>
                <a:cs typeface="Times New Roman" panose="02020603050405020304" pitchFamily="18" charset="0"/>
              </a:rPr>
              <a:t>  hopper.usfca.edu</a:t>
            </a:r>
          </a:p>
          <a:p>
            <a:pPr algn="just" eaLnBrk="1" hangingPunct="1"/>
            <a:r>
              <a:rPr lang="en-US" altLang="en-US" dirty="0">
                <a:latin typeface="Times New Roman" panose="02020603050405020304" pitchFamily="18" charset="0"/>
                <a:cs typeface="Times New Roman" panose="02020603050405020304" pitchFamily="18" charset="0"/>
              </a:rPr>
              <a:t>You will usually need to enter a password and a sequence of ftp-specific commands in order to ‘download’ (or ‘upload’) a file using this standard UNIX ‘ftp’ application   </a:t>
            </a: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57200" y="2362200"/>
            <a:ext cx="8229600" cy="1208088"/>
          </a:xfrm>
        </p:spPr>
        <p:txBody>
          <a:bodyPr vert="horz" wrap="square" lIns="91440" tIns="45720" rIns="91440" bIns="45720" anchor="ctr" anchorCtr="0"/>
          <a:lstStyle/>
          <a:p>
            <a:pPr eaLnBrk="1" hangingPunct="1"/>
            <a:r>
              <a:rPr lang="en-IN" altLang="x-none" b="1" dirty="0">
                <a:latin typeface="Times New Roman" panose="02020603050405020304" pitchFamily="18" charset="0"/>
                <a:cs typeface="Times New Roman" panose="02020603050405020304" pitchFamily="18" charset="0"/>
              </a:rPr>
              <a:t>Thank you</a:t>
            </a:r>
            <a:r>
              <a:rPr lang="en-IN" altLang="x-none" b="1" dirty="0">
                <a:latin typeface="Times New Roman" panose="02020603050405020304" pitchFamily="18" charset="0"/>
                <a:ea typeface="Times New Roman" panose="02020603050405020304" pitchFamily="18" charset="0"/>
              </a:rPr>
              <a:t>…</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1450</Words>
  <Application>Microsoft Office PowerPoint</Application>
  <PresentationFormat>On-screen Show (4:3)</PresentationFormat>
  <Paragraphs>99</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Times New Roman</vt:lpstr>
      <vt:lpstr>Default Design</vt:lpstr>
      <vt:lpstr>Basic Network Commands</vt:lpstr>
      <vt:lpstr>‘hostname’</vt:lpstr>
      <vt:lpstr>‘ping’</vt:lpstr>
      <vt:lpstr>‘ipconfig’</vt:lpstr>
      <vt:lpstr>options</vt:lpstr>
      <vt:lpstr>‘arp’</vt:lpstr>
      <vt:lpstr>‘traceroute’</vt:lpstr>
      <vt:lpstr>Contd…</vt:lpstr>
      <vt:lpstr>‘route’</vt:lpstr>
      <vt:lpstr>‘netstat’</vt:lpstr>
      <vt:lpstr>Contd…</vt:lpstr>
      <vt:lpstr>contd…</vt:lpstr>
      <vt:lpstr>Options </vt:lpstr>
      <vt:lpstr>‘nslookup’</vt:lpstr>
      <vt:lpstr>‘ifconfig’</vt:lpstr>
      <vt:lpstr>Telnet</vt:lpstr>
      <vt:lpstr>SSH(secure shell)</vt:lpstr>
      <vt:lpstr>Dig command</vt:lpstr>
      <vt:lpstr>‘ftp’</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CRUSE</dc:creator>
  <cp:lastModifiedBy>Smith Faldu</cp:lastModifiedBy>
  <cp:revision>54</cp:revision>
  <dcterms:created xsi:type="dcterms:W3CDTF">2009-01-29T18:30:00Z</dcterms:created>
  <dcterms:modified xsi:type="dcterms:W3CDTF">2026-07-14T11:49:38Z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B6CB132B44F94F0092B823256F84A74B_12</vt:lpwstr>
  </property>
  <property fmtid="{D5CDD505-2E9C-101B-9397-08002B2CF9AE}" pid="3" name="KSOProductBuildVer">
    <vt:lpwstr>1033-12.2.0.21931</vt:lpwstr>
  </property>
</Properties>
</file>