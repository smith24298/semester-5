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8"/>
  </p:notesMasterIdLst>
  <p:sldIdLst>
    <p:sldId id="543" r:id="rId2"/>
    <p:sldId id="544" r:id="rId3"/>
    <p:sldId id="545" r:id="rId4"/>
    <p:sldId id="546" r:id="rId5"/>
    <p:sldId id="547" r:id="rId6"/>
    <p:sldId id="548" r:id="rId7"/>
    <p:sldId id="549" r:id="rId8"/>
    <p:sldId id="552" r:id="rId9"/>
    <p:sldId id="550" r:id="rId10"/>
    <p:sldId id="553" r:id="rId11"/>
    <p:sldId id="554" r:id="rId12"/>
    <p:sldId id="556" r:id="rId13"/>
    <p:sldId id="557" r:id="rId14"/>
    <p:sldId id="558" r:id="rId15"/>
    <p:sldId id="551" r:id="rId16"/>
    <p:sldId id="416" r:id="rId17"/>
    <p:sldId id="417" r:id="rId18"/>
    <p:sldId id="418" r:id="rId19"/>
    <p:sldId id="419" r:id="rId20"/>
    <p:sldId id="420" r:id="rId21"/>
    <p:sldId id="421" r:id="rId22"/>
    <p:sldId id="422" r:id="rId23"/>
    <p:sldId id="423" r:id="rId24"/>
    <p:sldId id="424" r:id="rId25"/>
    <p:sldId id="425" r:id="rId26"/>
    <p:sldId id="426" r:id="rId27"/>
    <p:sldId id="427" r:id="rId28"/>
    <p:sldId id="428" r:id="rId29"/>
    <p:sldId id="429" r:id="rId30"/>
    <p:sldId id="430" r:id="rId31"/>
    <p:sldId id="431" r:id="rId32"/>
    <p:sldId id="432" r:id="rId33"/>
    <p:sldId id="433" r:id="rId34"/>
    <p:sldId id="434" r:id="rId35"/>
    <p:sldId id="435" r:id="rId36"/>
    <p:sldId id="436" r:id="rId37"/>
    <p:sldId id="437" r:id="rId38"/>
    <p:sldId id="438" r:id="rId39"/>
    <p:sldId id="439" r:id="rId40"/>
    <p:sldId id="440" r:id="rId41"/>
    <p:sldId id="441" r:id="rId42"/>
    <p:sldId id="442" r:id="rId43"/>
    <p:sldId id="471" r:id="rId44"/>
    <p:sldId id="470" r:id="rId45"/>
    <p:sldId id="472" r:id="rId46"/>
    <p:sldId id="473" r:id="rId47"/>
    <p:sldId id="474" r:id="rId48"/>
    <p:sldId id="475" r:id="rId49"/>
    <p:sldId id="476" r:id="rId50"/>
    <p:sldId id="477" r:id="rId51"/>
    <p:sldId id="478" r:id="rId52"/>
    <p:sldId id="479" r:id="rId53"/>
    <p:sldId id="480" r:id="rId54"/>
    <p:sldId id="481" r:id="rId55"/>
    <p:sldId id="482" r:id="rId56"/>
    <p:sldId id="483" r:id="rId57"/>
    <p:sldId id="484" r:id="rId58"/>
    <p:sldId id="485" r:id="rId59"/>
    <p:sldId id="486" r:id="rId60"/>
    <p:sldId id="487" r:id="rId61"/>
    <p:sldId id="559" r:id="rId62"/>
    <p:sldId id="488" r:id="rId63"/>
    <p:sldId id="489" r:id="rId64"/>
    <p:sldId id="490" r:id="rId65"/>
    <p:sldId id="491" r:id="rId66"/>
    <p:sldId id="492" r:id="rId67"/>
    <p:sldId id="493" r:id="rId68"/>
    <p:sldId id="494" r:id="rId69"/>
    <p:sldId id="495" r:id="rId70"/>
    <p:sldId id="496" r:id="rId71"/>
    <p:sldId id="497" r:id="rId72"/>
    <p:sldId id="499" r:id="rId73"/>
    <p:sldId id="498" r:id="rId74"/>
    <p:sldId id="500" r:id="rId75"/>
    <p:sldId id="519" r:id="rId76"/>
    <p:sldId id="501" r:id="rId77"/>
    <p:sldId id="502" r:id="rId78"/>
    <p:sldId id="503" r:id="rId79"/>
    <p:sldId id="521" r:id="rId80"/>
    <p:sldId id="504" r:id="rId81"/>
    <p:sldId id="505" r:id="rId82"/>
    <p:sldId id="506" r:id="rId83"/>
    <p:sldId id="507" r:id="rId84"/>
    <p:sldId id="508" r:id="rId85"/>
    <p:sldId id="509" r:id="rId86"/>
    <p:sldId id="510" r:id="rId87"/>
    <p:sldId id="511" r:id="rId88"/>
    <p:sldId id="512" r:id="rId89"/>
    <p:sldId id="513" r:id="rId90"/>
    <p:sldId id="514" r:id="rId91"/>
    <p:sldId id="515" r:id="rId92"/>
    <p:sldId id="516" r:id="rId93"/>
    <p:sldId id="517" r:id="rId94"/>
    <p:sldId id="518" r:id="rId95"/>
    <p:sldId id="520" r:id="rId96"/>
    <p:sldId id="522" r:id="rId97"/>
    <p:sldId id="523" r:id="rId98"/>
    <p:sldId id="524" r:id="rId99"/>
    <p:sldId id="525" r:id="rId100"/>
    <p:sldId id="526" r:id="rId101"/>
    <p:sldId id="527" r:id="rId102"/>
    <p:sldId id="528" r:id="rId103"/>
    <p:sldId id="529" r:id="rId104"/>
    <p:sldId id="530" r:id="rId105"/>
    <p:sldId id="531" r:id="rId106"/>
    <p:sldId id="537" r:id="rId107"/>
    <p:sldId id="539" r:id="rId108"/>
    <p:sldId id="540" r:id="rId109"/>
    <p:sldId id="541" r:id="rId110"/>
    <p:sldId id="542" r:id="rId111"/>
    <p:sldId id="538" r:id="rId112"/>
    <p:sldId id="532" r:id="rId113"/>
    <p:sldId id="534" r:id="rId114"/>
    <p:sldId id="535" r:id="rId115"/>
    <p:sldId id="536" r:id="rId116"/>
    <p:sldId id="469" r:id="rId117"/>
  </p:sldIdLst>
  <p:sldSz cx="12192000" cy="6858000"/>
  <p:notesSz cx="6858000" cy="9144000"/>
  <p:embeddedFontLst>
    <p:embeddedFont>
      <p:font typeface="Calibri" panose="020F0502020204030204" pitchFamily="34" charset="0"/>
      <p:regular r:id="rId119"/>
      <p:bold r:id="rId120"/>
      <p:italic r:id="rId121"/>
      <p:boldItalic r:id="rId122"/>
    </p:embeddedFont>
    <p:embeddedFont>
      <p:font typeface="Cambria" panose="02040503050406030204" pitchFamily="18" charset="0"/>
      <p:regular r:id="rId123"/>
      <p:bold r:id="rId124"/>
      <p:italic r:id="rId125"/>
      <p:boldItalic r:id="rId126"/>
    </p:embeddedFont>
    <p:embeddedFont>
      <p:font typeface="Cambria Math" panose="02040503050406030204" pitchFamily="18" charset="0"/>
      <p:regular r:id="rId127"/>
    </p:embeddedFont>
    <p:embeddedFont>
      <p:font typeface="Consolas" panose="020B0609020204030204" pitchFamily="49" charset="0"/>
      <p:regular r:id="rId128"/>
      <p:bold r:id="rId129"/>
      <p:italic r:id="rId130"/>
      <p:boldItalic r:id="rId131"/>
    </p:embeddedFont>
    <p:embeddedFont>
      <p:font typeface="Roboto Condensed" pitchFamily="2" charset="0"/>
      <p:regular r:id="rId132"/>
      <p:bold r:id="rId133"/>
      <p:italic r:id="rId134"/>
      <p:boldItalic r:id="rId135"/>
    </p:embeddedFont>
    <p:embeddedFont>
      <p:font typeface="Wingdings 3" panose="05040102010807070707" pitchFamily="18" charset="2"/>
      <p:regular r:id="rId1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E0EE"/>
    <a:srgbClr val="424242"/>
    <a:srgbClr val="F599C9"/>
    <a:srgbClr val="FBD9EB"/>
    <a:srgbClr val="ED524F"/>
    <a:srgbClr val="A71160"/>
    <a:srgbClr val="890E4F"/>
    <a:srgbClr val="FDEDF5"/>
    <a:srgbClr val="F9C3DF"/>
    <a:srgbClr val="F27E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5.fntdata"/><Relationship Id="rId128" Type="http://schemas.openxmlformats.org/officeDocument/2006/relationships/font" Target="fonts/font10.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134" Type="http://schemas.openxmlformats.org/officeDocument/2006/relationships/font" Target="fonts/font16.fntdata"/><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6.fntdata"/><Relationship Id="rId129" Type="http://schemas.openxmlformats.org/officeDocument/2006/relationships/font" Target="fonts/font11.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font" Target="fonts/font1.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12.fntdata"/><Relationship Id="rId135" Type="http://schemas.openxmlformats.org/officeDocument/2006/relationships/font" Target="fonts/font17.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2.fntdata"/><Relationship Id="rId125" Type="http://schemas.openxmlformats.org/officeDocument/2006/relationships/font" Target="fonts/font7.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13.fntdata"/><Relationship Id="rId136" Type="http://schemas.openxmlformats.org/officeDocument/2006/relationships/font" Target="fonts/font18.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3.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14.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8/22/2024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0"/>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885617"/>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2249"/>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861193"/>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2" y="0"/>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861193"/>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16929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8/22/2024</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70" r:id="rId1"/>
    <p:sldLayoutId id="2147483687" r:id="rId2"/>
    <p:sldLayoutId id="2147483688" r:id="rId3"/>
    <p:sldLayoutId id="214748367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6"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186.png"/><Relationship Id="rId3" Type="http://schemas.openxmlformats.org/officeDocument/2006/relationships/image" Target="../media/image176.png"/><Relationship Id="rId7" Type="http://schemas.openxmlformats.org/officeDocument/2006/relationships/image" Target="../media/image180.png"/><Relationship Id="rId12" Type="http://schemas.openxmlformats.org/officeDocument/2006/relationships/image" Target="../media/image185.png"/><Relationship Id="rId2" Type="http://schemas.openxmlformats.org/officeDocument/2006/relationships/image" Target="../media/image1750.png"/><Relationship Id="rId1" Type="http://schemas.openxmlformats.org/officeDocument/2006/relationships/slideLayout" Target="../slideLayouts/slideLayout1.xml"/><Relationship Id="rId6" Type="http://schemas.openxmlformats.org/officeDocument/2006/relationships/image" Target="../media/image179.png"/><Relationship Id="rId11" Type="http://schemas.openxmlformats.org/officeDocument/2006/relationships/image" Target="../media/image184.png"/><Relationship Id="rId5" Type="http://schemas.openxmlformats.org/officeDocument/2006/relationships/image" Target="../media/image178.png"/><Relationship Id="rId10" Type="http://schemas.openxmlformats.org/officeDocument/2006/relationships/image" Target="../media/image183.png"/><Relationship Id="rId4" Type="http://schemas.openxmlformats.org/officeDocument/2006/relationships/image" Target="../media/image177.png"/><Relationship Id="rId9" Type="http://schemas.openxmlformats.org/officeDocument/2006/relationships/image" Target="../media/image182.png"/><Relationship Id="rId14" Type="http://schemas.openxmlformats.org/officeDocument/2006/relationships/image" Target="../media/image18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image" Target="../media/image170.png"/><Relationship Id="rId1" Type="http://schemas.openxmlformats.org/officeDocument/2006/relationships/slideLayout" Target="../slideLayouts/slideLayout2.xml"/><Relationship Id="rId6" Type="http://schemas.openxmlformats.org/officeDocument/2006/relationships/image" Target="../media/image210.png"/><Relationship Id="rId5" Type="http://schemas.openxmlformats.org/officeDocument/2006/relationships/image" Target="../media/image200.png"/><Relationship Id="rId4" Type="http://schemas.openxmlformats.org/officeDocument/2006/relationships/image" Target="../media/image190.png"/></Relationships>
</file>

<file path=ppt/slides/_rels/slide41.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280.png"/><Relationship Id="rId3" Type="http://schemas.openxmlformats.org/officeDocument/2006/relationships/image" Target="../media/image48.png"/><Relationship Id="rId7" Type="http://schemas.openxmlformats.org/officeDocument/2006/relationships/image" Target="../media/image51.pn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260.png"/><Relationship Id="rId5" Type="http://schemas.openxmlformats.org/officeDocument/2006/relationships/image" Target="../media/image250.png"/><Relationship Id="rId4" Type="http://schemas.openxmlformats.org/officeDocument/2006/relationships/image" Target="../media/image5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3" Type="http://schemas.openxmlformats.org/officeDocument/2006/relationships/image" Target="../media/image47.png"/><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5" Type="http://schemas.openxmlformats.org/officeDocument/2006/relationships/image" Target="../media/image62.png"/><Relationship Id="rId10" Type="http://schemas.openxmlformats.org/officeDocument/2006/relationships/image" Target="../media/image57.png"/><Relationship Id="rId4" Type="http://schemas.openxmlformats.org/officeDocument/2006/relationships/image" Target="../media/image49.png"/><Relationship Id="rId9" Type="http://schemas.openxmlformats.org/officeDocument/2006/relationships/image" Target="../media/image56.png"/><Relationship Id="rId14" Type="http://schemas.openxmlformats.org/officeDocument/2006/relationships/image" Target="../media/image61.png"/></Relationships>
</file>

<file path=ppt/slides/_rels/slide8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9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A7B9E7-BC69-4AE5-8C7C-C641CC655C79}"/>
              </a:ext>
            </a:extLst>
          </p:cNvPr>
          <p:cNvSpPr txBox="1"/>
          <p:nvPr/>
        </p:nvSpPr>
        <p:spPr>
          <a:xfrm>
            <a:off x="1701265" y="3244334"/>
            <a:ext cx="6097604" cy="769441"/>
          </a:xfrm>
          <a:prstGeom prst="rect">
            <a:avLst/>
          </a:prstGeom>
          <a:noFill/>
        </p:spPr>
        <p:txBody>
          <a:bodyPr wrap="square">
            <a:spAutoFit/>
          </a:bodyPr>
          <a:lstStyle/>
          <a:p>
            <a:r>
              <a:rPr lang="en-US" sz="4400" dirty="0"/>
              <a:t>Red-Black Tree</a:t>
            </a:r>
            <a:endParaRPr lang="en-IN" sz="4400" dirty="0"/>
          </a:p>
        </p:txBody>
      </p:sp>
      <p:sp>
        <p:nvSpPr>
          <p:cNvPr id="4" name="Text Placeholder 2">
            <a:extLst>
              <a:ext uri="{FF2B5EF4-FFF2-40B4-BE49-F238E27FC236}">
                <a16:creationId xmlns:a16="http://schemas.microsoft.com/office/drawing/2014/main" id="{DE98DFF5-6456-4F0F-B838-0CB1412AF5F3}"/>
              </a:ext>
            </a:extLst>
          </p:cNvPr>
          <p:cNvSpPr txBox="1">
            <a:spLocks/>
          </p:cNvSpPr>
          <p:nvPr/>
        </p:nvSpPr>
        <p:spPr>
          <a:xfrm>
            <a:off x="0" y="6649386"/>
            <a:ext cx="10515600" cy="208614"/>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Source: Internet, reference books, NPTEL</a:t>
            </a:r>
            <a:endParaRPr lang="en-US" dirty="0"/>
          </a:p>
        </p:txBody>
      </p:sp>
    </p:spTree>
    <p:extLst>
      <p:ext uri="{BB962C8B-B14F-4D97-AF65-F5344CB8AC3E}">
        <p14:creationId xmlns:p14="http://schemas.microsoft.com/office/powerpoint/2010/main" val="2991219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3174F-26E9-4413-AFE5-70F36EF971E7}"/>
              </a:ext>
            </a:extLst>
          </p:cNvPr>
          <p:cNvSpPr>
            <a:spLocks noGrp="1"/>
          </p:cNvSpPr>
          <p:nvPr>
            <p:ph type="title"/>
          </p:nvPr>
        </p:nvSpPr>
        <p:spPr/>
        <p:txBody>
          <a:bodyPr/>
          <a:lstStyle/>
          <a:p>
            <a:r>
              <a:rPr lang="en-US" dirty="0"/>
              <a:t>Definition </a:t>
            </a:r>
            <a:endParaRPr lang="en-IN" dirty="0"/>
          </a:p>
        </p:txBody>
      </p:sp>
      <p:sp>
        <p:nvSpPr>
          <p:cNvPr id="3" name="Content Placeholder 2">
            <a:extLst>
              <a:ext uri="{FF2B5EF4-FFF2-40B4-BE49-F238E27FC236}">
                <a16:creationId xmlns:a16="http://schemas.microsoft.com/office/drawing/2014/main" id="{D5D88ABB-9E52-4F0D-88F1-1D89CA37DD91}"/>
              </a:ext>
            </a:extLst>
          </p:cNvPr>
          <p:cNvSpPr>
            <a:spLocks noGrp="1"/>
          </p:cNvSpPr>
          <p:nvPr>
            <p:ph idx="1"/>
          </p:nvPr>
        </p:nvSpPr>
        <p:spPr/>
        <p:txBody>
          <a:bodyPr/>
          <a:lstStyle/>
          <a:p>
            <a:r>
              <a:rPr lang="en-US" dirty="0">
                <a:solidFill>
                  <a:srgbClr val="C00000"/>
                </a:solidFill>
              </a:rPr>
              <a:t>Binary search trees </a:t>
            </a:r>
            <a:r>
              <a:rPr lang="en-US" dirty="0"/>
              <a:t>are a fundamental data structure, but their performance can suffer if the tree becomes </a:t>
            </a:r>
            <a:r>
              <a:rPr lang="en-US" dirty="0">
                <a:solidFill>
                  <a:srgbClr val="C00000"/>
                </a:solidFill>
              </a:rPr>
              <a:t>unbalanced</a:t>
            </a:r>
            <a:r>
              <a:rPr lang="en-US" dirty="0"/>
              <a:t>.</a:t>
            </a:r>
          </a:p>
          <a:p>
            <a:r>
              <a:rPr lang="en-US" dirty="0">
                <a:solidFill>
                  <a:srgbClr val="C00000"/>
                </a:solidFill>
              </a:rPr>
              <a:t>Red Black Trees </a:t>
            </a:r>
            <a:r>
              <a:rPr lang="en-US" dirty="0"/>
              <a:t>are a type of </a:t>
            </a:r>
            <a:r>
              <a:rPr lang="en-US" dirty="0">
                <a:solidFill>
                  <a:srgbClr val="00B0F0"/>
                </a:solidFill>
              </a:rPr>
              <a:t>balanced binary search tree </a:t>
            </a:r>
            <a:r>
              <a:rPr lang="en-US" dirty="0"/>
              <a:t>that use a set of rules to maintain balance, ensuring </a:t>
            </a:r>
            <a:r>
              <a:rPr lang="en-US" dirty="0">
                <a:solidFill>
                  <a:srgbClr val="00B050"/>
                </a:solidFill>
              </a:rPr>
              <a:t>logarithmic time </a:t>
            </a:r>
            <a:r>
              <a:rPr lang="en-US" dirty="0"/>
              <a:t>complexity for operations like insertion, deletion, and searching, regardless of the initial shape of the tree.</a:t>
            </a:r>
          </a:p>
          <a:p>
            <a:r>
              <a:rPr lang="en-US" dirty="0">
                <a:solidFill>
                  <a:srgbClr val="C00000"/>
                </a:solidFill>
              </a:rPr>
              <a:t>Red Black Trees </a:t>
            </a:r>
            <a:r>
              <a:rPr lang="en-US" dirty="0"/>
              <a:t>are self-balancing, using a simple color-coding scheme to adjust the tree after each modification.</a:t>
            </a:r>
          </a:p>
          <a:p>
            <a:r>
              <a:rPr lang="en-US" dirty="0">
                <a:solidFill>
                  <a:srgbClr val="C00000"/>
                </a:solidFill>
              </a:rPr>
              <a:t>A Red-Black Tree </a:t>
            </a:r>
            <a:r>
              <a:rPr lang="en-US" dirty="0"/>
              <a:t>is a self-balancing binary search tree where each node has an </a:t>
            </a:r>
            <a:r>
              <a:rPr lang="en-US" dirty="0">
                <a:solidFill>
                  <a:srgbClr val="00B0F0"/>
                </a:solidFill>
              </a:rPr>
              <a:t>additional attribute</a:t>
            </a:r>
            <a:r>
              <a:rPr lang="en-US" dirty="0"/>
              <a:t>: </a:t>
            </a:r>
            <a:r>
              <a:rPr lang="en-US" dirty="0">
                <a:solidFill>
                  <a:schemeClr val="accent3"/>
                </a:solidFill>
              </a:rPr>
              <a:t>a color</a:t>
            </a:r>
            <a:r>
              <a:rPr lang="en-US" dirty="0"/>
              <a:t>, which can be either </a:t>
            </a:r>
            <a:r>
              <a:rPr lang="en-US" dirty="0">
                <a:solidFill>
                  <a:srgbClr val="C00000"/>
                </a:solidFill>
              </a:rPr>
              <a:t>red or black</a:t>
            </a:r>
            <a:r>
              <a:rPr lang="en-US" dirty="0"/>
              <a:t>.</a:t>
            </a:r>
          </a:p>
          <a:p>
            <a:r>
              <a:rPr lang="en-US" dirty="0"/>
              <a:t>The primary objective of these trees is to maintain balance during insertions and deletions, ensuring </a:t>
            </a:r>
            <a:r>
              <a:rPr lang="en-US" dirty="0">
                <a:solidFill>
                  <a:srgbClr val="C00000"/>
                </a:solidFill>
              </a:rPr>
              <a:t>efficient data retrieval and manipulation</a:t>
            </a:r>
            <a:r>
              <a:rPr lang="en-US" dirty="0"/>
              <a:t>.</a:t>
            </a:r>
            <a:endParaRPr lang="en-IN" dirty="0"/>
          </a:p>
        </p:txBody>
      </p:sp>
    </p:spTree>
    <p:extLst>
      <p:ext uri="{BB962C8B-B14F-4D97-AF65-F5344CB8AC3E}">
        <p14:creationId xmlns:p14="http://schemas.microsoft.com/office/powerpoint/2010/main" val="268679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E68A6-D9EE-4A84-BF6B-7DECE065F4C0}"/>
              </a:ext>
            </a:extLst>
          </p:cNvPr>
          <p:cNvSpPr>
            <a:spLocks noGrp="1"/>
          </p:cNvSpPr>
          <p:nvPr>
            <p:ph type="title"/>
          </p:nvPr>
        </p:nvSpPr>
        <p:spPr/>
        <p:txBody>
          <a:bodyPr/>
          <a:lstStyle/>
          <a:p>
            <a:r>
              <a:rPr lang="en-IN" dirty="0"/>
              <a:t>Properties of Red-Black Trees</a:t>
            </a:r>
          </a:p>
        </p:txBody>
      </p:sp>
      <p:sp>
        <p:nvSpPr>
          <p:cNvPr id="3" name="Content Placeholder 2">
            <a:extLst>
              <a:ext uri="{FF2B5EF4-FFF2-40B4-BE49-F238E27FC236}">
                <a16:creationId xmlns:a16="http://schemas.microsoft.com/office/drawing/2014/main" id="{E6F7B07D-24E9-4F55-B8C7-EDD45E60B33F}"/>
              </a:ext>
            </a:extLst>
          </p:cNvPr>
          <p:cNvSpPr>
            <a:spLocks noGrp="1"/>
          </p:cNvSpPr>
          <p:nvPr>
            <p:ph idx="1"/>
          </p:nvPr>
        </p:nvSpPr>
        <p:spPr>
          <a:xfrm>
            <a:off x="131179" y="861193"/>
            <a:ext cx="5701730" cy="5590565"/>
          </a:xfrm>
        </p:spPr>
        <p:txBody>
          <a:bodyPr/>
          <a:lstStyle/>
          <a:p>
            <a:pPr marL="0" indent="0">
              <a:buNone/>
            </a:pPr>
            <a:r>
              <a:rPr lang="en-US" sz="2000" dirty="0"/>
              <a:t>A Red-Black Tree have the following properties:</a:t>
            </a:r>
          </a:p>
          <a:p>
            <a:pPr marL="457200" indent="-457200">
              <a:buFont typeface="+mj-lt"/>
              <a:buAutoNum type="arabicPeriod"/>
            </a:pPr>
            <a:r>
              <a:rPr lang="en-US" sz="2000" dirty="0">
                <a:solidFill>
                  <a:srgbClr val="C00000"/>
                </a:solidFill>
              </a:rPr>
              <a:t>Node Color: </a:t>
            </a:r>
            <a:r>
              <a:rPr lang="en-US" sz="2000" dirty="0"/>
              <a:t>Each node is either red or black.</a:t>
            </a:r>
          </a:p>
          <a:p>
            <a:pPr marL="457200" indent="-457200">
              <a:buFont typeface="+mj-lt"/>
              <a:buAutoNum type="arabicPeriod"/>
            </a:pPr>
            <a:r>
              <a:rPr lang="en-US" sz="2000" dirty="0">
                <a:solidFill>
                  <a:srgbClr val="C00000"/>
                </a:solidFill>
              </a:rPr>
              <a:t>Root Property: </a:t>
            </a:r>
            <a:r>
              <a:rPr lang="en-US" sz="2000" dirty="0"/>
              <a:t>The root of the tree is always black.</a:t>
            </a:r>
          </a:p>
          <a:p>
            <a:pPr marL="457200" indent="-457200">
              <a:buFont typeface="+mj-lt"/>
              <a:buAutoNum type="arabicPeriod"/>
            </a:pPr>
            <a:r>
              <a:rPr lang="en-US" sz="2000" dirty="0">
                <a:solidFill>
                  <a:srgbClr val="C00000"/>
                </a:solidFill>
              </a:rPr>
              <a:t>Red Property: </a:t>
            </a:r>
            <a:r>
              <a:rPr lang="en-US" sz="2000" dirty="0"/>
              <a:t>Red nodes cannot have red children (no two consecutive red nodes on any path).</a:t>
            </a:r>
          </a:p>
          <a:p>
            <a:pPr marL="457200" indent="-457200">
              <a:buFont typeface="+mj-lt"/>
              <a:buAutoNum type="arabicPeriod"/>
            </a:pPr>
            <a:r>
              <a:rPr lang="en-US" sz="2000" dirty="0">
                <a:solidFill>
                  <a:srgbClr val="C00000"/>
                </a:solidFill>
              </a:rPr>
              <a:t>Black Property: </a:t>
            </a:r>
            <a:r>
              <a:rPr lang="en-US" sz="2000" dirty="0"/>
              <a:t>Every path from a node to its descendant null nodes (leaves) has the same number of black nodes.</a:t>
            </a:r>
          </a:p>
          <a:p>
            <a:pPr marL="457200" indent="-457200">
              <a:buFont typeface="+mj-lt"/>
              <a:buAutoNum type="arabicPeriod"/>
            </a:pPr>
            <a:r>
              <a:rPr lang="en-US" sz="2000" dirty="0">
                <a:solidFill>
                  <a:srgbClr val="C00000"/>
                </a:solidFill>
              </a:rPr>
              <a:t>Leaf Property: </a:t>
            </a:r>
            <a:r>
              <a:rPr lang="en-US" sz="2000" dirty="0"/>
              <a:t>All leaves (NIL nodes) are black and do not store any data. They are placeholders used to maintain the tree structure.</a:t>
            </a:r>
            <a:endParaRPr lang="en-IN" sz="2000" dirty="0"/>
          </a:p>
        </p:txBody>
      </p:sp>
      <p:pic>
        <p:nvPicPr>
          <p:cNvPr id="5" name="Picture 4">
            <a:extLst>
              <a:ext uri="{FF2B5EF4-FFF2-40B4-BE49-F238E27FC236}">
                <a16:creationId xmlns:a16="http://schemas.microsoft.com/office/drawing/2014/main" id="{80632B7C-CB7D-4BEE-AD20-D5B1D3EF1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1102" y="921351"/>
            <a:ext cx="6070898" cy="3498301"/>
          </a:xfrm>
          <a:prstGeom prst="rect">
            <a:avLst/>
          </a:prstGeom>
        </p:spPr>
      </p:pic>
    </p:spTree>
    <p:extLst>
      <p:ext uri="{BB962C8B-B14F-4D97-AF65-F5344CB8AC3E}">
        <p14:creationId xmlns:p14="http://schemas.microsoft.com/office/powerpoint/2010/main" val="1428116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7EA5B-5A13-46C9-B02A-A39257A75A91}"/>
              </a:ext>
            </a:extLst>
          </p:cNvPr>
          <p:cNvSpPr>
            <a:spLocks noGrp="1"/>
          </p:cNvSpPr>
          <p:nvPr>
            <p:ph type="title"/>
          </p:nvPr>
        </p:nvSpPr>
        <p:spPr/>
        <p:txBody>
          <a:bodyPr/>
          <a:lstStyle/>
          <a:p>
            <a:r>
              <a:rPr lang="en-IN" dirty="0"/>
              <a:t>Red-Black Trees vs AVL Tree</a:t>
            </a:r>
          </a:p>
        </p:txBody>
      </p:sp>
      <p:sp>
        <p:nvSpPr>
          <p:cNvPr id="3" name="Content Placeholder 2">
            <a:extLst>
              <a:ext uri="{FF2B5EF4-FFF2-40B4-BE49-F238E27FC236}">
                <a16:creationId xmlns:a16="http://schemas.microsoft.com/office/drawing/2014/main" id="{7F7F12AF-87B8-4512-93F5-279089FD3E35}"/>
              </a:ext>
            </a:extLst>
          </p:cNvPr>
          <p:cNvSpPr>
            <a:spLocks noGrp="1"/>
          </p:cNvSpPr>
          <p:nvPr>
            <p:ph idx="1"/>
          </p:nvPr>
        </p:nvSpPr>
        <p:spPr/>
        <p:txBody>
          <a:bodyPr/>
          <a:lstStyle/>
          <a:p>
            <a:r>
              <a:rPr lang="en-US" dirty="0"/>
              <a:t>Most of the BST operations (e.g., search, max, min, insert, delete.. </a:t>
            </a:r>
            <a:r>
              <a:rPr lang="en-US" dirty="0" err="1"/>
              <a:t>etc</a:t>
            </a:r>
            <a:r>
              <a:rPr lang="en-US" dirty="0"/>
              <a:t>) take </a:t>
            </a:r>
            <a:r>
              <a:rPr lang="en-US" dirty="0">
                <a:solidFill>
                  <a:srgbClr val="C00000"/>
                </a:solidFill>
              </a:rPr>
              <a:t>O(log n) </a:t>
            </a:r>
            <a:r>
              <a:rPr lang="en-US" dirty="0"/>
              <a:t>time where </a:t>
            </a:r>
            <a:r>
              <a:rPr lang="en-US" dirty="0">
                <a:solidFill>
                  <a:srgbClr val="C00000"/>
                </a:solidFill>
              </a:rPr>
              <a:t>log n</a:t>
            </a:r>
            <a:r>
              <a:rPr lang="en-US" dirty="0"/>
              <a:t> is the height of the BST. </a:t>
            </a:r>
          </a:p>
          <a:p>
            <a:r>
              <a:rPr lang="en-US" dirty="0"/>
              <a:t>The cost of these operations may become</a:t>
            </a:r>
            <a:r>
              <a:rPr lang="en-US" dirty="0">
                <a:solidFill>
                  <a:srgbClr val="C00000"/>
                </a:solidFill>
              </a:rPr>
              <a:t> O(n) </a:t>
            </a:r>
            <a:r>
              <a:rPr lang="en-US" dirty="0"/>
              <a:t>for a </a:t>
            </a:r>
            <a:r>
              <a:rPr lang="en-US" dirty="0">
                <a:solidFill>
                  <a:srgbClr val="C00000"/>
                </a:solidFill>
              </a:rPr>
              <a:t>skewed Binary tree</a:t>
            </a:r>
            <a:r>
              <a:rPr lang="en-US" dirty="0"/>
              <a:t>. If we make sure that the height of the tree remains O(log n) after every insertion and deletion, then we can guarantee an upper bound of O(log n) for all these operations. </a:t>
            </a:r>
          </a:p>
          <a:p>
            <a:r>
              <a:rPr lang="en-US" dirty="0"/>
              <a:t>The height of a Red-Black tree is always</a:t>
            </a:r>
            <a:r>
              <a:rPr lang="en-US" dirty="0">
                <a:solidFill>
                  <a:srgbClr val="C00000"/>
                </a:solidFill>
              </a:rPr>
              <a:t> O(log n) </a:t>
            </a:r>
            <a:r>
              <a:rPr lang="en-US" dirty="0"/>
              <a:t>where n is the number of nodes in the tree.</a:t>
            </a:r>
          </a:p>
          <a:p>
            <a:endParaRPr lang="en-US" dirty="0"/>
          </a:p>
          <a:p>
            <a:r>
              <a:rPr lang="en-US" dirty="0"/>
              <a:t>The </a:t>
            </a:r>
            <a:r>
              <a:rPr lang="en-US" dirty="0">
                <a:solidFill>
                  <a:srgbClr val="C00000"/>
                </a:solidFill>
              </a:rPr>
              <a:t>AVL trees </a:t>
            </a:r>
            <a:r>
              <a:rPr lang="en-US" dirty="0"/>
              <a:t>are more balanced compared to </a:t>
            </a:r>
            <a:r>
              <a:rPr lang="en-US" dirty="0">
                <a:solidFill>
                  <a:srgbClr val="C00000"/>
                </a:solidFill>
              </a:rPr>
              <a:t>Red-Black Trees</a:t>
            </a:r>
            <a:r>
              <a:rPr lang="en-US" dirty="0"/>
              <a:t>, </a:t>
            </a:r>
            <a:r>
              <a:rPr lang="en-US" dirty="0">
                <a:solidFill>
                  <a:srgbClr val="00B0F0"/>
                </a:solidFill>
              </a:rPr>
              <a:t>but they may cause more rotations during insertion and deletion</a:t>
            </a:r>
            <a:r>
              <a:rPr lang="en-US" dirty="0"/>
              <a:t>. </a:t>
            </a:r>
          </a:p>
          <a:p>
            <a:pPr lvl="1"/>
            <a:r>
              <a:rPr lang="en-US" sz="2400" dirty="0"/>
              <a:t>So if your application involves </a:t>
            </a:r>
            <a:r>
              <a:rPr lang="en-US" sz="2400" dirty="0">
                <a:solidFill>
                  <a:srgbClr val="00B0F0"/>
                </a:solidFill>
              </a:rPr>
              <a:t>frequent</a:t>
            </a:r>
            <a:r>
              <a:rPr lang="en-US" sz="2400" dirty="0"/>
              <a:t> insertions and deletions, then </a:t>
            </a:r>
            <a:r>
              <a:rPr lang="en-US" sz="2400" dirty="0">
                <a:solidFill>
                  <a:srgbClr val="C00000"/>
                </a:solidFill>
              </a:rPr>
              <a:t>Red-Black trees </a:t>
            </a:r>
            <a:r>
              <a:rPr lang="en-US" sz="2400" dirty="0"/>
              <a:t>should be preferred.</a:t>
            </a:r>
          </a:p>
          <a:p>
            <a:pPr lvl="1"/>
            <a:r>
              <a:rPr lang="en-US" sz="2400" dirty="0"/>
              <a:t>And if the insertions and deletions are </a:t>
            </a:r>
            <a:r>
              <a:rPr lang="en-US" sz="2400" dirty="0">
                <a:solidFill>
                  <a:srgbClr val="00B0F0"/>
                </a:solidFill>
              </a:rPr>
              <a:t>less frequent </a:t>
            </a:r>
            <a:r>
              <a:rPr lang="en-US" sz="2400" dirty="0"/>
              <a:t>and search is a more frequent operation, then </a:t>
            </a:r>
            <a:r>
              <a:rPr lang="en-US" sz="2400" dirty="0">
                <a:solidFill>
                  <a:srgbClr val="C00000"/>
                </a:solidFill>
              </a:rPr>
              <a:t>AVL tree </a:t>
            </a:r>
            <a:r>
              <a:rPr lang="en-US" sz="2400" dirty="0"/>
              <a:t>should be preferred.</a:t>
            </a:r>
            <a:endParaRPr lang="en-IN" sz="2400" dirty="0"/>
          </a:p>
        </p:txBody>
      </p:sp>
    </p:spTree>
    <p:extLst>
      <p:ext uri="{BB962C8B-B14F-4D97-AF65-F5344CB8AC3E}">
        <p14:creationId xmlns:p14="http://schemas.microsoft.com/office/powerpoint/2010/main" val="300782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DD503-6041-47D4-9ECE-4E8053975360}"/>
              </a:ext>
            </a:extLst>
          </p:cNvPr>
          <p:cNvSpPr>
            <a:spLocks noGrp="1"/>
          </p:cNvSpPr>
          <p:nvPr>
            <p:ph type="title"/>
          </p:nvPr>
        </p:nvSpPr>
        <p:spPr/>
        <p:txBody>
          <a:bodyPr/>
          <a:lstStyle/>
          <a:p>
            <a:r>
              <a:rPr lang="en-US" dirty="0"/>
              <a:t>Operation: Insertion</a:t>
            </a:r>
            <a:endParaRPr lang="en-IN" dirty="0"/>
          </a:p>
        </p:txBody>
      </p:sp>
      <p:sp>
        <p:nvSpPr>
          <p:cNvPr id="3" name="Content Placeholder 2">
            <a:extLst>
              <a:ext uri="{FF2B5EF4-FFF2-40B4-BE49-F238E27FC236}">
                <a16:creationId xmlns:a16="http://schemas.microsoft.com/office/drawing/2014/main" id="{F6EA1B58-5C0D-4C33-88D9-F5C520EE8616}"/>
              </a:ext>
            </a:extLst>
          </p:cNvPr>
          <p:cNvSpPr>
            <a:spLocks noGrp="1"/>
          </p:cNvSpPr>
          <p:nvPr>
            <p:ph idx="1"/>
          </p:nvPr>
        </p:nvSpPr>
        <p:spPr/>
        <p:txBody>
          <a:bodyPr/>
          <a:lstStyle/>
          <a:p>
            <a:r>
              <a:rPr lang="en-US" dirty="0"/>
              <a:t>Inserting a new node in a Red-Black Tree involves a two-step process: performing a standard binary search tree (BST) insertion, followed by </a:t>
            </a:r>
            <a:r>
              <a:rPr lang="en-US" dirty="0">
                <a:solidFill>
                  <a:srgbClr val="C00000"/>
                </a:solidFill>
              </a:rPr>
              <a:t>fixing any violations </a:t>
            </a:r>
            <a:r>
              <a:rPr lang="en-US" dirty="0"/>
              <a:t>of Red-Black properties.</a:t>
            </a:r>
          </a:p>
          <a:p>
            <a:endParaRPr lang="en-US" dirty="0"/>
          </a:p>
          <a:p>
            <a:pPr marL="0" indent="0">
              <a:buNone/>
            </a:pPr>
            <a:r>
              <a:rPr lang="en-US" dirty="0"/>
              <a:t>Step 1: Insert the new node with </a:t>
            </a:r>
            <a:r>
              <a:rPr lang="en-US" dirty="0">
                <a:solidFill>
                  <a:srgbClr val="C00000"/>
                </a:solidFill>
              </a:rPr>
              <a:t>red color</a:t>
            </a:r>
          </a:p>
          <a:p>
            <a:pPr marL="0" indent="0">
              <a:buNone/>
            </a:pPr>
            <a:r>
              <a:rPr lang="en-US" dirty="0"/>
              <a:t>Step 2:</a:t>
            </a:r>
          </a:p>
          <a:p>
            <a:pPr lvl="1"/>
            <a:r>
              <a:rPr lang="en-US" sz="2400" dirty="0"/>
              <a:t>a) Node is root                    recolor it to black</a:t>
            </a:r>
          </a:p>
          <a:p>
            <a:pPr lvl="1"/>
            <a:r>
              <a:rPr lang="en-US" sz="2400" dirty="0"/>
              <a:t>b) </a:t>
            </a:r>
            <a:r>
              <a:rPr lang="en-US" sz="2400" dirty="0">
                <a:solidFill>
                  <a:srgbClr val="FF0000"/>
                </a:solidFill>
              </a:rPr>
              <a:t>[Red-Red violation]  </a:t>
            </a:r>
          </a:p>
          <a:p>
            <a:pPr marL="914400" lvl="2" indent="0">
              <a:buNone/>
            </a:pPr>
            <a:r>
              <a:rPr lang="en-US" sz="2200" dirty="0">
                <a:solidFill>
                  <a:srgbClr val="C00000"/>
                </a:solidFill>
              </a:rPr>
              <a:t>Case 1:</a:t>
            </a:r>
            <a:r>
              <a:rPr lang="en-US" sz="2200" dirty="0"/>
              <a:t> </a:t>
            </a:r>
            <a:r>
              <a:rPr lang="en-US" sz="2200" dirty="0">
                <a:solidFill>
                  <a:srgbClr val="00B050"/>
                </a:solidFill>
              </a:rPr>
              <a:t>Uncle is Red: </a:t>
            </a:r>
            <a:r>
              <a:rPr lang="en-US" sz="2200" dirty="0"/>
              <a:t>Recolor the parent and uncle to </a:t>
            </a:r>
            <a:r>
              <a:rPr lang="en-US" sz="2200" dirty="0">
                <a:solidFill>
                  <a:srgbClr val="C00000"/>
                </a:solidFill>
              </a:rPr>
              <a:t>black</a:t>
            </a:r>
            <a:r>
              <a:rPr lang="en-US" sz="2200" dirty="0"/>
              <a:t> and the grandparent to </a:t>
            </a:r>
            <a:r>
              <a:rPr lang="en-US" sz="2200" dirty="0">
                <a:solidFill>
                  <a:srgbClr val="C00000"/>
                </a:solidFill>
              </a:rPr>
              <a:t>red</a:t>
            </a:r>
            <a:r>
              <a:rPr lang="en-US" sz="2200" dirty="0"/>
              <a:t>. Then move up the tree to check for further violations.</a:t>
            </a:r>
          </a:p>
          <a:p>
            <a:pPr marL="914400" lvl="2" indent="0">
              <a:buNone/>
            </a:pPr>
            <a:r>
              <a:rPr lang="en-US" sz="2200" b="1" dirty="0">
                <a:solidFill>
                  <a:srgbClr val="C00000"/>
                </a:solidFill>
              </a:rPr>
              <a:t>Case 2:  </a:t>
            </a:r>
            <a:r>
              <a:rPr lang="en-US" sz="2200" dirty="0">
                <a:solidFill>
                  <a:srgbClr val="00B0F0"/>
                </a:solidFill>
              </a:rPr>
              <a:t>Uncle is Black or Null:</a:t>
            </a:r>
          </a:p>
          <a:p>
            <a:pPr lvl="3"/>
            <a:r>
              <a:rPr lang="en-US" sz="2000" dirty="0"/>
              <a:t>Perform rotations to balance the tree.</a:t>
            </a:r>
          </a:p>
          <a:p>
            <a:pPr lvl="3"/>
            <a:r>
              <a:rPr lang="en-US" sz="2000" dirty="0"/>
              <a:t>Recolor the nodes accordingly.</a:t>
            </a:r>
            <a:endParaRPr lang="en-IN" sz="2000" dirty="0"/>
          </a:p>
        </p:txBody>
      </p:sp>
      <p:sp>
        <p:nvSpPr>
          <p:cNvPr id="5" name="Arrow: Right 4">
            <a:extLst>
              <a:ext uri="{FF2B5EF4-FFF2-40B4-BE49-F238E27FC236}">
                <a16:creationId xmlns:a16="http://schemas.microsoft.com/office/drawing/2014/main" id="{01C3E55D-C13C-42BD-8645-B947F67D568F}"/>
              </a:ext>
            </a:extLst>
          </p:cNvPr>
          <p:cNvSpPr/>
          <p:nvPr/>
        </p:nvSpPr>
        <p:spPr>
          <a:xfrm>
            <a:off x="2945331" y="3020566"/>
            <a:ext cx="1174282" cy="259882"/>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50886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500"/>
                                        <p:tgtEl>
                                          <p:spTgt spid="3">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C86A0-E4D2-4D5E-B6AC-49721D423EED}"/>
              </a:ext>
            </a:extLst>
          </p:cNvPr>
          <p:cNvSpPr>
            <a:spLocks noGrp="1"/>
          </p:cNvSpPr>
          <p:nvPr>
            <p:ph type="title"/>
          </p:nvPr>
        </p:nvSpPr>
        <p:spPr/>
        <p:txBody>
          <a:bodyPr/>
          <a:lstStyle/>
          <a:p>
            <a:r>
              <a:rPr lang="en-US" dirty="0"/>
              <a:t>Example: Insertion</a:t>
            </a:r>
            <a:endParaRPr lang="en-IN" dirty="0"/>
          </a:p>
        </p:txBody>
      </p:sp>
      <p:sp>
        <p:nvSpPr>
          <p:cNvPr id="3" name="Content Placeholder 2">
            <a:extLst>
              <a:ext uri="{FF2B5EF4-FFF2-40B4-BE49-F238E27FC236}">
                <a16:creationId xmlns:a16="http://schemas.microsoft.com/office/drawing/2014/main" id="{B389837E-4E69-4551-A9ED-A49ACC01B50F}"/>
              </a:ext>
            </a:extLst>
          </p:cNvPr>
          <p:cNvSpPr>
            <a:spLocks noGrp="1"/>
          </p:cNvSpPr>
          <p:nvPr>
            <p:ph idx="1"/>
          </p:nvPr>
        </p:nvSpPr>
        <p:spPr/>
        <p:txBody>
          <a:bodyPr/>
          <a:lstStyle/>
          <a:p>
            <a:pPr marL="0" indent="0">
              <a:buNone/>
            </a:pPr>
            <a:r>
              <a:rPr lang="en-US" dirty="0"/>
              <a:t>10, 20, 30, 15, 25, 5, 12, 35, 40, 32, 50</a:t>
            </a:r>
            <a:endParaRPr lang="en-IN" dirty="0"/>
          </a:p>
        </p:txBody>
      </p:sp>
      <p:sp>
        <p:nvSpPr>
          <p:cNvPr id="4" name="Oval 3">
            <a:extLst>
              <a:ext uri="{FF2B5EF4-FFF2-40B4-BE49-F238E27FC236}">
                <a16:creationId xmlns:a16="http://schemas.microsoft.com/office/drawing/2014/main" id="{885EB113-BA25-4161-BC04-85FCA0FBCD28}"/>
              </a:ext>
            </a:extLst>
          </p:cNvPr>
          <p:cNvSpPr/>
          <p:nvPr/>
        </p:nvSpPr>
        <p:spPr>
          <a:xfrm>
            <a:off x="5707781" y="1392612"/>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10</a:t>
            </a:r>
          </a:p>
        </p:txBody>
      </p:sp>
      <p:sp>
        <p:nvSpPr>
          <p:cNvPr id="6" name="Oval 5">
            <a:extLst>
              <a:ext uri="{FF2B5EF4-FFF2-40B4-BE49-F238E27FC236}">
                <a16:creationId xmlns:a16="http://schemas.microsoft.com/office/drawing/2014/main" id="{47BDFADD-0B9C-49A3-9331-04C0CD87CC8A}"/>
              </a:ext>
            </a:extLst>
          </p:cNvPr>
          <p:cNvSpPr/>
          <p:nvPr/>
        </p:nvSpPr>
        <p:spPr>
          <a:xfrm>
            <a:off x="5707781" y="1392611"/>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10</a:t>
            </a:r>
          </a:p>
        </p:txBody>
      </p:sp>
      <p:sp>
        <p:nvSpPr>
          <p:cNvPr id="7" name="Oval 6">
            <a:extLst>
              <a:ext uri="{FF2B5EF4-FFF2-40B4-BE49-F238E27FC236}">
                <a16:creationId xmlns:a16="http://schemas.microsoft.com/office/drawing/2014/main" id="{EE96B604-562F-40B9-901C-9ABFD39C7C62}"/>
              </a:ext>
            </a:extLst>
          </p:cNvPr>
          <p:cNvSpPr/>
          <p:nvPr/>
        </p:nvSpPr>
        <p:spPr>
          <a:xfrm>
            <a:off x="6562826" y="2247655"/>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20</a:t>
            </a:r>
          </a:p>
        </p:txBody>
      </p:sp>
      <p:cxnSp>
        <p:nvCxnSpPr>
          <p:cNvPr id="9" name="Straight Arrow Connector 8">
            <a:extLst>
              <a:ext uri="{FF2B5EF4-FFF2-40B4-BE49-F238E27FC236}">
                <a16:creationId xmlns:a16="http://schemas.microsoft.com/office/drawing/2014/main" id="{DCFAF9FC-4130-4789-A5BF-AF97F8E68A4D}"/>
              </a:ext>
            </a:extLst>
          </p:cNvPr>
          <p:cNvCxnSpPr>
            <a:stCxn id="6" idx="5"/>
            <a:endCxn id="7" idx="1"/>
          </p:cNvCxnSpPr>
          <p:nvPr/>
        </p:nvCxnSpPr>
        <p:spPr>
          <a:xfrm>
            <a:off x="6241800" y="1896371"/>
            <a:ext cx="412649" cy="437715"/>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Straight Arrow Connector 9">
            <a:extLst>
              <a:ext uri="{FF2B5EF4-FFF2-40B4-BE49-F238E27FC236}">
                <a16:creationId xmlns:a16="http://schemas.microsoft.com/office/drawing/2014/main" id="{5F2083E1-C0E7-422F-8ED8-CCDBBA086A77}"/>
              </a:ext>
            </a:extLst>
          </p:cNvPr>
          <p:cNvCxnSpPr/>
          <p:nvPr/>
        </p:nvCxnSpPr>
        <p:spPr>
          <a:xfrm>
            <a:off x="7096845" y="2771230"/>
            <a:ext cx="412649" cy="437715"/>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Oval 11">
            <a:extLst>
              <a:ext uri="{FF2B5EF4-FFF2-40B4-BE49-F238E27FC236}">
                <a16:creationId xmlns:a16="http://schemas.microsoft.com/office/drawing/2014/main" id="{C109929D-2D7A-483F-BDFB-E6A5C72F24DA}"/>
              </a:ext>
            </a:extLst>
          </p:cNvPr>
          <p:cNvSpPr/>
          <p:nvPr/>
        </p:nvSpPr>
        <p:spPr>
          <a:xfrm>
            <a:off x="7413243" y="3133904"/>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30</a:t>
            </a:r>
          </a:p>
        </p:txBody>
      </p:sp>
    </p:spTree>
    <p:extLst>
      <p:ext uri="{BB962C8B-B14F-4D97-AF65-F5344CB8AC3E}">
        <p14:creationId xmlns:p14="http://schemas.microsoft.com/office/powerpoint/2010/main" val="2320947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C86A0-E4D2-4D5E-B6AC-49721D423EED}"/>
              </a:ext>
            </a:extLst>
          </p:cNvPr>
          <p:cNvSpPr>
            <a:spLocks noGrp="1"/>
          </p:cNvSpPr>
          <p:nvPr>
            <p:ph type="title"/>
          </p:nvPr>
        </p:nvSpPr>
        <p:spPr/>
        <p:txBody>
          <a:bodyPr/>
          <a:lstStyle/>
          <a:p>
            <a:r>
              <a:rPr lang="en-US" dirty="0"/>
              <a:t>Example: Insertion</a:t>
            </a:r>
            <a:endParaRPr lang="en-IN" dirty="0"/>
          </a:p>
        </p:txBody>
      </p:sp>
      <p:sp>
        <p:nvSpPr>
          <p:cNvPr id="3" name="Content Placeholder 2">
            <a:extLst>
              <a:ext uri="{FF2B5EF4-FFF2-40B4-BE49-F238E27FC236}">
                <a16:creationId xmlns:a16="http://schemas.microsoft.com/office/drawing/2014/main" id="{B389837E-4E69-4551-A9ED-A49ACC01B50F}"/>
              </a:ext>
            </a:extLst>
          </p:cNvPr>
          <p:cNvSpPr>
            <a:spLocks noGrp="1"/>
          </p:cNvSpPr>
          <p:nvPr>
            <p:ph idx="1"/>
          </p:nvPr>
        </p:nvSpPr>
        <p:spPr>
          <a:xfrm>
            <a:off x="131178" y="861193"/>
            <a:ext cx="4872355" cy="494089"/>
          </a:xfrm>
        </p:spPr>
        <p:txBody>
          <a:bodyPr/>
          <a:lstStyle/>
          <a:p>
            <a:pPr marL="0" indent="0">
              <a:buNone/>
            </a:pPr>
            <a:r>
              <a:rPr lang="en-US" dirty="0"/>
              <a:t>10, 20, 30, 15, 25, 5, 12, 35, 40, 32, 50</a:t>
            </a:r>
            <a:endParaRPr lang="en-IN" dirty="0"/>
          </a:p>
        </p:txBody>
      </p:sp>
      <p:sp>
        <p:nvSpPr>
          <p:cNvPr id="4" name="Oval 3">
            <a:extLst>
              <a:ext uri="{FF2B5EF4-FFF2-40B4-BE49-F238E27FC236}">
                <a16:creationId xmlns:a16="http://schemas.microsoft.com/office/drawing/2014/main" id="{885EB113-BA25-4161-BC04-85FCA0FBCD28}"/>
              </a:ext>
            </a:extLst>
          </p:cNvPr>
          <p:cNvSpPr/>
          <p:nvPr/>
        </p:nvSpPr>
        <p:spPr>
          <a:xfrm>
            <a:off x="5707781" y="1392612"/>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10</a:t>
            </a:r>
          </a:p>
        </p:txBody>
      </p:sp>
      <p:sp>
        <p:nvSpPr>
          <p:cNvPr id="6" name="Oval 5">
            <a:extLst>
              <a:ext uri="{FF2B5EF4-FFF2-40B4-BE49-F238E27FC236}">
                <a16:creationId xmlns:a16="http://schemas.microsoft.com/office/drawing/2014/main" id="{47BDFADD-0B9C-49A3-9331-04C0CD87CC8A}"/>
              </a:ext>
            </a:extLst>
          </p:cNvPr>
          <p:cNvSpPr/>
          <p:nvPr/>
        </p:nvSpPr>
        <p:spPr>
          <a:xfrm>
            <a:off x="5707781" y="1392611"/>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20</a:t>
            </a:r>
          </a:p>
        </p:txBody>
      </p:sp>
      <p:sp>
        <p:nvSpPr>
          <p:cNvPr id="7" name="Oval 6">
            <a:extLst>
              <a:ext uri="{FF2B5EF4-FFF2-40B4-BE49-F238E27FC236}">
                <a16:creationId xmlns:a16="http://schemas.microsoft.com/office/drawing/2014/main" id="{EE96B604-562F-40B9-901C-9ABFD39C7C62}"/>
              </a:ext>
            </a:extLst>
          </p:cNvPr>
          <p:cNvSpPr/>
          <p:nvPr/>
        </p:nvSpPr>
        <p:spPr>
          <a:xfrm>
            <a:off x="6562826" y="2247655"/>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30</a:t>
            </a:r>
          </a:p>
        </p:txBody>
      </p:sp>
      <p:cxnSp>
        <p:nvCxnSpPr>
          <p:cNvPr id="9" name="Straight Arrow Connector 8">
            <a:extLst>
              <a:ext uri="{FF2B5EF4-FFF2-40B4-BE49-F238E27FC236}">
                <a16:creationId xmlns:a16="http://schemas.microsoft.com/office/drawing/2014/main" id="{DCFAF9FC-4130-4789-A5BF-AF97F8E68A4D}"/>
              </a:ext>
            </a:extLst>
          </p:cNvPr>
          <p:cNvCxnSpPr>
            <a:stCxn id="6" idx="5"/>
            <a:endCxn id="7" idx="1"/>
          </p:cNvCxnSpPr>
          <p:nvPr/>
        </p:nvCxnSpPr>
        <p:spPr>
          <a:xfrm>
            <a:off x="6241800" y="1896371"/>
            <a:ext cx="412649" cy="437715"/>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Straight Arrow Connector 9">
            <a:extLst>
              <a:ext uri="{FF2B5EF4-FFF2-40B4-BE49-F238E27FC236}">
                <a16:creationId xmlns:a16="http://schemas.microsoft.com/office/drawing/2014/main" id="{5F2083E1-C0E7-422F-8ED8-CCDBBA086A77}"/>
              </a:ext>
            </a:extLst>
          </p:cNvPr>
          <p:cNvCxnSpPr>
            <a:cxnSpLocks/>
            <a:stCxn id="6" idx="3"/>
            <a:endCxn id="12" idx="7"/>
          </p:cNvCxnSpPr>
          <p:nvPr/>
        </p:nvCxnSpPr>
        <p:spPr>
          <a:xfrm flipH="1">
            <a:off x="5537552" y="1896371"/>
            <a:ext cx="261852" cy="437715"/>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Oval 11">
            <a:extLst>
              <a:ext uri="{FF2B5EF4-FFF2-40B4-BE49-F238E27FC236}">
                <a16:creationId xmlns:a16="http://schemas.microsoft.com/office/drawing/2014/main" id="{C109929D-2D7A-483F-BDFB-E6A5C72F24DA}"/>
              </a:ext>
            </a:extLst>
          </p:cNvPr>
          <p:cNvSpPr/>
          <p:nvPr/>
        </p:nvSpPr>
        <p:spPr>
          <a:xfrm>
            <a:off x="5003533" y="2247655"/>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10</a:t>
            </a:r>
          </a:p>
        </p:txBody>
      </p:sp>
      <p:sp>
        <p:nvSpPr>
          <p:cNvPr id="16" name="Oval 15">
            <a:extLst>
              <a:ext uri="{FF2B5EF4-FFF2-40B4-BE49-F238E27FC236}">
                <a16:creationId xmlns:a16="http://schemas.microsoft.com/office/drawing/2014/main" id="{01F8E00E-4EA6-478B-9F07-DD836881DC32}"/>
              </a:ext>
            </a:extLst>
          </p:cNvPr>
          <p:cNvSpPr/>
          <p:nvPr/>
        </p:nvSpPr>
        <p:spPr>
          <a:xfrm>
            <a:off x="5394960" y="3167733"/>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15</a:t>
            </a:r>
          </a:p>
        </p:txBody>
      </p:sp>
      <p:cxnSp>
        <p:nvCxnSpPr>
          <p:cNvPr id="17" name="Straight Arrow Connector 16">
            <a:extLst>
              <a:ext uri="{FF2B5EF4-FFF2-40B4-BE49-F238E27FC236}">
                <a16:creationId xmlns:a16="http://schemas.microsoft.com/office/drawing/2014/main" id="{B10A6C8C-9B0E-4C82-AD39-A42014338C0D}"/>
              </a:ext>
            </a:extLst>
          </p:cNvPr>
          <p:cNvCxnSpPr>
            <a:cxnSpLocks/>
          </p:cNvCxnSpPr>
          <p:nvPr/>
        </p:nvCxnSpPr>
        <p:spPr>
          <a:xfrm>
            <a:off x="5453194" y="2822580"/>
            <a:ext cx="168716" cy="427079"/>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Oval 18">
            <a:extLst>
              <a:ext uri="{FF2B5EF4-FFF2-40B4-BE49-F238E27FC236}">
                <a16:creationId xmlns:a16="http://schemas.microsoft.com/office/drawing/2014/main" id="{827092FF-0536-427A-A2E5-0CBA67DCFEA3}"/>
              </a:ext>
            </a:extLst>
          </p:cNvPr>
          <p:cNvSpPr/>
          <p:nvPr/>
        </p:nvSpPr>
        <p:spPr>
          <a:xfrm>
            <a:off x="6562826" y="2247655"/>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30</a:t>
            </a:r>
          </a:p>
        </p:txBody>
      </p:sp>
      <p:sp>
        <p:nvSpPr>
          <p:cNvPr id="20" name="Oval 19">
            <a:extLst>
              <a:ext uri="{FF2B5EF4-FFF2-40B4-BE49-F238E27FC236}">
                <a16:creationId xmlns:a16="http://schemas.microsoft.com/office/drawing/2014/main" id="{B7B3C657-3593-4C11-958D-BD0EEC289543}"/>
              </a:ext>
            </a:extLst>
          </p:cNvPr>
          <p:cNvSpPr/>
          <p:nvPr/>
        </p:nvSpPr>
        <p:spPr>
          <a:xfrm>
            <a:off x="5005046" y="2236894"/>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10</a:t>
            </a:r>
          </a:p>
        </p:txBody>
      </p:sp>
      <p:sp>
        <p:nvSpPr>
          <p:cNvPr id="22" name="Oval 21">
            <a:extLst>
              <a:ext uri="{FF2B5EF4-FFF2-40B4-BE49-F238E27FC236}">
                <a16:creationId xmlns:a16="http://schemas.microsoft.com/office/drawing/2014/main" id="{E09AAC4A-6AE6-4054-B67D-7A617F71E80A}"/>
              </a:ext>
            </a:extLst>
          </p:cNvPr>
          <p:cNvSpPr/>
          <p:nvPr/>
        </p:nvSpPr>
        <p:spPr>
          <a:xfrm>
            <a:off x="6095998" y="3177357"/>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25</a:t>
            </a:r>
          </a:p>
        </p:txBody>
      </p:sp>
      <p:cxnSp>
        <p:nvCxnSpPr>
          <p:cNvPr id="23" name="Straight Arrow Connector 22">
            <a:extLst>
              <a:ext uri="{FF2B5EF4-FFF2-40B4-BE49-F238E27FC236}">
                <a16:creationId xmlns:a16="http://schemas.microsoft.com/office/drawing/2014/main" id="{E4B6E405-8E6C-4CC0-9133-1445226FB93E}"/>
              </a:ext>
            </a:extLst>
          </p:cNvPr>
          <p:cNvCxnSpPr>
            <a:cxnSpLocks/>
          </p:cNvCxnSpPr>
          <p:nvPr/>
        </p:nvCxnSpPr>
        <p:spPr>
          <a:xfrm flipH="1">
            <a:off x="6515939" y="2788744"/>
            <a:ext cx="261852" cy="437715"/>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 name="Oval 24">
            <a:extLst>
              <a:ext uri="{FF2B5EF4-FFF2-40B4-BE49-F238E27FC236}">
                <a16:creationId xmlns:a16="http://schemas.microsoft.com/office/drawing/2014/main" id="{477D1DB5-C014-4682-9256-BB17DDE695B3}"/>
              </a:ext>
            </a:extLst>
          </p:cNvPr>
          <p:cNvSpPr/>
          <p:nvPr/>
        </p:nvSpPr>
        <p:spPr>
          <a:xfrm>
            <a:off x="4485614" y="3168709"/>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5</a:t>
            </a:r>
          </a:p>
        </p:txBody>
      </p:sp>
      <p:cxnSp>
        <p:nvCxnSpPr>
          <p:cNvPr id="26" name="Straight Arrow Connector 25">
            <a:extLst>
              <a:ext uri="{FF2B5EF4-FFF2-40B4-BE49-F238E27FC236}">
                <a16:creationId xmlns:a16="http://schemas.microsoft.com/office/drawing/2014/main" id="{A876DE78-A4B3-4D39-BF7B-9027BCCAA6FD}"/>
              </a:ext>
            </a:extLst>
          </p:cNvPr>
          <p:cNvCxnSpPr>
            <a:cxnSpLocks/>
          </p:cNvCxnSpPr>
          <p:nvPr/>
        </p:nvCxnSpPr>
        <p:spPr>
          <a:xfrm flipH="1">
            <a:off x="4900047" y="2811944"/>
            <a:ext cx="261852" cy="437715"/>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7" name="Oval 26">
            <a:extLst>
              <a:ext uri="{FF2B5EF4-FFF2-40B4-BE49-F238E27FC236}">
                <a16:creationId xmlns:a16="http://schemas.microsoft.com/office/drawing/2014/main" id="{DFC7D9AD-16E1-4B0F-ACE4-AE64717FA153}"/>
              </a:ext>
            </a:extLst>
          </p:cNvPr>
          <p:cNvSpPr/>
          <p:nvPr/>
        </p:nvSpPr>
        <p:spPr>
          <a:xfrm>
            <a:off x="4961366" y="4089763"/>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12</a:t>
            </a:r>
          </a:p>
        </p:txBody>
      </p:sp>
      <p:cxnSp>
        <p:nvCxnSpPr>
          <p:cNvPr id="28" name="Straight Arrow Connector 27">
            <a:extLst>
              <a:ext uri="{FF2B5EF4-FFF2-40B4-BE49-F238E27FC236}">
                <a16:creationId xmlns:a16="http://schemas.microsoft.com/office/drawing/2014/main" id="{80288BD5-8999-4FE4-944B-D942F7689CF5}"/>
              </a:ext>
            </a:extLst>
          </p:cNvPr>
          <p:cNvCxnSpPr>
            <a:cxnSpLocks/>
          </p:cNvCxnSpPr>
          <p:nvPr/>
        </p:nvCxnSpPr>
        <p:spPr>
          <a:xfrm flipH="1">
            <a:off x="5360058" y="3708697"/>
            <a:ext cx="261852" cy="437715"/>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 name="Oval 28">
            <a:extLst>
              <a:ext uri="{FF2B5EF4-FFF2-40B4-BE49-F238E27FC236}">
                <a16:creationId xmlns:a16="http://schemas.microsoft.com/office/drawing/2014/main" id="{60BF2809-163A-4251-A10E-17F5210949C1}"/>
              </a:ext>
            </a:extLst>
          </p:cNvPr>
          <p:cNvSpPr/>
          <p:nvPr/>
        </p:nvSpPr>
        <p:spPr>
          <a:xfrm>
            <a:off x="5394960" y="3166597"/>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15</a:t>
            </a:r>
          </a:p>
        </p:txBody>
      </p:sp>
      <p:sp>
        <p:nvSpPr>
          <p:cNvPr id="30" name="Oval 29">
            <a:extLst>
              <a:ext uri="{FF2B5EF4-FFF2-40B4-BE49-F238E27FC236}">
                <a16:creationId xmlns:a16="http://schemas.microsoft.com/office/drawing/2014/main" id="{5871559D-9163-4230-AF5E-4BE79D1D0C8E}"/>
              </a:ext>
            </a:extLst>
          </p:cNvPr>
          <p:cNvSpPr/>
          <p:nvPr/>
        </p:nvSpPr>
        <p:spPr>
          <a:xfrm>
            <a:off x="4485614" y="3166597"/>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5</a:t>
            </a:r>
          </a:p>
        </p:txBody>
      </p:sp>
      <p:sp>
        <p:nvSpPr>
          <p:cNvPr id="32" name="Oval 31">
            <a:extLst>
              <a:ext uri="{FF2B5EF4-FFF2-40B4-BE49-F238E27FC236}">
                <a16:creationId xmlns:a16="http://schemas.microsoft.com/office/drawing/2014/main" id="{C78BB9DC-97E0-4615-8CBE-94BE1A542A5A}"/>
              </a:ext>
            </a:extLst>
          </p:cNvPr>
          <p:cNvSpPr/>
          <p:nvPr/>
        </p:nvSpPr>
        <p:spPr>
          <a:xfrm>
            <a:off x="5008607" y="2253026"/>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10</a:t>
            </a:r>
          </a:p>
        </p:txBody>
      </p:sp>
      <p:sp>
        <p:nvSpPr>
          <p:cNvPr id="33" name="Oval 32">
            <a:extLst>
              <a:ext uri="{FF2B5EF4-FFF2-40B4-BE49-F238E27FC236}">
                <a16:creationId xmlns:a16="http://schemas.microsoft.com/office/drawing/2014/main" id="{D63070EC-ED82-491C-977D-64A7CEF26FBD}"/>
              </a:ext>
            </a:extLst>
          </p:cNvPr>
          <p:cNvSpPr/>
          <p:nvPr/>
        </p:nvSpPr>
        <p:spPr>
          <a:xfrm>
            <a:off x="7206598" y="3177357"/>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35</a:t>
            </a:r>
          </a:p>
        </p:txBody>
      </p:sp>
      <p:cxnSp>
        <p:nvCxnSpPr>
          <p:cNvPr id="34" name="Straight Arrow Connector 33">
            <a:extLst>
              <a:ext uri="{FF2B5EF4-FFF2-40B4-BE49-F238E27FC236}">
                <a16:creationId xmlns:a16="http://schemas.microsoft.com/office/drawing/2014/main" id="{46C59EDF-9426-468A-AEBB-FD0345C876DF}"/>
              </a:ext>
            </a:extLst>
          </p:cNvPr>
          <p:cNvCxnSpPr>
            <a:cxnSpLocks/>
          </p:cNvCxnSpPr>
          <p:nvPr/>
        </p:nvCxnSpPr>
        <p:spPr>
          <a:xfrm>
            <a:off x="7096848" y="2789920"/>
            <a:ext cx="304979" cy="387437"/>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6" name="Oval 35">
            <a:extLst>
              <a:ext uri="{FF2B5EF4-FFF2-40B4-BE49-F238E27FC236}">
                <a16:creationId xmlns:a16="http://schemas.microsoft.com/office/drawing/2014/main" id="{083D911C-4353-47E8-A627-820A4A02506A}"/>
              </a:ext>
            </a:extLst>
          </p:cNvPr>
          <p:cNvSpPr/>
          <p:nvPr/>
        </p:nvSpPr>
        <p:spPr>
          <a:xfrm>
            <a:off x="7832240" y="4074583"/>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40</a:t>
            </a:r>
          </a:p>
        </p:txBody>
      </p:sp>
      <p:cxnSp>
        <p:nvCxnSpPr>
          <p:cNvPr id="37" name="Straight Arrow Connector 36">
            <a:extLst>
              <a:ext uri="{FF2B5EF4-FFF2-40B4-BE49-F238E27FC236}">
                <a16:creationId xmlns:a16="http://schemas.microsoft.com/office/drawing/2014/main" id="{649CD8BE-A016-4C2B-B323-A6F5A8E4CF71}"/>
              </a:ext>
            </a:extLst>
          </p:cNvPr>
          <p:cNvCxnSpPr>
            <a:cxnSpLocks/>
          </p:cNvCxnSpPr>
          <p:nvPr/>
        </p:nvCxnSpPr>
        <p:spPr>
          <a:xfrm>
            <a:off x="7679750" y="3702326"/>
            <a:ext cx="304979" cy="387437"/>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8" name="Oval 37">
            <a:extLst>
              <a:ext uri="{FF2B5EF4-FFF2-40B4-BE49-F238E27FC236}">
                <a16:creationId xmlns:a16="http://schemas.microsoft.com/office/drawing/2014/main" id="{EF77196D-93E3-45DD-86BD-5F82D705482C}"/>
              </a:ext>
            </a:extLst>
          </p:cNvPr>
          <p:cNvSpPr/>
          <p:nvPr/>
        </p:nvSpPr>
        <p:spPr>
          <a:xfrm>
            <a:off x="7206597" y="3177357"/>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35</a:t>
            </a:r>
          </a:p>
        </p:txBody>
      </p:sp>
      <p:sp>
        <p:nvSpPr>
          <p:cNvPr id="39" name="Oval 38">
            <a:extLst>
              <a:ext uri="{FF2B5EF4-FFF2-40B4-BE49-F238E27FC236}">
                <a16:creationId xmlns:a16="http://schemas.microsoft.com/office/drawing/2014/main" id="{F34A62D9-D288-4499-A7D5-46B618277A93}"/>
              </a:ext>
            </a:extLst>
          </p:cNvPr>
          <p:cNvSpPr/>
          <p:nvPr/>
        </p:nvSpPr>
        <p:spPr>
          <a:xfrm>
            <a:off x="6094153" y="3166596"/>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25</a:t>
            </a:r>
          </a:p>
        </p:txBody>
      </p:sp>
      <p:sp>
        <p:nvSpPr>
          <p:cNvPr id="40" name="Oval 39">
            <a:extLst>
              <a:ext uri="{FF2B5EF4-FFF2-40B4-BE49-F238E27FC236}">
                <a16:creationId xmlns:a16="http://schemas.microsoft.com/office/drawing/2014/main" id="{2B3598B9-B8B6-44E7-BBA9-E8BDD70C25AE}"/>
              </a:ext>
            </a:extLst>
          </p:cNvPr>
          <p:cNvSpPr/>
          <p:nvPr/>
        </p:nvSpPr>
        <p:spPr>
          <a:xfrm>
            <a:off x="6571650" y="2266320"/>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30</a:t>
            </a:r>
          </a:p>
        </p:txBody>
      </p:sp>
      <p:sp>
        <p:nvSpPr>
          <p:cNvPr id="41" name="Oval 40">
            <a:extLst>
              <a:ext uri="{FF2B5EF4-FFF2-40B4-BE49-F238E27FC236}">
                <a16:creationId xmlns:a16="http://schemas.microsoft.com/office/drawing/2014/main" id="{C8F841AB-D998-4B65-9CC6-BC6DB7079371}"/>
              </a:ext>
            </a:extLst>
          </p:cNvPr>
          <p:cNvSpPr/>
          <p:nvPr/>
        </p:nvSpPr>
        <p:spPr>
          <a:xfrm>
            <a:off x="6719795" y="4115156"/>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32</a:t>
            </a:r>
          </a:p>
        </p:txBody>
      </p:sp>
      <p:cxnSp>
        <p:nvCxnSpPr>
          <p:cNvPr id="42" name="Straight Arrow Connector 41">
            <a:extLst>
              <a:ext uri="{FF2B5EF4-FFF2-40B4-BE49-F238E27FC236}">
                <a16:creationId xmlns:a16="http://schemas.microsoft.com/office/drawing/2014/main" id="{B94B5FAF-BD37-436B-B2A3-65AD6B212956}"/>
              </a:ext>
            </a:extLst>
          </p:cNvPr>
          <p:cNvCxnSpPr>
            <a:cxnSpLocks/>
          </p:cNvCxnSpPr>
          <p:nvPr/>
        </p:nvCxnSpPr>
        <p:spPr>
          <a:xfrm flipH="1">
            <a:off x="7131864" y="3717114"/>
            <a:ext cx="261852" cy="437715"/>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3" name="Oval 42">
            <a:extLst>
              <a:ext uri="{FF2B5EF4-FFF2-40B4-BE49-F238E27FC236}">
                <a16:creationId xmlns:a16="http://schemas.microsoft.com/office/drawing/2014/main" id="{EEC2AC79-05A2-4683-99C8-DCB84144CE50}"/>
              </a:ext>
            </a:extLst>
          </p:cNvPr>
          <p:cNvSpPr/>
          <p:nvPr/>
        </p:nvSpPr>
        <p:spPr>
          <a:xfrm>
            <a:off x="8479099" y="4912651"/>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50</a:t>
            </a:r>
          </a:p>
        </p:txBody>
      </p:sp>
      <p:cxnSp>
        <p:nvCxnSpPr>
          <p:cNvPr id="44" name="Straight Arrow Connector 43">
            <a:extLst>
              <a:ext uri="{FF2B5EF4-FFF2-40B4-BE49-F238E27FC236}">
                <a16:creationId xmlns:a16="http://schemas.microsoft.com/office/drawing/2014/main" id="{53688C2C-3419-4DE4-8016-ADDE27135108}"/>
              </a:ext>
            </a:extLst>
          </p:cNvPr>
          <p:cNvCxnSpPr>
            <a:cxnSpLocks/>
          </p:cNvCxnSpPr>
          <p:nvPr/>
        </p:nvCxnSpPr>
        <p:spPr>
          <a:xfrm>
            <a:off x="8305392" y="4584372"/>
            <a:ext cx="304979" cy="387437"/>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5" name="Oval 44">
            <a:extLst>
              <a:ext uri="{FF2B5EF4-FFF2-40B4-BE49-F238E27FC236}">
                <a16:creationId xmlns:a16="http://schemas.microsoft.com/office/drawing/2014/main" id="{FC9AAFFB-405B-4315-8E39-583B89B89784}"/>
              </a:ext>
            </a:extLst>
          </p:cNvPr>
          <p:cNvSpPr/>
          <p:nvPr/>
        </p:nvSpPr>
        <p:spPr>
          <a:xfrm>
            <a:off x="7841381" y="4067565"/>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40</a:t>
            </a:r>
          </a:p>
        </p:txBody>
      </p:sp>
      <p:sp>
        <p:nvSpPr>
          <p:cNvPr id="46" name="Oval 45">
            <a:extLst>
              <a:ext uri="{FF2B5EF4-FFF2-40B4-BE49-F238E27FC236}">
                <a16:creationId xmlns:a16="http://schemas.microsoft.com/office/drawing/2014/main" id="{072F8FFB-C61F-4F7F-99A3-96292A1169E9}"/>
              </a:ext>
            </a:extLst>
          </p:cNvPr>
          <p:cNvSpPr/>
          <p:nvPr/>
        </p:nvSpPr>
        <p:spPr>
          <a:xfrm>
            <a:off x="6725878" y="4115155"/>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32</a:t>
            </a:r>
          </a:p>
        </p:txBody>
      </p:sp>
      <p:sp>
        <p:nvSpPr>
          <p:cNvPr id="47" name="Oval 46">
            <a:extLst>
              <a:ext uri="{FF2B5EF4-FFF2-40B4-BE49-F238E27FC236}">
                <a16:creationId xmlns:a16="http://schemas.microsoft.com/office/drawing/2014/main" id="{5B445DA2-70C5-423D-87FE-F0BE65D47BC6}"/>
              </a:ext>
            </a:extLst>
          </p:cNvPr>
          <p:cNvSpPr/>
          <p:nvPr/>
        </p:nvSpPr>
        <p:spPr>
          <a:xfrm>
            <a:off x="7206597" y="3189296"/>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35</a:t>
            </a:r>
          </a:p>
        </p:txBody>
      </p:sp>
      <p:sp>
        <p:nvSpPr>
          <p:cNvPr id="48" name="Oval 47">
            <a:extLst>
              <a:ext uri="{FF2B5EF4-FFF2-40B4-BE49-F238E27FC236}">
                <a16:creationId xmlns:a16="http://schemas.microsoft.com/office/drawing/2014/main" id="{FA8DE2FE-26A3-4DA2-9BD9-BC063CE2C475}"/>
              </a:ext>
            </a:extLst>
          </p:cNvPr>
          <p:cNvSpPr/>
          <p:nvPr/>
        </p:nvSpPr>
        <p:spPr>
          <a:xfrm>
            <a:off x="6569726" y="2263421"/>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30</a:t>
            </a:r>
          </a:p>
        </p:txBody>
      </p:sp>
      <p:sp>
        <p:nvSpPr>
          <p:cNvPr id="49" name="Oval 48">
            <a:extLst>
              <a:ext uri="{FF2B5EF4-FFF2-40B4-BE49-F238E27FC236}">
                <a16:creationId xmlns:a16="http://schemas.microsoft.com/office/drawing/2014/main" id="{60FD2166-B263-4019-9262-A8309B171371}"/>
              </a:ext>
            </a:extLst>
          </p:cNvPr>
          <p:cNvSpPr/>
          <p:nvPr/>
        </p:nvSpPr>
        <p:spPr>
          <a:xfrm>
            <a:off x="5007806" y="2250996"/>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10</a:t>
            </a:r>
          </a:p>
        </p:txBody>
      </p:sp>
    </p:spTree>
    <p:extLst>
      <p:ext uri="{BB962C8B-B14F-4D97-AF65-F5344CB8AC3E}">
        <p14:creationId xmlns:p14="http://schemas.microsoft.com/office/powerpoint/2010/main" val="2264438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500"/>
                                        <p:tgtEl>
                                          <p:spTgt spid="3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500"/>
                                        <p:tgtEl>
                                          <p:spTgt spid="32"/>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500"/>
                                        <p:tgtEl>
                                          <p:spTgt spid="3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fade">
                                      <p:cBhvr>
                                        <p:cTn id="74" dur="500"/>
                                        <p:tgtEl>
                                          <p:spTgt spid="37"/>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fade">
                                      <p:cBhvr>
                                        <p:cTn id="79" dur="500"/>
                                        <p:tgtEl>
                                          <p:spTgt spid="36"/>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38"/>
                                        </p:tgtEl>
                                        <p:attrNameLst>
                                          <p:attrName>style.visibility</p:attrName>
                                        </p:attrNameLst>
                                      </p:cBhvr>
                                      <p:to>
                                        <p:strVal val="visible"/>
                                      </p:to>
                                    </p:set>
                                    <p:animEffect transition="in" filter="fade">
                                      <p:cBhvr>
                                        <p:cTn id="84" dur="500"/>
                                        <p:tgtEl>
                                          <p:spTgt spid="38"/>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fade">
                                      <p:cBhvr>
                                        <p:cTn id="89" dur="500"/>
                                        <p:tgtEl>
                                          <p:spTgt spid="39"/>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fade">
                                      <p:cBhvr>
                                        <p:cTn id="94" dur="500"/>
                                        <p:tgtEl>
                                          <p:spTgt spid="40"/>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fade">
                                      <p:cBhvr>
                                        <p:cTn id="99" dur="500"/>
                                        <p:tgtEl>
                                          <p:spTgt spid="42"/>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500"/>
                                        <p:tgtEl>
                                          <p:spTgt spid="41"/>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44"/>
                                        </p:tgtEl>
                                        <p:attrNameLst>
                                          <p:attrName>style.visibility</p:attrName>
                                        </p:attrNameLst>
                                      </p:cBhvr>
                                      <p:to>
                                        <p:strVal val="visible"/>
                                      </p:to>
                                    </p:set>
                                    <p:animEffect transition="in" filter="fade">
                                      <p:cBhvr>
                                        <p:cTn id="109" dur="500"/>
                                        <p:tgtEl>
                                          <p:spTgt spid="44"/>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4" dur="500"/>
                                        <p:tgtEl>
                                          <p:spTgt spid="43"/>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500"/>
                                        <p:tgtEl>
                                          <p:spTgt spid="45"/>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46"/>
                                        </p:tgtEl>
                                        <p:attrNameLst>
                                          <p:attrName>style.visibility</p:attrName>
                                        </p:attrNameLst>
                                      </p:cBhvr>
                                      <p:to>
                                        <p:strVal val="visible"/>
                                      </p:to>
                                    </p:set>
                                    <p:animEffect transition="in" filter="fade">
                                      <p:cBhvr>
                                        <p:cTn id="124" dur="500"/>
                                        <p:tgtEl>
                                          <p:spTgt spid="46"/>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47"/>
                                        </p:tgtEl>
                                        <p:attrNameLst>
                                          <p:attrName>style.visibility</p:attrName>
                                        </p:attrNameLst>
                                      </p:cBhvr>
                                      <p:to>
                                        <p:strVal val="visible"/>
                                      </p:to>
                                    </p:set>
                                    <p:animEffect transition="in" filter="fade">
                                      <p:cBhvr>
                                        <p:cTn id="129" dur="500"/>
                                        <p:tgtEl>
                                          <p:spTgt spid="47"/>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clickEffect">
                                  <p:stCondLst>
                                    <p:cond delay="0"/>
                                  </p:stCondLst>
                                  <p:childTnLst>
                                    <p:set>
                                      <p:cBhvr>
                                        <p:cTn id="133" dur="1" fill="hold">
                                          <p:stCondLst>
                                            <p:cond delay="0"/>
                                          </p:stCondLst>
                                        </p:cTn>
                                        <p:tgtEl>
                                          <p:spTgt spid="48"/>
                                        </p:tgtEl>
                                        <p:attrNameLst>
                                          <p:attrName>style.visibility</p:attrName>
                                        </p:attrNameLst>
                                      </p:cBhvr>
                                      <p:to>
                                        <p:strVal val="visible"/>
                                      </p:to>
                                    </p:set>
                                    <p:animEffect transition="in" filter="fade">
                                      <p:cBhvr>
                                        <p:cTn id="134" dur="500"/>
                                        <p:tgtEl>
                                          <p:spTgt spid="48"/>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0" grpId="0" animBg="1"/>
      <p:bldP spid="22" grpId="0" animBg="1"/>
      <p:bldP spid="25" grpId="0" animBg="1"/>
      <p:bldP spid="27" grpId="0" animBg="1"/>
      <p:bldP spid="29" grpId="0" animBg="1"/>
      <p:bldP spid="30" grpId="0" animBg="1"/>
      <p:bldP spid="32" grpId="0" animBg="1"/>
      <p:bldP spid="33" grpId="0" animBg="1"/>
      <p:bldP spid="36" grpId="0" animBg="1"/>
      <p:bldP spid="38" grpId="0" animBg="1"/>
      <p:bldP spid="39" grpId="0" animBg="1"/>
      <p:bldP spid="40" grpId="0" animBg="1"/>
      <p:bldP spid="41" grpId="0" animBg="1"/>
      <p:bldP spid="43" grpId="0" animBg="1"/>
      <p:bldP spid="45" grpId="0" animBg="1"/>
      <p:bldP spid="46" grpId="0" animBg="1"/>
      <p:bldP spid="47" grpId="0" animBg="1"/>
      <p:bldP spid="48" grpId="0" animBg="1"/>
      <p:bldP spid="4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E199D-BC75-44C8-8536-B4847CBE4D94}"/>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6D70A5A6-44F8-449F-A6AF-1EF5045FDA28}"/>
              </a:ext>
            </a:extLst>
          </p:cNvPr>
          <p:cNvSpPr>
            <a:spLocks noGrp="1"/>
          </p:cNvSpPr>
          <p:nvPr>
            <p:ph idx="1"/>
          </p:nvPr>
        </p:nvSpPr>
        <p:spPr/>
        <p:txBody>
          <a:bodyPr/>
          <a:lstStyle/>
          <a:p>
            <a:r>
              <a:rPr lang="en-IN" dirty="0"/>
              <a:t>Create red-black tree with following elements</a:t>
            </a:r>
          </a:p>
          <a:p>
            <a:pPr lvl="1"/>
            <a:r>
              <a:rPr lang="en-IN" dirty="0"/>
              <a:t>8, 18, 5, 15, 17, 25, 40, 80</a:t>
            </a:r>
          </a:p>
          <a:p>
            <a:pPr lvl="1"/>
            <a:r>
              <a:rPr lang="en-IN" dirty="0"/>
              <a:t>13, 3, 4, 12, 14, 10, 5, 1, 8, 2, 7, 9, 11, 6, 18</a:t>
            </a:r>
          </a:p>
        </p:txBody>
      </p:sp>
      <p:pic>
        <p:nvPicPr>
          <p:cNvPr id="5" name="Picture 4">
            <a:extLst>
              <a:ext uri="{FF2B5EF4-FFF2-40B4-BE49-F238E27FC236}">
                <a16:creationId xmlns:a16="http://schemas.microsoft.com/office/drawing/2014/main" id="{E827B916-6DFC-47DF-AE28-B0F4554C3E76}"/>
              </a:ext>
            </a:extLst>
          </p:cNvPr>
          <p:cNvPicPr>
            <a:picLocks noChangeAspect="1"/>
          </p:cNvPicPr>
          <p:nvPr/>
        </p:nvPicPr>
        <p:blipFill>
          <a:blip r:embed="rId2"/>
          <a:stretch>
            <a:fillRect/>
          </a:stretch>
        </p:blipFill>
        <p:spPr>
          <a:xfrm>
            <a:off x="308845" y="3516478"/>
            <a:ext cx="3835597" cy="2000353"/>
          </a:xfrm>
          <a:prstGeom prst="rect">
            <a:avLst/>
          </a:prstGeom>
        </p:spPr>
      </p:pic>
      <p:pic>
        <p:nvPicPr>
          <p:cNvPr id="7" name="Picture 6">
            <a:extLst>
              <a:ext uri="{FF2B5EF4-FFF2-40B4-BE49-F238E27FC236}">
                <a16:creationId xmlns:a16="http://schemas.microsoft.com/office/drawing/2014/main" id="{53F48CFC-B6FC-4898-ACEF-C3D3A331358E}"/>
              </a:ext>
            </a:extLst>
          </p:cNvPr>
          <p:cNvPicPr>
            <a:picLocks noChangeAspect="1"/>
          </p:cNvPicPr>
          <p:nvPr/>
        </p:nvPicPr>
        <p:blipFill>
          <a:blip r:embed="rId3"/>
          <a:stretch>
            <a:fillRect/>
          </a:stretch>
        </p:blipFill>
        <p:spPr>
          <a:xfrm>
            <a:off x="4859549" y="3402531"/>
            <a:ext cx="7201270" cy="2406774"/>
          </a:xfrm>
          <a:prstGeom prst="rect">
            <a:avLst/>
          </a:prstGeom>
        </p:spPr>
      </p:pic>
    </p:spTree>
    <p:extLst>
      <p:ext uri="{BB962C8B-B14F-4D97-AF65-F5344CB8AC3E}">
        <p14:creationId xmlns:p14="http://schemas.microsoft.com/office/powerpoint/2010/main" val="1695782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CB21A-218C-48D8-9CD1-00AFAB7411A5}"/>
              </a:ext>
            </a:extLst>
          </p:cNvPr>
          <p:cNvSpPr>
            <a:spLocks noGrp="1"/>
          </p:cNvSpPr>
          <p:nvPr>
            <p:ph type="title"/>
          </p:nvPr>
        </p:nvSpPr>
        <p:spPr/>
        <p:txBody>
          <a:bodyPr/>
          <a:lstStyle/>
          <a:p>
            <a:r>
              <a:rPr lang="en-IN" dirty="0"/>
              <a:t>Deletion operation</a:t>
            </a:r>
          </a:p>
        </p:txBody>
      </p:sp>
      <p:sp>
        <p:nvSpPr>
          <p:cNvPr id="3" name="Content Placeholder 2">
            <a:extLst>
              <a:ext uri="{FF2B5EF4-FFF2-40B4-BE49-F238E27FC236}">
                <a16:creationId xmlns:a16="http://schemas.microsoft.com/office/drawing/2014/main" id="{0338581F-EF5A-4E74-A6E3-BB675F54F8EB}"/>
              </a:ext>
            </a:extLst>
          </p:cNvPr>
          <p:cNvSpPr>
            <a:spLocks noGrp="1"/>
          </p:cNvSpPr>
          <p:nvPr>
            <p:ph idx="1"/>
          </p:nvPr>
        </p:nvSpPr>
        <p:spPr/>
        <p:txBody>
          <a:bodyPr/>
          <a:lstStyle/>
          <a:p>
            <a:pPr marL="457200" indent="-457200">
              <a:buAutoNum type="arabicPeriod"/>
            </a:pPr>
            <a:r>
              <a:rPr lang="en-US" dirty="0"/>
              <a:t>Choose the node to be deleted as in BST</a:t>
            </a:r>
          </a:p>
          <a:p>
            <a:pPr marL="457200" indent="-457200">
              <a:buAutoNum type="arabicPeriod"/>
            </a:pPr>
            <a:r>
              <a:rPr lang="en-US" dirty="0"/>
              <a:t>Perform the suitable case</a:t>
            </a:r>
          </a:p>
          <a:p>
            <a:pPr marL="544512" lvl="1" indent="0">
              <a:buNone/>
            </a:pPr>
            <a:r>
              <a:rPr lang="en-IN" dirty="0">
                <a:highlight>
                  <a:srgbClr val="FF00FF"/>
                </a:highlight>
              </a:rPr>
              <a:t>Case 1: </a:t>
            </a:r>
            <a:r>
              <a:rPr lang="en-IN" dirty="0"/>
              <a:t>if the node to be deleted is </a:t>
            </a:r>
            <a:r>
              <a:rPr lang="en-IN" dirty="0">
                <a:highlight>
                  <a:srgbClr val="FF0000"/>
                </a:highlight>
              </a:rPr>
              <a:t>red</a:t>
            </a:r>
            <a:r>
              <a:rPr lang="en-IN" dirty="0">
                <a:solidFill>
                  <a:srgbClr val="C00000"/>
                </a:solidFill>
              </a:rPr>
              <a:t>, </a:t>
            </a:r>
            <a:r>
              <a:rPr lang="en-IN" dirty="0"/>
              <a:t>just delete it and exit</a:t>
            </a:r>
          </a:p>
          <a:p>
            <a:pPr marL="544512" lvl="1" indent="0">
              <a:buNone/>
            </a:pPr>
            <a:r>
              <a:rPr lang="en-IN" dirty="0">
                <a:highlight>
                  <a:srgbClr val="00FFFF"/>
                </a:highlight>
              </a:rPr>
              <a:t>Case 2: </a:t>
            </a:r>
            <a:r>
              <a:rPr lang="en-IN" dirty="0"/>
              <a:t>if DB is </a:t>
            </a:r>
            <a:r>
              <a:rPr lang="en-IN" dirty="0">
                <a:highlight>
                  <a:srgbClr val="00FF00"/>
                </a:highlight>
              </a:rPr>
              <a:t>root</a:t>
            </a:r>
            <a:r>
              <a:rPr lang="en-IN" dirty="0"/>
              <a:t>, remove DB</a:t>
            </a:r>
          </a:p>
          <a:p>
            <a:pPr marL="544512" lvl="1" indent="0">
              <a:buNone/>
            </a:pPr>
            <a:r>
              <a:rPr lang="en-IN" dirty="0">
                <a:highlight>
                  <a:srgbClr val="F599C9"/>
                </a:highlight>
              </a:rPr>
              <a:t>Case 3: </a:t>
            </a:r>
            <a:r>
              <a:rPr lang="en-IN" dirty="0"/>
              <a:t>if DB’s sibling is </a:t>
            </a:r>
            <a:r>
              <a:rPr lang="en-IN" dirty="0">
                <a:solidFill>
                  <a:schemeClr val="bg1"/>
                </a:solidFill>
                <a:highlight>
                  <a:srgbClr val="000000"/>
                </a:highlight>
              </a:rPr>
              <a:t>black</a:t>
            </a:r>
            <a:r>
              <a:rPr lang="en-IN" dirty="0"/>
              <a:t> and </a:t>
            </a:r>
            <a:r>
              <a:rPr lang="en-IN" dirty="0">
                <a:solidFill>
                  <a:srgbClr val="00B0F0"/>
                </a:solidFill>
              </a:rPr>
              <a:t>both nephews </a:t>
            </a:r>
            <a:r>
              <a:rPr lang="en-IN" dirty="0"/>
              <a:t>are also </a:t>
            </a:r>
            <a:r>
              <a:rPr lang="en-IN" dirty="0">
                <a:solidFill>
                  <a:schemeClr val="bg1"/>
                </a:solidFill>
                <a:highlight>
                  <a:srgbClr val="000000"/>
                </a:highlight>
              </a:rPr>
              <a:t>black</a:t>
            </a:r>
          </a:p>
          <a:p>
            <a:pPr marL="544512" lvl="1" indent="0">
              <a:buNone/>
            </a:pPr>
            <a:r>
              <a:rPr lang="en-IN" dirty="0"/>
              <a:t>	   (a) remove DB(if DB is null delete it, if DB is not null remove DB sign)</a:t>
            </a:r>
          </a:p>
          <a:p>
            <a:pPr marL="544512" lvl="1" indent="0">
              <a:buNone/>
            </a:pPr>
            <a:r>
              <a:rPr lang="en-IN" dirty="0"/>
              <a:t>         (b) make sibling red</a:t>
            </a:r>
          </a:p>
          <a:p>
            <a:pPr marL="544512" lvl="1" indent="0">
              <a:buNone/>
            </a:pPr>
            <a:r>
              <a:rPr lang="en-IN" dirty="0"/>
              <a:t>         (b) make DB’s parent </a:t>
            </a:r>
            <a:r>
              <a:rPr lang="en-IN" dirty="0">
                <a:solidFill>
                  <a:schemeClr val="bg1"/>
                </a:solidFill>
                <a:highlight>
                  <a:srgbClr val="000000"/>
                </a:highlight>
              </a:rPr>
              <a:t>black</a:t>
            </a:r>
            <a:r>
              <a:rPr lang="en-IN" dirty="0"/>
              <a:t> </a:t>
            </a:r>
            <a:r>
              <a:rPr lang="en-IN" sz="1600" dirty="0"/>
              <a:t>(</a:t>
            </a:r>
            <a:r>
              <a:rPr lang="en-IN" sz="1600" dirty="0">
                <a:highlight>
                  <a:srgbClr val="00FF00"/>
                </a:highlight>
              </a:rPr>
              <a:t>if </a:t>
            </a:r>
            <a:r>
              <a:rPr lang="en-IN" sz="1600" dirty="0"/>
              <a:t> DB’s parent [ was </a:t>
            </a:r>
            <a:r>
              <a:rPr lang="en-IN" sz="1600" dirty="0">
                <a:solidFill>
                  <a:schemeClr val="bg1"/>
                </a:solidFill>
                <a:highlight>
                  <a:srgbClr val="000000"/>
                </a:highlight>
              </a:rPr>
              <a:t>black</a:t>
            </a:r>
            <a:r>
              <a:rPr lang="en-IN" sz="1600" dirty="0">
                <a:sym typeface="Wingdings" panose="05000000000000000000" pitchFamily="2" charset="2"/>
              </a:rPr>
              <a:t></a:t>
            </a:r>
            <a:r>
              <a:rPr lang="en-IN" sz="1600" dirty="0">
                <a:highlight>
                  <a:srgbClr val="FFFF00"/>
                </a:highlight>
              </a:rPr>
              <a:t> make it DB]</a:t>
            </a:r>
            <a:r>
              <a:rPr lang="en-IN" sz="1600" dirty="0"/>
              <a:t>, if </a:t>
            </a:r>
            <a:r>
              <a:rPr lang="en-IN" sz="1600" dirty="0">
                <a:highlight>
                  <a:srgbClr val="FF0000"/>
                </a:highlight>
              </a:rPr>
              <a:t>red</a:t>
            </a:r>
            <a:r>
              <a:rPr lang="en-IN" sz="1600" dirty="0"/>
              <a:t> </a:t>
            </a:r>
            <a:r>
              <a:rPr lang="en-IN" sz="1600" dirty="0">
                <a:sym typeface="Wingdings" panose="05000000000000000000" pitchFamily="2" charset="2"/>
              </a:rPr>
              <a:t> </a:t>
            </a:r>
            <a:r>
              <a:rPr lang="en-IN" sz="1600" dirty="0"/>
              <a:t>make it </a:t>
            </a:r>
            <a:r>
              <a:rPr lang="en-IN" sz="1600" dirty="0">
                <a:solidFill>
                  <a:schemeClr val="bg1"/>
                </a:solidFill>
                <a:highlight>
                  <a:srgbClr val="424242"/>
                </a:highlight>
              </a:rPr>
              <a:t>black</a:t>
            </a:r>
            <a:r>
              <a:rPr lang="en-IN" sz="1600" dirty="0"/>
              <a:t>)</a:t>
            </a:r>
            <a:r>
              <a:rPr lang="en-IN" dirty="0"/>
              <a:t>, </a:t>
            </a:r>
            <a:r>
              <a:rPr lang="en-IN" dirty="0">
                <a:highlight>
                  <a:srgbClr val="FFFF00"/>
                </a:highlight>
              </a:rPr>
              <a:t>apply suitable case</a:t>
            </a:r>
          </a:p>
          <a:p>
            <a:pPr marL="544512" lvl="1" indent="0">
              <a:buNone/>
            </a:pPr>
            <a:endParaRPr lang="en-IN" dirty="0">
              <a:highlight>
                <a:srgbClr val="FFFF00"/>
              </a:highlight>
            </a:endParaRPr>
          </a:p>
        </p:txBody>
      </p:sp>
      <p:pic>
        <p:nvPicPr>
          <p:cNvPr id="5" name="Picture 4">
            <a:extLst>
              <a:ext uri="{FF2B5EF4-FFF2-40B4-BE49-F238E27FC236}">
                <a16:creationId xmlns:a16="http://schemas.microsoft.com/office/drawing/2014/main" id="{F008AC3E-D173-4D8E-9D80-7C98350A652C}"/>
              </a:ext>
            </a:extLst>
          </p:cNvPr>
          <p:cNvPicPr>
            <a:picLocks noChangeAspect="1"/>
          </p:cNvPicPr>
          <p:nvPr/>
        </p:nvPicPr>
        <p:blipFill>
          <a:blip r:embed="rId2"/>
          <a:stretch>
            <a:fillRect/>
          </a:stretch>
        </p:blipFill>
        <p:spPr>
          <a:xfrm>
            <a:off x="131178" y="4273430"/>
            <a:ext cx="2406774" cy="2330570"/>
          </a:xfrm>
          <a:prstGeom prst="rect">
            <a:avLst/>
          </a:prstGeom>
        </p:spPr>
      </p:pic>
      <p:sp>
        <p:nvSpPr>
          <p:cNvPr id="6" name="TextBox 5">
            <a:extLst>
              <a:ext uri="{FF2B5EF4-FFF2-40B4-BE49-F238E27FC236}">
                <a16:creationId xmlns:a16="http://schemas.microsoft.com/office/drawing/2014/main" id="{D95884DF-0AFD-4DF6-A8C1-D5143BE7B729}"/>
              </a:ext>
            </a:extLst>
          </p:cNvPr>
          <p:cNvSpPr txBox="1"/>
          <p:nvPr/>
        </p:nvSpPr>
        <p:spPr>
          <a:xfrm>
            <a:off x="44551" y="3751856"/>
            <a:ext cx="2646948" cy="369332"/>
          </a:xfrm>
          <a:prstGeom prst="rect">
            <a:avLst/>
          </a:prstGeom>
          <a:noFill/>
        </p:spPr>
        <p:txBody>
          <a:bodyPr wrap="square" rtlCol="0">
            <a:spAutoFit/>
          </a:bodyPr>
          <a:lstStyle/>
          <a:p>
            <a:r>
              <a:rPr lang="en-IN" dirty="0"/>
              <a:t>Delete 32</a:t>
            </a:r>
          </a:p>
        </p:txBody>
      </p:sp>
      <p:sp>
        <p:nvSpPr>
          <p:cNvPr id="9" name="TextBox 8">
            <a:extLst>
              <a:ext uri="{FF2B5EF4-FFF2-40B4-BE49-F238E27FC236}">
                <a16:creationId xmlns:a16="http://schemas.microsoft.com/office/drawing/2014/main" id="{343E8AA8-E7BC-4D09-B6D2-19D52274A354}"/>
              </a:ext>
            </a:extLst>
          </p:cNvPr>
          <p:cNvSpPr txBox="1"/>
          <p:nvPr/>
        </p:nvSpPr>
        <p:spPr>
          <a:xfrm>
            <a:off x="389456" y="5974118"/>
            <a:ext cx="1102460" cy="369174"/>
          </a:xfrm>
          <a:prstGeom prst="rect">
            <a:avLst/>
          </a:prstGeom>
          <a:noFill/>
        </p:spPr>
        <p:txBody>
          <a:bodyPr wrap="square" rtlCol="0">
            <a:spAutoFit/>
          </a:bodyPr>
          <a:lstStyle/>
          <a:p>
            <a:r>
              <a:rPr lang="en-IN" dirty="0"/>
              <a:t>Case 1</a:t>
            </a:r>
          </a:p>
        </p:txBody>
      </p:sp>
      <p:pic>
        <p:nvPicPr>
          <p:cNvPr id="10" name="Picture 9">
            <a:extLst>
              <a:ext uri="{FF2B5EF4-FFF2-40B4-BE49-F238E27FC236}">
                <a16:creationId xmlns:a16="http://schemas.microsoft.com/office/drawing/2014/main" id="{23FDA4B8-F0BF-4625-B230-B19F382A4910}"/>
              </a:ext>
            </a:extLst>
          </p:cNvPr>
          <p:cNvPicPr>
            <a:picLocks noChangeAspect="1"/>
          </p:cNvPicPr>
          <p:nvPr/>
        </p:nvPicPr>
        <p:blipFill>
          <a:blip r:embed="rId3"/>
          <a:stretch>
            <a:fillRect/>
          </a:stretch>
        </p:blipFill>
        <p:spPr>
          <a:xfrm>
            <a:off x="140803" y="4304061"/>
            <a:ext cx="2425825" cy="2248016"/>
          </a:xfrm>
          <a:prstGeom prst="rect">
            <a:avLst/>
          </a:prstGeom>
        </p:spPr>
      </p:pic>
      <p:pic>
        <p:nvPicPr>
          <p:cNvPr id="12" name="Picture 11">
            <a:extLst>
              <a:ext uri="{FF2B5EF4-FFF2-40B4-BE49-F238E27FC236}">
                <a16:creationId xmlns:a16="http://schemas.microsoft.com/office/drawing/2014/main" id="{7725A538-3D75-4625-B9DB-D224BF254336}"/>
              </a:ext>
            </a:extLst>
          </p:cNvPr>
          <p:cNvPicPr>
            <a:picLocks noChangeAspect="1"/>
          </p:cNvPicPr>
          <p:nvPr/>
        </p:nvPicPr>
        <p:blipFill>
          <a:blip r:embed="rId4"/>
          <a:stretch>
            <a:fillRect/>
          </a:stretch>
        </p:blipFill>
        <p:spPr>
          <a:xfrm>
            <a:off x="3037613" y="4292481"/>
            <a:ext cx="2305168" cy="2292468"/>
          </a:xfrm>
          <a:prstGeom prst="rect">
            <a:avLst/>
          </a:prstGeom>
        </p:spPr>
      </p:pic>
      <p:sp>
        <p:nvSpPr>
          <p:cNvPr id="13" name="TextBox 12">
            <a:extLst>
              <a:ext uri="{FF2B5EF4-FFF2-40B4-BE49-F238E27FC236}">
                <a16:creationId xmlns:a16="http://schemas.microsoft.com/office/drawing/2014/main" id="{25752274-6E4C-487B-AEE5-963C9D98D896}"/>
              </a:ext>
            </a:extLst>
          </p:cNvPr>
          <p:cNvSpPr txBox="1"/>
          <p:nvPr/>
        </p:nvSpPr>
        <p:spPr>
          <a:xfrm>
            <a:off x="3037613" y="3818647"/>
            <a:ext cx="2646948" cy="369332"/>
          </a:xfrm>
          <a:prstGeom prst="rect">
            <a:avLst/>
          </a:prstGeom>
          <a:noFill/>
        </p:spPr>
        <p:txBody>
          <a:bodyPr wrap="square" rtlCol="0">
            <a:spAutoFit/>
          </a:bodyPr>
          <a:lstStyle/>
          <a:p>
            <a:r>
              <a:rPr lang="en-IN" dirty="0"/>
              <a:t>Delete 30</a:t>
            </a:r>
          </a:p>
        </p:txBody>
      </p:sp>
      <p:pic>
        <p:nvPicPr>
          <p:cNvPr id="15" name="Picture 14">
            <a:extLst>
              <a:ext uri="{FF2B5EF4-FFF2-40B4-BE49-F238E27FC236}">
                <a16:creationId xmlns:a16="http://schemas.microsoft.com/office/drawing/2014/main" id="{D911B21A-4A44-4977-BB0B-B0C7CAEE42D5}"/>
              </a:ext>
            </a:extLst>
          </p:cNvPr>
          <p:cNvPicPr>
            <a:picLocks noChangeAspect="1"/>
          </p:cNvPicPr>
          <p:nvPr/>
        </p:nvPicPr>
        <p:blipFill>
          <a:blip r:embed="rId5"/>
          <a:stretch>
            <a:fillRect/>
          </a:stretch>
        </p:blipFill>
        <p:spPr>
          <a:xfrm>
            <a:off x="2964484" y="4266755"/>
            <a:ext cx="2368672" cy="2254366"/>
          </a:xfrm>
          <a:prstGeom prst="rect">
            <a:avLst/>
          </a:prstGeom>
        </p:spPr>
      </p:pic>
      <p:sp>
        <p:nvSpPr>
          <p:cNvPr id="18" name="TextBox 17">
            <a:extLst>
              <a:ext uri="{FF2B5EF4-FFF2-40B4-BE49-F238E27FC236}">
                <a16:creationId xmlns:a16="http://schemas.microsoft.com/office/drawing/2014/main" id="{346447C1-D735-4012-A43E-23902C156943}"/>
              </a:ext>
            </a:extLst>
          </p:cNvPr>
          <p:cNvSpPr txBox="1"/>
          <p:nvPr/>
        </p:nvSpPr>
        <p:spPr>
          <a:xfrm>
            <a:off x="5712801" y="3967372"/>
            <a:ext cx="2646948" cy="369332"/>
          </a:xfrm>
          <a:prstGeom prst="rect">
            <a:avLst/>
          </a:prstGeom>
          <a:noFill/>
        </p:spPr>
        <p:txBody>
          <a:bodyPr wrap="square" rtlCol="0">
            <a:spAutoFit/>
          </a:bodyPr>
          <a:lstStyle/>
          <a:p>
            <a:r>
              <a:rPr lang="en-IN" dirty="0"/>
              <a:t>Delete 25</a:t>
            </a:r>
          </a:p>
        </p:txBody>
      </p:sp>
      <p:pic>
        <p:nvPicPr>
          <p:cNvPr id="32" name="Picture 31">
            <a:extLst>
              <a:ext uri="{FF2B5EF4-FFF2-40B4-BE49-F238E27FC236}">
                <a16:creationId xmlns:a16="http://schemas.microsoft.com/office/drawing/2014/main" id="{7E8FB64B-FA28-4E30-8725-29BFBFAC437E}"/>
              </a:ext>
            </a:extLst>
          </p:cNvPr>
          <p:cNvPicPr>
            <a:picLocks noChangeAspect="1"/>
          </p:cNvPicPr>
          <p:nvPr/>
        </p:nvPicPr>
        <p:blipFill>
          <a:blip r:embed="rId6"/>
          <a:stretch>
            <a:fillRect/>
          </a:stretch>
        </p:blipFill>
        <p:spPr>
          <a:xfrm>
            <a:off x="8885165" y="4152038"/>
            <a:ext cx="2482978" cy="2235315"/>
          </a:xfrm>
          <a:prstGeom prst="rect">
            <a:avLst/>
          </a:prstGeom>
        </p:spPr>
      </p:pic>
      <p:sp>
        <p:nvSpPr>
          <p:cNvPr id="33" name="TextBox 32">
            <a:extLst>
              <a:ext uri="{FF2B5EF4-FFF2-40B4-BE49-F238E27FC236}">
                <a16:creationId xmlns:a16="http://schemas.microsoft.com/office/drawing/2014/main" id="{47012C92-9E41-49EC-BBB7-8E190CE67BDF}"/>
              </a:ext>
            </a:extLst>
          </p:cNvPr>
          <p:cNvSpPr txBox="1"/>
          <p:nvPr/>
        </p:nvSpPr>
        <p:spPr>
          <a:xfrm>
            <a:off x="8837460" y="3856407"/>
            <a:ext cx="2646948" cy="369332"/>
          </a:xfrm>
          <a:prstGeom prst="rect">
            <a:avLst/>
          </a:prstGeom>
          <a:noFill/>
        </p:spPr>
        <p:txBody>
          <a:bodyPr wrap="square" rtlCol="0">
            <a:spAutoFit/>
          </a:bodyPr>
          <a:lstStyle/>
          <a:p>
            <a:r>
              <a:rPr lang="en-IN" dirty="0"/>
              <a:t>Delete 25</a:t>
            </a:r>
          </a:p>
        </p:txBody>
      </p:sp>
      <p:pic>
        <p:nvPicPr>
          <p:cNvPr id="35" name="Picture 34">
            <a:extLst>
              <a:ext uri="{FF2B5EF4-FFF2-40B4-BE49-F238E27FC236}">
                <a16:creationId xmlns:a16="http://schemas.microsoft.com/office/drawing/2014/main" id="{8F993096-86D1-406C-9F23-2B69511DB9CC}"/>
              </a:ext>
            </a:extLst>
          </p:cNvPr>
          <p:cNvPicPr>
            <a:picLocks noChangeAspect="1"/>
          </p:cNvPicPr>
          <p:nvPr/>
        </p:nvPicPr>
        <p:blipFill>
          <a:blip r:embed="rId7"/>
          <a:stretch>
            <a:fillRect/>
          </a:stretch>
        </p:blipFill>
        <p:spPr>
          <a:xfrm>
            <a:off x="8959092" y="4152038"/>
            <a:ext cx="2495678" cy="2101958"/>
          </a:xfrm>
          <a:prstGeom prst="rect">
            <a:avLst/>
          </a:prstGeom>
        </p:spPr>
      </p:pic>
      <p:pic>
        <p:nvPicPr>
          <p:cNvPr id="39" name="Picture 38">
            <a:extLst>
              <a:ext uri="{FF2B5EF4-FFF2-40B4-BE49-F238E27FC236}">
                <a16:creationId xmlns:a16="http://schemas.microsoft.com/office/drawing/2014/main" id="{F0C78276-0DF2-45B3-8B57-8578BF38C4F3}"/>
              </a:ext>
            </a:extLst>
          </p:cNvPr>
          <p:cNvPicPr>
            <a:picLocks noChangeAspect="1"/>
          </p:cNvPicPr>
          <p:nvPr/>
        </p:nvPicPr>
        <p:blipFill>
          <a:blip r:embed="rId8"/>
          <a:stretch>
            <a:fillRect/>
          </a:stretch>
        </p:blipFill>
        <p:spPr>
          <a:xfrm>
            <a:off x="8922415" y="4171188"/>
            <a:ext cx="2514729" cy="2082907"/>
          </a:xfrm>
          <a:prstGeom prst="rect">
            <a:avLst/>
          </a:prstGeom>
        </p:spPr>
      </p:pic>
      <p:pic>
        <p:nvPicPr>
          <p:cNvPr id="41" name="Picture 40">
            <a:extLst>
              <a:ext uri="{FF2B5EF4-FFF2-40B4-BE49-F238E27FC236}">
                <a16:creationId xmlns:a16="http://schemas.microsoft.com/office/drawing/2014/main" id="{8EBB95F3-F6C6-4AC9-92D3-4D757F0F35BB}"/>
              </a:ext>
            </a:extLst>
          </p:cNvPr>
          <p:cNvPicPr>
            <a:picLocks noChangeAspect="1"/>
          </p:cNvPicPr>
          <p:nvPr/>
        </p:nvPicPr>
        <p:blipFill>
          <a:blip r:embed="rId9"/>
          <a:stretch>
            <a:fillRect/>
          </a:stretch>
        </p:blipFill>
        <p:spPr>
          <a:xfrm>
            <a:off x="8879924" y="4151938"/>
            <a:ext cx="2578233" cy="2152761"/>
          </a:xfrm>
          <a:prstGeom prst="rect">
            <a:avLst/>
          </a:prstGeom>
        </p:spPr>
      </p:pic>
      <p:pic>
        <p:nvPicPr>
          <p:cNvPr id="43" name="Picture 42">
            <a:extLst>
              <a:ext uri="{FF2B5EF4-FFF2-40B4-BE49-F238E27FC236}">
                <a16:creationId xmlns:a16="http://schemas.microsoft.com/office/drawing/2014/main" id="{6A31E9CD-5110-48BE-99AE-A756E1530B66}"/>
              </a:ext>
            </a:extLst>
          </p:cNvPr>
          <p:cNvPicPr>
            <a:picLocks noChangeAspect="1"/>
          </p:cNvPicPr>
          <p:nvPr/>
        </p:nvPicPr>
        <p:blipFill>
          <a:blip r:embed="rId10"/>
          <a:stretch>
            <a:fillRect/>
          </a:stretch>
        </p:blipFill>
        <p:spPr>
          <a:xfrm>
            <a:off x="8940041" y="4180664"/>
            <a:ext cx="2533780" cy="2114659"/>
          </a:xfrm>
          <a:prstGeom prst="rect">
            <a:avLst/>
          </a:prstGeom>
        </p:spPr>
      </p:pic>
      <p:pic>
        <p:nvPicPr>
          <p:cNvPr id="55" name="Picture 54">
            <a:extLst>
              <a:ext uri="{FF2B5EF4-FFF2-40B4-BE49-F238E27FC236}">
                <a16:creationId xmlns:a16="http://schemas.microsoft.com/office/drawing/2014/main" id="{D646CD8E-0173-4D21-88A8-263D07DFCF81}"/>
              </a:ext>
            </a:extLst>
          </p:cNvPr>
          <p:cNvPicPr>
            <a:picLocks noChangeAspect="1"/>
          </p:cNvPicPr>
          <p:nvPr/>
        </p:nvPicPr>
        <p:blipFill>
          <a:blip r:embed="rId11"/>
          <a:stretch>
            <a:fillRect/>
          </a:stretch>
        </p:blipFill>
        <p:spPr>
          <a:xfrm>
            <a:off x="5862956" y="4374029"/>
            <a:ext cx="1768425" cy="1727927"/>
          </a:xfrm>
          <a:prstGeom prst="rect">
            <a:avLst/>
          </a:prstGeom>
        </p:spPr>
      </p:pic>
      <p:pic>
        <p:nvPicPr>
          <p:cNvPr id="57" name="Picture 56">
            <a:extLst>
              <a:ext uri="{FF2B5EF4-FFF2-40B4-BE49-F238E27FC236}">
                <a16:creationId xmlns:a16="http://schemas.microsoft.com/office/drawing/2014/main" id="{263D56FD-6474-4BFB-B6CA-38548C713ED7}"/>
              </a:ext>
            </a:extLst>
          </p:cNvPr>
          <p:cNvPicPr>
            <a:picLocks noChangeAspect="1"/>
          </p:cNvPicPr>
          <p:nvPr/>
        </p:nvPicPr>
        <p:blipFill>
          <a:blip r:embed="rId12"/>
          <a:stretch>
            <a:fillRect/>
          </a:stretch>
        </p:blipFill>
        <p:spPr>
          <a:xfrm>
            <a:off x="5703006" y="4349635"/>
            <a:ext cx="2174358" cy="2271614"/>
          </a:xfrm>
          <a:prstGeom prst="rect">
            <a:avLst/>
          </a:prstGeom>
        </p:spPr>
      </p:pic>
      <p:pic>
        <p:nvPicPr>
          <p:cNvPr id="59" name="Picture 58">
            <a:extLst>
              <a:ext uri="{FF2B5EF4-FFF2-40B4-BE49-F238E27FC236}">
                <a16:creationId xmlns:a16="http://schemas.microsoft.com/office/drawing/2014/main" id="{5F377942-24D7-48E2-9FED-02F92D8F2E14}"/>
              </a:ext>
            </a:extLst>
          </p:cNvPr>
          <p:cNvPicPr>
            <a:picLocks noChangeAspect="1"/>
          </p:cNvPicPr>
          <p:nvPr/>
        </p:nvPicPr>
        <p:blipFill>
          <a:blip r:embed="rId13"/>
          <a:stretch>
            <a:fillRect/>
          </a:stretch>
        </p:blipFill>
        <p:spPr>
          <a:xfrm>
            <a:off x="5704931" y="4313141"/>
            <a:ext cx="2164758" cy="2290860"/>
          </a:xfrm>
          <a:prstGeom prst="rect">
            <a:avLst/>
          </a:prstGeom>
        </p:spPr>
      </p:pic>
      <p:pic>
        <p:nvPicPr>
          <p:cNvPr id="61" name="Picture 60">
            <a:extLst>
              <a:ext uri="{FF2B5EF4-FFF2-40B4-BE49-F238E27FC236}">
                <a16:creationId xmlns:a16="http://schemas.microsoft.com/office/drawing/2014/main" id="{3A27B968-0099-4EF4-9465-0A50A93A8B58}"/>
              </a:ext>
            </a:extLst>
          </p:cNvPr>
          <p:cNvPicPr>
            <a:picLocks noChangeAspect="1"/>
          </p:cNvPicPr>
          <p:nvPr/>
        </p:nvPicPr>
        <p:blipFill>
          <a:blip r:embed="rId14"/>
          <a:stretch>
            <a:fillRect/>
          </a:stretch>
        </p:blipFill>
        <p:spPr>
          <a:xfrm>
            <a:off x="5691100" y="4313141"/>
            <a:ext cx="2162580" cy="2281174"/>
          </a:xfrm>
          <a:prstGeom prst="rect">
            <a:avLst/>
          </a:prstGeom>
        </p:spPr>
      </p:pic>
      <p:pic>
        <p:nvPicPr>
          <p:cNvPr id="63" name="Picture 62">
            <a:extLst>
              <a:ext uri="{FF2B5EF4-FFF2-40B4-BE49-F238E27FC236}">
                <a16:creationId xmlns:a16="http://schemas.microsoft.com/office/drawing/2014/main" id="{BC06AD19-31B9-4EE5-B00A-EE43E307992F}"/>
              </a:ext>
            </a:extLst>
          </p:cNvPr>
          <p:cNvPicPr>
            <a:picLocks noChangeAspect="1"/>
          </p:cNvPicPr>
          <p:nvPr/>
        </p:nvPicPr>
        <p:blipFill>
          <a:blip r:embed="rId15"/>
          <a:stretch>
            <a:fillRect/>
          </a:stretch>
        </p:blipFill>
        <p:spPr>
          <a:xfrm>
            <a:off x="5686070" y="4264177"/>
            <a:ext cx="2209036" cy="2360143"/>
          </a:xfrm>
          <a:prstGeom prst="rect">
            <a:avLst/>
          </a:prstGeom>
        </p:spPr>
      </p:pic>
      <p:sp>
        <p:nvSpPr>
          <p:cNvPr id="64" name="TextBox 63">
            <a:extLst>
              <a:ext uri="{FF2B5EF4-FFF2-40B4-BE49-F238E27FC236}">
                <a16:creationId xmlns:a16="http://schemas.microsoft.com/office/drawing/2014/main" id="{D22C262A-DFB9-413E-9A0C-F57023A01477}"/>
              </a:ext>
            </a:extLst>
          </p:cNvPr>
          <p:cNvSpPr txBox="1"/>
          <p:nvPr/>
        </p:nvSpPr>
        <p:spPr>
          <a:xfrm>
            <a:off x="5540300" y="6244986"/>
            <a:ext cx="2646948" cy="369332"/>
          </a:xfrm>
          <a:prstGeom prst="rect">
            <a:avLst/>
          </a:prstGeom>
          <a:noFill/>
        </p:spPr>
        <p:txBody>
          <a:bodyPr wrap="square" rtlCol="0">
            <a:spAutoFit/>
          </a:bodyPr>
          <a:lstStyle/>
          <a:p>
            <a:r>
              <a:rPr lang="en-IN" dirty="0"/>
              <a:t>Case 3</a:t>
            </a:r>
          </a:p>
        </p:txBody>
      </p:sp>
      <p:pic>
        <p:nvPicPr>
          <p:cNvPr id="66" name="Picture 65">
            <a:extLst>
              <a:ext uri="{FF2B5EF4-FFF2-40B4-BE49-F238E27FC236}">
                <a16:creationId xmlns:a16="http://schemas.microsoft.com/office/drawing/2014/main" id="{359F5C80-5413-4D4A-B3AF-166D937CA823}"/>
              </a:ext>
            </a:extLst>
          </p:cNvPr>
          <p:cNvPicPr>
            <a:picLocks noChangeAspect="1"/>
          </p:cNvPicPr>
          <p:nvPr/>
        </p:nvPicPr>
        <p:blipFill>
          <a:blip r:embed="rId16"/>
          <a:stretch>
            <a:fillRect/>
          </a:stretch>
        </p:blipFill>
        <p:spPr>
          <a:xfrm>
            <a:off x="5606253" y="4273430"/>
            <a:ext cx="2271111" cy="2381003"/>
          </a:xfrm>
          <a:prstGeom prst="rect">
            <a:avLst/>
          </a:prstGeom>
        </p:spPr>
      </p:pic>
    </p:spTree>
    <p:extLst>
      <p:ext uri="{BB962C8B-B14F-4D97-AF65-F5344CB8AC3E}">
        <p14:creationId xmlns:p14="http://schemas.microsoft.com/office/powerpoint/2010/main" val="2224836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5"/>
                                        </p:tgtEl>
                                        <p:attrNameLst>
                                          <p:attrName>style.visibility</p:attrName>
                                        </p:attrNameLst>
                                      </p:cBhvr>
                                      <p:to>
                                        <p:strVal val="visible"/>
                                      </p:to>
                                    </p:set>
                                    <p:animEffect transition="in" filter="fade">
                                      <p:cBhvr>
                                        <p:cTn id="42" dur="500"/>
                                        <p:tgtEl>
                                          <p:spTgt spid="5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7"/>
                                        </p:tgtEl>
                                        <p:attrNameLst>
                                          <p:attrName>style.visibility</p:attrName>
                                        </p:attrNameLst>
                                      </p:cBhvr>
                                      <p:to>
                                        <p:strVal val="visible"/>
                                      </p:to>
                                    </p:set>
                                    <p:animEffect transition="in" filter="fade">
                                      <p:cBhvr>
                                        <p:cTn id="52" dur="500"/>
                                        <p:tgtEl>
                                          <p:spTgt spid="5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9"/>
                                        </p:tgtEl>
                                        <p:attrNameLst>
                                          <p:attrName>style.visibility</p:attrName>
                                        </p:attrNameLst>
                                      </p:cBhvr>
                                      <p:to>
                                        <p:strVal val="visible"/>
                                      </p:to>
                                    </p:set>
                                    <p:animEffect transition="in" filter="fade">
                                      <p:cBhvr>
                                        <p:cTn id="57" dur="500"/>
                                        <p:tgtEl>
                                          <p:spTgt spid="5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64"/>
                                        </p:tgtEl>
                                        <p:attrNameLst>
                                          <p:attrName>style.visibility</p:attrName>
                                        </p:attrNameLst>
                                      </p:cBhvr>
                                      <p:to>
                                        <p:strVal val="visible"/>
                                      </p:to>
                                    </p:set>
                                    <p:animEffect transition="in" filter="fade">
                                      <p:cBhvr>
                                        <p:cTn id="62" dur="500"/>
                                        <p:tgtEl>
                                          <p:spTgt spid="6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fade">
                                      <p:cBhvr>
                                        <p:cTn id="67" dur="500"/>
                                        <p:tgtEl>
                                          <p:spTgt spid="61"/>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3"/>
                                        </p:tgtEl>
                                        <p:attrNameLst>
                                          <p:attrName>style.visibility</p:attrName>
                                        </p:attrNameLst>
                                      </p:cBhvr>
                                      <p:to>
                                        <p:strVal val="visible"/>
                                      </p:to>
                                    </p:set>
                                    <p:animEffect transition="in" filter="fade">
                                      <p:cBhvr>
                                        <p:cTn id="72" dur="500"/>
                                        <p:tgtEl>
                                          <p:spTgt spid="63"/>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66"/>
                                        </p:tgtEl>
                                        <p:attrNameLst>
                                          <p:attrName>style.visibility</p:attrName>
                                        </p:attrNameLst>
                                      </p:cBhvr>
                                      <p:to>
                                        <p:strVal val="visible"/>
                                      </p:to>
                                    </p:set>
                                    <p:animEffect transition="in" filter="fade">
                                      <p:cBhvr>
                                        <p:cTn id="77" dur="500"/>
                                        <p:tgtEl>
                                          <p:spTgt spid="6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500"/>
                                        <p:tgtEl>
                                          <p:spTgt spid="32"/>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500"/>
                                        <p:tgtEl>
                                          <p:spTgt spid="33"/>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fade">
                                      <p:cBhvr>
                                        <p:cTn id="92" dur="500"/>
                                        <p:tgtEl>
                                          <p:spTgt spid="35"/>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39"/>
                                        </p:tgtEl>
                                        <p:attrNameLst>
                                          <p:attrName>style.visibility</p:attrName>
                                        </p:attrNameLst>
                                      </p:cBhvr>
                                      <p:to>
                                        <p:strVal val="visible"/>
                                      </p:to>
                                    </p:set>
                                    <p:animEffect transition="in" filter="fade">
                                      <p:cBhvr>
                                        <p:cTn id="97" dur="500"/>
                                        <p:tgtEl>
                                          <p:spTgt spid="39"/>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500"/>
                                        <p:tgtEl>
                                          <p:spTgt spid="41"/>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43"/>
                                        </p:tgtEl>
                                        <p:attrNameLst>
                                          <p:attrName>style.visibility</p:attrName>
                                        </p:attrNameLst>
                                      </p:cBhvr>
                                      <p:to>
                                        <p:strVal val="visible"/>
                                      </p:to>
                                    </p:set>
                                    <p:animEffect transition="in" filter="fade">
                                      <p:cBhvr>
                                        <p:cTn id="10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3" grpId="0"/>
      <p:bldP spid="18" grpId="0"/>
      <p:bldP spid="33" grpId="0"/>
      <p:bldP spid="6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99C28-6753-4085-A6B0-6AAE3CEEF4CD}"/>
              </a:ext>
            </a:extLst>
          </p:cNvPr>
          <p:cNvSpPr>
            <a:spLocks noGrp="1"/>
          </p:cNvSpPr>
          <p:nvPr>
            <p:ph type="title"/>
          </p:nvPr>
        </p:nvSpPr>
        <p:spPr/>
        <p:txBody>
          <a:bodyPr/>
          <a:lstStyle/>
          <a:p>
            <a:r>
              <a:rPr lang="en-IN" dirty="0"/>
              <a:t>Deletion…continue </a:t>
            </a:r>
          </a:p>
        </p:txBody>
      </p:sp>
      <p:sp>
        <p:nvSpPr>
          <p:cNvPr id="3" name="Content Placeholder 2">
            <a:extLst>
              <a:ext uri="{FF2B5EF4-FFF2-40B4-BE49-F238E27FC236}">
                <a16:creationId xmlns:a16="http://schemas.microsoft.com/office/drawing/2014/main" id="{FE8A55D7-E1E5-45AC-9FF0-0617E1C3E2E6}"/>
              </a:ext>
            </a:extLst>
          </p:cNvPr>
          <p:cNvSpPr>
            <a:spLocks noGrp="1"/>
          </p:cNvSpPr>
          <p:nvPr>
            <p:ph idx="1"/>
          </p:nvPr>
        </p:nvSpPr>
        <p:spPr>
          <a:xfrm>
            <a:off x="-481262" y="861193"/>
            <a:ext cx="8629582" cy="1323207"/>
          </a:xfrm>
        </p:spPr>
        <p:txBody>
          <a:bodyPr/>
          <a:lstStyle/>
          <a:p>
            <a:pPr lvl="1"/>
            <a:r>
              <a:rPr lang="en-IN" dirty="0">
                <a:highlight>
                  <a:srgbClr val="FFFF00"/>
                </a:highlight>
              </a:rPr>
              <a:t>Case 4:</a:t>
            </a:r>
            <a:r>
              <a:rPr lang="en-IN" dirty="0"/>
              <a:t> if DB’s sibling is </a:t>
            </a:r>
            <a:r>
              <a:rPr lang="en-IN" dirty="0">
                <a:highlight>
                  <a:srgbClr val="FF0000"/>
                </a:highlight>
              </a:rPr>
              <a:t>red</a:t>
            </a:r>
          </a:p>
          <a:p>
            <a:pPr lvl="2"/>
            <a:r>
              <a:rPr lang="en-IN" dirty="0"/>
              <a:t>Swap </a:t>
            </a:r>
            <a:r>
              <a:rPr lang="en-IN" dirty="0" err="1"/>
              <a:t>colors</a:t>
            </a:r>
            <a:r>
              <a:rPr lang="en-IN" dirty="0"/>
              <a:t> of DB’s parent and DB’s sibling</a:t>
            </a:r>
          </a:p>
          <a:p>
            <a:pPr lvl="2"/>
            <a:r>
              <a:rPr lang="en-IN" dirty="0"/>
              <a:t>Rotate parents in DB’s direction</a:t>
            </a:r>
          </a:p>
          <a:p>
            <a:pPr lvl="2"/>
            <a:r>
              <a:rPr lang="en-IN" dirty="0"/>
              <a:t>Reapply the suitable case</a:t>
            </a:r>
          </a:p>
          <a:p>
            <a:pPr lvl="2"/>
            <a:endParaRPr lang="en-IN" dirty="0"/>
          </a:p>
        </p:txBody>
      </p:sp>
      <p:pic>
        <p:nvPicPr>
          <p:cNvPr id="5" name="Picture 4">
            <a:extLst>
              <a:ext uri="{FF2B5EF4-FFF2-40B4-BE49-F238E27FC236}">
                <a16:creationId xmlns:a16="http://schemas.microsoft.com/office/drawing/2014/main" id="{18C0A277-AD76-48F3-BACA-784943A48309}"/>
              </a:ext>
            </a:extLst>
          </p:cNvPr>
          <p:cNvPicPr>
            <a:picLocks noChangeAspect="1"/>
          </p:cNvPicPr>
          <p:nvPr/>
        </p:nvPicPr>
        <p:blipFill>
          <a:blip r:embed="rId2"/>
          <a:stretch>
            <a:fillRect/>
          </a:stretch>
        </p:blipFill>
        <p:spPr>
          <a:xfrm>
            <a:off x="5836216" y="1174532"/>
            <a:ext cx="2673487" cy="2324219"/>
          </a:xfrm>
          <a:prstGeom prst="rect">
            <a:avLst/>
          </a:prstGeom>
        </p:spPr>
      </p:pic>
      <p:sp>
        <p:nvSpPr>
          <p:cNvPr id="6" name="TextBox 5">
            <a:extLst>
              <a:ext uri="{FF2B5EF4-FFF2-40B4-BE49-F238E27FC236}">
                <a16:creationId xmlns:a16="http://schemas.microsoft.com/office/drawing/2014/main" id="{7C985B8A-794B-456D-8BDB-445D83125CE1}"/>
              </a:ext>
            </a:extLst>
          </p:cNvPr>
          <p:cNvSpPr txBox="1"/>
          <p:nvPr/>
        </p:nvSpPr>
        <p:spPr>
          <a:xfrm>
            <a:off x="6543040" y="757075"/>
            <a:ext cx="1061509" cy="369332"/>
          </a:xfrm>
          <a:prstGeom prst="rect">
            <a:avLst/>
          </a:prstGeom>
          <a:noFill/>
        </p:spPr>
        <p:txBody>
          <a:bodyPr wrap="none" rtlCol="0">
            <a:spAutoFit/>
          </a:bodyPr>
          <a:lstStyle/>
          <a:p>
            <a:r>
              <a:rPr lang="en-IN" dirty="0"/>
              <a:t>Delete 15</a:t>
            </a:r>
          </a:p>
        </p:txBody>
      </p:sp>
      <p:pic>
        <p:nvPicPr>
          <p:cNvPr id="8" name="Picture 7">
            <a:extLst>
              <a:ext uri="{FF2B5EF4-FFF2-40B4-BE49-F238E27FC236}">
                <a16:creationId xmlns:a16="http://schemas.microsoft.com/office/drawing/2014/main" id="{4C356C82-A01C-4D44-A5F9-93A9017FAB7E}"/>
              </a:ext>
            </a:extLst>
          </p:cNvPr>
          <p:cNvPicPr>
            <a:picLocks noChangeAspect="1"/>
          </p:cNvPicPr>
          <p:nvPr/>
        </p:nvPicPr>
        <p:blipFill>
          <a:blip r:embed="rId3"/>
          <a:stretch>
            <a:fillRect/>
          </a:stretch>
        </p:blipFill>
        <p:spPr>
          <a:xfrm>
            <a:off x="5772449" y="1212497"/>
            <a:ext cx="2747414" cy="2324219"/>
          </a:xfrm>
          <a:prstGeom prst="rect">
            <a:avLst/>
          </a:prstGeom>
        </p:spPr>
      </p:pic>
      <p:pic>
        <p:nvPicPr>
          <p:cNvPr id="10" name="Picture 9">
            <a:extLst>
              <a:ext uri="{FF2B5EF4-FFF2-40B4-BE49-F238E27FC236}">
                <a16:creationId xmlns:a16="http://schemas.microsoft.com/office/drawing/2014/main" id="{85C5203B-1FF7-4125-88DE-B4ED64452EBB}"/>
              </a:ext>
            </a:extLst>
          </p:cNvPr>
          <p:cNvPicPr>
            <a:picLocks noChangeAspect="1"/>
          </p:cNvPicPr>
          <p:nvPr/>
        </p:nvPicPr>
        <p:blipFill>
          <a:blip r:embed="rId4"/>
          <a:stretch>
            <a:fillRect/>
          </a:stretch>
        </p:blipFill>
        <p:spPr>
          <a:xfrm>
            <a:off x="5831137" y="1194850"/>
            <a:ext cx="2730788" cy="2324219"/>
          </a:xfrm>
          <a:prstGeom prst="rect">
            <a:avLst/>
          </a:prstGeom>
        </p:spPr>
      </p:pic>
      <p:pic>
        <p:nvPicPr>
          <p:cNvPr id="15" name="Picture 14">
            <a:extLst>
              <a:ext uri="{FF2B5EF4-FFF2-40B4-BE49-F238E27FC236}">
                <a16:creationId xmlns:a16="http://schemas.microsoft.com/office/drawing/2014/main" id="{C9995261-BB11-41F1-A266-8A3A797B234B}"/>
              </a:ext>
            </a:extLst>
          </p:cNvPr>
          <p:cNvPicPr>
            <a:picLocks noChangeAspect="1"/>
          </p:cNvPicPr>
          <p:nvPr/>
        </p:nvPicPr>
        <p:blipFill>
          <a:blip r:embed="rId5"/>
          <a:stretch>
            <a:fillRect/>
          </a:stretch>
        </p:blipFill>
        <p:spPr>
          <a:xfrm>
            <a:off x="5733491" y="1195375"/>
            <a:ext cx="3095549" cy="2384871"/>
          </a:xfrm>
          <a:prstGeom prst="rect">
            <a:avLst/>
          </a:prstGeom>
        </p:spPr>
      </p:pic>
      <p:sp>
        <p:nvSpPr>
          <p:cNvPr id="16" name="TextBox 15">
            <a:extLst>
              <a:ext uri="{FF2B5EF4-FFF2-40B4-BE49-F238E27FC236}">
                <a16:creationId xmlns:a16="http://schemas.microsoft.com/office/drawing/2014/main" id="{D066D156-20B5-4EF7-815D-2BC14835E8EE}"/>
              </a:ext>
            </a:extLst>
          </p:cNvPr>
          <p:cNvSpPr txBox="1"/>
          <p:nvPr/>
        </p:nvSpPr>
        <p:spPr>
          <a:xfrm>
            <a:off x="5836216" y="2819555"/>
            <a:ext cx="809837" cy="369332"/>
          </a:xfrm>
          <a:prstGeom prst="rect">
            <a:avLst/>
          </a:prstGeom>
          <a:noFill/>
        </p:spPr>
        <p:txBody>
          <a:bodyPr wrap="none" rtlCol="0">
            <a:spAutoFit/>
          </a:bodyPr>
          <a:lstStyle/>
          <a:p>
            <a:r>
              <a:rPr lang="en-IN" dirty="0"/>
              <a:t>Case 3</a:t>
            </a:r>
          </a:p>
        </p:txBody>
      </p:sp>
      <p:pic>
        <p:nvPicPr>
          <p:cNvPr id="18" name="Picture 17">
            <a:extLst>
              <a:ext uri="{FF2B5EF4-FFF2-40B4-BE49-F238E27FC236}">
                <a16:creationId xmlns:a16="http://schemas.microsoft.com/office/drawing/2014/main" id="{3E0B9319-23AE-4AB2-ADE3-8A1A69B2B3E6}"/>
              </a:ext>
            </a:extLst>
          </p:cNvPr>
          <p:cNvPicPr>
            <a:picLocks noChangeAspect="1"/>
          </p:cNvPicPr>
          <p:nvPr/>
        </p:nvPicPr>
        <p:blipFill>
          <a:blip r:embed="rId6"/>
          <a:stretch>
            <a:fillRect/>
          </a:stretch>
        </p:blipFill>
        <p:spPr>
          <a:xfrm>
            <a:off x="5803640" y="1163101"/>
            <a:ext cx="2706063" cy="2373861"/>
          </a:xfrm>
          <a:prstGeom prst="rect">
            <a:avLst/>
          </a:prstGeom>
        </p:spPr>
      </p:pic>
    </p:spTree>
    <p:extLst>
      <p:ext uri="{BB962C8B-B14F-4D97-AF65-F5344CB8AC3E}">
        <p14:creationId xmlns:p14="http://schemas.microsoft.com/office/powerpoint/2010/main" val="55279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99C28-6753-4085-A6B0-6AAE3CEEF4CD}"/>
              </a:ext>
            </a:extLst>
          </p:cNvPr>
          <p:cNvSpPr>
            <a:spLocks noGrp="1"/>
          </p:cNvSpPr>
          <p:nvPr>
            <p:ph type="title"/>
          </p:nvPr>
        </p:nvSpPr>
        <p:spPr/>
        <p:txBody>
          <a:bodyPr/>
          <a:lstStyle/>
          <a:p>
            <a:r>
              <a:rPr lang="en-IN" dirty="0"/>
              <a:t>Deletion…continue </a:t>
            </a:r>
          </a:p>
        </p:txBody>
      </p:sp>
      <p:sp>
        <p:nvSpPr>
          <p:cNvPr id="3" name="Content Placeholder 2">
            <a:extLst>
              <a:ext uri="{FF2B5EF4-FFF2-40B4-BE49-F238E27FC236}">
                <a16:creationId xmlns:a16="http://schemas.microsoft.com/office/drawing/2014/main" id="{FE8A55D7-E1E5-45AC-9FF0-0617E1C3E2E6}"/>
              </a:ext>
            </a:extLst>
          </p:cNvPr>
          <p:cNvSpPr>
            <a:spLocks noGrp="1"/>
          </p:cNvSpPr>
          <p:nvPr>
            <p:ph idx="1"/>
          </p:nvPr>
        </p:nvSpPr>
        <p:spPr>
          <a:xfrm>
            <a:off x="-481262" y="861193"/>
            <a:ext cx="8629582" cy="1340183"/>
          </a:xfrm>
        </p:spPr>
        <p:txBody>
          <a:bodyPr/>
          <a:lstStyle/>
          <a:p>
            <a:pPr lvl="1"/>
            <a:r>
              <a:rPr lang="en-IN" dirty="0">
                <a:highlight>
                  <a:srgbClr val="FFFF00"/>
                </a:highlight>
              </a:rPr>
              <a:t>Case 5:</a:t>
            </a:r>
            <a:r>
              <a:rPr lang="en-IN" dirty="0"/>
              <a:t> if DB’s sibling is </a:t>
            </a:r>
            <a:r>
              <a:rPr lang="en-IN" dirty="0">
                <a:solidFill>
                  <a:schemeClr val="bg1"/>
                </a:solidFill>
                <a:highlight>
                  <a:srgbClr val="000000"/>
                </a:highlight>
              </a:rPr>
              <a:t>black</a:t>
            </a:r>
            <a:r>
              <a:rPr lang="en-IN" dirty="0"/>
              <a:t>, near nephew is </a:t>
            </a:r>
            <a:r>
              <a:rPr lang="en-IN" dirty="0">
                <a:highlight>
                  <a:srgbClr val="FF0000"/>
                </a:highlight>
              </a:rPr>
              <a:t>red </a:t>
            </a:r>
            <a:r>
              <a:rPr lang="en-IN" dirty="0"/>
              <a:t>and far nephew is </a:t>
            </a:r>
            <a:r>
              <a:rPr lang="en-IN" dirty="0">
                <a:solidFill>
                  <a:schemeClr val="bg1"/>
                </a:solidFill>
                <a:highlight>
                  <a:srgbClr val="000000"/>
                </a:highlight>
              </a:rPr>
              <a:t>black</a:t>
            </a:r>
            <a:r>
              <a:rPr lang="en-IN" dirty="0"/>
              <a:t>, </a:t>
            </a:r>
          </a:p>
          <a:p>
            <a:pPr lvl="2"/>
            <a:r>
              <a:rPr lang="en-IN" dirty="0"/>
              <a:t>Swap </a:t>
            </a:r>
            <a:r>
              <a:rPr lang="en-IN" dirty="0" err="1"/>
              <a:t>color’s</a:t>
            </a:r>
            <a:r>
              <a:rPr lang="en-IN" dirty="0"/>
              <a:t> of DB’s sibling and DB’s near nephew</a:t>
            </a:r>
          </a:p>
          <a:p>
            <a:pPr lvl="2"/>
            <a:r>
              <a:rPr lang="en-IN" dirty="0"/>
              <a:t>Rotate DB’s sibling in the opposite direction of DB</a:t>
            </a:r>
          </a:p>
          <a:p>
            <a:pPr lvl="2"/>
            <a:r>
              <a:rPr lang="en-IN" dirty="0"/>
              <a:t>Apply case 6</a:t>
            </a:r>
          </a:p>
          <a:p>
            <a:pPr lvl="2"/>
            <a:endParaRPr lang="en-IN" dirty="0"/>
          </a:p>
        </p:txBody>
      </p:sp>
      <p:pic>
        <p:nvPicPr>
          <p:cNvPr id="13" name="Picture 12">
            <a:extLst>
              <a:ext uri="{FF2B5EF4-FFF2-40B4-BE49-F238E27FC236}">
                <a16:creationId xmlns:a16="http://schemas.microsoft.com/office/drawing/2014/main" id="{86306673-4A6E-4EF4-BEB1-97EBCBBA95CF}"/>
              </a:ext>
            </a:extLst>
          </p:cNvPr>
          <p:cNvPicPr>
            <a:picLocks noChangeAspect="1"/>
          </p:cNvPicPr>
          <p:nvPr/>
        </p:nvPicPr>
        <p:blipFill>
          <a:blip r:embed="rId2"/>
          <a:stretch>
            <a:fillRect/>
          </a:stretch>
        </p:blipFill>
        <p:spPr>
          <a:xfrm>
            <a:off x="5467252" y="2318962"/>
            <a:ext cx="2681068" cy="2499915"/>
          </a:xfrm>
          <a:prstGeom prst="rect">
            <a:avLst/>
          </a:prstGeom>
        </p:spPr>
      </p:pic>
      <p:sp>
        <p:nvSpPr>
          <p:cNvPr id="14" name="TextBox 13">
            <a:extLst>
              <a:ext uri="{FF2B5EF4-FFF2-40B4-BE49-F238E27FC236}">
                <a16:creationId xmlns:a16="http://schemas.microsoft.com/office/drawing/2014/main" id="{250AC502-DD48-4C7F-B37B-9E913C199F07}"/>
              </a:ext>
            </a:extLst>
          </p:cNvPr>
          <p:cNvSpPr txBox="1"/>
          <p:nvPr/>
        </p:nvSpPr>
        <p:spPr>
          <a:xfrm>
            <a:off x="6188397" y="1954710"/>
            <a:ext cx="944489" cy="369332"/>
          </a:xfrm>
          <a:prstGeom prst="rect">
            <a:avLst/>
          </a:prstGeom>
          <a:noFill/>
        </p:spPr>
        <p:txBody>
          <a:bodyPr wrap="none" rtlCol="0">
            <a:spAutoFit/>
          </a:bodyPr>
          <a:lstStyle/>
          <a:p>
            <a:r>
              <a:rPr lang="en-IN" dirty="0"/>
              <a:t>Delete 1</a:t>
            </a:r>
          </a:p>
        </p:txBody>
      </p:sp>
      <p:pic>
        <p:nvPicPr>
          <p:cNvPr id="16" name="Picture 15">
            <a:extLst>
              <a:ext uri="{FF2B5EF4-FFF2-40B4-BE49-F238E27FC236}">
                <a16:creationId xmlns:a16="http://schemas.microsoft.com/office/drawing/2014/main" id="{ABDADF41-7C24-4E2E-A34B-8FC8933A0517}"/>
              </a:ext>
            </a:extLst>
          </p:cNvPr>
          <p:cNvPicPr>
            <a:picLocks noChangeAspect="1"/>
          </p:cNvPicPr>
          <p:nvPr/>
        </p:nvPicPr>
        <p:blipFill>
          <a:blip r:embed="rId3"/>
          <a:stretch>
            <a:fillRect/>
          </a:stretch>
        </p:blipFill>
        <p:spPr>
          <a:xfrm>
            <a:off x="5339128" y="2275724"/>
            <a:ext cx="2809192" cy="2564592"/>
          </a:xfrm>
          <a:prstGeom prst="rect">
            <a:avLst/>
          </a:prstGeom>
        </p:spPr>
      </p:pic>
      <p:sp>
        <p:nvSpPr>
          <p:cNvPr id="17" name="TextBox 16">
            <a:extLst>
              <a:ext uri="{FF2B5EF4-FFF2-40B4-BE49-F238E27FC236}">
                <a16:creationId xmlns:a16="http://schemas.microsoft.com/office/drawing/2014/main" id="{58EDB509-565C-406B-98FD-4A116DEC68A7}"/>
              </a:ext>
            </a:extLst>
          </p:cNvPr>
          <p:cNvSpPr txBox="1"/>
          <p:nvPr/>
        </p:nvSpPr>
        <p:spPr>
          <a:xfrm>
            <a:off x="5691081" y="4168407"/>
            <a:ext cx="809837" cy="369332"/>
          </a:xfrm>
          <a:prstGeom prst="rect">
            <a:avLst/>
          </a:prstGeom>
          <a:noFill/>
        </p:spPr>
        <p:txBody>
          <a:bodyPr wrap="none" rtlCol="0">
            <a:spAutoFit/>
          </a:bodyPr>
          <a:lstStyle/>
          <a:p>
            <a:r>
              <a:rPr lang="en-IN" dirty="0"/>
              <a:t>Case 3</a:t>
            </a:r>
          </a:p>
        </p:txBody>
      </p:sp>
      <p:pic>
        <p:nvPicPr>
          <p:cNvPr id="21" name="Picture 20">
            <a:extLst>
              <a:ext uri="{FF2B5EF4-FFF2-40B4-BE49-F238E27FC236}">
                <a16:creationId xmlns:a16="http://schemas.microsoft.com/office/drawing/2014/main" id="{844F72F2-D519-4576-B7C4-782AA56C96A1}"/>
              </a:ext>
            </a:extLst>
          </p:cNvPr>
          <p:cNvPicPr>
            <a:picLocks noChangeAspect="1"/>
          </p:cNvPicPr>
          <p:nvPr/>
        </p:nvPicPr>
        <p:blipFill>
          <a:blip r:embed="rId4"/>
          <a:stretch>
            <a:fillRect/>
          </a:stretch>
        </p:blipFill>
        <p:spPr>
          <a:xfrm>
            <a:off x="5371099" y="2272346"/>
            <a:ext cx="2777221" cy="2576189"/>
          </a:xfrm>
          <a:prstGeom prst="rect">
            <a:avLst/>
          </a:prstGeom>
        </p:spPr>
      </p:pic>
      <p:pic>
        <p:nvPicPr>
          <p:cNvPr id="23" name="Picture 22">
            <a:extLst>
              <a:ext uri="{FF2B5EF4-FFF2-40B4-BE49-F238E27FC236}">
                <a16:creationId xmlns:a16="http://schemas.microsoft.com/office/drawing/2014/main" id="{316EBADC-8095-4AEE-BB62-78877B6035CB}"/>
              </a:ext>
            </a:extLst>
          </p:cNvPr>
          <p:cNvPicPr>
            <a:picLocks noChangeAspect="1"/>
          </p:cNvPicPr>
          <p:nvPr/>
        </p:nvPicPr>
        <p:blipFill>
          <a:blip r:embed="rId5"/>
          <a:stretch>
            <a:fillRect/>
          </a:stretch>
        </p:blipFill>
        <p:spPr>
          <a:xfrm>
            <a:off x="5389961" y="2298642"/>
            <a:ext cx="2777221" cy="2620863"/>
          </a:xfrm>
          <a:prstGeom prst="rect">
            <a:avLst/>
          </a:prstGeom>
        </p:spPr>
      </p:pic>
      <p:sp>
        <p:nvSpPr>
          <p:cNvPr id="25" name="TextBox 24">
            <a:extLst>
              <a:ext uri="{FF2B5EF4-FFF2-40B4-BE49-F238E27FC236}">
                <a16:creationId xmlns:a16="http://schemas.microsoft.com/office/drawing/2014/main" id="{378FC788-7197-425B-84CC-BEC04E90AC6D}"/>
              </a:ext>
            </a:extLst>
          </p:cNvPr>
          <p:cNvSpPr txBox="1"/>
          <p:nvPr/>
        </p:nvSpPr>
        <p:spPr>
          <a:xfrm>
            <a:off x="-374963" y="4818877"/>
            <a:ext cx="6339840" cy="1477328"/>
          </a:xfrm>
          <a:prstGeom prst="rect">
            <a:avLst/>
          </a:prstGeom>
          <a:noFill/>
        </p:spPr>
        <p:txBody>
          <a:bodyPr wrap="square">
            <a:spAutoFit/>
          </a:bodyPr>
          <a:lstStyle/>
          <a:p>
            <a:pPr marL="742950" lvl="1" indent="-285750">
              <a:buFont typeface="Wingdings" panose="05000000000000000000" pitchFamily="2" charset="2"/>
              <a:buChar char="ü"/>
            </a:pPr>
            <a:r>
              <a:rPr lang="en-IN" dirty="0">
                <a:highlight>
                  <a:srgbClr val="FFFF00"/>
                </a:highlight>
              </a:rPr>
              <a:t>Case 6:</a:t>
            </a:r>
            <a:r>
              <a:rPr lang="en-IN" dirty="0"/>
              <a:t> if DB’s sibling is </a:t>
            </a:r>
            <a:r>
              <a:rPr lang="en-IN" dirty="0">
                <a:solidFill>
                  <a:schemeClr val="bg1"/>
                </a:solidFill>
                <a:highlight>
                  <a:srgbClr val="000000"/>
                </a:highlight>
              </a:rPr>
              <a:t>black</a:t>
            </a:r>
            <a:r>
              <a:rPr lang="en-IN" dirty="0"/>
              <a:t> and far nephew is </a:t>
            </a:r>
            <a:r>
              <a:rPr lang="en-IN" dirty="0">
                <a:highlight>
                  <a:srgbClr val="FF0000"/>
                </a:highlight>
              </a:rPr>
              <a:t>red</a:t>
            </a:r>
          </a:p>
          <a:p>
            <a:pPr marL="1200150" lvl="2" indent="-285750">
              <a:buFont typeface="Wingdings" panose="05000000000000000000" pitchFamily="2" charset="2"/>
              <a:buChar char="§"/>
            </a:pPr>
            <a:r>
              <a:rPr lang="en-IN" dirty="0"/>
              <a:t>Swap </a:t>
            </a:r>
            <a:r>
              <a:rPr lang="en-IN" dirty="0" err="1"/>
              <a:t>color</a:t>
            </a:r>
            <a:r>
              <a:rPr lang="en-IN" dirty="0"/>
              <a:t> of DB’s parent and DB’s sibling</a:t>
            </a:r>
          </a:p>
          <a:p>
            <a:pPr marL="1200150" lvl="2" indent="-285750">
              <a:buFont typeface="Wingdings" panose="05000000000000000000" pitchFamily="2" charset="2"/>
              <a:buChar char="§"/>
            </a:pPr>
            <a:r>
              <a:rPr lang="en-IN" dirty="0"/>
              <a:t>Rotate DB’s parent in DB’s direction</a:t>
            </a:r>
          </a:p>
          <a:p>
            <a:pPr marL="1200150" lvl="2" indent="-285750">
              <a:buFont typeface="Wingdings" panose="05000000000000000000" pitchFamily="2" charset="2"/>
              <a:buChar char="§"/>
            </a:pPr>
            <a:r>
              <a:rPr lang="en-IN" dirty="0"/>
              <a:t>Change </a:t>
            </a:r>
            <a:r>
              <a:rPr lang="en-IN" dirty="0" err="1"/>
              <a:t>color</a:t>
            </a:r>
            <a:r>
              <a:rPr lang="en-IN" dirty="0"/>
              <a:t> of red nephew to black</a:t>
            </a:r>
          </a:p>
          <a:p>
            <a:pPr marL="1200150" lvl="2" indent="-285750">
              <a:buFont typeface="Wingdings" panose="05000000000000000000" pitchFamily="2" charset="2"/>
              <a:buChar char="§"/>
            </a:pPr>
            <a:r>
              <a:rPr lang="en-IN" dirty="0"/>
              <a:t>Remove DB</a:t>
            </a:r>
          </a:p>
        </p:txBody>
      </p:sp>
      <p:cxnSp>
        <p:nvCxnSpPr>
          <p:cNvPr id="30" name="Straight Arrow Connector 29">
            <a:extLst>
              <a:ext uri="{FF2B5EF4-FFF2-40B4-BE49-F238E27FC236}">
                <a16:creationId xmlns:a16="http://schemas.microsoft.com/office/drawing/2014/main" id="{EBC0C8B5-2858-485A-9DC8-42B190F71282}"/>
              </a:ext>
            </a:extLst>
          </p:cNvPr>
          <p:cNvCxnSpPr>
            <a:cxnSpLocks/>
          </p:cNvCxnSpPr>
          <p:nvPr/>
        </p:nvCxnSpPr>
        <p:spPr>
          <a:xfrm>
            <a:off x="7955280" y="3108960"/>
            <a:ext cx="651827" cy="0"/>
          </a:xfrm>
          <a:prstGeom prst="straightConnector1">
            <a:avLst/>
          </a:prstGeom>
          <a:ln w="38100">
            <a:tailEnd type="triangle"/>
          </a:ln>
        </p:spPr>
        <p:style>
          <a:lnRef idx="3">
            <a:schemeClr val="accent6"/>
          </a:lnRef>
          <a:fillRef idx="0">
            <a:schemeClr val="accent6"/>
          </a:fillRef>
          <a:effectRef idx="2">
            <a:schemeClr val="accent6"/>
          </a:effectRef>
          <a:fontRef idx="minor">
            <a:schemeClr val="tx1"/>
          </a:fontRef>
        </p:style>
      </p:cxnSp>
      <p:pic>
        <p:nvPicPr>
          <p:cNvPr id="35" name="Picture 34">
            <a:extLst>
              <a:ext uri="{FF2B5EF4-FFF2-40B4-BE49-F238E27FC236}">
                <a16:creationId xmlns:a16="http://schemas.microsoft.com/office/drawing/2014/main" id="{9903FDFB-E34D-4C83-9C35-3A430E208C80}"/>
              </a:ext>
            </a:extLst>
          </p:cNvPr>
          <p:cNvPicPr>
            <a:picLocks noChangeAspect="1"/>
          </p:cNvPicPr>
          <p:nvPr/>
        </p:nvPicPr>
        <p:blipFill>
          <a:blip r:embed="rId6"/>
          <a:stretch>
            <a:fillRect/>
          </a:stretch>
        </p:blipFill>
        <p:spPr>
          <a:xfrm>
            <a:off x="9295814" y="2361735"/>
            <a:ext cx="2681068" cy="2751417"/>
          </a:xfrm>
          <a:prstGeom prst="rect">
            <a:avLst/>
          </a:prstGeom>
        </p:spPr>
      </p:pic>
      <p:sp>
        <p:nvSpPr>
          <p:cNvPr id="36" name="TextBox 35">
            <a:extLst>
              <a:ext uri="{FF2B5EF4-FFF2-40B4-BE49-F238E27FC236}">
                <a16:creationId xmlns:a16="http://schemas.microsoft.com/office/drawing/2014/main" id="{182AD413-181D-49B1-A170-726FFA69A0AF}"/>
              </a:ext>
            </a:extLst>
          </p:cNvPr>
          <p:cNvSpPr txBox="1"/>
          <p:nvPr/>
        </p:nvSpPr>
        <p:spPr>
          <a:xfrm>
            <a:off x="9741436" y="4494293"/>
            <a:ext cx="809837" cy="369332"/>
          </a:xfrm>
          <a:prstGeom prst="rect">
            <a:avLst/>
          </a:prstGeom>
          <a:noFill/>
        </p:spPr>
        <p:txBody>
          <a:bodyPr wrap="none" rtlCol="0">
            <a:spAutoFit/>
          </a:bodyPr>
          <a:lstStyle/>
          <a:p>
            <a:r>
              <a:rPr lang="en-IN" dirty="0"/>
              <a:t>Case 6</a:t>
            </a:r>
          </a:p>
        </p:txBody>
      </p:sp>
      <p:pic>
        <p:nvPicPr>
          <p:cNvPr id="37" name="Picture 36">
            <a:extLst>
              <a:ext uri="{FF2B5EF4-FFF2-40B4-BE49-F238E27FC236}">
                <a16:creationId xmlns:a16="http://schemas.microsoft.com/office/drawing/2014/main" id="{3EF2D0C8-7E73-4B69-A3B7-376D34419032}"/>
              </a:ext>
            </a:extLst>
          </p:cNvPr>
          <p:cNvPicPr>
            <a:picLocks noChangeAspect="1"/>
          </p:cNvPicPr>
          <p:nvPr/>
        </p:nvPicPr>
        <p:blipFill>
          <a:blip r:embed="rId7"/>
          <a:stretch>
            <a:fillRect/>
          </a:stretch>
        </p:blipFill>
        <p:spPr>
          <a:xfrm>
            <a:off x="8728006" y="2272346"/>
            <a:ext cx="3103832" cy="2885595"/>
          </a:xfrm>
          <a:prstGeom prst="rect">
            <a:avLst/>
          </a:prstGeom>
        </p:spPr>
      </p:pic>
      <p:pic>
        <p:nvPicPr>
          <p:cNvPr id="38" name="Picture 37">
            <a:extLst>
              <a:ext uri="{FF2B5EF4-FFF2-40B4-BE49-F238E27FC236}">
                <a16:creationId xmlns:a16="http://schemas.microsoft.com/office/drawing/2014/main" id="{E0D66474-BF0C-42E7-B352-D22A446855CD}"/>
              </a:ext>
            </a:extLst>
          </p:cNvPr>
          <p:cNvPicPr>
            <a:picLocks noChangeAspect="1"/>
          </p:cNvPicPr>
          <p:nvPr/>
        </p:nvPicPr>
        <p:blipFill>
          <a:blip r:embed="rId8"/>
          <a:stretch>
            <a:fillRect/>
          </a:stretch>
        </p:blipFill>
        <p:spPr>
          <a:xfrm>
            <a:off x="8747761" y="2367125"/>
            <a:ext cx="3103832" cy="2811324"/>
          </a:xfrm>
          <a:prstGeom prst="rect">
            <a:avLst/>
          </a:prstGeom>
        </p:spPr>
      </p:pic>
    </p:spTree>
    <p:extLst>
      <p:ext uri="{BB962C8B-B14F-4D97-AF65-F5344CB8AC3E}">
        <p14:creationId xmlns:p14="http://schemas.microsoft.com/office/powerpoint/2010/main" val="209276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50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500"/>
                                        <p:tgtEl>
                                          <p:spTgt spid="3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8"/>
                                        </p:tgtEl>
                                        <p:attrNameLst>
                                          <p:attrName>style.visibility</p:attrName>
                                        </p:attrNameLst>
                                      </p:cBhvr>
                                      <p:to>
                                        <p:strVal val="visible"/>
                                      </p:to>
                                    </p:set>
                                    <p:animEffect transition="in" filter="fade">
                                      <p:cBhvr>
                                        <p:cTn id="6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25" grpId="0"/>
      <p:bldP spid="3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EFEDE03-D856-44EE-A736-7A13FCA866C2}"/>
              </a:ext>
            </a:extLst>
          </p:cNvPr>
          <p:cNvPicPr>
            <a:picLocks noChangeAspect="1"/>
          </p:cNvPicPr>
          <p:nvPr/>
        </p:nvPicPr>
        <p:blipFill>
          <a:blip r:embed="rId2"/>
          <a:stretch>
            <a:fillRect/>
          </a:stretch>
        </p:blipFill>
        <p:spPr>
          <a:xfrm>
            <a:off x="3235841" y="680721"/>
            <a:ext cx="8956159" cy="5323840"/>
          </a:xfrm>
          <a:prstGeom prst="rect">
            <a:avLst/>
          </a:prstGeom>
        </p:spPr>
      </p:pic>
      <p:sp>
        <p:nvSpPr>
          <p:cNvPr id="6" name="TextBox 5">
            <a:extLst>
              <a:ext uri="{FF2B5EF4-FFF2-40B4-BE49-F238E27FC236}">
                <a16:creationId xmlns:a16="http://schemas.microsoft.com/office/drawing/2014/main" id="{5C5841AE-E413-483E-914A-2466EB2A1527}"/>
              </a:ext>
            </a:extLst>
          </p:cNvPr>
          <p:cNvSpPr txBox="1"/>
          <p:nvPr/>
        </p:nvSpPr>
        <p:spPr>
          <a:xfrm>
            <a:off x="81280" y="164515"/>
            <a:ext cx="3307079" cy="800219"/>
          </a:xfrm>
          <a:prstGeom prst="rect">
            <a:avLst/>
          </a:prstGeom>
          <a:noFill/>
        </p:spPr>
        <p:txBody>
          <a:bodyPr wrap="square" rtlCol="0">
            <a:spAutoFit/>
          </a:bodyPr>
          <a:lstStyle/>
          <a:p>
            <a:r>
              <a:rPr lang="en-IN" sz="2800" dirty="0"/>
              <a:t>Summary</a:t>
            </a:r>
          </a:p>
          <a:p>
            <a:endParaRPr lang="en-IN" dirty="0"/>
          </a:p>
        </p:txBody>
      </p:sp>
    </p:spTree>
    <p:extLst>
      <p:ext uri="{BB962C8B-B14F-4D97-AF65-F5344CB8AC3E}">
        <p14:creationId xmlns:p14="http://schemas.microsoft.com/office/powerpoint/2010/main" val="3573160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65E8A3-E45A-423C-85C3-1CD399EB415B}"/>
              </a:ext>
            </a:extLst>
          </p:cNvPr>
          <p:cNvPicPr>
            <a:picLocks noChangeAspect="1"/>
          </p:cNvPicPr>
          <p:nvPr/>
        </p:nvPicPr>
        <p:blipFill>
          <a:blip r:embed="rId2"/>
          <a:stretch>
            <a:fillRect/>
          </a:stretch>
        </p:blipFill>
        <p:spPr>
          <a:xfrm>
            <a:off x="3037840" y="721360"/>
            <a:ext cx="9154160" cy="4029279"/>
          </a:xfrm>
          <a:prstGeom prst="rect">
            <a:avLst/>
          </a:prstGeom>
        </p:spPr>
      </p:pic>
      <p:sp>
        <p:nvSpPr>
          <p:cNvPr id="7" name="TextBox 6">
            <a:extLst>
              <a:ext uri="{FF2B5EF4-FFF2-40B4-BE49-F238E27FC236}">
                <a16:creationId xmlns:a16="http://schemas.microsoft.com/office/drawing/2014/main" id="{92DA16CC-7CA7-4711-99F1-62E3161EEEB0}"/>
              </a:ext>
            </a:extLst>
          </p:cNvPr>
          <p:cNvSpPr txBox="1"/>
          <p:nvPr/>
        </p:nvSpPr>
        <p:spPr>
          <a:xfrm>
            <a:off x="0" y="6232890"/>
            <a:ext cx="7363326" cy="276999"/>
          </a:xfrm>
          <a:prstGeom prst="rect">
            <a:avLst/>
          </a:prstGeom>
          <a:noFill/>
        </p:spPr>
        <p:txBody>
          <a:bodyPr wrap="square">
            <a:spAutoFit/>
          </a:bodyPr>
          <a:lstStyle/>
          <a:p>
            <a:r>
              <a:rPr lang="en-IN" sz="1200" dirty="0"/>
              <a:t>https://www.cs.csubak.edu/~msarr/visualizations/RedBlack.html</a:t>
            </a:r>
          </a:p>
        </p:txBody>
      </p:sp>
    </p:spTree>
    <p:extLst>
      <p:ext uri="{BB962C8B-B14F-4D97-AF65-F5344CB8AC3E}">
        <p14:creationId xmlns:p14="http://schemas.microsoft.com/office/powerpoint/2010/main" val="1839594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F183C-B296-4309-85AE-70B89A4C8E0D}"/>
              </a:ext>
            </a:extLst>
          </p:cNvPr>
          <p:cNvSpPr>
            <a:spLocks noGrp="1"/>
          </p:cNvSpPr>
          <p:nvPr>
            <p:ph type="title"/>
          </p:nvPr>
        </p:nvSpPr>
        <p:spPr/>
        <p:txBody>
          <a:bodyPr/>
          <a:lstStyle/>
          <a:p>
            <a:r>
              <a:rPr lang="en-IN" dirty="0"/>
              <a:t>Exercise </a:t>
            </a:r>
          </a:p>
        </p:txBody>
      </p:sp>
      <p:sp>
        <p:nvSpPr>
          <p:cNvPr id="3" name="Content Placeholder 2">
            <a:extLst>
              <a:ext uri="{FF2B5EF4-FFF2-40B4-BE49-F238E27FC236}">
                <a16:creationId xmlns:a16="http://schemas.microsoft.com/office/drawing/2014/main" id="{B2959146-D45B-4F92-83BD-AEC9B3943C38}"/>
              </a:ext>
            </a:extLst>
          </p:cNvPr>
          <p:cNvSpPr>
            <a:spLocks noGrp="1"/>
          </p:cNvSpPr>
          <p:nvPr>
            <p:ph idx="1"/>
          </p:nvPr>
        </p:nvSpPr>
        <p:spPr>
          <a:xfrm>
            <a:off x="131178" y="861194"/>
            <a:ext cx="11929641" cy="505594"/>
          </a:xfrm>
        </p:spPr>
        <p:txBody>
          <a:bodyPr/>
          <a:lstStyle/>
          <a:p>
            <a:r>
              <a:rPr lang="en-IN" dirty="0"/>
              <a:t>Delete 50, 20, 100, 90, 40, 60, 30, 10, 17, 80</a:t>
            </a:r>
          </a:p>
        </p:txBody>
      </p:sp>
      <p:pic>
        <p:nvPicPr>
          <p:cNvPr id="22" name="Picture 21">
            <a:extLst>
              <a:ext uri="{FF2B5EF4-FFF2-40B4-BE49-F238E27FC236}">
                <a16:creationId xmlns:a16="http://schemas.microsoft.com/office/drawing/2014/main" id="{36FFFF9B-318A-4C7A-B064-179F6F72213F}"/>
              </a:ext>
            </a:extLst>
          </p:cNvPr>
          <p:cNvPicPr>
            <a:picLocks noChangeAspect="1"/>
          </p:cNvPicPr>
          <p:nvPr/>
        </p:nvPicPr>
        <p:blipFill>
          <a:blip r:embed="rId2"/>
          <a:stretch>
            <a:fillRect/>
          </a:stretch>
        </p:blipFill>
        <p:spPr>
          <a:xfrm>
            <a:off x="642918" y="1662074"/>
            <a:ext cx="3214664" cy="3533851"/>
          </a:xfrm>
          <a:prstGeom prst="rect">
            <a:avLst/>
          </a:prstGeom>
        </p:spPr>
      </p:pic>
    </p:spTree>
    <p:extLst>
      <p:ext uri="{BB962C8B-B14F-4D97-AF65-F5344CB8AC3E}">
        <p14:creationId xmlns:p14="http://schemas.microsoft.com/office/powerpoint/2010/main" val="2388095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91EB9-BF90-4CE1-BFA3-4E5F196BD1E6}"/>
              </a:ext>
            </a:extLst>
          </p:cNvPr>
          <p:cNvSpPr>
            <a:spLocks noGrp="1"/>
          </p:cNvSpPr>
          <p:nvPr>
            <p:ph type="title"/>
          </p:nvPr>
        </p:nvSpPr>
        <p:spPr/>
        <p:txBody>
          <a:bodyPr/>
          <a:lstStyle/>
          <a:p>
            <a:endParaRPr lang="en-IN" dirty="0"/>
          </a:p>
        </p:txBody>
      </p:sp>
      <p:sp>
        <p:nvSpPr>
          <p:cNvPr id="4" name="Oval 3">
            <a:extLst>
              <a:ext uri="{FF2B5EF4-FFF2-40B4-BE49-F238E27FC236}">
                <a16:creationId xmlns:a16="http://schemas.microsoft.com/office/drawing/2014/main" id="{EAEBB2F0-F34C-45AA-BAE9-A05ADBF72527}"/>
              </a:ext>
            </a:extLst>
          </p:cNvPr>
          <p:cNvSpPr/>
          <p:nvPr/>
        </p:nvSpPr>
        <p:spPr>
          <a:xfrm>
            <a:off x="1709141" y="906892"/>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10</a:t>
            </a:r>
          </a:p>
        </p:txBody>
      </p:sp>
      <p:sp>
        <p:nvSpPr>
          <p:cNvPr id="6" name="Oval 5">
            <a:extLst>
              <a:ext uri="{FF2B5EF4-FFF2-40B4-BE49-F238E27FC236}">
                <a16:creationId xmlns:a16="http://schemas.microsoft.com/office/drawing/2014/main" id="{D874883B-4C09-4404-815C-76EA377333E8}"/>
              </a:ext>
            </a:extLst>
          </p:cNvPr>
          <p:cNvSpPr/>
          <p:nvPr/>
        </p:nvSpPr>
        <p:spPr>
          <a:xfrm>
            <a:off x="6574036" y="1729495"/>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60</a:t>
            </a:r>
          </a:p>
        </p:txBody>
      </p:sp>
      <p:sp>
        <p:nvSpPr>
          <p:cNvPr id="9" name="Oval 8">
            <a:extLst>
              <a:ext uri="{FF2B5EF4-FFF2-40B4-BE49-F238E27FC236}">
                <a16:creationId xmlns:a16="http://schemas.microsoft.com/office/drawing/2014/main" id="{C4680D9B-05BE-415E-A6B1-C54942DA591A}"/>
              </a:ext>
            </a:extLst>
          </p:cNvPr>
          <p:cNvSpPr/>
          <p:nvPr/>
        </p:nvSpPr>
        <p:spPr>
          <a:xfrm>
            <a:off x="5277121" y="1729495"/>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20</a:t>
            </a:r>
          </a:p>
        </p:txBody>
      </p:sp>
      <p:cxnSp>
        <p:nvCxnSpPr>
          <p:cNvPr id="11" name="Straight Arrow Connector 10">
            <a:extLst>
              <a:ext uri="{FF2B5EF4-FFF2-40B4-BE49-F238E27FC236}">
                <a16:creationId xmlns:a16="http://schemas.microsoft.com/office/drawing/2014/main" id="{7F87AC38-E183-42DD-AB9C-58FF3F262CD1}"/>
              </a:ext>
            </a:extLst>
          </p:cNvPr>
          <p:cNvCxnSpPr>
            <a:cxnSpLocks/>
            <a:endCxn id="54" idx="0"/>
          </p:cNvCxnSpPr>
          <p:nvPr/>
        </p:nvCxnSpPr>
        <p:spPr>
          <a:xfrm>
            <a:off x="1590625" y="2804433"/>
            <a:ext cx="208042" cy="424618"/>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Oval 13">
            <a:extLst>
              <a:ext uri="{FF2B5EF4-FFF2-40B4-BE49-F238E27FC236}">
                <a16:creationId xmlns:a16="http://schemas.microsoft.com/office/drawing/2014/main" id="{47CBFF29-4B4A-4669-8CED-380C4F6B099C}"/>
              </a:ext>
            </a:extLst>
          </p:cNvPr>
          <p:cNvSpPr/>
          <p:nvPr/>
        </p:nvSpPr>
        <p:spPr>
          <a:xfrm>
            <a:off x="5975778" y="777595"/>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40</a:t>
            </a:r>
          </a:p>
        </p:txBody>
      </p:sp>
      <p:cxnSp>
        <p:nvCxnSpPr>
          <p:cNvPr id="17" name="Straight Arrow Connector 16">
            <a:extLst>
              <a:ext uri="{FF2B5EF4-FFF2-40B4-BE49-F238E27FC236}">
                <a16:creationId xmlns:a16="http://schemas.microsoft.com/office/drawing/2014/main" id="{AA6D2661-298A-4F4C-8397-3E1DAD49C796}"/>
              </a:ext>
            </a:extLst>
          </p:cNvPr>
          <p:cNvCxnSpPr>
            <a:cxnSpLocks/>
          </p:cNvCxnSpPr>
          <p:nvPr/>
        </p:nvCxnSpPr>
        <p:spPr>
          <a:xfrm flipH="1">
            <a:off x="521087" y="3836195"/>
            <a:ext cx="261852" cy="437715"/>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 name="Oval 22">
            <a:extLst>
              <a:ext uri="{FF2B5EF4-FFF2-40B4-BE49-F238E27FC236}">
                <a16:creationId xmlns:a16="http://schemas.microsoft.com/office/drawing/2014/main" id="{BB4A1619-F0EE-455B-8A7A-C0FBA2971046}"/>
              </a:ext>
            </a:extLst>
          </p:cNvPr>
          <p:cNvSpPr/>
          <p:nvPr/>
        </p:nvSpPr>
        <p:spPr>
          <a:xfrm>
            <a:off x="7107005" y="2727656"/>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80</a:t>
            </a:r>
          </a:p>
        </p:txBody>
      </p:sp>
      <p:cxnSp>
        <p:nvCxnSpPr>
          <p:cNvPr id="32" name="Straight Arrow Connector 31">
            <a:extLst>
              <a:ext uri="{FF2B5EF4-FFF2-40B4-BE49-F238E27FC236}">
                <a16:creationId xmlns:a16="http://schemas.microsoft.com/office/drawing/2014/main" id="{7DFDFBCA-D35A-4510-9422-676494C9FB78}"/>
              </a:ext>
            </a:extLst>
          </p:cNvPr>
          <p:cNvCxnSpPr>
            <a:cxnSpLocks/>
          </p:cNvCxnSpPr>
          <p:nvPr/>
        </p:nvCxnSpPr>
        <p:spPr>
          <a:xfrm flipH="1">
            <a:off x="6601024" y="2319686"/>
            <a:ext cx="261852" cy="437715"/>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Straight Arrow Connector 39">
            <a:extLst>
              <a:ext uri="{FF2B5EF4-FFF2-40B4-BE49-F238E27FC236}">
                <a16:creationId xmlns:a16="http://schemas.microsoft.com/office/drawing/2014/main" id="{B77B3662-4B44-4584-AA03-9E727479A680}"/>
              </a:ext>
            </a:extLst>
          </p:cNvPr>
          <p:cNvCxnSpPr>
            <a:cxnSpLocks/>
            <a:endCxn id="9" idx="7"/>
          </p:cNvCxnSpPr>
          <p:nvPr/>
        </p:nvCxnSpPr>
        <p:spPr>
          <a:xfrm flipH="1">
            <a:off x="5811140" y="1345094"/>
            <a:ext cx="284688" cy="470832"/>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2" name="Rectangle 41">
            <a:extLst>
              <a:ext uri="{FF2B5EF4-FFF2-40B4-BE49-F238E27FC236}">
                <a16:creationId xmlns:a16="http://schemas.microsoft.com/office/drawing/2014/main" id="{8FEEB36B-61DE-488A-A823-10020A875649}"/>
              </a:ext>
            </a:extLst>
          </p:cNvPr>
          <p:cNvSpPr/>
          <p:nvPr/>
        </p:nvSpPr>
        <p:spPr>
          <a:xfrm>
            <a:off x="1379380" y="3003651"/>
            <a:ext cx="426270" cy="26356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43" name="Rectangle 42">
            <a:extLst>
              <a:ext uri="{FF2B5EF4-FFF2-40B4-BE49-F238E27FC236}">
                <a16:creationId xmlns:a16="http://schemas.microsoft.com/office/drawing/2014/main" id="{BC362532-FB68-43ED-8707-8AD8612D3483}"/>
              </a:ext>
            </a:extLst>
          </p:cNvPr>
          <p:cNvSpPr/>
          <p:nvPr/>
        </p:nvSpPr>
        <p:spPr>
          <a:xfrm>
            <a:off x="5030973" y="6046326"/>
            <a:ext cx="426270" cy="26356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44" name="Rectangle 43">
            <a:extLst>
              <a:ext uri="{FF2B5EF4-FFF2-40B4-BE49-F238E27FC236}">
                <a16:creationId xmlns:a16="http://schemas.microsoft.com/office/drawing/2014/main" id="{396C4E19-8348-4CA1-BC4D-7AC9F9606D60}"/>
              </a:ext>
            </a:extLst>
          </p:cNvPr>
          <p:cNvSpPr/>
          <p:nvPr/>
        </p:nvSpPr>
        <p:spPr>
          <a:xfrm>
            <a:off x="9645172" y="6034946"/>
            <a:ext cx="426270" cy="26356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7A5DE002-028D-41F2-8B48-7B6B1CE5CEE2}"/>
              </a:ext>
            </a:extLst>
          </p:cNvPr>
          <p:cNvSpPr/>
          <p:nvPr/>
        </p:nvSpPr>
        <p:spPr>
          <a:xfrm>
            <a:off x="1485846" y="3229051"/>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7</a:t>
            </a:r>
          </a:p>
        </p:txBody>
      </p:sp>
      <p:sp>
        <p:nvSpPr>
          <p:cNvPr id="55" name="Oval 54">
            <a:extLst>
              <a:ext uri="{FF2B5EF4-FFF2-40B4-BE49-F238E27FC236}">
                <a16:creationId xmlns:a16="http://schemas.microsoft.com/office/drawing/2014/main" id="{011D157F-5077-433C-AF49-3BE64D1B7A3B}"/>
              </a:ext>
            </a:extLst>
          </p:cNvPr>
          <p:cNvSpPr/>
          <p:nvPr/>
        </p:nvSpPr>
        <p:spPr>
          <a:xfrm>
            <a:off x="1592515" y="4312279"/>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n</a:t>
            </a:r>
          </a:p>
        </p:txBody>
      </p:sp>
      <p:cxnSp>
        <p:nvCxnSpPr>
          <p:cNvPr id="58" name="Straight Arrow Connector 57">
            <a:extLst>
              <a:ext uri="{FF2B5EF4-FFF2-40B4-BE49-F238E27FC236}">
                <a16:creationId xmlns:a16="http://schemas.microsoft.com/office/drawing/2014/main" id="{DF313381-0443-47EA-950A-3D510A05A38E}"/>
              </a:ext>
            </a:extLst>
          </p:cNvPr>
          <p:cNvCxnSpPr>
            <a:cxnSpLocks/>
          </p:cNvCxnSpPr>
          <p:nvPr/>
        </p:nvCxnSpPr>
        <p:spPr>
          <a:xfrm>
            <a:off x="6464257" y="1336799"/>
            <a:ext cx="267693" cy="427016"/>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9" name="Rectangle 58">
            <a:extLst>
              <a:ext uri="{FF2B5EF4-FFF2-40B4-BE49-F238E27FC236}">
                <a16:creationId xmlns:a16="http://schemas.microsoft.com/office/drawing/2014/main" id="{A3ABD474-503F-4A09-A7FD-08805481DAED}"/>
              </a:ext>
            </a:extLst>
          </p:cNvPr>
          <p:cNvSpPr/>
          <p:nvPr/>
        </p:nvSpPr>
        <p:spPr>
          <a:xfrm>
            <a:off x="1485846" y="5543543"/>
            <a:ext cx="426270" cy="26356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60" name="Rectangle 59">
            <a:extLst>
              <a:ext uri="{FF2B5EF4-FFF2-40B4-BE49-F238E27FC236}">
                <a16:creationId xmlns:a16="http://schemas.microsoft.com/office/drawing/2014/main" id="{35E01E22-1CB2-4CAC-96EB-AE6F2EF271FD}"/>
              </a:ext>
            </a:extLst>
          </p:cNvPr>
          <p:cNvSpPr/>
          <p:nvPr/>
        </p:nvSpPr>
        <p:spPr>
          <a:xfrm>
            <a:off x="5298401" y="6430777"/>
            <a:ext cx="426270" cy="26356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11A71C1C-9D8A-449D-9EAE-6E3ADED67A63}"/>
              </a:ext>
            </a:extLst>
          </p:cNvPr>
          <p:cNvSpPr/>
          <p:nvPr/>
        </p:nvSpPr>
        <p:spPr>
          <a:xfrm>
            <a:off x="4712505" y="2677022"/>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10</a:t>
            </a:r>
          </a:p>
        </p:txBody>
      </p:sp>
      <p:sp>
        <p:nvSpPr>
          <p:cNvPr id="81" name="Rectangle 80">
            <a:extLst>
              <a:ext uri="{FF2B5EF4-FFF2-40B4-BE49-F238E27FC236}">
                <a16:creationId xmlns:a16="http://schemas.microsoft.com/office/drawing/2014/main" id="{CD3A7BE4-CFFF-43A5-96B1-A14988F85616}"/>
              </a:ext>
            </a:extLst>
          </p:cNvPr>
          <p:cNvSpPr/>
          <p:nvPr/>
        </p:nvSpPr>
        <p:spPr>
          <a:xfrm>
            <a:off x="6854320" y="5692027"/>
            <a:ext cx="426270" cy="26356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88" name="Straight Arrow Connector 87">
            <a:extLst>
              <a:ext uri="{FF2B5EF4-FFF2-40B4-BE49-F238E27FC236}">
                <a16:creationId xmlns:a16="http://schemas.microsoft.com/office/drawing/2014/main" id="{00C2CEEE-6C78-4493-BDA1-315EE34119DE}"/>
              </a:ext>
            </a:extLst>
          </p:cNvPr>
          <p:cNvCxnSpPr>
            <a:cxnSpLocks/>
          </p:cNvCxnSpPr>
          <p:nvPr/>
        </p:nvCxnSpPr>
        <p:spPr>
          <a:xfrm>
            <a:off x="7012897" y="2312159"/>
            <a:ext cx="267693" cy="427016"/>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0" name="Rectangle 89">
            <a:extLst>
              <a:ext uri="{FF2B5EF4-FFF2-40B4-BE49-F238E27FC236}">
                <a16:creationId xmlns:a16="http://schemas.microsoft.com/office/drawing/2014/main" id="{6C26FE6E-0F60-4A58-9C54-5C3AC9567919}"/>
              </a:ext>
            </a:extLst>
          </p:cNvPr>
          <p:cNvSpPr/>
          <p:nvPr/>
        </p:nvSpPr>
        <p:spPr>
          <a:xfrm>
            <a:off x="10386350" y="4142129"/>
            <a:ext cx="426270" cy="26356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93" name="Straight Arrow Connector 92">
            <a:extLst>
              <a:ext uri="{FF2B5EF4-FFF2-40B4-BE49-F238E27FC236}">
                <a16:creationId xmlns:a16="http://schemas.microsoft.com/office/drawing/2014/main" id="{A417FB2D-FE46-4D8A-B678-AD9819F92D6F}"/>
              </a:ext>
            </a:extLst>
          </p:cNvPr>
          <p:cNvCxnSpPr>
            <a:cxnSpLocks/>
          </p:cNvCxnSpPr>
          <p:nvPr/>
        </p:nvCxnSpPr>
        <p:spPr>
          <a:xfrm flipH="1">
            <a:off x="7174279" y="3344851"/>
            <a:ext cx="261852" cy="437715"/>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5" name="Straight Arrow Connector 94">
            <a:extLst>
              <a:ext uri="{FF2B5EF4-FFF2-40B4-BE49-F238E27FC236}">
                <a16:creationId xmlns:a16="http://schemas.microsoft.com/office/drawing/2014/main" id="{F510B10E-9691-4A13-99D9-78048C7167A0}"/>
              </a:ext>
            </a:extLst>
          </p:cNvPr>
          <p:cNvCxnSpPr>
            <a:cxnSpLocks/>
          </p:cNvCxnSpPr>
          <p:nvPr/>
        </p:nvCxnSpPr>
        <p:spPr>
          <a:xfrm>
            <a:off x="7511092" y="3344851"/>
            <a:ext cx="267693" cy="427016"/>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6" name="Rectangle 95">
            <a:extLst>
              <a:ext uri="{FF2B5EF4-FFF2-40B4-BE49-F238E27FC236}">
                <a16:creationId xmlns:a16="http://schemas.microsoft.com/office/drawing/2014/main" id="{FB3E3B3E-FDFA-4C70-8C60-17EF782F126F}"/>
              </a:ext>
            </a:extLst>
          </p:cNvPr>
          <p:cNvSpPr/>
          <p:nvPr/>
        </p:nvSpPr>
        <p:spPr>
          <a:xfrm>
            <a:off x="8316245" y="5404836"/>
            <a:ext cx="426270" cy="26356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97" name="Rectangle 96">
            <a:extLst>
              <a:ext uri="{FF2B5EF4-FFF2-40B4-BE49-F238E27FC236}">
                <a16:creationId xmlns:a16="http://schemas.microsoft.com/office/drawing/2014/main" id="{15D5888D-64DF-4F82-9000-C5E7F2442AFD}"/>
              </a:ext>
            </a:extLst>
          </p:cNvPr>
          <p:cNvSpPr/>
          <p:nvPr/>
        </p:nvSpPr>
        <p:spPr>
          <a:xfrm>
            <a:off x="3449487" y="5543543"/>
            <a:ext cx="426270" cy="26356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98" name="Straight Arrow Connector 97">
            <a:extLst>
              <a:ext uri="{FF2B5EF4-FFF2-40B4-BE49-F238E27FC236}">
                <a16:creationId xmlns:a16="http://schemas.microsoft.com/office/drawing/2014/main" id="{25C492EE-4096-4B6B-AF67-822FA7412C80}"/>
              </a:ext>
            </a:extLst>
          </p:cNvPr>
          <p:cNvCxnSpPr>
            <a:cxnSpLocks/>
          </p:cNvCxnSpPr>
          <p:nvPr/>
        </p:nvCxnSpPr>
        <p:spPr>
          <a:xfrm>
            <a:off x="5539083" y="2357406"/>
            <a:ext cx="235169" cy="414135"/>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9" name="Rectangle 98">
            <a:extLst>
              <a:ext uri="{FF2B5EF4-FFF2-40B4-BE49-F238E27FC236}">
                <a16:creationId xmlns:a16="http://schemas.microsoft.com/office/drawing/2014/main" id="{F33F7E57-E0D8-4352-AA52-359CBDD830EF}"/>
              </a:ext>
            </a:extLst>
          </p:cNvPr>
          <p:cNvSpPr/>
          <p:nvPr/>
        </p:nvSpPr>
        <p:spPr>
          <a:xfrm>
            <a:off x="4184783" y="5955589"/>
            <a:ext cx="426270" cy="26356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100" name="Straight Arrow Connector 99">
            <a:extLst>
              <a:ext uri="{FF2B5EF4-FFF2-40B4-BE49-F238E27FC236}">
                <a16:creationId xmlns:a16="http://schemas.microsoft.com/office/drawing/2014/main" id="{0E68A567-256C-42B4-BA33-24BD7BCF428B}"/>
              </a:ext>
            </a:extLst>
          </p:cNvPr>
          <p:cNvCxnSpPr>
            <a:cxnSpLocks/>
          </p:cNvCxnSpPr>
          <p:nvPr/>
        </p:nvCxnSpPr>
        <p:spPr>
          <a:xfrm flipH="1">
            <a:off x="5250243" y="2315255"/>
            <a:ext cx="261852" cy="437715"/>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Oval 101">
            <a:extLst>
              <a:ext uri="{FF2B5EF4-FFF2-40B4-BE49-F238E27FC236}">
                <a16:creationId xmlns:a16="http://schemas.microsoft.com/office/drawing/2014/main" id="{6B290D1B-AEA5-4BBB-A094-8B9FADB0893E}"/>
              </a:ext>
            </a:extLst>
          </p:cNvPr>
          <p:cNvSpPr/>
          <p:nvPr/>
        </p:nvSpPr>
        <p:spPr>
          <a:xfrm>
            <a:off x="5519261" y="2714800"/>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30</a:t>
            </a:r>
          </a:p>
        </p:txBody>
      </p:sp>
      <p:sp>
        <p:nvSpPr>
          <p:cNvPr id="103" name="Oval 102">
            <a:extLst>
              <a:ext uri="{FF2B5EF4-FFF2-40B4-BE49-F238E27FC236}">
                <a16:creationId xmlns:a16="http://schemas.microsoft.com/office/drawing/2014/main" id="{CEB127AF-1D16-47BC-A9ED-F665EAB11B4F}"/>
              </a:ext>
            </a:extLst>
          </p:cNvPr>
          <p:cNvSpPr/>
          <p:nvPr/>
        </p:nvSpPr>
        <p:spPr>
          <a:xfrm>
            <a:off x="6231731" y="2742078"/>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50</a:t>
            </a:r>
          </a:p>
        </p:txBody>
      </p:sp>
      <p:sp>
        <p:nvSpPr>
          <p:cNvPr id="104" name="Oval 103">
            <a:extLst>
              <a:ext uri="{FF2B5EF4-FFF2-40B4-BE49-F238E27FC236}">
                <a16:creationId xmlns:a16="http://schemas.microsoft.com/office/drawing/2014/main" id="{C87EAB3A-A287-4D38-9791-B907AF782FB0}"/>
              </a:ext>
            </a:extLst>
          </p:cNvPr>
          <p:cNvSpPr/>
          <p:nvPr/>
        </p:nvSpPr>
        <p:spPr>
          <a:xfrm>
            <a:off x="6760714" y="3764756"/>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70</a:t>
            </a:r>
          </a:p>
        </p:txBody>
      </p:sp>
      <p:sp>
        <p:nvSpPr>
          <p:cNvPr id="105" name="Oval 104">
            <a:extLst>
              <a:ext uri="{FF2B5EF4-FFF2-40B4-BE49-F238E27FC236}">
                <a16:creationId xmlns:a16="http://schemas.microsoft.com/office/drawing/2014/main" id="{0F8926EF-2A09-4D76-95D8-01395654BC29}"/>
              </a:ext>
            </a:extLst>
          </p:cNvPr>
          <p:cNvSpPr/>
          <p:nvPr/>
        </p:nvSpPr>
        <p:spPr>
          <a:xfrm>
            <a:off x="7559217" y="3759956"/>
            <a:ext cx="625642" cy="590191"/>
          </a:xfrm>
          <a:prstGeom prst="ellipse">
            <a:avLst/>
          </a:prstGeom>
          <a:solidFill>
            <a:schemeClr val="tx1"/>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90</a:t>
            </a:r>
          </a:p>
        </p:txBody>
      </p:sp>
      <p:sp>
        <p:nvSpPr>
          <p:cNvPr id="106" name="Oval 105">
            <a:extLst>
              <a:ext uri="{FF2B5EF4-FFF2-40B4-BE49-F238E27FC236}">
                <a16:creationId xmlns:a16="http://schemas.microsoft.com/office/drawing/2014/main" id="{806E996B-273A-40BF-A302-56D6A17CD99A}"/>
              </a:ext>
            </a:extLst>
          </p:cNvPr>
          <p:cNvSpPr/>
          <p:nvPr/>
        </p:nvSpPr>
        <p:spPr>
          <a:xfrm>
            <a:off x="8003424" y="4607374"/>
            <a:ext cx="625642" cy="590191"/>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IN" sz="1200" dirty="0"/>
              <a:t>100</a:t>
            </a:r>
          </a:p>
        </p:txBody>
      </p:sp>
      <p:cxnSp>
        <p:nvCxnSpPr>
          <p:cNvPr id="107" name="Straight Arrow Connector 106">
            <a:extLst>
              <a:ext uri="{FF2B5EF4-FFF2-40B4-BE49-F238E27FC236}">
                <a16:creationId xmlns:a16="http://schemas.microsoft.com/office/drawing/2014/main" id="{5E1F8DA2-DE15-49F7-91C0-2675679DBEC3}"/>
              </a:ext>
            </a:extLst>
          </p:cNvPr>
          <p:cNvCxnSpPr>
            <a:cxnSpLocks/>
          </p:cNvCxnSpPr>
          <p:nvPr/>
        </p:nvCxnSpPr>
        <p:spPr>
          <a:xfrm>
            <a:off x="8003424" y="4240275"/>
            <a:ext cx="267693" cy="427016"/>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163814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1850" y="1709738"/>
            <a:ext cx="10515600" cy="2852737"/>
          </a:xfrm>
        </p:spPr>
        <p:txBody>
          <a:bodyPr/>
          <a:lstStyle/>
          <a:p>
            <a:r>
              <a:rPr lang="en-US" dirty="0"/>
              <a:t>Heap &amp; Heap Sort Algorithm</a:t>
            </a:r>
          </a:p>
        </p:txBody>
      </p:sp>
    </p:spTree>
    <p:extLst>
      <p:ext uri="{BB962C8B-B14F-4D97-AF65-F5344CB8AC3E}">
        <p14:creationId xmlns:p14="http://schemas.microsoft.com/office/powerpoint/2010/main" val="2915097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p>
        </p:txBody>
      </p:sp>
      <p:sp>
        <p:nvSpPr>
          <p:cNvPr id="3" name="Content Placeholder 2"/>
          <p:cNvSpPr>
            <a:spLocks noGrp="1"/>
          </p:cNvSpPr>
          <p:nvPr>
            <p:ph idx="1"/>
          </p:nvPr>
        </p:nvSpPr>
        <p:spPr/>
        <p:txBody>
          <a:bodyPr/>
          <a:lstStyle/>
          <a:p>
            <a:r>
              <a:rPr lang="en-US" dirty="0"/>
              <a:t>A heap data structure is a binary tree with the following two properties.</a:t>
            </a:r>
          </a:p>
          <a:p>
            <a:pPr marL="914400" lvl="1" indent="-457200">
              <a:buFont typeface="+mj-lt"/>
              <a:buAutoNum type="arabicPeriod"/>
            </a:pPr>
            <a:r>
              <a:rPr lang="en-US" dirty="0"/>
              <a:t>It is a complete binary tree: Each level of the tree is completely filled, except possibly the bottom level. At this level it is filled from left to right.</a:t>
            </a:r>
          </a:p>
          <a:p>
            <a:pPr marL="914400" lvl="1" indent="-457200">
              <a:buFont typeface="+mj-lt"/>
              <a:buAutoNum type="arabicPeriod"/>
            </a:pPr>
            <a:r>
              <a:rPr lang="en-US" sz="2200" dirty="0"/>
              <a:t>It satisfies the </a:t>
            </a:r>
            <a:r>
              <a:rPr lang="en-US" sz="2200" b="1" dirty="0"/>
              <a:t>heap order </a:t>
            </a:r>
            <a:r>
              <a:rPr lang="en-US" sz="2200" dirty="0"/>
              <a:t>property: </a:t>
            </a:r>
            <a:r>
              <a:rPr lang="en-US" dirty="0"/>
              <a:t>the data item stored in each node is </a:t>
            </a:r>
            <a:r>
              <a:rPr lang="en-US" b="1" dirty="0">
                <a:highlight>
                  <a:srgbClr val="00FF00"/>
                </a:highlight>
              </a:rPr>
              <a:t>greater than or equal</a:t>
            </a:r>
            <a:r>
              <a:rPr lang="en-US" b="1" dirty="0"/>
              <a:t> to </a:t>
            </a:r>
            <a:r>
              <a:rPr lang="en-US" dirty="0"/>
              <a:t>the data item stored in </a:t>
            </a:r>
            <a:r>
              <a:rPr lang="en-US" dirty="0">
                <a:highlight>
                  <a:srgbClr val="00FF00"/>
                </a:highlight>
              </a:rPr>
              <a:t>its children</a:t>
            </a:r>
            <a:r>
              <a:rPr lang="en-US" dirty="0"/>
              <a:t> node.</a:t>
            </a:r>
          </a:p>
          <a:p>
            <a:pPr marL="457200" indent="-457200">
              <a:buFont typeface="+mj-lt"/>
              <a:buAutoNum type="arabicPeriod"/>
            </a:pPr>
            <a:endParaRPr lang="en-US" dirty="0"/>
          </a:p>
          <a:p>
            <a:pPr algn="l"/>
            <a:endParaRPr lang="en-US" dirty="0"/>
          </a:p>
        </p:txBody>
      </p:sp>
      <p:sp>
        <p:nvSpPr>
          <p:cNvPr id="4" name="Oval 3"/>
          <p:cNvSpPr/>
          <p:nvPr/>
        </p:nvSpPr>
        <p:spPr>
          <a:xfrm>
            <a:off x="1285099" y="3045086"/>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890E4F"/>
                </a:solidFill>
              </a:rPr>
              <a:t>a</a:t>
            </a:r>
          </a:p>
        </p:txBody>
      </p:sp>
      <p:sp>
        <p:nvSpPr>
          <p:cNvPr id="5" name="Oval 4"/>
          <p:cNvSpPr/>
          <p:nvPr/>
        </p:nvSpPr>
        <p:spPr>
          <a:xfrm>
            <a:off x="832254" y="3864427"/>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890E4F"/>
                </a:solidFill>
              </a:rPr>
              <a:t>b</a:t>
            </a:r>
          </a:p>
        </p:txBody>
      </p:sp>
      <p:sp>
        <p:nvSpPr>
          <p:cNvPr id="6" name="Oval 5"/>
          <p:cNvSpPr/>
          <p:nvPr/>
        </p:nvSpPr>
        <p:spPr>
          <a:xfrm>
            <a:off x="1731579" y="3864427"/>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890E4F"/>
                </a:solidFill>
              </a:rPr>
              <a:t>c</a:t>
            </a:r>
          </a:p>
        </p:txBody>
      </p:sp>
      <p:sp>
        <p:nvSpPr>
          <p:cNvPr id="7" name="Oval 6"/>
          <p:cNvSpPr/>
          <p:nvPr/>
        </p:nvSpPr>
        <p:spPr>
          <a:xfrm>
            <a:off x="325596" y="4756944"/>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890E4F"/>
                </a:solidFill>
              </a:rPr>
              <a:t>d</a:t>
            </a:r>
          </a:p>
        </p:txBody>
      </p:sp>
      <p:sp>
        <p:nvSpPr>
          <p:cNvPr id="8" name="Oval 7"/>
          <p:cNvSpPr/>
          <p:nvPr/>
        </p:nvSpPr>
        <p:spPr>
          <a:xfrm>
            <a:off x="1324288" y="4756944"/>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890E4F"/>
                </a:solidFill>
              </a:rPr>
              <a:t>e</a:t>
            </a:r>
          </a:p>
        </p:txBody>
      </p:sp>
      <p:sp>
        <p:nvSpPr>
          <p:cNvPr id="9" name="Oval 8"/>
          <p:cNvSpPr/>
          <p:nvPr/>
        </p:nvSpPr>
        <p:spPr>
          <a:xfrm>
            <a:off x="2220556" y="4756944"/>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890E4F"/>
                </a:solidFill>
              </a:rPr>
              <a:t>f</a:t>
            </a:r>
          </a:p>
        </p:txBody>
      </p:sp>
      <p:cxnSp>
        <p:nvCxnSpPr>
          <p:cNvPr id="10" name="Straight Arrow Connector 9"/>
          <p:cNvCxnSpPr>
            <a:stCxn id="4" idx="3"/>
            <a:endCxn id="5" idx="0"/>
          </p:cNvCxnSpPr>
          <p:nvPr/>
        </p:nvCxnSpPr>
        <p:spPr>
          <a:xfrm flipH="1">
            <a:off x="1060854" y="3435331"/>
            <a:ext cx="291200" cy="429096"/>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4" idx="5"/>
            <a:endCxn id="6" idx="0"/>
          </p:cNvCxnSpPr>
          <p:nvPr/>
        </p:nvCxnSpPr>
        <p:spPr>
          <a:xfrm>
            <a:off x="1675344" y="3435331"/>
            <a:ext cx="284835" cy="429096"/>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5" idx="3"/>
            <a:endCxn id="7" idx="0"/>
          </p:cNvCxnSpPr>
          <p:nvPr/>
        </p:nvCxnSpPr>
        <p:spPr>
          <a:xfrm flipH="1">
            <a:off x="554196" y="4254672"/>
            <a:ext cx="345013" cy="502272"/>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5" idx="5"/>
            <a:endCxn id="8" idx="0"/>
          </p:cNvCxnSpPr>
          <p:nvPr/>
        </p:nvCxnSpPr>
        <p:spPr>
          <a:xfrm>
            <a:off x="1222499" y="4254672"/>
            <a:ext cx="330389" cy="502272"/>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5"/>
            <a:endCxn id="9" idx="0"/>
          </p:cNvCxnSpPr>
          <p:nvPr/>
        </p:nvCxnSpPr>
        <p:spPr>
          <a:xfrm>
            <a:off x="2121824" y="4254672"/>
            <a:ext cx="327332" cy="502272"/>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69817" y="5543625"/>
            <a:ext cx="2965269" cy="400110"/>
          </a:xfrm>
          <a:prstGeom prst="rect">
            <a:avLst/>
          </a:prstGeom>
          <a:noFill/>
        </p:spPr>
        <p:txBody>
          <a:bodyPr wrap="square" rtlCol="0">
            <a:spAutoFit/>
          </a:bodyPr>
          <a:lstStyle/>
          <a:p>
            <a:r>
              <a:rPr lang="en-US" sz="2000" dirty="0">
                <a:solidFill>
                  <a:srgbClr val="A71160"/>
                </a:solidFill>
              </a:rPr>
              <a:t>Binary Tree but not a Heap</a:t>
            </a:r>
          </a:p>
        </p:txBody>
      </p:sp>
      <p:sp>
        <p:nvSpPr>
          <p:cNvPr id="27" name="TextBox 26"/>
          <p:cNvSpPr txBox="1"/>
          <p:nvPr/>
        </p:nvSpPr>
        <p:spPr>
          <a:xfrm>
            <a:off x="3283133" y="5543625"/>
            <a:ext cx="3065416" cy="400110"/>
          </a:xfrm>
          <a:prstGeom prst="rect">
            <a:avLst/>
          </a:prstGeom>
          <a:noFill/>
        </p:spPr>
        <p:txBody>
          <a:bodyPr wrap="square" rtlCol="0">
            <a:spAutoFit/>
          </a:bodyPr>
          <a:lstStyle/>
          <a:p>
            <a:r>
              <a:rPr lang="en-US" sz="2000" dirty="0">
                <a:solidFill>
                  <a:srgbClr val="A71160"/>
                </a:solidFill>
              </a:rPr>
              <a:t>Complete Binary Tree - Heap</a:t>
            </a:r>
          </a:p>
        </p:txBody>
      </p:sp>
      <p:sp>
        <p:nvSpPr>
          <p:cNvPr id="28" name="Rounded Rectangle 27"/>
          <p:cNvSpPr/>
          <p:nvPr/>
        </p:nvSpPr>
        <p:spPr>
          <a:xfrm rot="19694728">
            <a:off x="1886782" y="3764032"/>
            <a:ext cx="640080" cy="1554480"/>
          </a:xfrm>
          <a:prstGeom prst="round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p:cNvSpPr/>
          <p:nvPr/>
        </p:nvSpPr>
        <p:spPr>
          <a:xfrm rot="581997">
            <a:off x="4854015" y="3828756"/>
            <a:ext cx="640080" cy="1554480"/>
          </a:xfrm>
          <a:prstGeom prst="roundRect">
            <a:avLst/>
          </a:prstGeom>
          <a:solidFill>
            <a:srgbClr val="00B05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4389709" y="3045086"/>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890E4F"/>
                </a:solidFill>
              </a:rPr>
              <a:t>a</a:t>
            </a:r>
          </a:p>
        </p:txBody>
      </p:sp>
      <p:sp>
        <p:nvSpPr>
          <p:cNvPr id="60" name="Oval 59"/>
          <p:cNvSpPr/>
          <p:nvPr/>
        </p:nvSpPr>
        <p:spPr>
          <a:xfrm>
            <a:off x="3936864" y="3851364"/>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890E4F"/>
                </a:solidFill>
              </a:rPr>
              <a:t>b</a:t>
            </a:r>
          </a:p>
        </p:txBody>
      </p:sp>
      <p:sp>
        <p:nvSpPr>
          <p:cNvPr id="61" name="Oval 60"/>
          <p:cNvSpPr/>
          <p:nvPr/>
        </p:nvSpPr>
        <p:spPr>
          <a:xfrm>
            <a:off x="4966818" y="390361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890E4F"/>
                </a:solidFill>
              </a:rPr>
              <a:t>c</a:t>
            </a:r>
          </a:p>
        </p:txBody>
      </p:sp>
      <p:sp>
        <p:nvSpPr>
          <p:cNvPr id="62" name="Oval 61"/>
          <p:cNvSpPr/>
          <p:nvPr/>
        </p:nvSpPr>
        <p:spPr>
          <a:xfrm>
            <a:off x="3560835" y="478307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890E4F"/>
                </a:solidFill>
              </a:rPr>
              <a:t>d</a:t>
            </a:r>
          </a:p>
        </p:txBody>
      </p:sp>
      <p:sp>
        <p:nvSpPr>
          <p:cNvPr id="63" name="Oval 62"/>
          <p:cNvSpPr/>
          <p:nvPr/>
        </p:nvSpPr>
        <p:spPr>
          <a:xfrm>
            <a:off x="4285206" y="478307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890E4F"/>
                </a:solidFill>
              </a:rPr>
              <a:t>e</a:t>
            </a:r>
          </a:p>
        </p:txBody>
      </p:sp>
      <p:sp>
        <p:nvSpPr>
          <p:cNvPr id="64" name="Oval 63"/>
          <p:cNvSpPr/>
          <p:nvPr/>
        </p:nvSpPr>
        <p:spPr>
          <a:xfrm>
            <a:off x="4881028" y="478307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890E4F"/>
                </a:solidFill>
              </a:rPr>
              <a:t>f</a:t>
            </a:r>
          </a:p>
        </p:txBody>
      </p:sp>
      <p:cxnSp>
        <p:nvCxnSpPr>
          <p:cNvPr id="65" name="Straight Arrow Connector 64"/>
          <p:cNvCxnSpPr>
            <a:stCxn id="59" idx="3"/>
            <a:endCxn id="60" idx="0"/>
          </p:cNvCxnSpPr>
          <p:nvPr/>
        </p:nvCxnSpPr>
        <p:spPr>
          <a:xfrm flipH="1">
            <a:off x="4165464" y="3435331"/>
            <a:ext cx="291200" cy="416033"/>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59" idx="5"/>
            <a:endCxn id="61" idx="0"/>
          </p:cNvCxnSpPr>
          <p:nvPr/>
        </p:nvCxnSpPr>
        <p:spPr>
          <a:xfrm>
            <a:off x="4779954" y="3435331"/>
            <a:ext cx="415464" cy="468284"/>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60" idx="3"/>
            <a:endCxn id="62" idx="0"/>
          </p:cNvCxnSpPr>
          <p:nvPr/>
        </p:nvCxnSpPr>
        <p:spPr>
          <a:xfrm flipH="1">
            <a:off x="3789435" y="4241609"/>
            <a:ext cx="214384" cy="541461"/>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60" idx="5"/>
            <a:endCxn id="63" idx="0"/>
          </p:cNvCxnSpPr>
          <p:nvPr/>
        </p:nvCxnSpPr>
        <p:spPr>
          <a:xfrm>
            <a:off x="4327109" y="4241609"/>
            <a:ext cx="186697" cy="541461"/>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61" idx="4"/>
            <a:endCxn id="64" idx="0"/>
          </p:cNvCxnSpPr>
          <p:nvPr/>
        </p:nvCxnSpPr>
        <p:spPr>
          <a:xfrm flipH="1">
            <a:off x="5109628" y="4360815"/>
            <a:ext cx="85790" cy="422255"/>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7764289" y="3045086"/>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890E4F"/>
                </a:solidFill>
              </a:rPr>
              <a:t>9</a:t>
            </a:r>
          </a:p>
        </p:txBody>
      </p:sp>
      <p:sp>
        <p:nvSpPr>
          <p:cNvPr id="31" name="Oval 30"/>
          <p:cNvSpPr/>
          <p:nvPr/>
        </p:nvSpPr>
        <p:spPr>
          <a:xfrm>
            <a:off x="7154689" y="3851364"/>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890E4F"/>
                </a:solidFill>
              </a:rPr>
              <a:t>6</a:t>
            </a:r>
          </a:p>
        </p:txBody>
      </p:sp>
      <p:sp>
        <p:nvSpPr>
          <p:cNvPr id="32" name="Oval 31"/>
          <p:cNvSpPr/>
          <p:nvPr/>
        </p:nvSpPr>
        <p:spPr>
          <a:xfrm>
            <a:off x="8332019" y="3851364"/>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890E4F"/>
                </a:solidFill>
              </a:rPr>
              <a:t>7</a:t>
            </a:r>
          </a:p>
        </p:txBody>
      </p:sp>
      <p:sp>
        <p:nvSpPr>
          <p:cNvPr id="33" name="Oval 32"/>
          <p:cNvSpPr/>
          <p:nvPr/>
        </p:nvSpPr>
        <p:spPr>
          <a:xfrm>
            <a:off x="6608844" y="480421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890E4F"/>
                </a:solidFill>
              </a:rPr>
              <a:t>2</a:t>
            </a:r>
          </a:p>
        </p:txBody>
      </p:sp>
      <p:sp>
        <p:nvSpPr>
          <p:cNvPr id="34" name="Oval 33"/>
          <p:cNvSpPr/>
          <p:nvPr/>
        </p:nvSpPr>
        <p:spPr>
          <a:xfrm>
            <a:off x="7584785" y="4796133"/>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890E4F"/>
                </a:solidFill>
              </a:rPr>
              <a:t>4</a:t>
            </a:r>
          </a:p>
        </p:txBody>
      </p:sp>
      <p:sp>
        <p:nvSpPr>
          <p:cNvPr id="35" name="Oval 34"/>
          <p:cNvSpPr/>
          <p:nvPr/>
        </p:nvSpPr>
        <p:spPr>
          <a:xfrm>
            <a:off x="8128217" y="4796133"/>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890E4F"/>
                </a:solidFill>
              </a:rPr>
              <a:t>8</a:t>
            </a:r>
          </a:p>
        </p:txBody>
      </p:sp>
      <p:cxnSp>
        <p:nvCxnSpPr>
          <p:cNvPr id="36" name="Straight Arrow Connector 35"/>
          <p:cNvCxnSpPr>
            <a:stCxn id="30" idx="3"/>
            <a:endCxn id="31" idx="0"/>
          </p:cNvCxnSpPr>
          <p:nvPr/>
        </p:nvCxnSpPr>
        <p:spPr>
          <a:xfrm flipH="1">
            <a:off x="7383289" y="3435331"/>
            <a:ext cx="447955" cy="416033"/>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30" idx="5"/>
            <a:endCxn id="32" idx="0"/>
          </p:cNvCxnSpPr>
          <p:nvPr/>
        </p:nvCxnSpPr>
        <p:spPr>
          <a:xfrm>
            <a:off x="8154534" y="3435331"/>
            <a:ext cx="406085" cy="416033"/>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31" idx="3"/>
            <a:endCxn id="33" idx="0"/>
          </p:cNvCxnSpPr>
          <p:nvPr/>
        </p:nvCxnSpPr>
        <p:spPr>
          <a:xfrm flipH="1">
            <a:off x="6837444" y="4241609"/>
            <a:ext cx="384200" cy="562606"/>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31" idx="5"/>
            <a:endCxn id="34" idx="0"/>
          </p:cNvCxnSpPr>
          <p:nvPr/>
        </p:nvCxnSpPr>
        <p:spPr>
          <a:xfrm>
            <a:off x="7544934" y="4241609"/>
            <a:ext cx="268451" cy="554524"/>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32" idx="4"/>
            <a:endCxn id="35" idx="0"/>
          </p:cNvCxnSpPr>
          <p:nvPr/>
        </p:nvCxnSpPr>
        <p:spPr>
          <a:xfrm flipH="1">
            <a:off x="8356817" y="4308564"/>
            <a:ext cx="203802" cy="487569"/>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7310858" y="5543625"/>
            <a:ext cx="1323690" cy="400110"/>
          </a:xfrm>
          <a:prstGeom prst="rect">
            <a:avLst/>
          </a:prstGeom>
          <a:noFill/>
        </p:spPr>
        <p:txBody>
          <a:bodyPr wrap="square" rtlCol="0">
            <a:spAutoFit/>
          </a:bodyPr>
          <a:lstStyle/>
          <a:p>
            <a:r>
              <a:rPr lang="en-US" sz="2000" dirty="0">
                <a:solidFill>
                  <a:srgbClr val="A71160"/>
                </a:solidFill>
              </a:rPr>
              <a:t>Not a Heap</a:t>
            </a:r>
          </a:p>
        </p:txBody>
      </p:sp>
      <p:sp>
        <p:nvSpPr>
          <p:cNvPr id="42" name="Oval 41"/>
          <p:cNvSpPr/>
          <p:nvPr/>
        </p:nvSpPr>
        <p:spPr>
          <a:xfrm>
            <a:off x="10512467" y="3045086"/>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890E4F"/>
                </a:solidFill>
              </a:rPr>
              <a:t>9</a:t>
            </a:r>
          </a:p>
        </p:txBody>
      </p:sp>
      <p:sp>
        <p:nvSpPr>
          <p:cNvPr id="43" name="Oval 42"/>
          <p:cNvSpPr/>
          <p:nvPr/>
        </p:nvSpPr>
        <p:spPr>
          <a:xfrm>
            <a:off x="9824491" y="3851364"/>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890E4F"/>
                </a:solidFill>
              </a:rPr>
              <a:t>6</a:t>
            </a:r>
          </a:p>
        </p:txBody>
      </p:sp>
      <p:sp>
        <p:nvSpPr>
          <p:cNvPr id="44" name="Oval 43"/>
          <p:cNvSpPr/>
          <p:nvPr/>
        </p:nvSpPr>
        <p:spPr>
          <a:xfrm>
            <a:off x="11302145" y="3851364"/>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890E4F"/>
                </a:solidFill>
              </a:rPr>
              <a:t>7</a:t>
            </a:r>
          </a:p>
        </p:txBody>
      </p:sp>
      <p:sp>
        <p:nvSpPr>
          <p:cNvPr id="45" name="Oval 44"/>
          <p:cNvSpPr/>
          <p:nvPr/>
        </p:nvSpPr>
        <p:spPr>
          <a:xfrm>
            <a:off x="9330897" y="480421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890E4F"/>
                </a:solidFill>
              </a:rPr>
              <a:t>2</a:t>
            </a:r>
          </a:p>
        </p:txBody>
      </p:sp>
      <p:sp>
        <p:nvSpPr>
          <p:cNvPr id="46" name="Oval 45"/>
          <p:cNvSpPr/>
          <p:nvPr/>
        </p:nvSpPr>
        <p:spPr>
          <a:xfrm>
            <a:off x="10309550" y="480421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890E4F"/>
                </a:solidFill>
              </a:rPr>
              <a:t>4</a:t>
            </a:r>
          </a:p>
        </p:txBody>
      </p:sp>
      <p:sp>
        <p:nvSpPr>
          <p:cNvPr id="47" name="Oval 46"/>
          <p:cNvSpPr/>
          <p:nvPr/>
        </p:nvSpPr>
        <p:spPr>
          <a:xfrm>
            <a:off x="11145478" y="480421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890E4F"/>
                </a:solidFill>
              </a:rPr>
              <a:t>1</a:t>
            </a:r>
          </a:p>
        </p:txBody>
      </p:sp>
      <p:cxnSp>
        <p:nvCxnSpPr>
          <p:cNvPr id="48" name="Straight Arrow Connector 47"/>
          <p:cNvCxnSpPr>
            <a:stCxn id="42" idx="3"/>
            <a:endCxn id="43" idx="0"/>
          </p:cNvCxnSpPr>
          <p:nvPr/>
        </p:nvCxnSpPr>
        <p:spPr>
          <a:xfrm flipH="1">
            <a:off x="10053091" y="3435331"/>
            <a:ext cx="526331" cy="416033"/>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42" idx="5"/>
            <a:endCxn id="44" idx="1"/>
          </p:cNvCxnSpPr>
          <p:nvPr/>
        </p:nvCxnSpPr>
        <p:spPr>
          <a:xfrm>
            <a:off x="10902712" y="3435331"/>
            <a:ext cx="466388" cy="482988"/>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43" idx="3"/>
            <a:endCxn id="45" idx="0"/>
          </p:cNvCxnSpPr>
          <p:nvPr/>
        </p:nvCxnSpPr>
        <p:spPr>
          <a:xfrm flipH="1">
            <a:off x="9559497" y="4241609"/>
            <a:ext cx="331949" cy="562606"/>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43" idx="5"/>
            <a:endCxn id="46" idx="0"/>
          </p:cNvCxnSpPr>
          <p:nvPr/>
        </p:nvCxnSpPr>
        <p:spPr>
          <a:xfrm>
            <a:off x="10214736" y="4241609"/>
            <a:ext cx="323414" cy="562606"/>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44" idx="4"/>
            <a:endCxn id="47" idx="0"/>
          </p:cNvCxnSpPr>
          <p:nvPr/>
        </p:nvCxnSpPr>
        <p:spPr>
          <a:xfrm flipH="1">
            <a:off x="11374078" y="4308564"/>
            <a:ext cx="156667" cy="495651"/>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0535781" y="5543625"/>
            <a:ext cx="904728" cy="400110"/>
          </a:xfrm>
          <a:prstGeom prst="rect">
            <a:avLst/>
          </a:prstGeom>
          <a:noFill/>
        </p:spPr>
        <p:txBody>
          <a:bodyPr wrap="square" rtlCol="0">
            <a:spAutoFit/>
          </a:bodyPr>
          <a:lstStyle/>
          <a:p>
            <a:pPr algn="ctr"/>
            <a:r>
              <a:rPr lang="en-US" sz="2000" dirty="0">
                <a:solidFill>
                  <a:srgbClr val="A71160"/>
                </a:solidFill>
              </a:rPr>
              <a:t>Heap </a:t>
            </a:r>
          </a:p>
        </p:txBody>
      </p:sp>
      <p:sp>
        <p:nvSpPr>
          <p:cNvPr id="54" name="Rounded Rectangle 53"/>
          <p:cNvSpPr/>
          <p:nvPr/>
        </p:nvSpPr>
        <p:spPr>
          <a:xfrm rot="627634">
            <a:off x="8153361" y="3793047"/>
            <a:ext cx="640080" cy="1554480"/>
          </a:xfrm>
          <a:prstGeom prst="round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8856152" y="3824729"/>
            <a:ext cx="2286000" cy="155447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10945906" y="3745035"/>
            <a:ext cx="1021976" cy="167413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Connector 75"/>
          <p:cNvCxnSpPr/>
          <p:nvPr/>
        </p:nvCxnSpPr>
        <p:spPr>
          <a:xfrm flipH="1">
            <a:off x="6396449" y="2690948"/>
            <a:ext cx="0" cy="34747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511629" y="2677885"/>
            <a:ext cx="1116874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862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82"/>
                                        </p:tgtEl>
                                        <p:attrNameLst>
                                          <p:attrName>style.visibility</p:attrName>
                                        </p:attrNameLst>
                                      </p:cBhvr>
                                      <p:to>
                                        <p:strVal val="visible"/>
                                      </p:to>
                                    </p:set>
                                    <p:animEffect transition="in" filter="wipe(left)">
                                      <p:cBhvr>
                                        <p:cTn id="16" dur="500"/>
                                        <p:tgtEl>
                                          <p:spTgt spid="8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500"/>
                                        <p:tgtEl>
                                          <p:spTgt spid="10"/>
                                        </p:tgtEl>
                                      </p:cBhvr>
                                    </p:animEffect>
                                  </p:childTnLst>
                                </p:cTn>
                              </p:par>
                              <p:par>
                                <p:cTn id="27" presetID="22" presetClass="entr" presetSubtype="1"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up)">
                                      <p:cBhvr>
                                        <p:cTn id="29" dur="500"/>
                                        <p:tgtEl>
                                          <p:spTgt spid="11"/>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up)">
                                      <p:cBhvr>
                                        <p:cTn id="41" dur="500"/>
                                        <p:tgtEl>
                                          <p:spTgt spid="12"/>
                                        </p:tgtEl>
                                      </p:cBhvr>
                                    </p:animEffect>
                                  </p:childTnLst>
                                </p:cTn>
                              </p:par>
                              <p:par>
                                <p:cTn id="42" presetID="22" presetClass="entr" presetSubtype="1"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up)">
                                      <p:cBhvr>
                                        <p:cTn id="44" dur="500"/>
                                        <p:tgtEl>
                                          <p:spTgt spid="13"/>
                                        </p:tgtEl>
                                      </p:cBhvr>
                                    </p:animEffect>
                                  </p:childTnLst>
                                </p:cTn>
                              </p:par>
                            </p:childTnLst>
                          </p:cTn>
                        </p:par>
                        <p:par>
                          <p:cTn id="45" fill="hold">
                            <p:stCondLst>
                              <p:cond delay="500"/>
                            </p:stCondLst>
                            <p:childTnLst>
                              <p:par>
                                <p:cTn id="46" presetID="10" presetClass="entr" presetSubtype="0" fill="hold" grpId="0" nodeType="after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500"/>
                                        <p:tgtEl>
                                          <p:spTgt spid="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500"/>
                                        <p:tgtEl>
                                          <p:spTgt spid="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wipe(up)">
                                      <p:cBhvr>
                                        <p:cTn id="56" dur="500"/>
                                        <p:tgtEl>
                                          <p:spTgt spid="14"/>
                                        </p:tgtEl>
                                      </p:cBhvr>
                                    </p:animEffect>
                                  </p:childTnLst>
                                </p:cTn>
                              </p:par>
                            </p:childTnLst>
                          </p:cTn>
                        </p:par>
                        <p:par>
                          <p:cTn id="57" fill="hold">
                            <p:stCondLst>
                              <p:cond delay="500"/>
                            </p:stCondLst>
                            <p:childTnLst>
                              <p:par>
                                <p:cTn id="58" presetID="10" presetClass="entr" presetSubtype="0" fill="hold" grpId="0" nodeType="after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500"/>
                                        <p:tgtEl>
                                          <p:spTgt spid="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wipe(up)">
                                      <p:cBhvr>
                                        <p:cTn id="65" dur="500"/>
                                        <p:tgtEl>
                                          <p:spTgt spid="2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500"/>
                                        <p:tgtEl>
                                          <p:spTgt spid="15"/>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59"/>
                                        </p:tgtEl>
                                        <p:attrNameLst>
                                          <p:attrName>style.visibility</p:attrName>
                                        </p:attrNameLst>
                                      </p:cBhvr>
                                      <p:to>
                                        <p:strVal val="visible"/>
                                      </p:to>
                                    </p:set>
                                    <p:animEffect transition="in" filter="fade">
                                      <p:cBhvr>
                                        <p:cTn id="75" dur="500"/>
                                        <p:tgtEl>
                                          <p:spTgt spid="59"/>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nodeType="clickEffect">
                                  <p:stCondLst>
                                    <p:cond delay="0"/>
                                  </p:stCondLst>
                                  <p:childTnLst>
                                    <p:set>
                                      <p:cBhvr>
                                        <p:cTn id="79" dur="1" fill="hold">
                                          <p:stCondLst>
                                            <p:cond delay="0"/>
                                          </p:stCondLst>
                                        </p:cTn>
                                        <p:tgtEl>
                                          <p:spTgt spid="65"/>
                                        </p:tgtEl>
                                        <p:attrNameLst>
                                          <p:attrName>style.visibility</p:attrName>
                                        </p:attrNameLst>
                                      </p:cBhvr>
                                      <p:to>
                                        <p:strVal val="visible"/>
                                      </p:to>
                                    </p:set>
                                    <p:animEffect transition="in" filter="wipe(up)">
                                      <p:cBhvr>
                                        <p:cTn id="80" dur="500"/>
                                        <p:tgtEl>
                                          <p:spTgt spid="65"/>
                                        </p:tgtEl>
                                      </p:cBhvr>
                                    </p:animEffect>
                                  </p:childTnLst>
                                </p:cTn>
                              </p:par>
                              <p:par>
                                <p:cTn id="81" presetID="22" presetClass="entr" presetSubtype="1" fill="hold" nodeType="withEffect">
                                  <p:stCondLst>
                                    <p:cond delay="0"/>
                                  </p:stCondLst>
                                  <p:childTnLst>
                                    <p:set>
                                      <p:cBhvr>
                                        <p:cTn id="82" dur="1" fill="hold">
                                          <p:stCondLst>
                                            <p:cond delay="0"/>
                                          </p:stCondLst>
                                        </p:cTn>
                                        <p:tgtEl>
                                          <p:spTgt spid="66"/>
                                        </p:tgtEl>
                                        <p:attrNameLst>
                                          <p:attrName>style.visibility</p:attrName>
                                        </p:attrNameLst>
                                      </p:cBhvr>
                                      <p:to>
                                        <p:strVal val="visible"/>
                                      </p:to>
                                    </p:set>
                                    <p:animEffect transition="in" filter="wipe(up)">
                                      <p:cBhvr>
                                        <p:cTn id="83" dur="500"/>
                                        <p:tgtEl>
                                          <p:spTgt spid="66"/>
                                        </p:tgtEl>
                                      </p:cBhvr>
                                    </p:animEffect>
                                  </p:childTnLst>
                                </p:cTn>
                              </p:par>
                            </p:childTnLst>
                          </p:cTn>
                        </p:par>
                        <p:par>
                          <p:cTn id="84" fill="hold">
                            <p:stCondLst>
                              <p:cond delay="500"/>
                            </p:stCondLst>
                            <p:childTnLst>
                              <p:par>
                                <p:cTn id="85" presetID="10" presetClass="entr" presetSubtype="0" fill="hold" grpId="0" nodeType="afterEffect">
                                  <p:stCondLst>
                                    <p:cond delay="0"/>
                                  </p:stCondLst>
                                  <p:childTnLst>
                                    <p:set>
                                      <p:cBhvr>
                                        <p:cTn id="86" dur="1" fill="hold">
                                          <p:stCondLst>
                                            <p:cond delay="0"/>
                                          </p:stCondLst>
                                        </p:cTn>
                                        <p:tgtEl>
                                          <p:spTgt spid="60"/>
                                        </p:tgtEl>
                                        <p:attrNameLst>
                                          <p:attrName>style.visibility</p:attrName>
                                        </p:attrNameLst>
                                      </p:cBhvr>
                                      <p:to>
                                        <p:strVal val="visible"/>
                                      </p:to>
                                    </p:set>
                                    <p:animEffect transition="in" filter="fade">
                                      <p:cBhvr>
                                        <p:cTn id="87" dur="500"/>
                                        <p:tgtEl>
                                          <p:spTgt spid="6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61"/>
                                        </p:tgtEl>
                                        <p:attrNameLst>
                                          <p:attrName>style.visibility</p:attrName>
                                        </p:attrNameLst>
                                      </p:cBhvr>
                                      <p:to>
                                        <p:strVal val="visible"/>
                                      </p:to>
                                    </p:set>
                                    <p:animEffect transition="in" filter="fade">
                                      <p:cBhvr>
                                        <p:cTn id="90" dur="500"/>
                                        <p:tgtEl>
                                          <p:spTgt spid="61"/>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1" fill="hold" nodeType="clickEffect">
                                  <p:stCondLst>
                                    <p:cond delay="0"/>
                                  </p:stCondLst>
                                  <p:childTnLst>
                                    <p:set>
                                      <p:cBhvr>
                                        <p:cTn id="94" dur="1" fill="hold">
                                          <p:stCondLst>
                                            <p:cond delay="0"/>
                                          </p:stCondLst>
                                        </p:cTn>
                                        <p:tgtEl>
                                          <p:spTgt spid="67"/>
                                        </p:tgtEl>
                                        <p:attrNameLst>
                                          <p:attrName>style.visibility</p:attrName>
                                        </p:attrNameLst>
                                      </p:cBhvr>
                                      <p:to>
                                        <p:strVal val="visible"/>
                                      </p:to>
                                    </p:set>
                                    <p:animEffect transition="in" filter="wipe(up)">
                                      <p:cBhvr>
                                        <p:cTn id="95" dur="500"/>
                                        <p:tgtEl>
                                          <p:spTgt spid="67"/>
                                        </p:tgtEl>
                                      </p:cBhvr>
                                    </p:animEffect>
                                  </p:childTnLst>
                                </p:cTn>
                              </p:par>
                              <p:par>
                                <p:cTn id="96" presetID="22" presetClass="entr" presetSubtype="1" fill="hold" nodeType="withEffect">
                                  <p:stCondLst>
                                    <p:cond delay="0"/>
                                  </p:stCondLst>
                                  <p:childTnLst>
                                    <p:set>
                                      <p:cBhvr>
                                        <p:cTn id="97" dur="1" fill="hold">
                                          <p:stCondLst>
                                            <p:cond delay="0"/>
                                          </p:stCondLst>
                                        </p:cTn>
                                        <p:tgtEl>
                                          <p:spTgt spid="68"/>
                                        </p:tgtEl>
                                        <p:attrNameLst>
                                          <p:attrName>style.visibility</p:attrName>
                                        </p:attrNameLst>
                                      </p:cBhvr>
                                      <p:to>
                                        <p:strVal val="visible"/>
                                      </p:to>
                                    </p:set>
                                    <p:animEffect transition="in" filter="wipe(up)">
                                      <p:cBhvr>
                                        <p:cTn id="98" dur="500"/>
                                        <p:tgtEl>
                                          <p:spTgt spid="68"/>
                                        </p:tgtEl>
                                      </p:cBhvr>
                                    </p:animEffect>
                                  </p:childTnLst>
                                </p:cTn>
                              </p:par>
                            </p:childTnLst>
                          </p:cTn>
                        </p:par>
                        <p:par>
                          <p:cTn id="99" fill="hold">
                            <p:stCondLst>
                              <p:cond delay="500"/>
                            </p:stCondLst>
                            <p:childTnLst>
                              <p:par>
                                <p:cTn id="100" presetID="10" presetClass="entr" presetSubtype="0" fill="hold" grpId="0" nodeType="afterEffect">
                                  <p:stCondLst>
                                    <p:cond delay="0"/>
                                  </p:stCondLst>
                                  <p:childTnLst>
                                    <p:set>
                                      <p:cBhvr>
                                        <p:cTn id="101" dur="1" fill="hold">
                                          <p:stCondLst>
                                            <p:cond delay="0"/>
                                          </p:stCondLst>
                                        </p:cTn>
                                        <p:tgtEl>
                                          <p:spTgt spid="62"/>
                                        </p:tgtEl>
                                        <p:attrNameLst>
                                          <p:attrName>style.visibility</p:attrName>
                                        </p:attrNameLst>
                                      </p:cBhvr>
                                      <p:to>
                                        <p:strVal val="visible"/>
                                      </p:to>
                                    </p:set>
                                    <p:animEffect transition="in" filter="fade">
                                      <p:cBhvr>
                                        <p:cTn id="102" dur="500"/>
                                        <p:tgtEl>
                                          <p:spTgt spid="62"/>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63"/>
                                        </p:tgtEl>
                                        <p:attrNameLst>
                                          <p:attrName>style.visibility</p:attrName>
                                        </p:attrNameLst>
                                      </p:cBhvr>
                                      <p:to>
                                        <p:strVal val="visible"/>
                                      </p:to>
                                    </p:set>
                                    <p:animEffect transition="in" filter="fade">
                                      <p:cBhvr>
                                        <p:cTn id="105" dur="500"/>
                                        <p:tgtEl>
                                          <p:spTgt spid="63"/>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1" fill="hold" nodeType="clickEffect">
                                  <p:stCondLst>
                                    <p:cond delay="0"/>
                                  </p:stCondLst>
                                  <p:childTnLst>
                                    <p:set>
                                      <p:cBhvr>
                                        <p:cTn id="109" dur="1" fill="hold">
                                          <p:stCondLst>
                                            <p:cond delay="0"/>
                                          </p:stCondLst>
                                        </p:cTn>
                                        <p:tgtEl>
                                          <p:spTgt spid="69"/>
                                        </p:tgtEl>
                                        <p:attrNameLst>
                                          <p:attrName>style.visibility</p:attrName>
                                        </p:attrNameLst>
                                      </p:cBhvr>
                                      <p:to>
                                        <p:strVal val="visible"/>
                                      </p:to>
                                    </p:set>
                                    <p:animEffect transition="in" filter="wipe(up)">
                                      <p:cBhvr>
                                        <p:cTn id="110" dur="500"/>
                                        <p:tgtEl>
                                          <p:spTgt spid="69"/>
                                        </p:tgtEl>
                                      </p:cBhvr>
                                    </p:animEffect>
                                  </p:childTnLst>
                                </p:cTn>
                              </p:par>
                            </p:childTnLst>
                          </p:cTn>
                        </p:par>
                        <p:par>
                          <p:cTn id="111" fill="hold">
                            <p:stCondLst>
                              <p:cond delay="500"/>
                            </p:stCondLst>
                            <p:childTnLst>
                              <p:par>
                                <p:cTn id="112" presetID="10" presetClass="entr" presetSubtype="0" fill="hold" grpId="0" nodeType="afterEffect">
                                  <p:stCondLst>
                                    <p:cond delay="0"/>
                                  </p:stCondLst>
                                  <p:childTnLst>
                                    <p:set>
                                      <p:cBhvr>
                                        <p:cTn id="113" dur="1" fill="hold">
                                          <p:stCondLst>
                                            <p:cond delay="0"/>
                                          </p:stCondLst>
                                        </p:cTn>
                                        <p:tgtEl>
                                          <p:spTgt spid="64"/>
                                        </p:tgtEl>
                                        <p:attrNameLst>
                                          <p:attrName>style.visibility</p:attrName>
                                        </p:attrNameLst>
                                      </p:cBhvr>
                                      <p:to>
                                        <p:strVal val="visible"/>
                                      </p:to>
                                    </p:set>
                                    <p:animEffect transition="in" filter="fade">
                                      <p:cBhvr>
                                        <p:cTn id="114" dur="500"/>
                                        <p:tgtEl>
                                          <p:spTgt spid="64"/>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1" fill="hold" grpId="0" nodeType="clickEffect">
                                  <p:stCondLst>
                                    <p:cond delay="0"/>
                                  </p:stCondLst>
                                  <p:childTnLst>
                                    <p:set>
                                      <p:cBhvr>
                                        <p:cTn id="118" dur="1" fill="hold">
                                          <p:stCondLst>
                                            <p:cond delay="0"/>
                                          </p:stCondLst>
                                        </p:cTn>
                                        <p:tgtEl>
                                          <p:spTgt spid="29"/>
                                        </p:tgtEl>
                                        <p:attrNameLst>
                                          <p:attrName>style.visibility</p:attrName>
                                        </p:attrNameLst>
                                      </p:cBhvr>
                                      <p:to>
                                        <p:strVal val="visible"/>
                                      </p:to>
                                    </p:set>
                                    <p:animEffect transition="in" filter="wipe(up)">
                                      <p:cBhvr>
                                        <p:cTn id="119" dur="500"/>
                                        <p:tgtEl>
                                          <p:spTgt spid="29"/>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27"/>
                                        </p:tgtEl>
                                        <p:attrNameLst>
                                          <p:attrName>style.visibility</p:attrName>
                                        </p:attrNameLst>
                                      </p:cBhvr>
                                      <p:to>
                                        <p:strVal val="visible"/>
                                      </p:to>
                                    </p:set>
                                    <p:animEffect transition="in" filter="fade">
                                      <p:cBhvr>
                                        <p:cTn id="124" dur="500"/>
                                        <p:tgtEl>
                                          <p:spTgt spid="27"/>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3">
                                            <p:txEl>
                                              <p:pRg st="2" end="2"/>
                                            </p:txEl>
                                          </p:spTgt>
                                        </p:tgtEl>
                                        <p:attrNameLst>
                                          <p:attrName>style.visibility</p:attrName>
                                        </p:attrNameLst>
                                      </p:cBhvr>
                                      <p:to>
                                        <p:strVal val="visible"/>
                                      </p:to>
                                    </p:set>
                                    <p:animEffect transition="in" filter="fade">
                                      <p:cBhvr>
                                        <p:cTn id="129" dur="500"/>
                                        <p:tgtEl>
                                          <p:spTgt spid="3">
                                            <p:txEl>
                                              <p:pRg st="2" end="2"/>
                                            </p:txEl>
                                          </p:spTgt>
                                        </p:tgtEl>
                                      </p:cBhvr>
                                    </p:animEffect>
                                  </p:childTnLst>
                                </p:cTn>
                              </p:par>
                            </p:childTnLst>
                          </p:cTn>
                        </p:par>
                        <p:par>
                          <p:cTn id="130" fill="hold">
                            <p:stCondLst>
                              <p:cond delay="500"/>
                            </p:stCondLst>
                            <p:childTnLst>
                              <p:par>
                                <p:cTn id="131" presetID="22" presetClass="entr" presetSubtype="1" fill="hold" nodeType="afterEffect">
                                  <p:stCondLst>
                                    <p:cond delay="0"/>
                                  </p:stCondLst>
                                  <p:childTnLst>
                                    <p:set>
                                      <p:cBhvr>
                                        <p:cTn id="132" dur="1" fill="hold">
                                          <p:stCondLst>
                                            <p:cond delay="0"/>
                                          </p:stCondLst>
                                        </p:cTn>
                                        <p:tgtEl>
                                          <p:spTgt spid="76"/>
                                        </p:tgtEl>
                                        <p:attrNameLst>
                                          <p:attrName>style.visibility</p:attrName>
                                        </p:attrNameLst>
                                      </p:cBhvr>
                                      <p:to>
                                        <p:strVal val="visible"/>
                                      </p:to>
                                    </p:set>
                                    <p:animEffect transition="in" filter="wipe(up)">
                                      <p:cBhvr>
                                        <p:cTn id="133" dur="500"/>
                                        <p:tgtEl>
                                          <p:spTgt spid="76"/>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30"/>
                                        </p:tgtEl>
                                        <p:attrNameLst>
                                          <p:attrName>style.visibility</p:attrName>
                                        </p:attrNameLst>
                                      </p:cBhvr>
                                      <p:to>
                                        <p:strVal val="visible"/>
                                      </p:to>
                                    </p:set>
                                    <p:animEffect transition="in" filter="fade">
                                      <p:cBhvr>
                                        <p:cTn id="138" dur="500"/>
                                        <p:tgtEl>
                                          <p:spTgt spid="30"/>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1" fill="hold" nodeType="clickEffect">
                                  <p:stCondLst>
                                    <p:cond delay="0"/>
                                  </p:stCondLst>
                                  <p:childTnLst>
                                    <p:set>
                                      <p:cBhvr>
                                        <p:cTn id="142" dur="1" fill="hold">
                                          <p:stCondLst>
                                            <p:cond delay="0"/>
                                          </p:stCondLst>
                                        </p:cTn>
                                        <p:tgtEl>
                                          <p:spTgt spid="36"/>
                                        </p:tgtEl>
                                        <p:attrNameLst>
                                          <p:attrName>style.visibility</p:attrName>
                                        </p:attrNameLst>
                                      </p:cBhvr>
                                      <p:to>
                                        <p:strVal val="visible"/>
                                      </p:to>
                                    </p:set>
                                    <p:animEffect transition="in" filter="wipe(up)">
                                      <p:cBhvr>
                                        <p:cTn id="143" dur="500"/>
                                        <p:tgtEl>
                                          <p:spTgt spid="36"/>
                                        </p:tgtEl>
                                      </p:cBhvr>
                                    </p:animEffect>
                                  </p:childTnLst>
                                </p:cTn>
                              </p:par>
                              <p:par>
                                <p:cTn id="144" presetID="22" presetClass="entr" presetSubtype="1" fill="hold" nodeType="withEffect">
                                  <p:stCondLst>
                                    <p:cond delay="0"/>
                                  </p:stCondLst>
                                  <p:childTnLst>
                                    <p:set>
                                      <p:cBhvr>
                                        <p:cTn id="145" dur="1" fill="hold">
                                          <p:stCondLst>
                                            <p:cond delay="0"/>
                                          </p:stCondLst>
                                        </p:cTn>
                                        <p:tgtEl>
                                          <p:spTgt spid="37"/>
                                        </p:tgtEl>
                                        <p:attrNameLst>
                                          <p:attrName>style.visibility</p:attrName>
                                        </p:attrNameLst>
                                      </p:cBhvr>
                                      <p:to>
                                        <p:strVal val="visible"/>
                                      </p:to>
                                    </p:set>
                                    <p:animEffect transition="in" filter="wipe(up)">
                                      <p:cBhvr>
                                        <p:cTn id="146" dur="500"/>
                                        <p:tgtEl>
                                          <p:spTgt spid="37"/>
                                        </p:tgtEl>
                                      </p:cBhvr>
                                    </p:animEffect>
                                  </p:childTnLst>
                                </p:cTn>
                              </p:par>
                            </p:childTnLst>
                          </p:cTn>
                        </p:par>
                        <p:par>
                          <p:cTn id="147" fill="hold">
                            <p:stCondLst>
                              <p:cond delay="500"/>
                            </p:stCondLst>
                            <p:childTnLst>
                              <p:par>
                                <p:cTn id="148" presetID="10" presetClass="entr" presetSubtype="0" fill="hold" grpId="0" nodeType="afterEffect">
                                  <p:stCondLst>
                                    <p:cond delay="0"/>
                                  </p:stCondLst>
                                  <p:childTnLst>
                                    <p:set>
                                      <p:cBhvr>
                                        <p:cTn id="149" dur="1" fill="hold">
                                          <p:stCondLst>
                                            <p:cond delay="0"/>
                                          </p:stCondLst>
                                        </p:cTn>
                                        <p:tgtEl>
                                          <p:spTgt spid="31"/>
                                        </p:tgtEl>
                                        <p:attrNameLst>
                                          <p:attrName>style.visibility</p:attrName>
                                        </p:attrNameLst>
                                      </p:cBhvr>
                                      <p:to>
                                        <p:strVal val="visible"/>
                                      </p:to>
                                    </p:set>
                                    <p:animEffect transition="in" filter="fade">
                                      <p:cBhvr>
                                        <p:cTn id="150" dur="500"/>
                                        <p:tgtEl>
                                          <p:spTgt spid="31"/>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32"/>
                                        </p:tgtEl>
                                        <p:attrNameLst>
                                          <p:attrName>style.visibility</p:attrName>
                                        </p:attrNameLst>
                                      </p:cBhvr>
                                      <p:to>
                                        <p:strVal val="visible"/>
                                      </p:to>
                                    </p:set>
                                    <p:animEffect transition="in" filter="fade">
                                      <p:cBhvr>
                                        <p:cTn id="153" dur="500"/>
                                        <p:tgtEl>
                                          <p:spTgt spid="32"/>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1" fill="hold" nodeType="clickEffect">
                                  <p:stCondLst>
                                    <p:cond delay="0"/>
                                  </p:stCondLst>
                                  <p:childTnLst>
                                    <p:set>
                                      <p:cBhvr>
                                        <p:cTn id="157" dur="1" fill="hold">
                                          <p:stCondLst>
                                            <p:cond delay="0"/>
                                          </p:stCondLst>
                                        </p:cTn>
                                        <p:tgtEl>
                                          <p:spTgt spid="38"/>
                                        </p:tgtEl>
                                        <p:attrNameLst>
                                          <p:attrName>style.visibility</p:attrName>
                                        </p:attrNameLst>
                                      </p:cBhvr>
                                      <p:to>
                                        <p:strVal val="visible"/>
                                      </p:to>
                                    </p:set>
                                    <p:animEffect transition="in" filter="wipe(up)">
                                      <p:cBhvr>
                                        <p:cTn id="158" dur="500"/>
                                        <p:tgtEl>
                                          <p:spTgt spid="38"/>
                                        </p:tgtEl>
                                      </p:cBhvr>
                                    </p:animEffect>
                                  </p:childTnLst>
                                </p:cTn>
                              </p:par>
                              <p:par>
                                <p:cTn id="159" presetID="22" presetClass="entr" presetSubtype="1" fill="hold" nodeType="withEffect">
                                  <p:stCondLst>
                                    <p:cond delay="0"/>
                                  </p:stCondLst>
                                  <p:childTnLst>
                                    <p:set>
                                      <p:cBhvr>
                                        <p:cTn id="160" dur="1" fill="hold">
                                          <p:stCondLst>
                                            <p:cond delay="0"/>
                                          </p:stCondLst>
                                        </p:cTn>
                                        <p:tgtEl>
                                          <p:spTgt spid="39"/>
                                        </p:tgtEl>
                                        <p:attrNameLst>
                                          <p:attrName>style.visibility</p:attrName>
                                        </p:attrNameLst>
                                      </p:cBhvr>
                                      <p:to>
                                        <p:strVal val="visible"/>
                                      </p:to>
                                    </p:set>
                                    <p:animEffect transition="in" filter="wipe(up)">
                                      <p:cBhvr>
                                        <p:cTn id="161" dur="500"/>
                                        <p:tgtEl>
                                          <p:spTgt spid="39"/>
                                        </p:tgtEl>
                                      </p:cBhvr>
                                    </p:animEffect>
                                  </p:childTnLst>
                                </p:cTn>
                              </p:par>
                            </p:childTnLst>
                          </p:cTn>
                        </p:par>
                        <p:par>
                          <p:cTn id="162" fill="hold">
                            <p:stCondLst>
                              <p:cond delay="500"/>
                            </p:stCondLst>
                            <p:childTnLst>
                              <p:par>
                                <p:cTn id="163" presetID="10" presetClass="entr" presetSubtype="0" fill="hold" grpId="0" nodeType="afterEffect">
                                  <p:stCondLst>
                                    <p:cond delay="0"/>
                                  </p:stCondLst>
                                  <p:childTnLst>
                                    <p:set>
                                      <p:cBhvr>
                                        <p:cTn id="164" dur="1" fill="hold">
                                          <p:stCondLst>
                                            <p:cond delay="0"/>
                                          </p:stCondLst>
                                        </p:cTn>
                                        <p:tgtEl>
                                          <p:spTgt spid="33"/>
                                        </p:tgtEl>
                                        <p:attrNameLst>
                                          <p:attrName>style.visibility</p:attrName>
                                        </p:attrNameLst>
                                      </p:cBhvr>
                                      <p:to>
                                        <p:strVal val="visible"/>
                                      </p:to>
                                    </p:set>
                                    <p:animEffect transition="in" filter="fade">
                                      <p:cBhvr>
                                        <p:cTn id="165" dur="500"/>
                                        <p:tgtEl>
                                          <p:spTgt spid="33"/>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34"/>
                                        </p:tgtEl>
                                        <p:attrNameLst>
                                          <p:attrName>style.visibility</p:attrName>
                                        </p:attrNameLst>
                                      </p:cBhvr>
                                      <p:to>
                                        <p:strVal val="visible"/>
                                      </p:to>
                                    </p:set>
                                    <p:animEffect transition="in" filter="fade">
                                      <p:cBhvr>
                                        <p:cTn id="168" dur="500"/>
                                        <p:tgtEl>
                                          <p:spTgt spid="34"/>
                                        </p:tgtEl>
                                      </p:cBhvr>
                                    </p:animEffect>
                                  </p:childTnLst>
                                </p:cTn>
                              </p:par>
                            </p:childTnLst>
                          </p:cTn>
                        </p:par>
                      </p:childTnLst>
                    </p:cTn>
                  </p:par>
                  <p:par>
                    <p:cTn id="169" fill="hold">
                      <p:stCondLst>
                        <p:cond delay="indefinite"/>
                      </p:stCondLst>
                      <p:childTnLst>
                        <p:par>
                          <p:cTn id="170" fill="hold">
                            <p:stCondLst>
                              <p:cond delay="0"/>
                            </p:stCondLst>
                            <p:childTnLst>
                              <p:par>
                                <p:cTn id="171" presetID="22" presetClass="entr" presetSubtype="1" fill="hold" nodeType="clickEffect">
                                  <p:stCondLst>
                                    <p:cond delay="0"/>
                                  </p:stCondLst>
                                  <p:childTnLst>
                                    <p:set>
                                      <p:cBhvr>
                                        <p:cTn id="172" dur="1" fill="hold">
                                          <p:stCondLst>
                                            <p:cond delay="0"/>
                                          </p:stCondLst>
                                        </p:cTn>
                                        <p:tgtEl>
                                          <p:spTgt spid="40"/>
                                        </p:tgtEl>
                                        <p:attrNameLst>
                                          <p:attrName>style.visibility</p:attrName>
                                        </p:attrNameLst>
                                      </p:cBhvr>
                                      <p:to>
                                        <p:strVal val="visible"/>
                                      </p:to>
                                    </p:set>
                                    <p:animEffect transition="in" filter="wipe(up)">
                                      <p:cBhvr>
                                        <p:cTn id="173" dur="500"/>
                                        <p:tgtEl>
                                          <p:spTgt spid="40"/>
                                        </p:tgtEl>
                                      </p:cBhvr>
                                    </p:animEffect>
                                  </p:childTnLst>
                                </p:cTn>
                              </p:par>
                            </p:childTnLst>
                          </p:cTn>
                        </p:par>
                        <p:par>
                          <p:cTn id="174" fill="hold">
                            <p:stCondLst>
                              <p:cond delay="500"/>
                            </p:stCondLst>
                            <p:childTnLst>
                              <p:par>
                                <p:cTn id="175" presetID="10" presetClass="entr" presetSubtype="0" fill="hold" grpId="0" nodeType="afterEffect">
                                  <p:stCondLst>
                                    <p:cond delay="0"/>
                                  </p:stCondLst>
                                  <p:childTnLst>
                                    <p:set>
                                      <p:cBhvr>
                                        <p:cTn id="176" dur="1" fill="hold">
                                          <p:stCondLst>
                                            <p:cond delay="0"/>
                                          </p:stCondLst>
                                        </p:cTn>
                                        <p:tgtEl>
                                          <p:spTgt spid="35"/>
                                        </p:tgtEl>
                                        <p:attrNameLst>
                                          <p:attrName>style.visibility</p:attrName>
                                        </p:attrNameLst>
                                      </p:cBhvr>
                                      <p:to>
                                        <p:strVal val="visible"/>
                                      </p:to>
                                    </p:set>
                                    <p:animEffect transition="in" filter="fade">
                                      <p:cBhvr>
                                        <p:cTn id="177" dur="500"/>
                                        <p:tgtEl>
                                          <p:spTgt spid="35"/>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1" fill="hold" grpId="0" nodeType="clickEffect">
                                  <p:stCondLst>
                                    <p:cond delay="0"/>
                                  </p:stCondLst>
                                  <p:childTnLst>
                                    <p:set>
                                      <p:cBhvr>
                                        <p:cTn id="181" dur="1" fill="hold">
                                          <p:stCondLst>
                                            <p:cond delay="0"/>
                                          </p:stCondLst>
                                        </p:cTn>
                                        <p:tgtEl>
                                          <p:spTgt spid="54"/>
                                        </p:tgtEl>
                                        <p:attrNameLst>
                                          <p:attrName>style.visibility</p:attrName>
                                        </p:attrNameLst>
                                      </p:cBhvr>
                                      <p:to>
                                        <p:strVal val="visible"/>
                                      </p:to>
                                    </p:set>
                                    <p:animEffect transition="in" filter="wipe(up)">
                                      <p:cBhvr>
                                        <p:cTn id="182" dur="500"/>
                                        <p:tgtEl>
                                          <p:spTgt spid="54"/>
                                        </p:tgtEl>
                                      </p:cBhvr>
                                    </p:animEffect>
                                  </p:childTnLst>
                                </p:cTn>
                              </p:par>
                            </p:childTnLst>
                          </p:cTn>
                        </p:par>
                        <p:par>
                          <p:cTn id="183" fill="hold">
                            <p:stCondLst>
                              <p:cond delay="500"/>
                            </p:stCondLst>
                            <p:childTnLst>
                              <p:par>
                                <p:cTn id="184" presetID="10" presetClass="entr" presetSubtype="0" fill="hold" grpId="0" nodeType="afterEffect">
                                  <p:stCondLst>
                                    <p:cond delay="0"/>
                                  </p:stCondLst>
                                  <p:childTnLst>
                                    <p:set>
                                      <p:cBhvr>
                                        <p:cTn id="185" dur="1" fill="hold">
                                          <p:stCondLst>
                                            <p:cond delay="0"/>
                                          </p:stCondLst>
                                        </p:cTn>
                                        <p:tgtEl>
                                          <p:spTgt spid="41"/>
                                        </p:tgtEl>
                                        <p:attrNameLst>
                                          <p:attrName>style.visibility</p:attrName>
                                        </p:attrNameLst>
                                      </p:cBhvr>
                                      <p:to>
                                        <p:strVal val="visible"/>
                                      </p:to>
                                    </p:set>
                                    <p:animEffect transition="in" filter="fade">
                                      <p:cBhvr>
                                        <p:cTn id="186" dur="500"/>
                                        <p:tgtEl>
                                          <p:spTgt spid="41"/>
                                        </p:tgtEl>
                                      </p:cBhvr>
                                    </p:animEffect>
                                  </p:childTnLst>
                                </p:cTn>
                              </p:par>
                            </p:childTnLst>
                          </p:cTn>
                        </p:par>
                      </p:childTnLst>
                    </p:cTn>
                  </p:par>
                  <p:par>
                    <p:cTn id="187" fill="hold">
                      <p:stCondLst>
                        <p:cond delay="indefinite"/>
                      </p:stCondLst>
                      <p:childTnLst>
                        <p:par>
                          <p:cTn id="188" fill="hold">
                            <p:stCondLst>
                              <p:cond delay="0"/>
                            </p:stCondLst>
                            <p:childTnLst>
                              <p:par>
                                <p:cTn id="189" presetID="10" presetClass="entr" presetSubtype="0" fill="hold" grpId="0" nodeType="clickEffect">
                                  <p:stCondLst>
                                    <p:cond delay="0"/>
                                  </p:stCondLst>
                                  <p:childTnLst>
                                    <p:set>
                                      <p:cBhvr>
                                        <p:cTn id="190" dur="1" fill="hold">
                                          <p:stCondLst>
                                            <p:cond delay="0"/>
                                          </p:stCondLst>
                                        </p:cTn>
                                        <p:tgtEl>
                                          <p:spTgt spid="42"/>
                                        </p:tgtEl>
                                        <p:attrNameLst>
                                          <p:attrName>style.visibility</p:attrName>
                                        </p:attrNameLst>
                                      </p:cBhvr>
                                      <p:to>
                                        <p:strVal val="visible"/>
                                      </p:to>
                                    </p:set>
                                    <p:animEffect transition="in" filter="fade">
                                      <p:cBhvr>
                                        <p:cTn id="191" dur="500"/>
                                        <p:tgtEl>
                                          <p:spTgt spid="42"/>
                                        </p:tgtEl>
                                      </p:cBhvr>
                                    </p:animEffect>
                                  </p:childTnLst>
                                </p:cTn>
                              </p:par>
                            </p:childTnLst>
                          </p:cTn>
                        </p:par>
                      </p:childTnLst>
                    </p:cTn>
                  </p:par>
                  <p:par>
                    <p:cTn id="192" fill="hold">
                      <p:stCondLst>
                        <p:cond delay="indefinite"/>
                      </p:stCondLst>
                      <p:childTnLst>
                        <p:par>
                          <p:cTn id="193" fill="hold">
                            <p:stCondLst>
                              <p:cond delay="0"/>
                            </p:stCondLst>
                            <p:childTnLst>
                              <p:par>
                                <p:cTn id="194" presetID="22" presetClass="entr" presetSubtype="1" fill="hold" nodeType="clickEffect">
                                  <p:stCondLst>
                                    <p:cond delay="0"/>
                                  </p:stCondLst>
                                  <p:childTnLst>
                                    <p:set>
                                      <p:cBhvr>
                                        <p:cTn id="195" dur="1" fill="hold">
                                          <p:stCondLst>
                                            <p:cond delay="0"/>
                                          </p:stCondLst>
                                        </p:cTn>
                                        <p:tgtEl>
                                          <p:spTgt spid="49"/>
                                        </p:tgtEl>
                                        <p:attrNameLst>
                                          <p:attrName>style.visibility</p:attrName>
                                        </p:attrNameLst>
                                      </p:cBhvr>
                                      <p:to>
                                        <p:strVal val="visible"/>
                                      </p:to>
                                    </p:set>
                                    <p:animEffect transition="in" filter="wipe(up)">
                                      <p:cBhvr>
                                        <p:cTn id="196" dur="500"/>
                                        <p:tgtEl>
                                          <p:spTgt spid="49"/>
                                        </p:tgtEl>
                                      </p:cBhvr>
                                    </p:animEffect>
                                  </p:childTnLst>
                                </p:cTn>
                              </p:par>
                              <p:par>
                                <p:cTn id="197" presetID="22" presetClass="entr" presetSubtype="1" fill="hold" nodeType="withEffect">
                                  <p:stCondLst>
                                    <p:cond delay="0"/>
                                  </p:stCondLst>
                                  <p:childTnLst>
                                    <p:set>
                                      <p:cBhvr>
                                        <p:cTn id="198" dur="1" fill="hold">
                                          <p:stCondLst>
                                            <p:cond delay="0"/>
                                          </p:stCondLst>
                                        </p:cTn>
                                        <p:tgtEl>
                                          <p:spTgt spid="48"/>
                                        </p:tgtEl>
                                        <p:attrNameLst>
                                          <p:attrName>style.visibility</p:attrName>
                                        </p:attrNameLst>
                                      </p:cBhvr>
                                      <p:to>
                                        <p:strVal val="visible"/>
                                      </p:to>
                                    </p:set>
                                    <p:animEffect transition="in" filter="wipe(up)">
                                      <p:cBhvr>
                                        <p:cTn id="199" dur="500"/>
                                        <p:tgtEl>
                                          <p:spTgt spid="48"/>
                                        </p:tgtEl>
                                      </p:cBhvr>
                                    </p:animEffect>
                                  </p:childTnLst>
                                </p:cTn>
                              </p:par>
                            </p:childTnLst>
                          </p:cTn>
                        </p:par>
                        <p:par>
                          <p:cTn id="200" fill="hold">
                            <p:stCondLst>
                              <p:cond delay="500"/>
                            </p:stCondLst>
                            <p:childTnLst>
                              <p:par>
                                <p:cTn id="201" presetID="10" presetClass="entr" presetSubtype="0" fill="hold" grpId="0" nodeType="afterEffect">
                                  <p:stCondLst>
                                    <p:cond delay="0"/>
                                  </p:stCondLst>
                                  <p:childTnLst>
                                    <p:set>
                                      <p:cBhvr>
                                        <p:cTn id="202" dur="1" fill="hold">
                                          <p:stCondLst>
                                            <p:cond delay="0"/>
                                          </p:stCondLst>
                                        </p:cTn>
                                        <p:tgtEl>
                                          <p:spTgt spid="43"/>
                                        </p:tgtEl>
                                        <p:attrNameLst>
                                          <p:attrName>style.visibility</p:attrName>
                                        </p:attrNameLst>
                                      </p:cBhvr>
                                      <p:to>
                                        <p:strVal val="visible"/>
                                      </p:to>
                                    </p:set>
                                    <p:animEffect transition="in" filter="fade">
                                      <p:cBhvr>
                                        <p:cTn id="203" dur="500"/>
                                        <p:tgtEl>
                                          <p:spTgt spid="43"/>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44"/>
                                        </p:tgtEl>
                                        <p:attrNameLst>
                                          <p:attrName>style.visibility</p:attrName>
                                        </p:attrNameLst>
                                      </p:cBhvr>
                                      <p:to>
                                        <p:strVal val="visible"/>
                                      </p:to>
                                    </p:set>
                                    <p:animEffect transition="in" filter="fade">
                                      <p:cBhvr>
                                        <p:cTn id="206" dur="500"/>
                                        <p:tgtEl>
                                          <p:spTgt spid="44"/>
                                        </p:tgtEl>
                                      </p:cBhvr>
                                    </p:animEffect>
                                  </p:childTnLst>
                                </p:cTn>
                              </p:par>
                            </p:childTnLst>
                          </p:cTn>
                        </p:par>
                      </p:childTnLst>
                    </p:cTn>
                  </p:par>
                  <p:par>
                    <p:cTn id="207" fill="hold">
                      <p:stCondLst>
                        <p:cond delay="indefinite"/>
                      </p:stCondLst>
                      <p:childTnLst>
                        <p:par>
                          <p:cTn id="208" fill="hold">
                            <p:stCondLst>
                              <p:cond delay="0"/>
                            </p:stCondLst>
                            <p:childTnLst>
                              <p:par>
                                <p:cTn id="209" presetID="22" presetClass="entr" presetSubtype="1" fill="hold" nodeType="clickEffect">
                                  <p:stCondLst>
                                    <p:cond delay="0"/>
                                  </p:stCondLst>
                                  <p:childTnLst>
                                    <p:set>
                                      <p:cBhvr>
                                        <p:cTn id="210" dur="1" fill="hold">
                                          <p:stCondLst>
                                            <p:cond delay="0"/>
                                          </p:stCondLst>
                                        </p:cTn>
                                        <p:tgtEl>
                                          <p:spTgt spid="50"/>
                                        </p:tgtEl>
                                        <p:attrNameLst>
                                          <p:attrName>style.visibility</p:attrName>
                                        </p:attrNameLst>
                                      </p:cBhvr>
                                      <p:to>
                                        <p:strVal val="visible"/>
                                      </p:to>
                                    </p:set>
                                    <p:animEffect transition="in" filter="wipe(up)">
                                      <p:cBhvr>
                                        <p:cTn id="211" dur="500"/>
                                        <p:tgtEl>
                                          <p:spTgt spid="50"/>
                                        </p:tgtEl>
                                      </p:cBhvr>
                                    </p:animEffect>
                                  </p:childTnLst>
                                </p:cTn>
                              </p:par>
                              <p:par>
                                <p:cTn id="212" presetID="22" presetClass="entr" presetSubtype="1" fill="hold" nodeType="withEffect">
                                  <p:stCondLst>
                                    <p:cond delay="0"/>
                                  </p:stCondLst>
                                  <p:childTnLst>
                                    <p:set>
                                      <p:cBhvr>
                                        <p:cTn id="213" dur="1" fill="hold">
                                          <p:stCondLst>
                                            <p:cond delay="0"/>
                                          </p:stCondLst>
                                        </p:cTn>
                                        <p:tgtEl>
                                          <p:spTgt spid="51"/>
                                        </p:tgtEl>
                                        <p:attrNameLst>
                                          <p:attrName>style.visibility</p:attrName>
                                        </p:attrNameLst>
                                      </p:cBhvr>
                                      <p:to>
                                        <p:strVal val="visible"/>
                                      </p:to>
                                    </p:set>
                                    <p:animEffect transition="in" filter="wipe(up)">
                                      <p:cBhvr>
                                        <p:cTn id="214" dur="500"/>
                                        <p:tgtEl>
                                          <p:spTgt spid="51"/>
                                        </p:tgtEl>
                                      </p:cBhvr>
                                    </p:animEffect>
                                  </p:childTnLst>
                                </p:cTn>
                              </p:par>
                            </p:childTnLst>
                          </p:cTn>
                        </p:par>
                        <p:par>
                          <p:cTn id="215" fill="hold">
                            <p:stCondLst>
                              <p:cond delay="500"/>
                            </p:stCondLst>
                            <p:childTnLst>
                              <p:par>
                                <p:cTn id="216" presetID="10" presetClass="entr" presetSubtype="0" fill="hold" grpId="0" nodeType="afterEffect">
                                  <p:stCondLst>
                                    <p:cond delay="0"/>
                                  </p:stCondLst>
                                  <p:childTnLst>
                                    <p:set>
                                      <p:cBhvr>
                                        <p:cTn id="217" dur="1" fill="hold">
                                          <p:stCondLst>
                                            <p:cond delay="0"/>
                                          </p:stCondLst>
                                        </p:cTn>
                                        <p:tgtEl>
                                          <p:spTgt spid="45"/>
                                        </p:tgtEl>
                                        <p:attrNameLst>
                                          <p:attrName>style.visibility</p:attrName>
                                        </p:attrNameLst>
                                      </p:cBhvr>
                                      <p:to>
                                        <p:strVal val="visible"/>
                                      </p:to>
                                    </p:set>
                                    <p:animEffect transition="in" filter="fade">
                                      <p:cBhvr>
                                        <p:cTn id="218" dur="500"/>
                                        <p:tgtEl>
                                          <p:spTgt spid="45"/>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46"/>
                                        </p:tgtEl>
                                        <p:attrNameLst>
                                          <p:attrName>style.visibility</p:attrName>
                                        </p:attrNameLst>
                                      </p:cBhvr>
                                      <p:to>
                                        <p:strVal val="visible"/>
                                      </p:to>
                                    </p:set>
                                    <p:animEffect transition="in" filter="fade">
                                      <p:cBhvr>
                                        <p:cTn id="221" dur="500"/>
                                        <p:tgtEl>
                                          <p:spTgt spid="46"/>
                                        </p:tgtEl>
                                      </p:cBhvr>
                                    </p:animEffect>
                                  </p:childTnLst>
                                </p:cTn>
                              </p:par>
                            </p:childTnLst>
                          </p:cTn>
                        </p:par>
                      </p:childTnLst>
                    </p:cTn>
                  </p:par>
                  <p:par>
                    <p:cTn id="222" fill="hold">
                      <p:stCondLst>
                        <p:cond delay="indefinite"/>
                      </p:stCondLst>
                      <p:childTnLst>
                        <p:par>
                          <p:cTn id="223" fill="hold">
                            <p:stCondLst>
                              <p:cond delay="0"/>
                            </p:stCondLst>
                            <p:childTnLst>
                              <p:par>
                                <p:cTn id="224" presetID="22" presetClass="entr" presetSubtype="1" fill="hold" nodeType="clickEffect">
                                  <p:stCondLst>
                                    <p:cond delay="0"/>
                                  </p:stCondLst>
                                  <p:childTnLst>
                                    <p:set>
                                      <p:cBhvr>
                                        <p:cTn id="225" dur="1" fill="hold">
                                          <p:stCondLst>
                                            <p:cond delay="0"/>
                                          </p:stCondLst>
                                        </p:cTn>
                                        <p:tgtEl>
                                          <p:spTgt spid="52"/>
                                        </p:tgtEl>
                                        <p:attrNameLst>
                                          <p:attrName>style.visibility</p:attrName>
                                        </p:attrNameLst>
                                      </p:cBhvr>
                                      <p:to>
                                        <p:strVal val="visible"/>
                                      </p:to>
                                    </p:set>
                                    <p:animEffect transition="in" filter="wipe(up)">
                                      <p:cBhvr>
                                        <p:cTn id="226" dur="500"/>
                                        <p:tgtEl>
                                          <p:spTgt spid="52"/>
                                        </p:tgtEl>
                                      </p:cBhvr>
                                    </p:animEffect>
                                  </p:childTnLst>
                                </p:cTn>
                              </p:par>
                            </p:childTnLst>
                          </p:cTn>
                        </p:par>
                        <p:par>
                          <p:cTn id="227" fill="hold">
                            <p:stCondLst>
                              <p:cond delay="500"/>
                            </p:stCondLst>
                            <p:childTnLst>
                              <p:par>
                                <p:cTn id="228" presetID="10" presetClass="entr" presetSubtype="0" fill="hold" grpId="0" nodeType="afterEffect">
                                  <p:stCondLst>
                                    <p:cond delay="0"/>
                                  </p:stCondLst>
                                  <p:childTnLst>
                                    <p:set>
                                      <p:cBhvr>
                                        <p:cTn id="229" dur="1" fill="hold">
                                          <p:stCondLst>
                                            <p:cond delay="0"/>
                                          </p:stCondLst>
                                        </p:cTn>
                                        <p:tgtEl>
                                          <p:spTgt spid="47"/>
                                        </p:tgtEl>
                                        <p:attrNameLst>
                                          <p:attrName>style.visibility</p:attrName>
                                        </p:attrNameLst>
                                      </p:cBhvr>
                                      <p:to>
                                        <p:strVal val="visible"/>
                                      </p:to>
                                    </p:set>
                                    <p:animEffect transition="in" filter="fade">
                                      <p:cBhvr>
                                        <p:cTn id="230" dur="500"/>
                                        <p:tgtEl>
                                          <p:spTgt spid="47"/>
                                        </p:tgtEl>
                                      </p:cBhvr>
                                    </p:animEffect>
                                  </p:childTnLst>
                                </p:cTn>
                              </p:par>
                            </p:childTnLst>
                          </p:cTn>
                        </p:par>
                      </p:childTnLst>
                    </p:cTn>
                  </p:par>
                  <p:par>
                    <p:cTn id="231" fill="hold">
                      <p:stCondLst>
                        <p:cond delay="indefinite"/>
                      </p:stCondLst>
                      <p:childTnLst>
                        <p:par>
                          <p:cTn id="232" fill="hold">
                            <p:stCondLst>
                              <p:cond delay="0"/>
                            </p:stCondLst>
                            <p:childTnLst>
                              <p:par>
                                <p:cTn id="233" presetID="10" presetClass="entr" presetSubtype="0" fill="hold" grpId="0" nodeType="clickEffect">
                                  <p:stCondLst>
                                    <p:cond delay="0"/>
                                  </p:stCondLst>
                                  <p:childTnLst>
                                    <p:set>
                                      <p:cBhvr>
                                        <p:cTn id="234" dur="1" fill="hold">
                                          <p:stCondLst>
                                            <p:cond delay="0"/>
                                          </p:stCondLst>
                                        </p:cTn>
                                        <p:tgtEl>
                                          <p:spTgt spid="56"/>
                                        </p:tgtEl>
                                        <p:attrNameLst>
                                          <p:attrName>style.visibility</p:attrName>
                                        </p:attrNameLst>
                                      </p:cBhvr>
                                      <p:to>
                                        <p:strVal val="visible"/>
                                      </p:to>
                                    </p:set>
                                    <p:animEffect transition="in" filter="fade">
                                      <p:cBhvr>
                                        <p:cTn id="235" dur="500"/>
                                        <p:tgtEl>
                                          <p:spTgt spid="56"/>
                                        </p:tgtEl>
                                      </p:cBhvr>
                                    </p:animEffect>
                                  </p:childTnLst>
                                </p:cTn>
                              </p:par>
                            </p:childTnLst>
                          </p:cTn>
                        </p:par>
                      </p:childTnLst>
                    </p:cTn>
                  </p:par>
                  <p:par>
                    <p:cTn id="236" fill="hold">
                      <p:stCondLst>
                        <p:cond delay="indefinite"/>
                      </p:stCondLst>
                      <p:childTnLst>
                        <p:par>
                          <p:cTn id="237" fill="hold">
                            <p:stCondLst>
                              <p:cond delay="0"/>
                            </p:stCondLst>
                            <p:childTnLst>
                              <p:par>
                                <p:cTn id="238" presetID="1" presetClass="exit" presetSubtype="0" fill="hold" grpId="1" nodeType="clickEffect">
                                  <p:stCondLst>
                                    <p:cond delay="0"/>
                                  </p:stCondLst>
                                  <p:childTnLst>
                                    <p:set>
                                      <p:cBhvr>
                                        <p:cTn id="239" dur="1" fill="hold">
                                          <p:stCondLst>
                                            <p:cond delay="0"/>
                                          </p:stCondLst>
                                        </p:cTn>
                                        <p:tgtEl>
                                          <p:spTgt spid="56"/>
                                        </p:tgtEl>
                                        <p:attrNameLst>
                                          <p:attrName>style.visibility</p:attrName>
                                        </p:attrNameLst>
                                      </p:cBhvr>
                                      <p:to>
                                        <p:strVal val="hidden"/>
                                      </p:to>
                                    </p:set>
                                  </p:childTnLst>
                                </p:cTn>
                              </p:par>
                            </p:childTnLst>
                          </p:cTn>
                        </p:par>
                      </p:childTnLst>
                    </p:cTn>
                  </p:par>
                  <p:par>
                    <p:cTn id="240" fill="hold">
                      <p:stCondLst>
                        <p:cond delay="indefinite"/>
                      </p:stCondLst>
                      <p:childTnLst>
                        <p:par>
                          <p:cTn id="241" fill="hold">
                            <p:stCondLst>
                              <p:cond delay="0"/>
                            </p:stCondLst>
                            <p:childTnLst>
                              <p:par>
                                <p:cTn id="242" presetID="10" presetClass="entr" presetSubtype="0" fill="hold" grpId="0" nodeType="clickEffect">
                                  <p:stCondLst>
                                    <p:cond delay="0"/>
                                  </p:stCondLst>
                                  <p:childTnLst>
                                    <p:set>
                                      <p:cBhvr>
                                        <p:cTn id="243" dur="1" fill="hold">
                                          <p:stCondLst>
                                            <p:cond delay="0"/>
                                          </p:stCondLst>
                                        </p:cTn>
                                        <p:tgtEl>
                                          <p:spTgt spid="55"/>
                                        </p:tgtEl>
                                        <p:attrNameLst>
                                          <p:attrName>style.visibility</p:attrName>
                                        </p:attrNameLst>
                                      </p:cBhvr>
                                      <p:to>
                                        <p:strVal val="visible"/>
                                      </p:to>
                                    </p:set>
                                    <p:animEffect transition="in" filter="fade">
                                      <p:cBhvr>
                                        <p:cTn id="244" dur="500"/>
                                        <p:tgtEl>
                                          <p:spTgt spid="55"/>
                                        </p:tgtEl>
                                      </p:cBhvr>
                                    </p:animEffect>
                                  </p:childTnLst>
                                </p:cTn>
                              </p:par>
                            </p:childTnLst>
                          </p:cTn>
                        </p:par>
                      </p:childTnLst>
                    </p:cTn>
                  </p:par>
                  <p:par>
                    <p:cTn id="245" fill="hold">
                      <p:stCondLst>
                        <p:cond delay="indefinite"/>
                      </p:stCondLst>
                      <p:childTnLst>
                        <p:par>
                          <p:cTn id="246" fill="hold">
                            <p:stCondLst>
                              <p:cond delay="0"/>
                            </p:stCondLst>
                            <p:childTnLst>
                              <p:par>
                                <p:cTn id="247" presetID="64" presetClass="path" presetSubtype="0" accel="50000" decel="50000" fill="hold" grpId="1" nodeType="clickEffect">
                                  <p:stCondLst>
                                    <p:cond delay="0"/>
                                  </p:stCondLst>
                                  <p:childTnLst>
                                    <p:animMotion origin="layout" path="M -2.29167E-6 -3.33333E-6 L 0.06107 -0.12176 " pathEditMode="relative" rAng="0" ptsTypes="AA">
                                      <p:cBhvr>
                                        <p:cTn id="248" dur="2000" fill="hold"/>
                                        <p:tgtEl>
                                          <p:spTgt spid="55"/>
                                        </p:tgtEl>
                                        <p:attrNameLst>
                                          <p:attrName>ppt_x</p:attrName>
                                          <p:attrName>ppt_y</p:attrName>
                                        </p:attrNameLst>
                                      </p:cBhvr>
                                      <p:rCtr x="3047" y="-6088"/>
                                    </p:animMotion>
                                  </p:childTnLst>
                                </p:cTn>
                              </p:par>
                            </p:childTnLst>
                          </p:cTn>
                        </p:par>
                      </p:childTnLst>
                    </p:cTn>
                  </p:par>
                  <p:par>
                    <p:cTn id="249" fill="hold">
                      <p:stCondLst>
                        <p:cond delay="indefinite"/>
                      </p:stCondLst>
                      <p:childTnLst>
                        <p:par>
                          <p:cTn id="250" fill="hold">
                            <p:stCondLst>
                              <p:cond delay="0"/>
                            </p:stCondLst>
                            <p:childTnLst>
                              <p:par>
                                <p:cTn id="251" presetID="1" presetClass="exit" presetSubtype="0" fill="hold" grpId="2" nodeType="clickEffect">
                                  <p:stCondLst>
                                    <p:cond delay="0"/>
                                  </p:stCondLst>
                                  <p:childTnLst>
                                    <p:set>
                                      <p:cBhvr>
                                        <p:cTn id="252" dur="1" fill="hold">
                                          <p:stCondLst>
                                            <p:cond delay="0"/>
                                          </p:stCondLst>
                                        </p:cTn>
                                        <p:tgtEl>
                                          <p:spTgt spid="55"/>
                                        </p:tgtEl>
                                        <p:attrNameLst>
                                          <p:attrName>style.visibility</p:attrName>
                                        </p:attrNameLst>
                                      </p:cBhvr>
                                      <p:to>
                                        <p:strVal val="hidden"/>
                                      </p:to>
                                    </p:set>
                                  </p:childTnLst>
                                </p:cTn>
                              </p:par>
                              <p:par>
                                <p:cTn id="253" presetID="10" presetClass="entr" presetSubtype="0" fill="hold" grpId="0" nodeType="withEffect">
                                  <p:stCondLst>
                                    <p:cond delay="0"/>
                                  </p:stCondLst>
                                  <p:childTnLst>
                                    <p:set>
                                      <p:cBhvr>
                                        <p:cTn id="254" dur="1" fill="hold">
                                          <p:stCondLst>
                                            <p:cond delay="0"/>
                                          </p:stCondLst>
                                        </p:cTn>
                                        <p:tgtEl>
                                          <p:spTgt spid="53"/>
                                        </p:tgtEl>
                                        <p:attrNameLst>
                                          <p:attrName>style.visibility</p:attrName>
                                        </p:attrNameLst>
                                      </p:cBhvr>
                                      <p:to>
                                        <p:strVal val="visible"/>
                                      </p:to>
                                    </p:set>
                                    <p:animEffect transition="in" filter="fade">
                                      <p:cBhvr>
                                        <p:cTn id="255"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5" grpId="0"/>
      <p:bldP spid="27" grpId="0"/>
      <p:bldP spid="28" grpId="0" animBg="1"/>
      <p:bldP spid="29" grpId="0" animBg="1"/>
      <p:bldP spid="59" grpId="0" animBg="1"/>
      <p:bldP spid="60" grpId="0" animBg="1"/>
      <p:bldP spid="61" grpId="0" animBg="1"/>
      <p:bldP spid="62" grpId="0" animBg="1"/>
      <p:bldP spid="63" grpId="0" animBg="1"/>
      <p:bldP spid="64" grpId="0" animBg="1"/>
      <p:bldP spid="30" grpId="0" animBg="1"/>
      <p:bldP spid="31" grpId="0" animBg="1"/>
      <p:bldP spid="32" grpId="0" animBg="1"/>
      <p:bldP spid="33" grpId="0" animBg="1"/>
      <p:bldP spid="34" grpId="0" animBg="1"/>
      <p:bldP spid="35" grpId="0" animBg="1"/>
      <p:bldP spid="41" grpId="0"/>
      <p:bldP spid="42" grpId="0" animBg="1"/>
      <p:bldP spid="43" grpId="0" animBg="1"/>
      <p:bldP spid="44" grpId="0" animBg="1"/>
      <p:bldP spid="45" grpId="0" animBg="1"/>
      <p:bldP spid="46" grpId="0" animBg="1"/>
      <p:bldP spid="47" grpId="0" animBg="1"/>
      <p:bldP spid="53" grpId="0"/>
      <p:bldP spid="54" grpId="0" animBg="1"/>
      <p:bldP spid="55" grpId="0" animBg="1"/>
      <p:bldP spid="55" grpId="1" animBg="1"/>
      <p:bldP spid="55" grpId="2" animBg="1"/>
      <p:bldP spid="56" grpId="0" animBg="1"/>
      <p:bldP spid="56"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Representation of Heap</a:t>
            </a:r>
          </a:p>
        </p:txBody>
      </p:sp>
      <p:sp>
        <p:nvSpPr>
          <p:cNvPr id="3" name="Content Placeholder 2"/>
          <p:cNvSpPr>
            <a:spLocks noGrp="1"/>
          </p:cNvSpPr>
          <p:nvPr>
            <p:ph idx="1"/>
          </p:nvPr>
        </p:nvSpPr>
        <p:spPr/>
        <p:txBody>
          <a:bodyPr/>
          <a:lstStyle/>
          <a:p>
            <a:r>
              <a:rPr lang="en-US" dirty="0"/>
              <a:t>Heap can be implemented using an Array.</a:t>
            </a:r>
          </a:p>
          <a:p>
            <a:r>
              <a:rPr lang="en-US" dirty="0"/>
              <a:t>An array 𝐴 that represents a heap is an object with two attributes: </a:t>
            </a:r>
          </a:p>
          <a:p>
            <a:pPr marL="914400" lvl="1" indent="-457200">
              <a:buFont typeface="+mj-lt"/>
              <a:buAutoNum type="arabicPeriod"/>
            </a:pPr>
            <a:r>
              <a:rPr lang="en-US" dirty="0"/>
              <a:t>𝑙𝑒𝑛𝑔𝑡ℎ[𝐴], which is the number of elements in the array, and </a:t>
            </a:r>
          </a:p>
          <a:p>
            <a:pPr marL="914400" lvl="1" indent="-457200">
              <a:buFont typeface="+mj-lt"/>
              <a:buAutoNum type="arabicPeriod"/>
            </a:pPr>
            <a:r>
              <a:rPr lang="en-US" dirty="0"/>
              <a:t>ℎ𝑒𝑎𝑝−𝑠𝑖𝑧𝑒[𝐴], the number of elements in the heap stored within array 𝐴</a:t>
            </a:r>
          </a:p>
        </p:txBody>
      </p:sp>
      <p:sp>
        <p:nvSpPr>
          <p:cNvPr id="4" name="Oval 3"/>
          <p:cNvSpPr/>
          <p:nvPr/>
        </p:nvSpPr>
        <p:spPr>
          <a:xfrm>
            <a:off x="2986320" y="2747554"/>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16</a:t>
            </a:r>
          </a:p>
        </p:txBody>
      </p:sp>
      <p:sp>
        <p:nvSpPr>
          <p:cNvPr id="5" name="Oval 4"/>
          <p:cNvSpPr/>
          <p:nvPr/>
        </p:nvSpPr>
        <p:spPr>
          <a:xfrm>
            <a:off x="2046260" y="3730566"/>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14</a:t>
            </a:r>
          </a:p>
        </p:txBody>
      </p:sp>
      <p:sp>
        <p:nvSpPr>
          <p:cNvPr id="6" name="Oval 5"/>
          <p:cNvSpPr/>
          <p:nvPr/>
        </p:nvSpPr>
        <p:spPr>
          <a:xfrm>
            <a:off x="4029070" y="3730566"/>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10</a:t>
            </a:r>
          </a:p>
        </p:txBody>
      </p:sp>
      <p:sp>
        <p:nvSpPr>
          <p:cNvPr id="7" name="Oval 6"/>
          <p:cNvSpPr/>
          <p:nvPr/>
        </p:nvSpPr>
        <p:spPr>
          <a:xfrm>
            <a:off x="1068348" y="4694439"/>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8</a:t>
            </a:r>
          </a:p>
        </p:txBody>
      </p:sp>
      <p:sp>
        <p:nvSpPr>
          <p:cNvPr id="8" name="Oval 7"/>
          <p:cNvSpPr/>
          <p:nvPr/>
        </p:nvSpPr>
        <p:spPr>
          <a:xfrm>
            <a:off x="2692417" y="4694439"/>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7</a:t>
            </a:r>
          </a:p>
        </p:txBody>
      </p:sp>
      <p:cxnSp>
        <p:nvCxnSpPr>
          <p:cNvPr id="9" name="Straight Arrow Connector 8"/>
          <p:cNvCxnSpPr>
            <a:stCxn id="4" idx="3"/>
            <a:endCxn id="5" idx="0"/>
          </p:cNvCxnSpPr>
          <p:nvPr/>
        </p:nvCxnSpPr>
        <p:spPr>
          <a:xfrm flipH="1">
            <a:off x="2366300" y="3293896"/>
            <a:ext cx="713758" cy="43667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5"/>
            <a:endCxn id="6" idx="0"/>
          </p:cNvCxnSpPr>
          <p:nvPr/>
        </p:nvCxnSpPr>
        <p:spPr>
          <a:xfrm>
            <a:off x="3532662" y="3293896"/>
            <a:ext cx="816448" cy="43667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5" idx="3"/>
            <a:endCxn id="7" idx="0"/>
          </p:cNvCxnSpPr>
          <p:nvPr/>
        </p:nvCxnSpPr>
        <p:spPr>
          <a:xfrm flipH="1">
            <a:off x="1388388" y="4276908"/>
            <a:ext cx="751610" cy="417531"/>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5" idx="5"/>
            <a:endCxn id="8" idx="0"/>
          </p:cNvCxnSpPr>
          <p:nvPr/>
        </p:nvCxnSpPr>
        <p:spPr>
          <a:xfrm>
            <a:off x="2592602" y="4276908"/>
            <a:ext cx="419855" cy="417531"/>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3"/>
            <a:endCxn id="14" idx="0"/>
          </p:cNvCxnSpPr>
          <p:nvPr/>
        </p:nvCxnSpPr>
        <p:spPr>
          <a:xfrm flipH="1">
            <a:off x="3761391" y="4276908"/>
            <a:ext cx="361417" cy="417531"/>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3441351" y="4694439"/>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9</a:t>
            </a:r>
          </a:p>
        </p:txBody>
      </p:sp>
      <p:sp>
        <p:nvSpPr>
          <p:cNvPr id="15" name="Oval 14"/>
          <p:cNvSpPr/>
          <p:nvPr/>
        </p:nvSpPr>
        <p:spPr>
          <a:xfrm>
            <a:off x="4720263" y="4694439"/>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3</a:t>
            </a:r>
          </a:p>
        </p:txBody>
      </p:sp>
      <p:cxnSp>
        <p:nvCxnSpPr>
          <p:cNvPr id="16" name="Straight Arrow Connector 15"/>
          <p:cNvCxnSpPr>
            <a:stCxn id="6" idx="5"/>
            <a:endCxn id="15" idx="0"/>
          </p:cNvCxnSpPr>
          <p:nvPr/>
        </p:nvCxnSpPr>
        <p:spPr>
          <a:xfrm>
            <a:off x="4575412" y="4276908"/>
            <a:ext cx="464891" cy="417531"/>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223470" y="5748535"/>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2</a:t>
            </a:r>
          </a:p>
        </p:txBody>
      </p:sp>
      <p:sp>
        <p:nvSpPr>
          <p:cNvPr id="18" name="Oval 17"/>
          <p:cNvSpPr/>
          <p:nvPr/>
        </p:nvSpPr>
        <p:spPr>
          <a:xfrm>
            <a:off x="1679153" y="5748535"/>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4</a:t>
            </a:r>
          </a:p>
        </p:txBody>
      </p:sp>
      <p:sp>
        <p:nvSpPr>
          <p:cNvPr id="19" name="Oval 18"/>
          <p:cNvSpPr/>
          <p:nvPr/>
        </p:nvSpPr>
        <p:spPr>
          <a:xfrm>
            <a:off x="2379133" y="5748535"/>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1</a:t>
            </a:r>
          </a:p>
        </p:txBody>
      </p:sp>
      <p:cxnSp>
        <p:nvCxnSpPr>
          <p:cNvPr id="20" name="Straight Arrow Connector 19"/>
          <p:cNvCxnSpPr>
            <a:stCxn id="7" idx="3"/>
            <a:endCxn id="17" idx="0"/>
          </p:cNvCxnSpPr>
          <p:nvPr/>
        </p:nvCxnSpPr>
        <p:spPr>
          <a:xfrm flipH="1">
            <a:off x="543510" y="5240781"/>
            <a:ext cx="618576" cy="507754"/>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18" idx="0"/>
          </p:cNvCxnSpPr>
          <p:nvPr/>
        </p:nvCxnSpPr>
        <p:spPr>
          <a:xfrm>
            <a:off x="1614690" y="5240781"/>
            <a:ext cx="384503" cy="507754"/>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4"/>
            <a:endCxn id="19" idx="0"/>
          </p:cNvCxnSpPr>
          <p:nvPr/>
        </p:nvCxnSpPr>
        <p:spPr>
          <a:xfrm flipH="1">
            <a:off x="2699173" y="5334519"/>
            <a:ext cx="313284" cy="414016"/>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271641" y="5717964"/>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16</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4" name="Table 23"/>
          <p:cNvGraphicFramePr>
            <a:graphicFrameLocks noGrp="1"/>
          </p:cNvGraphicFramePr>
          <p:nvPr/>
        </p:nvGraphicFramePr>
        <p:xfrm>
          <a:off x="6818467"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14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5" name="Table 24"/>
          <p:cNvGraphicFramePr>
            <a:graphicFrameLocks noGrp="1"/>
          </p:cNvGraphicFramePr>
          <p:nvPr/>
        </p:nvGraphicFramePr>
        <p:xfrm>
          <a:off x="7362514"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10</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6" name="Table 25"/>
          <p:cNvGraphicFramePr>
            <a:graphicFrameLocks noGrp="1"/>
          </p:cNvGraphicFramePr>
          <p:nvPr/>
        </p:nvGraphicFramePr>
        <p:xfrm>
          <a:off x="7898161"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8</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7" name="Table 26"/>
          <p:cNvGraphicFramePr>
            <a:graphicFrameLocks noGrp="1"/>
          </p:cNvGraphicFramePr>
          <p:nvPr/>
        </p:nvGraphicFramePr>
        <p:xfrm>
          <a:off x="8433808"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8" name="Table 27"/>
          <p:cNvGraphicFramePr>
            <a:graphicFrameLocks noGrp="1"/>
          </p:cNvGraphicFramePr>
          <p:nvPr/>
        </p:nvGraphicFramePr>
        <p:xfrm>
          <a:off x="8969455"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9" name="Table 28"/>
          <p:cNvGraphicFramePr>
            <a:graphicFrameLocks noGrp="1"/>
          </p:cNvGraphicFramePr>
          <p:nvPr/>
        </p:nvGraphicFramePr>
        <p:xfrm>
          <a:off x="9505102"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30" name="Table 29"/>
          <p:cNvGraphicFramePr>
            <a:graphicFrameLocks noGrp="1"/>
          </p:cNvGraphicFramePr>
          <p:nvPr/>
        </p:nvGraphicFramePr>
        <p:xfrm>
          <a:off x="10040749"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2</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31" name="Table 30"/>
          <p:cNvGraphicFramePr>
            <a:graphicFrameLocks noGrp="1"/>
          </p:cNvGraphicFramePr>
          <p:nvPr/>
        </p:nvGraphicFramePr>
        <p:xfrm>
          <a:off x="10576396"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32" name="Table 31"/>
          <p:cNvGraphicFramePr>
            <a:graphicFrameLocks noGrp="1"/>
          </p:cNvGraphicFramePr>
          <p:nvPr/>
        </p:nvGraphicFramePr>
        <p:xfrm>
          <a:off x="11121005"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34" name="TextBox 33"/>
          <p:cNvSpPr txBox="1"/>
          <p:nvPr/>
        </p:nvSpPr>
        <p:spPr>
          <a:xfrm>
            <a:off x="7437623" y="4673500"/>
            <a:ext cx="3108960" cy="400110"/>
          </a:xfrm>
          <a:prstGeom prst="rect">
            <a:avLst/>
          </a:prstGeom>
          <a:noFill/>
          <a:ln>
            <a:solidFill>
              <a:srgbClr val="0070C0"/>
            </a:solidFill>
          </a:ln>
        </p:spPr>
        <p:txBody>
          <a:bodyPr wrap="square" rtlCol="0">
            <a:spAutoFit/>
          </a:bodyPr>
          <a:lstStyle/>
          <a:p>
            <a:r>
              <a:rPr lang="en-US" sz="2000" dirty="0">
                <a:solidFill>
                  <a:srgbClr val="A71160"/>
                </a:solidFill>
              </a:rPr>
              <a:t>Array representation of heap</a:t>
            </a:r>
          </a:p>
        </p:txBody>
      </p:sp>
      <p:sp>
        <p:nvSpPr>
          <p:cNvPr id="35" name="Right Brace 34"/>
          <p:cNvSpPr/>
          <p:nvPr/>
        </p:nvSpPr>
        <p:spPr>
          <a:xfrm rot="16200000">
            <a:off x="8739632" y="2746396"/>
            <a:ext cx="424404" cy="5303520"/>
          </a:xfrm>
          <a:prstGeom prst="rightBrace">
            <a:avLst/>
          </a:prstGeom>
          <a:ln w="28575">
            <a:solidFill>
              <a:srgbClr val="0066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38100">
                <a:solidFill>
                  <a:schemeClr val="tx1"/>
                </a:solidFill>
              </a:ln>
            </a:endParaRPr>
          </a:p>
        </p:txBody>
      </p:sp>
      <p:sp>
        <p:nvSpPr>
          <p:cNvPr id="37" name="TextBox 36"/>
          <p:cNvSpPr txBox="1"/>
          <p:nvPr/>
        </p:nvSpPr>
        <p:spPr>
          <a:xfrm>
            <a:off x="4814250" y="5883259"/>
            <a:ext cx="904728" cy="461665"/>
          </a:xfrm>
          <a:prstGeom prst="rect">
            <a:avLst/>
          </a:prstGeom>
          <a:noFill/>
          <a:ln>
            <a:solidFill>
              <a:srgbClr val="424242"/>
            </a:solidFill>
          </a:ln>
        </p:spPr>
        <p:txBody>
          <a:bodyPr wrap="square" rtlCol="0">
            <a:spAutoFit/>
          </a:bodyPr>
          <a:lstStyle/>
          <a:p>
            <a:pPr algn="ctr"/>
            <a:r>
              <a:rPr lang="en-US" sz="2400" b="1" dirty="0">
                <a:solidFill>
                  <a:srgbClr val="A71160"/>
                </a:solidFill>
              </a:rPr>
              <a:t>Heap </a:t>
            </a:r>
          </a:p>
        </p:txBody>
      </p:sp>
      <p:cxnSp>
        <p:nvCxnSpPr>
          <p:cNvPr id="63" name="Straight Connector 62"/>
          <p:cNvCxnSpPr/>
          <p:nvPr/>
        </p:nvCxnSpPr>
        <p:spPr>
          <a:xfrm flipH="1">
            <a:off x="5965375" y="2560320"/>
            <a:ext cx="0" cy="38404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0555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par>
                                <p:cTn id="17" presetID="22" presetClass="entr" presetSubtype="1"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500"/>
                                        <p:tgtEl>
                                          <p:spTgt spid="10"/>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500"/>
                                        <p:tgtEl>
                                          <p:spTgt spid="24"/>
                                        </p:tgtEl>
                                      </p:cBhvr>
                                    </p:animEffect>
                                  </p:childTnLst>
                                </p:cTn>
                              </p:par>
                            </p:childTnLst>
                          </p:cTn>
                        </p:par>
                        <p:par>
                          <p:cTn id="31" fill="hold">
                            <p:stCondLst>
                              <p:cond delay="1500"/>
                            </p:stCondLst>
                            <p:childTnLst>
                              <p:par>
                                <p:cTn id="32" presetID="10" presetClass="entr" presetSubtype="0" fill="hold" nodeType="after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par>
                                <p:cTn id="40" presetID="22" presetClass="entr" presetSubtype="1"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up)">
                                      <p:cBhvr>
                                        <p:cTn id="42" dur="500"/>
                                        <p:tgtEl>
                                          <p:spTgt spid="12"/>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500"/>
                                        <p:tgtEl>
                                          <p:spTgt spid="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childTnLst>
                          </p:cTn>
                        </p:par>
                        <p:par>
                          <p:cTn id="50" fill="hold">
                            <p:stCondLst>
                              <p:cond delay="1000"/>
                            </p:stCondLst>
                            <p:childTnLst>
                              <p:par>
                                <p:cTn id="51" presetID="10" presetClass="entr" presetSubtype="0" fill="hold" nodeType="after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00"/>
                                        <p:tgtEl>
                                          <p:spTgt spid="26"/>
                                        </p:tgtEl>
                                      </p:cBhvr>
                                    </p:animEffect>
                                  </p:childTnLst>
                                </p:cTn>
                              </p:par>
                            </p:childTnLst>
                          </p:cTn>
                        </p:par>
                        <p:par>
                          <p:cTn id="54" fill="hold">
                            <p:stCondLst>
                              <p:cond delay="1500"/>
                            </p:stCondLst>
                            <p:childTnLst>
                              <p:par>
                                <p:cTn id="55" presetID="10" presetClass="entr" presetSubtype="0" fill="hold" nodeType="after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500"/>
                                        <p:tgtEl>
                                          <p:spTgt spid="2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up)">
                                      <p:cBhvr>
                                        <p:cTn id="62" dur="500"/>
                                        <p:tgtEl>
                                          <p:spTgt spid="13"/>
                                        </p:tgtEl>
                                      </p:cBhvr>
                                    </p:animEffect>
                                  </p:childTnLst>
                                </p:cTn>
                              </p:par>
                              <p:par>
                                <p:cTn id="63" presetID="22" presetClass="entr" presetSubtype="1" fill="hold"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wipe(up)">
                                      <p:cBhvr>
                                        <p:cTn id="65" dur="500"/>
                                        <p:tgtEl>
                                          <p:spTgt spid="16"/>
                                        </p:tgtEl>
                                      </p:cBhvr>
                                    </p:animEffect>
                                  </p:childTnLst>
                                </p:cTn>
                              </p:par>
                            </p:childTnLst>
                          </p:cTn>
                        </p:par>
                        <p:par>
                          <p:cTn id="66" fill="hold">
                            <p:stCondLst>
                              <p:cond delay="500"/>
                            </p:stCondLst>
                            <p:childTnLst>
                              <p:par>
                                <p:cTn id="67" presetID="10" presetClass="entr" presetSubtype="0" fill="hold" grpId="0" nodeType="after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500"/>
                                        <p:tgtEl>
                                          <p:spTgt spid="15"/>
                                        </p:tgtEl>
                                      </p:cBhvr>
                                    </p:animEffect>
                                  </p:childTnLst>
                                </p:cTn>
                              </p:par>
                            </p:childTnLst>
                          </p:cTn>
                        </p:par>
                        <p:par>
                          <p:cTn id="73" fill="hold">
                            <p:stCondLst>
                              <p:cond delay="1000"/>
                            </p:stCondLst>
                            <p:childTnLst>
                              <p:par>
                                <p:cTn id="74" presetID="10" presetClass="entr" presetSubtype="0" fill="hold" nodeType="after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childTnLst>
                          </p:cTn>
                        </p:par>
                        <p:par>
                          <p:cTn id="77" fill="hold">
                            <p:stCondLst>
                              <p:cond delay="1500"/>
                            </p:stCondLst>
                            <p:childTnLst>
                              <p:par>
                                <p:cTn id="78" presetID="10" presetClass="entr" presetSubtype="0" fill="hold" nodeType="after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nodeType="click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wipe(up)">
                                      <p:cBhvr>
                                        <p:cTn id="85" dur="500"/>
                                        <p:tgtEl>
                                          <p:spTgt spid="20"/>
                                        </p:tgtEl>
                                      </p:cBhvr>
                                    </p:animEffect>
                                  </p:childTnLst>
                                </p:cTn>
                              </p:par>
                              <p:par>
                                <p:cTn id="86" presetID="22" presetClass="entr" presetSubtype="1" fill="hold" nodeType="with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wipe(up)">
                                      <p:cBhvr>
                                        <p:cTn id="88" dur="500"/>
                                        <p:tgtEl>
                                          <p:spTgt spid="21"/>
                                        </p:tgtEl>
                                      </p:cBhvr>
                                    </p:animEffect>
                                  </p:childTnLst>
                                </p:cTn>
                              </p:par>
                            </p:childTnLst>
                          </p:cTn>
                        </p:par>
                        <p:par>
                          <p:cTn id="89" fill="hold">
                            <p:stCondLst>
                              <p:cond delay="500"/>
                            </p:stCondLst>
                            <p:childTnLst>
                              <p:par>
                                <p:cTn id="90" presetID="10" presetClass="entr" presetSubtype="0" fill="hold" grpId="0" nodeType="after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fade">
                                      <p:cBhvr>
                                        <p:cTn id="92" dur="500"/>
                                        <p:tgtEl>
                                          <p:spTgt spid="1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8"/>
                                        </p:tgtEl>
                                        <p:attrNameLst>
                                          <p:attrName>style.visibility</p:attrName>
                                        </p:attrNameLst>
                                      </p:cBhvr>
                                      <p:to>
                                        <p:strVal val="visible"/>
                                      </p:to>
                                    </p:set>
                                    <p:animEffect transition="in" filter="fade">
                                      <p:cBhvr>
                                        <p:cTn id="95" dur="500"/>
                                        <p:tgtEl>
                                          <p:spTgt spid="18"/>
                                        </p:tgtEl>
                                      </p:cBhvr>
                                    </p:animEffect>
                                  </p:childTnLst>
                                </p:cTn>
                              </p:par>
                            </p:childTnLst>
                          </p:cTn>
                        </p:par>
                        <p:par>
                          <p:cTn id="96" fill="hold">
                            <p:stCondLst>
                              <p:cond delay="1000"/>
                            </p:stCondLst>
                            <p:childTnLst>
                              <p:par>
                                <p:cTn id="97" presetID="10" presetClass="entr" presetSubtype="0" fill="hold" nodeType="afterEffect">
                                  <p:stCondLst>
                                    <p:cond delay="0"/>
                                  </p:stCondLst>
                                  <p:childTnLst>
                                    <p:set>
                                      <p:cBhvr>
                                        <p:cTn id="98" dur="1" fill="hold">
                                          <p:stCondLst>
                                            <p:cond delay="0"/>
                                          </p:stCondLst>
                                        </p:cTn>
                                        <p:tgtEl>
                                          <p:spTgt spid="30"/>
                                        </p:tgtEl>
                                        <p:attrNameLst>
                                          <p:attrName>style.visibility</p:attrName>
                                        </p:attrNameLst>
                                      </p:cBhvr>
                                      <p:to>
                                        <p:strVal val="visible"/>
                                      </p:to>
                                    </p:set>
                                    <p:animEffect transition="in" filter="fade">
                                      <p:cBhvr>
                                        <p:cTn id="99" dur="500"/>
                                        <p:tgtEl>
                                          <p:spTgt spid="30"/>
                                        </p:tgtEl>
                                      </p:cBhvr>
                                    </p:animEffect>
                                  </p:childTnLst>
                                </p:cTn>
                              </p:par>
                            </p:childTnLst>
                          </p:cTn>
                        </p:par>
                        <p:par>
                          <p:cTn id="100" fill="hold">
                            <p:stCondLst>
                              <p:cond delay="1500"/>
                            </p:stCondLst>
                            <p:childTnLst>
                              <p:par>
                                <p:cTn id="101" presetID="10" presetClass="entr" presetSubtype="0" fill="hold" nodeType="afterEffect">
                                  <p:stCondLst>
                                    <p:cond delay="0"/>
                                  </p:stCondLst>
                                  <p:childTnLst>
                                    <p:set>
                                      <p:cBhvr>
                                        <p:cTn id="102" dur="1" fill="hold">
                                          <p:stCondLst>
                                            <p:cond delay="0"/>
                                          </p:stCondLst>
                                        </p:cTn>
                                        <p:tgtEl>
                                          <p:spTgt spid="31"/>
                                        </p:tgtEl>
                                        <p:attrNameLst>
                                          <p:attrName>style.visibility</p:attrName>
                                        </p:attrNameLst>
                                      </p:cBhvr>
                                      <p:to>
                                        <p:strVal val="visible"/>
                                      </p:to>
                                    </p:set>
                                    <p:animEffect transition="in" filter="fade">
                                      <p:cBhvr>
                                        <p:cTn id="103" dur="500"/>
                                        <p:tgtEl>
                                          <p:spTgt spid="31"/>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nodeType="clickEffect">
                                  <p:stCondLst>
                                    <p:cond delay="0"/>
                                  </p:stCondLst>
                                  <p:childTnLst>
                                    <p:set>
                                      <p:cBhvr>
                                        <p:cTn id="107" dur="1" fill="hold">
                                          <p:stCondLst>
                                            <p:cond delay="0"/>
                                          </p:stCondLst>
                                        </p:cTn>
                                        <p:tgtEl>
                                          <p:spTgt spid="22"/>
                                        </p:tgtEl>
                                        <p:attrNameLst>
                                          <p:attrName>style.visibility</p:attrName>
                                        </p:attrNameLst>
                                      </p:cBhvr>
                                      <p:to>
                                        <p:strVal val="visible"/>
                                      </p:to>
                                    </p:set>
                                    <p:animEffect transition="in" filter="wipe(up)">
                                      <p:cBhvr>
                                        <p:cTn id="108" dur="500"/>
                                        <p:tgtEl>
                                          <p:spTgt spid="22"/>
                                        </p:tgtEl>
                                      </p:cBhvr>
                                    </p:animEffect>
                                  </p:childTnLst>
                                </p:cTn>
                              </p:par>
                            </p:childTnLst>
                          </p:cTn>
                        </p:par>
                        <p:par>
                          <p:cTn id="109" fill="hold">
                            <p:stCondLst>
                              <p:cond delay="500"/>
                            </p:stCondLst>
                            <p:childTnLst>
                              <p:par>
                                <p:cTn id="110" presetID="10" presetClass="entr" presetSubtype="0" fill="hold" grpId="0" nodeType="afterEffect">
                                  <p:stCondLst>
                                    <p:cond delay="0"/>
                                  </p:stCondLst>
                                  <p:childTnLst>
                                    <p:set>
                                      <p:cBhvr>
                                        <p:cTn id="111" dur="1" fill="hold">
                                          <p:stCondLst>
                                            <p:cond delay="0"/>
                                          </p:stCondLst>
                                        </p:cTn>
                                        <p:tgtEl>
                                          <p:spTgt spid="19"/>
                                        </p:tgtEl>
                                        <p:attrNameLst>
                                          <p:attrName>style.visibility</p:attrName>
                                        </p:attrNameLst>
                                      </p:cBhvr>
                                      <p:to>
                                        <p:strVal val="visible"/>
                                      </p:to>
                                    </p:set>
                                    <p:animEffect transition="in" filter="fade">
                                      <p:cBhvr>
                                        <p:cTn id="112" dur="500"/>
                                        <p:tgtEl>
                                          <p:spTgt spid="19"/>
                                        </p:tgtEl>
                                      </p:cBhvr>
                                    </p:animEffect>
                                  </p:childTnLst>
                                </p:cTn>
                              </p:par>
                            </p:childTnLst>
                          </p:cTn>
                        </p:par>
                        <p:par>
                          <p:cTn id="113" fill="hold">
                            <p:stCondLst>
                              <p:cond delay="1000"/>
                            </p:stCondLst>
                            <p:childTnLst>
                              <p:par>
                                <p:cTn id="114" presetID="10" presetClass="entr" presetSubtype="0" fill="hold" nodeType="afterEffect">
                                  <p:stCondLst>
                                    <p:cond delay="0"/>
                                  </p:stCondLst>
                                  <p:childTnLst>
                                    <p:set>
                                      <p:cBhvr>
                                        <p:cTn id="115" dur="1" fill="hold">
                                          <p:stCondLst>
                                            <p:cond delay="0"/>
                                          </p:stCondLst>
                                        </p:cTn>
                                        <p:tgtEl>
                                          <p:spTgt spid="32"/>
                                        </p:tgtEl>
                                        <p:attrNameLst>
                                          <p:attrName>style.visibility</p:attrName>
                                        </p:attrNameLst>
                                      </p:cBhvr>
                                      <p:to>
                                        <p:strVal val="visible"/>
                                      </p:to>
                                    </p:set>
                                    <p:animEffect transition="in" filter="fade">
                                      <p:cBhvr>
                                        <p:cTn id="116" dur="500"/>
                                        <p:tgtEl>
                                          <p:spTgt spid="32"/>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34"/>
                                        </p:tgtEl>
                                        <p:attrNameLst>
                                          <p:attrName>style.visibility</p:attrName>
                                        </p:attrNameLst>
                                      </p:cBhvr>
                                      <p:to>
                                        <p:strVal val="visible"/>
                                      </p:to>
                                    </p:set>
                                    <p:animEffect transition="in" filter="fade">
                                      <p:cBhvr>
                                        <p:cTn id="119" dur="500"/>
                                        <p:tgtEl>
                                          <p:spTgt spid="34"/>
                                        </p:tgtEl>
                                      </p:cBhvr>
                                    </p:animEffect>
                                  </p:childTnLst>
                                </p:cTn>
                              </p:par>
                            </p:childTnLst>
                          </p:cTn>
                        </p:par>
                        <p:par>
                          <p:cTn id="120" fill="hold">
                            <p:stCondLst>
                              <p:cond delay="1500"/>
                            </p:stCondLst>
                            <p:childTnLst>
                              <p:par>
                                <p:cTn id="121" presetID="18" presetClass="entr" presetSubtype="3" fill="hold" grpId="0" nodeType="afterEffect">
                                  <p:stCondLst>
                                    <p:cond delay="0"/>
                                  </p:stCondLst>
                                  <p:childTnLst>
                                    <p:set>
                                      <p:cBhvr>
                                        <p:cTn id="122" dur="1" fill="hold">
                                          <p:stCondLst>
                                            <p:cond delay="0"/>
                                          </p:stCondLst>
                                        </p:cTn>
                                        <p:tgtEl>
                                          <p:spTgt spid="35"/>
                                        </p:tgtEl>
                                        <p:attrNameLst>
                                          <p:attrName>style.visibility</p:attrName>
                                        </p:attrNameLst>
                                      </p:cBhvr>
                                      <p:to>
                                        <p:strVal val="visible"/>
                                      </p:to>
                                    </p:set>
                                    <p:animEffect transition="in" filter="strips(upRight)">
                                      <p:cBhvr>
                                        <p:cTn id="123" dur="500"/>
                                        <p:tgtEl>
                                          <p:spTgt spid="3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37"/>
                                        </p:tgtEl>
                                        <p:attrNameLst>
                                          <p:attrName>style.visibility</p:attrName>
                                        </p:attrNameLst>
                                      </p:cBhvr>
                                      <p:to>
                                        <p:strVal val="visible"/>
                                      </p:to>
                                    </p:set>
                                    <p:animEffect transition="in" filter="fade">
                                      <p:cBhvr>
                                        <p:cTn id="126" dur="500"/>
                                        <p:tgtEl>
                                          <p:spTgt spid="37"/>
                                        </p:tgtEl>
                                      </p:cBhvr>
                                    </p:animEffect>
                                  </p:childTnLst>
                                </p:cTn>
                              </p:par>
                            </p:childTnLst>
                          </p:cTn>
                        </p:par>
                        <p:par>
                          <p:cTn id="127" fill="hold">
                            <p:stCondLst>
                              <p:cond delay="2000"/>
                            </p:stCondLst>
                            <p:childTnLst>
                              <p:par>
                                <p:cTn id="128" presetID="22" presetClass="entr" presetSubtype="1" fill="hold" nodeType="afterEffect">
                                  <p:stCondLst>
                                    <p:cond delay="0"/>
                                  </p:stCondLst>
                                  <p:childTnLst>
                                    <p:set>
                                      <p:cBhvr>
                                        <p:cTn id="129" dur="1" fill="hold">
                                          <p:stCondLst>
                                            <p:cond delay="0"/>
                                          </p:stCondLst>
                                        </p:cTn>
                                        <p:tgtEl>
                                          <p:spTgt spid="63"/>
                                        </p:tgtEl>
                                        <p:attrNameLst>
                                          <p:attrName>style.visibility</p:attrName>
                                        </p:attrNameLst>
                                      </p:cBhvr>
                                      <p:to>
                                        <p:strVal val="visible"/>
                                      </p:to>
                                    </p:set>
                                    <p:animEffect transition="in" filter="wipe(up)">
                                      <p:cBhvr>
                                        <p:cTn id="130"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4" grpId="0" animBg="1"/>
      <p:bldP spid="15" grpId="0" animBg="1"/>
      <p:bldP spid="17" grpId="0" animBg="1"/>
      <p:bldP spid="18" grpId="0" animBg="1"/>
      <p:bldP spid="19" grpId="0" animBg="1"/>
      <p:bldP spid="34" grpId="0" animBg="1"/>
      <p:bldP spid="35" grpId="0" animBg="1"/>
      <p:bldP spid="3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Representation of Heap</a:t>
            </a:r>
          </a:p>
        </p:txBody>
      </p:sp>
      <p:sp>
        <p:nvSpPr>
          <p:cNvPr id="3" name="Content Placeholder 2"/>
          <p:cNvSpPr>
            <a:spLocks noGrp="1"/>
          </p:cNvSpPr>
          <p:nvPr>
            <p:ph idx="1"/>
          </p:nvPr>
        </p:nvSpPr>
        <p:spPr/>
        <p:txBody>
          <a:bodyPr/>
          <a:lstStyle/>
          <a:p>
            <a:r>
              <a:rPr lang="en-US" dirty="0"/>
              <a:t>In the array 𝐴, that represents a heap </a:t>
            </a:r>
          </a:p>
          <a:p>
            <a:pPr marL="914400" lvl="1" indent="-457200">
              <a:buFont typeface="+mj-lt"/>
              <a:buAutoNum type="arabicPeriod"/>
            </a:pPr>
            <a:r>
              <a:rPr lang="en-US" dirty="0"/>
              <a:t>length[𝐴] = heap-size[𝐴]</a:t>
            </a:r>
          </a:p>
          <a:p>
            <a:pPr marL="914400" lvl="1" indent="-457200">
              <a:buFont typeface="+mj-lt"/>
              <a:buAutoNum type="arabicPeriod"/>
            </a:pPr>
            <a:r>
              <a:rPr lang="en-US" dirty="0"/>
              <a:t>For any node 𝒊 the parent node is 𝒊/𝟐</a:t>
            </a:r>
          </a:p>
          <a:p>
            <a:pPr marL="914400" lvl="1" indent="-457200">
              <a:buFont typeface="+mj-lt"/>
              <a:buAutoNum type="arabicPeriod"/>
            </a:pPr>
            <a:r>
              <a:rPr lang="en-US" dirty="0"/>
              <a:t>For any node 𝒊, its left child is 𝟐𝒊 and right child is 𝟐𝒊 +𝟏</a:t>
            </a:r>
          </a:p>
          <a:p>
            <a:pPr marL="914400" lvl="1" indent="-457200">
              <a:buFont typeface="+mj-lt"/>
              <a:buAutoNum type="arabicPeriod"/>
            </a:pPr>
            <a:endParaRPr lang="en-US" dirty="0"/>
          </a:p>
        </p:txBody>
      </p:sp>
      <p:sp>
        <p:nvSpPr>
          <p:cNvPr id="4" name="Oval 3"/>
          <p:cNvSpPr/>
          <p:nvPr/>
        </p:nvSpPr>
        <p:spPr>
          <a:xfrm>
            <a:off x="2986320" y="2747554"/>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16</a:t>
            </a:r>
          </a:p>
        </p:txBody>
      </p:sp>
      <p:sp>
        <p:nvSpPr>
          <p:cNvPr id="5" name="Oval 4"/>
          <p:cNvSpPr/>
          <p:nvPr/>
        </p:nvSpPr>
        <p:spPr>
          <a:xfrm>
            <a:off x="2046260" y="3730566"/>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14</a:t>
            </a:r>
          </a:p>
        </p:txBody>
      </p:sp>
      <p:sp>
        <p:nvSpPr>
          <p:cNvPr id="6" name="Oval 5"/>
          <p:cNvSpPr/>
          <p:nvPr/>
        </p:nvSpPr>
        <p:spPr>
          <a:xfrm>
            <a:off x="4029070" y="3730566"/>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10</a:t>
            </a:r>
          </a:p>
        </p:txBody>
      </p:sp>
      <p:sp>
        <p:nvSpPr>
          <p:cNvPr id="7" name="Oval 6"/>
          <p:cNvSpPr/>
          <p:nvPr/>
        </p:nvSpPr>
        <p:spPr>
          <a:xfrm>
            <a:off x="1243159" y="4680992"/>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8</a:t>
            </a:r>
          </a:p>
        </p:txBody>
      </p:sp>
      <p:sp>
        <p:nvSpPr>
          <p:cNvPr id="8" name="Oval 7"/>
          <p:cNvSpPr/>
          <p:nvPr/>
        </p:nvSpPr>
        <p:spPr>
          <a:xfrm>
            <a:off x="2692417" y="4694439"/>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7</a:t>
            </a:r>
          </a:p>
        </p:txBody>
      </p:sp>
      <p:cxnSp>
        <p:nvCxnSpPr>
          <p:cNvPr id="9" name="Straight Arrow Connector 8"/>
          <p:cNvCxnSpPr>
            <a:stCxn id="4" idx="3"/>
            <a:endCxn id="5" idx="0"/>
          </p:cNvCxnSpPr>
          <p:nvPr/>
        </p:nvCxnSpPr>
        <p:spPr>
          <a:xfrm flipH="1">
            <a:off x="2366300" y="3293896"/>
            <a:ext cx="713758" cy="43667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5"/>
            <a:endCxn id="6" idx="0"/>
          </p:cNvCxnSpPr>
          <p:nvPr/>
        </p:nvCxnSpPr>
        <p:spPr>
          <a:xfrm>
            <a:off x="3532662" y="3293896"/>
            <a:ext cx="816448" cy="43667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5" idx="3"/>
            <a:endCxn id="7" idx="0"/>
          </p:cNvCxnSpPr>
          <p:nvPr/>
        </p:nvCxnSpPr>
        <p:spPr>
          <a:xfrm flipH="1">
            <a:off x="1563199" y="4276908"/>
            <a:ext cx="576799" cy="404084"/>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5" idx="5"/>
            <a:endCxn id="8" idx="0"/>
          </p:cNvCxnSpPr>
          <p:nvPr/>
        </p:nvCxnSpPr>
        <p:spPr>
          <a:xfrm>
            <a:off x="2592602" y="4276908"/>
            <a:ext cx="419855" cy="417531"/>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3"/>
            <a:endCxn id="14" idx="0"/>
          </p:cNvCxnSpPr>
          <p:nvPr/>
        </p:nvCxnSpPr>
        <p:spPr>
          <a:xfrm flipH="1">
            <a:off x="3761391" y="4276908"/>
            <a:ext cx="361417" cy="417531"/>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3441351" y="4694439"/>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9</a:t>
            </a:r>
          </a:p>
        </p:txBody>
      </p:sp>
      <p:sp>
        <p:nvSpPr>
          <p:cNvPr id="15" name="Oval 14"/>
          <p:cNvSpPr/>
          <p:nvPr/>
        </p:nvSpPr>
        <p:spPr>
          <a:xfrm>
            <a:off x="4558898" y="4721333"/>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3</a:t>
            </a:r>
          </a:p>
        </p:txBody>
      </p:sp>
      <p:cxnSp>
        <p:nvCxnSpPr>
          <p:cNvPr id="16" name="Straight Arrow Connector 15"/>
          <p:cNvCxnSpPr>
            <a:stCxn id="6" idx="5"/>
            <a:endCxn id="15" idx="0"/>
          </p:cNvCxnSpPr>
          <p:nvPr/>
        </p:nvCxnSpPr>
        <p:spPr>
          <a:xfrm>
            <a:off x="4575412" y="4276908"/>
            <a:ext cx="303526" cy="444425"/>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640328" y="5721641"/>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2</a:t>
            </a:r>
          </a:p>
        </p:txBody>
      </p:sp>
      <p:sp>
        <p:nvSpPr>
          <p:cNvPr id="18" name="Oval 17"/>
          <p:cNvSpPr/>
          <p:nvPr/>
        </p:nvSpPr>
        <p:spPr>
          <a:xfrm>
            <a:off x="1679153" y="5748535"/>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4</a:t>
            </a:r>
          </a:p>
        </p:txBody>
      </p:sp>
      <p:sp>
        <p:nvSpPr>
          <p:cNvPr id="19" name="Oval 18"/>
          <p:cNvSpPr/>
          <p:nvPr/>
        </p:nvSpPr>
        <p:spPr>
          <a:xfrm>
            <a:off x="2379133" y="5748535"/>
            <a:ext cx="640080" cy="64008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A71160"/>
                </a:solidFill>
              </a:rPr>
              <a:t>1</a:t>
            </a:r>
          </a:p>
        </p:txBody>
      </p:sp>
      <p:cxnSp>
        <p:nvCxnSpPr>
          <p:cNvPr id="20" name="Straight Arrow Connector 19"/>
          <p:cNvCxnSpPr>
            <a:stCxn id="7" idx="3"/>
            <a:endCxn id="17" idx="0"/>
          </p:cNvCxnSpPr>
          <p:nvPr/>
        </p:nvCxnSpPr>
        <p:spPr>
          <a:xfrm flipH="1">
            <a:off x="960368" y="5227334"/>
            <a:ext cx="376529" cy="494307"/>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18" idx="0"/>
          </p:cNvCxnSpPr>
          <p:nvPr/>
        </p:nvCxnSpPr>
        <p:spPr>
          <a:xfrm>
            <a:off x="1789501" y="5227334"/>
            <a:ext cx="209692" cy="521201"/>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4"/>
            <a:endCxn id="19" idx="0"/>
          </p:cNvCxnSpPr>
          <p:nvPr/>
        </p:nvCxnSpPr>
        <p:spPr>
          <a:xfrm flipH="1">
            <a:off x="2699173" y="5334519"/>
            <a:ext cx="313284" cy="414016"/>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271641" y="5717964"/>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16</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4" name="Table 23"/>
          <p:cNvGraphicFramePr>
            <a:graphicFrameLocks noGrp="1"/>
          </p:cNvGraphicFramePr>
          <p:nvPr/>
        </p:nvGraphicFramePr>
        <p:xfrm>
          <a:off x="6818467"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14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5" name="Table 24"/>
          <p:cNvGraphicFramePr>
            <a:graphicFrameLocks noGrp="1"/>
          </p:cNvGraphicFramePr>
          <p:nvPr/>
        </p:nvGraphicFramePr>
        <p:xfrm>
          <a:off x="7362514"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10</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6" name="Table 25"/>
          <p:cNvGraphicFramePr>
            <a:graphicFrameLocks noGrp="1"/>
          </p:cNvGraphicFramePr>
          <p:nvPr/>
        </p:nvGraphicFramePr>
        <p:xfrm>
          <a:off x="7898161"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8</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7" name="Table 26"/>
          <p:cNvGraphicFramePr>
            <a:graphicFrameLocks noGrp="1"/>
          </p:cNvGraphicFramePr>
          <p:nvPr/>
        </p:nvGraphicFramePr>
        <p:xfrm>
          <a:off x="8433808"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8" name="Table 27"/>
          <p:cNvGraphicFramePr>
            <a:graphicFrameLocks noGrp="1"/>
          </p:cNvGraphicFramePr>
          <p:nvPr/>
        </p:nvGraphicFramePr>
        <p:xfrm>
          <a:off x="8969455"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9" name="Table 28"/>
          <p:cNvGraphicFramePr>
            <a:graphicFrameLocks noGrp="1"/>
          </p:cNvGraphicFramePr>
          <p:nvPr/>
        </p:nvGraphicFramePr>
        <p:xfrm>
          <a:off x="9505102"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30" name="Table 29"/>
          <p:cNvGraphicFramePr>
            <a:graphicFrameLocks noGrp="1"/>
          </p:cNvGraphicFramePr>
          <p:nvPr/>
        </p:nvGraphicFramePr>
        <p:xfrm>
          <a:off x="10040749"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2</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31" name="Table 30"/>
          <p:cNvGraphicFramePr>
            <a:graphicFrameLocks noGrp="1"/>
          </p:cNvGraphicFramePr>
          <p:nvPr/>
        </p:nvGraphicFramePr>
        <p:xfrm>
          <a:off x="10576396"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32" name="Table 31"/>
          <p:cNvGraphicFramePr>
            <a:graphicFrameLocks noGrp="1"/>
          </p:cNvGraphicFramePr>
          <p:nvPr/>
        </p:nvGraphicFramePr>
        <p:xfrm>
          <a:off x="11121005" y="5715001"/>
          <a:ext cx="539556" cy="588630"/>
        </p:xfrm>
        <a:graphic>
          <a:graphicData uri="http://schemas.openxmlformats.org/drawingml/2006/table">
            <a:tbl>
              <a:tblPr firstRow="1" bandRow="1">
                <a:tableStyleId>{5940675A-B579-460E-94D1-54222C63F5DA}</a:tableStyleId>
              </a:tblPr>
              <a:tblGrid>
                <a:gridCol w="539556">
                  <a:extLst>
                    <a:ext uri="{9D8B030D-6E8A-4147-A177-3AD203B41FA5}">
                      <a16:colId xmlns:a16="http://schemas.microsoft.com/office/drawing/2014/main" val="20000"/>
                    </a:ext>
                  </a:extLst>
                </a:gridCol>
              </a:tblGrid>
              <a:tr h="588630">
                <a:tc>
                  <a:txBody>
                    <a:bodyPr/>
                    <a:lstStyle/>
                    <a:p>
                      <a:pPr algn="ctr"/>
                      <a:r>
                        <a:rPr lang="en-US" sz="2400" dirty="0">
                          <a:solidFill>
                            <a:srgbClr val="002060"/>
                          </a:solidFill>
                        </a:rPr>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37" name="TextBox 36"/>
          <p:cNvSpPr txBox="1"/>
          <p:nvPr/>
        </p:nvSpPr>
        <p:spPr>
          <a:xfrm>
            <a:off x="4814250" y="5883259"/>
            <a:ext cx="904728" cy="461665"/>
          </a:xfrm>
          <a:prstGeom prst="rect">
            <a:avLst/>
          </a:prstGeom>
          <a:noFill/>
          <a:ln>
            <a:solidFill>
              <a:srgbClr val="424242"/>
            </a:solidFill>
          </a:ln>
        </p:spPr>
        <p:txBody>
          <a:bodyPr wrap="square" rtlCol="0">
            <a:spAutoFit/>
          </a:bodyPr>
          <a:lstStyle/>
          <a:p>
            <a:pPr algn="ctr"/>
            <a:r>
              <a:rPr lang="en-US" sz="2400" b="1" dirty="0">
                <a:solidFill>
                  <a:srgbClr val="A71160"/>
                </a:solidFill>
              </a:rPr>
              <a:t>Heap </a:t>
            </a:r>
          </a:p>
        </p:txBody>
      </p:sp>
      <p:cxnSp>
        <p:nvCxnSpPr>
          <p:cNvPr id="63" name="Straight Connector 62"/>
          <p:cNvCxnSpPr/>
          <p:nvPr/>
        </p:nvCxnSpPr>
        <p:spPr>
          <a:xfrm flipH="1">
            <a:off x="5965375" y="2560320"/>
            <a:ext cx="0" cy="38404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38" name="Table 37"/>
              <p:cNvGraphicFramePr>
                <a:graphicFrameLocks noGrp="1"/>
              </p:cNvGraphicFramePr>
              <p:nvPr/>
            </p:nvGraphicFramePr>
            <p:xfrm>
              <a:off x="6288975" y="5354626"/>
              <a:ext cx="5421148" cy="370840"/>
            </p:xfrm>
            <a:graphic>
              <a:graphicData uri="http://schemas.openxmlformats.org/drawingml/2006/table">
                <a:tbl>
                  <a:tblPr firstRow="1" bandRow="1">
                    <a:tableStyleId>{5C22544A-7EE6-4342-B048-85BDC9FD1C3A}</a:tableStyleId>
                  </a:tblPr>
                  <a:tblGrid>
                    <a:gridCol w="542115">
                      <a:extLst>
                        <a:ext uri="{9D8B030D-6E8A-4147-A177-3AD203B41FA5}">
                          <a16:colId xmlns:a16="http://schemas.microsoft.com/office/drawing/2014/main" val="2172049402"/>
                        </a:ext>
                      </a:extLst>
                    </a:gridCol>
                    <a:gridCol w="591686">
                      <a:extLst>
                        <a:ext uri="{9D8B030D-6E8A-4147-A177-3AD203B41FA5}">
                          <a16:colId xmlns:a16="http://schemas.microsoft.com/office/drawing/2014/main" val="2777662976"/>
                        </a:ext>
                      </a:extLst>
                    </a:gridCol>
                    <a:gridCol w="533400">
                      <a:extLst>
                        <a:ext uri="{9D8B030D-6E8A-4147-A177-3AD203B41FA5}">
                          <a16:colId xmlns:a16="http://schemas.microsoft.com/office/drawing/2014/main" val="238642833"/>
                        </a:ext>
                      </a:extLst>
                    </a:gridCol>
                    <a:gridCol w="533400">
                      <a:extLst>
                        <a:ext uri="{9D8B030D-6E8A-4147-A177-3AD203B41FA5}">
                          <a16:colId xmlns:a16="http://schemas.microsoft.com/office/drawing/2014/main" val="1357123703"/>
                        </a:ext>
                      </a:extLst>
                    </a:gridCol>
                    <a:gridCol w="533400">
                      <a:extLst>
                        <a:ext uri="{9D8B030D-6E8A-4147-A177-3AD203B41FA5}">
                          <a16:colId xmlns:a16="http://schemas.microsoft.com/office/drawing/2014/main" val="1531216989"/>
                        </a:ext>
                      </a:extLst>
                    </a:gridCol>
                    <a:gridCol w="533400">
                      <a:extLst>
                        <a:ext uri="{9D8B030D-6E8A-4147-A177-3AD203B41FA5}">
                          <a16:colId xmlns:a16="http://schemas.microsoft.com/office/drawing/2014/main" val="491540489"/>
                        </a:ext>
                      </a:extLst>
                    </a:gridCol>
                    <a:gridCol w="533400">
                      <a:extLst>
                        <a:ext uri="{9D8B030D-6E8A-4147-A177-3AD203B41FA5}">
                          <a16:colId xmlns:a16="http://schemas.microsoft.com/office/drawing/2014/main" val="1476518152"/>
                        </a:ext>
                      </a:extLst>
                    </a:gridCol>
                    <a:gridCol w="533400">
                      <a:extLst>
                        <a:ext uri="{9D8B030D-6E8A-4147-A177-3AD203B41FA5}">
                          <a16:colId xmlns:a16="http://schemas.microsoft.com/office/drawing/2014/main" val="3698640460"/>
                        </a:ext>
                      </a:extLst>
                    </a:gridCol>
                    <a:gridCol w="533400">
                      <a:extLst>
                        <a:ext uri="{9D8B030D-6E8A-4147-A177-3AD203B41FA5}">
                          <a16:colId xmlns:a16="http://schemas.microsoft.com/office/drawing/2014/main" val="293661145"/>
                        </a:ext>
                      </a:extLst>
                    </a:gridCol>
                    <a:gridCol w="553547">
                      <a:extLst>
                        <a:ext uri="{9D8B030D-6E8A-4147-A177-3AD203B41FA5}">
                          <a16:colId xmlns:a16="http://schemas.microsoft.com/office/drawing/2014/main" val="3972179948"/>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1800" b="1" i="0" dirty="0" smtClean="0">
                                    <a:solidFill>
                                      <a:srgbClr val="C00000"/>
                                    </a:solidFill>
                                    <a:latin typeface="Cambria Math" panose="02040503050406030204" pitchFamily="18" charset="0"/>
                                  </a:rPr>
                                  <m:t>𝟏</m:t>
                                </m:r>
                              </m:oMath>
                            </m:oMathPara>
                          </a14:m>
                          <a:endParaRPr lang="en-US" sz="1800" b="1" i="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b="1" i="0" dirty="0" smtClean="0">
                                    <a:solidFill>
                                      <a:srgbClr val="C00000"/>
                                    </a:solidFill>
                                    <a:latin typeface="Cambria Math" panose="02040503050406030204" pitchFamily="18" charset="0"/>
                                  </a:rPr>
                                  <m:t>𝟐</m:t>
                                </m:r>
                              </m:oMath>
                            </m:oMathPara>
                          </a14:m>
                          <a:endParaRPr lang="en-US" sz="1800" b="1" i="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b="1" i="0" dirty="0" smtClean="0">
                                    <a:solidFill>
                                      <a:srgbClr val="C00000"/>
                                    </a:solidFill>
                                    <a:latin typeface="Cambria Math" panose="02040503050406030204" pitchFamily="18" charset="0"/>
                                  </a:rPr>
                                  <m:t>𝟑</m:t>
                                </m:r>
                              </m:oMath>
                            </m:oMathPara>
                          </a14:m>
                          <a:endParaRPr lang="en-US" sz="1800" b="1" i="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b="1" i="0" dirty="0" smtClean="0">
                                    <a:solidFill>
                                      <a:srgbClr val="C00000"/>
                                    </a:solidFill>
                                    <a:latin typeface="Cambria Math" panose="02040503050406030204" pitchFamily="18" charset="0"/>
                                  </a:rPr>
                                  <m:t>𝟒</m:t>
                                </m:r>
                              </m:oMath>
                            </m:oMathPara>
                          </a14:m>
                          <a:endParaRPr lang="en-US" sz="1800" b="1" i="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b="1" i="0" dirty="0" smtClean="0">
                                    <a:solidFill>
                                      <a:srgbClr val="C00000"/>
                                    </a:solidFill>
                                    <a:latin typeface="Cambria Math" panose="02040503050406030204" pitchFamily="18" charset="0"/>
                                  </a:rPr>
                                  <m:t>𝟓</m:t>
                                </m:r>
                              </m:oMath>
                            </m:oMathPara>
                          </a14:m>
                          <a:endParaRPr lang="en-US" sz="1800" b="1" i="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b="1" i="0" dirty="0" smtClean="0">
                                    <a:solidFill>
                                      <a:srgbClr val="C00000"/>
                                    </a:solidFill>
                                    <a:latin typeface="Cambria Math" panose="02040503050406030204" pitchFamily="18" charset="0"/>
                                  </a:rPr>
                                  <m:t>𝟔</m:t>
                                </m:r>
                              </m:oMath>
                            </m:oMathPara>
                          </a14:m>
                          <a:endParaRPr lang="en-US" sz="1800" b="1" i="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b="1" i="0" dirty="0" smtClean="0">
                                    <a:solidFill>
                                      <a:srgbClr val="C00000"/>
                                    </a:solidFill>
                                    <a:latin typeface="Cambria Math" panose="02040503050406030204" pitchFamily="18" charset="0"/>
                                  </a:rPr>
                                  <m:t>𝟕</m:t>
                                </m:r>
                              </m:oMath>
                            </m:oMathPara>
                          </a14:m>
                          <a:endParaRPr lang="en-US" sz="1800" b="1" i="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b="1" i="0" dirty="0" smtClean="0">
                                    <a:solidFill>
                                      <a:srgbClr val="C00000"/>
                                    </a:solidFill>
                                    <a:latin typeface="Cambria Math" panose="02040503050406030204" pitchFamily="18" charset="0"/>
                                  </a:rPr>
                                  <m:t>𝟖</m:t>
                                </m:r>
                              </m:oMath>
                            </m:oMathPara>
                          </a14:m>
                          <a:endParaRPr lang="en-US" sz="1800" b="1" i="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b="1" i="0" dirty="0" smtClean="0">
                                    <a:solidFill>
                                      <a:srgbClr val="C00000"/>
                                    </a:solidFill>
                                    <a:latin typeface="Cambria Math" panose="02040503050406030204" pitchFamily="18" charset="0"/>
                                  </a:rPr>
                                  <m:t>𝟗</m:t>
                                </m:r>
                              </m:oMath>
                            </m:oMathPara>
                          </a14:m>
                          <a:endParaRPr lang="en-US" sz="1800" b="1" i="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b="1" i="0" dirty="0" smtClean="0">
                                    <a:solidFill>
                                      <a:srgbClr val="C00000"/>
                                    </a:solidFill>
                                    <a:latin typeface="Cambria Math" panose="02040503050406030204" pitchFamily="18" charset="0"/>
                                  </a:rPr>
                                  <m:t>𝟏𝟎</m:t>
                                </m:r>
                              </m:oMath>
                            </m:oMathPara>
                          </a14:m>
                          <a:endParaRPr lang="en-US" sz="1800" b="1" i="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9224174"/>
                      </a:ext>
                    </a:extLst>
                  </a:tr>
                </a:tbl>
              </a:graphicData>
            </a:graphic>
          </p:graphicFrame>
        </mc:Choice>
        <mc:Fallback xmlns="">
          <p:graphicFrame>
            <p:nvGraphicFramePr>
              <p:cNvPr id="38" name="Table 37"/>
              <p:cNvGraphicFramePr>
                <a:graphicFrameLocks noGrp="1"/>
              </p:cNvGraphicFramePr>
              <p:nvPr>
                <p:extLst>
                  <p:ext uri="{D42A27DB-BD31-4B8C-83A1-F6EECF244321}">
                    <p14:modId xmlns:p14="http://schemas.microsoft.com/office/powerpoint/2010/main" val="1540557384"/>
                  </p:ext>
                </p:extLst>
              </p:nvPr>
            </p:nvGraphicFramePr>
            <p:xfrm>
              <a:off x="6288975" y="5354626"/>
              <a:ext cx="5421148" cy="370840"/>
            </p:xfrm>
            <a:graphic>
              <a:graphicData uri="http://schemas.openxmlformats.org/drawingml/2006/table">
                <a:tbl>
                  <a:tblPr firstRow="1" bandRow="1">
                    <a:tableStyleId>{5C22544A-7EE6-4342-B048-85BDC9FD1C3A}</a:tableStyleId>
                  </a:tblPr>
                  <a:tblGrid>
                    <a:gridCol w="542115">
                      <a:extLst>
                        <a:ext uri="{9D8B030D-6E8A-4147-A177-3AD203B41FA5}">
                          <a16:colId xmlns:a16="http://schemas.microsoft.com/office/drawing/2014/main" val="2172049402"/>
                        </a:ext>
                      </a:extLst>
                    </a:gridCol>
                    <a:gridCol w="591686">
                      <a:extLst>
                        <a:ext uri="{9D8B030D-6E8A-4147-A177-3AD203B41FA5}">
                          <a16:colId xmlns:a16="http://schemas.microsoft.com/office/drawing/2014/main" val="2777662976"/>
                        </a:ext>
                      </a:extLst>
                    </a:gridCol>
                    <a:gridCol w="533400">
                      <a:extLst>
                        <a:ext uri="{9D8B030D-6E8A-4147-A177-3AD203B41FA5}">
                          <a16:colId xmlns:a16="http://schemas.microsoft.com/office/drawing/2014/main" val="238642833"/>
                        </a:ext>
                      </a:extLst>
                    </a:gridCol>
                    <a:gridCol w="533400">
                      <a:extLst>
                        <a:ext uri="{9D8B030D-6E8A-4147-A177-3AD203B41FA5}">
                          <a16:colId xmlns:a16="http://schemas.microsoft.com/office/drawing/2014/main" val="1357123703"/>
                        </a:ext>
                      </a:extLst>
                    </a:gridCol>
                    <a:gridCol w="533400">
                      <a:extLst>
                        <a:ext uri="{9D8B030D-6E8A-4147-A177-3AD203B41FA5}">
                          <a16:colId xmlns:a16="http://schemas.microsoft.com/office/drawing/2014/main" val="1531216989"/>
                        </a:ext>
                      </a:extLst>
                    </a:gridCol>
                    <a:gridCol w="533400">
                      <a:extLst>
                        <a:ext uri="{9D8B030D-6E8A-4147-A177-3AD203B41FA5}">
                          <a16:colId xmlns:a16="http://schemas.microsoft.com/office/drawing/2014/main" val="491540489"/>
                        </a:ext>
                      </a:extLst>
                    </a:gridCol>
                    <a:gridCol w="533400">
                      <a:extLst>
                        <a:ext uri="{9D8B030D-6E8A-4147-A177-3AD203B41FA5}">
                          <a16:colId xmlns:a16="http://schemas.microsoft.com/office/drawing/2014/main" val="1476518152"/>
                        </a:ext>
                      </a:extLst>
                    </a:gridCol>
                    <a:gridCol w="533400">
                      <a:extLst>
                        <a:ext uri="{9D8B030D-6E8A-4147-A177-3AD203B41FA5}">
                          <a16:colId xmlns:a16="http://schemas.microsoft.com/office/drawing/2014/main" val="3698640460"/>
                        </a:ext>
                      </a:extLst>
                    </a:gridCol>
                    <a:gridCol w="533400">
                      <a:extLst>
                        <a:ext uri="{9D8B030D-6E8A-4147-A177-3AD203B41FA5}">
                          <a16:colId xmlns:a16="http://schemas.microsoft.com/office/drawing/2014/main" val="293661145"/>
                        </a:ext>
                      </a:extLst>
                    </a:gridCol>
                    <a:gridCol w="553547">
                      <a:extLst>
                        <a:ext uri="{9D8B030D-6E8A-4147-A177-3AD203B41FA5}">
                          <a16:colId xmlns:a16="http://schemas.microsoft.com/office/drawing/2014/main" val="3972179948"/>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r="-9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91753" r="-72577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211364" r="-7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314943" r="-608046"/>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410227" r="-501136"/>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16092" r="-406897"/>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609091" r="-30227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709091" r="-20227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818391" r="-104598"/>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878022"/>
                          </a:stretch>
                        </a:blipFill>
                      </a:tcPr>
                    </a:tc>
                    <a:extLst>
                      <a:ext uri="{0D108BD9-81ED-4DB2-BD59-A6C34878D82A}">
                        <a16:rowId xmlns:a16="http://schemas.microsoft.com/office/drawing/2014/main" val="2199224174"/>
                      </a:ext>
                    </a:extLst>
                  </a:tr>
                </a:tbl>
              </a:graphicData>
            </a:graphic>
          </p:graphicFrame>
        </mc:Fallback>
      </mc:AlternateContent>
      <mc:AlternateContent xmlns:mc="http://schemas.openxmlformats.org/markup-compatibility/2006" xmlns:a14="http://schemas.microsoft.com/office/drawing/2010/main">
        <mc:Choice Requires="a14">
          <p:sp>
            <p:nvSpPr>
              <p:cNvPr id="39" name="TextBox 38"/>
              <p:cNvSpPr txBox="1"/>
              <p:nvPr/>
            </p:nvSpPr>
            <p:spPr>
              <a:xfrm>
                <a:off x="2756318" y="2641161"/>
                <a:ext cx="30480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C00000"/>
                          </a:solidFill>
                          <a:latin typeface="Cambria Math" panose="02040503050406030204" pitchFamily="18" charset="0"/>
                        </a:rPr>
                        <m:t>𝟏</m:t>
                      </m:r>
                    </m:oMath>
                  </m:oMathPara>
                </a14:m>
                <a:endParaRPr lang="en-US" sz="1600" b="1" dirty="0">
                  <a:solidFill>
                    <a:srgbClr val="C00000"/>
                  </a:solidFill>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2756318" y="2641161"/>
                <a:ext cx="304800" cy="33855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1936455" y="3550347"/>
                <a:ext cx="30480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C00000"/>
                          </a:solidFill>
                          <a:latin typeface="Cambria Math" panose="02040503050406030204" pitchFamily="18" charset="0"/>
                        </a:rPr>
                        <m:t>𝟐</m:t>
                      </m:r>
                    </m:oMath>
                  </m:oMathPara>
                </a14:m>
                <a:endParaRPr lang="en-US" sz="1600" b="1" dirty="0">
                  <a:solidFill>
                    <a:srgbClr val="C00000"/>
                  </a:solidFill>
                </a:endParaRPr>
              </a:p>
            </p:txBody>
          </p:sp>
        </mc:Choice>
        <mc:Fallback xmlns="">
          <p:sp>
            <p:nvSpPr>
              <p:cNvPr id="40" name="TextBox 39"/>
              <p:cNvSpPr txBox="1">
                <a:spLocks noRot="1" noChangeAspect="1" noMove="1" noResize="1" noEditPoints="1" noAdjustHandles="1" noChangeArrowheads="1" noChangeShapeType="1" noTextEdit="1"/>
              </p:cNvSpPr>
              <p:nvPr/>
            </p:nvSpPr>
            <p:spPr>
              <a:xfrm>
                <a:off x="1936455" y="3550347"/>
                <a:ext cx="304800" cy="3385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3853507" y="3550347"/>
                <a:ext cx="30480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C00000"/>
                          </a:solidFill>
                          <a:latin typeface="Cambria Math" panose="02040503050406030204" pitchFamily="18" charset="0"/>
                        </a:rPr>
                        <m:t>𝟑</m:t>
                      </m:r>
                    </m:oMath>
                  </m:oMathPara>
                </a14:m>
                <a:endParaRPr lang="en-US" sz="1600" b="1" dirty="0">
                  <a:solidFill>
                    <a:srgbClr val="C00000"/>
                  </a:solidFill>
                </a:endParaRPr>
              </a:p>
            </p:txBody>
          </p:sp>
        </mc:Choice>
        <mc:Fallback xmlns="">
          <p:sp>
            <p:nvSpPr>
              <p:cNvPr id="41" name="TextBox 40"/>
              <p:cNvSpPr txBox="1">
                <a:spLocks noRot="1" noChangeAspect="1" noMove="1" noResize="1" noEditPoints="1" noAdjustHandles="1" noChangeArrowheads="1" noChangeShapeType="1" noTextEdit="1"/>
              </p:cNvSpPr>
              <p:nvPr/>
            </p:nvSpPr>
            <p:spPr>
              <a:xfrm>
                <a:off x="3853507" y="3550347"/>
                <a:ext cx="304800" cy="33855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1001120" y="4576468"/>
                <a:ext cx="30480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C00000"/>
                          </a:solidFill>
                          <a:latin typeface="Cambria Math" panose="02040503050406030204" pitchFamily="18" charset="0"/>
                        </a:rPr>
                        <m:t>𝟒</m:t>
                      </m:r>
                    </m:oMath>
                  </m:oMathPara>
                </a14:m>
                <a:endParaRPr lang="en-US" sz="1600" b="1" dirty="0">
                  <a:solidFill>
                    <a:srgbClr val="C00000"/>
                  </a:solidFill>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1001120" y="4576468"/>
                <a:ext cx="304800" cy="33855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2451348" y="4576468"/>
                <a:ext cx="30480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C00000"/>
                          </a:solidFill>
                          <a:latin typeface="Cambria Math" panose="02040503050406030204" pitchFamily="18" charset="0"/>
                        </a:rPr>
                        <m:t>𝟓</m:t>
                      </m:r>
                    </m:oMath>
                  </m:oMathPara>
                </a14:m>
                <a:endParaRPr lang="en-US" sz="1600" b="1" dirty="0">
                  <a:solidFill>
                    <a:srgbClr val="C00000"/>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2451348" y="4576468"/>
                <a:ext cx="304800" cy="33855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3986466" y="4576468"/>
                <a:ext cx="30480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C00000"/>
                          </a:solidFill>
                          <a:latin typeface="Cambria Math" panose="02040503050406030204" pitchFamily="18" charset="0"/>
                        </a:rPr>
                        <m:t>𝟔</m:t>
                      </m:r>
                    </m:oMath>
                  </m:oMathPara>
                </a14:m>
                <a:endParaRPr lang="en-US" sz="1600" b="1" dirty="0">
                  <a:solidFill>
                    <a:srgbClr val="C00000"/>
                  </a:solidFill>
                </a:endParaRPr>
              </a:p>
            </p:txBody>
          </p:sp>
        </mc:Choice>
        <mc:Fallback xmlns="">
          <p:sp>
            <p:nvSpPr>
              <p:cNvPr id="44" name="TextBox 43"/>
              <p:cNvSpPr txBox="1">
                <a:spLocks noRot="1" noChangeAspect="1" noMove="1" noResize="1" noEditPoints="1" noAdjustHandles="1" noChangeArrowheads="1" noChangeShapeType="1" noTextEdit="1"/>
              </p:cNvSpPr>
              <p:nvPr/>
            </p:nvSpPr>
            <p:spPr>
              <a:xfrm>
                <a:off x="3986466" y="4576468"/>
                <a:ext cx="304800" cy="3385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5030863" y="4536126"/>
                <a:ext cx="30480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C00000"/>
                          </a:solidFill>
                          <a:latin typeface="Cambria Math" panose="02040503050406030204" pitchFamily="18" charset="0"/>
                        </a:rPr>
                        <m:t>𝟕</m:t>
                      </m:r>
                    </m:oMath>
                  </m:oMathPara>
                </a14:m>
                <a:endParaRPr lang="en-US" sz="1600" b="1" dirty="0">
                  <a:solidFill>
                    <a:srgbClr val="C00000"/>
                  </a:solidFill>
                </a:endParaRPr>
              </a:p>
            </p:txBody>
          </p:sp>
        </mc:Choice>
        <mc:Fallback xmlns="">
          <p:sp>
            <p:nvSpPr>
              <p:cNvPr id="45" name="TextBox 44"/>
              <p:cNvSpPr txBox="1">
                <a:spLocks noRot="1" noChangeAspect="1" noMove="1" noResize="1" noEditPoints="1" noAdjustHandles="1" noChangeArrowheads="1" noChangeShapeType="1" noTextEdit="1"/>
              </p:cNvSpPr>
              <p:nvPr/>
            </p:nvSpPr>
            <p:spPr>
              <a:xfrm>
                <a:off x="5030863" y="4536126"/>
                <a:ext cx="304800" cy="33855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446849" y="5544979"/>
                <a:ext cx="30480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C00000"/>
                          </a:solidFill>
                          <a:latin typeface="Cambria Math" panose="02040503050406030204" pitchFamily="18" charset="0"/>
                        </a:rPr>
                        <m:t>𝟖</m:t>
                      </m:r>
                    </m:oMath>
                  </m:oMathPara>
                </a14:m>
                <a:endParaRPr lang="en-US" sz="1600" b="1" dirty="0">
                  <a:solidFill>
                    <a:srgbClr val="C00000"/>
                  </a:solidFill>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446849" y="5544979"/>
                <a:ext cx="304800" cy="33855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1526391" y="5585320"/>
                <a:ext cx="30480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C00000"/>
                          </a:solidFill>
                          <a:latin typeface="Cambria Math" panose="02040503050406030204" pitchFamily="18" charset="0"/>
                        </a:rPr>
                        <m:t>𝟗</m:t>
                      </m:r>
                    </m:oMath>
                  </m:oMathPara>
                </a14:m>
                <a:endParaRPr lang="en-US" sz="1600" b="1" dirty="0">
                  <a:solidFill>
                    <a:srgbClr val="C00000"/>
                  </a:solidFill>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1526391" y="5585320"/>
                <a:ext cx="304800" cy="33855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2841170" y="5558426"/>
                <a:ext cx="485605"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C00000"/>
                          </a:solidFill>
                          <a:latin typeface="Cambria Math" panose="02040503050406030204" pitchFamily="18" charset="0"/>
                        </a:rPr>
                        <m:t>𝟏𝟎</m:t>
                      </m:r>
                    </m:oMath>
                  </m:oMathPara>
                </a14:m>
                <a:endParaRPr lang="en-US" sz="1600" b="1" dirty="0">
                  <a:solidFill>
                    <a:srgbClr val="C00000"/>
                  </a:solidFil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2841170" y="5558426"/>
                <a:ext cx="485605" cy="33855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6617914" y="2493742"/>
                <a:ext cx="5042647" cy="461665"/>
              </a:xfrm>
              <a:prstGeom prst="rect">
                <a:avLst/>
              </a:prstGeom>
              <a:solidFill>
                <a:schemeClr val="accent6">
                  <a:lumMod val="20000"/>
                  <a:lumOff val="80000"/>
                </a:schemeClr>
              </a:solidFill>
            </p:spPr>
            <p:txBody>
              <a:bodyPr wrap="square" rtlCol="0">
                <a:spAutoFit/>
              </a:bodyPr>
              <a:lstStyle/>
              <a:p>
                <a:r>
                  <a:rPr lang="en-US" sz="2400" dirty="0">
                    <a:solidFill>
                      <a:srgbClr val="A71160"/>
                    </a:solidFill>
                  </a:rPr>
                  <a:t>For node </a:t>
                </a:r>
                <a14:m>
                  <m:oMath xmlns:m="http://schemas.openxmlformats.org/officeDocument/2006/math">
                    <m:r>
                      <a:rPr lang="en-US" sz="2400" i="1" dirty="0" smtClean="0">
                        <a:solidFill>
                          <a:srgbClr val="A71160"/>
                        </a:solidFill>
                        <a:latin typeface="Cambria Math" panose="02040503050406030204" pitchFamily="18" charset="0"/>
                      </a:rPr>
                      <m:t>𝑖</m:t>
                    </m:r>
                    <m:r>
                      <a:rPr lang="en-US" sz="2400" i="1" dirty="0" smtClean="0">
                        <a:solidFill>
                          <a:srgbClr val="A71160"/>
                        </a:solidFill>
                        <a:latin typeface="Cambria Math" panose="02040503050406030204" pitchFamily="18" charset="0"/>
                      </a:rPr>
                      <m:t>=4</m:t>
                    </m:r>
                  </m:oMath>
                </a14:m>
                <a:r>
                  <a:rPr lang="en-US" sz="2400" dirty="0">
                    <a:solidFill>
                      <a:srgbClr val="A71160"/>
                    </a:solidFill>
                  </a:rPr>
                  <a:t>, parent node is </a:t>
                </a:r>
                <a14:m>
                  <m:oMath xmlns:m="http://schemas.openxmlformats.org/officeDocument/2006/math">
                    <m:r>
                      <a:rPr lang="en-US" sz="2400" i="1" dirty="0" smtClean="0">
                        <a:solidFill>
                          <a:srgbClr val="A71160"/>
                        </a:solidFill>
                        <a:latin typeface="Cambria Math" panose="02040503050406030204" pitchFamily="18" charset="0"/>
                      </a:rPr>
                      <m:t>4/2=2</m:t>
                    </m:r>
                  </m:oMath>
                </a14:m>
                <a:endParaRPr lang="en-US" sz="2400" dirty="0">
                  <a:solidFill>
                    <a:srgbClr val="A71160"/>
                  </a:solidFill>
                </a:endParaRPr>
              </a:p>
            </p:txBody>
          </p:sp>
        </mc:Choice>
        <mc:Fallback xmlns="">
          <p:sp>
            <p:nvSpPr>
              <p:cNvPr id="49" name="TextBox 48"/>
              <p:cNvSpPr txBox="1">
                <a:spLocks noRot="1" noChangeAspect="1" noMove="1" noResize="1" noEditPoints="1" noAdjustHandles="1" noChangeArrowheads="1" noChangeShapeType="1" noTextEdit="1"/>
              </p:cNvSpPr>
              <p:nvPr/>
            </p:nvSpPr>
            <p:spPr>
              <a:xfrm>
                <a:off x="6617914" y="2493742"/>
                <a:ext cx="5042647" cy="461665"/>
              </a:xfrm>
              <a:prstGeom prst="rect">
                <a:avLst/>
              </a:prstGeom>
              <a:blipFill>
                <a:blip r:embed="rId13"/>
                <a:stretch>
                  <a:fillRect l="-1935" t="-9211" b="-30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6564126" y="3316976"/>
                <a:ext cx="5096435" cy="1200329"/>
              </a:xfrm>
              <a:prstGeom prst="rect">
                <a:avLst/>
              </a:prstGeom>
              <a:solidFill>
                <a:schemeClr val="accent6">
                  <a:lumMod val="20000"/>
                  <a:lumOff val="80000"/>
                </a:schemeClr>
              </a:solidFill>
            </p:spPr>
            <p:txBody>
              <a:bodyPr wrap="square" rtlCol="0">
                <a:spAutoFit/>
              </a:bodyPr>
              <a:lstStyle/>
              <a:p>
                <a:r>
                  <a:rPr lang="en-US" sz="2400" dirty="0">
                    <a:solidFill>
                      <a:srgbClr val="A71160"/>
                    </a:solidFill>
                  </a:rPr>
                  <a:t>For node </a:t>
                </a:r>
                <a14:m>
                  <m:oMath xmlns:m="http://schemas.openxmlformats.org/officeDocument/2006/math">
                    <m:r>
                      <a:rPr lang="en-US" sz="2400" i="1" dirty="0" smtClean="0">
                        <a:solidFill>
                          <a:srgbClr val="A71160"/>
                        </a:solidFill>
                        <a:latin typeface="Cambria Math" panose="02040503050406030204" pitchFamily="18" charset="0"/>
                      </a:rPr>
                      <m:t>𝑖</m:t>
                    </m:r>
                    <m:r>
                      <a:rPr lang="en-US" sz="2400" i="1" dirty="0" smtClean="0">
                        <a:solidFill>
                          <a:srgbClr val="A71160"/>
                        </a:solidFill>
                        <a:latin typeface="Cambria Math" panose="02040503050406030204" pitchFamily="18" charset="0"/>
                      </a:rPr>
                      <m:t>=4</m:t>
                    </m:r>
                  </m:oMath>
                </a14:m>
                <a:r>
                  <a:rPr lang="en-US" sz="2400" dirty="0">
                    <a:solidFill>
                      <a:srgbClr val="A71160"/>
                    </a:solidFill>
                  </a:rPr>
                  <a:t>, </a:t>
                </a:r>
              </a:p>
              <a:p>
                <a:r>
                  <a:rPr lang="en-US" sz="2400" dirty="0">
                    <a:solidFill>
                      <a:srgbClr val="A71160"/>
                    </a:solidFill>
                  </a:rPr>
                  <a:t>Left child node is </a:t>
                </a:r>
                <a14:m>
                  <m:oMath xmlns:m="http://schemas.openxmlformats.org/officeDocument/2006/math">
                    <m:r>
                      <a:rPr lang="en-US" sz="2400" i="1" dirty="0" smtClean="0">
                        <a:solidFill>
                          <a:srgbClr val="A71160"/>
                        </a:solidFill>
                        <a:latin typeface="Cambria Math" panose="02040503050406030204" pitchFamily="18" charset="0"/>
                      </a:rPr>
                      <m:t>2∗4= </m:t>
                    </m:r>
                  </m:oMath>
                </a14:m>
                <a:r>
                  <a:rPr lang="en-US" sz="2400" dirty="0">
                    <a:solidFill>
                      <a:srgbClr val="A71160"/>
                    </a:solidFill>
                  </a:rPr>
                  <a:t>node </a:t>
                </a:r>
                <a14:m>
                  <m:oMath xmlns:m="http://schemas.openxmlformats.org/officeDocument/2006/math">
                    <m:r>
                      <a:rPr lang="en-US" sz="2400" i="1" dirty="0" smtClean="0">
                        <a:solidFill>
                          <a:srgbClr val="A71160"/>
                        </a:solidFill>
                        <a:latin typeface="Cambria Math" panose="02040503050406030204" pitchFamily="18" charset="0"/>
                      </a:rPr>
                      <m:t>8</m:t>
                    </m:r>
                  </m:oMath>
                </a14:m>
                <a:endParaRPr lang="en-US" sz="2400" dirty="0">
                  <a:solidFill>
                    <a:srgbClr val="A71160"/>
                  </a:solidFill>
                </a:endParaRPr>
              </a:p>
              <a:p>
                <a:r>
                  <a:rPr lang="en-US" sz="2400" dirty="0">
                    <a:solidFill>
                      <a:srgbClr val="A71160"/>
                    </a:solidFill>
                  </a:rPr>
                  <a:t>Right child is </a:t>
                </a:r>
                <a14:m>
                  <m:oMath xmlns:m="http://schemas.openxmlformats.org/officeDocument/2006/math">
                    <m:r>
                      <a:rPr lang="en-US" sz="2400" i="1" dirty="0" smtClean="0">
                        <a:solidFill>
                          <a:srgbClr val="A71160"/>
                        </a:solidFill>
                        <a:latin typeface="Cambria Math" panose="02040503050406030204" pitchFamily="18" charset="0"/>
                      </a:rPr>
                      <m:t>2∗4+1= </m:t>
                    </m:r>
                  </m:oMath>
                </a14:m>
                <a:r>
                  <a:rPr lang="en-US" sz="2400" dirty="0">
                    <a:solidFill>
                      <a:srgbClr val="A71160"/>
                    </a:solidFill>
                  </a:rPr>
                  <a:t>node </a:t>
                </a:r>
                <a14:m>
                  <m:oMath xmlns:m="http://schemas.openxmlformats.org/officeDocument/2006/math">
                    <m:r>
                      <a:rPr lang="en-US" sz="2400" i="1" dirty="0" smtClean="0">
                        <a:solidFill>
                          <a:srgbClr val="A71160"/>
                        </a:solidFill>
                        <a:latin typeface="Cambria Math" panose="02040503050406030204" pitchFamily="18" charset="0"/>
                      </a:rPr>
                      <m:t>9</m:t>
                    </m:r>
                  </m:oMath>
                </a14:m>
                <a:endParaRPr lang="en-US" sz="2400" dirty="0">
                  <a:solidFill>
                    <a:srgbClr val="A71160"/>
                  </a:solidFill>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6564126" y="3316976"/>
                <a:ext cx="5096435" cy="1200329"/>
              </a:xfrm>
              <a:prstGeom prst="rect">
                <a:avLst/>
              </a:prstGeom>
              <a:blipFill>
                <a:blip r:embed="rId14"/>
                <a:stretch>
                  <a:fillRect l="-1914" t="-3553" b="-11168"/>
                </a:stretch>
              </a:blipFill>
            </p:spPr>
            <p:txBody>
              <a:bodyPr/>
              <a:lstStyle/>
              <a:p>
                <a:r>
                  <a:rPr lang="en-US">
                    <a:noFill/>
                  </a:rPr>
                  <a:t> </a:t>
                </a:r>
              </a:p>
            </p:txBody>
          </p:sp>
        </mc:Fallback>
      </mc:AlternateContent>
      <p:sp>
        <p:nvSpPr>
          <p:cNvPr id="64" name="Rectangle 63"/>
          <p:cNvSpPr/>
          <p:nvPr/>
        </p:nvSpPr>
        <p:spPr>
          <a:xfrm>
            <a:off x="6817659" y="5701552"/>
            <a:ext cx="548640" cy="594360"/>
          </a:xfrm>
          <a:prstGeom prst="rect">
            <a:avLst/>
          </a:prstGeom>
          <a:solidFill>
            <a:srgbClr val="424242"/>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14</a:t>
            </a:r>
          </a:p>
        </p:txBody>
      </p:sp>
      <p:sp>
        <p:nvSpPr>
          <p:cNvPr id="65" name="Rectangle 64"/>
          <p:cNvSpPr/>
          <p:nvPr/>
        </p:nvSpPr>
        <p:spPr>
          <a:xfrm>
            <a:off x="7884459" y="5701552"/>
            <a:ext cx="548640" cy="594360"/>
          </a:xfrm>
          <a:prstGeom prst="rect">
            <a:avLst/>
          </a:prstGeom>
          <a:solidFill>
            <a:srgbClr val="ED524F"/>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8</a:t>
            </a:r>
          </a:p>
        </p:txBody>
      </p:sp>
      <p:sp>
        <p:nvSpPr>
          <p:cNvPr id="66" name="Rectangle 65"/>
          <p:cNvSpPr/>
          <p:nvPr/>
        </p:nvSpPr>
        <p:spPr>
          <a:xfrm>
            <a:off x="10031504" y="5701552"/>
            <a:ext cx="548640" cy="594360"/>
          </a:xfrm>
          <a:prstGeom prst="rect">
            <a:avLst/>
          </a:prstGeom>
          <a:solidFill>
            <a:srgbClr val="00B0F0"/>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71160"/>
                </a:solidFill>
              </a:rPr>
              <a:t>2</a:t>
            </a:r>
          </a:p>
        </p:txBody>
      </p:sp>
      <p:sp>
        <p:nvSpPr>
          <p:cNvPr id="67" name="Rectangle 66"/>
          <p:cNvSpPr/>
          <p:nvPr/>
        </p:nvSpPr>
        <p:spPr>
          <a:xfrm>
            <a:off x="10582836" y="5701552"/>
            <a:ext cx="548640" cy="594360"/>
          </a:xfrm>
          <a:prstGeom prst="rect">
            <a:avLst/>
          </a:prstGeom>
          <a:solidFill>
            <a:srgbClr val="92D050"/>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71160"/>
                </a:solidFill>
              </a:rPr>
              <a:t>4</a:t>
            </a:r>
          </a:p>
        </p:txBody>
      </p:sp>
    </p:spTree>
    <p:extLst>
      <p:ext uri="{BB962C8B-B14F-4D97-AF65-F5344CB8AC3E}">
        <p14:creationId xmlns:p14="http://schemas.microsoft.com/office/powerpoint/2010/main" val="1225750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fade">
                                      <p:cBhvr>
                                        <p:cTn id="20" dur="500"/>
                                        <p:tgtEl>
                                          <p:spTgt spid="49"/>
                                        </p:tgtEl>
                                      </p:cBhvr>
                                    </p:animEffect>
                                  </p:childTnLst>
                                </p:cTn>
                              </p:par>
                            </p:childTnLst>
                          </p:cTn>
                        </p:par>
                        <p:par>
                          <p:cTn id="21" fill="hold">
                            <p:stCondLst>
                              <p:cond delay="1000"/>
                            </p:stCondLst>
                            <p:childTnLst>
                              <p:par>
                                <p:cTn id="22" presetID="1" presetClass="emph" presetSubtype="2" fill="hold" nodeType="afterEffect">
                                  <p:stCondLst>
                                    <p:cond delay="0"/>
                                  </p:stCondLst>
                                  <p:childTnLst>
                                    <p:animClr clrSpc="rgb" dir="cw">
                                      <p:cBhvr>
                                        <p:cTn id="23" dur="1000" fill="hold"/>
                                        <p:tgtEl>
                                          <p:spTgt spid="7"/>
                                        </p:tgtEl>
                                        <p:attrNameLst>
                                          <p:attrName>fillcolor</p:attrName>
                                        </p:attrNameLst>
                                      </p:cBhvr>
                                      <p:to>
                                        <a:srgbClr val="ED524F"/>
                                      </p:to>
                                    </p:animClr>
                                    <p:set>
                                      <p:cBhvr>
                                        <p:cTn id="24" dur="1000" fill="hold"/>
                                        <p:tgtEl>
                                          <p:spTgt spid="7"/>
                                        </p:tgtEl>
                                        <p:attrNameLst>
                                          <p:attrName>fill.type</p:attrName>
                                        </p:attrNameLst>
                                      </p:cBhvr>
                                      <p:to>
                                        <p:strVal val="solid"/>
                                      </p:to>
                                    </p:set>
                                    <p:set>
                                      <p:cBhvr>
                                        <p:cTn id="25" dur="1000" fill="hold"/>
                                        <p:tgtEl>
                                          <p:spTgt spid="7"/>
                                        </p:tgtEl>
                                        <p:attrNameLst>
                                          <p:attrName>fill.on</p:attrName>
                                        </p:attrNameLst>
                                      </p:cBhvr>
                                      <p:to>
                                        <p:strVal val="true"/>
                                      </p:to>
                                    </p:set>
                                  </p:childTnLst>
                                </p:cTn>
                              </p:par>
                            </p:childTnLst>
                          </p:cTn>
                        </p:par>
                        <p:par>
                          <p:cTn id="26" fill="hold">
                            <p:stCondLst>
                              <p:cond delay="2000"/>
                            </p:stCondLst>
                            <p:childTnLst>
                              <p:par>
                                <p:cTn id="27" presetID="3" presetClass="emph" presetSubtype="2" fill="hold" grpId="0" nodeType="afterEffect">
                                  <p:stCondLst>
                                    <p:cond delay="0"/>
                                  </p:stCondLst>
                                  <p:childTnLst>
                                    <p:animClr clrSpc="rgb" dir="cw">
                                      <p:cBhvr override="childStyle">
                                        <p:cTn id="28" dur="1000" fill="hold"/>
                                        <p:tgtEl>
                                          <p:spTgt spid="7"/>
                                        </p:tgtEl>
                                        <p:attrNameLst>
                                          <p:attrName>style.color</p:attrName>
                                        </p:attrNameLst>
                                      </p:cBhvr>
                                      <p:to>
                                        <a:srgbClr val="FCE0EE"/>
                                      </p:to>
                                    </p:animClr>
                                  </p:childTnLst>
                                </p:cTn>
                              </p:par>
                              <p:par>
                                <p:cTn id="29" presetID="10" presetClass="entr" presetSubtype="0" fill="hold" grpId="0" nodeType="with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fade">
                                      <p:cBhvr>
                                        <p:cTn id="31" dur="500"/>
                                        <p:tgtEl>
                                          <p:spTgt spid="65"/>
                                        </p:tgtEl>
                                      </p:cBhvr>
                                    </p:animEffect>
                                  </p:childTnLst>
                                </p:cTn>
                              </p:par>
                            </p:childTnLst>
                          </p:cTn>
                        </p:par>
                        <p:par>
                          <p:cTn id="32" fill="hold">
                            <p:stCondLst>
                              <p:cond delay="3000"/>
                            </p:stCondLst>
                            <p:childTnLst>
                              <p:par>
                                <p:cTn id="33" presetID="1" presetClass="emph" presetSubtype="2" fill="hold" nodeType="afterEffect">
                                  <p:stCondLst>
                                    <p:cond delay="0"/>
                                  </p:stCondLst>
                                  <p:childTnLst>
                                    <p:animClr clrSpc="rgb" dir="cw">
                                      <p:cBhvr>
                                        <p:cTn id="34" dur="1000" fill="hold"/>
                                        <p:tgtEl>
                                          <p:spTgt spid="5"/>
                                        </p:tgtEl>
                                        <p:attrNameLst>
                                          <p:attrName>fillcolor</p:attrName>
                                        </p:attrNameLst>
                                      </p:cBhvr>
                                      <p:to>
                                        <a:srgbClr val="424242"/>
                                      </p:to>
                                    </p:animClr>
                                    <p:set>
                                      <p:cBhvr>
                                        <p:cTn id="35" dur="1000" fill="hold"/>
                                        <p:tgtEl>
                                          <p:spTgt spid="5"/>
                                        </p:tgtEl>
                                        <p:attrNameLst>
                                          <p:attrName>fill.type</p:attrName>
                                        </p:attrNameLst>
                                      </p:cBhvr>
                                      <p:to>
                                        <p:strVal val="solid"/>
                                      </p:to>
                                    </p:set>
                                    <p:set>
                                      <p:cBhvr>
                                        <p:cTn id="36" dur="1000" fill="hold"/>
                                        <p:tgtEl>
                                          <p:spTgt spid="5"/>
                                        </p:tgtEl>
                                        <p:attrNameLst>
                                          <p:attrName>fill.on</p:attrName>
                                        </p:attrNameLst>
                                      </p:cBhvr>
                                      <p:to>
                                        <p:strVal val="true"/>
                                      </p:to>
                                    </p:set>
                                  </p:childTnLst>
                                </p:cTn>
                              </p:par>
                            </p:childTnLst>
                          </p:cTn>
                        </p:par>
                        <p:par>
                          <p:cTn id="37" fill="hold">
                            <p:stCondLst>
                              <p:cond delay="4000"/>
                            </p:stCondLst>
                            <p:childTnLst>
                              <p:par>
                                <p:cTn id="38" presetID="3" presetClass="emph" presetSubtype="2" fill="hold" grpId="0" nodeType="afterEffect">
                                  <p:stCondLst>
                                    <p:cond delay="0"/>
                                  </p:stCondLst>
                                  <p:childTnLst>
                                    <p:animClr clrSpc="rgb" dir="cw">
                                      <p:cBhvr override="childStyle">
                                        <p:cTn id="39" dur="1000" fill="hold"/>
                                        <p:tgtEl>
                                          <p:spTgt spid="5"/>
                                        </p:tgtEl>
                                        <p:attrNameLst>
                                          <p:attrName>style.color</p:attrName>
                                        </p:attrNameLst>
                                      </p:cBhvr>
                                      <p:to>
                                        <a:srgbClr val="FFFFFF"/>
                                      </p:to>
                                    </p:animClr>
                                  </p:childTnLst>
                                </p:cTn>
                              </p:par>
                              <p:par>
                                <p:cTn id="40" presetID="10" presetClass="entr" presetSubtype="0" fill="hold" grpId="0" nodeType="withEffect">
                                  <p:stCondLst>
                                    <p:cond delay="0"/>
                                  </p:stCondLst>
                                  <p:childTnLst>
                                    <p:set>
                                      <p:cBhvr>
                                        <p:cTn id="41" dur="1" fill="hold">
                                          <p:stCondLst>
                                            <p:cond delay="0"/>
                                          </p:stCondLst>
                                        </p:cTn>
                                        <p:tgtEl>
                                          <p:spTgt spid="64"/>
                                        </p:tgtEl>
                                        <p:attrNameLst>
                                          <p:attrName>style.visibility</p:attrName>
                                        </p:attrNameLst>
                                      </p:cBhvr>
                                      <p:to>
                                        <p:strVal val="visible"/>
                                      </p:to>
                                    </p:set>
                                    <p:animEffect transition="in" filter="fade">
                                      <p:cBhvr>
                                        <p:cTn id="42" dur="500"/>
                                        <p:tgtEl>
                                          <p:spTgt spid="6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Effect transition="in" filter="fade">
                                      <p:cBhvr>
                                        <p:cTn id="47" dur="500"/>
                                        <p:tgtEl>
                                          <p:spTgt spid="3">
                                            <p:txEl>
                                              <p:pRg st="3" end="3"/>
                                            </p:txEl>
                                          </p:spTgt>
                                        </p:tgtEl>
                                      </p:cBhvr>
                                    </p:animEffect>
                                  </p:childTnLst>
                                </p:cTn>
                              </p:par>
                            </p:childTnLst>
                          </p:cTn>
                        </p:par>
                        <p:par>
                          <p:cTn id="48" fill="hold">
                            <p:stCondLst>
                              <p:cond delay="500"/>
                            </p:stCondLst>
                            <p:childTnLst>
                              <p:par>
                                <p:cTn id="49" presetID="10" presetClass="entr" presetSubtype="0" fill="hold" grpId="0" nodeType="afterEffect">
                                  <p:stCondLst>
                                    <p:cond delay="0"/>
                                  </p:stCondLst>
                                  <p:childTnLst>
                                    <p:set>
                                      <p:cBhvr>
                                        <p:cTn id="50" dur="1" fill="hold">
                                          <p:stCondLst>
                                            <p:cond delay="0"/>
                                          </p:stCondLst>
                                        </p:cTn>
                                        <p:tgtEl>
                                          <p:spTgt spid="50"/>
                                        </p:tgtEl>
                                        <p:attrNameLst>
                                          <p:attrName>style.visibility</p:attrName>
                                        </p:attrNameLst>
                                      </p:cBhvr>
                                      <p:to>
                                        <p:strVal val="visible"/>
                                      </p:to>
                                    </p:set>
                                    <p:animEffect transition="in" filter="fade">
                                      <p:cBhvr>
                                        <p:cTn id="51" dur="500"/>
                                        <p:tgtEl>
                                          <p:spTgt spid="50"/>
                                        </p:tgtEl>
                                      </p:cBhvr>
                                    </p:animEffect>
                                  </p:childTnLst>
                                </p:cTn>
                              </p:par>
                              <p:par>
                                <p:cTn id="52" presetID="10" presetClass="entr" presetSubtype="0" fill="hold" nodeType="withEffect">
                                  <p:stCondLst>
                                    <p:cond delay="0"/>
                                  </p:stCondLst>
                                  <p:childTnLst>
                                    <p:set>
                                      <p:cBhvr>
                                        <p:cTn id="53" dur="1" fill="hold">
                                          <p:stCondLst>
                                            <p:cond delay="0"/>
                                          </p:stCondLst>
                                        </p:cTn>
                                        <p:tgtEl>
                                          <p:spTgt spid="50">
                                            <p:txEl>
                                              <p:pRg st="0" end="0"/>
                                            </p:txEl>
                                          </p:spTgt>
                                        </p:tgtEl>
                                        <p:attrNameLst>
                                          <p:attrName>style.visibility</p:attrName>
                                        </p:attrNameLst>
                                      </p:cBhvr>
                                      <p:to>
                                        <p:strVal val="visible"/>
                                      </p:to>
                                    </p:set>
                                    <p:animEffect transition="in" filter="fade">
                                      <p:cBhvr>
                                        <p:cTn id="54" dur="500"/>
                                        <p:tgtEl>
                                          <p:spTgt spid="50">
                                            <p:txEl>
                                              <p:pRg st="0" end="0"/>
                                            </p:txEl>
                                          </p:spTgt>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50">
                                            <p:txEl>
                                              <p:pRg st="1" end="1"/>
                                            </p:txEl>
                                          </p:spTgt>
                                        </p:tgtEl>
                                        <p:attrNameLst>
                                          <p:attrName>style.visibility</p:attrName>
                                        </p:attrNameLst>
                                      </p:cBhvr>
                                      <p:to>
                                        <p:strVal val="visible"/>
                                      </p:to>
                                    </p:set>
                                    <p:animEffect transition="in" filter="fade">
                                      <p:cBhvr>
                                        <p:cTn id="58" dur="500"/>
                                        <p:tgtEl>
                                          <p:spTgt spid="50">
                                            <p:txEl>
                                              <p:pRg st="1" end="1"/>
                                            </p:txEl>
                                          </p:spTgt>
                                        </p:tgtEl>
                                      </p:cBhvr>
                                    </p:animEffect>
                                  </p:childTnLst>
                                </p:cTn>
                              </p:par>
                            </p:childTnLst>
                          </p:cTn>
                        </p:par>
                        <p:par>
                          <p:cTn id="59" fill="hold">
                            <p:stCondLst>
                              <p:cond delay="1500"/>
                            </p:stCondLst>
                            <p:childTnLst>
                              <p:par>
                                <p:cTn id="60" presetID="1" presetClass="emph" presetSubtype="2" fill="hold" nodeType="afterEffect">
                                  <p:stCondLst>
                                    <p:cond delay="0"/>
                                  </p:stCondLst>
                                  <p:childTnLst>
                                    <p:animClr clrSpc="rgb" dir="cw">
                                      <p:cBhvr>
                                        <p:cTn id="61" dur="1000" fill="hold"/>
                                        <p:tgtEl>
                                          <p:spTgt spid="17"/>
                                        </p:tgtEl>
                                        <p:attrNameLst>
                                          <p:attrName>fillcolor</p:attrName>
                                        </p:attrNameLst>
                                      </p:cBhvr>
                                      <p:to>
                                        <a:srgbClr val="00B0F0"/>
                                      </p:to>
                                    </p:animClr>
                                    <p:set>
                                      <p:cBhvr>
                                        <p:cTn id="62" dur="1000" fill="hold"/>
                                        <p:tgtEl>
                                          <p:spTgt spid="17"/>
                                        </p:tgtEl>
                                        <p:attrNameLst>
                                          <p:attrName>fill.type</p:attrName>
                                        </p:attrNameLst>
                                      </p:cBhvr>
                                      <p:to>
                                        <p:strVal val="solid"/>
                                      </p:to>
                                    </p:set>
                                    <p:set>
                                      <p:cBhvr>
                                        <p:cTn id="63" dur="1000" fill="hold"/>
                                        <p:tgtEl>
                                          <p:spTgt spid="17"/>
                                        </p:tgtEl>
                                        <p:attrNameLst>
                                          <p:attrName>fill.on</p:attrName>
                                        </p:attrNameLst>
                                      </p:cBhvr>
                                      <p:to>
                                        <p:strVal val="true"/>
                                      </p:to>
                                    </p:set>
                                  </p:childTnLst>
                                </p:cTn>
                              </p:par>
                              <p:par>
                                <p:cTn id="64" presetID="10" presetClass="entr" presetSubtype="0" fill="hold" grpId="0" nodeType="withEffect">
                                  <p:stCondLst>
                                    <p:cond delay="0"/>
                                  </p:stCondLst>
                                  <p:childTnLst>
                                    <p:set>
                                      <p:cBhvr>
                                        <p:cTn id="65" dur="1" fill="hold">
                                          <p:stCondLst>
                                            <p:cond delay="0"/>
                                          </p:stCondLst>
                                        </p:cTn>
                                        <p:tgtEl>
                                          <p:spTgt spid="66"/>
                                        </p:tgtEl>
                                        <p:attrNameLst>
                                          <p:attrName>style.visibility</p:attrName>
                                        </p:attrNameLst>
                                      </p:cBhvr>
                                      <p:to>
                                        <p:strVal val="visible"/>
                                      </p:to>
                                    </p:set>
                                    <p:animEffect transition="in" filter="fade">
                                      <p:cBhvr>
                                        <p:cTn id="66" dur="500"/>
                                        <p:tgtEl>
                                          <p:spTgt spid="6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50">
                                            <p:txEl>
                                              <p:pRg st="2" end="2"/>
                                            </p:txEl>
                                          </p:spTgt>
                                        </p:tgtEl>
                                        <p:attrNameLst>
                                          <p:attrName>style.visibility</p:attrName>
                                        </p:attrNameLst>
                                      </p:cBhvr>
                                      <p:to>
                                        <p:strVal val="visible"/>
                                      </p:to>
                                    </p:set>
                                    <p:animEffect transition="in" filter="fade">
                                      <p:cBhvr>
                                        <p:cTn id="71" dur="500"/>
                                        <p:tgtEl>
                                          <p:spTgt spid="50">
                                            <p:txEl>
                                              <p:pRg st="2" end="2"/>
                                            </p:txEl>
                                          </p:spTgt>
                                        </p:tgtEl>
                                      </p:cBhvr>
                                    </p:animEffect>
                                  </p:childTnLst>
                                </p:cTn>
                              </p:par>
                              <p:par>
                                <p:cTn id="72" presetID="1" presetClass="emph" presetSubtype="2" fill="hold" nodeType="withEffect">
                                  <p:stCondLst>
                                    <p:cond delay="0"/>
                                  </p:stCondLst>
                                  <p:childTnLst>
                                    <p:animClr clrSpc="rgb" dir="cw">
                                      <p:cBhvr>
                                        <p:cTn id="73" dur="1000" fill="hold"/>
                                        <p:tgtEl>
                                          <p:spTgt spid="18"/>
                                        </p:tgtEl>
                                        <p:attrNameLst>
                                          <p:attrName>fillcolor</p:attrName>
                                        </p:attrNameLst>
                                      </p:cBhvr>
                                      <p:to>
                                        <a:srgbClr val="8BC145"/>
                                      </p:to>
                                    </p:animClr>
                                    <p:set>
                                      <p:cBhvr>
                                        <p:cTn id="74" dur="1000" fill="hold"/>
                                        <p:tgtEl>
                                          <p:spTgt spid="18"/>
                                        </p:tgtEl>
                                        <p:attrNameLst>
                                          <p:attrName>fill.type</p:attrName>
                                        </p:attrNameLst>
                                      </p:cBhvr>
                                      <p:to>
                                        <p:strVal val="solid"/>
                                      </p:to>
                                    </p:set>
                                    <p:set>
                                      <p:cBhvr>
                                        <p:cTn id="75" dur="1000" fill="hold"/>
                                        <p:tgtEl>
                                          <p:spTgt spid="18"/>
                                        </p:tgtEl>
                                        <p:attrNameLst>
                                          <p:attrName>fill.on</p:attrName>
                                        </p:attrNameLst>
                                      </p:cBhvr>
                                      <p:to>
                                        <p:strVal val="true"/>
                                      </p:to>
                                    </p:set>
                                  </p:childTnLst>
                                </p:cTn>
                              </p:par>
                              <p:par>
                                <p:cTn id="76" presetID="10" presetClass="entr" presetSubtype="0" fill="hold" grpId="0" nodeType="withEffect">
                                  <p:stCondLst>
                                    <p:cond delay="0"/>
                                  </p:stCondLst>
                                  <p:childTnLst>
                                    <p:set>
                                      <p:cBhvr>
                                        <p:cTn id="77" dur="1" fill="hold">
                                          <p:stCondLst>
                                            <p:cond delay="0"/>
                                          </p:stCondLst>
                                        </p:cTn>
                                        <p:tgtEl>
                                          <p:spTgt spid="67"/>
                                        </p:tgtEl>
                                        <p:attrNameLst>
                                          <p:attrName>style.visibility</p:attrName>
                                        </p:attrNameLst>
                                      </p:cBhvr>
                                      <p:to>
                                        <p:strVal val="visible"/>
                                      </p:to>
                                    </p:set>
                                    <p:animEffect transition="in" filter="fade">
                                      <p:cBhvr>
                                        <p:cTn id="78"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49" grpId="0" animBg="1"/>
      <p:bldP spid="50" grpId="0" animBg="1"/>
      <p:bldP spid="64" grpId="0" animBg="1"/>
      <p:bldP spid="65" grpId="0" animBg="1"/>
      <p:bldP spid="66" grpId="0" animBg="1"/>
      <p:bldP spid="6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Heap</a:t>
            </a:r>
          </a:p>
        </p:txBody>
      </p:sp>
      <p:sp>
        <p:nvSpPr>
          <p:cNvPr id="4" name="Content Placeholder 2"/>
          <p:cNvSpPr>
            <a:spLocks noGrp="1"/>
          </p:cNvSpPr>
          <p:nvPr>
            <p:ph idx="1"/>
          </p:nvPr>
        </p:nvSpPr>
        <p:spPr>
          <a:xfrm>
            <a:off x="190499" y="990600"/>
            <a:ext cx="6902631" cy="1034143"/>
          </a:xfrm>
        </p:spPr>
        <p:txBody>
          <a:bodyPr/>
          <a:lstStyle/>
          <a:p>
            <a:pPr marL="457200" indent="-457200">
              <a:buFont typeface="+mj-lt"/>
              <a:buAutoNum type="arabicPeriod"/>
            </a:pPr>
            <a:r>
              <a:rPr lang="en-US" b="1" dirty="0"/>
              <a:t>Max-Heap</a:t>
            </a:r>
            <a:r>
              <a:rPr lang="en-US" dirty="0"/>
              <a:t> − Where the value of the root node is </a:t>
            </a:r>
            <a:r>
              <a:rPr lang="en-US" dirty="0">
                <a:solidFill>
                  <a:srgbClr val="A71160"/>
                </a:solidFill>
              </a:rPr>
              <a:t>greater than or equal to </a:t>
            </a:r>
            <a:r>
              <a:rPr lang="en-US" dirty="0"/>
              <a:t>either of its children.</a:t>
            </a:r>
          </a:p>
          <a:p>
            <a:endParaRPr lang="en-US" dirty="0"/>
          </a:p>
          <a:p>
            <a:endParaRPr lang="en-US" dirty="0"/>
          </a:p>
        </p:txBody>
      </p:sp>
      <p:sp>
        <p:nvSpPr>
          <p:cNvPr id="5" name="Oval 4"/>
          <p:cNvSpPr/>
          <p:nvPr/>
        </p:nvSpPr>
        <p:spPr>
          <a:xfrm>
            <a:off x="9355815" y="899159"/>
            <a:ext cx="609600" cy="6096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9</a:t>
            </a:r>
          </a:p>
        </p:txBody>
      </p:sp>
      <p:sp>
        <p:nvSpPr>
          <p:cNvPr id="6" name="Oval 5"/>
          <p:cNvSpPr/>
          <p:nvPr/>
        </p:nvSpPr>
        <p:spPr>
          <a:xfrm>
            <a:off x="8746215" y="1813559"/>
            <a:ext cx="609600" cy="6096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6</a:t>
            </a:r>
          </a:p>
        </p:txBody>
      </p:sp>
      <p:sp>
        <p:nvSpPr>
          <p:cNvPr id="7" name="Oval 6"/>
          <p:cNvSpPr/>
          <p:nvPr/>
        </p:nvSpPr>
        <p:spPr>
          <a:xfrm>
            <a:off x="10223869" y="1818620"/>
            <a:ext cx="609600" cy="6096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7</a:t>
            </a:r>
          </a:p>
        </p:txBody>
      </p:sp>
      <p:sp>
        <p:nvSpPr>
          <p:cNvPr id="8" name="Oval 7"/>
          <p:cNvSpPr/>
          <p:nvPr/>
        </p:nvSpPr>
        <p:spPr>
          <a:xfrm>
            <a:off x="8252621" y="2880359"/>
            <a:ext cx="609600" cy="6096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2</a:t>
            </a:r>
          </a:p>
        </p:txBody>
      </p:sp>
      <p:sp>
        <p:nvSpPr>
          <p:cNvPr id="9" name="Oval 8"/>
          <p:cNvSpPr/>
          <p:nvPr/>
        </p:nvSpPr>
        <p:spPr>
          <a:xfrm>
            <a:off x="9231274" y="2911110"/>
            <a:ext cx="609600" cy="6096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4</a:t>
            </a:r>
          </a:p>
        </p:txBody>
      </p:sp>
      <p:sp>
        <p:nvSpPr>
          <p:cNvPr id="10" name="Oval 9"/>
          <p:cNvSpPr/>
          <p:nvPr/>
        </p:nvSpPr>
        <p:spPr>
          <a:xfrm>
            <a:off x="10067202" y="2911110"/>
            <a:ext cx="609600" cy="6096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1</a:t>
            </a:r>
          </a:p>
        </p:txBody>
      </p:sp>
      <p:cxnSp>
        <p:nvCxnSpPr>
          <p:cNvPr id="11" name="Straight Arrow Connector 10"/>
          <p:cNvCxnSpPr>
            <a:stCxn id="5" idx="3"/>
            <a:endCxn id="6" idx="0"/>
          </p:cNvCxnSpPr>
          <p:nvPr/>
        </p:nvCxnSpPr>
        <p:spPr>
          <a:xfrm flipH="1">
            <a:off x="9051015" y="1419485"/>
            <a:ext cx="394074" cy="394074"/>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5" idx="5"/>
            <a:endCxn id="7" idx="1"/>
          </p:cNvCxnSpPr>
          <p:nvPr/>
        </p:nvCxnSpPr>
        <p:spPr>
          <a:xfrm>
            <a:off x="9876141" y="1419485"/>
            <a:ext cx="437002" cy="488409"/>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3"/>
            <a:endCxn id="8" idx="0"/>
          </p:cNvCxnSpPr>
          <p:nvPr/>
        </p:nvCxnSpPr>
        <p:spPr>
          <a:xfrm flipH="1">
            <a:off x="8557421" y="2333885"/>
            <a:ext cx="278068" cy="546474"/>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5"/>
            <a:endCxn id="9" idx="0"/>
          </p:cNvCxnSpPr>
          <p:nvPr/>
        </p:nvCxnSpPr>
        <p:spPr>
          <a:xfrm>
            <a:off x="9266541" y="2333885"/>
            <a:ext cx="269533" cy="577225"/>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4"/>
            <a:endCxn id="10" idx="0"/>
          </p:cNvCxnSpPr>
          <p:nvPr/>
        </p:nvCxnSpPr>
        <p:spPr>
          <a:xfrm flipH="1">
            <a:off x="10372002" y="2428220"/>
            <a:ext cx="156667" cy="48289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18160" y="3657600"/>
            <a:ext cx="111556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430589" y="1055915"/>
            <a:ext cx="0" cy="259080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275908" y="3653245"/>
            <a:ext cx="0" cy="25908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417422" y="3820886"/>
            <a:ext cx="7495904" cy="1200329"/>
          </a:xfrm>
          <a:prstGeom prst="rect">
            <a:avLst/>
          </a:prstGeom>
          <a:noFill/>
        </p:spPr>
        <p:txBody>
          <a:bodyPr wrap="square" rtlCol="0">
            <a:spAutoFit/>
          </a:bodyPr>
          <a:lstStyle/>
          <a:p>
            <a:pPr marL="457200" indent="-457200">
              <a:buFont typeface="+mj-lt"/>
              <a:buAutoNum type="arabicPeriod" startAt="2"/>
            </a:pPr>
            <a:r>
              <a:rPr lang="en-US" sz="2400" b="1" dirty="0"/>
              <a:t>Min-Heap</a:t>
            </a:r>
            <a:r>
              <a:rPr lang="en-US" sz="2400" dirty="0"/>
              <a:t> − Where the value of the root node is </a:t>
            </a:r>
            <a:r>
              <a:rPr lang="en-US" sz="2400" dirty="0">
                <a:solidFill>
                  <a:srgbClr val="A71160"/>
                </a:solidFill>
              </a:rPr>
              <a:t>less than or equal to </a:t>
            </a:r>
            <a:r>
              <a:rPr lang="en-US" sz="2400" dirty="0"/>
              <a:t>either of its children.</a:t>
            </a:r>
          </a:p>
          <a:p>
            <a:endParaRPr lang="en-US" sz="2400" dirty="0"/>
          </a:p>
        </p:txBody>
      </p:sp>
      <p:sp>
        <p:nvSpPr>
          <p:cNvPr id="20" name="Oval 19"/>
          <p:cNvSpPr/>
          <p:nvPr/>
        </p:nvSpPr>
        <p:spPr>
          <a:xfrm>
            <a:off x="1888210" y="3779249"/>
            <a:ext cx="609600" cy="60960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2060"/>
                </a:solidFill>
              </a:rPr>
              <a:t>1</a:t>
            </a:r>
          </a:p>
        </p:txBody>
      </p:sp>
      <p:sp>
        <p:nvSpPr>
          <p:cNvPr id="21" name="Oval 20"/>
          <p:cNvSpPr/>
          <p:nvPr/>
        </p:nvSpPr>
        <p:spPr>
          <a:xfrm>
            <a:off x="1278610" y="4693649"/>
            <a:ext cx="609600" cy="60960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2060"/>
                </a:solidFill>
              </a:rPr>
              <a:t>2</a:t>
            </a:r>
          </a:p>
        </p:txBody>
      </p:sp>
      <p:sp>
        <p:nvSpPr>
          <p:cNvPr id="22" name="Oval 21"/>
          <p:cNvSpPr/>
          <p:nvPr/>
        </p:nvSpPr>
        <p:spPr>
          <a:xfrm>
            <a:off x="2756264" y="4698710"/>
            <a:ext cx="609600" cy="60960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2060"/>
                </a:solidFill>
              </a:rPr>
              <a:t>4</a:t>
            </a:r>
          </a:p>
        </p:txBody>
      </p:sp>
      <p:sp>
        <p:nvSpPr>
          <p:cNvPr id="23" name="Oval 22"/>
          <p:cNvSpPr/>
          <p:nvPr/>
        </p:nvSpPr>
        <p:spPr>
          <a:xfrm>
            <a:off x="785016" y="5760449"/>
            <a:ext cx="609600" cy="60960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2060"/>
                </a:solidFill>
              </a:rPr>
              <a:t>6</a:t>
            </a:r>
          </a:p>
        </p:txBody>
      </p:sp>
      <p:sp>
        <p:nvSpPr>
          <p:cNvPr id="24" name="Oval 23"/>
          <p:cNvSpPr/>
          <p:nvPr/>
        </p:nvSpPr>
        <p:spPr>
          <a:xfrm>
            <a:off x="1763669" y="5791200"/>
            <a:ext cx="609600" cy="60960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2060"/>
                </a:solidFill>
              </a:rPr>
              <a:t>7</a:t>
            </a:r>
          </a:p>
        </p:txBody>
      </p:sp>
      <p:sp>
        <p:nvSpPr>
          <p:cNvPr id="25" name="Oval 24"/>
          <p:cNvSpPr/>
          <p:nvPr/>
        </p:nvSpPr>
        <p:spPr>
          <a:xfrm>
            <a:off x="2599597" y="5791200"/>
            <a:ext cx="609600" cy="60960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2060"/>
                </a:solidFill>
              </a:rPr>
              <a:t>9</a:t>
            </a:r>
          </a:p>
        </p:txBody>
      </p:sp>
      <p:cxnSp>
        <p:nvCxnSpPr>
          <p:cNvPr id="26" name="Straight Arrow Connector 25"/>
          <p:cNvCxnSpPr>
            <a:stCxn id="20" idx="3"/>
            <a:endCxn id="21" idx="0"/>
          </p:cNvCxnSpPr>
          <p:nvPr/>
        </p:nvCxnSpPr>
        <p:spPr>
          <a:xfrm flipH="1">
            <a:off x="1583410" y="4299575"/>
            <a:ext cx="394074" cy="394074"/>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0" idx="5"/>
            <a:endCxn id="22" idx="1"/>
          </p:cNvCxnSpPr>
          <p:nvPr/>
        </p:nvCxnSpPr>
        <p:spPr>
          <a:xfrm>
            <a:off x="2408536" y="4299575"/>
            <a:ext cx="437002" cy="488409"/>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1" idx="3"/>
            <a:endCxn id="23" idx="0"/>
          </p:cNvCxnSpPr>
          <p:nvPr/>
        </p:nvCxnSpPr>
        <p:spPr>
          <a:xfrm flipH="1">
            <a:off x="1089816" y="5213975"/>
            <a:ext cx="278068" cy="546474"/>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1" idx="5"/>
            <a:endCxn id="24" idx="0"/>
          </p:cNvCxnSpPr>
          <p:nvPr/>
        </p:nvCxnSpPr>
        <p:spPr>
          <a:xfrm>
            <a:off x="1798936" y="5213975"/>
            <a:ext cx="269533" cy="577225"/>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22" idx="4"/>
            <a:endCxn id="25" idx="0"/>
          </p:cNvCxnSpPr>
          <p:nvPr/>
        </p:nvCxnSpPr>
        <p:spPr>
          <a:xfrm flipH="1">
            <a:off x="2904397" y="5308310"/>
            <a:ext cx="156667" cy="48289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845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up)">
                                      <p:cBhvr>
                                        <p:cTn id="20" dur="500"/>
                                        <p:tgtEl>
                                          <p:spTgt spid="11"/>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up)">
                                      <p:cBhvr>
                                        <p:cTn id="24" dur="500"/>
                                        <p:tgtEl>
                                          <p:spTgt spid="12"/>
                                        </p:tgtEl>
                                      </p:cBhvr>
                                    </p:animEffect>
                                  </p:childTnLst>
                                </p:cTn>
                              </p:par>
                            </p:childTnLst>
                          </p:cTn>
                        </p:par>
                        <p:par>
                          <p:cTn id="25" fill="hold">
                            <p:stCondLst>
                              <p:cond delay="2000"/>
                            </p:stCondLst>
                            <p:childTnLst>
                              <p:par>
                                <p:cTn id="26" presetID="10"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par>
                          <p:cTn id="29" fill="hold">
                            <p:stCondLst>
                              <p:cond delay="2500"/>
                            </p:stCondLst>
                            <p:childTnLst>
                              <p:par>
                                <p:cTn id="30" presetID="10" presetClass="entr" presetSubtype="0" fill="hold" grpId="0"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par>
                          <p:cTn id="33" fill="hold">
                            <p:stCondLst>
                              <p:cond delay="3000"/>
                            </p:stCondLst>
                            <p:childTnLst>
                              <p:par>
                                <p:cTn id="34" presetID="22" presetClass="entr" presetSubtype="1"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up)">
                                      <p:cBhvr>
                                        <p:cTn id="36" dur="500"/>
                                        <p:tgtEl>
                                          <p:spTgt spid="13"/>
                                        </p:tgtEl>
                                      </p:cBhvr>
                                    </p:animEffect>
                                  </p:childTnLst>
                                </p:cTn>
                              </p:par>
                            </p:childTnLst>
                          </p:cTn>
                        </p:par>
                        <p:par>
                          <p:cTn id="37" fill="hold">
                            <p:stCondLst>
                              <p:cond delay="3500"/>
                            </p:stCondLst>
                            <p:childTnLst>
                              <p:par>
                                <p:cTn id="38" presetID="22" presetClass="entr" presetSubtype="1" fill="hold"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up)">
                                      <p:cBhvr>
                                        <p:cTn id="40" dur="500"/>
                                        <p:tgtEl>
                                          <p:spTgt spid="14"/>
                                        </p:tgtEl>
                                      </p:cBhvr>
                                    </p:animEffect>
                                  </p:childTnLst>
                                </p:cTn>
                              </p:par>
                            </p:childTnLst>
                          </p:cTn>
                        </p:par>
                        <p:par>
                          <p:cTn id="41" fill="hold">
                            <p:stCondLst>
                              <p:cond delay="4000"/>
                            </p:stCondLst>
                            <p:childTnLst>
                              <p:par>
                                <p:cTn id="42" presetID="10" presetClass="entr" presetSubtype="0" fill="hold" grpId="0" nodeType="after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500"/>
                                        <p:tgtEl>
                                          <p:spTgt spid="8"/>
                                        </p:tgtEl>
                                      </p:cBhvr>
                                    </p:animEffect>
                                  </p:childTnLst>
                                </p:cTn>
                              </p:par>
                            </p:childTnLst>
                          </p:cTn>
                        </p:par>
                        <p:par>
                          <p:cTn id="45" fill="hold">
                            <p:stCondLst>
                              <p:cond delay="4500"/>
                            </p:stCondLst>
                            <p:childTnLst>
                              <p:par>
                                <p:cTn id="46" presetID="10" presetClass="entr" presetSubtype="0" fill="hold" grpId="0" nodeType="after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childTnLst>
                          </p:cTn>
                        </p:par>
                        <p:par>
                          <p:cTn id="49" fill="hold">
                            <p:stCondLst>
                              <p:cond delay="5000"/>
                            </p:stCondLst>
                            <p:childTnLst>
                              <p:par>
                                <p:cTn id="50" presetID="22" presetClass="entr" presetSubtype="1" fill="hold"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up)">
                                      <p:cBhvr>
                                        <p:cTn id="52" dur="500"/>
                                        <p:tgtEl>
                                          <p:spTgt spid="15"/>
                                        </p:tgtEl>
                                      </p:cBhvr>
                                    </p:animEffect>
                                  </p:childTnLst>
                                </p:cTn>
                              </p:par>
                            </p:childTnLst>
                          </p:cTn>
                        </p:par>
                        <p:par>
                          <p:cTn id="53" fill="hold">
                            <p:stCondLst>
                              <p:cond delay="5500"/>
                            </p:stCondLst>
                            <p:childTnLst>
                              <p:par>
                                <p:cTn id="54" presetID="10" presetClass="entr" presetSubtype="0" fill="hold" grpId="0" nodeType="after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500"/>
                                        <p:tgtEl>
                                          <p:spTgt spid="1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wipe(left)">
                                      <p:cBhvr>
                                        <p:cTn id="61" dur="500"/>
                                        <p:tgtEl>
                                          <p:spTgt spid="16"/>
                                        </p:tgtEl>
                                      </p:cBhvr>
                                    </p:animEffect>
                                  </p:childTnLst>
                                </p:cTn>
                              </p:par>
                            </p:childTnLst>
                          </p:cTn>
                        </p:par>
                        <p:par>
                          <p:cTn id="62" fill="hold">
                            <p:stCondLst>
                              <p:cond delay="500"/>
                            </p:stCondLst>
                            <p:childTnLst>
                              <p:par>
                                <p:cTn id="63" presetID="10" presetClass="entr" presetSubtype="0" fill="hold" nodeType="afterEffect">
                                  <p:stCondLst>
                                    <p:cond delay="0"/>
                                  </p:stCondLst>
                                  <p:childTnLst>
                                    <p:set>
                                      <p:cBhvr>
                                        <p:cTn id="64" dur="1" fill="hold">
                                          <p:stCondLst>
                                            <p:cond delay="0"/>
                                          </p:stCondLst>
                                        </p:cTn>
                                        <p:tgtEl>
                                          <p:spTgt spid="19">
                                            <p:txEl>
                                              <p:pRg st="0" end="0"/>
                                            </p:txEl>
                                          </p:spTgt>
                                        </p:tgtEl>
                                        <p:attrNameLst>
                                          <p:attrName>style.visibility</p:attrName>
                                        </p:attrNameLst>
                                      </p:cBhvr>
                                      <p:to>
                                        <p:strVal val="visible"/>
                                      </p:to>
                                    </p:set>
                                    <p:animEffect transition="in" filter="fade">
                                      <p:cBhvr>
                                        <p:cTn id="65" dur="500"/>
                                        <p:tgtEl>
                                          <p:spTgt spid="19">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wipe(down)">
                                      <p:cBhvr>
                                        <p:cTn id="70" dur="500"/>
                                        <p:tgtEl>
                                          <p:spTgt spid="18"/>
                                        </p:tgtEl>
                                      </p:cBhvr>
                                    </p:animEffect>
                                  </p:childTnLst>
                                </p:cTn>
                              </p:par>
                            </p:childTnLst>
                          </p:cTn>
                        </p:par>
                        <p:par>
                          <p:cTn id="71" fill="hold">
                            <p:stCondLst>
                              <p:cond delay="50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00"/>
                                        <p:tgtEl>
                                          <p:spTgt spid="20"/>
                                        </p:tgtEl>
                                      </p:cBhvr>
                                    </p:animEffect>
                                  </p:childTnLst>
                                </p:cTn>
                              </p:par>
                            </p:childTnLst>
                          </p:cTn>
                        </p:par>
                        <p:par>
                          <p:cTn id="75" fill="hold">
                            <p:stCondLst>
                              <p:cond delay="1000"/>
                            </p:stCondLst>
                            <p:childTnLst>
                              <p:par>
                                <p:cTn id="76" presetID="22" presetClass="entr" presetSubtype="1" fill="hold" nodeType="after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wipe(up)">
                                      <p:cBhvr>
                                        <p:cTn id="78" dur="500"/>
                                        <p:tgtEl>
                                          <p:spTgt spid="26"/>
                                        </p:tgtEl>
                                      </p:cBhvr>
                                    </p:animEffect>
                                  </p:childTnLst>
                                </p:cTn>
                              </p:par>
                            </p:childTnLst>
                          </p:cTn>
                        </p:par>
                        <p:par>
                          <p:cTn id="79" fill="hold">
                            <p:stCondLst>
                              <p:cond delay="1500"/>
                            </p:stCondLst>
                            <p:childTnLst>
                              <p:par>
                                <p:cTn id="80" presetID="22" presetClass="entr" presetSubtype="1" fill="hold" nodeType="after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wipe(up)">
                                      <p:cBhvr>
                                        <p:cTn id="82" dur="500"/>
                                        <p:tgtEl>
                                          <p:spTgt spid="27"/>
                                        </p:tgtEl>
                                      </p:cBhvr>
                                    </p:animEffect>
                                  </p:childTnLst>
                                </p:cTn>
                              </p:par>
                            </p:childTnLst>
                          </p:cTn>
                        </p:par>
                        <p:par>
                          <p:cTn id="83" fill="hold">
                            <p:stCondLst>
                              <p:cond delay="2000"/>
                            </p:stCondLst>
                            <p:childTnLst>
                              <p:par>
                                <p:cTn id="84" presetID="10" presetClass="entr" presetSubtype="0" fill="hold" grpId="0" nodeType="after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00"/>
                                        <p:tgtEl>
                                          <p:spTgt spid="21"/>
                                        </p:tgtEl>
                                      </p:cBhvr>
                                    </p:animEffect>
                                  </p:childTnLst>
                                </p:cTn>
                              </p:par>
                            </p:childTnLst>
                          </p:cTn>
                        </p:par>
                        <p:par>
                          <p:cTn id="87" fill="hold">
                            <p:stCondLst>
                              <p:cond delay="2500"/>
                            </p:stCondLst>
                            <p:childTnLst>
                              <p:par>
                                <p:cTn id="88" presetID="10" presetClass="entr" presetSubtype="0" fill="hold" grpId="0" nodeType="afterEffect">
                                  <p:stCondLst>
                                    <p:cond delay="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childTnLst>
                                </p:cTn>
                              </p:par>
                            </p:childTnLst>
                          </p:cTn>
                        </p:par>
                        <p:par>
                          <p:cTn id="91" fill="hold">
                            <p:stCondLst>
                              <p:cond delay="3000"/>
                            </p:stCondLst>
                            <p:childTnLst>
                              <p:par>
                                <p:cTn id="92" presetID="22" presetClass="entr" presetSubtype="1" fill="hold" nodeType="afterEffect">
                                  <p:stCondLst>
                                    <p:cond delay="0"/>
                                  </p:stCondLst>
                                  <p:childTnLst>
                                    <p:set>
                                      <p:cBhvr>
                                        <p:cTn id="93" dur="1" fill="hold">
                                          <p:stCondLst>
                                            <p:cond delay="0"/>
                                          </p:stCondLst>
                                        </p:cTn>
                                        <p:tgtEl>
                                          <p:spTgt spid="28"/>
                                        </p:tgtEl>
                                        <p:attrNameLst>
                                          <p:attrName>style.visibility</p:attrName>
                                        </p:attrNameLst>
                                      </p:cBhvr>
                                      <p:to>
                                        <p:strVal val="visible"/>
                                      </p:to>
                                    </p:set>
                                    <p:animEffect transition="in" filter="wipe(up)">
                                      <p:cBhvr>
                                        <p:cTn id="94" dur="500"/>
                                        <p:tgtEl>
                                          <p:spTgt spid="28"/>
                                        </p:tgtEl>
                                      </p:cBhvr>
                                    </p:animEffect>
                                  </p:childTnLst>
                                </p:cTn>
                              </p:par>
                            </p:childTnLst>
                          </p:cTn>
                        </p:par>
                        <p:par>
                          <p:cTn id="95" fill="hold">
                            <p:stCondLst>
                              <p:cond delay="3500"/>
                            </p:stCondLst>
                            <p:childTnLst>
                              <p:par>
                                <p:cTn id="96" presetID="22" presetClass="entr" presetSubtype="1" fill="hold" nodeType="afterEffect">
                                  <p:stCondLst>
                                    <p:cond delay="0"/>
                                  </p:stCondLst>
                                  <p:childTnLst>
                                    <p:set>
                                      <p:cBhvr>
                                        <p:cTn id="97" dur="1" fill="hold">
                                          <p:stCondLst>
                                            <p:cond delay="0"/>
                                          </p:stCondLst>
                                        </p:cTn>
                                        <p:tgtEl>
                                          <p:spTgt spid="29"/>
                                        </p:tgtEl>
                                        <p:attrNameLst>
                                          <p:attrName>style.visibility</p:attrName>
                                        </p:attrNameLst>
                                      </p:cBhvr>
                                      <p:to>
                                        <p:strVal val="visible"/>
                                      </p:to>
                                    </p:set>
                                    <p:animEffect transition="in" filter="wipe(up)">
                                      <p:cBhvr>
                                        <p:cTn id="98" dur="500"/>
                                        <p:tgtEl>
                                          <p:spTgt spid="29"/>
                                        </p:tgtEl>
                                      </p:cBhvr>
                                    </p:animEffect>
                                  </p:childTnLst>
                                </p:cTn>
                              </p:par>
                            </p:childTnLst>
                          </p:cTn>
                        </p:par>
                        <p:par>
                          <p:cTn id="99" fill="hold">
                            <p:stCondLst>
                              <p:cond delay="4000"/>
                            </p:stCondLst>
                            <p:childTnLst>
                              <p:par>
                                <p:cTn id="100" presetID="10" presetClass="entr" presetSubtype="0" fill="hold" grpId="0" nodeType="after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00"/>
                                        <p:tgtEl>
                                          <p:spTgt spid="23"/>
                                        </p:tgtEl>
                                      </p:cBhvr>
                                    </p:animEffect>
                                  </p:childTnLst>
                                </p:cTn>
                              </p:par>
                            </p:childTnLst>
                          </p:cTn>
                        </p:par>
                        <p:par>
                          <p:cTn id="103" fill="hold">
                            <p:stCondLst>
                              <p:cond delay="4500"/>
                            </p:stCondLst>
                            <p:childTnLst>
                              <p:par>
                                <p:cTn id="104" presetID="10" presetClass="entr" presetSubtype="0" fill="hold" grpId="0" nodeType="after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500"/>
                                        <p:tgtEl>
                                          <p:spTgt spid="24"/>
                                        </p:tgtEl>
                                      </p:cBhvr>
                                    </p:animEffect>
                                  </p:childTnLst>
                                </p:cTn>
                              </p:par>
                            </p:childTnLst>
                          </p:cTn>
                        </p:par>
                        <p:par>
                          <p:cTn id="107" fill="hold">
                            <p:stCondLst>
                              <p:cond delay="5000"/>
                            </p:stCondLst>
                            <p:childTnLst>
                              <p:par>
                                <p:cTn id="108" presetID="22" presetClass="entr" presetSubtype="1" fill="hold" nodeType="afterEffect">
                                  <p:stCondLst>
                                    <p:cond delay="0"/>
                                  </p:stCondLst>
                                  <p:childTnLst>
                                    <p:set>
                                      <p:cBhvr>
                                        <p:cTn id="109" dur="1" fill="hold">
                                          <p:stCondLst>
                                            <p:cond delay="0"/>
                                          </p:stCondLst>
                                        </p:cTn>
                                        <p:tgtEl>
                                          <p:spTgt spid="30"/>
                                        </p:tgtEl>
                                        <p:attrNameLst>
                                          <p:attrName>style.visibility</p:attrName>
                                        </p:attrNameLst>
                                      </p:cBhvr>
                                      <p:to>
                                        <p:strVal val="visible"/>
                                      </p:to>
                                    </p:set>
                                    <p:animEffect transition="in" filter="wipe(up)">
                                      <p:cBhvr>
                                        <p:cTn id="110" dur="500"/>
                                        <p:tgtEl>
                                          <p:spTgt spid="30"/>
                                        </p:tgtEl>
                                      </p:cBhvr>
                                    </p:animEffect>
                                  </p:childTnLst>
                                </p:cTn>
                              </p:par>
                            </p:childTnLst>
                          </p:cTn>
                        </p:par>
                        <p:par>
                          <p:cTn id="111" fill="hold">
                            <p:stCondLst>
                              <p:cond delay="5500"/>
                            </p:stCondLst>
                            <p:childTnLst>
                              <p:par>
                                <p:cTn id="112" presetID="10" presetClass="entr" presetSubtype="0" fill="hold" grpId="0" nodeType="afterEffect">
                                  <p:stCondLst>
                                    <p:cond delay="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20" grpId="0" animBg="1"/>
      <p:bldP spid="21" grpId="0" animBg="1"/>
      <p:bldP spid="22" grpId="0" animBg="1"/>
      <p:bldP spid="23" grpId="0" animBg="1"/>
      <p:bldP spid="24" grpId="0" animBg="1"/>
      <p:bldP spid="2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Heap Sort</a:t>
            </a:r>
          </a:p>
        </p:txBody>
      </p:sp>
      <p:sp>
        <p:nvSpPr>
          <p:cNvPr id="3" name="Content Placeholder 2"/>
          <p:cNvSpPr>
            <a:spLocks noGrp="1"/>
          </p:cNvSpPr>
          <p:nvPr>
            <p:ph idx="1"/>
          </p:nvPr>
        </p:nvSpPr>
        <p:spPr/>
        <p:txBody>
          <a:bodyPr/>
          <a:lstStyle/>
          <a:p>
            <a:pPr marL="457200" indent="-457200">
              <a:buFont typeface="+mj-lt"/>
              <a:buAutoNum type="arabicPeriod"/>
            </a:pPr>
            <a:r>
              <a:rPr lang="en-US" dirty="0"/>
              <a:t>Build the </a:t>
            </a:r>
            <a:r>
              <a:rPr lang="en-US" dirty="0">
                <a:solidFill>
                  <a:srgbClr val="A71160"/>
                </a:solidFill>
              </a:rPr>
              <a:t>complete binary tree </a:t>
            </a:r>
            <a:r>
              <a:rPr lang="en-US" dirty="0"/>
              <a:t>using given elements.</a:t>
            </a:r>
          </a:p>
          <a:p>
            <a:pPr marL="457200" indent="-457200">
              <a:buFont typeface="+mj-lt"/>
              <a:buAutoNum type="arabicPeriod"/>
            </a:pPr>
            <a:r>
              <a:rPr lang="en-US" dirty="0"/>
              <a:t>Create </a:t>
            </a:r>
            <a:r>
              <a:rPr lang="en-US" dirty="0">
                <a:solidFill>
                  <a:srgbClr val="A71160"/>
                </a:solidFill>
              </a:rPr>
              <a:t>Max-heap</a:t>
            </a:r>
            <a:r>
              <a:rPr lang="en-US" dirty="0"/>
              <a:t> to sort in ascending order.</a:t>
            </a:r>
          </a:p>
          <a:p>
            <a:pPr marL="457200" indent="-457200">
              <a:buFont typeface="+mj-lt"/>
              <a:buAutoNum type="arabicPeriod"/>
            </a:pPr>
            <a:r>
              <a:rPr lang="en-US" dirty="0"/>
              <a:t>Once the heap is created, </a:t>
            </a:r>
            <a:r>
              <a:rPr lang="en-US" dirty="0">
                <a:solidFill>
                  <a:srgbClr val="A71160"/>
                </a:solidFill>
              </a:rPr>
              <a:t>swap</a:t>
            </a:r>
            <a:r>
              <a:rPr lang="en-US" dirty="0"/>
              <a:t> the last node with the root node and </a:t>
            </a:r>
            <a:r>
              <a:rPr lang="en-US" dirty="0">
                <a:solidFill>
                  <a:srgbClr val="A71160"/>
                </a:solidFill>
              </a:rPr>
              <a:t>delete</a:t>
            </a:r>
            <a:r>
              <a:rPr lang="en-US" dirty="0"/>
              <a:t> the last node from the heap.</a:t>
            </a:r>
          </a:p>
          <a:p>
            <a:pPr marL="457200" indent="-457200">
              <a:buFont typeface="+mj-lt"/>
              <a:buAutoNum type="arabicPeriod"/>
            </a:pPr>
            <a:r>
              <a:rPr lang="en-US" dirty="0"/>
              <a:t>Repeat </a:t>
            </a:r>
            <a:r>
              <a:rPr lang="en-US" dirty="0">
                <a:solidFill>
                  <a:srgbClr val="A71160"/>
                </a:solidFill>
              </a:rPr>
              <a:t>step 2 and 3 </a:t>
            </a:r>
            <a:r>
              <a:rPr lang="en-US" dirty="0"/>
              <a:t>until the heap is empty.</a:t>
            </a:r>
          </a:p>
        </p:txBody>
      </p:sp>
    </p:spTree>
    <p:extLst>
      <p:ext uri="{BB962C8B-B14F-4D97-AF65-F5344CB8AC3E}">
        <p14:creationId xmlns:p14="http://schemas.microsoft.com/office/powerpoint/2010/main" val="49241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Example 1</a:t>
            </a:r>
          </a:p>
        </p:txBody>
      </p:sp>
      <p:graphicFrame>
        <p:nvGraphicFramePr>
          <p:cNvPr id="4" name="Table 3"/>
          <p:cNvGraphicFramePr>
            <a:graphicFrameLocks noGrp="1"/>
          </p:cNvGraphicFramePr>
          <p:nvPr/>
        </p:nvGraphicFramePr>
        <p:xfrm>
          <a:off x="4466165" y="1528465"/>
          <a:ext cx="3259670" cy="45720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370840">
                <a:tc>
                  <a:txBody>
                    <a:bodyPr/>
                    <a:lstStyle/>
                    <a:p>
                      <a:pPr algn="ctr"/>
                      <a:r>
                        <a:rPr lang="en-US" sz="2400" dirty="0"/>
                        <a:t>4</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10</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5</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5" name="TextBox 4"/>
          <p:cNvSpPr txBox="1"/>
          <p:nvPr/>
        </p:nvSpPr>
        <p:spPr>
          <a:xfrm>
            <a:off x="3009900" y="990600"/>
            <a:ext cx="6172200" cy="461665"/>
          </a:xfrm>
          <a:prstGeom prst="rect">
            <a:avLst/>
          </a:prstGeom>
          <a:noFill/>
        </p:spPr>
        <p:txBody>
          <a:bodyPr wrap="square" rtlCol="0">
            <a:spAutoFit/>
          </a:bodyPr>
          <a:lstStyle/>
          <a:p>
            <a:r>
              <a:rPr lang="en-US" sz="2400" dirty="0"/>
              <a:t>Sort the following elements in Ascending order</a:t>
            </a:r>
          </a:p>
        </p:txBody>
      </p:sp>
      <p:cxnSp>
        <p:nvCxnSpPr>
          <p:cNvPr id="6" name="Straight Connector 5"/>
          <p:cNvCxnSpPr/>
          <p:nvPr/>
        </p:nvCxnSpPr>
        <p:spPr>
          <a:xfrm>
            <a:off x="609600" y="2286000"/>
            <a:ext cx="10972800" cy="0"/>
          </a:xfrm>
          <a:prstGeom prst="line">
            <a:avLst/>
          </a:prstGeom>
        </p:spPr>
        <p:style>
          <a:lnRef idx="1">
            <a:schemeClr val="dk1"/>
          </a:lnRef>
          <a:fillRef idx="0">
            <a:schemeClr val="dk1"/>
          </a:fillRef>
          <a:effectRef idx="0">
            <a:schemeClr val="dk1"/>
          </a:effectRef>
          <a:fontRef idx="minor">
            <a:schemeClr val="tx1"/>
          </a:fontRef>
        </p:style>
      </p:cxnSp>
      <p:graphicFrame>
        <p:nvGraphicFramePr>
          <p:cNvPr id="7" name="Table 6"/>
          <p:cNvGraphicFramePr>
            <a:graphicFrameLocks noGrp="1"/>
          </p:cNvGraphicFramePr>
          <p:nvPr/>
        </p:nvGraphicFramePr>
        <p:xfrm>
          <a:off x="569874" y="3313784"/>
          <a:ext cx="3259670" cy="54864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548640">
                <a:tc>
                  <a:txBody>
                    <a:bodyPr/>
                    <a:lstStyle/>
                    <a:p>
                      <a:pPr algn="ctr"/>
                      <a:r>
                        <a:rPr lang="en-US" sz="2400" dirty="0"/>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10</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5</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8" name="Table 7"/>
              <p:cNvGraphicFramePr>
                <a:graphicFrameLocks noGrp="1"/>
              </p:cNvGraphicFramePr>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1</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2</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3</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4</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5</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9224174"/>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30801332"/>
                  </p:ext>
                </p:extLst>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r="-406604"/>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90598" r="-268376"/>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214423" r="-20192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311429" r="-1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411429"/>
                          </a:stretch>
                        </a:blipFill>
                      </a:tcPr>
                    </a:tc>
                    <a:extLst>
                      <a:ext uri="{0D108BD9-81ED-4DB2-BD59-A6C34878D82A}">
                        <a16:rowId xmlns:a16="http://schemas.microsoft.com/office/drawing/2014/main" val="2199224174"/>
                      </a:ext>
                    </a:extLst>
                  </a:tr>
                </a:tbl>
              </a:graphicData>
            </a:graphic>
          </p:graphicFrame>
        </mc:Fallback>
      </mc:AlternateContent>
      <p:sp>
        <p:nvSpPr>
          <p:cNvPr id="9" name="TextBox 8"/>
          <p:cNvSpPr txBox="1"/>
          <p:nvPr/>
        </p:nvSpPr>
        <p:spPr>
          <a:xfrm>
            <a:off x="609594" y="2303041"/>
            <a:ext cx="4049507" cy="400110"/>
          </a:xfrm>
          <a:prstGeom prst="rect">
            <a:avLst/>
          </a:prstGeom>
          <a:noFill/>
          <a:ln w="28575">
            <a:solidFill>
              <a:schemeClr val="tx1"/>
            </a:solidFill>
          </a:ln>
        </p:spPr>
        <p:txBody>
          <a:bodyPr wrap="none" rtlCol="0">
            <a:spAutoFit/>
          </a:bodyPr>
          <a:lstStyle/>
          <a:p>
            <a:r>
              <a:rPr lang="en-IN" sz="2000" b="1" dirty="0"/>
              <a:t>Step 1 : Create Complete Binary Tree </a:t>
            </a:r>
            <a:endParaRPr lang="en-US" sz="2000" b="1" dirty="0"/>
          </a:p>
        </p:txBody>
      </p:sp>
      <p:sp>
        <p:nvSpPr>
          <p:cNvPr id="10" name="Up Arrow 9"/>
          <p:cNvSpPr/>
          <p:nvPr/>
        </p:nvSpPr>
        <p:spPr>
          <a:xfrm>
            <a:off x="730616" y="3887917"/>
            <a:ext cx="304800" cy="369332"/>
          </a:xfrm>
          <a:prstGeom prst="upArrow">
            <a:avLst/>
          </a:prstGeom>
          <a:noFill/>
          <a:ln w="19050">
            <a:solidFill>
              <a:srgbClr val="4242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6772825" y="2592585"/>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lumMod val="95000"/>
                  </a:schemeClr>
                </a:solidFill>
              </a:rPr>
              <a:t>4</a:t>
            </a:r>
          </a:p>
        </p:txBody>
      </p:sp>
      <p:cxnSp>
        <p:nvCxnSpPr>
          <p:cNvPr id="12" name="Straight Connector 11"/>
          <p:cNvCxnSpPr>
            <a:stCxn id="11" idx="3"/>
            <a:endCxn id="13" idx="0"/>
          </p:cNvCxnSpPr>
          <p:nvPr/>
        </p:nvCxnSpPr>
        <p:spPr>
          <a:xfrm flipH="1">
            <a:off x="6518436" y="3138927"/>
            <a:ext cx="348127" cy="42169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6198396" y="356061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10</a:t>
            </a:r>
          </a:p>
        </p:txBody>
      </p:sp>
      <p:sp>
        <p:nvSpPr>
          <p:cNvPr id="14" name="Up Arrow 13"/>
          <p:cNvSpPr/>
          <p:nvPr/>
        </p:nvSpPr>
        <p:spPr>
          <a:xfrm>
            <a:off x="1420896" y="3887917"/>
            <a:ext cx="304800" cy="369332"/>
          </a:xfrm>
          <a:prstGeom prst="upArrow">
            <a:avLst/>
          </a:prstGeom>
          <a:noFill/>
          <a:ln w="19050">
            <a:solidFill>
              <a:srgbClr val="4242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11" idx="5"/>
            <a:endCxn id="16" idx="0"/>
          </p:cNvCxnSpPr>
          <p:nvPr/>
        </p:nvCxnSpPr>
        <p:spPr>
          <a:xfrm>
            <a:off x="7319167" y="3138927"/>
            <a:ext cx="383308" cy="42169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382435" y="356061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lumMod val="95000"/>
                  </a:schemeClr>
                </a:solidFill>
              </a:rPr>
              <a:t>3</a:t>
            </a:r>
          </a:p>
        </p:txBody>
      </p:sp>
      <p:sp>
        <p:nvSpPr>
          <p:cNvPr id="20" name="Up Arrow 19"/>
          <p:cNvSpPr/>
          <p:nvPr/>
        </p:nvSpPr>
        <p:spPr>
          <a:xfrm>
            <a:off x="2125007" y="3887917"/>
            <a:ext cx="304800" cy="369332"/>
          </a:xfrm>
          <a:prstGeom prst="upArrow">
            <a:avLst/>
          </a:prstGeom>
          <a:noFill/>
          <a:ln w="19050">
            <a:solidFill>
              <a:srgbClr val="4242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p:cNvCxnSpPr>
            <a:stCxn id="13" idx="3"/>
            <a:endCxn id="22" idx="0"/>
          </p:cNvCxnSpPr>
          <p:nvPr/>
        </p:nvCxnSpPr>
        <p:spPr>
          <a:xfrm flipH="1">
            <a:off x="6048488" y="4106960"/>
            <a:ext cx="243646" cy="65029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5728448" y="475725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5</a:t>
            </a:r>
          </a:p>
        </p:txBody>
      </p:sp>
      <p:sp>
        <p:nvSpPr>
          <p:cNvPr id="30" name="Up Arrow 29"/>
          <p:cNvSpPr/>
          <p:nvPr/>
        </p:nvSpPr>
        <p:spPr>
          <a:xfrm>
            <a:off x="2720390" y="3887917"/>
            <a:ext cx="304800" cy="369332"/>
          </a:xfrm>
          <a:prstGeom prst="upArrow">
            <a:avLst/>
          </a:prstGeom>
          <a:noFill/>
          <a:ln w="19050">
            <a:solidFill>
              <a:srgbClr val="4242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p:cNvCxnSpPr>
            <a:stCxn id="13" idx="5"/>
            <a:endCxn id="32" idx="0"/>
          </p:cNvCxnSpPr>
          <p:nvPr/>
        </p:nvCxnSpPr>
        <p:spPr>
          <a:xfrm>
            <a:off x="6744738" y="4106960"/>
            <a:ext cx="299204" cy="65029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6723902" y="475725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sp>
        <p:nvSpPr>
          <p:cNvPr id="37" name="TextBox 36"/>
          <p:cNvSpPr txBox="1"/>
          <p:nvPr/>
        </p:nvSpPr>
        <p:spPr>
          <a:xfrm>
            <a:off x="569874" y="4706468"/>
            <a:ext cx="3524794" cy="1200329"/>
          </a:xfrm>
          <a:prstGeom prst="rect">
            <a:avLst/>
          </a:prstGeom>
          <a:solidFill>
            <a:srgbClr val="FCE0EE"/>
          </a:solidFill>
        </p:spPr>
        <p:txBody>
          <a:bodyPr wrap="square" rtlCol="0">
            <a:spAutoFit/>
          </a:bodyPr>
          <a:lstStyle/>
          <a:p>
            <a:pPr algn="just"/>
            <a:r>
              <a:rPr lang="en-US" sz="2400" dirty="0">
                <a:solidFill>
                  <a:srgbClr val="A71160"/>
                </a:solidFill>
              </a:rPr>
              <a:t>Now, a binary tree is created and we have to convert it into a Heap.</a:t>
            </a:r>
          </a:p>
        </p:txBody>
      </p:sp>
    </p:spTree>
    <p:extLst>
      <p:ext uri="{BB962C8B-B14F-4D97-AF65-F5344CB8AC3E}">
        <p14:creationId xmlns:p14="http://schemas.microsoft.com/office/powerpoint/2010/main" val="1295044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32"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circle(out)">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63" presetClass="path" presetSubtype="0" accel="50000" decel="50000" fill="hold" grpId="1" nodeType="clickEffect">
                                  <p:stCondLst>
                                    <p:cond delay="0"/>
                                  </p:stCondLst>
                                  <p:childTnLst>
                                    <p:animMotion origin="layout" path="M 4.16667E-6 1.11022E-16 L 0.05664 0.00023 " pathEditMode="relative" rAng="0" ptsTypes="AA">
                                      <p:cBhvr>
                                        <p:cTn id="15" dur="2000" fill="hold"/>
                                        <p:tgtEl>
                                          <p:spTgt spid="10"/>
                                        </p:tgtEl>
                                        <p:attrNameLst>
                                          <p:attrName>ppt_x</p:attrName>
                                          <p:attrName>ppt_y</p:attrName>
                                        </p:attrNameLst>
                                      </p:cBhvr>
                                      <p:rCtr x="2826" y="0"/>
                                    </p:animMotion>
                                  </p:childTnLst>
                                </p:cTn>
                              </p:par>
                            </p:childTnLst>
                          </p:cTn>
                        </p:par>
                        <p:par>
                          <p:cTn id="16" fill="hold">
                            <p:stCondLst>
                              <p:cond delay="2000"/>
                            </p:stCondLst>
                            <p:childTnLst>
                              <p:par>
                                <p:cTn id="17" presetID="22" presetClass="entr" presetSubtype="1"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childTnLst>
                          </p:cTn>
                        </p:par>
                        <p:par>
                          <p:cTn id="20" fill="hold">
                            <p:stCondLst>
                              <p:cond delay="2500"/>
                            </p:stCondLst>
                            <p:childTnLst>
                              <p:par>
                                <p:cTn id="21" presetID="6" presetClass="entr" presetSubtype="32"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circle(out)">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2" nodeType="clickEffect">
                                  <p:stCondLst>
                                    <p:cond delay="0"/>
                                  </p:stCondLst>
                                  <p:childTnLst>
                                    <p:set>
                                      <p:cBhvr>
                                        <p:cTn id="27" dur="1" fill="hold">
                                          <p:stCondLst>
                                            <p:cond delay="0"/>
                                          </p:stCondLst>
                                        </p:cTn>
                                        <p:tgtEl>
                                          <p:spTgt spid="10"/>
                                        </p:tgtEl>
                                        <p:attrNameLst>
                                          <p:attrName>style.visibility</p:attrName>
                                        </p:attrNameLst>
                                      </p:cBhvr>
                                      <p:to>
                                        <p:strVal val="hidden"/>
                                      </p:to>
                                    </p:set>
                                  </p:childTnLst>
                                </p:cTn>
                              </p:par>
                              <p:par>
                                <p:cTn id="28" presetID="1"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par>
                                <p:cTn id="30" presetID="63" presetClass="path" presetSubtype="0" accel="50000" decel="50000" fill="hold" grpId="1" nodeType="withEffect">
                                  <p:stCondLst>
                                    <p:cond delay="0"/>
                                  </p:stCondLst>
                                  <p:childTnLst>
                                    <p:animMotion origin="layout" path="M 3.54167E-6 1.11022E-16 L 0.05664 0.00023 " pathEditMode="relative" rAng="0" ptsTypes="AA">
                                      <p:cBhvr>
                                        <p:cTn id="31" dur="2000" fill="hold"/>
                                        <p:tgtEl>
                                          <p:spTgt spid="14"/>
                                        </p:tgtEl>
                                        <p:attrNameLst>
                                          <p:attrName>ppt_x</p:attrName>
                                          <p:attrName>ppt_y</p:attrName>
                                        </p:attrNameLst>
                                      </p:cBhvr>
                                      <p:rCtr x="2826" y="0"/>
                                    </p:animMotion>
                                  </p:childTnLst>
                                </p:cTn>
                              </p:par>
                            </p:childTnLst>
                          </p:cTn>
                        </p:par>
                        <p:par>
                          <p:cTn id="32" fill="hold">
                            <p:stCondLst>
                              <p:cond delay="2000"/>
                            </p:stCondLst>
                            <p:childTnLst>
                              <p:par>
                                <p:cTn id="33" presetID="22" presetClass="entr" presetSubtype="1"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up)">
                                      <p:cBhvr>
                                        <p:cTn id="35" dur="500"/>
                                        <p:tgtEl>
                                          <p:spTgt spid="15"/>
                                        </p:tgtEl>
                                      </p:cBhvr>
                                    </p:animEffect>
                                  </p:childTnLst>
                                </p:cTn>
                              </p:par>
                            </p:childTnLst>
                          </p:cTn>
                        </p:par>
                        <p:par>
                          <p:cTn id="36" fill="hold">
                            <p:stCondLst>
                              <p:cond delay="2500"/>
                            </p:stCondLst>
                            <p:childTnLst>
                              <p:par>
                                <p:cTn id="37" presetID="6" presetClass="entr" presetSubtype="32"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circle(out)">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2" nodeType="clickEffect">
                                  <p:stCondLst>
                                    <p:cond delay="0"/>
                                  </p:stCondLst>
                                  <p:childTnLst>
                                    <p:set>
                                      <p:cBhvr>
                                        <p:cTn id="43" dur="1" fill="hold">
                                          <p:stCondLst>
                                            <p:cond delay="0"/>
                                          </p:stCondLst>
                                        </p:cTn>
                                        <p:tgtEl>
                                          <p:spTgt spid="14"/>
                                        </p:tgtEl>
                                        <p:attrNameLst>
                                          <p:attrName>style.visibility</p:attrName>
                                        </p:attrNameLst>
                                      </p:cBhvr>
                                      <p:to>
                                        <p:strVal val="hidden"/>
                                      </p:to>
                                    </p:set>
                                  </p:childTnLst>
                                </p:cTn>
                              </p:par>
                              <p:par>
                                <p:cTn id="44" presetID="1"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childTnLst>
                                </p:cTn>
                              </p:par>
                              <p:par>
                                <p:cTn id="46" presetID="63" presetClass="path" presetSubtype="0" accel="50000" decel="50000" fill="hold" grpId="1" nodeType="withEffect">
                                  <p:stCondLst>
                                    <p:cond delay="0"/>
                                  </p:stCondLst>
                                  <p:childTnLst>
                                    <p:animMotion origin="layout" path="M 1.04167E-6 1.11022E-16 L 0.04818 0.00023 " pathEditMode="relative" rAng="0" ptsTypes="AA">
                                      <p:cBhvr>
                                        <p:cTn id="47" dur="2000" fill="hold"/>
                                        <p:tgtEl>
                                          <p:spTgt spid="20"/>
                                        </p:tgtEl>
                                        <p:attrNameLst>
                                          <p:attrName>ppt_x</p:attrName>
                                          <p:attrName>ppt_y</p:attrName>
                                        </p:attrNameLst>
                                      </p:cBhvr>
                                      <p:rCtr x="2409" y="0"/>
                                    </p:animMotion>
                                  </p:childTnLst>
                                </p:cTn>
                              </p:par>
                            </p:childTnLst>
                          </p:cTn>
                        </p:par>
                        <p:par>
                          <p:cTn id="48" fill="hold">
                            <p:stCondLst>
                              <p:cond delay="2000"/>
                            </p:stCondLst>
                            <p:childTnLst>
                              <p:par>
                                <p:cTn id="49" presetID="22" presetClass="entr" presetSubtype="1" fill="hold"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up)">
                                      <p:cBhvr>
                                        <p:cTn id="51" dur="500"/>
                                        <p:tgtEl>
                                          <p:spTgt spid="21"/>
                                        </p:tgtEl>
                                      </p:cBhvr>
                                    </p:animEffect>
                                  </p:childTnLst>
                                </p:cTn>
                              </p:par>
                            </p:childTnLst>
                          </p:cTn>
                        </p:par>
                        <p:par>
                          <p:cTn id="52" fill="hold">
                            <p:stCondLst>
                              <p:cond delay="2500"/>
                            </p:stCondLst>
                            <p:childTnLst>
                              <p:par>
                                <p:cTn id="53" presetID="6" presetClass="entr" presetSubtype="32" fill="hold" grpId="0" nodeType="after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circle(out)">
                                      <p:cBhvr>
                                        <p:cTn id="55" dur="50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grpId="2" nodeType="clickEffect">
                                  <p:stCondLst>
                                    <p:cond delay="0"/>
                                  </p:stCondLst>
                                  <p:childTnLst>
                                    <p:set>
                                      <p:cBhvr>
                                        <p:cTn id="59" dur="1" fill="hold">
                                          <p:stCondLst>
                                            <p:cond delay="0"/>
                                          </p:stCondLst>
                                        </p:cTn>
                                        <p:tgtEl>
                                          <p:spTgt spid="20"/>
                                        </p:tgtEl>
                                        <p:attrNameLst>
                                          <p:attrName>style.visibility</p:attrName>
                                        </p:attrNameLst>
                                      </p:cBhvr>
                                      <p:to>
                                        <p:strVal val="hidden"/>
                                      </p:to>
                                    </p:set>
                                  </p:childTnLst>
                                </p:cTn>
                              </p:par>
                              <p:par>
                                <p:cTn id="60" presetID="1"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childTnLst>
                                </p:cTn>
                              </p:par>
                              <p:par>
                                <p:cTn id="62" presetID="63" presetClass="path" presetSubtype="0" accel="50000" decel="50000" fill="hold" grpId="1" nodeType="withEffect">
                                  <p:stCondLst>
                                    <p:cond delay="0"/>
                                  </p:stCondLst>
                                  <p:childTnLst>
                                    <p:animMotion origin="layout" path="M 2.91667E-6 1.11022E-16 L 0.04817 0.00023 " pathEditMode="relative" rAng="0" ptsTypes="AA">
                                      <p:cBhvr>
                                        <p:cTn id="63" dur="2000" fill="hold"/>
                                        <p:tgtEl>
                                          <p:spTgt spid="30"/>
                                        </p:tgtEl>
                                        <p:attrNameLst>
                                          <p:attrName>ppt_x</p:attrName>
                                          <p:attrName>ppt_y</p:attrName>
                                        </p:attrNameLst>
                                      </p:cBhvr>
                                      <p:rCtr x="2409" y="0"/>
                                    </p:animMotion>
                                  </p:childTnLst>
                                </p:cTn>
                              </p:par>
                            </p:childTnLst>
                          </p:cTn>
                        </p:par>
                        <p:par>
                          <p:cTn id="64" fill="hold">
                            <p:stCondLst>
                              <p:cond delay="2000"/>
                            </p:stCondLst>
                            <p:childTnLst>
                              <p:par>
                                <p:cTn id="65" presetID="22" presetClass="entr" presetSubtype="1" fill="hold" nodeType="after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wipe(up)">
                                      <p:cBhvr>
                                        <p:cTn id="67" dur="500"/>
                                        <p:tgtEl>
                                          <p:spTgt spid="31"/>
                                        </p:tgtEl>
                                      </p:cBhvr>
                                    </p:animEffect>
                                  </p:childTnLst>
                                </p:cTn>
                              </p:par>
                            </p:childTnLst>
                          </p:cTn>
                        </p:par>
                        <p:par>
                          <p:cTn id="68" fill="hold">
                            <p:stCondLst>
                              <p:cond delay="2500"/>
                            </p:stCondLst>
                            <p:childTnLst>
                              <p:par>
                                <p:cTn id="69" presetID="6" presetClass="entr" presetSubtype="32" fill="hold" grpId="0" nodeType="after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circle(out)">
                                      <p:cBhvr>
                                        <p:cTn id="71" dur="500"/>
                                        <p:tgtEl>
                                          <p:spTgt spid="32"/>
                                        </p:tgtEl>
                                      </p:cBhvr>
                                    </p:animEffect>
                                  </p:childTnLst>
                                </p:cTn>
                              </p:par>
                            </p:childTnLst>
                          </p:cTn>
                        </p:par>
                        <p:par>
                          <p:cTn id="72" fill="hold">
                            <p:stCondLst>
                              <p:cond delay="3000"/>
                            </p:stCondLst>
                            <p:childTnLst>
                              <p:par>
                                <p:cTn id="73" presetID="1" presetClass="exit" presetSubtype="0" fill="hold" grpId="2" nodeType="afterEffect">
                                  <p:stCondLst>
                                    <p:cond delay="0"/>
                                  </p:stCondLst>
                                  <p:childTnLst>
                                    <p:set>
                                      <p:cBhvr>
                                        <p:cTn id="74" dur="1" fill="hold">
                                          <p:stCondLst>
                                            <p:cond delay="0"/>
                                          </p:stCondLst>
                                        </p:cTn>
                                        <p:tgtEl>
                                          <p:spTgt spid="30"/>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0" grpId="2" animBg="1"/>
      <p:bldP spid="11" grpId="0" animBg="1"/>
      <p:bldP spid="13" grpId="0" animBg="1"/>
      <p:bldP spid="14" grpId="0" animBg="1"/>
      <p:bldP spid="14" grpId="1" animBg="1"/>
      <p:bldP spid="14" grpId="2" animBg="1"/>
      <p:bldP spid="16" grpId="0" animBg="1"/>
      <p:bldP spid="20" grpId="0" animBg="1"/>
      <p:bldP spid="20" grpId="1" animBg="1"/>
      <p:bldP spid="20" grpId="2" animBg="1"/>
      <p:bldP spid="22" grpId="0" animBg="1"/>
      <p:bldP spid="30" grpId="0" animBg="1"/>
      <p:bldP spid="30" grpId="1" animBg="1"/>
      <p:bldP spid="30" grpId="2" animBg="1"/>
      <p:bldP spid="32" grpId="0" animBg="1"/>
      <p:bldP spid="3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Example 1</a:t>
            </a:r>
          </a:p>
        </p:txBody>
      </p:sp>
      <p:graphicFrame>
        <p:nvGraphicFramePr>
          <p:cNvPr id="4" name="Table 3"/>
          <p:cNvGraphicFramePr>
            <a:graphicFrameLocks noGrp="1"/>
          </p:cNvGraphicFramePr>
          <p:nvPr/>
        </p:nvGraphicFramePr>
        <p:xfrm>
          <a:off x="4466165" y="1528465"/>
          <a:ext cx="3259670" cy="45720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370840">
                <a:tc>
                  <a:txBody>
                    <a:bodyPr/>
                    <a:lstStyle/>
                    <a:p>
                      <a:pPr algn="ctr"/>
                      <a:r>
                        <a:rPr lang="en-US" sz="2400" dirty="0"/>
                        <a:t>4</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10</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5</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5" name="TextBox 4"/>
          <p:cNvSpPr txBox="1"/>
          <p:nvPr/>
        </p:nvSpPr>
        <p:spPr>
          <a:xfrm>
            <a:off x="3009900" y="990600"/>
            <a:ext cx="6172200" cy="461665"/>
          </a:xfrm>
          <a:prstGeom prst="rect">
            <a:avLst/>
          </a:prstGeom>
          <a:noFill/>
        </p:spPr>
        <p:txBody>
          <a:bodyPr wrap="square" rtlCol="0">
            <a:spAutoFit/>
          </a:bodyPr>
          <a:lstStyle/>
          <a:p>
            <a:r>
              <a:rPr lang="en-US" sz="2400" dirty="0"/>
              <a:t>Sort the following elements in Ascending order</a:t>
            </a:r>
          </a:p>
        </p:txBody>
      </p:sp>
      <p:cxnSp>
        <p:nvCxnSpPr>
          <p:cNvPr id="6" name="Straight Connector 5"/>
          <p:cNvCxnSpPr/>
          <p:nvPr/>
        </p:nvCxnSpPr>
        <p:spPr>
          <a:xfrm>
            <a:off x="609600" y="2286000"/>
            <a:ext cx="10972800" cy="0"/>
          </a:xfrm>
          <a:prstGeom prst="line">
            <a:avLst/>
          </a:prstGeom>
        </p:spPr>
        <p:style>
          <a:lnRef idx="1">
            <a:schemeClr val="dk1"/>
          </a:lnRef>
          <a:fillRef idx="0">
            <a:schemeClr val="dk1"/>
          </a:fillRef>
          <a:effectRef idx="0">
            <a:schemeClr val="dk1"/>
          </a:effectRef>
          <a:fontRef idx="minor">
            <a:schemeClr val="tx1"/>
          </a:fontRef>
        </p:style>
      </p:cxnSp>
      <p:graphicFrame>
        <p:nvGraphicFramePr>
          <p:cNvPr id="7" name="Table 6"/>
          <p:cNvGraphicFramePr>
            <a:graphicFrameLocks noGrp="1"/>
          </p:cNvGraphicFramePr>
          <p:nvPr/>
        </p:nvGraphicFramePr>
        <p:xfrm>
          <a:off x="569874" y="3313784"/>
          <a:ext cx="3259670" cy="54864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548640">
                <a:tc>
                  <a:txBody>
                    <a:bodyPr/>
                    <a:lstStyle/>
                    <a:p>
                      <a:pPr algn="ctr"/>
                      <a:r>
                        <a:rPr lang="en-US" sz="2400" dirty="0"/>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10</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5</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1" name="Oval 10"/>
          <p:cNvSpPr/>
          <p:nvPr/>
        </p:nvSpPr>
        <p:spPr>
          <a:xfrm>
            <a:off x="6772825" y="2592585"/>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lumMod val="95000"/>
                  </a:schemeClr>
                </a:solidFill>
              </a:rPr>
              <a:t>4</a:t>
            </a:r>
          </a:p>
        </p:txBody>
      </p:sp>
      <p:cxnSp>
        <p:nvCxnSpPr>
          <p:cNvPr id="12" name="Straight Connector 11"/>
          <p:cNvCxnSpPr>
            <a:stCxn id="11" idx="3"/>
            <a:endCxn id="13" idx="0"/>
          </p:cNvCxnSpPr>
          <p:nvPr/>
        </p:nvCxnSpPr>
        <p:spPr>
          <a:xfrm flipH="1">
            <a:off x="6518436" y="3138927"/>
            <a:ext cx="348127" cy="42169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6198396" y="356061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10</a:t>
            </a:r>
          </a:p>
        </p:txBody>
      </p:sp>
      <p:cxnSp>
        <p:nvCxnSpPr>
          <p:cNvPr id="15" name="Straight Connector 14"/>
          <p:cNvCxnSpPr>
            <a:stCxn id="11" idx="5"/>
            <a:endCxn id="16" idx="0"/>
          </p:cNvCxnSpPr>
          <p:nvPr/>
        </p:nvCxnSpPr>
        <p:spPr>
          <a:xfrm>
            <a:off x="7319167" y="3138927"/>
            <a:ext cx="383308" cy="42169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382435" y="356061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lumMod val="95000"/>
                  </a:schemeClr>
                </a:solidFill>
              </a:rPr>
              <a:t>3</a:t>
            </a:r>
          </a:p>
        </p:txBody>
      </p:sp>
      <p:cxnSp>
        <p:nvCxnSpPr>
          <p:cNvPr id="21" name="Straight Connector 20"/>
          <p:cNvCxnSpPr>
            <a:stCxn id="13" idx="3"/>
            <a:endCxn id="22" idx="0"/>
          </p:cNvCxnSpPr>
          <p:nvPr/>
        </p:nvCxnSpPr>
        <p:spPr>
          <a:xfrm flipH="1">
            <a:off x="6048488" y="4106960"/>
            <a:ext cx="243646" cy="65029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5728448" y="475725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5</a:t>
            </a:r>
          </a:p>
        </p:txBody>
      </p:sp>
      <p:cxnSp>
        <p:nvCxnSpPr>
          <p:cNvPr id="31" name="Straight Connector 30"/>
          <p:cNvCxnSpPr>
            <a:stCxn id="13" idx="5"/>
            <a:endCxn id="32" idx="0"/>
          </p:cNvCxnSpPr>
          <p:nvPr/>
        </p:nvCxnSpPr>
        <p:spPr>
          <a:xfrm>
            <a:off x="6744738" y="4106960"/>
            <a:ext cx="299204" cy="65029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6723902" y="475725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sp>
        <p:nvSpPr>
          <p:cNvPr id="25" name="TextBox 24"/>
          <p:cNvSpPr txBox="1"/>
          <p:nvPr/>
        </p:nvSpPr>
        <p:spPr>
          <a:xfrm>
            <a:off x="609594" y="2303041"/>
            <a:ext cx="2781531" cy="400110"/>
          </a:xfrm>
          <a:prstGeom prst="rect">
            <a:avLst/>
          </a:prstGeom>
          <a:noFill/>
          <a:ln w="28575">
            <a:solidFill>
              <a:schemeClr val="tx1"/>
            </a:solidFill>
          </a:ln>
        </p:spPr>
        <p:txBody>
          <a:bodyPr wrap="none" rtlCol="0">
            <a:spAutoFit/>
          </a:bodyPr>
          <a:lstStyle/>
          <a:p>
            <a:r>
              <a:rPr lang="en-IN" sz="2000" b="1" dirty="0"/>
              <a:t>Step 2 : Create Max Heap</a:t>
            </a:r>
            <a:endParaRPr lang="en-US" sz="2000" b="1" dirty="0"/>
          </a:p>
        </p:txBody>
      </p:sp>
      <p:sp>
        <p:nvSpPr>
          <p:cNvPr id="26" name="TextBox 25"/>
          <p:cNvSpPr txBox="1"/>
          <p:nvPr/>
        </p:nvSpPr>
        <p:spPr>
          <a:xfrm>
            <a:off x="569874" y="4706468"/>
            <a:ext cx="3524794" cy="1200329"/>
          </a:xfrm>
          <a:prstGeom prst="rect">
            <a:avLst/>
          </a:prstGeom>
          <a:solidFill>
            <a:srgbClr val="FCE0EE"/>
          </a:solidFill>
        </p:spPr>
        <p:txBody>
          <a:bodyPr wrap="square" rtlCol="0">
            <a:spAutoFit/>
          </a:bodyPr>
          <a:lstStyle/>
          <a:p>
            <a:pPr algn="just"/>
            <a:r>
              <a:rPr lang="en-US" sz="2400" dirty="0">
                <a:solidFill>
                  <a:srgbClr val="A71160"/>
                </a:solidFill>
              </a:rPr>
              <a:t>In a Max Heap, parent node is always greater than or equal to the child nodes.</a:t>
            </a:r>
          </a:p>
        </p:txBody>
      </p:sp>
      <p:sp>
        <p:nvSpPr>
          <p:cNvPr id="27" name="Freeform 11"/>
          <p:cNvSpPr>
            <a:spLocks/>
          </p:cNvSpPr>
          <p:nvPr/>
        </p:nvSpPr>
        <p:spPr bwMode="auto">
          <a:xfrm rot="221630">
            <a:off x="6332546" y="2922545"/>
            <a:ext cx="317782" cy="396079"/>
          </a:xfrm>
          <a:custGeom>
            <a:avLst/>
            <a:gdLst>
              <a:gd name="T0" fmla="*/ 0 w 162"/>
              <a:gd name="T1" fmla="*/ 264 h 264"/>
              <a:gd name="T2" fmla="*/ 30 w 162"/>
              <a:gd name="T3" fmla="*/ 162 h 264"/>
              <a:gd name="T4" fmla="*/ 90 w 162"/>
              <a:gd name="T5" fmla="*/ 66 h 264"/>
              <a:gd name="T6" fmla="*/ 162 w 162"/>
              <a:gd name="T7" fmla="*/ 0 h 264"/>
              <a:gd name="T8" fmla="*/ 0 60000 65536"/>
              <a:gd name="T9" fmla="*/ 0 60000 65536"/>
              <a:gd name="T10" fmla="*/ 0 60000 65536"/>
              <a:gd name="T11" fmla="*/ 0 60000 65536"/>
              <a:gd name="T12" fmla="*/ 0 w 162"/>
              <a:gd name="T13" fmla="*/ 0 h 264"/>
              <a:gd name="T14" fmla="*/ 162 w 162"/>
              <a:gd name="T15" fmla="*/ 264 h 264"/>
            </a:gdLst>
            <a:ahLst/>
            <a:cxnLst>
              <a:cxn ang="T8">
                <a:pos x="T0" y="T1"/>
              </a:cxn>
              <a:cxn ang="T9">
                <a:pos x="T2" y="T3"/>
              </a:cxn>
              <a:cxn ang="T10">
                <a:pos x="T4" y="T5"/>
              </a:cxn>
              <a:cxn ang="T11">
                <a:pos x="T6" y="T7"/>
              </a:cxn>
            </a:cxnLst>
            <a:rect l="T12" t="T13" r="T14" b="T15"/>
            <a:pathLst>
              <a:path w="162" h="264">
                <a:moveTo>
                  <a:pt x="0" y="264"/>
                </a:moveTo>
                <a:cubicBezTo>
                  <a:pt x="5" y="247"/>
                  <a:pt x="15" y="195"/>
                  <a:pt x="30" y="162"/>
                </a:cubicBezTo>
                <a:cubicBezTo>
                  <a:pt x="45" y="129"/>
                  <a:pt x="68" y="93"/>
                  <a:pt x="90" y="66"/>
                </a:cubicBezTo>
                <a:cubicBezTo>
                  <a:pt x="112" y="39"/>
                  <a:pt x="147" y="14"/>
                  <a:pt x="162" y="0"/>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2"/>
          <p:cNvSpPr>
            <a:spLocks/>
          </p:cNvSpPr>
          <p:nvPr/>
        </p:nvSpPr>
        <p:spPr bwMode="auto">
          <a:xfrm>
            <a:off x="6866964" y="3281082"/>
            <a:ext cx="269875" cy="409575"/>
          </a:xfrm>
          <a:custGeom>
            <a:avLst/>
            <a:gdLst>
              <a:gd name="T0" fmla="*/ 156 w 170"/>
              <a:gd name="T1" fmla="*/ 0 h 258"/>
              <a:gd name="T2" fmla="*/ 144 w 170"/>
              <a:gd name="T3" fmla="*/ 126 h 258"/>
              <a:gd name="T4" fmla="*/ 0 w 170"/>
              <a:gd name="T5" fmla="*/ 258 h 258"/>
              <a:gd name="T6" fmla="*/ 0 60000 65536"/>
              <a:gd name="T7" fmla="*/ 0 60000 65536"/>
              <a:gd name="T8" fmla="*/ 0 60000 65536"/>
              <a:gd name="T9" fmla="*/ 0 w 170"/>
              <a:gd name="T10" fmla="*/ 0 h 258"/>
              <a:gd name="T11" fmla="*/ 170 w 170"/>
              <a:gd name="T12" fmla="*/ 258 h 258"/>
            </a:gdLst>
            <a:ahLst/>
            <a:cxnLst>
              <a:cxn ang="T6">
                <a:pos x="T0" y="T1"/>
              </a:cxn>
              <a:cxn ang="T7">
                <a:pos x="T2" y="T3"/>
              </a:cxn>
              <a:cxn ang="T8">
                <a:pos x="T4" y="T5"/>
              </a:cxn>
            </a:cxnLst>
            <a:rect l="T9" t="T10" r="T11" b="T12"/>
            <a:pathLst>
              <a:path w="170" h="258">
                <a:moveTo>
                  <a:pt x="156" y="0"/>
                </a:moveTo>
                <a:cubicBezTo>
                  <a:pt x="154" y="21"/>
                  <a:pt x="170" y="83"/>
                  <a:pt x="144" y="126"/>
                </a:cubicBezTo>
                <a:cubicBezTo>
                  <a:pt x="118" y="169"/>
                  <a:pt x="30" y="231"/>
                  <a:pt x="0" y="258"/>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TextBox 33"/>
          <p:cNvSpPr txBox="1"/>
          <p:nvPr/>
        </p:nvSpPr>
        <p:spPr>
          <a:xfrm>
            <a:off x="9067800" y="2699267"/>
            <a:ext cx="2514600" cy="707886"/>
          </a:xfrm>
          <a:prstGeom prst="rect">
            <a:avLst/>
          </a:prstGeom>
          <a:noFill/>
        </p:spPr>
        <p:txBody>
          <a:bodyPr wrap="square" rtlCol="0">
            <a:spAutoFit/>
          </a:bodyPr>
          <a:lstStyle/>
          <a:p>
            <a:r>
              <a:rPr lang="en-US" sz="2000" b="1" dirty="0"/>
              <a:t>10 is greater than 4</a:t>
            </a:r>
          </a:p>
          <a:p>
            <a:r>
              <a:rPr lang="en-US" sz="2000" b="1" dirty="0"/>
              <a:t>So, swap 10 &amp; 4</a:t>
            </a:r>
          </a:p>
        </p:txBody>
      </p:sp>
      <p:sp>
        <p:nvSpPr>
          <p:cNvPr id="35" name="Freeform 34"/>
          <p:cNvSpPr/>
          <p:nvPr/>
        </p:nvSpPr>
        <p:spPr>
          <a:xfrm>
            <a:off x="874059" y="3870833"/>
            <a:ext cx="699247" cy="188258"/>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w="19050">
            <a:solidFill>
              <a:srgbClr val="ED524F"/>
            </a:solidFill>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6" name="TextBox 35"/>
          <p:cNvSpPr txBox="1"/>
          <p:nvPr/>
        </p:nvSpPr>
        <p:spPr>
          <a:xfrm>
            <a:off x="820273" y="4030417"/>
            <a:ext cx="762000" cy="369332"/>
          </a:xfrm>
          <a:prstGeom prst="rect">
            <a:avLst/>
          </a:prstGeom>
          <a:noFill/>
        </p:spPr>
        <p:txBody>
          <a:bodyPr wrap="square" rtlCol="0">
            <a:spAutoFit/>
          </a:bodyPr>
          <a:lstStyle/>
          <a:p>
            <a:pPr algn="ctr"/>
            <a:r>
              <a:rPr lang="en-US" b="1" dirty="0">
                <a:solidFill>
                  <a:srgbClr val="0070C0"/>
                </a:solidFill>
              </a:rPr>
              <a:t>Swap</a:t>
            </a:r>
          </a:p>
        </p:txBody>
      </p:sp>
      <p:sp>
        <p:nvSpPr>
          <p:cNvPr id="39" name="TextBox 38"/>
          <p:cNvSpPr txBox="1"/>
          <p:nvPr/>
        </p:nvSpPr>
        <p:spPr>
          <a:xfrm>
            <a:off x="613955" y="3370217"/>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10</a:t>
            </a:r>
          </a:p>
        </p:txBody>
      </p:sp>
      <p:sp>
        <p:nvSpPr>
          <p:cNvPr id="40" name="TextBox 39"/>
          <p:cNvSpPr txBox="1"/>
          <p:nvPr/>
        </p:nvSpPr>
        <p:spPr>
          <a:xfrm>
            <a:off x="1249680" y="3365862"/>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4</a:t>
            </a:r>
          </a:p>
        </p:txBody>
      </p:sp>
      <mc:AlternateContent xmlns:mc="http://schemas.openxmlformats.org/markup-compatibility/2006" xmlns:a14="http://schemas.microsoft.com/office/drawing/2010/main">
        <mc:Choice Requires="a14">
          <p:graphicFrame>
            <p:nvGraphicFramePr>
              <p:cNvPr id="42" name="Table 41"/>
              <p:cNvGraphicFramePr>
                <a:graphicFrameLocks noGrp="1"/>
              </p:cNvGraphicFramePr>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1</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2</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3</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4</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5</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9224174"/>
                      </a:ext>
                    </a:extLst>
                  </a:tr>
                </a:tbl>
              </a:graphicData>
            </a:graphic>
          </p:graphicFrame>
        </mc:Choice>
        <mc:Fallback xmlns="">
          <p:graphicFrame>
            <p:nvGraphicFramePr>
              <p:cNvPr id="42" name="Table 41"/>
              <p:cNvGraphicFramePr>
                <a:graphicFrameLocks noGrp="1"/>
              </p:cNvGraphicFramePr>
              <p:nvPr>
                <p:extLst>
                  <p:ext uri="{D42A27DB-BD31-4B8C-83A1-F6EECF244321}">
                    <p14:modId xmlns:p14="http://schemas.microsoft.com/office/powerpoint/2010/main" val="4146783920"/>
                  </p:ext>
                </p:extLst>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r="-406604"/>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90598" r="-268376"/>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214423" r="-20192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311429" r="-1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411429"/>
                          </a:stretch>
                        </a:blipFill>
                      </a:tcPr>
                    </a:tc>
                    <a:extLst>
                      <a:ext uri="{0D108BD9-81ED-4DB2-BD59-A6C34878D82A}">
                        <a16:rowId xmlns:a16="http://schemas.microsoft.com/office/drawing/2014/main" val="2199224174"/>
                      </a:ext>
                    </a:extLst>
                  </a:tr>
                </a:tbl>
              </a:graphicData>
            </a:graphic>
          </p:graphicFrame>
        </mc:Fallback>
      </mc:AlternateContent>
      <p:sp>
        <p:nvSpPr>
          <p:cNvPr id="29" name="TextBox 28"/>
          <p:cNvSpPr txBox="1"/>
          <p:nvPr/>
        </p:nvSpPr>
        <p:spPr>
          <a:xfrm>
            <a:off x="6864265" y="2684025"/>
            <a:ext cx="457200" cy="400110"/>
          </a:xfrm>
          <a:prstGeom prst="rect">
            <a:avLst/>
          </a:prstGeom>
          <a:solidFill>
            <a:srgbClr val="002060"/>
          </a:solidFill>
        </p:spPr>
        <p:txBody>
          <a:bodyPr wrap="square" rtlCol="0">
            <a:spAutoFit/>
          </a:bodyPr>
          <a:lstStyle/>
          <a:p>
            <a:pPr algn="ctr"/>
            <a:r>
              <a:rPr lang="en-US" sz="2000" b="1" dirty="0">
                <a:solidFill>
                  <a:schemeClr val="accent5"/>
                </a:solidFill>
              </a:rPr>
              <a:t>10</a:t>
            </a:r>
          </a:p>
        </p:txBody>
      </p:sp>
      <p:sp>
        <p:nvSpPr>
          <p:cNvPr id="30" name="TextBox 29"/>
          <p:cNvSpPr txBox="1"/>
          <p:nvPr/>
        </p:nvSpPr>
        <p:spPr>
          <a:xfrm>
            <a:off x="6289836" y="3680603"/>
            <a:ext cx="457200" cy="400110"/>
          </a:xfrm>
          <a:prstGeom prst="rect">
            <a:avLst/>
          </a:prstGeom>
          <a:solidFill>
            <a:srgbClr val="002060"/>
          </a:solidFill>
        </p:spPr>
        <p:txBody>
          <a:bodyPr wrap="square" rtlCol="0">
            <a:spAutoFit/>
          </a:bodyPr>
          <a:lstStyle/>
          <a:p>
            <a:pPr algn="ctr"/>
            <a:r>
              <a:rPr lang="en-US" sz="2000" b="1" dirty="0">
                <a:solidFill>
                  <a:schemeClr val="accent5"/>
                </a:solidFill>
              </a:rPr>
              <a:t>4</a:t>
            </a:r>
          </a:p>
        </p:txBody>
      </p:sp>
    </p:spTree>
    <p:extLst>
      <p:ext uri="{BB962C8B-B14F-4D97-AF65-F5344CB8AC3E}">
        <p14:creationId xmlns:p14="http://schemas.microsoft.com/office/powerpoint/2010/main" val="1495349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down)">
                                      <p:cBhvr>
                                        <p:cTn id="17" dur="500"/>
                                        <p:tgtEl>
                                          <p:spTgt spid="27"/>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up)">
                                      <p:cBhvr>
                                        <p:cTn id="20" dur="500"/>
                                        <p:tgtEl>
                                          <p:spTgt spid="2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500"/>
                                        <p:tgtEl>
                                          <p:spTgt spid="39"/>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4" grpId="0"/>
      <p:bldP spid="35" grpId="0" animBg="1"/>
      <p:bldP spid="36" grpId="0"/>
      <p:bldP spid="39" grpId="0" animBg="1"/>
      <p:bldP spid="40" grpId="0" animBg="1"/>
      <p:bldP spid="29" grpId="0" animBg="1"/>
      <p:bldP spid="3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Example 1</a:t>
            </a:r>
          </a:p>
        </p:txBody>
      </p:sp>
      <p:graphicFrame>
        <p:nvGraphicFramePr>
          <p:cNvPr id="4" name="Table 3"/>
          <p:cNvGraphicFramePr>
            <a:graphicFrameLocks noGrp="1"/>
          </p:cNvGraphicFramePr>
          <p:nvPr/>
        </p:nvGraphicFramePr>
        <p:xfrm>
          <a:off x="4466165" y="1528465"/>
          <a:ext cx="3259670" cy="45720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370840">
                <a:tc>
                  <a:txBody>
                    <a:bodyPr/>
                    <a:lstStyle/>
                    <a:p>
                      <a:pPr algn="ctr"/>
                      <a:r>
                        <a:rPr lang="en-US" sz="2400" dirty="0"/>
                        <a:t>4</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10</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5</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5" name="TextBox 4"/>
          <p:cNvSpPr txBox="1"/>
          <p:nvPr/>
        </p:nvSpPr>
        <p:spPr>
          <a:xfrm>
            <a:off x="3009900" y="990600"/>
            <a:ext cx="6172200" cy="461665"/>
          </a:xfrm>
          <a:prstGeom prst="rect">
            <a:avLst/>
          </a:prstGeom>
          <a:noFill/>
        </p:spPr>
        <p:txBody>
          <a:bodyPr wrap="square" rtlCol="0">
            <a:spAutoFit/>
          </a:bodyPr>
          <a:lstStyle/>
          <a:p>
            <a:r>
              <a:rPr lang="en-US" sz="2400" dirty="0"/>
              <a:t>Sort the following elements in Ascending order</a:t>
            </a:r>
          </a:p>
        </p:txBody>
      </p:sp>
      <p:cxnSp>
        <p:nvCxnSpPr>
          <p:cNvPr id="6" name="Straight Connector 5"/>
          <p:cNvCxnSpPr/>
          <p:nvPr/>
        </p:nvCxnSpPr>
        <p:spPr>
          <a:xfrm>
            <a:off x="609600" y="2286000"/>
            <a:ext cx="10972800" cy="0"/>
          </a:xfrm>
          <a:prstGeom prst="line">
            <a:avLst/>
          </a:prstGeom>
        </p:spPr>
        <p:style>
          <a:lnRef idx="1">
            <a:schemeClr val="dk1"/>
          </a:lnRef>
          <a:fillRef idx="0">
            <a:schemeClr val="dk1"/>
          </a:fillRef>
          <a:effectRef idx="0">
            <a:schemeClr val="dk1"/>
          </a:effectRef>
          <a:fontRef idx="minor">
            <a:schemeClr val="tx1"/>
          </a:fontRef>
        </p:style>
      </p:cxnSp>
      <p:graphicFrame>
        <p:nvGraphicFramePr>
          <p:cNvPr id="7" name="Table 6"/>
          <p:cNvGraphicFramePr>
            <a:graphicFrameLocks noGrp="1"/>
          </p:cNvGraphicFramePr>
          <p:nvPr/>
        </p:nvGraphicFramePr>
        <p:xfrm>
          <a:off x="550818" y="3313784"/>
          <a:ext cx="3259670" cy="54864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548640">
                <a:tc>
                  <a:txBody>
                    <a:bodyPr/>
                    <a:lstStyle/>
                    <a:p>
                      <a:pPr algn="ctr"/>
                      <a:r>
                        <a:rPr lang="en-US" sz="2400" dirty="0"/>
                        <a:t>10</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5</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cxnSp>
        <p:nvCxnSpPr>
          <p:cNvPr id="21" name="Straight Connector 20"/>
          <p:cNvCxnSpPr>
            <a:stCxn id="13" idx="3"/>
            <a:endCxn id="22" idx="0"/>
          </p:cNvCxnSpPr>
          <p:nvPr/>
        </p:nvCxnSpPr>
        <p:spPr>
          <a:xfrm flipH="1">
            <a:off x="6048488" y="4106960"/>
            <a:ext cx="243646" cy="65029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6772825" y="2592585"/>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10</a:t>
            </a:r>
          </a:p>
        </p:txBody>
      </p:sp>
      <p:cxnSp>
        <p:nvCxnSpPr>
          <p:cNvPr id="12" name="Straight Connector 11"/>
          <p:cNvCxnSpPr>
            <a:stCxn id="11" idx="3"/>
          </p:cNvCxnSpPr>
          <p:nvPr/>
        </p:nvCxnSpPr>
        <p:spPr>
          <a:xfrm flipH="1">
            <a:off x="6441141" y="3138927"/>
            <a:ext cx="425422" cy="518673"/>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6198396" y="356061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4</a:t>
            </a:r>
          </a:p>
        </p:txBody>
      </p:sp>
      <p:cxnSp>
        <p:nvCxnSpPr>
          <p:cNvPr id="15" name="Straight Connector 14"/>
          <p:cNvCxnSpPr>
            <a:stCxn id="11" idx="5"/>
            <a:endCxn id="16" idx="0"/>
          </p:cNvCxnSpPr>
          <p:nvPr/>
        </p:nvCxnSpPr>
        <p:spPr>
          <a:xfrm>
            <a:off x="7319167" y="3138927"/>
            <a:ext cx="383308" cy="42169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382435" y="356061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3</a:t>
            </a:r>
          </a:p>
        </p:txBody>
      </p:sp>
      <p:cxnSp>
        <p:nvCxnSpPr>
          <p:cNvPr id="31" name="Straight Connector 30"/>
          <p:cNvCxnSpPr/>
          <p:nvPr/>
        </p:nvCxnSpPr>
        <p:spPr>
          <a:xfrm>
            <a:off x="6744738" y="4120407"/>
            <a:ext cx="299204" cy="65029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5728448" y="475725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5</a:t>
            </a:r>
          </a:p>
        </p:txBody>
      </p:sp>
      <p:sp>
        <p:nvSpPr>
          <p:cNvPr id="32" name="Oval 31"/>
          <p:cNvSpPr/>
          <p:nvPr/>
        </p:nvSpPr>
        <p:spPr>
          <a:xfrm>
            <a:off x="6723902" y="475725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sp>
        <p:nvSpPr>
          <p:cNvPr id="24" name="TextBox 23"/>
          <p:cNvSpPr txBox="1"/>
          <p:nvPr/>
        </p:nvSpPr>
        <p:spPr>
          <a:xfrm>
            <a:off x="569874" y="4706468"/>
            <a:ext cx="3524794" cy="1200329"/>
          </a:xfrm>
          <a:prstGeom prst="rect">
            <a:avLst/>
          </a:prstGeom>
          <a:solidFill>
            <a:srgbClr val="FCE0EE"/>
          </a:solidFill>
        </p:spPr>
        <p:txBody>
          <a:bodyPr wrap="square" rtlCol="0">
            <a:spAutoFit/>
          </a:bodyPr>
          <a:lstStyle/>
          <a:p>
            <a:pPr algn="just"/>
            <a:r>
              <a:rPr lang="en-US" sz="2400" dirty="0">
                <a:solidFill>
                  <a:srgbClr val="A71160"/>
                </a:solidFill>
              </a:rPr>
              <a:t>In a Max Heap, parent node is always greater than or equal to the child nodes.</a:t>
            </a:r>
          </a:p>
        </p:txBody>
      </p:sp>
      <p:sp>
        <p:nvSpPr>
          <p:cNvPr id="25" name="TextBox 24"/>
          <p:cNvSpPr txBox="1"/>
          <p:nvPr/>
        </p:nvSpPr>
        <p:spPr>
          <a:xfrm>
            <a:off x="9067800" y="2699267"/>
            <a:ext cx="2514600" cy="707886"/>
          </a:xfrm>
          <a:prstGeom prst="rect">
            <a:avLst/>
          </a:prstGeom>
          <a:noFill/>
        </p:spPr>
        <p:txBody>
          <a:bodyPr wrap="square" rtlCol="0">
            <a:spAutoFit/>
          </a:bodyPr>
          <a:lstStyle/>
          <a:p>
            <a:r>
              <a:rPr lang="en-US" sz="2000" b="1" dirty="0"/>
              <a:t>5 is greater than 4</a:t>
            </a:r>
          </a:p>
          <a:p>
            <a:r>
              <a:rPr lang="en-US" sz="2000" b="1" dirty="0"/>
              <a:t>So, swap 5 &amp; 4</a:t>
            </a:r>
          </a:p>
        </p:txBody>
      </p:sp>
      <p:sp>
        <p:nvSpPr>
          <p:cNvPr id="26" name="Freeform 11"/>
          <p:cNvSpPr>
            <a:spLocks/>
          </p:cNvSpPr>
          <p:nvPr/>
        </p:nvSpPr>
        <p:spPr bwMode="auto">
          <a:xfrm rot="20912237">
            <a:off x="5788101" y="4145280"/>
            <a:ext cx="319927" cy="439114"/>
          </a:xfrm>
          <a:custGeom>
            <a:avLst/>
            <a:gdLst>
              <a:gd name="T0" fmla="*/ 0 w 162"/>
              <a:gd name="T1" fmla="*/ 264 h 264"/>
              <a:gd name="T2" fmla="*/ 30 w 162"/>
              <a:gd name="T3" fmla="*/ 162 h 264"/>
              <a:gd name="T4" fmla="*/ 90 w 162"/>
              <a:gd name="T5" fmla="*/ 66 h 264"/>
              <a:gd name="T6" fmla="*/ 162 w 162"/>
              <a:gd name="T7" fmla="*/ 0 h 264"/>
              <a:gd name="T8" fmla="*/ 0 60000 65536"/>
              <a:gd name="T9" fmla="*/ 0 60000 65536"/>
              <a:gd name="T10" fmla="*/ 0 60000 65536"/>
              <a:gd name="T11" fmla="*/ 0 60000 65536"/>
              <a:gd name="T12" fmla="*/ 0 w 162"/>
              <a:gd name="T13" fmla="*/ 0 h 264"/>
              <a:gd name="T14" fmla="*/ 162 w 162"/>
              <a:gd name="T15" fmla="*/ 264 h 264"/>
            </a:gdLst>
            <a:ahLst/>
            <a:cxnLst>
              <a:cxn ang="T8">
                <a:pos x="T0" y="T1"/>
              </a:cxn>
              <a:cxn ang="T9">
                <a:pos x="T2" y="T3"/>
              </a:cxn>
              <a:cxn ang="T10">
                <a:pos x="T4" y="T5"/>
              </a:cxn>
              <a:cxn ang="T11">
                <a:pos x="T6" y="T7"/>
              </a:cxn>
            </a:cxnLst>
            <a:rect l="T12" t="T13" r="T14" b="T15"/>
            <a:pathLst>
              <a:path w="162" h="264">
                <a:moveTo>
                  <a:pt x="0" y="264"/>
                </a:moveTo>
                <a:cubicBezTo>
                  <a:pt x="5" y="247"/>
                  <a:pt x="15" y="195"/>
                  <a:pt x="30" y="162"/>
                </a:cubicBezTo>
                <a:cubicBezTo>
                  <a:pt x="45" y="129"/>
                  <a:pt x="68" y="93"/>
                  <a:pt x="90" y="66"/>
                </a:cubicBezTo>
                <a:cubicBezTo>
                  <a:pt x="112" y="39"/>
                  <a:pt x="147" y="14"/>
                  <a:pt x="162" y="0"/>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12"/>
          <p:cNvSpPr>
            <a:spLocks/>
          </p:cNvSpPr>
          <p:nvPr/>
        </p:nvSpPr>
        <p:spPr bwMode="auto">
          <a:xfrm>
            <a:off x="6307183" y="4297682"/>
            <a:ext cx="224245" cy="481840"/>
          </a:xfrm>
          <a:custGeom>
            <a:avLst/>
            <a:gdLst>
              <a:gd name="T0" fmla="*/ 156 w 170"/>
              <a:gd name="T1" fmla="*/ 0 h 258"/>
              <a:gd name="T2" fmla="*/ 144 w 170"/>
              <a:gd name="T3" fmla="*/ 126 h 258"/>
              <a:gd name="T4" fmla="*/ 0 w 170"/>
              <a:gd name="T5" fmla="*/ 258 h 258"/>
              <a:gd name="T6" fmla="*/ 0 60000 65536"/>
              <a:gd name="T7" fmla="*/ 0 60000 65536"/>
              <a:gd name="T8" fmla="*/ 0 60000 65536"/>
              <a:gd name="T9" fmla="*/ 0 w 170"/>
              <a:gd name="T10" fmla="*/ 0 h 258"/>
              <a:gd name="T11" fmla="*/ 170 w 170"/>
              <a:gd name="T12" fmla="*/ 258 h 258"/>
            </a:gdLst>
            <a:ahLst/>
            <a:cxnLst>
              <a:cxn ang="T6">
                <a:pos x="T0" y="T1"/>
              </a:cxn>
              <a:cxn ang="T7">
                <a:pos x="T2" y="T3"/>
              </a:cxn>
              <a:cxn ang="T8">
                <a:pos x="T4" y="T5"/>
              </a:cxn>
            </a:cxnLst>
            <a:rect l="T9" t="T10" r="T11" b="T12"/>
            <a:pathLst>
              <a:path w="170" h="258">
                <a:moveTo>
                  <a:pt x="156" y="0"/>
                </a:moveTo>
                <a:cubicBezTo>
                  <a:pt x="154" y="21"/>
                  <a:pt x="170" y="83"/>
                  <a:pt x="144" y="126"/>
                </a:cubicBezTo>
                <a:cubicBezTo>
                  <a:pt x="118" y="169"/>
                  <a:pt x="30" y="231"/>
                  <a:pt x="0" y="258"/>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27"/>
          <p:cNvSpPr/>
          <p:nvPr/>
        </p:nvSpPr>
        <p:spPr>
          <a:xfrm>
            <a:off x="1515265" y="3892843"/>
            <a:ext cx="1236644" cy="167243"/>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w="19050">
            <a:solidFill>
              <a:srgbClr val="ED524F"/>
            </a:solidFill>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9" name="TextBox 28"/>
          <p:cNvSpPr txBox="1"/>
          <p:nvPr/>
        </p:nvSpPr>
        <p:spPr>
          <a:xfrm>
            <a:off x="1707206" y="4014046"/>
            <a:ext cx="762000" cy="369332"/>
          </a:xfrm>
          <a:prstGeom prst="rect">
            <a:avLst/>
          </a:prstGeom>
          <a:noFill/>
        </p:spPr>
        <p:txBody>
          <a:bodyPr wrap="square" rtlCol="0">
            <a:spAutoFit/>
          </a:bodyPr>
          <a:lstStyle/>
          <a:p>
            <a:pPr algn="ctr"/>
            <a:r>
              <a:rPr lang="en-US" b="1" dirty="0">
                <a:solidFill>
                  <a:srgbClr val="0070C0"/>
                </a:solidFill>
              </a:rPr>
              <a:t>Swap</a:t>
            </a:r>
          </a:p>
        </p:txBody>
      </p:sp>
      <p:sp>
        <p:nvSpPr>
          <p:cNvPr id="35" name="TextBox 34"/>
          <p:cNvSpPr txBox="1"/>
          <p:nvPr/>
        </p:nvSpPr>
        <p:spPr>
          <a:xfrm>
            <a:off x="2542903" y="3352799"/>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4</a:t>
            </a:r>
          </a:p>
        </p:txBody>
      </p:sp>
      <p:sp>
        <p:nvSpPr>
          <p:cNvPr id="36" name="TextBox 35"/>
          <p:cNvSpPr txBox="1"/>
          <p:nvPr/>
        </p:nvSpPr>
        <p:spPr>
          <a:xfrm>
            <a:off x="1236617" y="3352799"/>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5</a:t>
            </a:r>
          </a:p>
        </p:txBody>
      </p:sp>
      <p:sp>
        <p:nvSpPr>
          <p:cNvPr id="37" name="Oval 36"/>
          <p:cNvSpPr/>
          <p:nvPr/>
        </p:nvSpPr>
        <p:spPr>
          <a:xfrm>
            <a:off x="6662057" y="2494586"/>
            <a:ext cx="822960" cy="822960"/>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6101119" y="3458851"/>
            <a:ext cx="822960" cy="822960"/>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5409112" y="5569750"/>
            <a:ext cx="2755174" cy="461665"/>
          </a:xfrm>
          <a:prstGeom prst="rect">
            <a:avLst/>
          </a:prstGeom>
          <a:noFill/>
          <a:ln>
            <a:solidFill>
              <a:schemeClr val="accent5"/>
            </a:solidFill>
          </a:ln>
        </p:spPr>
        <p:txBody>
          <a:bodyPr wrap="square" rtlCol="0">
            <a:spAutoFit/>
          </a:bodyPr>
          <a:lstStyle/>
          <a:p>
            <a:pPr algn="ctr"/>
            <a:r>
              <a:rPr lang="en-US" sz="2400" dirty="0">
                <a:solidFill>
                  <a:srgbClr val="A71160"/>
                </a:solidFill>
              </a:rPr>
              <a:t>Max Heap is created</a:t>
            </a:r>
          </a:p>
        </p:txBody>
      </p:sp>
      <p:sp>
        <p:nvSpPr>
          <p:cNvPr id="40" name="TextBox 39"/>
          <p:cNvSpPr txBox="1"/>
          <p:nvPr/>
        </p:nvSpPr>
        <p:spPr>
          <a:xfrm>
            <a:off x="609594" y="2303041"/>
            <a:ext cx="2781531" cy="400110"/>
          </a:xfrm>
          <a:prstGeom prst="rect">
            <a:avLst/>
          </a:prstGeom>
          <a:noFill/>
          <a:ln w="28575">
            <a:solidFill>
              <a:schemeClr val="tx1"/>
            </a:solidFill>
          </a:ln>
        </p:spPr>
        <p:txBody>
          <a:bodyPr wrap="none" rtlCol="0">
            <a:spAutoFit/>
          </a:bodyPr>
          <a:lstStyle/>
          <a:p>
            <a:r>
              <a:rPr lang="en-IN" sz="2000" b="1" dirty="0"/>
              <a:t>Step 2 : Create Max Heap</a:t>
            </a:r>
            <a:endParaRPr lang="en-US" sz="2000" b="1" dirty="0"/>
          </a:p>
        </p:txBody>
      </p:sp>
      <mc:AlternateContent xmlns:mc="http://schemas.openxmlformats.org/markup-compatibility/2006" xmlns:a14="http://schemas.microsoft.com/office/drawing/2010/main">
        <mc:Choice Requires="a14">
          <p:graphicFrame>
            <p:nvGraphicFramePr>
              <p:cNvPr id="41" name="Table 40"/>
              <p:cNvGraphicFramePr>
                <a:graphicFrameLocks noGrp="1"/>
              </p:cNvGraphicFramePr>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1</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2</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3</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4</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5</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9224174"/>
                      </a:ext>
                    </a:extLst>
                  </a:tr>
                </a:tbl>
              </a:graphicData>
            </a:graphic>
          </p:graphicFrame>
        </mc:Choice>
        <mc:Fallback xmlns="">
          <p:graphicFrame>
            <p:nvGraphicFramePr>
              <p:cNvPr id="41" name="Table 40"/>
              <p:cNvGraphicFramePr>
                <a:graphicFrameLocks noGrp="1"/>
              </p:cNvGraphicFramePr>
              <p:nvPr>
                <p:extLst>
                  <p:ext uri="{D42A27DB-BD31-4B8C-83A1-F6EECF244321}">
                    <p14:modId xmlns:p14="http://schemas.microsoft.com/office/powerpoint/2010/main" val="3275512645"/>
                  </p:ext>
                </p:extLst>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r="-406604"/>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90598" r="-268376"/>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214423" r="-20192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311429" r="-1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411429"/>
                          </a:stretch>
                        </a:blipFill>
                      </a:tcPr>
                    </a:tc>
                    <a:extLst>
                      <a:ext uri="{0D108BD9-81ED-4DB2-BD59-A6C34878D82A}">
                        <a16:rowId xmlns:a16="http://schemas.microsoft.com/office/drawing/2014/main" val="2199224174"/>
                      </a:ext>
                    </a:extLst>
                  </a:tr>
                </a:tbl>
              </a:graphicData>
            </a:graphic>
          </p:graphicFrame>
        </mc:Fallback>
      </mc:AlternateContent>
      <p:sp>
        <p:nvSpPr>
          <p:cNvPr id="42" name="TextBox 41"/>
          <p:cNvSpPr txBox="1"/>
          <p:nvPr/>
        </p:nvSpPr>
        <p:spPr>
          <a:xfrm>
            <a:off x="6289836" y="3680603"/>
            <a:ext cx="457200" cy="400110"/>
          </a:xfrm>
          <a:prstGeom prst="rect">
            <a:avLst/>
          </a:prstGeom>
          <a:solidFill>
            <a:srgbClr val="002060"/>
          </a:solidFill>
        </p:spPr>
        <p:txBody>
          <a:bodyPr wrap="square" rtlCol="0">
            <a:spAutoFit/>
          </a:bodyPr>
          <a:lstStyle/>
          <a:p>
            <a:pPr algn="ctr"/>
            <a:r>
              <a:rPr lang="en-US" sz="2000" b="1" dirty="0">
                <a:solidFill>
                  <a:schemeClr val="accent5"/>
                </a:solidFill>
              </a:rPr>
              <a:t>5</a:t>
            </a:r>
          </a:p>
        </p:txBody>
      </p:sp>
      <p:sp>
        <p:nvSpPr>
          <p:cNvPr id="43" name="TextBox 42"/>
          <p:cNvSpPr txBox="1"/>
          <p:nvPr/>
        </p:nvSpPr>
        <p:spPr>
          <a:xfrm>
            <a:off x="5819888" y="4877243"/>
            <a:ext cx="457200" cy="400110"/>
          </a:xfrm>
          <a:prstGeom prst="rect">
            <a:avLst/>
          </a:prstGeom>
          <a:solidFill>
            <a:srgbClr val="002060"/>
          </a:solidFill>
        </p:spPr>
        <p:txBody>
          <a:bodyPr wrap="square" rtlCol="0">
            <a:spAutoFit/>
          </a:bodyPr>
          <a:lstStyle/>
          <a:p>
            <a:pPr algn="ctr"/>
            <a:r>
              <a:rPr lang="en-US" sz="2000" b="1" dirty="0">
                <a:solidFill>
                  <a:schemeClr val="accent5"/>
                </a:solidFill>
              </a:rPr>
              <a:t>4</a:t>
            </a:r>
          </a:p>
        </p:txBody>
      </p:sp>
    </p:spTree>
    <p:extLst>
      <p:ext uri="{BB962C8B-B14F-4D97-AF65-F5344CB8AC3E}">
        <p14:creationId xmlns:p14="http://schemas.microsoft.com/office/powerpoint/2010/main" val="197025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down)">
                                      <p:cBhvr>
                                        <p:cTn id="12" dur="500"/>
                                        <p:tgtEl>
                                          <p:spTgt spid="2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up)">
                                      <p:cBhvr>
                                        <p:cTn id="16" dur="500"/>
                                        <p:tgtEl>
                                          <p:spTgt spid="2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500"/>
                                        <p:tgtEl>
                                          <p:spTgt spid="2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fade">
                                      <p:cBhvr>
                                        <p:cTn id="29" dur="500"/>
                                        <p:tgtEl>
                                          <p:spTgt spid="42"/>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500"/>
                                        <p:tgtEl>
                                          <p:spTgt spid="4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500"/>
                                        <p:tgtEl>
                                          <p:spTgt spid="35"/>
                                        </p:tgtEl>
                                      </p:cBhvr>
                                    </p:animEffect>
                                  </p:childTnLst>
                                </p:cTn>
                              </p:par>
                            </p:childTnLst>
                          </p:cTn>
                        </p:par>
                        <p:par>
                          <p:cTn id="39" fill="hold">
                            <p:stCondLst>
                              <p:cond delay="500"/>
                            </p:stCondLst>
                            <p:childTnLst>
                              <p:par>
                                <p:cTn id="40" presetID="10" presetClass="entr" presetSubtype="0" fill="hold" grpId="0" nodeType="after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50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25"/>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26"/>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27"/>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29"/>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28"/>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21" presetClass="entr" presetSubtype="1" fill="hold" grpId="0" nodeType="click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wheel(1)">
                                      <p:cBhvr>
                                        <p:cTn id="59" dur="2000"/>
                                        <p:tgtEl>
                                          <p:spTgt spid="37"/>
                                        </p:tgtEl>
                                      </p:cBhvr>
                                    </p:animEffect>
                                  </p:childTnLst>
                                </p:cTn>
                              </p:par>
                              <p:par>
                                <p:cTn id="60" presetID="21" presetClass="entr" presetSubtype="1" fill="hold" grpId="0" nodeType="withEffect">
                                  <p:stCondLst>
                                    <p:cond delay="0"/>
                                  </p:stCondLst>
                                  <p:childTnLst>
                                    <p:set>
                                      <p:cBhvr>
                                        <p:cTn id="61" dur="1" fill="hold">
                                          <p:stCondLst>
                                            <p:cond delay="0"/>
                                          </p:stCondLst>
                                        </p:cTn>
                                        <p:tgtEl>
                                          <p:spTgt spid="38"/>
                                        </p:tgtEl>
                                        <p:attrNameLst>
                                          <p:attrName>style.visibility</p:attrName>
                                        </p:attrNameLst>
                                      </p:cBhvr>
                                      <p:to>
                                        <p:strVal val="visible"/>
                                      </p:to>
                                    </p:set>
                                    <p:animEffect transition="in" filter="wheel(1)">
                                      <p:cBhvr>
                                        <p:cTn id="62" dur="2000"/>
                                        <p:tgtEl>
                                          <p:spTgt spid="3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fade">
                                      <p:cBhvr>
                                        <p:cTn id="6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5" grpId="1"/>
      <p:bldP spid="26" grpId="0" animBg="1"/>
      <p:bldP spid="26" grpId="1" animBg="1"/>
      <p:bldP spid="27" grpId="0" animBg="1"/>
      <p:bldP spid="27" grpId="1" animBg="1"/>
      <p:bldP spid="28" grpId="0" animBg="1"/>
      <p:bldP spid="28" grpId="1" animBg="1"/>
      <p:bldP spid="29" grpId="0"/>
      <p:bldP spid="29" grpId="1"/>
      <p:bldP spid="35" grpId="0" animBg="1"/>
      <p:bldP spid="36" grpId="0" animBg="1"/>
      <p:bldP spid="37" grpId="0" animBg="1"/>
      <p:bldP spid="38" grpId="0" animBg="1"/>
      <p:bldP spid="39" grpId="0" animBg="1"/>
      <p:bldP spid="42" grpId="0" animBg="1"/>
      <p:bldP spid="4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Example 1</a:t>
            </a:r>
          </a:p>
        </p:txBody>
      </p:sp>
      <p:graphicFrame>
        <p:nvGraphicFramePr>
          <p:cNvPr id="4" name="Table 3"/>
          <p:cNvGraphicFramePr>
            <a:graphicFrameLocks noGrp="1"/>
          </p:cNvGraphicFramePr>
          <p:nvPr/>
        </p:nvGraphicFramePr>
        <p:xfrm>
          <a:off x="4466165" y="1528465"/>
          <a:ext cx="3259670" cy="45720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370840">
                <a:tc>
                  <a:txBody>
                    <a:bodyPr/>
                    <a:lstStyle/>
                    <a:p>
                      <a:pPr algn="ctr"/>
                      <a:r>
                        <a:rPr lang="en-US" sz="2400" dirty="0"/>
                        <a:t>4</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10</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5</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5" name="TextBox 4"/>
          <p:cNvSpPr txBox="1"/>
          <p:nvPr/>
        </p:nvSpPr>
        <p:spPr>
          <a:xfrm>
            <a:off x="3009900" y="990600"/>
            <a:ext cx="6172200" cy="461665"/>
          </a:xfrm>
          <a:prstGeom prst="rect">
            <a:avLst/>
          </a:prstGeom>
          <a:noFill/>
        </p:spPr>
        <p:txBody>
          <a:bodyPr wrap="square" rtlCol="0">
            <a:spAutoFit/>
          </a:bodyPr>
          <a:lstStyle/>
          <a:p>
            <a:r>
              <a:rPr lang="en-US" sz="2400" dirty="0"/>
              <a:t>Sort the following elements in Ascending order</a:t>
            </a:r>
          </a:p>
        </p:txBody>
      </p:sp>
      <p:cxnSp>
        <p:nvCxnSpPr>
          <p:cNvPr id="6" name="Straight Connector 5"/>
          <p:cNvCxnSpPr/>
          <p:nvPr/>
        </p:nvCxnSpPr>
        <p:spPr>
          <a:xfrm>
            <a:off x="609600" y="2286000"/>
            <a:ext cx="10972800"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p:cNvCxnSpPr>
            <a:stCxn id="11" idx="3"/>
            <a:endCxn id="13" idx="0"/>
          </p:cNvCxnSpPr>
          <p:nvPr/>
        </p:nvCxnSpPr>
        <p:spPr>
          <a:xfrm flipH="1">
            <a:off x="6518436" y="3138927"/>
            <a:ext cx="348127" cy="42169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7" name="Table 6"/>
          <p:cNvGraphicFramePr>
            <a:graphicFrameLocks noGrp="1"/>
          </p:cNvGraphicFramePr>
          <p:nvPr/>
        </p:nvGraphicFramePr>
        <p:xfrm>
          <a:off x="537755" y="3313784"/>
          <a:ext cx="3259670" cy="54864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548640">
                <a:tc>
                  <a:txBody>
                    <a:bodyPr/>
                    <a:lstStyle/>
                    <a:p>
                      <a:pPr algn="ctr"/>
                      <a:r>
                        <a:rPr lang="en-US" sz="2400" dirty="0"/>
                        <a:t>10</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5</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cxnSp>
        <p:nvCxnSpPr>
          <p:cNvPr id="15" name="Straight Connector 14"/>
          <p:cNvCxnSpPr>
            <a:stCxn id="11" idx="5"/>
            <a:endCxn id="16" idx="0"/>
          </p:cNvCxnSpPr>
          <p:nvPr/>
        </p:nvCxnSpPr>
        <p:spPr>
          <a:xfrm>
            <a:off x="7319167" y="3138927"/>
            <a:ext cx="383308" cy="42169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6772825" y="2592585"/>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10</a:t>
            </a:r>
          </a:p>
        </p:txBody>
      </p:sp>
      <p:sp>
        <p:nvSpPr>
          <p:cNvPr id="13" name="Oval 12"/>
          <p:cNvSpPr/>
          <p:nvPr/>
        </p:nvSpPr>
        <p:spPr>
          <a:xfrm>
            <a:off x="6198396" y="356061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5</a:t>
            </a:r>
          </a:p>
        </p:txBody>
      </p:sp>
      <p:cxnSp>
        <p:nvCxnSpPr>
          <p:cNvPr id="31" name="Straight Connector 30"/>
          <p:cNvCxnSpPr/>
          <p:nvPr/>
        </p:nvCxnSpPr>
        <p:spPr>
          <a:xfrm>
            <a:off x="6705165" y="4121943"/>
            <a:ext cx="283964" cy="650299"/>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382435" y="356061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3</a:t>
            </a:r>
          </a:p>
        </p:txBody>
      </p:sp>
      <p:cxnSp>
        <p:nvCxnSpPr>
          <p:cNvPr id="21" name="Straight Connector 20"/>
          <p:cNvCxnSpPr>
            <a:stCxn id="13" idx="3"/>
            <a:endCxn id="22" idx="0"/>
          </p:cNvCxnSpPr>
          <p:nvPr/>
        </p:nvCxnSpPr>
        <p:spPr>
          <a:xfrm flipH="1">
            <a:off x="6048488" y="4106960"/>
            <a:ext cx="243646" cy="65029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5728448" y="475725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4</a:t>
            </a:r>
          </a:p>
        </p:txBody>
      </p:sp>
      <p:sp>
        <p:nvSpPr>
          <p:cNvPr id="32" name="Oval 31"/>
          <p:cNvSpPr/>
          <p:nvPr/>
        </p:nvSpPr>
        <p:spPr>
          <a:xfrm>
            <a:off x="6723902" y="475725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sp>
        <p:nvSpPr>
          <p:cNvPr id="24" name="TextBox 23"/>
          <p:cNvSpPr txBox="1"/>
          <p:nvPr/>
        </p:nvSpPr>
        <p:spPr>
          <a:xfrm>
            <a:off x="569874" y="4706468"/>
            <a:ext cx="3524794" cy="1200329"/>
          </a:xfrm>
          <a:prstGeom prst="rect">
            <a:avLst/>
          </a:prstGeom>
          <a:solidFill>
            <a:srgbClr val="FCE0EE"/>
          </a:solidFill>
        </p:spPr>
        <p:txBody>
          <a:bodyPr wrap="square" rtlCol="0">
            <a:spAutoFit/>
          </a:bodyPr>
          <a:lstStyle/>
          <a:p>
            <a:pPr marL="457200" indent="-457200" algn="just">
              <a:buAutoNum type="arabicPeriod"/>
            </a:pPr>
            <a:r>
              <a:rPr lang="en-US" sz="2400" dirty="0">
                <a:solidFill>
                  <a:srgbClr val="A71160"/>
                </a:solidFill>
              </a:rPr>
              <a:t>Swap the first and the last nodes and </a:t>
            </a:r>
          </a:p>
          <a:p>
            <a:pPr marL="457200" indent="-457200" algn="just">
              <a:buAutoNum type="arabicPeriod"/>
            </a:pPr>
            <a:r>
              <a:rPr lang="en-US" sz="2400" dirty="0">
                <a:solidFill>
                  <a:srgbClr val="A71160"/>
                </a:solidFill>
              </a:rPr>
              <a:t>Delete the last node.</a:t>
            </a:r>
          </a:p>
        </p:txBody>
      </p:sp>
      <p:sp>
        <p:nvSpPr>
          <p:cNvPr id="40" name="TextBox 39"/>
          <p:cNvSpPr txBox="1"/>
          <p:nvPr/>
        </p:nvSpPr>
        <p:spPr>
          <a:xfrm>
            <a:off x="609594" y="2303041"/>
            <a:ext cx="2690160" cy="400110"/>
          </a:xfrm>
          <a:prstGeom prst="rect">
            <a:avLst/>
          </a:prstGeom>
          <a:noFill/>
          <a:ln w="28575">
            <a:solidFill>
              <a:schemeClr val="tx1"/>
            </a:solidFill>
          </a:ln>
        </p:spPr>
        <p:txBody>
          <a:bodyPr wrap="none" rtlCol="0">
            <a:spAutoFit/>
          </a:bodyPr>
          <a:lstStyle/>
          <a:p>
            <a:r>
              <a:rPr lang="en-IN" sz="2000" b="1" dirty="0"/>
              <a:t>Step 3 : Apply Heap Sort</a:t>
            </a:r>
            <a:endParaRPr lang="en-US" sz="2000" b="1" dirty="0"/>
          </a:p>
        </p:txBody>
      </p:sp>
      <mc:AlternateContent xmlns:mc="http://schemas.openxmlformats.org/markup-compatibility/2006" xmlns:a14="http://schemas.microsoft.com/office/drawing/2010/main">
        <mc:Choice Requires="a14">
          <p:graphicFrame>
            <p:nvGraphicFramePr>
              <p:cNvPr id="41" name="Table 40"/>
              <p:cNvGraphicFramePr>
                <a:graphicFrameLocks noGrp="1"/>
              </p:cNvGraphicFramePr>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1</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2</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3</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4</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5</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9224174"/>
                      </a:ext>
                    </a:extLst>
                  </a:tr>
                </a:tbl>
              </a:graphicData>
            </a:graphic>
          </p:graphicFrame>
        </mc:Choice>
        <mc:Fallback xmlns="">
          <p:graphicFrame>
            <p:nvGraphicFramePr>
              <p:cNvPr id="41" name="Table 40"/>
              <p:cNvGraphicFramePr>
                <a:graphicFrameLocks noGrp="1"/>
              </p:cNvGraphicFramePr>
              <p:nvPr>
                <p:extLst>
                  <p:ext uri="{D42A27DB-BD31-4B8C-83A1-F6EECF244321}">
                    <p14:modId xmlns:p14="http://schemas.microsoft.com/office/powerpoint/2010/main" val="3275512645"/>
                  </p:ext>
                </p:extLst>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r="-406604"/>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90598" r="-268376"/>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214423" r="-20192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311429" r="-1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411429"/>
                          </a:stretch>
                        </a:blipFill>
                      </a:tcPr>
                    </a:tc>
                    <a:extLst>
                      <a:ext uri="{0D108BD9-81ED-4DB2-BD59-A6C34878D82A}">
                        <a16:rowId xmlns:a16="http://schemas.microsoft.com/office/drawing/2014/main" val="2199224174"/>
                      </a:ext>
                    </a:extLst>
                  </a:tr>
                </a:tbl>
              </a:graphicData>
            </a:graphic>
          </p:graphicFrame>
        </mc:Fallback>
      </mc:AlternateContent>
      <p:sp>
        <p:nvSpPr>
          <p:cNvPr id="19" name="Freeform 18"/>
          <p:cNvSpPr/>
          <p:nvPr/>
        </p:nvSpPr>
        <p:spPr>
          <a:xfrm>
            <a:off x="873029" y="3898119"/>
            <a:ext cx="2590800" cy="175025"/>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w="19050">
            <a:solidFill>
              <a:srgbClr val="ED524F"/>
            </a:solidFill>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0" name="TextBox 19"/>
          <p:cNvSpPr txBox="1"/>
          <p:nvPr/>
        </p:nvSpPr>
        <p:spPr>
          <a:xfrm>
            <a:off x="1733326" y="4053230"/>
            <a:ext cx="762000" cy="369332"/>
          </a:xfrm>
          <a:prstGeom prst="rect">
            <a:avLst/>
          </a:prstGeom>
          <a:noFill/>
        </p:spPr>
        <p:txBody>
          <a:bodyPr wrap="square" rtlCol="0">
            <a:spAutoFit/>
          </a:bodyPr>
          <a:lstStyle/>
          <a:p>
            <a:pPr algn="ctr"/>
            <a:r>
              <a:rPr lang="en-US" b="1" dirty="0">
                <a:solidFill>
                  <a:srgbClr val="0070C0"/>
                </a:solidFill>
              </a:rPr>
              <a:t>Swap</a:t>
            </a:r>
          </a:p>
        </p:txBody>
      </p:sp>
      <p:cxnSp>
        <p:nvCxnSpPr>
          <p:cNvPr id="8" name="Straight Arrow Connector 7"/>
          <p:cNvCxnSpPr/>
          <p:nvPr/>
        </p:nvCxnSpPr>
        <p:spPr>
          <a:xfrm>
            <a:off x="7105927" y="3297979"/>
            <a:ext cx="13329" cy="1378524"/>
          </a:xfrm>
          <a:prstGeom prst="straightConnector1">
            <a:avLst/>
          </a:prstGeom>
          <a:ln w="19050">
            <a:solidFill>
              <a:srgbClr val="ED524F"/>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199888" y="3366245"/>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10</a:t>
            </a:r>
          </a:p>
        </p:txBody>
      </p:sp>
      <p:sp>
        <p:nvSpPr>
          <p:cNvPr id="28" name="TextBox 27"/>
          <p:cNvSpPr txBox="1"/>
          <p:nvPr/>
        </p:nvSpPr>
        <p:spPr>
          <a:xfrm>
            <a:off x="604608" y="3366246"/>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1</a:t>
            </a:r>
          </a:p>
        </p:txBody>
      </p:sp>
      <p:sp>
        <p:nvSpPr>
          <p:cNvPr id="29" name="TextBox 28"/>
          <p:cNvSpPr txBox="1"/>
          <p:nvPr/>
        </p:nvSpPr>
        <p:spPr>
          <a:xfrm>
            <a:off x="6864265" y="2684025"/>
            <a:ext cx="457200" cy="400110"/>
          </a:xfrm>
          <a:prstGeom prst="rect">
            <a:avLst/>
          </a:prstGeom>
          <a:solidFill>
            <a:srgbClr val="002060"/>
          </a:solidFill>
        </p:spPr>
        <p:txBody>
          <a:bodyPr wrap="square" rtlCol="0">
            <a:spAutoFit/>
          </a:bodyPr>
          <a:lstStyle/>
          <a:p>
            <a:pPr algn="ctr"/>
            <a:r>
              <a:rPr lang="en-US" sz="2000" b="1" dirty="0">
                <a:solidFill>
                  <a:schemeClr val="accent5"/>
                </a:solidFill>
              </a:rPr>
              <a:t>1</a:t>
            </a:r>
          </a:p>
        </p:txBody>
      </p:sp>
      <p:sp>
        <p:nvSpPr>
          <p:cNvPr id="30" name="TextBox 29"/>
          <p:cNvSpPr txBox="1"/>
          <p:nvPr/>
        </p:nvSpPr>
        <p:spPr>
          <a:xfrm>
            <a:off x="6815342" y="4877243"/>
            <a:ext cx="457200" cy="400110"/>
          </a:xfrm>
          <a:prstGeom prst="rect">
            <a:avLst/>
          </a:prstGeom>
          <a:solidFill>
            <a:srgbClr val="002060"/>
          </a:solidFill>
        </p:spPr>
        <p:txBody>
          <a:bodyPr wrap="square" rtlCol="0">
            <a:spAutoFit/>
          </a:bodyPr>
          <a:lstStyle/>
          <a:p>
            <a:pPr algn="ctr"/>
            <a:r>
              <a:rPr lang="en-US" sz="2000" b="1" dirty="0">
                <a:solidFill>
                  <a:schemeClr val="accent5"/>
                </a:solidFill>
              </a:rPr>
              <a:t>10</a:t>
            </a:r>
          </a:p>
        </p:txBody>
      </p:sp>
    </p:spTree>
    <p:extLst>
      <p:ext uri="{BB962C8B-B14F-4D97-AF65-F5344CB8AC3E}">
        <p14:creationId xmlns:p14="http://schemas.microsoft.com/office/powerpoint/2010/main" val="3623676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4">
                                            <p:txEl>
                                              <p:pRg st="0" end="0"/>
                                            </p:txEl>
                                          </p:spTgt>
                                        </p:tgtEl>
                                        <p:attrNameLst>
                                          <p:attrName>style.visibility</p:attrName>
                                        </p:attrNameLst>
                                      </p:cBhvr>
                                      <p:to>
                                        <p:strVal val="visible"/>
                                      </p:to>
                                    </p:set>
                                    <p:animEffect transition="in" filter="fade">
                                      <p:cBhvr>
                                        <p:cTn id="10" dur="500"/>
                                        <p:tgtEl>
                                          <p:spTgt spid="2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par>
                          <p:cTn id="16" fill="hold">
                            <p:stCondLst>
                              <p:cond delay="500"/>
                            </p:stCondLst>
                            <p:childTnLst>
                              <p:par>
                                <p:cTn id="17" presetID="22" presetClass="entr" presetSubtype="4"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down)">
                                      <p:cBhvr>
                                        <p:cTn id="19" dur="1500"/>
                                        <p:tgtEl>
                                          <p:spTgt spid="19"/>
                                        </p:tgtEl>
                                      </p:cBhvr>
                                    </p:animEffect>
                                  </p:childTnLst>
                                </p:cTn>
                              </p:par>
                            </p:childTnLst>
                          </p:cTn>
                        </p:par>
                        <p:par>
                          <p:cTn id="20" fill="hold">
                            <p:stCondLst>
                              <p:cond delay="2000"/>
                            </p:stCondLst>
                            <p:childTnLst>
                              <p:par>
                                <p:cTn id="21" presetID="6" presetClass="entr" presetSubtype="32"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circle(out)">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500"/>
                                        <p:tgtEl>
                                          <p:spTgt spid="29"/>
                                        </p:tgtEl>
                                      </p:cBhvr>
                                    </p:animEffect>
                                  </p:childTnLst>
                                </p:cTn>
                              </p:par>
                            </p:childTnLst>
                          </p:cTn>
                        </p:par>
                        <p:par>
                          <p:cTn id="29"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childTnLst>
                          </p:cTn>
                        </p:par>
                        <p:par>
                          <p:cTn id="38" fill="hold">
                            <p:stCondLst>
                              <p:cond delay="500"/>
                            </p:stCondLst>
                            <p:childTnLst>
                              <p:par>
                                <p:cTn id="39" presetID="10"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4">
                                            <p:txEl>
                                              <p:pRg st="1" end="1"/>
                                            </p:txEl>
                                          </p:spTgt>
                                        </p:tgtEl>
                                        <p:attrNameLst>
                                          <p:attrName>style.visibility</p:attrName>
                                        </p:attrNameLst>
                                      </p:cBhvr>
                                      <p:to>
                                        <p:strVal val="visible"/>
                                      </p:to>
                                    </p:set>
                                    <p:animEffect transition="in" filter="fade">
                                      <p:cBhvr>
                                        <p:cTn id="46" dur="500"/>
                                        <p:tgtEl>
                                          <p:spTgt spid="24">
                                            <p:txEl>
                                              <p:pRg st="1" end="1"/>
                                            </p:txEl>
                                          </p:spTgt>
                                        </p:tgtEl>
                                      </p:cBhvr>
                                    </p:animEffect>
                                  </p:childTnLst>
                                </p:cTn>
                              </p:par>
                              <p:par>
                                <p:cTn id="47" presetID="14" presetClass="exit" presetSubtype="10" fill="hold" nodeType="withEffect">
                                  <p:stCondLst>
                                    <p:cond delay="0"/>
                                  </p:stCondLst>
                                  <p:childTnLst>
                                    <p:animEffect transition="out" filter="randombar(horizontal)">
                                      <p:cBhvr>
                                        <p:cTn id="48" dur="500"/>
                                        <p:tgtEl>
                                          <p:spTgt spid="31"/>
                                        </p:tgtEl>
                                      </p:cBhvr>
                                    </p:animEffect>
                                    <p:set>
                                      <p:cBhvr>
                                        <p:cTn id="49" dur="1" fill="hold">
                                          <p:stCondLst>
                                            <p:cond delay="499"/>
                                          </p:stCondLst>
                                        </p:cTn>
                                        <p:tgtEl>
                                          <p:spTgt spid="31"/>
                                        </p:tgtEl>
                                        <p:attrNameLst>
                                          <p:attrName>style.visibility</p:attrName>
                                        </p:attrNameLst>
                                      </p:cBhvr>
                                      <p:to>
                                        <p:strVal val="hidden"/>
                                      </p:to>
                                    </p:set>
                                  </p:childTnLst>
                                </p:cTn>
                              </p:par>
                            </p:childTnLst>
                          </p:cTn>
                        </p:par>
                        <p:par>
                          <p:cTn id="50" fill="hold">
                            <p:stCondLst>
                              <p:cond delay="500"/>
                            </p:stCondLst>
                            <p:childTnLst>
                              <p:par>
                                <p:cTn id="51" presetID="14" presetClass="exit" presetSubtype="10" fill="hold" nodeType="afterEffect">
                                  <p:stCondLst>
                                    <p:cond delay="0"/>
                                  </p:stCondLst>
                                  <p:childTnLst>
                                    <p:animEffect transition="out" filter="randombar(horizontal)">
                                      <p:cBhvr>
                                        <p:cTn id="52" dur="500"/>
                                        <p:tgtEl>
                                          <p:spTgt spid="8"/>
                                        </p:tgtEl>
                                      </p:cBhvr>
                                    </p:animEffect>
                                    <p:set>
                                      <p:cBhvr>
                                        <p:cTn id="53" dur="1" fill="hold">
                                          <p:stCondLst>
                                            <p:cond delay="499"/>
                                          </p:stCondLst>
                                        </p:cTn>
                                        <p:tgtEl>
                                          <p:spTgt spid="8"/>
                                        </p:tgtEl>
                                        <p:attrNameLst>
                                          <p:attrName>style.visibility</p:attrName>
                                        </p:attrNameLst>
                                      </p:cBhvr>
                                      <p:to>
                                        <p:strVal val="hidden"/>
                                      </p:to>
                                    </p:set>
                                  </p:childTnLst>
                                </p:cTn>
                              </p:par>
                              <p:par>
                                <p:cTn id="54" presetID="14" presetClass="exit" presetSubtype="10" fill="hold" grpId="1" nodeType="withEffect">
                                  <p:stCondLst>
                                    <p:cond delay="0"/>
                                  </p:stCondLst>
                                  <p:childTnLst>
                                    <p:animEffect transition="out" filter="randombar(horizontal)">
                                      <p:cBhvr>
                                        <p:cTn id="55" dur="500"/>
                                        <p:tgtEl>
                                          <p:spTgt spid="30"/>
                                        </p:tgtEl>
                                      </p:cBhvr>
                                    </p:animEffect>
                                    <p:set>
                                      <p:cBhvr>
                                        <p:cTn id="56" dur="1" fill="hold">
                                          <p:stCondLst>
                                            <p:cond delay="499"/>
                                          </p:stCondLst>
                                        </p:cTn>
                                        <p:tgtEl>
                                          <p:spTgt spid="30"/>
                                        </p:tgtEl>
                                        <p:attrNameLst>
                                          <p:attrName>style.visibility</p:attrName>
                                        </p:attrNameLst>
                                      </p:cBhvr>
                                      <p:to>
                                        <p:strVal val="hidden"/>
                                      </p:to>
                                    </p:set>
                                  </p:childTnLst>
                                </p:cTn>
                              </p:par>
                              <p:par>
                                <p:cTn id="57" presetID="14" presetClass="exit" presetSubtype="10" fill="hold" grpId="0" nodeType="withEffect">
                                  <p:stCondLst>
                                    <p:cond delay="0"/>
                                  </p:stCondLst>
                                  <p:childTnLst>
                                    <p:animEffect transition="out" filter="randombar(horizontal)">
                                      <p:cBhvr>
                                        <p:cTn id="58" dur="500"/>
                                        <p:tgtEl>
                                          <p:spTgt spid="32"/>
                                        </p:tgtEl>
                                      </p:cBhvr>
                                    </p:animEffect>
                                    <p:set>
                                      <p:cBhvr>
                                        <p:cTn id="59"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24" grpId="0" animBg="1"/>
      <p:bldP spid="19" grpId="0" animBg="1"/>
      <p:bldP spid="20" grpId="0"/>
      <p:bldP spid="27" grpId="0" animBg="1"/>
      <p:bldP spid="28" grpId="0" animBg="1"/>
      <p:bldP spid="29" grpId="0" animBg="1"/>
      <p:bldP spid="30" grpId="0" animBg="1"/>
      <p:bldP spid="30"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Example 1</a:t>
            </a:r>
          </a:p>
        </p:txBody>
      </p:sp>
      <p:graphicFrame>
        <p:nvGraphicFramePr>
          <p:cNvPr id="4" name="Table 3"/>
          <p:cNvGraphicFramePr>
            <a:graphicFrameLocks noGrp="1"/>
          </p:cNvGraphicFramePr>
          <p:nvPr/>
        </p:nvGraphicFramePr>
        <p:xfrm>
          <a:off x="4466165" y="1528465"/>
          <a:ext cx="3259670" cy="45720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370840">
                <a:tc>
                  <a:txBody>
                    <a:bodyPr/>
                    <a:lstStyle/>
                    <a:p>
                      <a:pPr algn="ctr"/>
                      <a:r>
                        <a:rPr lang="en-US" sz="2400" dirty="0"/>
                        <a:t>4</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10</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5</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5" name="TextBox 4"/>
          <p:cNvSpPr txBox="1"/>
          <p:nvPr/>
        </p:nvSpPr>
        <p:spPr>
          <a:xfrm>
            <a:off x="3009900" y="990600"/>
            <a:ext cx="6172200" cy="461665"/>
          </a:xfrm>
          <a:prstGeom prst="rect">
            <a:avLst/>
          </a:prstGeom>
          <a:noFill/>
        </p:spPr>
        <p:txBody>
          <a:bodyPr wrap="square" rtlCol="0">
            <a:spAutoFit/>
          </a:bodyPr>
          <a:lstStyle/>
          <a:p>
            <a:r>
              <a:rPr lang="en-US" sz="2400" dirty="0"/>
              <a:t>Sort the following elements in Ascending order</a:t>
            </a:r>
          </a:p>
        </p:txBody>
      </p:sp>
      <p:cxnSp>
        <p:nvCxnSpPr>
          <p:cNvPr id="6" name="Straight Connector 5"/>
          <p:cNvCxnSpPr/>
          <p:nvPr/>
        </p:nvCxnSpPr>
        <p:spPr>
          <a:xfrm>
            <a:off x="609600" y="2286000"/>
            <a:ext cx="10972800" cy="0"/>
          </a:xfrm>
          <a:prstGeom prst="line">
            <a:avLst/>
          </a:prstGeom>
        </p:spPr>
        <p:style>
          <a:lnRef idx="1">
            <a:schemeClr val="dk1"/>
          </a:lnRef>
          <a:fillRef idx="0">
            <a:schemeClr val="dk1"/>
          </a:fillRef>
          <a:effectRef idx="0">
            <a:schemeClr val="dk1"/>
          </a:effectRef>
          <a:fontRef idx="minor">
            <a:schemeClr val="tx1"/>
          </a:fontRef>
        </p:style>
      </p:cxnSp>
      <p:graphicFrame>
        <p:nvGraphicFramePr>
          <p:cNvPr id="7" name="Table 6"/>
          <p:cNvGraphicFramePr>
            <a:graphicFrameLocks noGrp="1"/>
          </p:cNvGraphicFramePr>
          <p:nvPr/>
        </p:nvGraphicFramePr>
        <p:xfrm>
          <a:off x="537755" y="3313784"/>
          <a:ext cx="3259670" cy="54864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548640">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5</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b="1" dirty="0">
                          <a:solidFill>
                            <a:srgbClr val="C00000"/>
                          </a:solidFill>
                        </a:rPr>
                        <a:t>10</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0"/>
                  </a:ext>
                </a:extLst>
              </a:tr>
            </a:tbl>
          </a:graphicData>
        </a:graphic>
      </p:graphicFrame>
      <p:sp>
        <p:nvSpPr>
          <p:cNvPr id="11" name="Oval 10"/>
          <p:cNvSpPr/>
          <p:nvPr/>
        </p:nvSpPr>
        <p:spPr>
          <a:xfrm>
            <a:off x="6772825" y="2592585"/>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cxnSp>
        <p:nvCxnSpPr>
          <p:cNvPr id="12" name="Straight Connector 11"/>
          <p:cNvCxnSpPr>
            <a:stCxn id="11" idx="3"/>
            <a:endCxn id="13" idx="0"/>
          </p:cNvCxnSpPr>
          <p:nvPr/>
        </p:nvCxnSpPr>
        <p:spPr>
          <a:xfrm flipH="1">
            <a:off x="6518436" y="3138927"/>
            <a:ext cx="348127" cy="42169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6198396" y="356061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5</a:t>
            </a:r>
          </a:p>
        </p:txBody>
      </p:sp>
      <p:cxnSp>
        <p:nvCxnSpPr>
          <p:cNvPr id="15" name="Straight Connector 14"/>
          <p:cNvCxnSpPr>
            <a:stCxn id="11" idx="5"/>
          </p:cNvCxnSpPr>
          <p:nvPr/>
        </p:nvCxnSpPr>
        <p:spPr>
          <a:xfrm>
            <a:off x="7319167" y="3138927"/>
            <a:ext cx="370245" cy="42976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382435" y="356061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lumMod val="95000"/>
                  </a:schemeClr>
                </a:solidFill>
              </a:rPr>
              <a:t>3</a:t>
            </a:r>
          </a:p>
        </p:txBody>
      </p:sp>
      <p:cxnSp>
        <p:nvCxnSpPr>
          <p:cNvPr id="21" name="Straight Connector 20"/>
          <p:cNvCxnSpPr>
            <a:stCxn id="13" idx="3"/>
            <a:endCxn id="22" idx="0"/>
          </p:cNvCxnSpPr>
          <p:nvPr/>
        </p:nvCxnSpPr>
        <p:spPr>
          <a:xfrm flipH="1">
            <a:off x="6048488" y="4106960"/>
            <a:ext cx="243646" cy="65029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5728448" y="475725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4</a:t>
            </a:r>
          </a:p>
        </p:txBody>
      </p:sp>
      <p:sp>
        <p:nvSpPr>
          <p:cNvPr id="40" name="TextBox 39"/>
          <p:cNvSpPr txBox="1"/>
          <p:nvPr/>
        </p:nvSpPr>
        <p:spPr>
          <a:xfrm>
            <a:off x="609594" y="2303041"/>
            <a:ext cx="2690160" cy="400110"/>
          </a:xfrm>
          <a:prstGeom prst="rect">
            <a:avLst/>
          </a:prstGeom>
          <a:noFill/>
          <a:ln w="28575">
            <a:solidFill>
              <a:schemeClr val="tx1"/>
            </a:solidFill>
          </a:ln>
        </p:spPr>
        <p:txBody>
          <a:bodyPr wrap="none" rtlCol="0">
            <a:spAutoFit/>
          </a:bodyPr>
          <a:lstStyle/>
          <a:p>
            <a:r>
              <a:rPr lang="en-IN" sz="2000" b="1" dirty="0"/>
              <a:t>Step 3 : Apply Heap Sort</a:t>
            </a:r>
            <a:endParaRPr lang="en-US" sz="2000" b="1" dirty="0"/>
          </a:p>
        </p:txBody>
      </p:sp>
      <mc:AlternateContent xmlns:mc="http://schemas.openxmlformats.org/markup-compatibility/2006" xmlns:a14="http://schemas.microsoft.com/office/drawing/2010/main">
        <mc:Choice Requires="a14">
          <p:graphicFrame>
            <p:nvGraphicFramePr>
              <p:cNvPr id="41" name="Table 40"/>
              <p:cNvGraphicFramePr>
                <a:graphicFrameLocks noGrp="1"/>
              </p:cNvGraphicFramePr>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1</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2</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3</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4</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5</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9224174"/>
                      </a:ext>
                    </a:extLst>
                  </a:tr>
                </a:tbl>
              </a:graphicData>
            </a:graphic>
          </p:graphicFrame>
        </mc:Choice>
        <mc:Fallback xmlns="">
          <p:graphicFrame>
            <p:nvGraphicFramePr>
              <p:cNvPr id="41" name="Table 40"/>
              <p:cNvGraphicFramePr>
                <a:graphicFrameLocks noGrp="1"/>
              </p:cNvGraphicFramePr>
              <p:nvPr>
                <p:extLst>
                  <p:ext uri="{D42A27DB-BD31-4B8C-83A1-F6EECF244321}">
                    <p14:modId xmlns:p14="http://schemas.microsoft.com/office/powerpoint/2010/main" val="3275512645"/>
                  </p:ext>
                </p:extLst>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r="-406604"/>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90598" r="-268376"/>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214423" r="-20192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311429" r="-1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411429"/>
                          </a:stretch>
                        </a:blipFill>
                      </a:tcPr>
                    </a:tc>
                    <a:extLst>
                      <a:ext uri="{0D108BD9-81ED-4DB2-BD59-A6C34878D82A}">
                        <a16:rowId xmlns:a16="http://schemas.microsoft.com/office/drawing/2014/main" val="2199224174"/>
                      </a:ext>
                    </a:extLst>
                  </a:tr>
                </a:tbl>
              </a:graphicData>
            </a:graphic>
          </p:graphicFrame>
        </mc:Fallback>
      </mc:AlternateContent>
      <p:sp>
        <p:nvSpPr>
          <p:cNvPr id="27" name="TextBox 26"/>
          <p:cNvSpPr txBox="1"/>
          <p:nvPr/>
        </p:nvSpPr>
        <p:spPr>
          <a:xfrm>
            <a:off x="9067800" y="2699267"/>
            <a:ext cx="2514600" cy="1015663"/>
          </a:xfrm>
          <a:prstGeom prst="rect">
            <a:avLst/>
          </a:prstGeom>
          <a:noFill/>
        </p:spPr>
        <p:txBody>
          <a:bodyPr wrap="square" rtlCol="0">
            <a:spAutoFit/>
          </a:bodyPr>
          <a:lstStyle/>
          <a:p>
            <a:r>
              <a:rPr lang="en-US" sz="2000" b="1" dirty="0"/>
              <a:t>Max Heap Property is violated so, create a Max Heap again. </a:t>
            </a:r>
          </a:p>
        </p:txBody>
      </p:sp>
      <p:sp>
        <p:nvSpPr>
          <p:cNvPr id="28" name="Freeform 11"/>
          <p:cNvSpPr>
            <a:spLocks/>
          </p:cNvSpPr>
          <p:nvPr/>
        </p:nvSpPr>
        <p:spPr bwMode="auto">
          <a:xfrm>
            <a:off x="6301793" y="3015697"/>
            <a:ext cx="319927" cy="439114"/>
          </a:xfrm>
          <a:custGeom>
            <a:avLst/>
            <a:gdLst>
              <a:gd name="T0" fmla="*/ 0 w 162"/>
              <a:gd name="T1" fmla="*/ 264 h 264"/>
              <a:gd name="T2" fmla="*/ 30 w 162"/>
              <a:gd name="T3" fmla="*/ 162 h 264"/>
              <a:gd name="T4" fmla="*/ 90 w 162"/>
              <a:gd name="T5" fmla="*/ 66 h 264"/>
              <a:gd name="T6" fmla="*/ 162 w 162"/>
              <a:gd name="T7" fmla="*/ 0 h 264"/>
              <a:gd name="T8" fmla="*/ 0 60000 65536"/>
              <a:gd name="T9" fmla="*/ 0 60000 65536"/>
              <a:gd name="T10" fmla="*/ 0 60000 65536"/>
              <a:gd name="T11" fmla="*/ 0 60000 65536"/>
              <a:gd name="T12" fmla="*/ 0 w 162"/>
              <a:gd name="T13" fmla="*/ 0 h 264"/>
              <a:gd name="T14" fmla="*/ 162 w 162"/>
              <a:gd name="T15" fmla="*/ 264 h 264"/>
            </a:gdLst>
            <a:ahLst/>
            <a:cxnLst>
              <a:cxn ang="T8">
                <a:pos x="T0" y="T1"/>
              </a:cxn>
              <a:cxn ang="T9">
                <a:pos x="T2" y="T3"/>
              </a:cxn>
              <a:cxn ang="T10">
                <a:pos x="T4" y="T5"/>
              </a:cxn>
              <a:cxn ang="T11">
                <a:pos x="T6" y="T7"/>
              </a:cxn>
            </a:cxnLst>
            <a:rect l="T12" t="T13" r="T14" b="T15"/>
            <a:pathLst>
              <a:path w="162" h="264">
                <a:moveTo>
                  <a:pt x="0" y="264"/>
                </a:moveTo>
                <a:cubicBezTo>
                  <a:pt x="5" y="247"/>
                  <a:pt x="15" y="195"/>
                  <a:pt x="30" y="162"/>
                </a:cubicBezTo>
                <a:cubicBezTo>
                  <a:pt x="45" y="129"/>
                  <a:pt x="68" y="93"/>
                  <a:pt x="90" y="66"/>
                </a:cubicBezTo>
                <a:cubicBezTo>
                  <a:pt x="112" y="39"/>
                  <a:pt x="147" y="14"/>
                  <a:pt x="162" y="0"/>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12"/>
          <p:cNvSpPr>
            <a:spLocks/>
          </p:cNvSpPr>
          <p:nvPr/>
        </p:nvSpPr>
        <p:spPr bwMode="auto">
          <a:xfrm>
            <a:off x="6824307" y="3292614"/>
            <a:ext cx="269875" cy="409575"/>
          </a:xfrm>
          <a:custGeom>
            <a:avLst/>
            <a:gdLst>
              <a:gd name="T0" fmla="*/ 156 w 170"/>
              <a:gd name="T1" fmla="*/ 0 h 258"/>
              <a:gd name="T2" fmla="*/ 144 w 170"/>
              <a:gd name="T3" fmla="*/ 126 h 258"/>
              <a:gd name="T4" fmla="*/ 0 w 170"/>
              <a:gd name="T5" fmla="*/ 258 h 258"/>
              <a:gd name="T6" fmla="*/ 0 60000 65536"/>
              <a:gd name="T7" fmla="*/ 0 60000 65536"/>
              <a:gd name="T8" fmla="*/ 0 60000 65536"/>
              <a:gd name="T9" fmla="*/ 0 w 170"/>
              <a:gd name="T10" fmla="*/ 0 h 258"/>
              <a:gd name="T11" fmla="*/ 170 w 170"/>
              <a:gd name="T12" fmla="*/ 258 h 258"/>
            </a:gdLst>
            <a:ahLst/>
            <a:cxnLst>
              <a:cxn ang="T6">
                <a:pos x="T0" y="T1"/>
              </a:cxn>
              <a:cxn ang="T7">
                <a:pos x="T2" y="T3"/>
              </a:cxn>
              <a:cxn ang="T8">
                <a:pos x="T4" y="T5"/>
              </a:cxn>
            </a:cxnLst>
            <a:rect l="T9" t="T10" r="T11" b="T12"/>
            <a:pathLst>
              <a:path w="170" h="258">
                <a:moveTo>
                  <a:pt x="156" y="0"/>
                </a:moveTo>
                <a:cubicBezTo>
                  <a:pt x="154" y="21"/>
                  <a:pt x="170" y="83"/>
                  <a:pt x="144" y="126"/>
                </a:cubicBezTo>
                <a:cubicBezTo>
                  <a:pt x="118" y="169"/>
                  <a:pt x="30" y="231"/>
                  <a:pt x="0" y="258"/>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Freeform 11"/>
          <p:cNvSpPr>
            <a:spLocks/>
          </p:cNvSpPr>
          <p:nvPr/>
        </p:nvSpPr>
        <p:spPr bwMode="auto">
          <a:xfrm rot="20912237">
            <a:off x="5801163" y="4145280"/>
            <a:ext cx="319927" cy="439114"/>
          </a:xfrm>
          <a:custGeom>
            <a:avLst/>
            <a:gdLst>
              <a:gd name="T0" fmla="*/ 0 w 162"/>
              <a:gd name="T1" fmla="*/ 264 h 264"/>
              <a:gd name="T2" fmla="*/ 30 w 162"/>
              <a:gd name="T3" fmla="*/ 162 h 264"/>
              <a:gd name="T4" fmla="*/ 90 w 162"/>
              <a:gd name="T5" fmla="*/ 66 h 264"/>
              <a:gd name="T6" fmla="*/ 162 w 162"/>
              <a:gd name="T7" fmla="*/ 0 h 264"/>
              <a:gd name="T8" fmla="*/ 0 60000 65536"/>
              <a:gd name="T9" fmla="*/ 0 60000 65536"/>
              <a:gd name="T10" fmla="*/ 0 60000 65536"/>
              <a:gd name="T11" fmla="*/ 0 60000 65536"/>
              <a:gd name="T12" fmla="*/ 0 w 162"/>
              <a:gd name="T13" fmla="*/ 0 h 264"/>
              <a:gd name="T14" fmla="*/ 162 w 162"/>
              <a:gd name="T15" fmla="*/ 264 h 264"/>
            </a:gdLst>
            <a:ahLst/>
            <a:cxnLst>
              <a:cxn ang="T8">
                <a:pos x="T0" y="T1"/>
              </a:cxn>
              <a:cxn ang="T9">
                <a:pos x="T2" y="T3"/>
              </a:cxn>
              <a:cxn ang="T10">
                <a:pos x="T4" y="T5"/>
              </a:cxn>
              <a:cxn ang="T11">
                <a:pos x="T6" y="T7"/>
              </a:cxn>
            </a:cxnLst>
            <a:rect l="T12" t="T13" r="T14" b="T15"/>
            <a:pathLst>
              <a:path w="162" h="264">
                <a:moveTo>
                  <a:pt x="0" y="264"/>
                </a:moveTo>
                <a:cubicBezTo>
                  <a:pt x="5" y="247"/>
                  <a:pt x="15" y="195"/>
                  <a:pt x="30" y="162"/>
                </a:cubicBezTo>
                <a:cubicBezTo>
                  <a:pt x="45" y="129"/>
                  <a:pt x="68" y="93"/>
                  <a:pt x="90" y="66"/>
                </a:cubicBezTo>
                <a:cubicBezTo>
                  <a:pt x="112" y="39"/>
                  <a:pt x="147" y="14"/>
                  <a:pt x="162" y="0"/>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 name="Freeform 12"/>
          <p:cNvSpPr>
            <a:spLocks/>
          </p:cNvSpPr>
          <p:nvPr/>
        </p:nvSpPr>
        <p:spPr bwMode="auto">
          <a:xfrm>
            <a:off x="6294120" y="4317694"/>
            <a:ext cx="269875" cy="409575"/>
          </a:xfrm>
          <a:custGeom>
            <a:avLst/>
            <a:gdLst>
              <a:gd name="T0" fmla="*/ 156 w 170"/>
              <a:gd name="T1" fmla="*/ 0 h 258"/>
              <a:gd name="T2" fmla="*/ 144 w 170"/>
              <a:gd name="T3" fmla="*/ 126 h 258"/>
              <a:gd name="T4" fmla="*/ 0 w 170"/>
              <a:gd name="T5" fmla="*/ 258 h 258"/>
              <a:gd name="T6" fmla="*/ 0 60000 65536"/>
              <a:gd name="T7" fmla="*/ 0 60000 65536"/>
              <a:gd name="T8" fmla="*/ 0 60000 65536"/>
              <a:gd name="T9" fmla="*/ 0 w 170"/>
              <a:gd name="T10" fmla="*/ 0 h 258"/>
              <a:gd name="T11" fmla="*/ 170 w 170"/>
              <a:gd name="T12" fmla="*/ 258 h 258"/>
            </a:gdLst>
            <a:ahLst/>
            <a:cxnLst>
              <a:cxn ang="T6">
                <a:pos x="T0" y="T1"/>
              </a:cxn>
              <a:cxn ang="T7">
                <a:pos x="T2" y="T3"/>
              </a:cxn>
              <a:cxn ang="T8">
                <a:pos x="T4" y="T5"/>
              </a:cxn>
            </a:cxnLst>
            <a:rect l="T9" t="T10" r="T11" b="T12"/>
            <a:pathLst>
              <a:path w="170" h="258">
                <a:moveTo>
                  <a:pt x="156" y="0"/>
                </a:moveTo>
                <a:cubicBezTo>
                  <a:pt x="154" y="21"/>
                  <a:pt x="170" y="83"/>
                  <a:pt x="144" y="126"/>
                </a:cubicBezTo>
                <a:cubicBezTo>
                  <a:pt x="118" y="169"/>
                  <a:pt x="30" y="231"/>
                  <a:pt x="0" y="258"/>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8" name="TextBox 37"/>
          <p:cNvSpPr txBox="1"/>
          <p:nvPr/>
        </p:nvSpPr>
        <p:spPr>
          <a:xfrm>
            <a:off x="1244689" y="3366246"/>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1</a:t>
            </a:r>
          </a:p>
        </p:txBody>
      </p:sp>
      <p:sp>
        <p:nvSpPr>
          <p:cNvPr id="39" name="TextBox 38"/>
          <p:cNvSpPr txBox="1"/>
          <p:nvPr/>
        </p:nvSpPr>
        <p:spPr>
          <a:xfrm>
            <a:off x="604608" y="3366246"/>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5</a:t>
            </a:r>
          </a:p>
        </p:txBody>
      </p:sp>
      <p:sp>
        <p:nvSpPr>
          <p:cNvPr id="42" name="TextBox 41"/>
          <p:cNvSpPr txBox="1"/>
          <p:nvPr/>
        </p:nvSpPr>
        <p:spPr>
          <a:xfrm>
            <a:off x="2548156" y="3367657"/>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1</a:t>
            </a:r>
          </a:p>
        </p:txBody>
      </p:sp>
      <p:sp>
        <p:nvSpPr>
          <p:cNvPr id="43" name="Freeform 42"/>
          <p:cNvSpPr/>
          <p:nvPr/>
        </p:nvSpPr>
        <p:spPr>
          <a:xfrm>
            <a:off x="874059" y="3870833"/>
            <a:ext cx="699247" cy="188258"/>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w="19050">
            <a:solidFill>
              <a:srgbClr val="ED524F"/>
            </a:solidFill>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44" name="TextBox 43"/>
          <p:cNvSpPr txBox="1"/>
          <p:nvPr/>
        </p:nvSpPr>
        <p:spPr>
          <a:xfrm>
            <a:off x="820273" y="4030417"/>
            <a:ext cx="762000" cy="369332"/>
          </a:xfrm>
          <a:prstGeom prst="rect">
            <a:avLst/>
          </a:prstGeom>
          <a:noFill/>
        </p:spPr>
        <p:txBody>
          <a:bodyPr wrap="square" rtlCol="0">
            <a:spAutoFit/>
          </a:bodyPr>
          <a:lstStyle/>
          <a:p>
            <a:pPr algn="ctr"/>
            <a:r>
              <a:rPr lang="en-US" b="1" dirty="0">
                <a:solidFill>
                  <a:srgbClr val="0070C0"/>
                </a:solidFill>
              </a:rPr>
              <a:t>Swap</a:t>
            </a:r>
          </a:p>
        </p:txBody>
      </p:sp>
      <p:sp>
        <p:nvSpPr>
          <p:cNvPr id="45" name="Freeform 44"/>
          <p:cNvSpPr/>
          <p:nvPr/>
        </p:nvSpPr>
        <p:spPr>
          <a:xfrm>
            <a:off x="1577789" y="3875313"/>
            <a:ext cx="1232646" cy="199145"/>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w="19050">
            <a:solidFill>
              <a:srgbClr val="ED524F"/>
            </a:solidFill>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47" name="TextBox 46"/>
          <p:cNvSpPr txBox="1"/>
          <p:nvPr/>
        </p:nvSpPr>
        <p:spPr>
          <a:xfrm>
            <a:off x="1234826" y="3372141"/>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4</a:t>
            </a:r>
          </a:p>
        </p:txBody>
      </p:sp>
      <p:sp>
        <p:nvSpPr>
          <p:cNvPr id="46" name="TextBox 45"/>
          <p:cNvSpPr txBox="1"/>
          <p:nvPr/>
        </p:nvSpPr>
        <p:spPr>
          <a:xfrm>
            <a:off x="6864265" y="2684025"/>
            <a:ext cx="457200" cy="400110"/>
          </a:xfrm>
          <a:prstGeom prst="rect">
            <a:avLst/>
          </a:prstGeom>
          <a:solidFill>
            <a:srgbClr val="002060"/>
          </a:solidFill>
        </p:spPr>
        <p:txBody>
          <a:bodyPr wrap="square" rtlCol="0">
            <a:spAutoFit/>
          </a:bodyPr>
          <a:lstStyle/>
          <a:p>
            <a:pPr algn="ctr"/>
            <a:r>
              <a:rPr lang="en-US" sz="2000" b="1" dirty="0">
                <a:solidFill>
                  <a:schemeClr val="accent5"/>
                </a:solidFill>
              </a:rPr>
              <a:t>5</a:t>
            </a:r>
          </a:p>
        </p:txBody>
      </p:sp>
      <p:sp>
        <p:nvSpPr>
          <p:cNvPr id="48" name="TextBox 47"/>
          <p:cNvSpPr txBox="1"/>
          <p:nvPr/>
        </p:nvSpPr>
        <p:spPr>
          <a:xfrm>
            <a:off x="6289836" y="3680603"/>
            <a:ext cx="457200" cy="400110"/>
          </a:xfrm>
          <a:prstGeom prst="rect">
            <a:avLst/>
          </a:prstGeom>
          <a:solidFill>
            <a:srgbClr val="002060"/>
          </a:solidFill>
        </p:spPr>
        <p:txBody>
          <a:bodyPr wrap="square" rtlCol="0">
            <a:spAutoFit/>
          </a:bodyPr>
          <a:lstStyle/>
          <a:p>
            <a:pPr algn="ctr"/>
            <a:r>
              <a:rPr lang="en-US" sz="2000" b="1" dirty="0">
                <a:solidFill>
                  <a:schemeClr val="accent5"/>
                </a:solidFill>
              </a:rPr>
              <a:t>1</a:t>
            </a:r>
          </a:p>
        </p:txBody>
      </p:sp>
      <p:sp>
        <p:nvSpPr>
          <p:cNvPr id="49" name="TextBox 48"/>
          <p:cNvSpPr txBox="1"/>
          <p:nvPr/>
        </p:nvSpPr>
        <p:spPr>
          <a:xfrm>
            <a:off x="5819888" y="4877243"/>
            <a:ext cx="457200" cy="400110"/>
          </a:xfrm>
          <a:prstGeom prst="rect">
            <a:avLst/>
          </a:prstGeom>
          <a:solidFill>
            <a:srgbClr val="002060"/>
          </a:solidFill>
        </p:spPr>
        <p:txBody>
          <a:bodyPr wrap="square" rtlCol="0">
            <a:spAutoFit/>
          </a:bodyPr>
          <a:lstStyle/>
          <a:p>
            <a:pPr algn="ctr"/>
            <a:r>
              <a:rPr lang="en-US" sz="2000" b="1" dirty="0">
                <a:solidFill>
                  <a:schemeClr val="accent5"/>
                </a:solidFill>
              </a:rPr>
              <a:t>1</a:t>
            </a:r>
          </a:p>
        </p:txBody>
      </p:sp>
      <p:sp>
        <p:nvSpPr>
          <p:cNvPr id="50" name="TextBox 49"/>
          <p:cNvSpPr txBox="1"/>
          <p:nvPr/>
        </p:nvSpPr>
        <p:spPr>
          <a:xfrm>
            <a:off x="6289836" y="3680603"/>
            <a:ext cx="457200" cy="400110"/>
          </a:xfrm>
          <a:prstGeom prst="rect">
            <a:avLst/>
          </a:prstGeom>
          <a:solidFill>
            <a:srgbClr val="002060"/>
          </a:solidFill>
        </p:spPr>
        <p:txBody>
          <a:bodyPr wrap="square" rtlCol="0">
            <a:spAutoFit/>
          </a:bodyPr>
          <a:lstStyle/>
          <a:p>
            <a:pPr algn="ctr"/>
            <a:r>
              <a:rPr lang="en-US" sz="2000" b="1" dirty="0">
                <a:solidFill>
                  <a:schemeClr val="accent5"/>
                </a:solidFill>
              </a:rPr>
              <a:t>4</a:t>
            </a:r>
          </a:p>
        </p:txBody>
      </p:sp>
    </p:spTree>
    <p:extLst>
      <p:ext uri="{BB962C8B-B14F-4D97-AF65-F5344CB8AC3E}">
        <p14:creationId xmlns:p14="http://schemas.microsoft.com/office/powerpoint/2010/main" val="508153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down)">
                                      <p:cBhvr>
                                        <p:cTn id="12" dur="500"/>
                                        <p:tgtEl>
                                          <p:spTgt spid="28"/>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up)">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fade">
                                      <p:cBhvr>
                                        <p:cTn id="21" dur="500"/>
                                        <p:tgtEl>
                                          <p:spTgt spid="44"/>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wipe(down)">
                                      <p:cBhvr>
                                        <p:cTn id="24" dur="500"/>
                                        <p:tgtEl>
                                          <p:spTgt spid="43"/>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28"/>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29"/>
                                        </p:tgtEl>
                                        <p:attrNameLst>
                                          <p:attrName>style.visibility</p:attrName>
                                        </p:attrNameLst>
                                      </p:cBhvr>
                                      <p:to>
                                        <p:strVal val="hidden"/>
                                      </p:to>
                                    </p:se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fade">
                                      <p:cBhvr>
                                        <p:cTn id="34" dur="500"/>
                                        <p:tgtEl>
                                          <p:spTgt spid="46"/>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fade">
                                      <p:cBhvr>
                                        <p:cTn id="38" dur="500"/>
                                        <p:tgtEl>
                                          <p:spTgt spid="4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500"/>
                                        <p:tgtEl>
                                          <p:spTgt spid="38"/>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wipe(down)">
                                      <p:cBhvr>
                                        <p:cTn id="52" dur="500"/>
                                        <p:tgtEl>
                                          <p:spTgt spid="34"/>
                                        </p:tgtEl>
                                      </p:cBhvr>
                                    </p:animEffect>
                                  </p:childTnLst>
                                </p:cTn>
                              </p:par>
                            </p:childTnLst>
                          </p:cTn>
                        </p:par>
                        <p:par>
                          <p:cTn id="53" fill="hold">
                            <p:stCondLst>
                              <p:cond delay="500"/>
                            </p:stCondLst>
                            <p:childTnLst>
                              <p:par>
                                <p:cTn id="54" presetID="22" presetClass="entr" presetSubtype="1" fill="hold" grpId="0" nodeType="after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wipe(up)">
                                      <p:cBhvr>
                                        <p:cTn id="56" dur="500"/>
                                        <p:tgtEl>
                                          <p:spTgt spid="35"/>
                                        </p:tgtEl>
                                      </p:cBhvr>
                                    </p:animEffect>
                                  </p:childTnLst>
                                </p:cTn>
                              </p:par>
                            </p:childTnLst>
                          </p:cTn>
                        </p:par>
                      </p:childTnLst>
                    </p:cTn>
                  </p:par>
                  <p:par>
                    <p:cTn id="57" fill="hold">
                      <p:stCondLst>
                        <p:cond delay="indefinite"/>
                      </p:stCondLst>
                      <p:childTnLst>
                        <p:par>
                          <p:cTn id="58" fill="hold">
                            <p:stCondLst>
                              <p:cond delay="0"/>
                            </p:stCondLst>
                            <p:childTnLst>
                              <p:par>
                                <p:cTn id="59" presetID="63" presetClass="path" presetSubtype="0" accel="50000" decel="50000" fill="hold" grpId="1" nodeType="clickEffect">
                                  <p:stCondLst>
                                    <p:cond delay="0"/>
                                  </p:stCondLst>
                                  <p:childTnLst>
                                    <p:animMotion origin="layout" path="M 2.29167E-6 -3.33333E-6 L 0.08125 -0.00092 " pathEditMode="relative" rAng="0" ptsTypes="AA">
                                      <p:cBhvr>
                                        <p:cTn id="60" dur="2000" fill="hold"/>
                                        <p:tgtEl>
                                          <p:spTgt spid="44"/>
                                        </p:tgtEl>
                                        <p:attrNameLst>
                                          <p:attrName>ppt_x</p:attrName>
                                          <p:attrName>ppt_y</p:attrName>
                                        </p:attrNameLst>
                                      </p:cBhvr>
                                      <p:rCtr x="4062" y="-46"/>
                                    </p:animMotion>
                                  </p:childTnLst>
                                </p:cTn>
                              </p:par>
                              <p:par>
                                <p:cTn id="61" presetID="1" presetClass="exit" presetSubtype="0" fill="hold" grpId="1" nodeType="withEffect">
                                  <p:stCondLst>
                                    <p:cond delay="0"/>
                                  </p:stCondLst>
                                  <p:childTnLst>
                                    <p:set>
                                      <p:cBhvr>
                                        <p:cTn id="62" dur="1" fill="hold">
                                          <p:stCondLst>
                                            <p:cond delay="0"/>
                                          </p:stCondLst>
                                        </p:cTn>
                                        <p:tgtEl>
                                          <p:spTgt spid="43"/>
                                        </p:tgtEl>
                                        <p:attrNameLst>
                                          <p:attrName>style.visibility</p:attrName>
                                        </p:attrNameLst>
                                      </p:cBhvr>
                                      <p:to>
                                        <p:strVal val="hidden"/>
                                      </p:to>
                                    </p:set>
                                  </p:childTnLst>
                                </p:cTn>
                              </p:par>
                              <p:par>
                                <p:cTn id="63" presetID="22" presetClass="entr" presetSubtype="4"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wipe(down)">
                                      <p:cBhvr>
                                        <p:cTn id="65" dur="500"/>
                                        <p:tgtEl>
                                          <p:spTgt spid="45"/>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49"/>
                                        </p:tgtEl>
                                        <p:attrNameLst>
                                          <p:attrName>style.visibility</p:attrName>
                                        </p:attrNameLst>
                                      </p:cBhvr>
                                      <p:to>
                                        <p:strVal val="visible"/>
                                      </p:to>
                                    </p:set>
                                    <p:animEffect transition="in" filter="fade">
                                      <p:cBhvr>
                                        <p:cTn id="70" dur="500"/>
                                        <p:tgtEl>
                                          <p:spTgt spid="49"/>
                                        </p:tgtEl>
                                      </p:cBhvr>
                                    </p:animEffect>
                                  </p:childTnLst>
                                </p:cTn>
                              </p:par>
                            </p:childTnLst>
                          </p:cTn>
                        </p:par>
                        <p:par>
                          <p:cTn id="71" fill="hold">
                            <p:stCondLst>
                              <p:cond delay="500"/>
                            </p:stCondLst>
                            <p:childTnLst>
                              <p:par>
                                <p:cTn id="72" presetID="10" presetClass="entr" presetSubtype="0" fill="hold" grpId="0" nodeType="afterEffect">
                                  <p:stCondLst>
                                    <p:cond delay="0"/>
                                  </p:stCondLst>
                                  <p:childTnLst>
                                    <p:set>
                                      <p:cBhvr>
                                        <p:cTn id="73" dur="1" fill="hold">
                                          <p:stCondLst>
                                            <p:cond delay="0"/>
                                          </p:stCondLst>
                                        </p:cTn>
                                        <p:tgtEl>
                                          <p:spTgt spid="50"/>
                                        </p:tgtEl>
                                        <p:attrNameLst>
                                          <p:attrName>style.visibility</p:attrName>
                                        </p:attrNameLst>
                                      </p:cBhvr>
                                      <p:to>
                                        <p:strVal val="visible"/>
                                      </p:to>
                                    </p:set>
                                    <p:animEffect transition="in" filter="fade">
                                      <p:cBhvr>
                                        <p:cTn id="74" dur="500"/>
                                        <p:tgtEl>
                                          <p:spTgt spid="50"/>
                                        </p:tgtEl>
                                      </p:cBhvr>
                                    </p:animEffect>
                                  </p:childTnLst>
                                </p:cTn>
                              </p:par>
                            </p:childTnLst>
                          </p:cTn>
                        </p:par>
                        <p:par>
                          <p:cTn id="75" fill="hold">
                            <p:stCondLst>
                              <p:cond delay="1000"/>
                            </p:stCondLst>
                            <p:childTnLst>
                              <p:par>
                                <p:cTn id="76" presetID="1" presetClass="exit" presetSubtype="0" fill="hold" grpId="1" nodeType="afterEffect">
                                  <p:stCondLst>
                                    <p:cond delay="0"/>
                                  </p:stCondLst>
                                  <p:childTnLst>
                                    <p:set>
                                      <p:cBhvr>
                                        <p:cTn id="77" dur="1" fill="hold">
                                          <p:stCondLst>
                                            <p:cond delay="0"/>
                                          </p:stCondLst>
                                        </p:cTn>
                                        <p:tgtEl>
                                          <p:spTgt spid="35"/>
                                        </p:tgtEl>
                                        <p:attrNameLst>
                                          <p:attrName>style.visibility</p:attrName>
                                        </p:attrNameLst>
                                      </p:cBhvr>
                                      <p:to>
                                        <p:strVal val="hidden"/>
                                      </p:to>
                                    </p:set>
                                  </p:childTnLst>
                                </p:cTn>
                              </p:par>
                            </p:childTnLst>
                          </p:cTn>
                        </p:par>
                        <p:par>
                          <p:cTn id="78" fill="hold">
                            <p:stCondLst>
                              <p:cond delay="1000"/>
                            </p:stCondLst>
                            <p:childTnLst>
                              <p:par>
                                <p:cTn id="79" presetID="1" presetClass="exit" presetSubtype="0" fill="hold" grpId="1" nodeType="afterEffect">
                                  <p:stCondLst>
                                    <p:cond delay="0"/>
                                  </p:stCondLst>
                                  <p:childTnLst>
                                    <p:set>
                                      <p:cBhvr>
                                        <p:cTn id="80" dur="1" fill="hold">
                                          <p:stCondLst>
                                            <p:cond delay="0"/>
                                          </p:stCondLst>
                                        </p:cTn>
                                        <p:tgtEl>
                                          <p:spTgt spid="34"/>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2"/>
                                        </p:tgtEl>
                                        <p:attrNameLst>
                                          <p:attrName>style.visibility</p:attrName>
                                        </p:attrNameLst>
                                      </p:cBhvr>
                                      <p:to>
                                        <p:strVal val="visible"/>
                                      </p:to>
                                    </p:set>
                                    <p:animEffect transition="in" filter="fade">
                                      <p:cBhvr>
                                        <p:cTn id="85" dur="500"/>
                                        <p:tgtEl>
                                          <p:spTgt spid="42"/>
                                        </p:tgtEl>
                                      </p:cBhvr>
                                    </p:animEffect>
                                  </p:childTnLst>
                                </p:cTn>
                              </p:par>
                            </p:childTnLst>
                          </p:cTn>
                        </p:par>
                        <p:par>
                          <p:cTn id="86" fill="hold">
                            <p:stCondLst>
                              <p:cond delay="500"/>
                            </p:stCondLst>
                            <p:childTnLst>
                              <p:par>
                                <p:cTn id="87" presetID="10" presetClass="entr" presetSubtype="0" fill="hold" grpId="0" nodeType="afterEffect">
                                  <p:stCondLst>
                                    <p:cond delay="0"/>
                                  </p:stCondLst>
                                  <p:childTnLst>
                                    <p:set>
                                      <p:cBhvr>
                                        <p:cTn id="88" dur="1" fill="hold">
                                          <p:stCondLst>
                                            <p:cond delay="0"/>
                                          </p:stCondLst>
                                        </p:cTn>
                                        <p:tgtEl>
                                          <p:spTgt spid="47"/>
                                        </p:tgtEl>
                                        <p:attrNameLst>
                                          <p:attrName>style.visibility</p:attrName>
                                        </p:attrNameLst>
                                      </p:cBhvr>
                                      <p:to>
                                        <p:strVal val="visible"/>
                                      </p:to>
                                    </p:set>
                                    <p:animEffect transition="in" filter="fade">
                                      <p:cBhvr>
                                        <p:cTn id="89" dur="500"/>
                                        <p:tgtEl>
                                          <p:spTgt spid="47"/>
                                        </p:tgtEl>
                                      </p:cBhvr>
                                    </p:animEffect>
                                  </p:childTnLst>
                                </p:cTn>
                              </p:par>
                            </p:childTnLst>
                          </p:cTn>
                        </p:par>
                        <p:par>
                          <p:cTn id="90" fill="hold">
                            <p:stCondLst>
                              <p:cond delay="1000"/>
                            </p:stCondLst>
                            <p:childTnLst>
                              <p:par>
                                <p:cTn id="91" presetID="1" presetClass="exit" presetSubtype="0" fill="hold" grpId="2" nodeType="afterEffect">
                                  <p:stCondLst>
                                    <p:cond delay="0"/>
                                  </p:stCondLst>
                                  <p:childTnLst>
                                    <p:set>
                                      <p:cBhvr>
                                        <p:cTn id="92" dur="1" fill="hold">
                                          <p:stCondLst>
                                            <p:cond delay="0"/>
                                          </p:stCondLst>
                                        </p:cTn>
                                        <p:tgtEl>
                                          <p:spTgt spid="44"/>
                                        </p:tgtEl>
                                        <p:attrNameLst>
                                          <p:attrName>style.visibility</p:attrName>
                                        </p:attrNameLst>
                                      </p:cBhvr>
                                      <p:to>
                                        <p:strVal val="hidden"/>
                                      </p:to>
                                    </p:set>
                                  </p:childTnLst>
                                </p:cTn>
                              </p:par>
                            </p:childTnLst>
                          </p:cTn>
                        </p:par>
                        <p:par>
                          <p:cTn id="93" fill="hold">
                            <p:stCondLst>
                              <p:cond delay="1000"/>
                            </p:stCondLst>
                            <p:childTnLst>
                              <p:par>
                                <p:cTn id="94" presetID="1" presetClass="exit" presetSubtype="0" fill="hold" grpId="1" nodeType="afterEffect">
                                  <p:stCondLst>
                                    <p:cond delay="0"/>
                                  </p:stCondLst>
                                  <p:childTnLst>
                                    <p:set>
                                      <p:cBhvr>
                                        <p:cTn id="95" dur="1" fill="hold">
                                          <p:stCondLst>
                                            <p:cond delay="0"/>
                                          </p:stCondLst>
                                        </p:cTn>
                                        <p:tgtEl>
                                          <p:spTgt spid="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P spid="28" grpId="1" animBg="1"/>
      <p:bldP spid="29" grpId="0" animBg="1"/>
      <p:bldP spid="29" grpId="1" animBg="1"/>
      <p:bldP spid="34" grpId="0" animBg="1"/>
      <p:bldP spid="34" grpId="1" animBg="1"/>
      <p:bldP spid="35" grpId="0" animBg="1"/>
      <p:bldP spid="35" grpId="1" animBg="1"/>
      <p:bldP spid="38" grpId="0" animBg="1"/>
      <p:bldP spid="39" grpId="0" animBg="1"/>
      <p:bldP spid="42" grpId="0" animBg="1"/>
      <p:bldP spid="43" grpId="0" animBg="1"/>
      <p:bldP spid="43" grpId="1" animBg="1"/>
      <p:bldP spid="44" grpId="0"/>
      <p:bldP spid="44" grpId="1"/>
      <p:bldP spid="44" grpId="2"/>
      <p:bldP spid="45" grpId="0" animBg="1"/>
      <p:bldP spid="45" grpId="1" animBg="1"/>
      <p:bldP spid="47" grpId="0" animBg="1"/>
      <p:bldP spid="46" grpId="0" animBg="1"/>
      <p:bldP spid="48" grpId="0" animBg="1"/>
      <p:bldP spid="49" grpId="0" animBg="1"/>
      <p:bldP spid="5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Example 1</a:t>
            </a:r>
          </a:p>
        </p:txBody>
      </p:sp>
      <p:graphicFrame>
        <p:nvGraphicFramePr>
          <p:cNvPr id="4" name="Table 3"/>
          <p:cNvGraphicFramePr>
            <a:graphicFrameLocks noGrp="1"/>
          </p:cNvGraphicFramePr>
          <p:nvPr/>
        </p:nvGraphicFramePr>
        <p:xfrm>
          <a:off x="4466165" y="1528465"/>
          <a:ext cx="3259670" cy="45720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370840">
                <a:tc>
                  <a:txBody>
                    <a:bodyPr/>
                    <a:lstStyle/>
                    <a:p>
                      <a:pPr algn="ctr"/>
                      <a:r>
                        <a:rPr lang="en-US" sz="2400" dirty="0"/>
                        <a:t>4</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10</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5</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5" name="TextBox 4"/>
          <p:cNvSpPr txBox="1"/>
          <p:nvPr/>
        </p:nvSpPr>
        <p:spPr>
          <a:xfrm>
            <a:off x="3009900" y="990600"/>
            <a:ext cx="6172200" cy="461665"/>
          </a:xfrm>
          <a:prstGeom prst="rect">
            <a:avLst/>
          </a:prstGeom>
          <a:noFill/>
        </p:spPr>
        <p:txBody>
          <a:bodyPr wrap="square" rtlCol="0">
            <a:spAutoFit/>
          </a:bodyPr>
          <a:lstStyle/>
          <a:p>
            <a:r>
              <a:rPr lang="en-US" sz="2400" dirty="0"/>
              <a:t>Sort the following elements in Ascending order</a:t>
            </a:r>
          </a:p>
        </p:txBody>
      </p:sp>
      <p:cxnSp>
        <p:nvCxnSpPr>
          <p:cNvPr id="6" name="Straight Connector 5"/>
          <p:cNvCxnSpPr/>
          <p:nvPr/>
        </p:nvCxnSpPr>
        <p:spPr>
          <a:xfrm>
            <a:off x="609600" y="2286000"/>
            <a:ext cx="10972800" cy="0"/>
          </a:xfrm>
          <a:prstGeom prst="line">
            <a:avLst/>
          </a:prstGeom>
        </p:spPr>
        <p:style>
          <a:lnRef idx="1">
            <a:schemeClr val="dk1"/>
          </a:lnRef>
          <a:fillRef idx="0">
            <a:schemeClr val="dk1"/>
          </a:fillRef>
          <a:effectRef idx="0">
            <a:schemeClr val="dk1"/>
          </a:effectRef>
          <a:fontRef idx="minor">
            <a:schemeClr val="tx1"/>
          </a:fontRef>
        </p:style>
      </p:cxnSp>
      <p:graphicFrame>
        <p:nvGraphicFramePr>
          <p:cNvPr id="7" name="Table 6"/>
          <p:cNvGraphicFramePr>
            <a:graphicFrameLocks noGrp="1"/>
          </p:cNvGraphicFramePr>
          <p:nvPr/>
        </p:nvGraphicFramePr>
        <p:xfrm>
          <a:off x="537755" y="3313784"/>
          <a:ext cx="3259670" cy="54864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548640">
                <a:tc>
                  <a:txBody>
                    <a:bodyPr/>
                    <a:lstStyle/>
                    <a:p>
                      <a:pPr algn="ctr"/>
                      <a:r>
                        <a:rPr lang="en-US" sz="2400" dirty="0"/>
                        <a:t>5</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b="1" dirty="0">
                          <a:solidFill>
                            <a:srgbClr val="C00000"/>
                          </a:solidFill>
                        </a:rPr>
                        <a:t>10</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0"/>
                  </a:ext>
                </a:extLst>
              </a:tr>
            </a:tbl>
          </a:graphicData>
        </a:graphic>
      </p:graphicFrame>
      <p:sp>
        <p:nvSpPr>
          <p:cNvPr id="11" name="Oval 10"/>
          <p:cNvSpPr/>
          <p:nvPr/>
        </p:nvSpPr>
        <p:spPr>
          <a:xfrm>
            <a:off x="6772825" y="2592585"/>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5</a:t>
            </a:r>
          </a:p>
        </p:txBody>
      </p:sp>
      <p:cxnSp>
        <p:nvCxnSpPr>
          <p:cNvPr id="12" name="Straight Connector 11"/>
          <p:cNvCxnSpPr>
            <a:stCxn id="11" idx="3"/>
            <a:endCxn id="13" idx="0"/>
          </p:cNvCxnSpPr>
          <p:nvPr/>
        </p:nvCxnSpPr>
        <p:spPr>
          <a:xfrm flipH="1">
            <a:off x="6518436" y="3138927"/>
            <a:ext cx="348127" cy="42169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6198396" y="356061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4</a:t>
            </a:r>
          </a:p>
        </p:txBody>
      </p:sp>
      <p:cxnSp>
        <p:nvCxnSpPr>
          <p:cNvPr id="15" name="Straight Connector 14"/>
          <p:cNvCxnSpPr>
            <a:stCxn id="11" idx="5"/>
            <a:endCxn id="16" idx="0"/>
          </p:cNvCxnSpPr>
          <p:nvPr/>
        </p:nvCxnSpPr>
        <p:spPr>
          <a:xfrm>
            <a:off x="7319167" y="3138927"/>
            <a:ext cx="383308" cy="42169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382435" y="356061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lumMod val="95000"/>
                  </a:schemeClr>
                </a:solidFill>
              </a:rPr>
              <a:t>3</a:t>
            </a:r>
          </a:p>
        </p:txBody>
      </p:sp>
      <p:cxnSp>
        <p:nvCxnSpPr>
          <p:cNvPr id="21" name="Straight Connector 20"/>
          <p:cNvCxnSpPr>
            <a:stCxn id="13" idx="3"/>
            <a:endCxn id="22" idx="0"/>
          </p:cNvCxnSpPr>
          <p:nvPr/>
        </p:nvCxnSpPr>
        <p:spPr>
          <a:xfrm flipH="1">
            <a:off x="6048488" y="4106960"/>
            <a:ext cx="243646" cy="65029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5728448" y="475725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sp>
        <p:nvSpPr>
          <p:cNvPr id="40" name="TextBox 39"/>
          <p:cNvSpPr txBox="1"/>
          <p:nvPr/>
        </p:nvSpPr>
        <p:spPr>
          <a:xfrm>
            <a:off x="609594" y="2303041"/>
            <a:ext cx="2690160" cy="400110"/>
          </a:xfrm>
          <a:prstGeom prst="rect">
            <a:avLst/>
          </a:prstGeom>
          <a:noFill/>
          <a:ln w="28575">
            <a:solidFill>
              <a:schemeClr val="tx1"/>
            </a:solidFill>
          </a:ln>
        </p:spPr>
        <p:txBody>
          <a:bodyPr wrap="none" rtlCol="0">
            <a:spAutoFit/>
          </a:bodyPr>
          <a:lstStyle/>
          <a:p>
            <a:r>
              <a:rPr lang="en-IN" sz="2000" b="1" dirty="0"/>
              <a:t>Step 3 : Apply Heap Sort</a:t>
            </a:r>
            <a:endParaRPr lang="en-US" sz="2000" b="1" dirty="0"/>
          </a:p>
        </p:txBody>
      </p:sp>
      <mc:AlternateContent xmlns:mc="http://schemas.openxmlformats.org/markup-compatibility/2006" xmlns:a14="http://schemas.microsoft.com/office/drawing/2010/main">
        <mc:Choice Requires="a14">
          <p:graphicFrame>
            <p:nvGraphicFramePr>
              <p:cNvPr id="41" name="Table 40"/>
              <p:cNvGraphicFramePr>
                <a:graphicFrameLocks noGrp="1"/>
              </p:cNvGraphicFramePr>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1</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2</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3</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4</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5</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9224174"/>
                      </a:ext>
                    </a:extLst>
                  </a:tr>
                </a:tbl>
              </a:graphicData>
            </a:graphic>
          </p:graphicFrame>
        </mc:Choice>
        <mc:Fallback xmlns="">
          <p:graphicFrame>
            <p:nvGraphicFramePr>
              <p:cNvPr id="41" name="Table 40"/>
              <p:cNvGraphicFramePr>
                <a:graphicFrameLocks noGrp="1"/>
              </p:cNvGraphicFramePr>
              <p:nvPr>
                <p:extLst>
                  <p:ext uri="{D42A27DB-BD31-4B8C-83A1-F6EECF244321}">
                    <p14:modId xmlns:p14="http://schemas.microsoft.com/office/powerpoint/2010/main" val="3275512645"/>
                  </p:ext>
                </p:extLst>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r="-406604"/>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90598" r="-268376"/>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214423" r="-20192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311429" r="-1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411429"/>
                          </a:stretch>
                        </a:blipFill>
                      </a:tcPr>
                    </a:tc>
                    <a:extLst>
                      <a:ext uri="{0D108BD9-81ED-4DB2-BD59-A6C34878D82A}">
                        <a16:rowId xmlns:a16="http://schemas.microsoft.com/office/drawing/2014/main" val="2199224174"/>
                      </a:ext>
                    </a:extLst>
                  </a:tr>
                </a:tbl>
              </a:graphicData>
            </a:graphic>
          </p:graphicFrame>
        </mc:Fallback>
      </mc:AlternateContent>
      <p:sp>
        <p:nvSpPr>
          <p:cNvPr id="27" name="TextBox 26"/>
          <p:cNvSpPr txBox="1"/>
          <p:nvPr/>
        </p:nvSpPr>
        <p:spPr>
          <a:xfrm>
            <a:off x="9067800" y="2699267"/>
            <a:ext cx="2514600" cy="400110"/>
          </a:xfrm>
          <a:prstGeom prst="rect">
            <a:avLst/>
          </a:prstGeom>
          <a:noFill/>
        </p:spPr>
        <p:txBody>
          <a:bodyPr wrap="square" rtlCol="0">
            <a:spAutoFit/>
          </a:bodyPr>
          <a:lstStyle/>
          <a:p>
            <a:r>
              <a:rPr lang="en-US" sz="2000" b="1" dirty="0"/>
              <a:t>Max Heap is created</a:t>
            </a:r>
          </a:p>
        </p:txBody>
      </p:sp>
      <p:sp>
        <p:nvSpPr>
          <p:cNvPr id="26" name="TextBox 25"/>
          <p:cNvSpPr txBox="1"/>
          <p:nvPr/>
        </p:nvSpPr>
        <p:spPr>
          <a:xfrm>
            <a:off x="569874" y="4706468"/>
            <a:ext cx="3524794" cy="1200329"/>
          </a:xfrm>
          <a:prstGeom prst="rect">
            <a:avLst/>
          </a:prstGeom>
          <a:solidFill>
            <a:srgbClr val="FCE0EE"/>
          </a:solidFill>
        </p:spPr>
        <p:txBody>
          <a:bodyPr wrap="square" rtlCol="0">
            <a:spAutoFit/>
          </a:bodyPr>
          <a:lstStyle/>
          <a:p>
            <a:pPr marL="457200" indent="-457200" algn="just">
              <a:buAutoNum type="arabicPeriod"/>
            </a:pPr>
            <a:r>
              <a:rPr lang="en-US" sz="2400" dirty="0">
                <a:solidFill>
                  <a:srgbClr val="A71160"/>
                </a:solidFill>
              </a:rPr>
              <a:t>Swap the first and the last nodes and </a:t>
            </a:r>
          </a:p>
          <a:p>
            <a:pPr marL="457200" indent="-457200" algn="just">
              <a:buAutoNum type="arabicPeriod"/>
            </a:pPr>
            <a:r>
              <a:rPr lang="en-US" sz="2400" dirty="0">
                <a:solidFill>
                  <a:srgbClr val="A71160"/>
                </a:solidFill>
              </a:rPr>
              <a:t>Delete the last node.</a:t>
            </a:r>
          </a:p>
        </p:txBody>
      </p:sp>
      <p:cxnSp>
        <p:nvCxnSpPr>
          <p:cNvPr id="8" name="Curved Connector 7"/>
          <p:cNvCxnSpPr/>
          <p:nvPr/>
        </p:nvCxnSpPr>
        <p:spPr>
          <a:xfrm rot="10800000" flipV="1">
            <a:off x="5486404" y="2831942"/>
            <a:ext cx="1071269" cy="1807292"/>
          </a:xfrm>
          <a:prstGeom prst="curvedConnector2">
            <a:avLst/>
          </a:prstGeom>
          <a:ln w="19050">
            <a:solidFill>
              <a:srgbClr val="ED524F"/>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1447290" y="4082668"/>
            <a:ext cx="762000" cy="369332"/>
          </a:xfrm>
          <a:prstGeom prst="rect">
            <a:avLst/>
          </a:prstGeom>
          <a:noFill/>
        </p:spPr>
        <p:txBody>
          <a:bodyPr wrap="square" rtlCol="0">
            <a:spAutoFit/>
          </a:bodyPr>
          <a:lstStyle/>
          <a:p>
            <a:pPr algn="ctr"/>
            <a:r>
              <a:rPr lang="en-US" b="1" dirty="0">
                <a:solidFill>
                  <a:srgbClr val="0070C0"/>
                </a:solidFill>
              </a:rPr>
              <a:t>Swap</a:t>
            </a:r>
          </a:p>
        </p:txBody>
      </p:sp>
      <p:sp>
        <p:nvSpPr>
          <p:cNvPr id="39" name="Freeform 38"/>
          <p:cNvSpPr/>
          <p:nvPr/>
        </p:nvSpPr>
        <p:spPr>
          <a:xfrm>
            <a:off x="901337" y="3875313"/>
            <a:ext cx="1909098" cy="213361"/>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w="19050">
            <a:solidFill>
              <a:srgbClr val="ED524F"/>
            </a:solidFill>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44" name="TextBox 43"/>
          <p:cNvSpPr txBox="1"/>
          <p:nvPr/>
        </p:nvSpPr>
        <p:spPr>
          <a:xfrm>
            <a:off x="604608" y="3366246"/>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1</a:t>
            </a:r>
          </a:p>
        </p:txBody>
      </p:sp>
      <p:sp>
        <p:nvSpPr>
          <p:cNvPr id="45" name="TextBox 44"/>
          <p:cNvSpPr txBox="1"/>
          <p:nvPr/>
        </p:nvSpPr>
        <p:spPr>
          <a:xfrm>
            <a:off x="2548156" y="3367657"/>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5</a:t>
            </a:r>
          </a:p>
        </p:txBody>
      </p:sp>
      <p:sp>
        <p:nvSpPr>
          <p:cNvPr id="46" name="TextBox 45"/>
          <p:cNvSpPr txBox="1"/>
          <p:nvPr/>
        </p:nvSpPr>
        <p:spPr>
          <a:xfrm>
            <a:off x="6864265" y="2684025"/>
            <a:ext cx="457200" cy="400110"/>
          </a:xfrm>
          <a:prstGeom prst="rect">
            <a:avLst/>
          </a:prstGeom>
          <a:solidFill>
            <a:srgbClr val="002060"/>
          </a:solidFill>
        </p:spPr>
        <p:txBody>
          <a:bodyPr wrap="square" rtlCol="0">
            <a:spAutoFit/>
          </a:bodyPr>
          <a:lstStyle/>
          <a:p>
            <a:pPr algn="ctr"/>
            <a:r>
              <a:rPr lang="en-US" sz="2000" b="1" dirty="0">
                <a:solidFill>
                  <a:schemeClr val="accent5"/>
                </a:solidFill>
              </a:rPr>
              <a:t>1</a:t>
            </a:r>
          </a:p>
        </p:txBody>
      </p:sp>
      <p:sp>
        <p:nvSpPr>
          <p:cNvPr id="47" name="TextBox 46"/>
          <p:cNvSpPr txBox="1"/>
          <p:nvPr/>
        </p:nvSpPr>
        <p:spPr>
          <a:xfrm>
            <a:off x="5819888" y="4877243"/>
            <a:ext cx="457200" cy="400110"/>
          </a:xfrm>
          <a:prstGeom prst="rect">
            <a:avLst/>
          </a:prstGeom>
          <a:solidFill>
            <a:srgbClr val="002060"/>
          </a:solidFill>
        </p:spPr>
        <p:txBody>
          <a:bodyPr wrap="square" rtlCol="0">
            <a:spAutoFit/>
          </a:bodyPr>
          <a:lstStyle/>
          <a:p>
            <a:pPr algn="ctr"/>
            <a:r>
              <a:rPr lang="en-US" sz="2000" b="1" dirty="0">
                <a:solidFill>
                  <a:schemeClr val="accent5"/>
                </a:solidFill>
              </a:rPr>
              <a:t>5</a:t>
            </a:r>
          </a:p>
        </p:txBody>
      </p:sp>
    </p:spTree>
    <p:extLst>
      <p:ext uri="{BB962C8B-B14F-4D97-AF65-F5344CB8AC3E}">
        <p14:creationId xmlns:p14="http://schemas.microsoft.com/office/powerpoint/2010/main" val="2021849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10" presetClass="entr" presetSubtype="0" fill="hold" nodeType="withEffect">
                                  <p:stCondLst>
                                    <p:cond delay="0"/>
                                  </p:stCondLst>
                                  <p:childTnLst>
                                    <p:set>
                                      <p:cBhvr>
                                        <p:cTn id="14" dur="1" fill="hold">
                                          <p:stCondLst>
                                            <p:cond delay="0"/>
                                          </p:stCondLst>
                                        </p:cTn>
                                        <p:tgtEl>
                                          <p:spTgt spid="26">
                                            <p:txEl>
                                              <p:pRg st="0" end="0"/>
                                            </p:txEl>
                                          </p:spTgt>
                                        </p:tgtEl>
                                        <p:attrNameLst>
                                          <p:attrName>style.visibility</p:attrName>
                                        </p:attrNameLst>
                                      </p:cBhvr>
                                      <p:to>
                                        <p:strVal val="visible"/>
                                      </p:to>
                                    </p:set>
                                    <p:animEffect transition="in" filter="fade">
                                      <p:cBhvr>
                                        <p:cTn id="15" dur="500"/>
                                        <p:tgtEl>
                                          <p:spTgt spid="26">
                                            <p:txEl>
                                              <p:pRg st="0" end="0"/>
                                            </p:txEl>
                                          </p:spTgt>
                                        </p:tgtEl>
                                      </p:cBhvr>
                                    </p:animEffect>
                                  </p:childTnLst>
                                </p:cTn>
                              </p:par>
                            </p:childTnLst>
                          </p:cTn>
                        </p:par>
                        <p:par>
                          <p:cTn id="16" fill="hold">
                            <p:stCondLst>
                              <p:cond delay="500"/>
                            </p:stCondLst>
                            <p:childTnLst>
                              <p:par>
                                <p:cTn id="17" presetID="6" presetClass="entr" presetSubtype="32"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circle(out)">
                                      <p:cBhvr>
                                        <p:cTn id="19" dur="10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fade">
                                      <p:cBhvr>
                                        <p:cTn id="24" dur="500"/>
                                        <p:tgtEl>
                                          <p:spTgt spid="38"/>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wipe(down)">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fade">
                                      <p:cBhvr>
                                        <p:cTn id="32" dur="500"/>
                                        <p:tgtEl>
                                          <p:spTgt spid="46"/>
                                        </p:tgtEl>
                                      </p:cBhvr>
                                    </p:animEffect>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47"/>
                                        </p:tgtEl>
                                        <p:attrNameLst>
                                          <p:attrName>style.visibility</p:attrName>
                                        </p:attrNameLst>
                                      </p:cBhvr>
                                      <p:to>
                                        <p:strVal val="visible"/>
                                      </p:to>
                                    </p:set>
                                    <p:animEffect transition="in" filter="fade">
                                      <p:cBhvr>
                                        <p:cTn id="36" dur="500"/>
                                        <p:tgtEl>
                                          <p:spTgt spid="4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fade">
                                      <p:cBhvr>
                                        <p:cTn id="41" dur="500"/>
                                        <p:tgtEl>
                                          <p:spTgt spid="44"/>
                                        </p:tgtEl>
                                      </p:cBhvr>
                                    </p:animEffect>
                                  </p:childTnLst>
                                </p:cTn>
                              </p:par>
                            </p:childTnLst>
                          </p:cTn>
                        </p:par>
                        <p:par>
                          <p:cTn id="42" fill="hold">
                            <p:stCondLst>
                              <p:cond delay="500"/>
                            </p:stCondLst>
                            <p:childTnLst>
                              <p:par>
                                <p:cTn id="43" presetID="10" presetClass="entr" presetSubtype="0" fill="hold" grpId="0" nodeType="after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500"/>
                                        <p:tgtEl>
                                          <p:spTgt spid="4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6">
                                            <p:txEl>
                                              <p:pRg st="1" end="1"/>
                                            </p:txEl>
                                          </p:spTgt>
                                        </p:tgtEl>
                                        <p:attrNameLst>
                                          <p:attrName>style.visibility</p:attrName>
                                        </p:attrNameLst>
                                      </p:cBhvr>
                                      <p:to>
                                        <p:strVal val="visible"/>
                                      </p:to>
                                    </p:set>
                                    <p:animEffect transition="in" filter="fade">
                                      <p:cBhvr>
                                        <p:cTn id="50" dur="500"/>
                                        <p:tgtEl>
                                          <p:spTgt spid="26">
                                            <p:txEl>
                                              <p:pRg st="1" end="1"/>
                                            </p:txEl>
                                          </p:spTgt>
                                        </p:tgtEl>
                                      </p:cBhvr>
                                    </p:animEffect>
                                  </p:childTnLst>
                                </p:cTn>
                              </p:par>
                              <p:par>
                                <p:cTn id="51" presetID="14" presetClass="exit" presetSubtype="10" fill="hold" nodeType="withEffect">
                                  <p:stCondLst>
                                    <p:cond delay="0"/>
                                  </p:stCondLst>
                                  <p:childTnLst>
                                    <p:animEffect transition="out" filter="randombar(horizontal)">
                                      <p:cBhvr>
                                        <p:cTn id="52" dur="500"/>
                                        <p:tgtEl>
                                          <p:spTgt spid="21"/>
                                        </p:tgtEl>
                                      </p:cBhvr>
                                    </p:animEffect>
                                    <p:set>
                                      <p:cBhvr>
                                        <p:cTn id="53" dur="1" fill="hold">
                                          <p:stCondLst>
                                            <p:cond delay="499"/>
                                          </p:stCondLst>
                                        </p:cTn>
                                        <p:tgtEl>
                                          <p:spTgt spid="21"/>
                                        </p:tgtEl>
                                        <p:attrNameLst>
                                          <p:attrName>style.visibility</p:attrName>
                                        </p:attrNameLst>
                                      </p:cBhvr>
                                      <p:to>
                                        <p:strVal val="hidden"/>
                                      </p:to>
                                    </p:set>
                                  </p:childTnLst>
                                </p:cTn>
                              </p:par>
                              <p:par>
                                <p:cTn id="54" presetID="14" presetClass="exit" presetSubtype="10" fill="hold" grpId="1" nodeType="withEffect">
                                  <p:stCondLst>
                                    <p:cond delay="0"/>
                                  </p:stCondLst>
                                  <p:childTnLst>
                                    <p:animEffect transition="out" filter="randombar(horizontal)">
                                      <p:cBhvr>
                                        <p:cTn id="55" dur="500"/>
                                        <p:tgtEl>
                                          <p:spTgt spid="47"/>
                                        </p:tgtEl>
                                      </p:cBhvr>
                                    </p:animEffect>
                                    <p:set>
                                      <p:cBhvr>
                                        <p:cTn id="56" dur="1" fill="hold">
                                          <p:stCondLst>
                                            <p:cond delay="499"/>
                                          </p:stCondLst>
                                        </p:cTn>
                                        <p:tgtEl>
                                          <p:spTgt spid="47"/>
                                        </p:tgtEl>
                                        <p:attrNameLst>
                                          <p:attrName>style.visibility</p:attrName>
                                        </p:attrNameLst>
                                      </p:cBhvr>
                                      <p:to>
                                        <p:strVal val="hidden"/>
                                      </p:to>
                                    </p:set>
                                  </p:childTnLst>
                                </p:cTn>
                              </p:par>
                              <p:par>
                                <p:cTn id="57" presetID="14" presetClass="exit" presetSubtype="10" fill="hold" grpId="0" nodeType="withEffect">
                                  <p:stCondLst>
                                    <p:cond delay="0"/>
                                  </p:stCondLst>
                                  <p:childTnLst>
                                    <p:animEffect transition="out" filter="randombar(horizontal)">
                                      <p:cBhvr>
                                        <p:cTn id="58" dur="500"/>
                                        <p:tgtEl>
                                          <p:spTgt spid="22"/>
                                        </p:tgtEl>
                                      </p:cBhvr>
                                    </p:animEffect>
                                    <p:set>
                                      <p:cBhvr>
                                        <p:cTn id="59" dur="1" fill="hold">
                                          <p:stCondLst>
                                            <p:cond delay="499"/>
                                          </p:stCondLst>
                                        </p:cTn>
                                        <p:tgtEl>
                                          <p:spTgt spid="22"/>
                                        </p:tgtEl>
                                        <p:attrNameLst>
                                          <p:attrName>style.visibility</p:attrName>
                                        </p:attrNameLst>
                                      </p:cBhvr>
                                      <p:to>
                                        <p:strVal val="hidden"/>
                                      </p:to>
                                    </p:set>
                                  </p:childTnLst>
                                </p:cTn>
                              </p:par>
                            </p:childTnLst>
                          </p:cTn>
                        </p:par>
                        <p:par>
                          <p:cTn id="60" fill="hold">
                            <p:stCondLst>
                              <p:cond delay="500"/>
                            </p:stCondLst>
                            <p:childTnLst>
                              <p:par>
                                <p:cTn id="61" presetID="1" presetClass="exit" presetSubtype="0" fill="hold" grpId="1" nodeType="afterEffect">
                                  <p:stCondLst>
                                    <p:cond delay="0"/>
                                  </p:stCondLst>
                                  <p:childTnLst>
                                    <p:set>
                                      <p:cBhvr>
                                        <p:cTn id="62" dur="1" fill="hold">
                                          <p:stCondLst>
                                            <p:cond delay="0"/>
                                          </p:stCondLst>
                                        </p:cTn>
                                        <p:tgtEl>
                                          <p:spTgt spid="38"/>
                                        </p:tgtEl>
                                        <p:attrNameLst>
                                          <p:attrName>style.visibility</p:attrName>
                                        </p:attrNameLst>
                                      </p:cBhvr>
                                      <p:to>
                                        <p:strVal val="hidden"/>
                                      </p:to>
                                    </p:set>
                                  </p:childTnLst>
                                </p:cTn>
                              </p:par>
                            </p:childTnLst>
                          </p:cTn>
                        </p:par>
                        <p:par>
                          <p:cTn id="63" fill="hold">
                            <p:stCondLst>
                              <p:cond delay="500"/>
                            </p:stCondLst>
                            <p:childTnLst>
                              <p:par>
                                <p:cTn id="64" presetID="1" presetClass="exit" presetSubtype="0" fill="hold" grpId="1" nodeType="afterEffect">
                                  <p:stCondLst>
                                    <p:cond delay="0"/>
                                  </p:stCondLst>
                                  <p:childTnLst>
                                    <p:set>
                                      <p:cBhvr>
                                        <p:cTn id="65" dur="1" fill="hold">
                                          <p:stCondLst>
                                            <p:cond delay="0"/>
                                          </p:stCondLst>
                                        </p:cTn>
                                        <p:tgtEl>
                                          <p:spTgt spid="39"/>
                                        </p:tgtEl>
                                        <p:attrNameLst>
                                          <p:attrName>style.visibility</p:attrName>
                                        </p:attrNameLst>
                                      </p:cBhvr>
                                      <p:to>
                                        <p:strVal val="hidden"/>
                                      </p:to>
                                    </p:set>
                                  </p:childTnLst>
                                </p:cTn>
                              </p:par>
                            </p:childTnLst>
                          </p:cTn>
                        </p:par>
                        <p:par>
                          <p:cTn id="66" fill="hold">
                            <p:stCondLst>
                              <p:cond delay="500"/>
                            </p:stCondLst>
                            <p:childTnLst>
                              <p:par>
                                <p:cTn id="67" presetID="14" presetClass="exit" presetSubtype="10" fill="hold" nodeType="afterEffect">
                                  <p:stCondLst>
                                    <p:cond delay="0"/>
                                  </p:stCondLst>
                                  <p:childTnLst>
                                    <p:animEffect transition="out" filter="randombar(horizontal)">
                                      <p:cBhvr>
                                        <p:cTn id="68" dur="500"/>
                                        <p:tgtEl>
                                          <p:spTgt spid="8"/>
                                        </p:tgtEl>
                                      </p:cBhvr>
                                    </p:animEffect>
                                    <p:set>
                                      <p:cBhvr>
                                        <p:cTn id="69"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7" grpId="0"/>
      <p:bldP spid="26" grpId="0" animBg="1"/>
      <p:bldP spid="38" grpId="0"/>
      <p:bldP spid="38" grpId="1"/>
      <p:bldP spid="39" grpId="0" animBg="1"/>
      <p:bldP spid="39" grpId="1" animBg="1"/>
      <p:bldP spid="44" grpId="0" animBg="1"/>
      <p:bldP spid="45" grpId="0" animBg="1"/>
      <p:bldP spid="46" grpId="0" animBg="1"/>
      <p:bldP spid="47" grpId="0" animBg="1"/>
      <p:bldP spid="47"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Example 1</a:t>
            </a:r>
          </a:p>
        </p:txBody>
      </p:sp>
      <p:graphicFrame>
        <p:nvGraphicFramePr>
          <p:cNvPr id="4" name="Table 3"/>
          <p:cNvGraphicFramePr>
            <a:graphicFrameLocks noGrp="1"/>
          </p:cNvGraphicFramePr>
          <p:nvPr/>
        </p:nvGraphicFramePr>
        <p:xfrm>
          <a:off x="4466165" y="1528465"/>
          <a:ext cx="3259670" cy="45720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370840">
                <a:tc>
                  <a:txBody>
                    <a:bodyPr/>
                    <a:lstStyle/>
                    <a:p>
                      <a:pPr algn="ctr"/>
                      <a:r>
                        <a:rPr lang="en-US" sz="2400" dirty="0"/>
                        <a:t>4</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10</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5</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5" name="TextBox 4"/>
          <p:cNvSpPr txBox="1"/>
          <p:nvPr/>
        </p:nvSpPr>
        <p:spPr>
          <a:xfrm>
            <a:off x="3009900" y="990600"/>
            <a:ext cx="6172200" cy="461665"/>
          </a:xfrm>
          <a:prstGeom prst="rect">
            <a:avLst/>
          </a:prstGeom>
          <a:noFill/>
        </p:spPr>
        <p:txBody>
          <a:bodyPr wrap="square" rtlCol="0">
            <a:spAutoFit/>
          </a:bodyPr>
          <a:lstStyle/>
          <a:p>
            <a:r>
              <a:rPr lang="en-US" sz="2400" dirty="0"/>
              <a:t>Sort the following elements in Ascending order</a:t>
            </a:r>
          </a:p>
        </p:txBody>
      </p:sp>
      <p:cxnSp>
        <p:nvCxnSpPr>
          <p:cNvPr id="6" name="Straight Connector 5"/>
          <p:cNvCxnSpPr/>
          <p:nvPr/>
        </p:nvCxnSpPr>
        <p:spPr>
          <a:xfrm>
            <a:off x="609600" y="2286000"/>
            <a:ext cx="10972800" cy="0"/>
          </a:xfrm>
          <a:prstGeom prst="line">
            <a:avLst/>
          </a:prstGeom>
        </p:spPr>
        <p:style>
          <a:lnRef idx="1">
            <a:schemeClr val="dk1"/>
          </a:lnRef>
          <a:fillRef idx="0">
            <a:schemeClr val="dk1"/>
          </a:fillRef>
          <a:effectRef idx="0">
            <a:schemeClr val="dk1"/>
          </a:effectRef>
          <a:fontRef idx="minor">
            <a:schemeClr val="tx1"/>
          </a:fontRef>
        </p:style>
      </p:cxnSp>
      <p:graphicFrame>
        <p:nvGraphicFramePr>
          <p:cNvPr id="7" name="Table 6"/>
          <p:cNvGraphicFramePr>
            <a:graphicFrameLocks noGrp="1"/>
          </p:cNvGraphicFramePr>
          <p:nvPr/>
        </p:nvGraphicFramePr>
        <p:xfrm>
          <a:off x="537755" y="3313784"/>
          <a:ext cx="3259670" cy="54864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548640">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b="1" dirty="0">
                          <a:solidFill>
                            <a:srgbClr val="C00000"/>
                          </a:solidFill>
                        </a:rPr>
                        <a:t>5</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1">
                        <a:lumMod val="60000"/>
                        <a:lumOff val="40000"/>
                      </a:schemeClr>
                    </a:solidFill>
                  </a:tcPr>
                </a:tc>
                <a:tc>
                  <a:txBody>
                    <a:bodyPr/>
                    <a:lstStyle/>
                    <a:p>
                      <a:pPr algn="ctr"/>
                      <a:r>
                        <a:rPr lang="en-US" sz="2400" b="1" dirty="0">
                          <a:solidFill>
                            <a:srgbClr val="C00000"/>
                          </a:solidFill>
                        </a:rPr>
                        <a:t>10</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0"/>
                  </a:ext>
                </a:extLst>
              </a:tr>
            </a:tbl>
          </a:graphicData>
        </a:graphic>
      </p:graphicFrame>
      <p:sp>
        <p:nvSpPr>
          <p:cNvPr id="11" name="Oval 10"/>
          <p:cNvSpPr/>
          <p:nvPr/>
        </p:nvSpPr>
        <p:spPr>
          <a:xfrm>
            <a:off x="6772825" y="2592585"/>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cxnSp>
        <p:nvCxnSpPr>
          <p:cNvPr id="12" name="Straight Connector 11"/>
          <p:cNvCxnSpPr>
            <a:stCxn id="11" idx="3"/>
            <a:endCxn id="13" idx="0"/>
          </p:cNvCxnSpPr>
          <p:nvPr/>
        </p:nvCxnSpPr>
        <p:spPr>
          <a:xfrm flipH="1">
            <a:off x="6518436" y="3138927"/>
            <a:ext cx="348127" cy="42169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6198396" y="356061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4</a:t>
            </a:r>
          </a:p>
        </p:txBody>
      </p:sp>
      <p:cxnSp>
        <p:nvCxnSpPr>
          <p:cNvPr id="15" name="Straight Connector 14"/>
          <p:cNvCxnSpPr>
            <a:stCxn id="11" idx="5"/>
            <a:endCxn id="16" idx="0"/>
          </p:cNvCxnSpPr>
          <p:nvPr/>
        </p:nvCxnSpPr>
        <p:spPr>
          <a:xfrm>
            <a:off x="7319167" y="3138927"/>
            <a:ext cx="383308" cy="42169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382435" y="356061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lumMod val="95000"/>
                  </a:schemeClr>
                </a:solidFill>
              </a:rPr>
              <a:t>3</a:t>
            </a:r>
          </a:p>
        </p:txBody>
      </p:sp>
      <p:sp>
        <p:nvSpPr>
          <p:cNvPr id="40" name="TextBox 39"/>
          <p:cNvSpPr txBox="1"/>
          <p:nvPr/>
        </p:nvSpPr>
        <p:spPr>
          <a:xfrm>
            <a:off x="609594" y="2303041"/>
            <a:ext cx="2690160" cy="400110"/>
          </a:xfrm>
          <a:prstGeom prst="rect">
            <a:avLst/>
          </a:prstGeom>
          <a:noFill/>
          <a:ln w="28575">
            <a:solidFill>
              <a:schemeClr val="tx1"/>
            </a:solidFill>
          </a:ln>
        </p:spPr>
        <p:txBody>
          <a:bodyPr wrap="none" rtlCol="0">
            <a:spAutoFit/>
          </a:bodyPr>
          <a:lstStyle/>
          <a:p>
            <a:r>
              <a:rPr lang="en-IN" sz="2000" b="1" dirty="0"/>
              <a:t>Step 3 : Apply Heap Sort</a:t>
            </a:r>
            <a:endParaRPr lang="en-US" sz="2000" b="1" dirty="0"/>
          </a:p>
        </p:txBody>
      </p:sp>
      <mc:AlternateContent xmlns:mc="http://schemas.openxmlformats.org/markup-compatibility/2006" xmlns:a14="http://schemas.microsoft.com/office/drawing/2010/main">
        <mc:Choice Requires="a14">
          <p:graphicFrame>
            <p:nvGraphicFramePr>
              <p:cNvPr id="41" name="Table 40"/>
              <p:cNvGraphicFramePr>
                <a:graphicFrameLocks noGrp="1"/>
              </p:cNvGraphicFramePr>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1</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2</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3</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4</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5</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9224174"/>
                      </a:ext>
                    </a:extLst>
                  </a:tr>
                </a:tbl>
              </a:graphicData>
            </a:graphic>
          </p:graphicFrame>
        </mc:Choice>
        <mc:Fallback xmlns="">
          <p:graphicFrame>
            <p:nvGraphicFramePr>
              <p:cNvPr id="41" name="Table 40"/>
              <p:cNvGraphicFramePr>
                <a:graphicFrameLocks noGrp="1"/>
              </p:cNvGraphicFramePr>
              <p:nvPr>
                <p:extLst>
                  <p:ext uri="{D42A27DB-BD31-4B8C-83A1-F6EECF244321}">
                    <p14:modId xmlns:p14="http://schemas.microsoft.com/office/powerpoint/2010/main" val="3275512645"/>
                  </p:ext>
                </p:extLst>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r="-406604"/>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90598" r="-268376"/>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214423" r="-20192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311429" r="-1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411429"/>
                          </a:stretch>
                        </a:blipFill>
                      </a:tcPr>
                    </a:tc>
                    <a:extLst>
                      <a:ext uri="{0D108BD9-81ED-4DB2-BD59-A6C34878D82A}">
                        <a16:rowId xmlns:a16="http://schemas.microsoft.com/office/drawing/2014/main" val="2199224174"/>
                      </a:ext>
                    </a:extLst>
                  </a:tr>
                </a:tbl>
              </a:graphicData>
            </a:graphic>
          </p:graphicFrame>
        </mc:Fallback>
      </mc:AlternateContent>
      <p:sp>
        <p:nvSpPr>
          <p:cNvPr id="27" name="TextBox 26"/>
          <p:cNvSpPr txBox="1"/>
          <p:nvPr/>
        </p:nvSpPr>
        <p:spPr>
          <a:xfrm>
            <a:off x="9014011" y="2605138"/>
            <a:ext cx="2514600" cy="707886"/>
          </a:xfrm>
          <a:prstGeom prst="rect">
            <a:avLst/>
          </a:prstGeom>
          <a:noFill/>
        </p:spPr>
        <p:txBody>
          <a:bodyPr wrap="square" rtlCol="0">
            <a:spAutoFit/>
          </a:bodyPr>
          <a:lstStyle/>
          <a:p>
            <a:r>
              <a:rPr lang="en-US" sz="2000" b="1" dirty="0"/>
              <a:t>Create Max Heap again</a:t>
            </a:r>
          </a:p>
        </p:txBody>
      </p:sp>
      <p:sp>
        <p:nvSpPr>
          <p:cNvPr id="26" name="TextBox 25"/>
          <p:cNvSpPr txBox="1"/>
          <p:nvPr/>
        </p:nvSpPr>
        <p:spPr>
          <a:xfrm>
            <a:off x="569874" y="4706468"/>
            <a:ext cx="3524794" cy="1200329"/>
          </a:xfrm>
          <a:prstGeom prst="rect">
            <a:avLst/>
          </a:prstGeom>
          <a:solidFill>
            <a:srgbClr val="FCE0EE"/>
          </a:solidFill>
        </p:spPr>
        <p:txBody>
          <a:bodyPr wrap="square" rtlCol="0">
            <a:spAutoFit/>
          </a:bodyPr>
          <a:lstStyle/>
          <a:p>
            <a:pPr marL="457200" indent="-457200" algn="just">
              <a:buAutoNum type="arabicPeriod"/>
            </a:pPr>
            <a:r>
              <a:rPr lang="en-US" sz="2400" dirty="0">
                <a:solidFill>
                  <a:srgbClr val="A71160"/>
                </a:solidFill>
              </a:rPr>
              <a:t>Swap the first and the last nodes and </a:t>
            </a:r>
          </a:p>
          <a:p>
            <a:pPr marL="457200" indent="-457200" algn="just">
              <a:buAutoNum type="arabicPeriod"/>
            </a:pPr>
            <a:r>
              <a:rPr lang="en-US" sz="2400" dirty="0">
                <a:solidFill>
                  <a:srgbClr val="A71160"/>
                </a:solidFill>
              </a:rPr>
              <a:t>Delete the last node.</a:t>
            </a:r>
          </a:p>
        </p:txBody>
      </p:sp>
      <p:sp>
        <p:nvSpPr>
          <p:cNvPr id="44" name="TextBox 43"/>
          <p:cNvSpPr txBox="1"/>
          <p:nvPr/>
        </p:nvSpPr>
        <p:spPr>
          <a:xfrm>
            <a:off x="1250067" y="3366246"/>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1</a:t>
            </a:r>
          </a:p>
        </p:txBody>
      </p:sp>
      <p:sp>
        <p:nvSpPr>
          <p:cNvPr id="45" name="TextBox 44"/>
          <p:cNvSpPr txBox="1"/>
          <p:nvPr/>
        </p:nvSpPr>
        <p:spPr>
          <a:xfrm>
            <a:off x="598332" y="3354210"/>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4</a:t>
            </a:r>
          </a:p>
        </p:txBody>
      </p:sp>
      <p:sp>
        <p:nvSpPr>
          <p:cNvPr id="25" name="Freeform 11"/>
          <p:cNvSpPr>
            <a:spLocks/>
          </p:cNvSpPr>
          <p:nvPr/>
        </p:nvSpPr>
        <p:spPr bwMode="auto">
          <a:xfrm>
            <a:off x="6302188" y="2987644"/>
            <a:ext cx="319927" cy="439114"/>
          </a:xfrm>
          <a:custGeom>
            <a:avLst/>
            <a:gdLst>
              <a:gd name="T0" fmla="*/ 0 w 162"/>
              <a:gd name="T1" fmla="*/ 264 h 264"/>
              <a:gd name="T2" fmla="*/ 30 w 162"/>
              <a:gd name="T3" fmla="*/ 162 h 264"/>
              <a:gd name="T4" fmla="*/ 90 w 162"/>
              <a:gd name="T5" fmla="*/ 66 h 264"/>
              <a:gd name="T6" fmla="*/ 162 w 162"/>
              <a:gd name="T7" fmla="*/ 0 h 264"/>
              <a:gd name="T8" fmla="*/ 0 60000 65536"/>
              <a:gd name="T9" fmla="*/ 0 60000 65536"/>
              <a:gd name="T10" fmla="*/ 0 60000 65536"/>
              <a:gd name="T11" fmla="*/ 0 60000 65536"/>
              <a:gd name="T12" fmla="*/ 0 w 162"/>
              <a:gd name="T13" fmla="*/ 0 h 264"/>
              <a:gd name="T14" fmla="*/ 162 w 162"/>
              <a:gd name="T15" fmla="*/ 264 h 264"/>
            </a:gdLst>
            <a:ahLst/>
            <a:cxnLst>
              <a:cxn ang="T8">
                <a:pos x="T0" y="T1"/>
              </a:cxn>
              <a:cxn ang="T9">
                <a:pos x="T2" y="T3"/>
              </a:cxn>
              <a:cxn ang="T10">
                <a:pos x="T4" y="T5"/>
              </a:cxn>
              <a:cxn ang="T11">
                <a:pos x="T6" y="T7"/>
              </a:cxn>
            </a:cxnLst>
            <a:rect l="T12" t="T13" r="T14" b="T15"/>
            <a:pathLst>
              <a:path w="162" h="264">
                <a:moveTo>
                  <a:pt x="0" y="264"/>
                </a:moveTo>
                <a:cubicBezTo>
                  <a:pt x="5" y="247"/>
                  <a:pt x="15" y="195"/>
                  <a:pt x="30" y="162"/>
                </a:cubicBezTo>
                <a:cubicBezTo>
                  <a:pt x="45" y="129"/>
                  <a:pt x="68" y="93"/>
                  <a:pt x="90" y="66"/>
                </a:cubicBezTo>
                <a:cubicBezTo>
                  <a:pt x="112" y="39"/>
                  <a:pt x="147" y="14"/>
                  <a:pt x="162" y="0"/>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2"/>
          <p:cNvSpPr>
            <a:spLocks/>
          </p:cNvSpPr>
          <p:nvPr/>
        </p:nvSpPr>
        <p:spPr bwMode="auto">
          <a:xfrm>
            <a:off x="6799729" y="3240741"/>
            <a:ext cx="269875" cy="409575"/>
          </a:xfrm>
          <a:custGeom>
            <a:avLst/>
            <a:gdLst>
              <a:gd name="T0" fmla="*/ 156 w 170"/>
              <a:gd name="T1" fmla="*/ 0 h 258"/>
              <a:gd name="T2" fmla="*/ 144 w 170"/>
              <a:gd name="T3" fmla="*/ 126 h 258"/>
              <a:gd name="T4" fmla="*/ 0 w 170"/>
              <a:gd name="T5" fmla="*/ 258 h 258"/>
              <a:gd name="T6" fmla="*/ 0 60000 65536"/>
              <a:gd name="T7" fmla="*/ 0 60000 65536"/>
              <a:gd name="T8" fmla="*/ 0 60000 65536"/>
              <a:gd name="T9" fmla="*/ 0 w 170"/>
              <a:gd name="T10" fmla="*/ 0 h 258"/>
              <a:gd name="T11" fmla="*/ 170 w 170"/>
              <a:gd name="T12" fmla="*/ 258 h 258"/>
            </a:gdLst>
            <a:ahLst/>
            <a:cxnLst>
              <a:cxn ang="T6">
                <a:pos x="T0" y="T1"/>
              </a:cxn>
              <a:cxn ang="T7">
                <a:pos x="T2" y="T3"/>
              </a:cxn>
              <a:cxn ang="T8">
                <a:pos x="T4" y="T5"/>
              </a:cxn>
            </a:cxnLst>
            <a:rect l="T9" t="T10" r="T11" b="T12"/>
            <a:pathLst>
              <a:path w="170" h="258">
                <a:moveTo>
                  <a:pt x="156" y="0"/>
                </a:moveTo>
                <a:cubicBezTo>
                  <a:pt x="154" y="21"/>
                  <a:pt x="170" y="83"/>
                  <a:pt x="144" y="126"/>
                </a:cubicBezTo>
                <a:cubicBezTo>
                  <a:pt x="118" y="169"/>
                  <a:pt x="30" y="231"/>
                  <a:pt x="0" y="258"/>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9"/>
          <p:cNvSpPr/>
          <p:nvPr/>
        </p:nvSpPr>
        <p:spPr>
          <a:xfrm>
            <a:off x="874059" y="3870833"/>
            <a:ext cx="699247" cy="188258"/>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w="19050">
            <a:solidFill>
              <a:srgbClr val="ED524F"/>
            </a:solidFill>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1" name="TextBox 30"/>
          <p:cNvSpPr txBox="1"/>
          <p:nvPr/>
        </p:nvSpPr>
        <p:spPr>
          <a:xfrm>
            <a:off x="820273" y="4030417"/>
            <a:ext cx="762000" cy="369332"/>
          </a:xfrm>
          <a:prstGeom prst="rect">
            <a:avLst/>
          </a:prstGeom>
          <a:noFill/>
        </p:spPr>
        <p:txBody>
          <a:bodyPr wrap="square" rtlCol="0">
            <a:spAutoFit/>
          </a:bodyPr>
          <a:lstStyle/>
          <a:p>
            <a:pPr algn="ctr"/>
            <a:r>
              <a:rPr lang="en-US" b="1" dirty="0">
                <a:solidFill>
                  <a:srgbClr val="0070C0"/>
                </a:solidFill>
              </a:rPr>
              <a:t>Swap</a:t>
            </a:r>
          </a:p>
        </p:txBody>
      </p:sp>
      <p:sp>
        <p:nvSpPr>
          <p:cNvPr id="35" name="TextBox 34"/>
          <p:cNvSpPr txBox="1"/>
          <p:nvPr/>
        </p:nvSpPr>
        <p:spPr>
          <a:xfrm>
            <a:off x="9014011" y="3452302"/>
            <a:ext cx="2514600" cy="400110"/>
          </a:xfrm>
          <a:prstGeom prst="rect">
            <a:avLst/>
          </a:prstGeom>
          <a:noFill/>
        </p:spPr>
        <p:txBody>
          <a:bodyPr wrap="square" rtlCol="0">
            <a:spAutoFit/>
          </a:bodyPr>
          <a:lstStyle/>
          <a:p>
            <a:r>
              <a:rPr lang="en-US" sz="2000" b="1" dirty="0"/>
              <a:t>Max Heap is created</a:t>
            </a:r>
          </a:p>
        </p:txBody>
      </p:sp>
      <p:sp>
        <p:nvSpPr>
          <p:cNvPr id="36" name="Freeform 17"/>
          <p:cNvSpPr>
            <a:spLocks/>
          </p:cNvSpPr>
          <p:nvPr/>
        </p:nvSpPr>
        <p:spPr bwMode="auto">
          <a:xfrm>
            <a:off x="7090942" y="3271907"/>
            <a:ext cx="312738" cy="412750"/>
          </a:xfrm>
          <a:custGeom>
            <a:avLst/>
            <a:gdLst>
              <a:gd name="T0" fmla="*/ 197 w 197"/>
              <a:gd name="T1" fmla="*/ 260 h 260"/>
              <a:gd name="T2" fmla="*/ 114 w 197"/>
              <a:gd name="T3" fmla="*/ 233 h 260"/>
              <a:gd name="T4" fmla="*/ 41 w 197"/>
              <a:gd name="T5" fmla="*/ 164 h 260"/>
              <a:gd name="T6" fmla="*/ 0 w 197"/>
              <a:gd name="T7" fmla="*/ 0 h 260"/>
              <a:gd name="T8" fmla="*/ 0 60000 65536"/>
              <a:gd name="T9" fmla="*/ 0 60000 65536"/>
              <a:gd name="T10" fmla="*/ 0 60000 65536"/>
              <a:gd name="T11" fmla="*/ 0 60000 65536"/>
              <a:gd name="T12" fmla="*/ 0 w 197"/>
              <a:gd name="T13" fmla="*/ 0 h 260"/>
              <a:gd name="T14" fmla="*/ 197 w 197"/>
              <a:gd name="T15" fmla="*/ 260 h 260"/>
            </a:gdLst>
            <a:ahLst/>
            <a:cxnLst>
              <a:cxn ang="T8">
                <a:pos x="T0" y="T1"/>
              </a:cxn>
              <a:cxn ang="T9">
                <a:pos x="T2" y="T3"/>
              </a:cxn>
              <a:cxn ang="T10">
                <a:pos x="T4" y="T5"/>
              </a:cxn>
              <a:cxn ang="T11">
                <a:pos x="T6" y="T7"/>
              </a:cxn>
            </a:cxnLst>
            <a:rect l="T12" t="T13" r="T14" b="T15"/>
            <a:pathLst>
              <a:path w="197" h="260">
                <a:moveTo>
                  <a:pt x="197" y="260"/>
                </a:moveTo>
                <a:cubicBezTo>
                  <a:pt x="183" y="256"/>
                  <a:pt x="140" y="249"/>
                  <a:pt x="114" y="233"/>
                </a:cubicBezTo>
                <a:cubicBezTo>
                  <a:pt x="88" y="217"/>
                  <a:pt x="60" y="203"/>
                  <a:pt x="41" y="164"/>
                </a:cubicBezTo>
                <a:cubicBezTo>
                  <a:pt x="22" y="125"/>
                  <a:pt x="9" y="34"/>
                  <a:pt x="0" y="0"/>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solidFill>
                <a:srgbClr val="FF0000"/>
              </a:solidFill>
            </a:endParaRPr>
          </a:p>
        </p:txBody>
      </p:sp>
      <p:sp>
        <p:nvSpPr>
          <p:cNvPr id="37" name="Freeform 18"/>
          <p:cNvSpPr>
            <a:spLocks/>
          </p:cNvSpPr>
          <p:nvPr/>
        </p:nvSpPr>
        <p:spPr bwMode="auto">
          <a:xfrm>
            <a:off x="7608128" y="3012517"/>
            <a:ext cx="249238" cy="449263"/>
          </a:xfrm>
          <a:custGeom>
            <a:avLst/>
            <a:gdLst>
              <a:gd name="T0" fmla="*/ 0 w 157"/>
              <a:gd name="T1" fmla="*/ 0 h 283"/>
              <a:gd name="T2" fmla="*/ 91 w 157"/>
              <a:gd name="T3" fmla="*/ 41 h 283"/>
              <a:gd name="T4" fmla="*/ 147 w 157"/>
              <a:gd name="T5" fmla="*/ 151 h 283"/>
              <a:gd name="T6" fmla="*/ 152 w 157"/>
              <a:gd name="T7" fmla="*/ 283 h 283"/>
              <a:gd name="T8" fmla="*/ 0 60000 65536"/>
              <a:gd name="T9" fmla="*/ 0 60000 65536"/>
              <a:gd name="T10" fmla="*/ 0 60000 65536"/>
              <a:gd name="T11" fmla="*/ 0 60000 65536"/>
              <a:gd name="T12" fmla="*/ 0 w 157"/>
              <a:gd name="T13" fmla="*/ 0 h 283"/>
              <a:gd name="T14" fmla="*/ 157 w 157"/>
              <a:gd name="T15" fmla="*/ 283 h 283"/>
            </a:gdLst>
            <a:ahLst/>
            <a:cxnLst>
              <a:cxn ang="T8">
                <a:pos x="T0" y="T1"/>
              </a:cxn>
              <a:cxn ang="T9">
                <a:pos x="T2" y="T3"/>
              </a:cxn>
              <a:cxn ang="T10">
                <a:pos x="T4" y="T5"/>
              </a:cxn>
              <a:cxn ang="T11">
                <a:pos x="T6" y="T7"/>
              </a:cxn>
            </a:cxnLst>
            <a:rect l="T12" t="T13" r="T14" b="T15"/>
            <a:pathLst>
              <a:path w="157" h="283">
                <a:moveTo>
                  <a:pt x="0" y="0"/>
                </a:moveTo>
                <a:cubicBezTo>
                  <a:pt x="15" y="7"/>
                  <a:pt x="67" y="16"/>
                  <a:pt x="91" y="41"/>
                </a:cubicBezTo>
                <a:cubicBezTo>
                  <a:pt x="115" y="66"/>
                  <a:pt x="137" y="111"/>
                  <a:pt x="147" y="151"/>
                </a:cubicBezTo>
                <a:cubicBezTo>
                  <a:pt x="157" y="191"/>
                  <a:pt x="151" y="256"/>
                  <a:pt x="152" y="283"/>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solidFill>
                <a:srgbClr val="FF0000"/>
              </a:solidFill>
            </a:endParaRPr>
          </a:p>
        </p:txBody>
      </p:sp>
      <p:sp>
        <p:nvSpPr>
          <p:cNvPr id="46" name="Freeform 45"/>
          <p:cNvSpPr/>
          <p:nvPr/>
        </p:nvSpPr>
        <p:spPr>
          <a:xfrm>
            <a:off x="882768" y="3879541"/>
            <a:ext cx="1259541" cy="183008"/>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w="19050">
            <a:solidFill>
              <a:srgbClr val="ED524F"/>
            </a:solidFill>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 name="TextBox 2"/>
          <p:cNvSpPr txBox="1"/>
          <p:nvPr/>
        </p:nvSpPr>
        <p:spPr>
          <a:xfrm>
            <a:off x="6905584" y="2717074"/>
            <a:ext cx="418011" cy="400110"/>
          </a:xfrm>
          <a:prstGeom prst="rect">
            <a:avLst/>
          </a:prstGeom>
          <a:solidFill>
            <a:srgbClr val="002060"/>
          </a:solidFill>
        </p:spPr>
        <p:txBody>
          <a:bodyPr wrap="square" rtlCol="0">
            <a:spAutoFit/>
          </a:bodyPr>
          <a:lstStyle/>
          <a:p>
            <a:pPr algn="ctr"/>
            <a:r>
              <a:rPr lang="en-US" sz="2000" b="1" dirty="0">
                <a:solidFill>
                  <a:schemeClr val="accent5"/>
                </a:solidFill>
              </a:rPr>
              <a:t>4</a:t>
            </a:r>
          </a:p>
        </p:txBody>
      </p:sp>
      <p:sp>
        <p:nvSpPr>
          <p:cNvPr id="48" name="TextBox 47"/>
          <p:cNvSpPr txBox="1"/>
          <p:nvPr/>
        </p:nvSpPr>
        <p:spPr>
          <a:xfrm>
            <a:off x="7493470" y="3692434"/>
            <a:ext cx="418011" cy="400110"/>
          </a:xfrm>
          <a:prstGeom prst="rect">
            <a:avLst/>
          </a:prstGeom>
          <a:solidFill>
            <a:srgbClr val="002060"/>
          </a:solidFill>
        </p:spPr>
        <p:txBody>
          <a:bodyPr wrap="square" rtlCol="0">
            <a:spAutoFit/>
          </a:bodyPr>
          <a:lstStyle/>
          <a:p>
            <a:pPr algn="ctr"/>
            <a:r>
              <a:rPr lang="en-US" sz="2000" b="1" dirty="0">
                <a:solidFill>
                  <a:schemeClr val="accent5"/>
                </a:solidFill>
              </a:rPr>
              <a:t>4</a:t>
            </a:r>
          </a:p>
        </p:txBody>
      </p:sp>
      <p:sp>
        <p:nvSpPr>
          <p:cNvPr id="49" name="TextBox 48"/>
          <p:cNvSpPr txBox="1"/>
          <p:nvPr/>
        </p:nvSpPr>
        <p:spPr>
          <a:xfrm>
            <a:off x="6309431" y="3680603"/>
            <a:ext cx="418011" cy="400110"/>
          </a:xfrm>
          <a:prstGeom prst="rect">
            <a:avLst/>
          </a:prstGeom>
          <a:solidFill>
            <a:srgbClr val="002060"/>
          </a:solidFill>
        </p:spPr>
        <p:txBody>
          <a:bodyPr wrap="square" rtlCol="0">
            <a:spAutoFit/>
          </a:bodyPr>
          <a:lstStyle/>
          <a:p>
            <a:pPr algn="ctr"/>
            <a:r>
              <a:rPr lang="en-US" sz="2000" b="1" dirty="0">
                <a:solidFill>
                  <a:schemeClr val="accent5"/>
                </a:solidFill>
              </a:rPr>
              <a:t>1</a:t>
            </a:r>
          </a:p>
        </p:txBody>
      </p:sp>
      <p:sp>
        <p:nvSpPr>
          <p:cNvPr id="50" name="TextBox 49"/>
          <p:cNvSpPr txBox="1"/>
          <p:nvPr/>
        </p:nvSpPr>
        <p:spPr>
          <a:xfrm>
            <a:off x="6883860" y="2712570"/>
            <a:ext cx="418011" cy="400110"/>
          </a:xfrm>
          <a:prstGeom prst="rect">
            <a:avLst/>
          </a:prstGeom>
          <a:solidFill>
            <a:srgbClr val="002060"/>
          </a:solidFill>
        </p:spPr>
        <p:txBody>
          <a:bodyPr wrap="square" rtlCol="0">
            <a:spAutoFit/>
          </a:bodyPr>
          <a:lstStyle/>
          <a:p>
            <a:pPr algn="ctr"/>
            <a:r>
              <a:rPr lang="en-US" sz="2000" b="1" dirty="0">
                <a:solidFill>
                  <a:schemeClr val="accent5"/>
                </a:solidFill>
              </a:rPr>
              <a:t>3</a:t>
            </a:r>
          </a:p>
        </p:txBody>
      </p:sp>
      <p:sp>
        <p:nvSpPr>
          <p:cNvPr id="51" name="TextBox 50"/>
          <p:cNvSpPr txBox="1"/>
          <p:nvPr/>
        </p:nvSpPr>
        <p:spPr>
          <a:xfrm>
            <a:off x="1880285" y="3358693"/>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4</a:t>
            </a:r>
          </a:p>
        </p:txBody>
      </p:sp>
      <p:sp>
        <p:nvSpPr>
          <p:cNvPr id="52" name="TextBox 51"/>
          <p:cNvSpPr txBox="1"/>
          <p:nvPr/>
        </p:nvSpPr>
        <p:spPr>
          <a:xfrm>
            <a:off x="589367" y="3372140"/>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3</a:t>
            </a:r>
          </a:p>
        </p:txBody>
      </p:sp>
    </p:spTree>
    <p:extLst>
      <p:ext uri="{BB962C8B-B14F-4D97-AF65-F5344CB8AC3E}">
        <p14:creationId xmlns:p14="http://schemas.microsoft.com/office/powerpoint/2010/main" val="1198646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down)">
                                      <p:cBhvr>
                                        <p:cTn id="12" dur="500"/>
                                        <p:tgtEl>
                                          <p:spTgt spid="25"/>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up)">
                                      <p:cBhvr>
                                        <p:cTn id="16" dur="500"/>
                                        <p:tgtEl>
                                          <p:spTgt spid="2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wipe(down)">
                                      <p:cBhvr>
                                        <p:cTn id="24" dur="500"/>
                                        <p:tgtEl>
                                          <p:spTgt spid="3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500"/>
                                        <p:tgtEl>
                                          <p:spTgt spid="3"/>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fade">
                                      <p:cBhvr>
                                        <p:cTn id="33" dur="500"/>
                                        <p:tgtEl>
                                          <p:spTgt spid="4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fade">
                                      <p:cBhvr>
                                        <p:cTn id="38" dur="500"/>
                                        <p:tgtEl>
                                          <p:spTgt spid="44"/>
                                        </p:tgtEl>
                                      </p:cBhvr>
                                    </p:animEffect>
                                  </p:childTnLst>
                                </p:cTn>
                              </p:par>
                            </p:childTnLst>
                          </p:cTn>
                        </p:par>
                        <p:par>
                          <p:cTn id="39" fill="hold">
                            <p:stCondLst>
                              <p:cond delay="500"/>
                            </p:stCondLst>
                            <p:childTnLst>
                              <p:par>
                                <p:cTn id="40" presetID="10" presetClass="entr" presetSubtype="0" fill="hold" grpId="0" nodeType="after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5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27"/>
                                        </p:tgtEl>
                                        <p:attrNameLst>
                                          <p:attrName>style.visibility</p:attrName>
                                        </p:attrNameLst>
                                      </p:cBhvr>
                                      <p:to>
                                        <p:strVal val="hidden"/>
                                      </p:to>
                                    </p:se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500"/>
                                        <p:tgtEl>
                                          <p:spTgt spid="35"/>
                                        </p:tgtEl>
                                      </p:cBhvr>
                                    </p:animEffect>
                                  </p:childTnLst>
                                </p:cTn>
                              </p:par>
                              <p:par>
                                <p:cTn id="50" presetID="1" presetClass="exit" presetSubtype="0" fill="hold" grpId="1" nodeType="withEffect">
                                  <p:stCondLst>
                                    <p:cond delay="0"/>
                                  </p:stCondLst>
                                  <p:childTnLst>
                                    <p:set>
                                      <p:cBhvr>
                                        <p:cTn id="51" dur="1" fill="hold">
                                          <p:stCondLst>
                                            <p:cond delay="0"/>
                                          </p:stCondLst>
                                        </p:cTn>
                                        <p:tgtEl>
                                          <p:spTgt spid="25"/>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28"/>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par>
                                <p:cTn id="59" presetID="10" presetClass="entr" presetSubtype="0" fill="hold" nodeType="withEffect">
                                  <p:stCondLst>
                                    <p:cond delay="0"/>
                                  </p:stCondLst>
                                  <p:childTnLst>
                                    <p:set>
                                      <p:cBhvr>
                                        <p:cTn id="60" dur="1" fill="hold">
                                          <p:stCondLst>
                                            <p:cond delay="0"/>
                                          </p:stCondLst>
                                        </p:cTn>
                                        <p:tgtEl>
                                          <p:spTgt spid="26">
                                            <p:txEl>
                                              <p:pRg st="0" end="0"/>
                                            </p:txEl>
                                          </p:spTgt>
                                        </p:tgtEl>
                                        <p:attrNameLst>
                                          <p:attrName>style.visibility</p:attrName>
                                        </p:attrNameLst>
                                      </p:cBhvr>
                                      <p:to>
                                        <p:strVal val="visible"/>
                                      </p:to>
                                    </p:set>
                                    <p:animEffect transition="in" filter="fade">
                                      <p:cBhvr>
                                        <p:cTn id="61" dur="500"/>
                                        <p:tgtEl>
                                          <p:spTgt spid="26">
                                            <p:txEl>
                                              <p:pRg st="0" end="0"/>
                                            </p:txEl>
                                          </p:spTgt>
                                        </p:tgtEl>
                                      </p:cBhvr>
                                    </p:animEffect>
                                  </p:childTnLst>
                                </p:cTn>
                              </p:par>
                              <p:par>
                                <p:cTn id="62" presetID="1" presetClass="exit" presetSubtype="0" fill="hold" grpId="1" nodeType="withEffect">
                                  <p:stCondLst>
                                    <p:cond delay="0"/>
                                  </p:stCondLst>
                                  <p:childTnLst>
                                    <p:set>
                                      <p:cBhvr>
                                        <p:cTn id="63" dur="1" fill="hold">
                                          <p:stCondLst>
                                            <p:cond delay="0"/>
                                          </p:stCondLst>
                                        </p:cTn>
                                        <p:tgtEl>
                                          <p:spTgt spid="30"/>
                                        </p:tgtEl>
                                        <p:attrNameLst>
                                          <p:attrName>style.visibility</p:attrName>
                                        </p:attrNameLst>
                                      </p:cBhvr>
                                      <p:to>
                                        <p:strVal val="hidden"/>
                                      </p:to>
                                    </p:set>
                                  </p:childTnLst>
                                </p:cTn>
                              </p:par>
                              <p:par>
                                <p:cTn id="64" presetID="22" presetClass="entr" presetSubtype="4" fill="hold" grpId="0" nodeType="withEffect">
                                  <p:stCondLst>
                                    <p:cond delay="0"/>
                                  </p:stCondLst>
                                  <p:childTnLst>
                                    <p:set>
                                      <p:cBhvr>
                                        <p:cTn id="65" dur="1" fill="hold">
                                          <p:stCondLst>
                                            <p:cond delay="0"/>
                                          </p:stCondLst>
                                        </p:cTn>
                                        <p:tgtEl>
                                          <p:spTgt spid="46"/>
                                        </p:tgtEl>
                                        <p:attrNameLst>
                                          <p:attrName>style.visibility</p:attrName>
                                        </p:attrNameLst>
                                      </p:cBhvr>
                                      <p:to>
                                        <p:strVal val="visible"/>
                                      </p:to>
                                    </p:set>
                                    <p:animEffect transition="in" filter="wipe(down)">
                                      <p:cBhvr>
                                        <p:cTn id="66" dur="500"/>
                                        <p:tgtEl>
                                          <p:spTgt spid="46"/>
                                        </p:tgtEl>
                                      </p:cBhvr>
                                    </p:animEffect>
                                  </p:childTnLst>
                                </p:cTn>
                              </p:par>
                              <p:par>
                                <p:cTn id="67" presetID="63" presetClass="path" presetSubtype="0" accel="50000" decel="50000" fill="hold" grpId="1" nodeType="withEffect">
                                  <p:stCondLst>
                                    <p:cond delay="0"/>
                                  </p:stCondLst>
                                  <p:childTnLst>
                                    <p:animMotion origin="layout" path="M 2.29167E-6 -3.33333E-6 L 0.03815 0.00301 " pathEditMode="relative" rAng="0" ptsTypes="AA">
                                      <p:cBhvr>
                                        <p:cTn id="68" dur="2000" fill="hold"/>
                                        <p:tgtEl>
                                          <p:spTgt spid="31"/>
                                        </p:tgtEl>
                                        <p:attrNameLst>
                                          <p:attrName>ppt_x</p:attrName>
                                          <p:attrName>ppt_y</p:attrName>
                                        </p:attrNameLst>
                                      </p:cBhvr>
                                      <p:rCtr x="1901" y="139"/>
                                    </p:animMotion>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wipe(up)">
                                      <p:cBhvr>
                                        <p:cTn id="73" dur="500"/>
                                        <p:tgtEl>
                                          <p:spTgt spid="37"/>
                                        </p:tgtEl>
                                      </p:cBhvr>
                                    </p:animEffect>
                                  </p:childTnLst>
                                </p:cTn>
                              </p:par>
                            </p:childTnLst>
                          </p:cTn>
                        </p:par>
                        <p:par>
                          <p:cTn id="74" fill="hold">
                            <p:stCondLst>
                              <p:cond delay="500"/>
                            </p:stCondLst>
                            <p:childTnLst>
                              <p:par>
                                <p:cTn id="75" presetID="22" presetClass="entr" presetSubtype="4" fill="hold" grpId="0" nodeType="after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wipe(down)">
                                      <p:cBhvr>
                                        <p:cTn id="77" dur="500"/>
                                        <p:tgtEl>
                                          <p:spTgt spid="3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fade">
                                      <p:cBhvr>
                                        <p:cTn id="82" dur="500"/>
                                        <p:tgtEl>
                                          <p:spTgt spid="48"/>
                                        </p:tgtEl>
                                      </p:cBhvr>
                                    </p:animEffect>
                                  </p:childTnLst>
                                </p:cTn>
                              </p:par>
                            </p:childTnLst>
                          </p:cTn>
                        </p:par>
                        <p:par>
                          <p:cTn id="83" fill="hold">
                            <p:stCondLst>
                              <p:cond delay="500"/>
                            </p:stCondLst>
                            <p:childTnLst>
                              <p:par>
                                <p:cTn id="84" presetID="10" presetClass="entr" presetSubtype="0" fill="hold" grpId="0" nodeType="afterEffect">
                                  <p:stCondLst>
                                    <p:cond delay="0"/>
                                  </p:stCondLst>
                                  <p:childTnLst>
                                    <p:set>
                                      <p:cBhvr>
                                        <p:cTn id="85" dur="1" fill="hold">
                                          <p:stCondLst>
                                            <p:cond delay="0"/>
                                          </p:stCondLst>
                                        </p:cTn>
                                        <p:tgtEl>
                                          <p:spTgt spid="50"/>
                                        </p:tgtEl>
                                        <p:attrNameLst>
                                          <p:attrName>style.visibility</p:attrName>
                                        </p:attrNameLst>
                                      </p:cBhvr>
                                      <p:to>
                                        <p:strVal val="visible"/>
                                      </p:to>
                                    </p:set>
                                    <p:animEffect transition="in" filter="fade">
                                      <p:cBhvr>
                                        <p:cTn id="86" dur="500"/>
                                        <p:tgtEl>
                                          <p:spTgt spid="50"/>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fade">
                                      <p:cBhvr>
                                        <p:cTn id="91" dur="500"/>
                                        <p:tgtEl>
                                          <p:spTgt spid="51"/>
                                        </p:tgtEl>
                                      </p:cBhvr>
                                    </p:animEffect>
                                  </p:childTnLst>
                                </p:cTn>
                              </p:par>
                            </p:childTnLst>
                          </p:cTn>
                        </p:par>
                        <p:par>
                          <p:cTn id="92" fill="hold">
                            <p:stCondLst>
                              <p:cond delay="500"/>
                            </p:stCondLst>
                            <p:childTnLst>
                              <p:par>
                                <p:cTn id="93" presetID="10" presetClass="entr" presetSubtype="0" fill="hold" grpId="0" nodeType="after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fade">
                                      <p:cBhvr>
                                        <p:cTn id="95" dur="500"/>
                                        <p:tgtEl>
                                          <p:spTgt spid="52"/>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26">
                                            <p:txEl>
                                              <p:pRg st="1" end="1"/>
                                            </p:txEl>
                                          </p:spTgt>
                                        </p:tgtEl>
                                        <p:attrNameLst>
                                          <p:attrName>style.visibility</p:attrName>
                                        </p:attrNameLst>
                                      </p:cBhvr>
                                      <p:to>
                                        <p:strVal val="visible"/>
                                      </p:to>
                                    </p:set>
                                    <p:animEffect transition="in" filter="fade">
                                      <p:cBhvr>
                                        <p:cTn id="100" dur="500"/>
                                        <p:tgtEl>
                                          <p:spTgt spid="26">
                                            <p:txEl>
                                              <p:pRg st="1" end="1"/>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14" presetClass="exit" presetSubtype="10" fill="hold" grpId="1" nodeType="clickEffect">
                                  <p:stCondLst>
                                    <p:cond delay="0"/>
                                  </p:stCondLst>
                                  <p:childTnLst>
                                    <p:animEffect transition="out" filter="randombar(horizontal)">
                                      <p:cBhvr>
                                        <p:cTn id="104" dur="500"/>
                                        <p:tgtEl>
                                          <p:spTgt spid="37"/>
                                        </p:tgtEl>
                                      </p:cBhvr>
                                    </p:animEffect>
                                    <p:set>
                                      <p:cBhvr>
                                        <p:cTn id="105" dur="1" fill="hold">
                                          <p:stCondLst>
                                            <p:cond delay="499"/>
                                          </p:stCondLst>
                                        </p:cTn>
                                        <p:tgtEl>
                                          <p:spTgt spid="37"/>
                                        </p:tgtEl>
                                        <p:attrNameLst>
                                          <p:attrName>style.visibility</p:attrName>
                                        </p:attrNameLst>
                                      </p:cBhvr>
                                      <p:to>
                                        <p:strVal val="hidden"/>
                                      </p:to>
                                    </p:set>
                                  </p:childTnLst>
                                </p:cTn>
                              </p:par>
                              <p:par>
                                <p:cTn id="106" presetID="14" presetClass="exit" presetSubtype="10" fill="hold" grpId="1" nodeType="withEffect">
                                  <p:stCondLst>
                                    <p:cond delay="0"/>
                                  </p:stCondLst>
                                  <p:childTnLst>
                                    <p:animEffect transition="out" filter="randombar(horizontal)">
                                      <p:cBhvr>
                                        <p:cTn id="107" dur="500"/>
                                        <p:tgtEl>
                                          <p:spTgt spid="36"/>
                                        </p:tgtEl>
                                      </p:cBhvr>
                                    </p:animEffect>
                                    <p:set>
                                      <p:cBhvr>
                                        <p:cTn id="108" dur="1" fill="hold">
                                          <p:stCondLst>
                                            <p:cond delay="499"/>
                                          </p:stCondLst>
                                        </p:cTn>
                                        <p:tgtEl>
                                          <p:spTgt spid="36"/>
                                        </p:tgtEl>
                                        <p:attrNameLst>
                                          <p:attrName>style.visibility</p:attrName>
                                        </p:attrNameLst>
                                      </p:cBhvr>
                                      <p:to>
                                        <p:strVal val="hidden"/>
                                      </p:to>
                                    </p:set>
                                  </p:childTnLst>
                                </p:cTn>
                              </p:par>
                              <p:par>
                                <p:cTn id="109" presetID="14" presetClass="exit" presetSubtype="10" fill="hold" grpId="1" nodeType="withEffect">
                                  <p:stCondLst>
                                    <p:cond delay="0"/>
                                  </p:stCondLst>
                                  <p:childTnLst>
                                    <p:animEffect transition="out" filter="randombar(horizontal)">
                                      <p:cBhvr>
                                        <p:cTn id="110" dur="500"/>
                                        <p:tgtEl>
                                          <p:spTgt spid="48"/>
                                        </p:tgtEl>
                                      </p:cBhvr>
                                    </p:animEffect>
                                    <p:set>
                                      <p:cBhvr>
                                        <p:cTn id="111" dur="1" fill="hold">
                                          <p:stCondLst>
                                            <p:cond delay="499"/>
                                          </p:stCondLst>
                                        </p:cTn>
                                        <p:tgtEl>
                                          <p:spTgt spid="48"/>
                                        </p:tgtEl>
                                        <p:attrNameLst>
                                          <p:attrName>style.visibility</p:attrName>
                                        </p:attrNameLst>
                                      </p:cBhvr>
                                      <p:to>
                                        <p:strVal val="hidden"/>
                                      </p:to>
                                    </p:set>
                                  </p:childTnLst>
                                </p:cTn>
                              </p:par>
                              <p:par>
                                <p:cTn id="112" presetID="14" presetClass="exit" presetSubtype="10" fill="hold" nodeType="withEffect">
                                  <p:stCondLst>
                                    <p:cond delay="0"/>
                                  </p:stCondLst>
                                  <p:childTnLst>
                                    <p:animEffect transition="out" filter="randombar(horizontal)">
                                      <p:cBhvr>
                                        <p:cTn id="113" dur="500"/>
                                        <p:tgtEl>
                                          <p:spTgt spid="15"/>
                                        </p:tgtEl>
                                      </p:cBhvr>
                                    </p:animEffect>
                                    <p:set>
                                      <p:cBhvr>
                                        <p:cTn id="114" dur="1" fill="hold">
                                          <p:stCondLst>
                                            <p:cond delay="499"/>
                                          </p:stCondLst>
                                        </p:cTn>
                                        <p:tgtEl>
                                          <p:spTgt spid="15"/>
                                        </p:tgtEl>
                                        <p:attrNameLst>
                                          <p:attrName>style.visibility</p:attrName>
                                        </p:attrNameLst>
                                      </p:cBhvr>
                                      <p:to>
                                        <p:strVal val="hidden"/>
                                      </p:to>
                                    </p:set>
                                  </p:childTnLst>
                                </p:cTn>
                              </p:par>
                              <p:par>
                                <p:cTn id="115" presetID="14" presetClass="exit" presetSubtype="10" fill="hold" grpId="0" nodeType="withEffect">
                                  <p:stCondLst>
                                    <p:cond delay="0"/>
                                  </p:stCondLst>
                                  <p:childTnLst>
                                    <p:animEffect transition="out" filter="randombar(horizontal)">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7" grpId="0"/>
      <p:bldP spid="27" grpId="1"/>
      <p:bldP spid="26" grpId="0" animBg="1"/>
      <p:bldP spid="44" grpId="0" animBg="1"/>
      <p:bldP spid="45" grpId="0" animBg="1"/>
      <p:bldP spid="25" grpId="0" animBg="1"/>
      <p:bldP spid="25" grpId="1" animBg="1"/>
      <p:bldP spid="28" grpId="0" animBg="1"/>
      <p:bldP spid="28" grpId="1" animBg="1"/>
      <p:bldP spid="30" grpId="0" animBg="1"/>
      <p:bldP spid="30" grpId="1" animBg="1"/>
      <p:bldP spid="31" grpId="0"/>
      <p:bldP spid="31" grpId="1"/>
      <p:bldP spid="35" grpId="0"/>
      <p:bldP spid="36" grpId="0" animBg="1"/>
      <p:bldP spid="36" grpId="1" animBg="1"/>
      <p:bldP spid="37" grpId="0" animBg="1"/>
      <p:bldP spid="37" grpId="1" animBg="1"/>
      <p:bldP spid="46" grpId="0" animBg="1"/>
      <p:bldP spid="3" grpId="0" animBg="1"/>
      <p:bldP spid="48" grpId="0" animBg="1"/>
      <p:bldP spid="48" grpId="1" animBg="1"/>
      <p:bldP spid="49" grpId="0" animBg="1"/>
      <p:bldP spid="50" grpId="0" animBg="1"/>
      <p:bldP spid="51" grpId="0" animBg="1"/>
      <p:bldP spid="5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Example 1</a:t>
            </a:r>
          </a:p>
        </p:txBody>
      </p:sp>
      <p:graphicFrame>
        <p:nvGraphicFramePr>
          <p:cNvPr id="4" name="Table 3"/>
          <p:cNvGraphicFramePr>
            <a:graphicFrameLocks noGrp="1"/>
          </p:cNvGraphicFramePr>
          <p:nvPr/>
        </p:nvGraphicFramePr>
        <p:xfrm>
          <a:off x="4466165" y="1528465"/>
          <a:ext cx="3259670" cy="45720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370840">
                <a:tc>
                  <a:txBody>
                    <a:bodyPr/>
                    <a:lstStyle/>
                    <a:p>
                      <a:pPr algn="ctr"/>
                      <a:r>
                        <a:rPr lang="en-US" sz="2400" dirty="0"/>
                        <a:t>4</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10</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5</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5" name="TextBox 4"/>
          <p:cNvSpPr txBox="1"/>
          <p:nvPr/>
        </p:nvSpPr>
        <p:spPr>
          <a:xfrm>
            <a:off x="3009900" y="990600"/>
            <a:ext cx="6172200" cy="461665"/>
          </a:xfrm>
          <a:prstGeom prst="rect">
            <a:avLst/>
          </a:prstGeom>
          <a:noFill/>
        </p:spPr>
        <p:txBody>
          <a:bodyPr wrap="square" rtlCol="0">
            <a:spAutoFit/>
          </a:bodyPr>
          <a:lstStyle/>
          <a:p>
            <a:r>
              <a:rPr lang="en-US" sz="2400" dirty="0"/>
              <a:t>Sort the following elements in Ascending order</a:t>
            </a:r>
          </a:p>
        </p:txBody>
      </p:sp>
      <p:cxnSp>
        <p:nvCxnSpPr>
          <p:cNvPr id="6" name="Straight Connector 5"/>
          <p:cNvCxnSpPr/>
          <p:nvPr/>
        </p:nvCxnSpPr>
        <p:spPr>
          <a:xfrm>
            <a:off x="609600" y="2286000"/>
            <a:ext cx="10972800" cy="0"/>
          </a:xfrm>
          <a:prstGeom prst="line">
            <a:avLst/>
          </a:prstGeom>
        </p:spPr>
        <p:style>
          <a:lnRef idx="1">
            <a:schemeClr val="dk1"/>
          </a:lnRef>
          <a:fillRef idx="0">
            <a:schemeClr val="dk1"/>
          </a:fillRef>
          <a:effectRef idx="0">
            <a:schemeClr val="dk1"/>
          </a:effectRef>
          <a:fontRef idx="minor">
            <a:schemeClr val="tx1"/>
          </a:fontRef>
        </p:style>
      </p:cxnSp>
      <p:graphicFrame>
        <p:nvGraphicFramePr>
          <p:cNvPr id="7" name="Table 6"/>
          <p:cNvGraphicFramePr>
            <a:graphicFrameLocks noGrp="1"/>
          </p:cNvGraphicFramePr>
          <p:nvPr/>
        </p:nvGraphicFramePr>
        <p:xfrm>
          <a:off x="537755" y="3313784"/>
          <a:ext cx="3259670" cy="54864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548640">
                <a:tc>
                  <a:txBody>
                    <a:bodyPr/>
                    <a:lstStyle/>
                    <a:p>
                      <a:pPr algn="ctr"/>
                      <a:r>
                        <a:rPr lang="en-US" sz="240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b="1" dirty="0">
                          <a:solidFill>
                            <a:srgbClr val="C00000"/>
                          </a:solidFill>
                        </a:rPr>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1">
                        <a:lumMod val="60000"/>
                        <a:lumOff val="40000"/>
                      </a:schemeClr>
                    </a:solidFill>
                  </a:tcPr>
                </a:tc>
                <a:tc>
                  <a:txBody>
                    <a:bodyPr/>
                    <a:lstStyle/>
                    <a:p>
                      <a:pPr algn="ctr"/>
                      <a:r>
                        <a:rPr lang="en-US" sz="2400" b="1" dirty="0">
                          <a:solidFill>
                            <a:srgbClr val="C00000"/>
                          </a:solidFill>
                        </a:rPr>
                        <a:t>5</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1">
                        <a:lumMod val="60000"/>
                        <a:lumOff val="40000"/>
                      </a:schemeClr>
                    </a:solidFill>
                  </a:tcPr>
                </a:tc>
                <a:tc>
                  <a:txBody>
                    <a:bodyPr/>
                    <a:lstStyle/>
                    <a:p>
                      <a:pPr algn="ctr"/>
                      <a:r>
                        <a:rPr lang="en-US" sz="2400" b="1" dirty="0">
                          <a:solidFill>
                            <a:srgbClr val="C00000"/>
                          </a:solidFill>
                        </a:rPr>
                        <a:t>10</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0"/>
                  </a:ext>
                </a:extLst>
              </a:tr>
            </a:tbl>
          </a:graphicData>
        </a:graphic>
      </p:graphicFrame>
      <p:sp>
        <p:nvSpPr>
          <p:cNvPr id="11" name="Oval 10"/>
          <p:cNvSpPr/>
          <p:nvPr/>
        </p:nvSpPr>
        <p:spPr>
          <a:xfrm>
            <a:off x="6772825" y="2592585"/>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3</a:t>
            </a:r>
          </a:p>
        </p:txBody>
      </p:sp>
      <p:cxnSp>
        <p:nvCxnSpPr>
          <p:cNvPr id="12" name="Straight Connector 11"/>
          <p:cNvCxnSpPr>
            <a:stCxn id="11" idx="3"/>
            <a:endCxn id="13" idx="0"/>
          </p:cNvCxnSpPr>
          <p:nvPr/>
        </p:nvCxnSpPr>
        <p:spPr>
          <a:xfrm flipH="1">
            <a:off x="6518436" y="3138927"/>
            <a:ext cx="348127" cy="42169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6198396" y="3560618"/>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sp>
        <p:nvSpPr>
          <p:cNvPr id="40" name="TextBox 39"/>
          <p:cNvSpPr txBox="1"/>
          <p:nvPr/>
        </p:nvSpPr>
        <p:spPr>
          <a:xfrm>
            <a:off x="609594" y="2303041"/>
            <a:ext cx="2690160" cy="400110"/>
          </a:xfrm>
          <a:prstGeom prst="rect">
            <a:avLst/>
          </a:prstGeom>
          <a:noFill/>
          <a:ln w="28575">
            <a:solidFill>
              <a:schemeClr val="tx1"/>
            </a:solidFill>
          </a:ln>
        </p:spPr>
        <p:txBody>
          <a:bodyPr wrap="none" rtlCol="0">
            <a:spAutoFit/>
          </a:bodyPr>
          <a:lstStyle/>
          <a:p>
            <a:r>
              <a:rPr lang="en-IN" sz="2000" b="1" dirty="0"/>
              <a:t>Step 3 : Apply Heap Sort</a:t>
            </a:r>
            <a:endParaRPr lang="en-US" sz="2000" b="1" dirty="0"/>
          </a:p>
        </p:txBody>
      </p:sp>
      <mc:AlternateContent xmlns:mc="http://schemas.openxmlformats.org/markup-compatibility/2006" xmlns:a14="http://schemas.microsoft.com/office/drawing/2010/main">
        <mc:Choice Requires="a14">
          <p:graphicFrame>
            <p:nvGraphicFramePr>
              <p:cNvPr id="41" name="Table 40"/>
              <p:cNvGraphicFramePr>
                <a:graphicFrameLocks noGrp="1"/>
              </p:cNvGraphicFramePr>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1</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2</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3</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4</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5</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9224174"/>
                      </a:ext>
                    </a:extLst>
                  </a:tr>
                </a:tbl>
              </a:graphicData>
            </a:graphic>
          </p:graphicFrame>
        </mc:Choice>
        <mc:Fallback xmlns="">
          <p:graphicFrame>
            <p:nvGraphicFramePr>
              <p:cNvPr id="41" name="Table 40"/>
              <p:cNvGraphicFramePr>
                <a:graphicFrameLocks noGrp="1"/>
              </p:cNvGraphicFramePr>
              <p:nvPr>
                <p:extLst>
                  <p:ext uri="{D42A27DB-BD31-4B8C-83A1-F6EECF244321}">
                    <p14:modId xmlns:p14="http://schemas.microsoft.com/office/powerpoint/2010/main" val="3275512645"/>
                  </p:ext>
                </p:extLst>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r="-406604"/>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90598" r="-268376"/>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214423" r="-20192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311429" r="-1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411429"/>
                          </a:stretch>
                        </a:blipFill>
                      </a:tcPr>
                    </a:tc>
                    <a:extLst>
                      <a:ext uri="{0D108BD9-81ED-4DB2-BD59-A6C34878D82A}">
                        <a16:rowId xmlns:a16="http://schemas.microsoft.com/office/drawing/2014/main" val="2199224174"/>
                      </a:ext>
                    </a:extLst>
                  </a:tr>
                </a:tbl>
              </a:graphicData>
            </a:graphic>
          </p:graphicFrame>
        </mc:Fallback>
      </mc:AlternateContent>
      <p:sp>
        <p:nvSpPr>
          <p:cNvPr id="27" name="TextBox 26"/>
          <p:cNvSpPr txBox="1"/>
          <p:nvPr/>
        </p:nvSpPr>
        <p:spPr>
          <a:xfrm>
            <a:off x="9014011" y="2605138"/>
            <a:ext cx="2514600" cy="400110"/>
          </a:xfrm>
          <a:prstGeom prst="rect">
            <a:avLst/>
          </a:prstGeom>
          <a:noFill/>
        </p:spPr>
        <p:txBody>
          <a:bodyPr wrap="square" rtlCol="0">
            <a:spAutoFit/>
          </a:bodyPr>
          <a:lstStyle/>
          <a:p>
            <a:r>
              <a:rPr lang="en-US" sz="2000" b="1" dirty="0"/>
              <a:t>Already a Max Heap</a:t>
            </a:r>
          </a:p>
        </p:txBody>
      </p:sp>
      <p:sp>
        <p:nvSpPr>
          <p:cNvPr id="26" name="TextBox 25"/>
          <p:cNvSpPr txBox="1"/>
          <p:nvPr/>
        </p:nvSpPr>
        <p:spPr>
          <a:xfrm>
            <a:off x="569874" y="4706468"/>
            <a:ext cx="3524794" cy="1200329"/>
          </a:xfrm>
          <a:prstGeom prst="rect">
            <a:avLst/>
          </a:prstGeom>
          <a:solidFill>
            <a:srgbClr val="FCE0EE"/>
          </a:solidFill>
        </p:spPr>
        <p:txBody>
          <a:bodyPr wrap="square" rtlCol="0">
            <a:spAutoFit/>
          </a:bodyPr>
          <a:lstStyle/>
          <a:p>
            <a:pPr marL="457200" indent="-457200" algn="just">
              <a:buAutoNum type="arabicPeriod"/>
            </a:pPr>
            <a:r>
              <a:rPr lang="en-US" sz="2400" dirty="0">
                <a:solidFill>
                  <a:srgbClr val="A71160"/>
                </a:solidFill>
              </a:rPr>
              <a:t>Swap the first and the last nodes and </a:t>
            </a:r>
          </a:p>
          <a:p>
            <a:pPr marL="457200" indent="-457200" algn="just">
              <a:buAutoNum type="arabicPeriod"/>
            </a:pPr>
            <a:r>
              <a:rPr lang="en-US" sz="2400" dirty="0">
                <a:solidFill>
                  <a:srgbClr val="A71160"/>
                </a:solidFill>
              </a:rPr>
              <a:t>Delete the last node.</a:t>
            </a:r>
          </a:p>
        </p:txBody>
      </p:sp>
      <p:sp>
        <p:nvSpPr>
          <p:cNvPr id="25" name="Freeform 11"/>
          <p:cNvSpPr>
            <a:spLocks/>
          </p:cNvSpPr>
          <p:nvPr/>
        </p:nvSpPr>
        <p:spPr bwMode="auto">
          <a:xfrm>
            <a:off x="6302188" y="2987644"/>
            <a:ext cx="319927" cy="439114"/>
          </a:xfrm>
          <a:custGeom>
            <a:avLst/>
            <a:gdLst>
              <a:gd name="T0" fmla="*/ 0 w 162"/>
              <a:gd name="T1" fmla="*/ 264 h 264"/>
              <a:gd name="T2" fmla="*/ 30 w 162"/>
              <a:gd name="T3" fmla="*/ 162 h 264"/>
              <a:gd name="T4" fmla="*/ 90 w 162"/>
              <a:gd name="T5" fmla="*/ 66 h 264"/>
              <a:gd name="T6" fmla="*/ 162 w 162"/>
              <a:gd name="T7" fmla="*/ 0 h 264"/>
              <a:gd name="T8" fmla="*/ 0 60000 65536"/>
              <a:gd name="T9" fmla="*/ 0 60000 65536"/>
              <a:gd name="T10" fmla="*/ 0 60000 65536"/>
              <a:gd name="T11" fmla="*/ 0 60000 65536"/>
              <a:gd name="T12" fmla="*/ 0 w 162"/>
              <a:gd name="T13" fmla="*/ 0 h 264"/>
              <a:gd name="T14" fmla="*/ 162 w 162"/>
              <a:gd name="T15" fmla="*/ 264 h 264"/>
            </a:gdLst>
            <a:ahLst/>
            <a:cxnLst>
              <a:cxn ang="T8">
                <a:pos x="T0" y="T1"/>
              </a:cxn>
              <a:cxn ang="T9">
                <a:pos x="T2" y="T3"/>
              </a:cxn>
              <a:cxn ang="T10">
                <a:pos x="T4" y="T5"/>
              </a:cxn>
              <a:cxn ang="T11">
                <a:pos x="T6" y="T7"/>
              </a:cxn>
            </a:cxnLst>
            <a:rect l="T12" t="T13" r="T14" b="T15"/>
            <a:pathLst>
              <a:path w="162" h="264">
                <a:moveTo>
                  <a:pt x="0" y="264"/>
                </a:moveTo>
                <a:cubicBezTo>
                  <a:pt x="5" y="247"/>
                  <a:pt x="15" y="195"/>
                  <a:pt x="30" y="162"/>
                </a:cubicBezTo>
                <a:cubicBezTo>
                  <a:pt x="45" y="129"/>
                  <a:pt x="68" y="93"/>
                  <a:pt x="90" y="66"/>
                </a:cubicBezTo>
                <a:cubicBezTo>
                  <a:pt x="112" y="39"/>
                  <a:pt x="147" y="14"/>
                  <a:pt x="162" y="0"/>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2"/>
          <p:cNvSpPr>
            <a:spLocks/>
          </p:cNvSpPr>
          <p:nvPr/>
        </p:nvSpPr>
        <p:spPr bwMode="auto">
          <a:xfrm>
            <a:off x="6799729" y="3240741"/>
            <a:ext cx="269875" cy="409575"/>
          </a:xfrm>
          <a:custGeom>
            <a:avLst/>
            <a:gdLst>
              <a:gd name="T0" fmla="*/ 156 w 170"/>
              <a:gd name="T1" fmla="*/ 0 h 258"/>
              <a:gd name="T2" fmla="*/ 144 w 170"/>
              <a:gd name="T3" fmla="*/ 126 h 258"/>
              <a:gd name="T4" fmla="*/ 0 w 170"/>
              <a:gd name="T5" fmla="*/ 258 h 258"/>
              <a:gd name="T6" fmla="*/ 0 60000 65536"/>
              <a:gd name="T7" fmla="*/ 0 60000 65536"/>
              <a:gd name="T8" fmla="*/ 0 60000 65536"/>
              <a:gd name="T9" fmla="*/ 0 w 170"/>
              <a:gd name="T10" fmla="*/ 0 h 258"/>
              <a:gd name="T11" fmla="*/ 170 w 170"/>
              <a:gd name="T12" fmla="*/ 258 h 258"/>
            </a:gdLst>
            <a:ahLst/>
            <a:cxnLst>
              <a:cxn ang="T6">
                <a:pos x="T0" y="T1"/>
              </a:cxn>
              <a:cxn ang="T7">
                <a:pos x="T2" y="T3"/>
              </a:cxn>
              <a:cxn ang="T8">
                <a:pos x="T4" y="T5"/>
              </a:cxn>
            </a:cxnLst>
            <a:rect l="T9" t="T10" r="T11" b="T12"/>
            <a:pathLst>
              <a:path w="170" h="258">
                <a:moveTo>
                  <a:pt x="156" y="0"/>
                </a:moveTo>
                <a:cubicBezTo>
                  <a:pt x="154" y="21"/>
                  <a:pt x="170" y="83"/>
                  <a:pt x="144" y="126"/>
                </a:cubicBezTo>
                <a:cubicBezTo>
                  <a:pt x="118" y="169"/>
                  <a:pt x="30" y="231"/>
                  <a:pt x="0" y="258"/>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9"/>
          <p:cNvSpPr/>
          <p:nvPr/>
        </p:nvSpPr>
        <p:spPr>
          <a:xfrm>
            <a:off x="874059" y="3870833"/>
            <a:ext cx="699247" cy="188258"/>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w="19050">
            <a:solidFill>
              <a:srgbClr val="ED524F"/>
            </a:solidFill>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1" name="TextBox 30"/>
          <p:cNvSpPr txBox="1"/>
          <p:nvPr/>
        </p:nvSpPr>
        <p:spPr>
          <a:xfrm>
            <a:off x="820273" y="4030417"/>
            <a:ext cx="762000" cy="369332"/>
          </a:xfrm>
          <a:prstGeom prst="rect">
            <a:avLst/>
          </a:prstGeom>
          <a:noFill/>
        </p:spPr>
        <p:txBody>
          <a:bodyPr wrap="square" rtlCol="0">
            <a:spAutoFit/>
          </a:bodyPr>
          <a:lstStyle/>
          <a:p>
            <a:pPr algn="ctr"/>
            <a:r>
              <a:rPr lang="en-US" b="1" dirty="0">
                <a:solidFill>
                  <a:srgbClr val="0070C0"/>
                </a:solidFill>
              </a:rPr>
              <a:t>Swap</a:t>
            </a:r>
          </a:p>
        </p:txBody>
      </p:sp>
      <p:sp>
        <p:nvSpPr>
          <p:cNvPr id="49" name="TextBox 48"/>
          <p:cNvSpPr txBox="1"/>
          <p:nvPr/>
        </p:nvSpPr>
        <p:spPr>
          <a:xfrm>
            <a:off x="6883860" y="2712570"/>
            <a:ext cx="418011" cy="400110"/>
          </a:xfrm>
          <a:prstGeom prst="rect">
            <a:avLst/>
          </a:prstGeom>
          <a:solidFill>
            <a:srgbClr val="002060"/>
          </a:solidFill>
        </p:spPr>
        <p:txBody>
          <a:bodyPr wrap="square" rtlCol="0">
            <a:spAutoFit/>
          </a:bodyPr>
          <a:lstStyle/>
          <a:p>
            <a:pPr algn="ctr"/>
            <a:r>
              <a:rPr lang="en-US" sz="2000" b="1" dirty="0">
                <a:solidFill>
                  <a:schemeClr val="accent5"/>
                </a:solidFill>
              </a:rPr>
              <a:t>1</a:t>
            </a:r>
          </a:p>
        </p:txBody>
      </p:sp>
      <p:sp>
        <p:nvSpPr>
          <p:cNvPr id="50" name="TextBox 49"/>
          <p:cNvSpPr txBox="1"/>
          <p:nvPr/>
        </p:nvSpPr>
        <p:spPr>
          <a:xfrm>
            <a:off x="6309431" y="3680603"/>
            <a:ext cx="418011" cy="400110"/>
          </a:xfrm>
          <a:prstGeom prst="rect">
            <a:avLst/>
          </a:prstGeom>
          <a:solidFill>
            <a:srgbClr val="002060"/>
          </a:solidFill>
        </p:spPr>
        <p:txBody>
          <a:bodyPr wrap="square" rtlCol="0">
            <a:spAutoFit/>
          </a:bodyPr>
          <a:lstStyle/>
          <a:p>
            <a:pPr algn="ctr"/>
            <a:r>
              <a:rPr lang="en-US" sz="2000" b="1" dirty="0">
                <a:solidFill>
                  <a:schemeClr val="accent5"/>
                </a:solidFill>
              </a:rPr>
              <a:t>3</a:t>
            </a:r>
          </a:p>
        </p:txBody>
      </p:sp>
      <p:sp>
        <p:nvSpPr>
          <p:cNvPr id="32" name="TextBox 31"/>
          <p:cNvSpPr txBox="1"/>
          <p:nvPr/>
        </p:nvSpPr>
        <p:spPr>
          <a:xfrm>
            <a:off x="1250067" y="3366246"/>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3</a:t>
            </a:r>
          </a:p>
        </p:txBody>
      </p:sp>
      <p:sp>
        <p:nvSpPr>
          <p:cNvPr id="33" name="TextBox 32"/>
          <p:cNvSpPr txBox="1"/>
          <p:nvPr/>
        </p:nvSpPr>
        <p:spPr>
          <a:xfrm>
            <a:off x="589367" y="3372140"/>
            <a:ext cx="548640" cy="461665"/>
          </a:xfrm>
          <a:prstGeom prst="rect">
            <a:avLst/>
          </a:prstGeom>
          <a:solidFill>
            <a:schemeClr val="bg1"/>
          </a:solidFill>
          <a:ln>
            <a:noFill/>
          </a:ln>
        </p:spPr>
        <p:txBody>
          <a:bodyPr wrap="square" rtlCol="0">
            <a:spAutoFit/>
          </a:bodyPr>
          <a:lstStyle/>
          <a:p>
            <a:pPr algn="ctr"/>
            <a:r>
              <a:rPr lang="en-US" sz="2400" dirty="0">
                <a:solidFill>
                  <a:srgbClr val="A71160"/>
                </a:solidFill>
              </a:rPr>
              <a:t>1</a:t>
            </a:r>
          </a:p>
        </p:txBody>
      </p:sp>
    </p:spTree>
    <p:extLst>
      <p:ext uri="{BB962C8B-B14F-4D97-AF65-F5344CB8AC3E}">
        <p14:creationId xmlns:p14="http://schemas.microsoft.com/office/powerpoint/2010/main" val="1111627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10" presetClass="entr" presetSubtype="0" fill="hold" nodeType="withEffect">
                                  <p:stCondLst>
                                    <p:cond delay="0"/>
                                  </p:stCondLst>
                                  <p:childTnLst>
                                    <p:set>
                                      <p:cBhvr>
                                        <p:cTn id="14" dur="1" fill="hold">
                                          <p:stCondLst>
                                            <p:cond delay="0"/>
                                          </p:stCondLst>
                                        </p:cTn>
                                        <p:tgtEl>
                                          <p:spTgt spid="26">
                                            <p:txEl>
                                              <p:pRg st="0" end="0"/>
                                            </p:txEl>
                                          </p:spTgt>
                                        </p:tgtEl>
                                        <p:attrNameLst>
                                          <p:attrName>style.visibility</p:attrName>
                                        </p:attrNameLst>
                                      </p:cBhvr>
                                      <p:to>
                                        <p:strVal val="visible"/>
                                      </p:to>
                                    </p:set>
                                    <p:animEffect transition="in" filter="fade">
                                      <p:cBhvr>
                                        <p:cTn id="15" dur="500"/>
                                        <p:tgtEl>
                                          <p:spTgt spid="2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down)">
                                      <p:cBhvr>
                                        <p:cTn id="20" dur="500"/>
                                        <p:tgtEl>
                                          <p:spTgt spid="25"/>
                                        </p:tgtEl>
                                      </p:cBhvr>
                                    </p:animEffect>
                                  </p:childTnLst>
                                </p:cTn>
                              </p:par>
                            </p:childTnLst>
                          </p:cTn>
                        </p:par>
                        <p:par>
                          <p:cTn id="21" fill="hold">
                            <p:stCondLst>
                              <p:cond delay="500"/>
                            </p:stCondLst>
                            <p:childTnLst>
                              <p:par>
                                <p:cTn id="22" presetID="22" presetClass="entr" presetSubtype="1" fill="hold" grpId="0" nodeType="after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up)">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wipe(down)">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fade">
                                      <p:cBhvr>
                                        <p:cTn id="37" dur="500"/>
                                        <p:tgtEl>
                                          <p:spTgt spid="49"/>
                                        </p:tgtEl>
                                      </p:cBhvr>
                                    </p:animEffect>
                                  </p:childTnLst>
                                </p:cTn>
                              </p:par>
                            </p:childTnLst>
                          </p:cTn>
                        </p:par>
                        <p:par>
                          <p:cTn id="38" fill="hold">
                            <p:stCondLst>
                              <p:cond delay="500"/>
                            </p:stCondLst>
                            <p:childTnLst>
                              <p:par>
                                <p:cTn id="39" presetID="10" presetClass="entr" presetSubtype="0" fill="hold" grpId="0" nodeType="after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fade">
                                      <p:cBhvr>
                                        <p:cTn id="41" dur="500"/>
                                        <p:tgtEl>
                                          <p:spTgt spid="5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childTnLst>
                                </p:cTn>
                              </p:par>
                            </p:childTnLst>
                          </p:cTn>
                        </p:par>
                        <p:par>
                          <p:cTn id="47" fill="hold">
                            <p:stCondLst>
                              <p:cond delay="500"/>
                            </p:stCondLst>
                            <p:childTnLst>
                              <p:par>
                                <p:cTn id="48" presetID="10" presetClass="entr" presetSubtype="0" fill="hold" grpId="0" nodeType="after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500"/>
                                        <p:tgtEl>
                                          <p:spTgt spid="3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6">
                                            <p:txEl>
                                              <p:pRg st="1" end="1"/>
                                            </p:txEl>
                                          </p:spTgt>
                                        </p:tgtEl>
                                        <p:attrNameLst>
                                          <p:attrName>style.visibility</p:attrName>
                                        </p:attrNameLst>
                                      </p:cBhvr>
                                      <p:to>
                                        <p:strVal val="visible"/>
                                      </p:to>
                                    </p:set>
                                    <p:animEffect transition="in" filter="fade">
                                      <p:cBhvr>
                                        <p:cTn id="55" dur="500"/>
                                        <p:tgtEl>
                                          <p:spTgt spid="26">
                                            <p:txEl>
                                              <p:pRg st="1" end="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4" presetClass="exit" presetSubtype="10" fill="hold" grpId="1" nodeType="clickEffect">
                                  <p:stCondLst>
                                    <p:cond delay="0"/>
                                  </p:stCondLst>
                                  <p:childTnLst>
                                    <p:animEffect transition="out" filter="randombar(horizontal)">
                                      <p:cBhvr>
                                        <p:cTn id="59" dur="500"/>
                                        <p:tgtEl>
                                          <p:spTgt spid="25"/>
                                        </p:tgtEl>
                                      </p:cBhvr>
                                    </p:animEffect>
                                    <p:set>
                                      <p:cBhvr>
                                        <p:cTn id="60" dur="1" fill="hold">
                                          <p:stCondLst>
                                            <p:cond delay="499"/>
                                          </p:stCondLst>
                                        </p:cTn>
                                        <p:tgtEl>
                                          <p:spTgt spid="25"/>
                                        </p:tgtEl>
                                        <p:attrNameLst>
                                          <p:attrName>style.visibility</p:attrName>
                                        </p:attrNameLst>
                                      </p:cBhvr>
                                      <p:to>
                                        <p:strVal val="hidden"/>
                                      </p:to>
                                    </p:set>
                                  </p:childTnLst>
                                </p:cTn>
                              </p:par>
                              <p:par>
                                <p:cTn id="61" presetID="14" presetClass="exit" presetSubtype="10" fill="hold" grpId="1" nodeType="withEffect">
                                  <p:stCondLst>
                                    <p:cond delay="0"/>
                                  </p:stCondLst>
                                  <p:childTnLst>
                                    <p:animEffect transition="out" filter="randombar(horizontal)">
                                      <p:cBhvr>
                                        <p:cTn id="62" dur="500"/>
                                        <p:tgtEl>
                                          <p:spTgt spid="28"/>
                                        </p:tgtEl>
                                      </p:cBhvr>
                                    </p:animEffect>
                                    <p:set>
                                      <p:cBhvr>
                                        <p:cTn id="63" dur="1" fill="hold">
                                          <p:stCondLst>
                                            <p:cond delay="499"/>
                                          </p:stCondLst>
                                        </p:cTn>
                                        <p:tgtEl>
                                          <p:spTgt spid="28"/>
                                        </p:tgtEl>
                                        <p:attrNameLst>
                                          <p:attrName>style.visibility</p:attrName>
                                        </p:attrNameLst>
                                      </p:cBhvr>
                                      <p:to>
                                        <p:strVal val="hidden"/>
                                      </p:to>
                                    </p:set>
                                  </p:childTnLst>
                                </p:cTn>
                              </p:par>
                              <p:par>
                                <p:cTn id="64" presetID="14" presetClass="exit" presetSubtype="10" fill="hold" grpId="1" nodeType="withEffect">
                                  <p:stCondLst>
                                    <p:cond delay="0"/>
                                  </p:stCondLst>
                                  <p:childTnLst>
                                    <p:animEffect transition="out" filter="randombar(horizontal)">
                                      <p:cBhvr>
                                        <p:cTn id="65" dur="500"/>
                                        <p:tgtEl>
                                          <p:spTgt spid="30"/>
                                        </p:tgtEl>
                                      </p:cBhvr>
                                    </p:animEffect>
                                    <p:set>
                                      <p:cBhvr>
                                        <p:cTn id="66" dur="1" fill="hold">
                                          <p:stCondLst>
                                            <p:cond delay="499"/>
                                          </p:stCondLst>
                                        </p:cTn>
                                        <p:tgtEl>
                                          <p:spTgt spid="30"/>
                                        </p:tgtEl>
                                        <p:attrNameLst>
                                          <p:attrName>style.visibility</p:attrName>
                                        </p:attrNameLst>
                                      </p:cBhvr>
                                      <p:to>
                                        <p:strVal val="hidden"/>
                                      </p:to>
                                    </p:set>
                                  </p:childTnLst>
                                </p:cTn>
                              </p:par>
                              <p:par>
                                <p:cTn id="67" presetID="14" presetClass="exit" presetSubtype="10" fill="hold" grpId="1" nodeType="withEffect">
                                  <p:stCondLst>
                                    <p:cond delay="0"/>
                                  </p:stCondLst>
                                  <p:childTnLst>
                                    <p:animEffect transition="out" filter="randombar(horizontal)">
                                      <p:cBhvr>
                                        <p:cTn id="68" dur="500"/>
                                        <p:tgtEl>
                                          <p:spTgt spid="50"/>
                                        </p:tgtEl>
                                      </p:cBhvr>
                                    </p:animEffect>
                                    <p:set>
                                      <p:cBhvr>
                                        <p:cTn id="69" dur="1" fill="hold">
                                          <p:stCondLst>
                                            <p:cond delay="499"/>
                                          </p:stCondLst>
                                        </p:cTn>
                                        <p:tgtEl>
                                          <p:spTgt spid="50"/>
                                        </p:tgtEl>
                                        <p:attrNameLst>
                                          <p:attrName>style.visibility</p:attrName>
                                        </p:attrNameLst>
                                      </p:cBhvr>
                                      <p:to>
                                        <p:strVal val="hidden"/>
                                      </p:to>
                                    </p:set>
                                  </p:childTnLst>
                                </p:cTn>
                              </p:par>
                              <p:par>
                                <p:cTn id="70" presetID="14" presetClass="exit" presetSubtype="10" fill="hold" grpId="0" nodeType="withEffect">
                                  <p:stCondLst>
                                    <p:cond delay="0"/>
                                  </p:stCondLst>
                                  <p:childTnLst>
                                    <p:animEffect transition="out" filter="randombar(horizontal)">
                                      <p:cBhvr>
                                        <p:cTn id="71" dur="500"/>
                                        <p:tgtEl>
                                          <p:spTgt spid="13"/>
                                        </p:tgtEl>
                                      </p:cBhvr>
                                    </p:animEffect>
                                    <p:set>
                                      <p:cBhvr>
                                        <p:cTn id="72" dur="1" fill="hold">
                                          <p:stCondLst>
                                            <p:cond delay="499"/>
                                          </p:stCondLst>
                                        </p:cTn>
                                        <p:tgtEl>
                                          <p:spTgt spid="13"/>
                                        </p:tgtEl>
                                        <p:attrNameLst>
                                          <p:attrName>style.visibility</p:attrName>
                                        </p:attrNameLst>
                                      </p:cBhvr>
                                      <p:to>
                                        <p:strVal val="hidden"/>
                                      </p:to>
                                    </p:set>
                                  </p:childTnLst>
                                </p:cTn>
                              </p:par>
                              <p:par>
                                <p:cTn id="73" presetID="14" presetClass="exit" presetSubtype="10" fill="hold" nodeType="withEffect">
                                  <p:stCondLst>
                                    <p:cond delay="0"/>
                                  </p:stCondLst>
                                  <p:childTnLst>
                                    <p:animEffect transition="out" filter="randombar(horizontal)">
                                      <p:cBhvr>
                                        <p:cTn id="74" dur="500"/>
                                        <p:tgtEl>
                                          <p:spTgt spid="12"/>
                                        </p:tgtEl>
                                      </p:cBhvr>
                                    </p:animEffect>
                                    <p:set>
                                      <p:cBhvr>
                                        <p:cTn id="75"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7" grpId="0"/>
      <p:bldP spid="26" grpId="0" animBg="1"/>
      <p:bldP spid="25" grpId="0" animBg="1"/>
      <p:bldP spid="25" grpId="1" animBg="1"/>
      <p:bldP spid="28" grpId="0" animBg="1"/>
      <p:bldP spid="28" grpId="1" animBg="1"/>
      <p:bldP spid="30" grpId="0" animBg="1"/>
      <p:bldP spid="30" grpId="1" animBg="1"/>
      <p:bldP spid="31" grpId="0"/>
      <p:bldP spid="49" grpId="0" animBg="1"/>
      <p:bldP spid="50" grpId="0" animBg="1"/>
      <p:bldP spid="50" grpId="1" animBg="1"/>
      <p:bldP spid="32" grpId="0" animBg="1"/>
      <p:bldP spid="3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Example 1</a:t>
            </a:r>
          </a:p>
        </p:txBody>
      </p:sp>
      <p:graphicFrame>
        <p:nvGraphicFramePr>
          <p:cNvPr id="4" name="Table 3"/>
          <p:cNvGraphicFramePr>
            <a:graphicFrameLocks noGrp="1"/>
          </p:cNvGraphicFramePr>
          <p:nvPr/>
        </p:nvGraphicFramePr>
        <p:xfrm>
          <a:off x="4466165" y="1528465"/>
          <a:ext cx="3259670" cy="45720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370840">
                <a:tc>
                  <a:txBody>
                    <a:bodyPr/>
                    <a:lstStyle/>
                    <a:p>
                      <a:pPr algn="ctr"/>
                      <a:r>
                        <a:rPr lang="en-US" sz="2400" dirty="0"/>
                        <a:t>4</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10</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5</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5" name="TextBox 4"/>
          <p:cNvSpPr txBox="1"/>
          <p:nvPr/>
        </p:nvSpPr>
        <p:spPr>
          <a:xfrm>
            <a:off x="3009900" y="990600"/>
            <a:ext cx="6172200" cy="461665"/>
          </a:xfrm>
          <a:prstGeom prst="rect">
            <a:avLst/>
          </a:prstGeom>
          <a:noFill/>
        </p:spPr>
        <p:txBody>
          <a:bodyPr wrap="square" rtlCol="0">
            <a:spAutoFit/>
          </a:bodyPr>
          <a:lstStyle/>
          <a:p>
            <a:r>
              <a:rPr lang="en-US" sz="2400" dirty="0"/>
              <a:t>Sort the following elements in Ascending order</a:t>
            </a:r>
          </a:p>
        </p:txBody>
      </p:sp>
      <p:cxnSp>
        <p:nvCxnSpPr>
          <p:cNvPr id="6" name="Straight Connector 5"/>
          <p:cNvCxnSpPr/>
          <p:nvPr/>
        </p:nvCxnSpPr>
        <p:spPr>
          <a:xfrm>
            <a:off x="609600" y="2286000"/>
            <a:ext cx="10972800" cy="0"/>
          </a:xfrm>
          <a:prstGeom prst="line">
            <a:avLst/>
          </a:prstGeom>
        </p:spPr>
        <p:style>
          <a:lnRef idx="1">
            <a:schemeClr val="dk1"/>
          </a:lnRef>
          <a:fillRef idx="0">
            <a:schemeClr val="dk1"/>
          </a:fillRef>
          <a:effectRef idx="0">
            <a:schemeClr val="dk1"/>
          </a:effectRef>
          <a:fontRef idx="minor">
            <a:schemeClr val="tx1"/>
          </a:fontRef>
        </p:style>
      </p:cxnSp>
      <p:graphicFrame>
        <p:nvGraphicFramePr>
          <p:cNvPr id="7" name="Table 6"/>
          <p:cNvGraphicFramePr>
            <a:graphicFrameLocks noGrp="1"/>
          </p:cNvGraphicFramePr>
          <p:nvPr/>
        </p:nvGraphicFramePr>
        <p:xfrm>
          <a:off x="537755" y="3313784"/>
          <a:ext cx="3259670" cy="548640"/>
        </p:xfrm>
        <a:graphic>
          <a:graphicData uri="http://schemas.openxmlformats.org/drawingml/2006/table">
            <a:tbl>
              <a:tblPr firstRow="1" bandRow="1">
                <a:tableStyleId>{5940675A-B579-460E-94D1-54222C63F5DA}</a:tableStyleId>
              </a:tblPr>
              <a:tblGrid>
                <a:gridCol w="651934">
                  <a:extLst>
                    <a:ext uri="{9D8B030D-6E8A-4147-A177-3AD203B41FA5}">
                      <a16:colId xmlns:a16="http://schemas.microsoft.com/office/drawing/2014/main" val="20000"/>
                    </a:ext>
                  </a:extLst>
                </a:gridCol>
                <a:gridCol w="651934">
                  <a:extLst>
                    <a:ext uri="{9D8B030D-6E8A-4147-A177-3AD203B41FA5}">
                      <a16:colId xmlns:a16="http://schemas.microsoft.com/office/drawing/2014/main" val="20001"/>
                    </a:ext>
                  </a:extLst>
                </a:gridCol>
                <a:gridCol w="651934">
                  <a:extLst>
                    <a:ext uri="{9D8B030D-6E8A-4147-A177-3AD203B41FA5}">
                      <a16:colId xmlns:a16="http://schemas.microsoft.com/office/drawing/2014/main" val="20002"/>
                    </a:ext>
                  </a:extLst>
                </a:gridCol>
                <a:gridCol w="651934">
                  <a:extLst>
                    <a:ext uri="{9D8B030D-6E8A-4147-A177-3AD203B41FA5}">
                      <a16:colId xmlns:a16="http://schemas.microsoft.com/office/drawing/2014/main" val="20003"/>
                    </a:ext>
                  </a:extLst>
                </a:gridCol>
                <a:gridCol w="651934">
                  <a:extLst>
                    <a:ext uri="{9D8B030D-6E8A-4147-A177-3AD203B41FA5}">
                      <a16:colId xmlns:a16="http://schemas.microsoft.com/office/drawing/2014/main" val="20004"/>
                    </a:ext>
                  </a:extLst>
                </a:gridCol>
              </a:tblGrid>
              <a:tr h="548640">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b="1" dirty="0">
                          <a:solidFill>
                            <a:srgbClr val="C00000"/>
                          </a:solidFill>
                        </a:rPr>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1">
                        <a:lumMod val="60000"/>
                        <a:lumOff val="40000"/>
                      </a:schemeClr>
                    </a:solidFill>
                  </a:tcPr>
                </a:tc>
                <a:tc>
                  <a:txBody>
                    <a:bodyPr/>
                    <a:lstStyle/>
                    <a:p>
                      <a:pPr algn="ctr"/>
                      <a:r>
                        <a:rPr lang="en-US" sz="2400" b="1" dirty="0">
                          <a:solidFill>
                            <a:srgbClr val="C00000"/>
                          </a:solidFill>
                        </a:rPr>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1">
                        <a:lumMod val="60000"/>
                        <a:lumOff val="40000"/>
                      </a:schemeClr>
                    </a:solidFill>
                  </a:tcPr>
                </a:tc>
                <a:tc>
                  <a:txBody>
                    <a:bodyPr/>
                    <a:lstStyle/>
                    <a:p>
                      <a:pPr algn="ctr"/>
                      <a:r>
                        <a:rPr lang="en-US" sz="2400" b="1" dirty="0">
                          <a:solidFill>
                            <a:srgbClr val="C00000"/>
                          </a:solidFill>
                        </a:rPr>
                        <a:t>5</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1">
                        <a:lumMod val="60000"/>
                        <a:lumOff val="40000"/>
                      </a:schemeClr>
                    </a:solidFill>
                  </a:tcPr>
                </a:tc>
                <a:tc>
                  <a:txBody>
                    <a:bodyPr/>
                    <a:lstStyle/>
                    <a:p>
                      <a:pPr algn="ctr"/>
                      <a:r>
                        <a:rPr lang="en-US" sz="2400" b="1" dirty="0">
                          <a:solidFill>
                            <a:srgbClr val="C00000"/>
                          </a:solidFill>
                        </a:rPr>
                        <a:t>10</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0"/>
                  </a:ext>
                </a:extLst>
              </a:tr>
            </a:tbl>
          </a:graphicData>
        </a:graphic>
      </p:graphicFrame>
      <p:sp>
        <p:nvSpPr>
          <p:cNvPr id="11" name="Oval 10"/>
          <p:cNvSpPr/>
          <p:nvPr/>
        </p:nvSpPr>
        <p:spPr>
          <a:xfrm>
            <a:off x="6772825" y="2592585"/>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sp>
        <p:nvSpPr>
          <p:cNvPr id="40" name="TextBox 39"/>
          <p:cNvSpPr txBox="1"/>
          <p:nvPr/>
        </p:nvSpPr>
        <p:spPr>
          <a:xfrm>
            <a:off x="609594" y="2303041"/>
            <a:ext cx="2690160" cy="400110"/>
          </a:xfrm>
          <a:prstGeom prst="rect">
            <a:avLst/>
          </a:prstGeom>
          <a:noFill/>
          <a:ln w="28575">
            <a:solidFill>
              <a:schemeClr val="tx1"/>
            </a:solidFill>
          </a:ln>
        </p:spPr>
        <p:txBody>
          <a:bodyPr wrap="none" rtlCol="0">
            <a:spAutoFit/>
          </a:bodyPr>
          <a:lstStyle/>
          <a:p>
            <a:r>
              <a:rPr lang="en-IN" sz="2000" b="1" dirty="0"/>
              <a:t>Step 3 : Apply Heap Sort</a:t>
            </a:r>
            <a:endParaRPr lang="en-US" sz="2000" b="1" dirty="0"/>
          </a:p>
        </p:txBody>
      </p:sp>
      <mc:AlternateContent xmlns:mc="http://schemas.openxmlformats.org/markup-compatibility/2006" xmlns:a14="http://schemas.microsoft.com/office/drawing/2010/main">
        <mc:Choice Requires="a14">
          <p:graphicFrame>
            <p:nvGraphicFramePr>
              <p:cNvPr id="41" name="Table 40"/>
              <p:cNvGraphicFramePr>
                <a:graphicFrameLocks noGrp="1"/>
              </p:cNvGraphicFramePr>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1</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2</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3</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4</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1800" i="1" dirty="0" smtClean="0">
                                    <a:solidFill>
                                      <a:srgbClr val="0066FF"/>
                                    </a:solidFill>
                                    <a:latin typeface="Cambria Math" panose="02040503050406030204" pitchFamily="18" charset="0"/>
                                  </a:rPr>
                                  <m:t>5</m:t>
                                </m:r>
                              </m:oMath>
                            </m:oMathPara>
                          </a14:m>
                          <a:endParaRPr lang="en-US" sz="1800" dirty="0">
                            <a:solidFill>
                              <a:srgbClr val="0066FF"/>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9224174"/>
                      </a:ext>
                    </a:extLst>
                  </a:tr>
                </a:tbl>
              </a:graphicData>
            </a:graphic>
          </p:graphicFrame>
        </mc:Choice>
        <mc:Fallback xmlns="">
          <p:graphicFrame>
            <p:nvGraphicFramePr>
              <p:cNvPr id="41" name="Table 40"/>
              <p:cNvGraphicFramePr>
                <a:graphicFrameLocks noGrp="1"/>
              </p:cNvGraphicFramePr>
              <p:nvPr>
                <p:extLst>
                  <p:ext uri="{D42A27DB-BD31-4B8C-83A1-F6EECF244321}">
                    <p14:modId xmlns:p14="http://schemas.microsoft.com/office/powerpoint/2010/main" val="3275512645"/>
                  </p:ext>
                </p:extLst>
              </p:nvPr>
            </p:nvGraphicFramePr>
            <p:xfrm>
              <a:off x="566654" y="2929881"/>
              <a:ext cx="3262891" cy="370840"/>
            </p:xfrm>
            <a:graphic>
              <a:graphicData uri="http://schemas.openxmlformats.org/drawingml/2006/table">
                <a:tbl>
                  <a:tblPr firstRow="1" bandRow="1">
                    <a:tableStyleId>{5C22544A-7EE6-4342-B048-85BDC9FD1C3A}</a:tableStyleId>
                  </a:tblPr>
                  <a:tblGrid>
                    <a:gridCol w="646986">
                      <a:extLst>
                        <a:ext uri="{9D8B030D-6E8A-4147-A177-3AD203B41FA5}">
                          <a16:colId xmlns:a16="http://schemas.microsoft.com/office/drawing/2014/main" val="2172049402"/>
                        </a:ext>
                      </a:extLst>
                    </a:gridCol>
                    <a:gridCol w="706147">
                      <a:extLst>
                        <a:ext uri="{9D8B030D-6E8A-4147-A177-3AD203B41FA5}">
                          <a16:colId xmlns:a16="http://schemas.microsoft.com/office/drawing/2014/main" val="2777662976"/>
                        </a:ext>
                      </a:extLst>
                    </a:gridCol>
                    <a:gridCol w="636586">
                      <a:extLst>
                        <a:ext uri="{9D8B030D-6E8A-4147-A177-3AD203B41FA5}">
                          <a16:colId xmlns:a16="http://schemas.microsoft.com/office/drawing/2014/main" val="238642833"/>
                        </a:ext>
                      </a:extLst>
                    </a:gridCol>
                    <a:gridCol w="636586">
                      <a:extLst>
                        <a:ext uri="{9D8B030D-6E8A-4147-A177-3AD203B41FA5}">
                          <a16:colId xmlns:a16="http://schemas.microsoft.com/office/drawing/2014/main" val="1357123703"/>
                        </a:ext>
                      </a:extLst>
                    </a:gridCol>
                    <a:gridCol w="636586">
                      <a:extLst>
                        <a:ext uri="{9D8B030D-6E8A-4147-A177-3AD203B41FA5}">
                          <a16:colId xmlns:a16="http://schemas.microsoft.com/office/drawing/2014/main" val="1531216989"/>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r="-406604"/>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90598" r="-268376"/>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214423" r="-201923"/>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311429" r="-1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411429"/>
                          </a:stretch>
                        </a:blipFill>
                      </a:tcPr>
                    </a:tc>
                    <a:extLst>
                      <a:ext uri="{0D108BD9-81ED-4DB2-BD59-A6C34878D82A}">
                        <a16:rowId xmlns:a16="http://schemas.microsoft.com/office/drawing/2014/main" val="2199224174"/>
                      </a:ext>
                    </a:extLst>
                  </a:tr>
                </a:tbl>
              </a:graphicData>
            </a:graphic>
          </p:graphicFrame>
        </mc:Fallback>
      </mc:AlternateContent>
      <p:sp>
        <p:nvSpPr>
          <p:cNvPr id="27" name="TextBox 26"/>
          <p:cNvSpPr txBox="1"/>
          <p:nvPr/>
        </p:nvSpPr>
        <p:spPr>
          <a:xfrm>
            <a:off x="9014011" y="2605138"/>
            <a:ext cx="2514600" cy="400110"/>
          </a:xfrm>
          <a:prstGeom prst="rect">
            <a:avLst/>
          </a:prstGeom>
          <a:noFill/>
        </p:spPr>
        <p:txBody>
          <a:bodyPr wrap="square" rtlCol="0">
            <a:spAutoFit/>
          </a:bodyPr>
          <a:lstStyle/>
          <a:p>
            <a:r>
              <a:rPr lang="en-US" sz="2000" b="1" dirty="0"/>
              <a:t>Already a Max Heap</a:t>
            </a:r>
          </a:p>
        </p:txBody>
      </p:sp>
      <p:sp>
        <p:nvSpPr>
          <p:cNvPr id="26" name="TextBox 25"/>
          <p:cNvSpPr txBox="1"/>
          <p:nvPr/>
        </p:nvSpPr>
        <p:spPr>
          <a:xfrm>
            <a:off x="569874" y="4706468"/>
            <a:ext cx="3200400" cy="1200329"/>
          </a:xfrm>
          <a:prstGeom prst="rect">
            <a:avLst/>
          </a:prstGeom>
          <a:solidFill>
            <a:srgbClr val="FCE0EE"/>
          </a:solidFill>
        </p:spPr>
        <p:txBody>
          <a:bodyPr wrap="square" rtlCol="0">
            <a:spAutoFit/>
          </a:bodyPr>
          <a:lstStyle/>
          <a:p>
            <a:pPr algn="just"/>
            <a:r>
              <a:rPr lang="en-US" sz="2400" dirty="0">
                <a:solidFill>
                  <a:srgbClr val="A71160"/>
                </a:solidFill>
              </a:rPr>
              <a:t>Remove the last element from heap and the sorting is over.</a:t>
            </a:r>
          </a:p>
        </p:txBody>
      </p:sp>
      <p:sp>
        <p:nvSpPr>
          <p:cNvPr id="3" name="Rectangle 2"/>
          <p:cNvSpPr/>
          <p:nvPr/>
        </p:nvSpPr>
        <p:spPr>
          <a:xfrm>
            <a:off x="537882" y="3321423"/>
            <a:ext cx="640080" cy="539496"/>
          </a:xfrm>
          <a:prstGeom prst="rect">
            <a:avLst/>
          </a:prstGeom>
          <a:solidFill>
            <a:schemeClr val="accent1">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1</a:t>
            </a:r>
          </a:p>
        </p:txBody>
      </p:sp>
    </p:spTree>
    <p:extLst>
      <p:ext uri="{BB962C8B-B14F-4D97-AF65-F5344CB8AC3E}">
        <p14:creationId xmlns:p14="http://schemas.microsoft.com/office/powerpoint/2010/main" val="916536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par>
                                <p:cTn id="17" presetID="14" presetClass="exit" presetSubtype="10" fill="hold" grpId="0" nodeType="withEffect">
                                  <p:stCondLst>
                                    <p:cond delay="0"/>
                                  </p:stCondLst>
                                  <p:childTnLst>
                                    <p:animEffect transition="out" filter="randombar(horizontal)">
                                      <p:cBhvr>
                                        <p:cTn id="18" dur="500"/>
                                        <p:tgtEl>
                                          <p:spTgt spid="27"/>
                                        </p:tgtEl>
                                      </p:cBhvr>
                                    </p:animEffect>
                                    <p:set>
                                      <p:cBhvr>
                                        <p:cTn id="19" dur="1" fill="hold">
                                          <p:stCondLst>
                                            <p:cond delay="4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7" grpId="0"/>
      <p:bldP spid="26" grpId="0" animBg="1"/>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Example 2</a:t>
            </a:r>
          </a:p>
        </p:txBody>
      </p:sp>
      <p:sp>
        <p:nvSpPr>
          <p:cNvPr id="3" name="Content Placeholder 2"/>
          <p:cNvSpPr>
            <a:spLocks noGrp="1"/>
          </p:cNvSpPr>
          <p:nvPr>
            <p:ph idx="1"/>
          </p:nvPr>
        </p:nvSpPr>
        <p:spPr/>
        <p:txBody>
          <a:bodyPr/>
          <a:lstStyle/>
          <a:p>
            <a:r>
              <a:rPr lang="en-US" dirty="0"/>
              <a:t>Sort given element in ascending order using heap sort.  19, 7, 16, 1, 14, 17</a:t>
            </a:r>
          </a:p>
          <a:p>
            <a:endParaRPr lang="en-US" dirty="0"/>
          </a:p>
        </p:txBody>
      </p:sp>
      <p:graphicFrame>
        <p:nvGraphicFramePr>
          <p:cNvPr id="4" name="Table 3"/>
          <p:cNvGraphicFramePr>
            <a:graphicFrameLocks noGrp="1"/>
          </p:cNvGraphicFramePr>
          <p:nvPr/>
        </p:nvGraphicFramePr>
        <p:xfrm>
          <a:off x="4528912" y="1721224"/>
          <a:ext cx="3840480" cy="5486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1751283045"/>
                    </a:ext>
                  </a:extLst>
                </a:gridCol>
              </a:tblGrid>
              <a:tr h="548640">
                <a:tc>
                  <a:txBody>
                    <a:bodyPr/>
                    <a:lstStyle/>
                    <a:p>
                      <a:pPr algn="ctr"/>
                      <a:r>
                        <a:rPr lang="en-US" sz="2400" dirty="0"/>
                        <a:t>19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t>16</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t>14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t>17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cxnSp>
        <p:nvCxnSpPr>
          <p:cNvPr id="5" name="Straight Connector 4"/>
          <p:cNvCxnSpPr/>
          <p:nvPr/>
        </p:nvCxnSpPr>
        <p:spPr>
          <a:xfrm>
            <a:off x="1018180" y="2590800"/>
            <a:ext cx="10058400" cy="0"/>
          </a:xfrm>
          <a:prstGeom prst="line">
            <a:avLst/>
          </a:prstGeom>
        </p:spPr>
        <p:style>
          <a:lnRef idx="1">
            <a:schemeClr val="dk1"/>
          </a:lnRef>
          <a:fillRef idx="0">
            <a:schemeClr val="dk1"/>
          </a:fillRef>
          <a:effectRef idx="0">
            <a:schemeClr val="dk1"/>
          </a:effectRef>
          <a:fontRef idx="minor">
            <a:schemeClr val="tx1"/>
          </a:fontRef>
        </p:style>
      </p:cxnSp>
      <p:sp>
        <p:nvSpPr>
          <p:cNvPr id="6" name="Oval 5"/>
          <p:cNvSpPr/>
          <p:nvPr/>
        </p:nvSpPr>
        <p:spPr>
          <a:xfrm>
            <a:off x="2689087" y="3505199"/>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19</a:t>
            </a:r>
          </a:p>
        </p:txBody>
      </p:sp>
      <p:cxnSp>
        <p:nvCxnSpPr>
          <p:cNvPr id="7" name="Straight Connector 6"/>
          <p:cNvCxnSpPr>
            <a:stCxn id="6" idx="3"/>
            <a:endCxn id="8" idx="0"/>
          </p:cNvCxnSpPr>
          <p:nvPr/>
        </p:nvCxnSpPr>
        <p:spPr>
          <a:xfrm flipH="1">
            <a:off x="2434698" y="4051541"/>
            <a:ext cx="348127" cy="33318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114658" y="4384726"/>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7</a:t>
            </a:r>
          </a:p>
        </p:txBody>
      </p:sp>
      <p:cxnSp>
        <p:nvCxnSpPr>
          <p:cNvPr id="9" name="Straight Connector 8"/>
          <p:cNvCxnSpPr>
            <a:stCxn id="6" idx="5"/>
            <a:endCxn id="10" idx="1"/>
          </p:cNvCxnSpPr>
          <p:nvPr/>
        </p:nvCxnSpPr>
        <p:spPr>
          <a:xfrm>
            <a:off x="3235429" y="4051541"/>
            <a:ext cx="449653" cy="42692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3591344" y="4384726"/>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16</a:t>
            </a:r>
          </a:p>
        </p:txBody>
      </p:sp>
      <p:cxnSp>
        <p:nvCxnSpPr>
          <p:cNvPr id="11" name="Straight Connector 10"/>
          <p:cNvCxnSpPr>
            <a:stCxn id="8" idx="3"/>
            <a:endCxn id="12" idx="0"/>
          </p:cNvCxnSpPr>
          <p:nvPr/>
        </p:nvCxnSpPr>
        <p:spPr>
          <a:xfrm flipH="1">
            <a:off x="2027814" y="4931068"/>
            <a:ext cx="180582" cy="48331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1707774" y="5414382"/>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cxnSp>
        <p:nvCxnSpPr>
          <p:cNvPr id="13" name="Straight Connector 12"/>
          <p:cNvCxnSpPr>
            <a:stCxn id="8" idx="5"/>
            <a:endCxn id="14" idx="0"/>
          </p:cNvCxnSpPr>
          <p:nvPr/>
        </p:nvCxnSpPr>
        <p:spPr>
          <a:xfrm>
            <a:off x="2661000" y="4931068"/>
            <a:ext cx="258853" cy="48331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599813" y="5414382"/>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14</a:t>
            </a:r>
          </a:p>
        </p:txBody>
      </p:sp>
      <p:cxnSp>
        <p:nvCxnSpPr>
          <p:cNvPr id="15" name="Straight Connector 14"/>
          <p:cNvCxnSpPr>
            <a:stCxn id="10" idx="4"/>
            <a:endCxn id="16" idx="0"/>
          </p:cNvCxnSpPr>
          <p:nvPr/>
        </p:nvCxnSpPr>
        <p:spPr>
          <a:xfrm flipH="1">
            <a:off x="3654459" y="5024806"/>
            <a:ext cx="256925" cy="38957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3334419" y="5414382"/>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17</a:t>
            </a:r>
          </a:p>
        </p:txBody>
      </p:sp>
      <p:cxnSp>
        <p:nvCxnSpPr>
          <p:cNvPr id="29" name="Straight Connector 28"/>
          <p:cNvCxnSpPr/>
          <p:nvPr/>
        </p:nvCxnSpPr>
        <p:spPr>
          <a:xfrm>
            <a:off x="6094945" y="2667001"/>
            <a:ext cx="2111" cy="37337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796317" y="2773830"/>
            <a:ext cx="3200400" cy="461665"/>
          </a:xfrm>
          <a:prstGeom prst="rect">
            <a:avLst/>
          </a:prstGeom>
          <a:noFill/>
        </p:spPr>
        <p:txBody>
          <a:bodyPr wrap="square" rtlCol="0">
            <a:spAutoFit/>
          </a:bodyPr>
          <a:lstStyle/>
          <a:p>
            <a:pPr algn="ctr"/>
            <a:r>
              <a:rPr lang="en-US" sz="2400" dirty="0"/>
              <a:t>Step 2: Create Max-heap</a:t>
            </a:r>
          </a:p>
        </p:txBody>
      </p:sp>
      <p:sp>
        <p:nvSpPr>
          <p:cNvPr id="35" name="Freeform 34"/>
          <p:cNvSpPr/>
          <p:nvPr/>
        </p:nvSpPr>
        <p:spPr>
          <a:xfrm>
            <a:off x="6221701" y="2299063"/>
            <a:ext cx="1864208" cy="195943"/>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a:solidFill>
              <a:srgbClr val="00B0F0"/>
            </a:solidFill>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6" name="Freeform 35"/>
          <p:cNvSpPr/>
          <p:nvPr/>
        </p:nvSpPr>
        <p:spPr>
          <a:xfrm rot="10800000">
            <a:off x="5512667" y="1427416"/>
            <a:ext cx="1880910" cy="218504"/>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a:solidFill>
              <a:srgbClr val="00B0F0"/>
            </a:solidFill>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7" name="TextBox 36"/>
          <p:cNvSpPr txBox="1"/>
          <p:nvPr/>
        </p:nvSpPr>
        <p:spPr>
          <a:xfrm>
            <a:off x="1018180" y="2773830"/>
            <a:ext cx="3527694" cy="461665"/>
          </a:xfrm>
          <a:prstGeom prst="rect">
            <a:avLst/>
          </a:prstGeom>
          <a:noFill/>
        </p:spPr>
        <p:txBody>
          <a:bodyPr wrap="square" rtlCol="0">
            <a:spAutoFit/>
          </a:bodyPr>
          <a:lstStyle/>
          <a:p>
            <a:pPr algn="ctr"/>
            <a:r>
              <a:rPr lang="en-US" sz="2400" dirty="0"/>
              <a:t>Step 1: Create binary tree</a:t>
            </a:r>
          </a:p>
        </p:txBody>
      </p:sp>
      <p:sp>
        <p:nvSpPr>
          <p:cNvPr id="38" name="Oval 37"/>
          <p:cNvSpPr/>
          <p:nvPr/>
        </p:nvSpPr>
        <p:spPr>
          <a:xfrm>
            <a:off x="8079709" y="3540032"/>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19</a:t>
            </a:r>
          </a:p>
        </p:txBody>
      </p:sp>
      <p:cxnSp>
        <p:nvCxnSpPr>
          <p:cNvPr id="39" name="Straight Connector 38"/>
          <p:cNvCxnSpPr>
            <a:stCxn id="38" idx="3"/>
            <a:endCxn id="40" idx="0"/>
          </p:cNvCxnSpPr>
          <p:nvPr/>
        </p:nvCxnSpPr>
        <p:spPr>
          <a:xfrm flipH="1">
            <a:off x="7825320" y="4086374"/>
            <a:ext cx="348127" cy="33318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7505280" y="4419559"/>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7</a:t>
            </a:r>
          </a:p>
        </p:txBody>
      </p:sp>
      <p:cxnSp>
        <p:nvCxnSpPr>
          <p:cNvPr id="41" name="Straight Connector 40"/>
          <p:cNvCxnSpPr>
            <a:stCxn id="38" idx="5"/>
            <a:endCxn id="42" idx="1"/>
          </p:cNvCxnSpPr>
          <p:nvPr/>
        </p:nvCxnSpPr>
        <p:spPr>
          <a:xfrm>
            <a:off x="8626051" y="4086374"/>
            <a:ext cx="449653" cy="42692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2" name="Oval 41"/>
          <p:cNvSpPr/>
          <p:nvPr/>
        </p:nvSpPr>
        <p:spPr>
          <a:xfrm>
            <a:off x="8981966" y="4419559"/>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16</a:t>
            </a:r>
          </a:p>
        </p:txBody>
      </p:sp>
      <p:cxnSp>
        <p:nvCxnSpPr>
          <p:cNvPr id="43" name="Straight Connector 42"/>
          <p:cNvCxnSpPr>
            <a:stCxn id="40" idx="3"/>
            <a:endCxn id="44" idx="0"/>
          </p:cNvCxnSpPr>
          <p:nvPr/>
        </p:nvCxnSpPr>
        <p:spPr>
          <a:xfrm flipH="1">
            <a:off x="7418436" y="4965901"/>
            <a:ext cx="180582" cy="48331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4" name="Oval 43"/>
          <p:cNvSpPr/>
          <p:nvPr/>
        </p:nvSpPr>
        <p:spPr>
          <a:xfrm>
            <a:off x="7098396" y="5449215"/>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cxnSp>
        <p:nvCxnSpPr>
          <p:cNvPr id="45" name="Straight Connector 44"/>
          <p:cNvCxnSpPr>
            <a:stCxn id="40" idx="5"/>
            <a:endCxn id="46" idx="0"/>
          </p:cNvCxnSpPr>
          <p:nvPr/>
        </p:nvCxnSpPr>
        <p:spPr>
          <a:xfrm>
            <a:off x="8051622" y="4965901"/>
            <a:ext cx="258853" cy="48331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7990435" y="5449215"/>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14</a:t>
            </a:r>
          </a:p>
        </p:txBody>
      </p:sp>
      <p:cxnSp>
        <p:nvCxnSpPr>
          <p:cNvPr id="47" name="Straight Connector 46"/>
          <p:cNvCxnSpPr>
            <a:stCxn id="42" idx="4"/>
            <a:endCxn id="48" idx="0"/>
          </p:cNvCxnSpPr>
          <p:nvPr/>
        </p:nvCxnSpPr>
        <p:spPr>
          <a:xfrm flipH="1">
            <a:off x="9045081" y="5059639"/>
            <a:ext cx="256925" cy="38957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8725041" y="5449215"/>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17</a:t>
            </a:r>
          </a:p>
        </p:txBody>
      </p:sp>
      <p:sp>
        <p:nvSpPr>
          <p:cNvPr id="49" name="Freeform 17"/>
          <p:cNvSpPr>
            <a:spLocks/>
          </p:cNvSpPr>
          <p:nvPr/>
        </p:nvSpPr>
        <p:spPr bwMode="auto">
          <a:xfrm>
            <a:off x="7860396" y="5100795"/>
            <a:ext cx="207824" cy="397411"/>
          </a:xfrm>
          <a:custGeom>
            <a:avLst/>
            <a:gdLst>
              <a:gd name="T0" fmla="*/ 197 w 197"/>
              <a:gd name="T1" fmla="*/ 260 h 260"/>
              <a:gd name="T2" fmla="*/ 114 w 197"/>
              <a:gd name="T3" fmla="*/ 233 h 260"/>
              <a:gd name="T4" fmla="*/ 41 w 197"/>
              <a:gd name="T5" fmla="*/ 164 h 260"/>
              <a:gd name="T6" fmla="*/ 0 w 197"/>
              <a:gd name="T7" fmla="*/ 0 h 260"/>
              <a:gd name="T8" fmla="*/ 0 60000 65536"/>
              <a:gd name="T9" fmla="*/ 0 60000 65536"/>
              <a:gd name="T10" fmla="*/ 0 60000 65536"/>
              <a:gd name="T11" fmla="*/ 0 60000 65536"/>
              <a:gd name="T12" fmla="*/ 0 w 197"/>
              <a:gd name="T13" fmla="*/ 0 h 260"/>
              <a:gd name="T14" fmla="*/ 197 w 197"/>
              <a:gd name="T15" fmla="*/ 260 h 260"/>
            </a:gdLst>
            <a:ahLst/>
            <a:cxnLst>
              <a:cxn ang="T8">
                <a:pos x="T0" y="T1"/>
              </a:cxn>
              <a:cxn ang="T9">
                <a:pos x="T2" y="T3"/>
              </a:cxn>
              <a:cxn ang="T10">
                <a:pos x="T4" y="T5"/>
              </a:cxn>
              <a:cxn ang="T11">
                <a:pos x="T6" y="T7"/>
              </a:cxn>
            </a:cxnLst>
            <a:rect l="T12" t="T13" r="T14" b="T15"/>
            <a:pathLst>
              <a:path w="197" h="260">
                <a:moveTo>
                  <a:pt x="197" y="260"/>
                </a:moveTo>
                <a:cubicBezTo>
                  <a:pt x="183" y="256"/>
                  <a:pt x="140" y="249"/>
                  <a:pt x="114" y="233"/>
                </a:cubicBezTo>
                <a:cubicBezTo>
                  <a:pt x="88" y="217"/>
                  <a:pt x="60" y="203"/>
                  <a:pt x="41" y="164"/>
                </a:cubicBezTo>
                <a:cubicBezTo>
                  <a:pt x="22" y="125"/>
                  <a:pt x="9" y="34"/>
                  <a:pt x="0" y="0"/>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solidFill>
                <a:srgbClr val="FF0000"/>
              </a:solidFill>
            </a:endParaRPr>
          </a:p>
        </p:txBody>
      </p:sp>
      <p:sp>
        <p:nvSpPr>
          <p:cNvPr id="50" name="Freeform 18"/>
          <p:cNvSpPr>
            <a:spLocks/>
          </p:cNvSpPr>
          <p:nvPr/>
        </p:nvSpPr>
        <p:spPr bwMode="auto">
          <a:xfrm>
            <a:off x="8184159" y="4930614"/>
            <a:ext cx="249238" cy="449263"/>
          </a:xfrm>
          <a:custGeom>
            <a:avLst/>
            <a:gdLst>
              <a:gd name="T0" fmla="*/ 0 w 157"/>
              <a:gd name="T1" fmla="*/ 0 h 283"/>
              <a:gd name="T2" fmla="*/ 91 w 157"/>
              <a:gd name="T3" fmla="*/ 41 h 283"/>
              <a:gd name="T4" fmla="*/ 147 w 157"/>
              <a:gd name="T5" fmla="*/ 151 h 283"/>
              <a:gd name="T6" fmla="*/ 152 w 157"/>
              <a:gd name="T7" fmla="*/ 283 h 283"/>
              <a:gd name="T8" fmla="*/ 0 60000 65536"/>
              <a:gd name="T9" fmla="*/ 0 60000 65536"/>
              <a:gd name="T10" fmla="*/ 0 60000 65536"/>
              <a:gd name="T11" fmla="*/ 0 60000 65536"/>
              <a:gd name="T12" fmla="*/ 0 w 157"/>
              <a:gd name="T13" fmla="*/ 0 h 283"/>
              <a:gd name="T14" fmla="*/ 157 w 157"/>
              <a:gd name="T15" fmla="*/ 283 h 283"/>
            </a:gdLst>
            <a:ahLst/>
            <a:cxnLst>
              <a:cxn ang="T8">
                <a:pos x="T0" y="T1"/>
              </a:cxn>
              <a:cxn ang="T9">
                <a:pos x="T2" y="T3"/>
              </a:cxn>
              <a:cxn ang="T10">
                <a:pos x="T4" y="T5"/>
              </a:cxn>
              <a:cxn ang="T11">
                <a:pos x="T6" y="T7"/>
              </a:cxn>
            </a:cxnLst>
            <a:rect l="T12" t="T13" r="T14" b="T15"/>
            <a:pathLst>
              <a:path w="157" h="283">
                <a:moveTo>
                  <a:pt x="0" y="0"/>
                </a:moveTo>
                <a:cubicBezTo>
                  <a:pt x="15" y="7"/>
                  <a:pt x="67" y="16"/>
                  <a:pt x="91" y="41"/>
                </a:cubicBezTo>
                <a:cubicBezTo>
                  <a:pt x="115" y="66"/>
                  <a:pt x="137" y="111"/>
                  <a:pt x="147" y="151"/>
                </a:cubicBezTo>
                <a:cubicBezTo>
                  <a:pt x="157" y="191"/>
                  <a:pt x="151" y="256"/>
                  <a:pt x="152" y="283"/>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solidFill>
                <a:srgbClr val="FF0000"/>
              </a:solidFill>
            </a:endParaRPr>
          </a:p>
        </p:txBody>
      </p:sp>
      <p:sp>
        <p:nvSpPr>
          <p:cNvPr id="51" name="Freeform 11"/>
          <p:cNvSpPr>
            <a:spLocks/>
          </p:cNvSpPr>
          <p:nvPr/>
        </p:nvSpPr>
        <p:spPr bwMode="auto">
          <a:xfrm>
            <a:off x="8805847" y="4944136"/>
            <a:ext cx="219851" cy="448504"/>
          </a:xfrm>
          <a:custGeom>
            <a:avLst/>
            <a:gdLst>
              <a:gd name="T0" fmla="*/ 0 w 162"/>
              <a:gd name="T1" fmla="*/ 264 h 264"/>
              <a:gd name="T2" fmla="*/ 30 w 162"/>
              <a:gd name="T3" fmla="*/ 162 h 264"/>
              <a:gd name="T4" fmla="*/ 90 w 162"/>
              <a:gd name="T5" fmla="*/ 66 h 264"/>
              <a:gd name="T6" fmla="*/ 162 w 162"/>
              <a:gd name="T7" fmla="*/ 0 h 264"/>
              <a:gd name="T8" fmla="*/ 0 60000 65536"/>
              <a:gd name="T9" fmla="*/ 0 60000 65536"/>
              <a:gd name="T10" fmla="*/ 0 60000 65536"/>
              <a:gd name="T11" fmla="*/ 0 60000 65536"/>
              <a:gd name="T12" fmla="*/ 0 w 162"/>
              <a:gd name="T13" fmla="*/ 0 h 264"/>
              <a:gd name="T14" fmla="*/ 162 w 162"/>
              <a:gd name="T15" fmla="*/ 264 h 264"/>
            </a:gdLst>
            <a:ahLst/>
            <a:cxnLst>
              <a:cxn ang="T8">
                <a:pos x="T0" y="T1"/>
              </a:cxn>
              <a:cxn ang="T9">
                <a:pos x="T2" y="T3"/>
              </a:cxn>
              <a:cxn ang="T10">
                <a:pos x="T4" y="T5"/>
              </a:cxn>
              <a:cxn ang="T11">
                <a:pos x="T6" y="T7"/>
              </a:cxn>
            </a:cxnLst>
            <a:rect l="T12" t="T13" r="T14" b="T15"/>
            <a:pathLst>
              <a:path w="162" h="264">
                <a:moveTo>
                  <a:pt x="0" y="264"/>
                </a:moveTo>
                <a:cubicBezTo>
                  <a:pt x="5" y="247"/>
                  <a:pt x="15" y="195"/>
                  <a:pt x="30" y="162"/>
                </a:cubicBezTo>
                <a:cubicBezTo>
                  <a:pt x="45" y="129"/>
                  <a:pt x="68" y="93"/>
                  <a:pt x="90" y="66"/>
                </a:cubicBezTo>
                <a:cubicBezTo>
                  <a:pt x="112" y="39"/>
                  <a:pt x="147" y="14"/>
                  <a:pt x="162" y="0"/>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2"/>
          <p:cNvSpPr>
            <a:spLocks/>
          </p:cNvSpPr>
          <p:nvPr/>
        </p:nvSpPr>
        <p:spPr bwMode="auto">
          <a:xfrm>
            <a:off x="9300384" y="5118205"/>
            <a:ext cx="219851" cy="452814"/>
          </a:xfrm>
          <a:custGeom>
            <a:avLst/>
            <a:gdLst>
              <a:gd name="T0" fmla="*/ 156 w 170"/>
              <a:gd name="T1" fmla="*/ 0 h 258"/>
              <a:gd name="T2" fmla="*/ 144 w 170"/>
              <a:gd name="T3" fmla="*/ 126 h 258"/>
              <a:gd name="T4" fmla="*/ 0 w 170"/>
              <a:gd name="T5" fmla="*/ 258 h 258"/>
              <a:gd name="T6" fmla="*/ 0 60000 65536"/>
              <a:gd name="T7" fmla="*/ 0 60000 65536"/>
              <a:gd name="T8" fmla="*/ 0 60000 65536"/>
              <a:gd name="T9" fmla="*/ 0 w 170"/>
              <a:gd name="T10" fmla="*/ 0 h 258"/>
              <a:gd name="T11" fmla="*/ 170 w 170"/>
              <a:gd name="T12" fmla="*/ 258 h 258"/>
            </a:gdLst>
            <a:ahLst/>
            <a:cxnLst>
              <a:cxn ang="T6">
                <a:pos x="T0" y="T1"/>
              </a:cxn>
              <a:cxn ang="T7">
                <a:pos x="T2" y="T3"/>
              </a:cxn>
              <a:cxn ang="T8">
                <a:pos x="T4" y="T5"/>
              </a:cxn>
            </a:cxnLst>
            <a:rect l="T9" t="T10" r="T11" b="T12"/>
            <a:pathLst>
              <a:path w="170" h="258">
                <a:moveTo>
                  <a:pt x="156" y="0"/>
                </a:moveTo>
                <a:cubicBezTo>
                  <a:pt x="154" y="21"/>
                  <a:pt x="170" y="83"/>
                  <a:pt x="144" y="126"/>
                </a:cubicBezTo>
                <a:cubicBezTo>
                  <a:pt x="118" y="169"/>
                  <a:pt x="30" y="231"/>
                  <a:pt x="0" y="258"/>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TextBox 52"/>
          <p:cNvSpPr txBox="1"/>
          <p:nvPr/>
        </p:nvSpPr>
        <p:spPr>
          <a:xfrm>
            <a:off x="8816481" y="5569200"/>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16</a:t>
            </a:r>
          </a:p>
        </p:txBody>
      </p:sp>
      <p:sp>
        <p:nvSpPr>
          <p:cNvPr id="54" name="TextBox 53"/>
          <p:cNvSpPr txBox="1"/>
          <p:nvPr/>
        </p:nvSpPr>
        <p:spPr>
          <a:xfrm>
            <a:off x="9073406" y="4539544"/>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17</a:t>
            </a:r>
          </a:p>
        </p:txBody>
      </p:sp>
      <p:sp>
        <p:nvSpPr>
          <p:cNvPr id="55" name="TextBox 54"/>
          <p:cNvSpPr txBox="1"/>
          <p:nvPr/>
        </p:nvSpPr>
        <p:spPr>
          <a:xfrm>
            <a:off x="8081875" y="5569200"/>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7</a:t>
            </a:r>
          </a:p>
        </p:txBody>
      </p:sp>
      <p:sp>
        <p:nvSpPr>
          <p:cNvPr id="56" name="TextBox 55"/>
          <p:cNvSpPr txBox="1"/>
          <p:nvPr/>
        </p:nvSpPr>
        <p:spPr>
          <a:xfrm>
            <a:off x="7596720" y="4539544"/>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14</a:t>
            </a:r>
          </a:p>
        </p:txBody>
      </p:sp>
      <p:sp>
        <p:nvSpPr>
          <p:cNvPr id="57" name="TextBox 56"/>
          <p:cNvSpPr txBox="1"/>
          <p:nvPr/>
        </p:nvSpPr>
        <p:spPr>
          <a:xfrm>
            <a:off x="7744997" y="1766045"/>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16</a:t>
            </a:r>
          </a:p>
        </p:txBody>
      </p:sp>
      <p:sp>
        <p:nvSpPr>
          <p:cNvPr id="58" name="TextBox 57"/>
          <p:cNvSpPr txBox="1"/>
          <p:nvPr/>
        </p:nvSpPr>
        <p:spPr>
          <a:xfrm>
            <a:off x="5866890" y="1783974"/>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17</a:t>
            </a:r>
          </a:p>
        </p:txBody>
      </p:sp>
      <p:sp>
        <p:nvSpPr>
          <p:cNvPr id="59" name="TextBox 58"/>
          <p:cNvSpPr txBox="1"/>
          <p:nvPr/>
        </p:nvSpPr>
        <p:spPr>
          <a:xfrm>
            <a:off x="5217723" y="1766045"/>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14</a:t>
            </a:r>
          </a:p>
        </p:txBody>
      </p:sp>
      <p:sp>
        <p:nvSpPr>
          <p:cNvPr id="60" name="TextBox 59"/>
          <p:cNvSpPr txBox="1"/>
          <p:nvPr/>
        </p:nvSpPr>
        <p:spPr>
          <a:xfrm>
            <a:off x="7121437" y="1779107"/>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7</a:t>
            </a:r>
          </a:p>
        </p:txBody>
      </p:sp>
    </p:spTree>
    <p:extLst>
      <p:ext uri="{BB962C8B-B14F-4D97-AF65-F5344CB8AC3E}">
        <p14:creationId xmlns:p14="http://schemas.microsoft.com/office/powerpoint/2010/main" val="3485294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32"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circle(out)">
                                      <p:cBhvr>
                                        <p:cTn id="22" dur="500"/>
                                        <p:tgtEl>
                                          <p:spTgt spid="6"/>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up)">
                                      <p:cBhvr>
                                        <p:cTn id="26" dur="500"/>
                                        <p:tgtEl>
                                          <p:spTgt spid="7"/>
                                        </p:tgtEl>
                                      </p:cBhvr>
                                    </p:animEffect>
                                  </p:childTnLst>
                                </p:cTn>
                              </p:par>
                              <p:par>
                                <p:cTn id="27" presetID="22" presetClass="entr" presetSubtype="1"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up)">
                                      <p:cBhvr>
                                        <p:cTn id="29" dur="500"/>
                                        <p:tgtEl>
                                          <p:spTgt spid="9"/>
                                        </p:tgtEl>
                                      </p:cBhvr>
                                    </p:animEffect>
                                  </p:childTnLst>
                                </p:cTn>
                              </p:par>
                            </p:childTnLst>
                          </p:cTn>
                        </p:par>
                        <p:par>
                          <p:cTn id="30" fill="hold">
                            <p:stCondLst>
                              <p:cond delay="1000"/>
                            </p:stCondLst>
                            <p:childTnLst>
                              <p:par>
                                <p:cTn id="31" presetID="6" presetClass="entr" presetSubtype="32"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circle(out)">
                                      <p:cBhvr>
                                        <p:cTn id="33" dur="500"/>
                                        <p:tgtEl>
                                          <p:spTgt spid="8"/>
                                        </p:tgtEl>
                                      </p:cBhvr>
                                    </p:animEffect>
                                  </p:childTnLst>
                                </p:cTn>
                              </p:par>
                              <p:par>
                                <p:cTn id="34" presetID="6" presetClass="entr" presetSubtype="32"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circle(out)">
                                      <p:cBhvr>
                                        <p:cTn id="36" dur="500"/>
                                        <p:tgtEl>
                                          <p:spTgt spid="10"/>
                                        </p:tgtEl>
                                      </p:cBhvr>
                                    </p:animEffect>
                                  </p:childTnLst>
                                </p:cTn>
                              </p:par>
                            </p:childTnLst>
                          </p:cTn>
                        </p:par>
                        <p:par>
                          <p:cTn id="37" fill="hold">
                            <p:stCondLst>
                              <p:cond delay="1500"/>
                            </p:stCondLst>
                            <p:childTnLst>
                              <p:par>
                                <p:cTn id="38" presetID="22" presetClass="entr" presetSubtype="1" fill="hold" nodeType="after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up)">
                                      <p:cBhvr>
                                        <p:cTn id="40" dur="500"/>
                                        <p:tgtEl>
                                          <p:spTgt spid="11"/>
                                        </p:tgtEl>
                                      </p:cBhvr>
                                    </p:animEffect>
                                  </p:childTnLst>
                                </p:cTn>
                              </p:par>
                              <p:par>
                                <p:cTn id="41" presetID="22" presetClass="entr" presetSubtype="1"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up)">
                                      <p:cBhvr>
                                        <p:cTn id="43" dur="500"/>
                                        <p:tgtEl>
                                          <p:spTgt spid="13"/>
                                        </p:tgtEl>
                                      </p:cBhvr>
                                    </p:animEffect>
                                  </p:childTnLst>
                                </p:cTn>
                              </p:par>
                            </p:childTnLst>
                          </p:cTn>
                        </p:par>
                        <p:par>
                          <p:cTn id="44" fill="hold">
                            <p:stCondLst>
                              <p:cond delay="2000"/>
                            </p:stCondLst>
                            <p:childTnLst>
                              <p:par>
                                <p:cTn id="45" presetID="6" presetClass="entr" presetSubtype="32"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circle(out)">
                                      <p:cBhvr>
                                        <p:cTn id="47" dur="500"/>
                                        <p:tgtEl>
                                          <p:spTgt spid="12"/>
                                        </p:tgtEl>
                                      </p:cBhvr>
                                    </p:animEffect>
                                  </p:childTnLst>
                                </p:cTn>
                              </p:par>
                            </p:childTnLst>
                          </p:cTn>
                        </p:par>
                        <p:par>
                          <p:cTn id="48" fill="hold">
                            <p:stCondLst>
                              <p:cond delay="2500"/>
                            </p:stCondLst>
                            <p:childTnLst>
                              <p:par>
                                <p:cTn id="49" presetID="6" presetClass="entr" presetSubtype="32"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circle(out)">
                                      <p:cBhvr>
                                        <p:cTn id="51" dur="500"/>
                                        <p:tgtEl>
                                          <p:spTgt spid="14"/>
                                        </p:tgtEl>
                                      </p:cBhvr>
                                    </p:animEffect>
                                  </p:childTnLst>
                                </p:cTn>
                              </p:par>
                            </p:childTnLst>
                          </p:cTn>
                        </p:par>
                        <p:par>
                          <p:cTn id="52" fill="hold">
                            <p:stCondLst>
                              <p:cond delay="3000"/>
                            </p:stCondLst>
                            <p:childTnLst>
                              <p:par>
                                <p:cTn id="53" presetID="22" presetClass="entr" presetSubtype="1" fill="hold"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up)">
                                      <p:cBhvr>
                                        <p:cTn id="55" dur="500"/>
                                        <p:tgtEl>
                                          <p:spTgt spid="15"/>
                                        </p:tgtEl>
                                      </p:cBhvr>
                                    </p:animEffect>
                                  </p:childTnLst>
                                </p:cTn>
                              </p:par>
                            </p:childTnLst>
                          </p:cTn>
                        </p:par>
                        <p:par>
                          <p:cTn id="56" fill="hold">
                            <p:stCondLst>
                              <p:cond delay="3500"/>
                            </p:stCondLst>
                            <p:childTnLst>
                              <p:par>
                                <p:cTn id="57" presetID="6" presetClass="entr" presetSubtype="32" fill="hold" grpId="0" nodeType="after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circle(out)">
                                      <p:cBhvr>
                                        <p:cTn id="59" dur="500"/>
                                        <p:tgtEl>
                                          <p:spTgt spid="1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wipe(down)">
                                      <p:cBhvr>
                                        <p:cTn id="64" dur="500"/>
                                        <p:tgtEl>
                                          <p:spTgt spid="2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500"/>
                                        <p:tgtEl>
                                          <p:spTgt spid="34"/>
                                        </p:tgtEl>
                                      </p:cBhvr>
                                    </p:animEffect>
                                  </p:childTnLst>
                                </p:cTn>
                              </p:par>
                            </p:childTnLst>
                          </p:cTn>
                        </p:par>
                      </p:childTnLst>
                    </p:cTn>
                  </p:par>
                  <p:par>
                    <p:cTn id="70" fill="hold">
                      <p:stCondLst>
                        <p:cond delay="indefinite"/>
                      </p:stCondLst>
                      <p:childTnLst>
                        <p:par>
                          <p:cTn id="71" fill="hold">
                            <p:stCondLst>
                              <p:cond delay="0"/>
                            </p:stCondLst>
                            <p:childTnLst>
                              <p:par>
                                <p:cTn id="72" presetID="6" presetClass="entr" presetSubtype="32" fill="hold" grpId="0" nodeType="click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circle(out)">
                                      <p:cBhvr>
                                        <p:cTn id="74" dur="500"/>
                                        <p:tgtEl>
                                          <p:spTgt spid="38"/>
                                        </p:tgtEl>
                                      </p:cBhvr>
                                    </p:animEffect>
                                  </p:childTnLst>
                                </p:cTn>
                              </p:par>
                              <p:par>
                                <p:cTn id="75" presetID="22" presetClass="entr" presetSubtype="1" fill="hold" nodeType="with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wipe(up)">
                                      <p:cBhvr>
                                        <p:cTn id="77" dur="500"/>
                                        <p:tgtEl>
                                          <p:spTgt spid="39"/>
                                        </p:tgtEl>
                                      </p:cBhvr>
                                    </p:animEffect>
                                  </p:childTnLst>
                                </p:cTn>
                              </p:par>
                              <p:par>
                                <p:cTn id="78" presetID="22" presetClass="entr" presetSubtype="1" fill="hold"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wipe(up)">
                                      <p:cBhvr>
                                        <p:cTn id="80" dur="500"/>
                                        <p:tgtEl>
                                          <p:spTgt spid="41"/>
                                        </p:tgtEl>
                                      </p:cBhvr>
                                    </p:animEffect>
                                  </p:childTnLst>
                                </p:cTn>
                              </p:par>
                              <p:par>
                                <p:cTn id="81" presetID="6" presetClass="entr" presetSubtype="32" fill="hold" grpId="0" nodeType="with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circle(out)">
                                      <p:cBhvr>
                                        <p:cTn id="83" dur="500"/>
                                        <p:tgtEl>
                                          <p:spTgt spid="40"/>
                                        </p:tgtEl>
                                      </p:cBhvr>
                                    </p:animEffect>
                                  </p:childTnLst>
                                </p:cTn>
                              </p:par>
                              <p:par>
                                <p:cTn id="84" presetID="6" presetClass="entr" presetSubtype="32" fill="hold" grpId="0" nodeType="withEffect">
                                  <p:stCondLst>
                                    <p:cond delay="0"/>
                                  </p:stCondLst>
                                  <p:childTnLst>
                                    <p:set>
                                      <p:cBhvr>
                                        <p:cTn id="85" dur="1" fill="hold">
                                          <p:stCondLst>
                                            <p:cond delay="0"/>
                                          </p:stCondLst>
                                        </p:cTn>
                                        <p:tgtEl>
                                          <p:spTgt spid="42"/>
                                        </p:tgtEl>
                                        <p:attrNameLst>
                                          <p:attrName>style.visibility</p:attrName>
                                        </p:attrNameLst>
                                      </p:cBhvr>
                                      <p:to>
                                        <p:strVal val="visible"/>
                                      </p:to>
                                    </p:set>
                                    <p:animEffect transition="in" filter="circle(out)">
                                      <p:cBhvr>
                                        <p:cTn id="86" dur="500"/>
                                        <p:tgtEl>
                                          <p:spTgt spid="42"/>
                                        </p:tgtEl>
                                      </p:cBhvr>
                                    </p:animEffect>
                                  </p:childTnLst>
                                </p:cTn>
                              </p:par>
                              <p:par>
                                <p:cTn id="87" presetID="22" presetClass="entr" presetSubtype="1" fill="hold" nodeType="withEffect">
                                  <p:stCondLst>
                                    <p:cond delay="0"/>
                                  </p:stCondLst>
                                  <p:childTnLst>
                                    <p:set>
                                      <p:cBhvr>
                                        <p:cTn id="88" dur="1" fill="hold">
                                          <p:stCondLst>
                                            <p:cond delay="0"/>
                                          </p:stCondLst>
                                        </p:cTn>
                                        <p:tgtEl>
                                          <p:spTgt spid="43"/>
                                        </p:tgtEl>
                                        <p:attrNameLst>
                                          <p:attrName>style.visibility</p:attrName>
                                        </p:attrNameLst>
                                      </p:cBhvr>
                                      <p:to>
                                        <p:strVal val="visible"/>
                                      </p:to>
                                    </p:set>
                                    <p:animEffect transition="in" filter="wipe(up)">
                                      <p:cBhvr>
                                        <p:cTn id="89" dur="500"/>
                                        <p:tgtEl>
                                          <p:spTgt spid="43"/>
                                        </p:tgtEl>
                                      </p:cBhvr>
                                    </p:animEffect>
                                  </p:childTnLst>
                                </p:cTn>
                              </p:par>
                              <p:par>
                                <p:cTn id="90" presetID="22" presetClass="entr" presetSubtype="1" fill="hold" nodeType="withEffect">
                                  <p:stCondLst>
                                    <p:cond delay="0"/>
                                  </p:stCondLst>
                                  <p:childTnLst>
                                    <p:set>
                                      <p:cBhvr>
                                        <p:cTn id="91" dur="1" fill="hold">
                                          <p:stCondLst>
                                            <p:cond delay="0"/>
                                          </p:stCondLst>
                                        </p:cTn>
                                        <p:tgtEl>
                                          <p:spTgt spid="45"/>
                                        </p:tgtEl>
                                        <p:attrNameLst>
                                          <p:attrName>style.visibility</p:attrName>
                                        </p:attrNameLst>
                                      </p:cBhvr>
                                      <p:to>
                                        <p:strVal val="visible"/>
                                      </p:to>
                                    </p:set>
                                    <p:animEffect transition="in" filter="wipe(up)">
                                      <p:cBhvr>
                                        <p:cTn id="92" dur="500"/>
                                        <p:tgtEl>
                                          <p:spTgt spid="45"/>
                                        </p:tgtEl>
                                      </p:cBhvr>
                                    </p:animEffect>
                                  </p:childTnLst>
                                </p:cTn>
                              </p:par>
                              <p:par>
                                <p:cTn id="93" presetID="6" presetClass="entr" presetSubtype="32" fill="hold" grpId="0" nodeType="withEffect">
                                  <p:stCondLst>
                                    <p:cond delay="0"/>
                                  </p:stCondLst>
                                  <p:childTnLst>
                                    <p:set>
                                      <p:cBhvr>
                                        <p:cTn id="94" dur="1" fill="hold">
                                          <p:stCondLst>
                                            <p:cond delay="0"/>
                                          </p:stCondLst>
                                        </p:cTn>
                                        <p:tgtEl>
                                          <p:spTgt spid="44"/>
                                        </p:tgtEl>
                                        <p:attrNameLst>
                                          <p:attrName>style.visibility</p:attrName>
                                        </p:attrNameLst>
                                      </p:cBhvr>
                                      <p:to>
                                        <p:strVal val="visible"/>
                                      </p:to>
                                    </p:set>
                                    <p:animEffect transition="in" filter="circle(out)">
                                      <p:cBhvr>
                                        <p:cTn id="95" dur="500"/>
                                        <p:tgtEl>
                                          <p:spTgt spid="44"/>
                                        </p:tgtEl>
                                      </p:cBhvr>
                                    </p:animEffect>
                                  </p:childTnLst>
                                </p:cTn>
                              </p:par>
                              <p:par>
                                <p:cTn id="96" presetID="6" presetClass="entr" presetSubtype="32" fill="hold" grpId="0" nodeType="withEffect">
                                  <p:stCondLst>
                                    <p:cond delay="0"/>
                                  </p:stCondLst>
                                  <p:childTnLst>
                                    <p:set>
                                      <p:cBhvr>
                                        <p:cTn id="97" dur="1" fill="hold">
                                          <p:stCondLst>
                                            <p:cond delay="0"/>
                                          </p:stCondLst>
                                        </p:cTn>
                                        <p:tgtEl>
                                          <p:spTgt spid="46"/>
                                        </p:tgtEl>
                                        <p:attrNameLst>
                                          <p:attrName>style.visibility</p:attrName>
                                        </p:attrNameLst>
                                      </p:cBhvr>
                                      <p:to>
                                        <p:strVal val="visible"/>
                                      </p:to>
                                    </p:set>
                                    <p:animEffect transition="in" filter="circle(out)">
                                      <p:cBhvr>
                                        <p:cTn id="98" dur="500"/>
                                        <p:tgtEl>
                                          <p:spTgt spid="46"/>
                                        </p:tgtEl>
                                      </p:cBhvr>
                                    </p:animEffect>
                                  </p:childTnLst>
                                </p:cTn>
                              </p:par>
                              <p:par>
                                <p:cTn id="99" presetID="22" presetClass="entr" presetSubtype="1" fill="hold" nodeType="withEffect">
                                  <p:stCondLst>
                                    <p:cond delay="0"/>
                                  </p:stCondLst>
                                  <p:childTnLst>
                                    <p:set>
                                      <p:cBhvr>
                                        <p:cTn id="100" dur="1" fill="hold">
                                          <p:stCondLst>
                                            <p:cond delay="0"/>
                                          </p:stCondLst>
                                        </p:cTn>
                                        <p:tgtEl>
                                          <p:spTgt spid="47"/>
                                        </p:tgtEl>
                                        <p:attrNameLst>
                                          <p:attrName>style.visibility</p:attrName>
                                        </p:attrNameLst>
                                      </p:cBhvr>
                                      <p:to>
                                        <p:strVal val="visible"/>
                                      </p:to>
                                    </p:set>
                                    <p:animEffect transition="in" filter="wipe(up)">
                                      <p:cBhvr>
                                        <p:cTn id="101" dur="500"/>
                                        <p:tgtEl>
                                          <p:spTgt spid="47"/>
                                        </p:tgtEl>
                                      </p:cBhvr>
                                    </p:animEffect>
                                  </p:childTnLst>
                                </p:cTn>
                              </p:par>
                              <p:par>
                                <p:cTn id="102" presetID="6" presetClass="entr" presetSubtype="32" fill="hold" grpId="0" nodeType="withEffect">
                                  <p:stCondLst>
                                    <p:cond delay="0"/>
                                  </p:stCondLst>
                                  <p:childTnLst>
                                    <p:set>
                                      <p:cBhvr>
                                        <p:cTn id="103" dur="1" fill="hold">
                                          <p:stCondLst>
                                            <p:cond delay="0"/>
                                          </p:stCondLst>
                                        </p:cTn>
                                        <p:tgtEl>
                                          <p:spTgt spid="48"/>
                                        </p:tgtEl>
                                        <p:attrNameLst>
                                          <p:attrName>style.visibility</p:attrName>
                                        </p:attrNameLst>
                                      </p:cBhvr>
                                      <p:to>
                                        <p:strVal val="visible"/>
                                      </p:to>
                                    </p:set>
                                    <p:animEffect transition="in" filter="circle(out)">
                                      <p:cBhvr>
                                        <p:cTn id="104" dur="500"/>
                                        <p:tgtEl>
                                          <p:spTgt spid="48"/>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4" fill="hold" grpId="0" nodeType="clickEffect">
                                  <p:stCondLst>
                                    <p:cond delay="0"/>
                                  </p:stCondLst>
                                  <p:childTnLst>
                                    <p:set>
                                      <p:cBhvr>
                                        <p:cTn id="108" dur="1" fill="hold">
                                          <p:stCondLst>
                                            <p:cond delay="0"/>
                                          </p:stCondLst>
                                        </p:cTn>
                                        <p:tgtEl>
                                          <p:spTgt spid="51"/>
                                        </p:tgtEl>
                                        <p:attrNameLst>
                                          <p:attrName>style.visibility</p:attrName>
                                        </p:attrNameLst>
                                      </p:cBhvr>
                                      <p:to>
                                        <p:strVal val="visible"/>
                                      </p:to>
                                    </p:set>
                                    <p:animEffect transition="in" filter="wipe(down)">
                                      <p:cBhvr>
                                        <p:cTn id="109" dur="500"/>
                                        <p:tgtEl>
                                          <p:spTgt spid="51"/>
                                        </p:tgtEl>
                                      </p:cBhvr>
                                    </p:animEffect>
                                  </p:childTnLst>
                                </p:cTn>
                              </p:par>
                              <p:par>
                                <p:cTn id="110" presetID="22" presetClass="entr" presetSubtype="1" fill="hold" grpId="0" nodeType="withEffect">
                                  <p:stCondLst>
                                    <p:cond delay="0"/>
                                  </p:stCondLst>
                                  <p:childTnLst>
                                    <p:set>
                                      <p:cBhvr>
                                        <p:cTn id="111" dur="1" fill="hold">
                                          <p:stCondLst>
                                            <p:cond delay="0"/>
                                          </p:stCondLst>
                                        </p:cTn>
                                        <p:tgtEl>
                                          <p:spTgt spid="52"/>
                                        </p:tgtEl>
                                        <p:attrNameLst>
                                          <p:attrName>style.visibility</p:attrName>
                                        </p:attrNameLst>
                                      </p:cBhvr>
                                      <p:to>
                                        <p:strVal val="visible"/>
                                      </p:to>
                                    </p:set>
                                    <p:animEffect transition="in" filter="wipe(up)">
                                      <p:cBhvr>
                                        <p:cTn id="112" dur="500"/>
                                        <p:tgtEl>
                                          <p:spTgt spid="52"/>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35"/>
                                        </p:tgtEl>
                                        <p:attrNameLst>
                                          <p:attrName>style.visibility</p:attrName>
                                        </p:attrNameLst>
                                      </p:cBhvr>
                                      <p:to>
                                        <p:strVal val="visible"/>
                                      </p:to>
                                    </p:set>
                                    <p:animEffect transition="in" filter="wipe(down)">
                                      <p:cBhvr>
                                        <p:cTn id="117" dur="500"/>
                                        <p:tgtEl>
                                          <p:spTgt spid="35"/>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500"/>
                                        <p:tgtEl>
                                          <p:spTgt spid="53"/>
                                        </p:tgtEl>
                                      </p:cBhvr>
                                    </p:animEffect>
                                  </p:childTnLst>
                                </p:cTn>
                              </p:par>
                            </p:childTnLst>
                          </p:cTn>
                        </p:par>
                        <p:par>
                          <p:cTn id="123" fill="hold">
                            <p:stCondLst>
                              <p:cond delay="500"/>
                            </p:stCondLst>
                            <p:childTnLst>
                              <p:par>
                                <p:cTn id="124" presetID="10" presetClass="entr" presetSubtype="0" fill="hold" grpId="0" nodeType="afterEffect">
                                  <p:stCondLst>
                                    <p:cond delay="0"/>
                                  </p:stCondLst>
                                  <p:childTnLst>
                                    <p:set>
                                      <p:cBhvr>
                                        <p:cTn id="125" dur="1" fill="hold">
                                          <p:stCondLst>
                                            <p:cond delay="0"/>
                                          </p:stCondLst>
                                        </p:cTn>
                                        <p:tgtEl>
                                          <p:spTgt spid="54"/>
                                        </p:tgtEl>
                                        <p:attrNameLst>
                                          <p:attrName>style.visibility</p:attrName>
                                        </p:attrNameLst>
                                      </p:cBhvr>
                                      <p:to>
                                        <p:strVal val="visible"/>
                                      </p:to>
                                    </p:set>
                                    <p:animEffect transition="in" filter="fade">
                                      <p:cBhvr>
                                        <p:cTn id="126" dur="500"/>
                                        <p:tgtEl>
                                          <p:spTgt spid="54"/>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57"/>
                                        </p:tgtEl>
                                        <p:attrNameLst>
                                          <p:attrName>style.visibility</p:attrName>
                                        </p:attrNameLst>
                                      </p:cBhvr>
                                      <p:to>
                                        <p:strVal val="visible"/>
                                      </p:to>
                                    </p:set>
                                    <p:animEffect transition="in" filter="fade">
                                      <p:cBhvr>
                                        <p:cTn id="131" dur="500"/>
                                        <p:tgtEl>
                                          <p:spTgt spid="57"/>
                                        </p:tgtEl>
                                      </p:cBhvr>
                                    </p:animEffect>
                                  </p:childTnLst>
                                </p:cTn>
                              </p:par>
                            </p:childTnLst>
                          </p:cTn>
                        </p:par>
                        <p:par>
                          <p:cTn id="132" fill="hold">
                            <p:stCondLst>
                              <p:cond delay="500"/>
                            </p:stCondLst>
                            <p:childTnLst>
                              <p:par>
                                <p:cTn id="133" presetID="10" presetClass="entr" presetSubtype="0" fill="hold" grpId="0" nodeType="afterEffect">
                                  <p:stCondLst>
                                    <p:cond delay="0"/>
                                  </p:stCondLst>
                                  <p:childTnLst>
                                    <p:set>
                                      <p:cBhvr>
                                        <p:cTn id="134" dur="1" fill="hold">
                                          <p:stCondLst>
                                            <p:cond delay="0"/>
                                          </p:stCondLst>
                                        </p:cTn>
                                        <p:tgtEl>
                                          <p:spTgt spid="58"/>
                                        </p:tgtEl>
                                        <p:attrNameLst>
                                          <p:attrName>style.visibility</p:attrName>
                                        </p:attrNameLst>
                                      </p:cBhvr>
                                      <p:to>
                                        <p:strVal val="visible"/>
                                      </p:to>
                                    </p:set>
                                    <p:animEffect transition="in" filter="fade">
                                      <p:cBhvr>
                                        <p:cTn id="135" dur="500"/>
                                        <p:tgtEl>
                                          <p:spTgt spid="58"/>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grpId="0" nodeType="clickEffect">
                                  <p:stCondLst>
                                    <p:cond delay="0"/>
                                  </p:stCondLst>
                                  <p:childTnLst>
                                    <p:set>
                                      <p:cBhvr>
                                        <p:cTn id="139" dur="1" fill="hold">
                                          <p:stCondLst>
                                            <p:cond delay="0"/>
                                          </p:stCondLst>
                                        </p:cTn>
                                        <p:tgtEl>
                                          <p:spTgt spid="49"/>
                                        </p:tgtEl>
                                        <p:attrNameLst>
                                          <p:attrName>style.visibility</p:attrName>
                                        </p:attrNameLst>
                                      </p:cBhvr>
                                      <p:to>
                                        <p:strVal val="visible"/>
                                      </p:to>
                                    </p:set>
                                    <p:animEffect transition="in" filter="wipe(down)">
                                      <p:cBhvr>
                                        <p:cTn id="140" dur="500"/>
                                        <p:tgtEl>
                                          <p:spTgt spid="49"/>
                                        </p:tgtEl>
                                      </p:cBhvr>
                                    </p:animEffect>
                                  </p:childTnLst>
                                </p:cTn>
                              </p:par>
                              <p:par>
                                <p:cTn id="141" presetID="22" presetClass="entr" presetSubtype="1" fill="hold" grpId="0" nodeType="withEffect">
                                  <p:stCondLst>
                                    <p:cond delay="0"/>
                                  </p:stCondLst>
                                  <p:childTnLst>
                                    <p:set>
                                      <p:cBhvr>
                                        <p:cTn id="142" dur="1" fill="hold">
                                          <p:stCondLst>
                                            <p:cond delay="0"/>
                                          </p:stCondLst>
                                        </p:cTn>
                                        <p:tgtEl>
                                          <p:spTgt spid="50"/>
                                        </p:tgtEl>
                                        <p:attrNameLst>
                                          <p:attrName>style.visibility</p:attrName>
                                        </p:attrNameLst>
                                      </p:cBhvr>
                                      <p:to>
                                        <p:strVal val="visible"/>
                                      </p:to>
                                    </p:set>
                                    <p:animEffect transition="in" filter="wipe(up)">
                                      <p:cBhvr>
                                        <p:cTn id="143" dur="500"/>
                                        <p:tgtEl>
                                          <p:spTgt spid="50"/>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1" fill="hold" grpId="0" nodeType="clickEffect">
                                  <p:stCondLst>
                                    <p:cond delay="0"/>
                                  </p:stCondLst>
                                  <p:childTnLst>
                                    <p:set>
                                      <p:cBhvr>
                                        <p:cTn id="147" dur="1" fill="hold">
                                          <p:stCondLst>
                                            <p:cond delay="0"/>
                                          </p:stCondLst>
                                        </p:cTn>
                                        <p:tgtEl>
                                          <p:spTgt spid="36"/>
                                        </p:tgtEl>
                                        <p:attrNameLst>
                                          <p:attrName>style.visibility</p:attrName>
                                        </p:attrNameLst>
                                      </p:cBhvr>
                                      <p:to>
                                        <p:strVal val="visible"/>
                                      </p:to>
                                    </p:set>
                                    <p:animEffect transition="in" filter="wipe(up)">
                                      <p:cBhvr>
                                        <p:cTn id="148" dur="500"/>
                                        <p:tgtEl>
                                          <p:spTgt spid="36"/>
                                        </p:tgtEl>
                                      </p:cBhvr>
                                    </p:animEffect>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grpId="0" nodeType="clickEffect">
                                  <p:stCondLst>
                                    <p:cond delay="0"/>
                                  </p:stCondLst>
                                  <p:childTnLst>
                                    <p:set>
                                      <p:cBhvr>
                                        <p:cTn id="152" dur="1" fill="hold">
                                          <p:stCondLst>
                                            <p:cond delay="0"/>
                                          </p:stCondLst>
                                        </p:cTn>
                                        <p:tgtEl>
                                          <p:spTgt spid="55"/>
                                        </p:tgtEl>
                                        <p:attrNameLst>
                                          <p:attrName>style.visibility</p:attrName>
                                        </p:attrNameLst>
                                      </p:cBhvr>
                                      <p:to>
                                        <p:strVal val="visible"/>
                                      </p:to>
                                    </p:set>
                                    <p:animEffect transition="in" filter="fade">
                                      <p:cBhvr>
                                        <p:cTn id="153" dur="500"/>
                                        <p:tgtEl>
                                          <p:spTgt spid="55"/>
                                        </p:tgtEl>
                                      </p:cBhvr>
                                    </p:animEffect>
                                  </p:childTnLst>
                                </p:cTn>
                              </p:par>
                            </p:childTnLst>
                          </p:cTn>
                        </p:par>
                        <p:par>
                          <p:cTn id="154" fill="hold">
                            <p:stCondLst>
                              <p:cond delay="500"/>
                            </p:stCondLst>
                            <p:childTnLst>
                              <p:par>
                                <p:cTn id="155" presetID="10" presetClass="entr" presetSubtype="0" fill="hold" grpId="0" nodeType="after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500"/>
                                        <p:tgtEl>
                                          <p:spTgt spid="56"/>
                                        </p:tgtEl>
                                      </p:cBhvr>
                                    </p:animEffect>
                                  </p:childTnLst>
                                </p:cTn>
                              </p:par>
                            </p:childTnLst>
                          </p:cTn>
                        </p:par>
                      </p:childTnLst>
                    </p:cTn>
                  </p:par>
                  <p:par>
                    <p:cTn id="158" fill="hold">
                      <p:stCondLst>
                        <p:cond delay="indefinite"/>
                      </p:stCondLst>
                      <p:childTnLst>
                        <p:par>
                          <p:cTn id="159" fill="hold">
                            <p:stCondLst>
                              <p:cond delay="0"/>
                            </p:stCondLst>
                            <p:childTnLst>
                              <p:par>
                                <p:cTn id="160" presetID="10" presetClass="entr" presetSubtype="0" fill="hold" grpId="0" nodeType="clickEffect">
                                  <p:stCondLst>
                                    <p:cond delay="0"/>
                                  </p:stCondLst>
                                  <p:childTnLst>
                                    <p:set>
                                      <p:cBhvr>
                                        <p:cTn id="161" dur="1" fill="hold">
                                          <p:stCondLst>
                                            <p:cond delay="0"/>
                                          </p:stCondLst>
                                        </p:cTn>
                                        <p:tgtEl>
                                          <p:spTgt spid="59"/>
                                        </p:tgtEl>
                                        <p:attrNameLst>
                                          <p:attrName>style.visibility</p:attrName>
                                        </p:attrNameLst>
                                      </p:cBhvr>
                                      <p:to>
                                        <p:strVal val="visible"/>
                                      </p:to>
                                    </p:set>
                                    <p:animEffect transition="in" filter="fade">
                                      <p:cBhvr>
                                        <p:cTn id="162" dur="500"/>
                                        <p:tgtEl>
                                          <p:spTgt spid="59"/>
                                        </p:tgtEl>
                                      </p:cBhvr>
                                    </p:animEffect>
                                  </p:childTnLst>
                                </p:cTn>
                              </p:par>
                            </p:childTnLst>
                          </p:cTn>
                        </p:par>
                        <p:par>
                          <p:cTn id="163" fill="hold">
                            <p:stCondLst>
                              <p:cond delay="500"/>
                            </p:stCondLst>
                            <p:childTnLst>
                              <p:par>
                                <p:cTn id="164" presetID="10" presetClass="entr" presetSubtype="0" fill="hold" grpId="0" nodeType="afterEffect">
                                  <p:stCondLst>
                                    <p:cond delay="0"/>
                                  </p:stCondLst>
                                  <p:childTnLst>
                                    <p:set>
                                      <p:cBhvr>
                                        <p:cTn id="165" dur="1" fill="hold">
                                          <p:stCondLst>
                                            <p:cond delay="0"/>
                                          </p:stCondLst>
                                        </p:cTn>
                                        <p:tgtEl>
                                          <p:spTgt spid="60"/>
                                        </p:tgtEl>
                                        <p:attrNameLst>
                                          <p:attrName>style.visibility</p:attrName>
                                        </p:attrNameLst>
                                      </p:cBhvr>
                                      <p:to>
                                        <p:strVal val="visible"/>
                                      </p:to>
                                    </p:set>
                                    <p:animEffect transition="in" filter="fade">
                                      <p:cBhvr>
                                        <p:cTn id="166"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6" grpId="0" animBg="1"/>
      <p:bldP spid="34" grpId="0"/>
      <p:bldP spid="35" grpId="0" animBg="1"/>
      <p:bldP spid="36" grpId="0" animBg="1"/>
      <p:bldP spid="37" grpId="0"/>
      <p:bldP spid="38" grpId="0" animBg="1"/>
      <p:bldP spid="40" grpId="0" animBg="1"/>
      <p:bldP spid="42" grpId="0" animBg="1"/>
      <p:bldP spid="44" grpId="0" animBg="1"/>
      <p:bldP spid="46"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Example 2</a:t>
            </a:r>
          </a:p>
        </p:txBody>
      </p:sp>
      <p:cxnSp>
        <p:nvCxnSpPr>
          <p:cNvPr id="5" name="Straight Connector 4"/>
          <p:cNvCxnSpPr>
            <a:stCxn id="10" idx="4"/>
            <a:endCxn id="15" idx="0"/>
          </p:cNvCxnSpPr>
          <p:nvPr/>
        </p:nvCxnSpPr>
        <p:spPr>
          <a:xfrm flipH="1">
            <a:off x="3604169" y="3917666"/>
            <a:ext cx="256925" cy="38957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Oval 5"/>
          <p:cNvSpPr/>
          <p:nvPr/>
        </p:nvSpPr>
        <p:spPr>
          <a:xfrm>
            <a:off x="2638797" y="2398059"/>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19</a:t>
            </a:r>
          </a:p>
        </p:txBody>
      </p:sp>
      <p:cxnSp>
        <p:nvCxnSpPr>
          <p:cNvPr id="7" name="Straight Connector 6"/>
          <p:cNvCxnSpPr>
            <a:stCxn id="6" idx="3"/>
            <a:endCxn id="8" idx="0"/>
          </p:cNvCxnSpPr>
          <p:nvPr/>
        </p:nvCxnSpPr>
        <p:spPr>
          <a:xfrm flipH="1">
            <a:off x="2384408" y="2944401"/>
            <a:ext cx="348127" cy="41199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064368" y="3356392"/>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14</a:t>
            </a:r>
          </a:p>
        </p:txBody>
      </p:sp>
      <p:cxnSp>
        <p:nvCxnSpPr>
          <p:cNvPr id="9" name="Straight Connector 8"/>
          <p:cNvCxnSpPr>
            <a:stCxn id="6" idx="5"/>
            <a:endCxn id="10" idx="1"/>
          </p:cNvCxnSpPr>
          <p:nvPr/>
        </p:nvCxnSpPr>
        <p:spPr>
          <a:xfrm>
            <a:off x="3185139" y="2944401"/>
            <a:ext cx="449653" cy="42692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3541054" y="3277586"/>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17</a:t>
            </a:r>
          </a:p>
        </p:txBody>
      </p:sp>
      <p:cxnSp>
        <p:nvCxnSpPr>
          <p:cNvPr id="11" name="Straight Connector 10"/>
          <p:cNvCxnSpPr>
            <a:stCxn id="8" idx="3"/>
            <a:endCxn id="12" idx="0"/>
          </p:cNvCxnSpPr>
          <p:nvPr/>
        </p:nvCxnSpPr>
        <p:spPr>
          <a:xfrm flipH="1">
            <a:off x="1977524" y="3902734"/>
            <a:ext cx="180582" cy="4045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1657484" y="4307242"/>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cxnSp>
        <p:nvCxnSpPr>
          <p:cNvPr id="13" name="Straight Connector 12"/>
          <p:cNvCxnSpPr>
            <a:stCxn id="8" idx="5"/>
            <a:endCxn id="14" idx="0"/>
          </p:cNvCxnSpPr>
          <p:nvPr/>
        </p:nvCxnSpPr>
        <p:spPr>
          <a:xfrm>
            <a:off x="2610710" y="3902734"/>
            <a:ext cx="258853" cy="4045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549523" y="4307242"/>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7</a:t>
            </a:r>
          </a:p>
        </p:txBody>
      </p:sp>
      <p:sp>
        <p:nvSpPr>
          <p:cNvPr id="15" name="Oval 14"/>
          <p:cNvSpPr/>
          <p:nvPr/>
        </p:nvSpPr>
        <p:spPr>
          <a:xfrm>
            <a:off x="3284129" y="4307242"/>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16</a:t>
            </a:r>
          </a:p>
        </p:txBody>
      </p:sp>
      <p:graphicFrame>
        <p:nvGraphicFramePr>
          <p:cNvPr id="16" name="Table 15"/>
          <p:cNvGraphicFramePr>
            <a:graphicFrameLocks noGrp="1"/>
          </p:cNvGraphicFramePr>
          <p:nvPr/>
        </p:nvGraphicFramePr>
        <p:xfrm>
          <a:off x="1657484" y="1386239"/>
          <a:ext cx="3840480" cy="5486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1751283045"/>
                    </a:ext>
                  </a:extLst>
                </a:gridCol>
              </a:tblGrid>
              <a:tr h="548640">
                <a:tc>
                  <a:txBody>
                    <a:bodyPr/>
                    <a:lstStyle/>
                    <a:p>
                      <a:pPr algn="ctr"/>
                      <a:r>
                        <a:rPr lang="en-US" sz="2400" dirty="0"/>
                        <a:t>19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16</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cxnSp>
        <p:nvCxnSpPr>
          <p:cNvPr id="17" name="Straight Connector 16"/>
          <p:cNvCxnSpPr/>
          <p:nvPr/>
        </p:nvCxnSpPr>
        <p:spPr>
          <a:xfrm>
            <a:off x="6096000" y="1053692"/>
            <a:ext cx="0" cy="520781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7358699" y="2426143"/>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16</a:t>
            </a:r>
          </a:p>
        </p:txBody>
      </p:sp>
      <p:cxnSp>
        <p:nvCxnSpPr>
          <p:cNvPr id="20" name="Straight Connector 19"/>
          <p:cNvCxnSpPr>
            <a:stCxn id="19" idx="3"/>
            <a:endCxn id="21" idx="0"/>
          </p:cNvCxnSpPr>
          <p:nvPr/>
        </p:nvCxnSpPr>
        <p:spPr>
          <a:xfrm flipH="1">
            <a:off x="7104310" y="2972485"/>
            <a:ext cx="348127" cy="41199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6784270" y="3384476"/>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14</a:t>
            </a:r>
          </a:p>
        </p:txBody>
      </p:sp>
      <p:cxnSp>
        <p:nvCxnSpPr>
          <p:cNvPr id="22" name="Straight Connector 21"/>
          <p:cNvCxnSpPr>
            <a:stCxn id="19" idx="5"/>
            <a:endCxn id="23" idx="1"/>
          </p:cNvCxnSpPr>
          <p:nvPr/>
        </p:nvCxnSpPr>
        <p:spPr>
          <a:xfrm>
            <a:off x="7905041" y="2972485"/>
            <a:ext cx="449653" cy="42692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8260956" y="3305670"/>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17</a:t>
            </a:r>
          </a:p>
        </p:txBody>
      </p:sp>
      <p:cxnSp>
        <p:nvCxnSpPr>
          <p:cNvPr id="24" name="Straight Connector 23"/>
          <p:cNvCxnSpPr>
            <a:stCxn id="21" idx="3"/>
            <a:endCxn id="25" idx="0"/>
          </p:cNvCxnSpPr>
          <p:nvPr/>
        </p:nvCxnSpPr>
        <p:spPr>
          <a:xfrm flipH="1">
            <a:off x="6697426" y="3930818"/>
            <a:ext cx="180582" cy="4045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6377386" y="4335326"/>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cxnSp>
        <p:nvCxnSpPr>
          <p:cNvPr id="26" name="Straight Connector 25"/>
          <p:cNvCxnSpPr>
            <a:stCxn id="21" idx="5"/>
            <a:endCxn id="27" idx="0"/>
          </p:cNvCxnSpPr>
          <p:nvPr/>
        </p:nvCxnSpPr>
        <p:spPr>
          <a:xfrm>
            <a:off x="7330612" y="3930818"/>
            <a:ext cx="258853" cy="4045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7269425" y="4335326"/>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7</a:t>
            </a:r>
          </a:p>
        </p:txBody>
      </p:sp>
      <p:graphicFrame>
        <p:nvGraphicFramePr>
          <p:cNvPr id="28" name="Table 27"/>
          <p:cNvGraphicFramePr>
            <a:graphicFrameLocks noGrp="1"/>
          </p:cNvGraphicFramePr>
          <p:nvPr/>
        </p:nvGraphicFramePr>
        <p:xfrm>
          <a:off x="7197653" y="1386239"/>
          <a:ext cx="3840480" cy="5486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1751283045"/>
                    </a:ext>
                  </a:extLst>
                </a:gridCol>
              </a:tblGrid>
              <a:tr h="548640">
                <a:tc>
                  <a:txBody>
                    <a:bodyPr/>
                    <a:lstStyle/>
                    <a:p>
                      <a:pPr algn="ctr"/>
                      <a:r>
                        <a:rPr lang="en-US" sz="2400" dirty="0"/>
                        <a:t>16</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b="1" dirty="0">
                          <a:solidFill>
                            <a:schemeClr val="bg1"/>
                          </a:solidFill>
                        </a:rPr>
                        <a:t>19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bl>
          </a:graphicData>
        </a:graphic>
      </p:graphicFrame>
      <p:grpSp>
        <p:nvGrpSpPr>
          <p:cNvPr id="29" name="Group 28"/>
          <p:cNvGrpSpPr/>
          <p:nvPr/>
        </p:nvGrpSpPr>
        <p:grpSpPr>
          <a:xfrm>
            <a:off x="3630328" y="2600912"/>
            <a:ext cx="1815727" cy="2006947"/>
            <a:chOff x="2261195" y="2837871"/>
            <a:chExt cx="1815727" cy="2006946"/>
          </a:xfrm>
        </p:grpSpPr>
        <p:cxnSp>
          <p:nvCxnSpPr>
            <p:cNvPr id="30" name="Straight Arrow Connector 29"/>
            <p:cNvCxnSpPr/>
            <p:nvPr/>
          </p:nvCxnSpPr>
          <p:spPr>
            <a:xfrm flipH="1">
              <a:off x="2261195" y="2837871"/>
              <a:ext cx="1815726" cy="1"/>
            </a:xfrm>
            <a:prstGeom prst="straightConnector1">
              <a:avLst/>
            </a:prstGeom>
            <a:ln w="28575">
              <a:solidFill>
                <a:srgbClr val="ED524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4076921" y="2837872"/>
              <a:ext cx="0" cy="2006945"/>
            </a:xfrm>
            <a:prstGeom prst="line">
              <a:avLst/>
            </a:prstGeom>
            <a:ln w="28575">
              <a:solidFill>
                <a:srgbClr val="ED524F"/>
              </a:solidFill>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H="1">
              <a:off x="2781521" y="4844817"/>
              <a:ext cx="1295401" cy="0"/>
            </a:xfrm>
            <a:prstGeom prst="straightConnector1">
              <a:avLst/>
            </a:prstGeom>
            <a:ln w="28575">
              <a:solidFill>
                <a:srgbClr val="ED524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33" name="TextBox 32"/>
          <p:cNvSpPr txBox="1"/>
          <p:nvPr/>
        </p:nvSpPr>
        <p:spPr>
          <a:xfrm>
            <a:off x="4315269" y="2903421"/>
            <a:ext cx="1069907" cy="1323439"/>
          </a:xfrm>
          <a:prstGeom prst="rect">
            <a:avLst/>
          </a:prstGeom>
          <a:noFill/>
        </p:spPr>
        <p:txBody>
          <a:bodyPr wrap="square" rtlCol="0">
            <a:spAutoFit/>
          </a:bodyPr>
          <a:lstStyle/>
          <a:p>
            <a:pPr algn="just"/>
            <a:r>
              <a:rPr lang="en-US" sz="2000" b="1" dirty="0">
                <a:solidFill>
                  <a:srgbClr val="0070C0"/>
                </a:solidFill>
              </a:rPr>
              <a:t>Swap &amp; remove the last element</a:t>
            </a:r>
          </a:p>
        </p:txBody>
      </p:sp>
      <p:sp>
        <p:nvSpPr>
          <p:cNvPr id="34" name="Freeform 33"/>
          <p:cNvSpPr/>
          <p:nvPr/>
        </p:nvSpPr>
        <p:spPr>
          <a:xfrm rot="10800000">
            <a:off x="1976718" y="1129551"/>
            <a:ext cx="3227293" cy="174813"/>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5" name="TextBox 34"/>
          <p:cNvSpPr txBox="1"/>
          <p:nvPr/>
        </p:nvSpPr>
        <p:spPr>
          <a:xfrm>
            <a:off x="9222372" y="2417747"/>
            <a:ext cx="2617309" cy="461665"/>
          </a:xfrm>
          <a:prstGeom prst="rect">
            <a:avLst/>
          </a:prstGeom>
          <a:solidFill>
            <a:schemeClr val="bg1">
              <a:lumMod val="85000"/>
            </a:schemeClr>
          </a:solidFill>
        </p:spPr>
        <p:txBody>
          <a:bodyPr wrap="square" rtlCol="0">
            <a:spAutoFit/>
          </a:bodyPr>
          <a:lstStyle/>
          <a:p>
            <a:pPr algn="ctr"/>
            <a:r>
              <a:rPr lang="en-US" sz="2400" b="1" dirty="0"/>
              <a:t>Create Max-heap</a:t>
            </a:r>
          </a:p>
        </p:txBody>
      </p:sp>
      <p:sp>
        <p:nvSpPr>
          <p:cNvPr id="36" name="Freeform 17"/>
          <p:cNvSpPr>
            <a:spLocks/>
          </p:cNvSpPr>
          <p:nvPr/>
        </p:nvSpPr>
        <p:spPr bwMode="auto">
          <a:xfrm>
            <a:off x="7732054" y="3067146"/>
            <a:ext cx="388829" cy="550113"/>
          </a:xfrm>
          <a:custGeom>
            <a:avLst/>
            <a:gdLst>
              <a:gd name="T0" fmla="*/ 197 w 197"/>
              <a:gd name="T1" fmla="*/ 260 h 260"/>
              <a:gd name="T2" fmla="*/ 114 w 197"/>
              <a:gd name="T3" fmla="*/ 233 h 260"/>
              <a:gd name="T4" fmla="*/ 41 w 197"/>
              <a:gd name="T5" fmla="*/ 164 h 260"/>
              <a:gd name="T6" fmla="*/ 0 w 197"/>
              <a:gd name="T7" fmla="*/ 0 h 260"/>
              <a:gd name="T8" fmla="*/ 0 60000 65536"/>
              <a:gd name="T9" fmla="*/ 0 60000 65536"/>
              <a:gd name="T10" fmla="*/ 0 60000 65536"/>
              <a:gd name="T11" fmla="*/ 0 60000 65536"/>
              <a:gd name="T12" fmla="*/ 0 w 197"/>
              <a:gd name="T13" fmla="*/ 0 h 260"/>
              <a:gd name="T14" fmla="*/ 197 w 197"/>
              <a:gd name="T15" fmla="*/ 260 h 260"/>
            </a:gdLst>
            <a:ahLst/>
            <a:cxnLst>
              <a:cxn ang="T8">
                <a:pos x="T0" y="T1"/>
              </a:cxn>
              <a:cxn ang="T9">
                <a:pos x="T2" y="T3"/>
              </a:cxn>
              <a:cxn ang="T10">
                <a:pos x="T4" y="T5"/>
              </a:cxn>
              <a:cxn ang="T11">
                <a:pos x="T6" y="T7"/>
              </a:cxn>
            </a:cxnLst>
            <a:rect l="T12" t="T13" r="T14" b="T15"/>
            <a:pathLst>
              <a:path w="197" h="260">
                <a:moveTo>
                  <a:pt x="197" y="260"/>
                </a:moveTo>
                <a:cubicBezTo>
                  <a:pt x="183" y="256"/>
                  <a:pt x="140" y="249"/>
                  <a:pt x="114" y="233"/>
                </a:cubicBezTo>
                <a:cubicBezTo>
                  <a:pt x="88" y="217"/>
                  <a:pt x="60" y="203"/>
                  <a:pt x="41" y="164"/>
                </a:cubicBezTo>
                <a:cubicBezTo>
                  <a:pt x="22" y="125"/>
                  <a:pt x="9" y="34"/>
                  <a:pt x="0" y="0"/>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solidFill>
                <a:srgbClr val="FF0000"/>
              </a:solidFill>
            </a:endParaRPr>
          </a:p>
        </p:txBody>
      </p:sp>
      <p:sp>
        <p:nvSpPr>
          <p:cNvPr id="37" name="Freeform 18"/>
          <p:cNvSpPr>
            <a:spLocks/>
          </p:cNvSpPr>
          <p:nvPr/>
        </p:nvSpPr>
        <p:spPr bwMode="auto">
          <a:xfrm>
            <a:off x="8100912" y="2691889"/>
            <a:ext cx="451023" cy="585697"/>
          </a:xfrm>
          <a:custGeom>
            <a:avLst/>
            <a:gdLst>
              <a:gd name="T0" fmla="*/ 0 w 157"/>
              <a:gd name="T1" fmla="*/ 0 h 283"/>
              <a:gd name="T2" fmla="*/ 91 w 157"/>
              <a:gd name="T3" fmla="*/ 41 h 283"/>
              <a:gd name="T4" fmla="*/ 147 w 157"/>
              <a:gd name="T5" fmla="*/ 151 h 283"/>
              <a:gd name="T6" fmla="*/ 152 w 157"/>
              <a:gd name="T7" fmla="*/ 283 h 283"/>
              <a:gd name="T8" fmla="*/ 0 60000 65536"/>
              <a:gd name="T9" fmla="*/ 0 60000 65536"/>
              <a:gd name="T10" fmla="*/ 0 60000 65536"/>
              <a:gd name="T11" fmla="*/ 0 60000 65536"/>
              <a:gd name="T12" fmla="*/ 0 w 157"/>
              <a:gd name="T13" fmla="*/ 0 h 283"/>
              <a:gd name="T14" fmla="*/ 157 w 157"/>
              <a:gd name="T15" fmla="*/ 283 h 283"/>
            </a:gdLst>
            <a:ahLst/>
            <a:cxnLst>
              <a:cxn ang="T8">
                <a:pos x="T0" y="T1"/>
              </a:cxn>
              <a:cxn ang="T9">
                <a:pos x="T2" y="T3"/>
              </a:cxn>
              <a:cxn ang="T10">
                <a:pos x="T4" y="T5"/>
              </a:cxn>
              <a:cxn ang="T11">
                <a:pos x="T6" y="T7"/>
              </a:cxn>
            </a:cxnLst>
            <a:rect l="T12" t="T13" r="T14" b="T15"/>
            <a:pathLst>
              <a:path w="157" h="283">
                <a:moveTo>
                  <a:pt x="0" y="0"/>
                </a:moveTo>
                <a:cubicBezTo>
                  <a:pt x="15" y="7"/>
                  <a:pt x="67" y="16"/>
                  <a:pt x="91" y="41"/>
                </a:cubicBezTo>
                <a:cubicBezTo>
                  <a:pt x="115" y="66"/>
                  <a:pt x="137" y="111"/>
                  <a:pt x="147" y="151"/>
                </a:cubicBezTo>
                <a:cubicBezTo>
                  <a:pt x="157" y="191"/>
                  <a:pt x="151" y="256"/>
                  <a:pt x="152" y="283"/>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solidFill>
                <a:srgbClr val="FF0000"/>
              </a:solidFill>
            </a:endParaRPr>
          </a:p>
        </p:txBody>
      </p:sp>
      <p:sp>
        <p:nvSpPr>
          <p:cNvPr id="38" name="Freeform 37"/>
          <p:cNvSpPr/>
          <p:nvPr/>
        </p:nvSpPr>
        <p:spPr>
          <a:xfrm rot="10800000">
            <a:off x="7408978" y="1117928"/>
            <a:ext cx="1385397" cy="186437"/>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9" name="TextBox 38"/>
          <p:cNvSpPr txBox="1"/>
          <p:nvPr/>
        </p:nvSpPr>
        <p:spPr>
          <a:xfrm>
            <a:off x="2730237" y="2518044"/>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16</a:t>
            </a:r>
          </a:p>
        </p:txBody>
      </p:sp>
      <p:sp>
        <p:nvSpPr>
          <p:cNvPr id="40" name="TextBox 39"/>
          <p:cNvSpPr txBox="1"/>
          <p:nvPr/>
        </p:nvSpPr>
        <p:spPr>
          <a:xfrm>
            <a:off x="3375569" y="4427227"/>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19</a:t>
            </a:r>
          </a:p>
        </p:txBody>
      </p:sp>
      <p:sp>
        <p:nvSpPr>
          <p:cNvPr id="41" name="TextBox 40"/>
          <p:cNvSpPr txBox="1"/>
          <p:nvPr/>
        </p:nvSpPr>
        <p:spPr>
          <a:xfrm>
            <a:off x="1693820" y="1443315"/>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16</a:t>
            </a:r>
          </a:p>
        </p:txBody>
      </p:sp>
      <p:sp>
        <p:nvSpPr>
          <p:cNvPr id="42" name="TextBox 41"/>
          <p:cNvSpPr txBox="1"/>
          <p:nvPr/>
        </p:nvSpPr>
        <p:spPr>
          <a:xfrm>
            <a:off x="4894220" y="1443315"/>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19</a:t>
            </a:r>
          </a:p>
        </p:txBody>
      </p:sp>
      <p:sp>
        <p:nvSpPr>
          <p:cNvPr id="43" name="TextBox 42"/>
          <p:cNvSpPr txBox="1"/>
          <p:nvPr/>
        </p:nvSpPr>
        <p:spPr>
          <a:xfrm>
            <a:off x="8511479" y="1443315"/>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16</a:t>
            </a:r>
          </a:p>
        </p:txBody>
      </p:sp>
      <p:sp>
        <p:nvSpPr>
          <p:cNvPr id="44" name="TextBox 43"/>
          <p:cNvSpPr txBox="1"/>
          <p:nvPr/>
        </p:nvSpPr>
        <p:spPr>
          <a:xfrm>
            <a:off x="7234009" y="1429868"/>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17</a:t>
            </a:r>
          </a:p>
        </p:txBody>
      </p:sp>
      <p:sp>
        <p:nvSpPr>
          <p:cNvPr id="45" name="TextBox 44"/>
          <p:cNvSpPr txBox="1"/>
          <p:nvPr/>
        </p:nvSpPr>
        <p:spPr>
          <a:xfrm>
            <a:off x="8352396" y="3425655"/>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16</a:t>
            </a:r>
          </a:p>
        </p:txBody>
      </p:sp>
      <p:sp>
        <p:nvSpPr>
          <p:cNvPr id="46" name="TextBox 45"/>
          <p:cNvSpPr txBox="1"/>
          <p:nvPr/>
        </p:nvSpPr>
        <p:spPr>
          <a:xfrm>
            <a:off x="7450139" y="2546128"/>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17</a:t>
            </a:r>
          </a:p>
        </p:txBody>
      </p:sp>
      <p:sp>
        <p:nvSpPr>
          <p:cNvPr id="47" name="TextBox 46"/>
          <p:cNvSpPr txBox="1"/>
          <p:nvPr/>
        </p:nvSpPr>
        <p:spPr>
          <a:xfrm>
            <a:off x="256897" y="796458"/>
            <a:ext cx="840295" cy="400110"/>
          </a:xfrm>
          <a:prstGeom prst="rect">
            <a:avLst/>
          </a:prstGeom>
          <a:noFill/>
          <a:ln w="28575">
            <a:solidFill>
              <a:schemeClr val="tx1"/>
            </a:solidFill>
          </a:ln>
        </p:spPr>
        <p:txBody>
          <a:bodyPr wrap="none" rtlCol="0">
            <a:spAutoFit/>
          </a:bodyPr>
          <a:lstStyle/>
          <a:p>
            <a:r>
              <a:rPr lang="en-IN" sz="2000" b="1" dirty="0"/>
              <a:t>Step 3</a:t>
            </a:r>
            <a:endParaRPr lang="en-US" sz="2000" b="1" dirty="0"/>
          </a:p>
        </p:txBody>
      </p:sp>
      <p:sp>
        <p:nvSpPr>
          <p:cNvPr id="48" name="TextBox 47"/>
          <p:cNvSpPr txBox="1"/>
          <p:nvPr/>
        </p:nvSpPr>
        <p:spPr>
          <a:xfrm>
            <a:off x="6251083" y="796458"/>
            <a:ext cx="840295" cy="400110"/>
          </a:xfrm>
          <a:prstGeom prst="rect">
            <a:avLst/>
          </a:prstGeom>
          <a:noFill/>
          <a:ln w="28575">
            <a:solidFill>
              <a:schemeClr val="tx1"/>
            </a:solidFill>
          </a:ln>
        </p:spPr>
        <p:txBody>
          <a:bodyPr wrap="none" rtlCol="0">
            <a:spAutoFit/>
          </a:bodyPr>
          <a:lstStyle/>
          <a:p>
            <a:r>
              <a:rPr lang="en-IN" sz="2000" b="1" dirty="0"/>
              <a:t>Step 4</a:t>
            </a:r>
            <a:endParaRPr lang="en-US" sz="2000" b="1" dirty="0"/>
          </a:p>
        </p:txBody>
      </p:sp>
    </p:spTree>
    <p:extLst>
      <p:ext uri="{BB962C8B-B14F-4D97-AF65-F5344CB8AC3E}">
        <p14:creationId xmlns:p14="http://schemas.microsoft.com/office/powerpoint/2010/main" val="1833075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00"/>
                                        <p:tgtEl>
                                          <p:spTgt spid="29"/>
                                        </p:tgtEl>
                                      </p:cBhvr>
                                    </p:animEffect>
                                  </p:childTnLst>
                                </p:cTn>
                              </p:par>
                            </p:childTnLst>
                          </p:cTn>
                        </p:par>
                        <p:par>
                          <p:cTn id="48" fill="hold">
                            <p:stCondLst>
                              <p:cond delay="500"/>
                            </p:stCondLst>
                            <p:childTnLst>
                              <p:par>
                                <p:cTn id="49" presetID="10" presetClass="entr" presetSubtype="0" fill="hold" grpId="0" nodeType="after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500"/>
                                        <p:tgtEl>
                                          <p:spTgt spid="33"/>
                                        </p:tgtEl>
                                      </p:cBhvr>
                                    </p:animEffect>
                                  </p:childTnLst>
                                </p:cTn>
                              </p:par>
                            </p:childTnLst>
                          </p:cTn>
                        </p:par>
                        <p:par>
                          <p:cTn id="52" fill="hold">
                            <p:stCondLst>
                              <p:cond delay="1000"/>
                            </p:stCondLst>
                            <p:childTnLst>
                              <p:par>
                                <p:cTn id="53" presetID="10" presetClass="entr" presetSubtype="0" fill="hold" grpId="0" nodeType="after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500"/>
                                        <p:tgtEl>
                                          <p:spTgt spid="34"/>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500"/>
                                        <p:tgtEl>
                                          <p:spTgt spid="39"/>
                                        </p:tgtEl>
                                      </p:cBhvr>
                                    </p:animEffect>
                                  </p:childTnLst>
                                </p:cTn>
                              </p:par>
                            </p:childTnLst>
                          </p:cTn>
                        </p:par>
                        <p:par>
                          <p:cTn id="61" fill="hold">
                            <p:stCondLst>
                              <p:cond delay="500"/>
                            </p:stCondLst>
                            <p:childTnLst>
                              <p:par>
                                <p:cTn id="62" presetID="10" presetClass="entr" presetSubtype="0" fill="hold" grpId="0" nodeType="after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500"/>
                                        <p:tgtEl>
                                          <p:spTgt spid="40"/>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500"/>
                                        <p:tgtEl>
                                          <p:spTgt spid="41"/>
                                        </p:tgtEl>
                                      </p:cBhvr>
                                    </p:animEffect>
                                  </p:childTnLst>
                                </p:cTn>
                              </p:par>
                            </p:childTnLst>
                          </p:cTn>
                        </p:par>
                        <p:par>
                          <p:cTn id="70" fill="hold">
                            <p:stCondLst>
                              <p:cond delay="500"/>
                            </p:stCondLst>
                            <p:childTnLst>
                              <p:par>
                                <p:cTn id="71" presetID="10" presetClass="entr" presetSubtype="0" fill="hold" grpId="0" nodeType="after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500"/>
                                        <p:tgtEl>
                                          <p:spTgt spid="42"/>
                                        </p:tgtEl>
                                      </p:cBhvr>
                                    </p:animEffect>
                                  </p:childTnLst>
                                </p:cTn>
                              </p:par>
                            </p:childTnLst>
                          </p:cTn>
                        </p:par>
                      </p:childTnLst>
                    </p:cTn>
                  </p:par>
                  <p:par>
                    <p:cTn id="74" fill="hold">
                      <p:stCondLst>
                        <p:cond delay="indefinite"/>
                      </p:stCondLst>
                      <p:childTnLst>
                        <p:par>
                          <p:cTn id="75" fill="hold">
                            <p:stCondLst>
                              <p:cond delay="0"/>
                            </p:stCondLst>
                            <p:childTnLst>
                              <p:par>
                                <p:cTn id="76" presetID="14" presetClass="exit" presetSubtype="10" fill="hold" nodeType="clickEffect">
                                  <p:stCondLst>
                                    <p:cond delay="0"/>
                                  </p:stCondLst>
                                  <p:childTnLst>
                                    <p:animEffect transition="out" filter="randombar(horizontal)">
                                      <p:cBhvr>
                                        <p:cTn id="77" dur="500"/>
                                        <p:tgtEl>
                                          <p:spTgt spid="5"/>
                                        </p:tgtEl>
                                      </p:cBhvr>
                                    </p:animEffect>
                                    <p:set>
                                      <p:cBhvr>
                                        <p:cTn id="78" dur="1" fill="hold">
                                          <p:stCondLst>
                                            <p:cond delay="499"/>
                                          </p:stCondLst>
                                        </p:cTn>
                                        <p:tgtEl>
                                          <p:spTgt spid="5"/>
                                        </p:tgtEl>
                                        <p:attrNameLst>
                                          <p:attrName>style.visibility</p:attrName>
                                        </p:attrNameLst>
                                      </p:cBhvr>
                                      <p:to>
                                        <p:strVal val="hidden"/>
                                      </p:to>
                                    </p:set>
                                  </p:childTnLst>
                                </p:cTn>
                              </p:par>
                              <p:par>
                                <p:cTn id="79" presetID="14" presetClass="exit" presetSubtype="10" fill="hold" grpId="1" nodeType="withEffect">
                                  <p:stCondLst>
                                    <p:cond delay="0"/>
                                  </p:stCondLst>
                                  <p:childTnLst>
                                    <p:animEffect transition="out" filter="randombar(horizontal)">
                                      <p:cBhvr>
                                        <p:cTn id="80" dur="500"/>
                                        <p:tgtEl>
                                          <p:spTgt spid="15"/>
                                        </p:tgtEl>
                                      </p:cBhvr>
                                    </p:animEffect>
                                    <p:set>
                                      <p:cBhvr>
                                        <p:cTn id="81" dur="1" fill="hold">
                                          <p:stCondLst>
                                            <p:cond delay="499"/>
                                          </p:stCondLst>
                                        </p:cTn>
                                        <p:tgtEl>
                                          <p:spTgt spid="15"/>
                                        </p:tgtEl>
                                        <p:attrNameLst>
                                          <p:attrName>style.visibility</p:attrName>
                                        </p:attrNameLst>
                                      </p:cBhvr>
                                      <p:to>
                                        <p:strVal val="hidden"/>
                                      </p:to>
                                    </p:set>
                                  </p:childTnLst>
                                </p:cTn>
                              </p:par>
                              <p:par>
                                <p:cTn id="82" presetID="14" presetClass="exit" presetSubtype="10" fill="hold" grpId="1" nodeType="withEffect">
                                  <p:stCondLst>
                                    <p:cond delay="0"/>
                                  </p:stCondLst>
                                  <p:childTnLst>
                                    <p:animEffect transition="out" filter="randombar(horizontal)">
                                      <p:cBhvr>
                                        <p:cTn id="83" dur="500"/>
                                        <p:tgtEl>
                                          <p:spTgt spid="40"/>
                                        </p:tgtEl>
                                      </p:cBhvr>
                                    </p:animEffect>
                                    <p:set>
                                      <p:cBhvr>
                                        <p:cTn id="84" dur="1" fill="hold">
                                          <p:stCondLst>
                                            <p:cond delay="499"/>
                                          </p:stCondLst>
                                        </p:cTn>
                                        <p:tgtEl>
                                          <p:spTgt spid="40"/>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nodeType="clickEffect">
                                  <p:stCondLst>
                                    <p:cond delay="0"/>
                                  </p:stCondLst>
                                  <p:childTnLst>
                                    <p:set>
                                      <p:cBhvr>
                                        <p:cTn id="88" dur="1" fill="hold">
                                          <p:stCondLst>
                                            <p:cond delay="0"/>
                                          </p:stCondLst>
                                        </p:cTn>
                                        <p:tgtEl>
                                          <p:spTgt spid="17"/>
                                        </p:tgtEl>
                                        <p:attrNameLst>
                                          <p:attrName>style.visibility</p:attrName>
                                        </p:attrNameLst>
                                      </p:cBhvr>
                                      <p:to>
                                        <p:strVal val="visible"/>
                                      </p:to>
                                    </p:set>
                                    <p:animEffect transition="in" filter="wipe(up)">
                                      <p:cBhvr>
                                        <p:cTn id="89" dur="500"/>
                                        <p:tgtEl>
                                          <p:spTgt spid="17"/>
                                        </p:tgtEl>
                                      </p:cBhvr>
                                    </p:animEffect>
                                  </p:childTnLst>
                                </p:cTn>
                              </p:par>
                            </p:childTnLst>
                          </p:cTn>
                        </p:par>
                        <p:par>
                          <p:cTn id="90" fill="hold">
                            <p:stCondLst>
                              <p:cond delay="500"/>
                            </p:stCondLst>
                            <p:childTnLst>
                              <p:par>
                                <p:cTn id="91" presetID="10" presetClass="entr" presetSubtype="0" fill="hold" grpId="0" nodeType="afterEffect">
                                  <p:stCondLst>
                                    <p:cond delay="0"/>
                                  </p:stCondLst>
                                  <p:childTnLst>
                                    <p:set>
                                      <p:cBhvr>
                                        <p:cTn id="92" dur="1" fill="hold">
                                          <p:stCondLst>
                                            <p:cond delay="0"/>
                                          </p:stCondLst>
                                        </p:cTn>
                                        <p:tgtEl>
                                          <p:spTgt spid="48"/>
                                        </p:tgtEl>
                                        <p:attrNameLst>
                                          <p:attrName>style.visibility</p:attrName>
                                        </p:attrNameLst>
                                      </p:cBhvr>
                                      <p:to>
                                        <p:strVal val="visible"/>
                                      </p:to>
                                    </p:set>
                                    <p:animEffect transition="in" filter="fade">
                                      <p:cBhvr>
                                        <p:cTn id="93" dur="500"/>
                                        <p:tgtEl>
                                          <p:spTgt spid="48"/>
                                        </p:tgtEl>
                                      </p:cBhvr>
                                    </p:animEffect>
                                  </p:childTnLst>
                                </p:cTn>
                              </p:par>
                            </p:childTnLst>
                          </p:cTn>
                        </p:par>
                        <p:par>
                          <p:cTn id="94" fill="hold">
                            <p:stCondLst>
                              <p:cond delay="1000"/>
                            </p:stCondLst>
                            <p:childTnLst>
                              <p:par>
                                <p:cTn id="95" presetID="10" presetClass="entr" presetSubtype="0" fill="hold" nodeType="afterEffect">
                                  <p:stCondLst>
                                    <p:cond delay="0"/>
                                  </p:stCondLst>
                                  <p:childTnLst>
                                    <p:set>
                                      <p:cBhvr>
                                        <p:cTn id="96" dur="1" fill="hold">
                                          <p:stCondLst>
                                            <p:cond delay="0"/>
                                          </p:stCondLst>
                                        </p:cTn>
                                        <p:tgtEl>
                                          <p:spTgt spid="28"/>
                                        </p:tgtEl>
                                        <p:attrNameLst>
                                          <p:attrName>style.visibility</p:attrName>
                                        </p:attrNameLst>
                                      </p:cBhvr>
                                      <p:to>
                                        <p:strVal val="visible"/>
                                      </p:to>
                                    </p:set>
                                    <p:animEffect transition="in" filter="fade">
                                      <p:cBhvr>
                                        <p:cTn id="97" dur="500"/>
                                        <p:tgtEl>
                                          <p:spTgt spid="28"/>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19"/>
                                        </p:tgtEl>
                                        <p:attrNameLst>
                                          <p:attrName>style.visibility</p:attrName>
                                        </p:attrNameLst>
                                      </p:cBhvr>
                                      <p:to>
                                        <p:strVal val="visible"/>
                                      </p:to>
                                    </p:set>
                                    <p:animEffect transition="in" filter="fade">
                                      <p:cBhvr>
                                        <p:cTn id="102" dur="500"/>
                                        <p:tgtEl>
                                          <p:spTgt spid="19"/>
                                        </p:tgtEl>
                                      </p:cBhvr>
                                    </p:animEffect>
                                  </p:childTnLst>
                                </p:cTn>
                              </p:par>
                              <p:par>
                                <p:cTn id="103" presetID="10" presetClass="entr" presetSubtype="0" fill="hold" nodeType="withEffect">
                                  <p:stCondLst>
                                    <p:cond delay="0"/>
                                  </p:stCondLst>
                                  <p:childTnLst>
                                    <p:set>
                                      <p:cBhvr>
                                        <p:cTn id="104" dur="1" fill="hold">
                                          <p:stCondLst>
                                            <p:cond delay="0"/>
                                          </p:stCondLst>
                                        </p:cTn>
                                        <p:tgtEl>
                                          <p:spTgt spid="20"/>
                                        </p:tgtEl>
                                        <p:attrNameLst>
                                          <p:attrName>style.visibility</p:attrName>
                                        </p:attrNameLst>
                                      </p:cBhvr>
                                      <p:to>
                                        <p:strVal val="visible"/>
                                      </p:to>
                                    </p:set>
                                    <p:animEffect transition="in" filter="fade">
                                      <p:cBhvr>
                                        <p:cTn id="105" dur="500"/>
                                        <p:tgtEl>
                                          <p:spTgt spid="20"/>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21"/>
                                        </p:tgtEl>
                                        <p:attrNameLst>
                                          <p:attrName>style.visibility</p:attrName>
                                        </p:attrNameLst>
                                      </p:cBhvr>
                                      <p:to>
                                        <p:strVal val="visible"/>
                                      </p:to>
                                    </p:set>
                                    <p:animEffect transition="in" filter="fade">
                                      <p:cBhvr>
                                        <p:cTn id="108" dur="500"/>
                                        <p:tgtEl>
                                          <p:spTgt spid="21"/>
                                        </p:tgtEl>
                                      </p:cBhvr>
                                    </p:animEffect>
                                  </p:childTnLst>
                                </p:cTn>
                              </p:par>
                              <p:par>
                                <p:cTn id="109" presetID="10" presetClass="entr" presetSubtype="0" fill="hold" nodeType="withEffect">
                                  <p:stCondLst>
                                    <p:cond delay="0"/>
                                  </p:stCondLst>
                                  <p:childTnLst>
                                    <p:set>
                                      <p:cBhvr>
                                        <p:cTn id="110" dur="1" fill="hold">
                                          <p:stCondLst>
                                            <p:cond delay="0"/>
                                          </p:stCondLst>
                                        </p:cTn>
                                        <p:tgtEl>
                                          <p:spTgt spid="22"/>
                                        </p:tgtEl>
                                        <p:attrNameLst>
                                          <p:attrName>style.visibility</p:attrName>
                                        </p:attrNameLst>
                                      </p:cBhvr>
                                      <p:to>
                                        <p:strVal val="visible"/>
                                      </p:to>
                                    </p:set>
                                    <p:animEffect transition="in" filter="fade">
                                      <p:cBhvr>
                                        <p:cTn id="111" dur="500"/>
                                        <p:tgtEl>
                                          <p:spTgt spid="22"/>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23"/>
                                        </p:tgtEl>
                                        <p:attrNameLst>
                                          <p:attrName>style.visibility</p:attrName>
                                        </p:attrNameLst>
                                      </p:cBhvr>
                                      <p:to>
                                        <p:strVal val="visible"/>
                                      </p:to>
                                    </p:set>
                                    <p:animEffect transition="in" filter="fade">
                                      <p:cBhvr>
                                        <p:cTn id="114" dur="500"/>
                                        <p:tgtEl>
                                          <p:spTgt spid="23"/>
                                        </p:tgtEl>
                                      </p:cBhvr>
                                    </p:animEffect>
                                  </p:childTnLst>
                                </p:cTn>
                              </p:par>
                              <p:par>
                                <p:cTn id="115" presetID="10" presetClass="entr" presetSubtype="0" fill="hold" nodeType="with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500"/>
                                        <p:tgtEl>
                                          <p:spTgt spid="24"/>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25"/>
                                        </p:tgtEl>
                                        <p:attrNameLst>
                                          <p:attrName>style.visibility</p:attrName>
                                        </p:attrNameLst>
                                      </p:cBhvr>
                                      <p:to>
                                        <p:strVal val="visible"/>
                                      </p:to>
                                    </p:set>
                                    <p:animEffect transition="in" filter="fade">
                                      <p:cBhvr>
                                        <p:cTn id="120" dur="500"/>
                                        <p:tgtEl>
                                          <p:spTgt spid="25"/>
                                        </p:tgtEl>
                                      </p:cBhvr>
                                    </p:animEffect>
                                  </p:childTnLst>
                                </p:cTn>
                              </p:par>
                              <p:par>
                                <p:cTn id="121" presetID="10" presetClass="entr" presetSubtype="0" fill="hold" nodeType="withEffect">
                                  <p:stCondLst>
                                    <p:cond delay="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500"/>
                                        <p:tgtEl>
                                          <p:spTgt spid="26"/>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500"/>
                                        <p:tgtEl>
                                          <p:spTgt spid="27"/>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35"/>
                                        </p:tgtEl>
                                        <p:attrNameLst>
                                          <p:attrName>style.visibility</p:attrName>
                                        </p:attrNameLst>
                                      </p:cBhvr>
                                      <p:to>
                                        <p:strVal val="visible"/>
                                      </p:to>
                                    </p:set>
                                    <p:animEffect transition="in" filter="fade">
                                      <p:cBhvr>
                                        <p:cTn id="131" dur="500"/>
                                        <p:tgtEl>
                                          <p:spTgt spid="35"/>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4" fill="hold" grpId="0" nodeType="clickEffect">
                                  <p:stCondLst>
                                    <p:cond delay="0"/>
                                  </p:stCondLst>
                                  <p:childTnLst>
                                    <p:set>
                                      <p:cBhvr>
                                        <p:cTn id="135" dur="1" fill="hold">
                                          <p:stCondLst>
                                            <p:cond delay="0"/>
                                          </p:stCondLst>
                                        </p:cTn>
                                        <p:tgtEl>
                                          <p:spTgt spid="36"/>
                                        </p:tgtEl>
                                        <p:attrNameLst>
                                          <p:attrName>style.visibility</p:attrName>
                                        </p:attrNameLst>
                                      </p:cBhvr>
                                      <p:to>
                                        <p:strVal val="visible"/>
                                      </p:to>
                                    </p:set>
                                    <p:animEffect transition="in" filter="wipe(down)">
                                      <p:cBhvr>
                                        <p:cTn id="136" dur="500"/>
                                        <p:tgtEl>
                                          <p:spTgt spid="36"/>
                                        </p:tgtEl>
                                      </p:cBhvr>
                                    </p:animEffect>
                                  </p:childTnLst>
                                </p:cTn>
                              </p:par>
                              <p:par>
                                <p:cTn id="137" presetID="22" presetClass="entr" presetSubtype="1" fill="hold" grpId="0" nodeType="withEffect">
                                  <p:stCondLst>
                                    <p:cond delay="0"/>
                                  </p:stCondLst>
                                  <p:childTnLst>
                                    <p:set>
                                      <p:cBhvr>
                                        <p:cTn id="138" dur="1" fill="hold">
                                          <p:stCondLst>
                                            <p:cond delay="0"/>
                                          </p:stCondLst>
                                        </p:cTn>
                                        <p:tgtEl>
                                          <p:spTgt spid="37"/>
                                        </p:tgtEl>
                                        <p:attrNameLst>
                                          <p:attrName>style.visibility</p:attrName>
                                        </p:attrNameLst>
                                      </p:cBhvr>
                                      <p:to>
                                        <p:strVal val="visible"/>
                                      </p:to>
                                    </p:set>
                                    <p:animEffect transition="in" filter="wipe(up)">
                                      <p:cBhvr>
                                        <p:cTn id="139" dur="500"/>
                                        <p:tgtEl>
                                          <p:spTgt spid="37"/>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38"/>
                                        </p:tgtEl>
                                        <p:attrNameLst>
                                          <p:attrName>style.visibility</p:attrName>
                                        </p:attrNameLst>
                                      </p:cBhvr>
                                      <p:to>
                                        <p:strVal val="visible"/>
                                      </p:to>
                                    </p:set>
                                    <p:animEffect transition="in" filter="fade">
                                      <p:cBhvr>
                                        <p:cTn id="142" dur="500"/>
                                        <p:tgtEl>
                                          <p:spTgt spid="38"/>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45"/>
                                        </p:tgtEl>
                                        <p:attrNameLst>
                                          <p:attrName>style.visibility</p:attrName>
                                        </p:attrNameLst>
                                      </p:cBhvr>
                                      <p:to>
                                        <p:strVal val="visible"/>
                                      </p:to>
                                    </p:set>
                                    <p:animEffect transition="in" filter="fade">
                                      <p:cBhvr>
                                        <p:cTn id="147" dur="500"/>
                                        <p:tgtEl>
                                          <p:spTgt spid="45"/>
                                        </p:tgtEl>
                                      </p:cBhvr>
                                    </p:animEffect>
                                  </p:childTnLst>
                                </p:cTn>
                              </p:par>
                            </p:childTnLst>
                          </p:cTn>
                        </p:par>
                        <p:par>
                          <p:cTn id="148" fill="hold">
                            <p:stCondLst>
                              <p:cond delay="500"/>
                            </p:stCondLst>
                            <p:childTnLst>
                              <p:par>
                                <p:cTn id="149" presetID="10" presetClass="entr" presetSubtype="0" fill="hold" grpId="0" nodeType="afterEffect">
                                  <p:stCondLst>
                                    <p:cond delay="0"/>
                                  </p:stCondLst>
                                  <p:childTnLst>
                                    <p:set>
                                      <p:cBhvr>
                                        <p:cTn id="150" dur="1" fill="hold">
                                          <p:stCondLst>
                                            <p:cond delay="0"/>
                                          </p:stCondLst>
                                        </p:cTn>
                                        <p:tgtEl>
                                          <p:spTgt spid="46"/>
                                        </p:tgtEl>
                                        <p:attrNameLst>
                                          <p:attrName>style.visibility</p:attrName>
                                        </p:attrNameLst>
                                      </p:cBhvr>
                                      <p:to>
                                        <p:strVal val="visible"/>
                                      </p:to>
                                    </p:set>
                                    <p:animEffect transition="in" filter="fade">
                                      <p:cBhvr>
                                        <p:cTn id="151" dur="500"/>
                                        <p:tgtEl>
                                          <p:spTgt spid="46"/>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grpId="0" nodeType="clickEffect">
                                  <p:stCondLst>
                                    <p:cond delay="0"/>
                                  </p:stCondLst>
                                  <p:childTnLst>
                                    <p:set>
                                      <p:cBhvr>
                                        <p:cTn id="155" dur="1" fill="hold">
                                          <p:stCondLst>
                                            <p:cond delay="0"/>
                                          </p:stCondLst>
                                        </p:cTn>
                                        <p:tgtEl>
                                          <p:spTgt spid="43"/>
                                        </p:tgtEl>
                                        <p:attrNameLst>
                                          <p:attrName>style.visibility</p:attrName>
                                        </p:attrNameLst>
                                      </p:cBhvr>
                                      <p:to>
                                        <p:strVal val="visible"/>
                                      </p:to>
                                    </p:set>
                                    <p:animEffect transition="in" filter="fade">
                                      <p:cBhvr>
                                        <p:cTn id="156" dur="500"/>
                                        <p:tgtEl>
                                          <p:spTgt spid="43"/>
                                        </p:tgtEl>
                                      </p:cBhvr>
                                    </p:animEffect>
                                  </p:childTnLst>
                                </p:cTn>
                              </p:par>
                            </p:childTnLst>
                          </p:cTn>
                        </p:par>
                        <p:par>
                          <p:cTn id="157" fill="hold">
                            <p:stCondLst>
                              <p:cond delay="500"/>
                            </p:stCondLst>
                            <p:childTnLst>
                              <p:par>
                                <p:cTn id="158" presetID="10" presetClass="entr" presetSubtype="0" fill="hold" grpId="0" nodeType="afterEffect">
                                  <p:stCondLst>
                                    <p:cond delay="0"/>
                                  </p:stCondLst>
                                  <p:childTnLst>
                                    <p:set>
                                      <p:cBhvr>
                                        <p:cTn id="159" dur="1" fill="hold">
                                          <p:stCondLst>
                                            <p:cond delay="0"/>
                                          </p:stCondLst>
                                        </p:cTn>
                                        <p:tgtEl>
                                          <p:spTgt spid="44"/>
                                        </p:tgtEl>
                                        <p:attrNameLst>
                                          <p:attrName>style.visibility</p:attrName>
                                        </p:attrNameLst>
                                      </p:cBhvr>
                                      <p:to>
                                        <p:strVal val="visible"/>
                                      </p:to>
                                    </p:set>
                                    <p:animEffect transition="in" filter="fade">
                                      <p:cBhvr>
                                        <p:cTn id="16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5" grpId="1" animBg="1"/>
      <p:bldP spid="19" grpId="0" animBg="1"/>
      <p:bldP spid="21" grpId="0" animBg="1"/>
      <p:bldP spid="23" grpId="0" animBg="1"/>
      <p:bldP spid="25" grpId="0" animBg="1"/>
      <p:bldP spid="27" grpId="0" animBg="1"/>
      <p:bldP spid="33" grpId="0"/>
      <p:bldP spid="34" grpId="0" animBg="1"/>
      <p:bldP spid="35" grpId="0" animBg="1"/>
      <p:bldP spid="36" grpId="0" animBg="1"/>
      <p:bldP spid="37" grpId="0" animBg="1"/>
      <p:bldP spid="38" grpId="0" animBg="1"/>
      <p:bldP spid="39" grpId="0" animBg="1"/>
      <p:bldP spid="40" grpId="0" animBg="1"/>
      <p:bldP spid="40" grpId="1" animBg="1"/>
      <p:bldP spid="41" grpId="0" animBg="1"/>
      <p:bldP spid="42" grpId="0" animBg="1"/>
      <p:bldP spid="43" grpId="0" animBg="1"/>
      <p:bldP spid="44" grpId="0" animBg="1"/>
      <p:bldP spid="45" grpId="0" animBg="1"/>
      <p:bldP spid="46" grpId="0" animBg="1"/>
      <p:bldP spid="4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Example 2</a:t>
            </a:r>
          </a:p>
        </p:txBody>
      </p:sp>
      <p:sp>
        <p:nvSpPr>
          <p:cNvPr id="6" name="Oval 5"/>
          <p:cNvSpPr/>
          <p:nvPr/>
        </p:nvSpPr>
        <p:spPr>
          <a:xfrm>
            <a:off x="2638797" y="2398059"/>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17</a:t>
            </a:r>
          </a:p>
        </p:txBody>
      </p:sp>
      <p:cxnSp>
        <p:nvCxnSpPr>
          <p:cNvPr id="7" name="Straight Connector 6"/>
          <p:cNvCxnSpPr>
            <a:stCxn id="6" idx="3"/>
            <a:endCxn id="8" idx="0"/>
          </p:cNvCxnSpPr>
          <p:nvPr/>
        </p:nvCxnSpPr>
        <p:spPr>
          <a:xfrm flipH="1">
            <a:off x="2384408" y="2944401"/>
            <a:ext cx="348127" cy="41199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064368" y="3356392"/>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14</a:t>
            </a:r>
          </a:p>
        </p:txBody>
      </p:sp>
      <p:cxnSp>
        <p:nvCxnSpPr>
          <p:cNvPr id="9" name="Straight Connector 8"/>
          <p:cNvCxnSpPr>
            <a:stCxn id="6" idx="5"/>
            <a:endCxn id="10" idx="1"/>
          </p:cNvCxnSpPr>
          <p:nvPr/>
        </p:nvCxnSpPr>
        <p:spPr>
          <a:xfrm>
            <a:off x="3185139" y="2944401"/>
            <a:ext cx="449653" cy="42692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3541054" y="3277586"/>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16</a:t>
            </a:r>
          </a:p>
        </p:txBody>
      </p:sp>
      <p:cxnSp>
        <p:nvCxnSpPr>
          <p:cNvPr id="11" name="Straight Connector 10"/>
          <p:cNvCxnSpPr>
            <a:stCxn id="8" idx="3"/>
            <a:endCxn id="12" idx="0"/>
          </p:cNvCxnSpPr>
          <p:nvPr/>
        </p:nvCxnSpPr>
        <p:spPr>
          <a:xfrm flipH="1">
            <a:off x="1977524" y="3902734"/>
            <a:ext cx="180582" cy="4045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1657484" y="4307242"/>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cxnSp>
        <p:nvCxnSpPr>
          <p:cNvPr id="13" name="Straight Connector 12"/>
          <p:cNvCxnSpPr>
            <a:stCxn id="8" idx="5"/>
            <a:endCxn id="14" idx="0"/>
          </p:cNvCxnSpPr>
          <p:nvPr/>
        </p:nvCxnSpPr>
        <p:spPr>
          <a:xfrm>
            <a:off x="2610710" y="3902734"/>
            <a:ext cx="258853" cy="4045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549523" y="4307242"/>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7</a:t>
            </a:r>
          </a:p>
        </p:txBody>
      </p:sp>
      <p:graphicFrame>
        <p:nvGraphicFramePr>
          <p:cNvPr id="16" name="Table 15"/>
          <p:cNvGraphicFramePr>
            <a:graphicFrameLocks noGrp="1"/>
          </p:cNvGraphicFramePr>
          <p:nvPr/>
        </p:nvGraphicFramePr>
        <p:xfrm>
          <a:off x="1657484" y="1386239"/>
          <a:ext cx="3840480" cy="5486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1751283045"/>
                    </a:ext>
                  </a:extLst>
                </a:gridCol>
              </a:tblGrid>
              <a:tr h="548640">
                <a:tc>
                  <a:txBody>
                    <a:bodyPr/>
                    <a:lstStyle/>
                    <a:p>
                      <a:pPr algn="ctr"/>
                      <a:r>
                        <a:rPr lang="en-US" sz="2400" dirty="0"/>
                        <a:t>17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16</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b="1" dirty="0">
                          <a:solidFill>
                            <a:schemeClr val="bg1">
                              <a:lumMod val="95000"/>
                            </a:schemeClr>
                          </a:solidFill>
                        </a:rPr>
                        <a:t>19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bl>
          </a:graphicData>
        </a:graphic>
      </p:graphicFrame>
      <p:cxnSp>
        <p:nvCxnSpPr>
          <p:cNvPr id="17" name="Straight Connector 16"/>
          <p:cNvCxnSpPr/>
          <p:nvPr/>
        </p:nvCxnSpPr>
        <p:spPr>
          <a:xfrm>
            <a:off x="6096000" y="1053692"/>
            <a:ext cx="0" cy="520781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7358699" y="2426143"/>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7</a:t>
            </a:r>
          </a:p>
        </p:txBody>
      </p:sp>
      <p:cxnSp>
        <p:nvCxnSpPr>
          <p:cNvPr id="20" name="Straight Connector 19"/>
          <p:cNvCxnSpPr>
            <a:stCxn id="19" idx="3"/>
            <a:endCxn id="21" idx="0"/>
          </p:cNvCxnSpPr>
          <p:nvPr/>
        </p:nvCxnSpPr>
        <p:spPr>
          <a:xfrm flipH="1">
            <a:off x="7104310" y="2972485"/>
            <a:ext cx="348127" cy="41199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6784270" y="3384476"/>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14</a:t>
            </a:r>
          </a:p>
        </p:txBody>
      </p:sp>
      <p:cxnSp>
        <p:nvCxnSpPr>
          <p:cNvPr id="22" name="Straight Connector 21"/>
          <p:cNvCxnSpPr>
            <a:stCxn id="19" idx="5"/>
            <a:endCxn id="23" idx="1"/>
          </p:cNvCxnSpPr>
          <p:nvPr/>
        </p:nvCxnSpPr>
        <p:spPr>
          <a:xfrm>
            <a:off x="7905041" y="2972485"/>
            <a:ext cx="449653" cy="42692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8260956" y="3305670"/>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16</a:t>
            </a:r>
          </a:p>
        </p:txBody>
      </p:sp>
      <p:cxnSp>
        <p:nvCxnSpPr>
          <p:cNvPr id="24" name="Straight Connector 23"/>
          <p:cNvCxnSpPr>
            <a:stCxn id="21" idx="3"/>
            <a:endCxn id="25" idx="0"/>
          </p:cNvCxnSpPr>
          <p:nvPr/>
        </p:nvCxnSpPr>
        <p:spPr>
          <a:xfrm flipH="1">
            <a:off x="6697426" y="3930818"/>
            <a:ext cx="180582" cy="4045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6377386" y="4335326"/>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graphicFrame>
        <p:nvGraphicFramePr>
          <p:cNvPr id="28" name="Table 27"/>
          <p:cNvGraphicFramePr>
            <a:graphicFrameLocks noGrp="1"/>
          </p:cNvGraphicFramePr>
          <p:nvPr/>
        </p:nvGraphicFramePr>
        <p:xfrm>
          <a:off x="7197653" y="1386239"/>
          <a:ext cx="3840480" cy="5486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1751283045"/>
                    </a:ext>
                  </a:extLst>
                </a:gridCol>
              </a:tblGrid>
              <a:tr h="548640">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16</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b="1" dirty="0">
                          <a:solidFill>
                            <a:schemeClr val="bg1">
                              <a:lumMod val="95000"/>
                            </a:schemeClr>
                          </a:solidFill>
                        </a:rPr>
                        <a:t>17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solidFill>
                        </a:rPr>
                        <a:t>19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bl>
          </a:graphicData>
        </a:graphic>
      </p:graphicFrame>
      <p:grpSp>
        <p:nvGrpSpPr>
          <p:cNvPr id="3" name="Group 2"/>
          <p:cNvGrpSpPr/>
          <p:nvPr/>
        </p:nvGrpSpPr>
        <p:grpSpPr>
          <a:xfrm>
            <a:off x="3353813" y="2600912"/>
            <a:ext cx="2103120" cy="2006947"/>
            <a:chOff x="3353813" y="2600912"/>
            <a:chExt cx="2103120" cy="2006947"/>
          </a:xfrm>
        </p:grpSpPr>
        <p:cxnSp>
          <p:nvCxnSpPr>
            <p:cNvPr id="30" name="Straight Arrow Connector 29"/>
            <p:cNvCxnSpPr/>
            <p:nvPr/>
          </p:nvCxnSpPr>
          <p:spPr>
            <a:xfrm flipH="1">
              <a:off x="3630328" y="2600912"/>
              <a:ext cx="1815726" cy="1"/>
            </a:xfrm>
            <a:prstGeom prst="straightConnector1">
              <a:avLst/>
            </a:prstGeom>
            <a:ln w="28575">
              <a:solidFill>
                <a:srgbClr val="ED524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5446054" y="2600913"/>
              <a:ext cx="0" cy="2006946"/>
            </a:xfrm>
            <a:prstGeom prst="line">
              <a:avLst/>
            </a:prstGeom>
            <a:ln w="28575">
              <a:solidFill>
                <a:srgbClr val="ED524F"/>
              </a:solidFill>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H="1">
              <a:off x="3353813" y="4607859"/>
              <a:ext cx="2103120" cy="0"/>
            </a:xfrm>
            <a:prstGeom prst="straightConnector1">
              <a:avLst/>
            </a:prstGeom>
            <a:ln w="28575">
              <a:solidFill>
                <a:srgbClr val="ED524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33" name="TextBox 32"/>
          <p:cNvSpPr txBox="1"/>
          <p:nvPr/>
        </p:nvSpPr>
        <p:spPr>
          <a:xfrm>
            <a:off x="4315269" y="2903421"/>
            <a:ext cx="1069907" cy="1323439"/>
          </a:xfrm>
          <a:prstGeom prst="rect">
            <a:avLst/>
          </a:prstGeom>
          <a:noFill/>
        </p:spPr>
        <p:txBody>
          <a:bodyPr wrap="square" rtlCol="0">
            <a:spAutoFit/>
          </a:bodyPr>
          <a:lstStyle/>
          <a:p>
            <a:pPr algn="just"/>
            <a:r>
              <a:rPr lang="en-US" sz="2000" b="1" dirty="0">
                <a:solidFill>
                  <a:srgbClr val="0070C0"/>
                </a:solidFill>
              </a:rPr>
              <a:t>Swap &amp; remove the last element</a:t>
            </a:r>
          </a:p>
        </p:txBody>
      </p:sp>
      <p:sp>
        <p:nvSpPr>
          <p:cNvPr id="34" name="Freeform 33"/>
          <p:cNvSpPr/>
          <p:nvPr/>
        </p:nvSpPr>
        <p:spPr>
          <a:xfrm rot="10800000">
            <a:off x="1976717" y="1194865"/>
            <a:ext cx="2608345" cy="137546"/>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5" name="TextBox 34"/>
          <p:cNvSpPr txBox="1"/>
          <p:nvPr/>
        </p:nvSpPr>
        <p:spPr>
          <a:xfrm>
            <a:off x="9222372" y="2417747"/>
            <a:ext cx="2617309" cy="461665"/>
          </a:xfrm>
          <a:prstGeom prst="rect">
            <a:avLst/>
          </a:prstGeom>
          <a:solidFill>
            <a:schemeClr val="bg1">
              <a:lumMod val="85000"/>
            </a:schemeClr>
          </a:solidFill>
        </p:spPr>
        <p:txBody>
          <a:bodyPr wrap="square" rtlCol="0">
            <a:spAutoFit/>
          </a:bodyPr>
          <a:lstStyle/>
          <a:p>
            <a:pPr algn="ctr"/>
            <a:r>
              <a:rPr lang="en-US" sz="2400" b="1" dirty="0"/>
              <a:t>Create Max-heap</a:t>
            </a:r>
          </a:p>
        </p:txBody>
      </p:sp>
      <p:sp>
        <p:nvSpPr>
          <p:cNvPr id="36" name="Freeform 17"/>
          <p:cNvSpPr>
            <a:spLocks/>
          </p:cNvSpPr>
          <p:nvPr/>
        </p:nvSpPr>
        <p:spPr bwMode="auto">
          <a:xfrm>
            <a:off x="7732054" y="3067146"/>
            <a:ext cx="388829" cy="550113"/>
          </a:xfrm>
          <a:custGeom>
            <a:avLst/>
            <a:gdLst>
              <a:gd name="T0" fmla="*/ 197 w 197"/>
              <a:gd name="T1" fmla="*/ 260 h 260"/>
              <a:gd name="T2" fmla="*/ 114 w 197"/>
              <a:gd name="T3" fmla="*/ 233 h 260"/>
              <a:gd name="T4" fmla="*/ 41 w 197"/>
              <a:gd name="T5" fmla="*/ 164 h 260"/>
              <a:gd name="T6" fmla="*/ 0 w 197"/>
              <a:gd name="T7" fmla="*/ 0 h 260"/>
              <a:gd name="T8" fmla="*/ 0 60000 65536"/>
              <a:gd name="T9" fmla="*/ 0 60000 65536"/>
              <a:gd name="T10" fmla="*/ 0 60000 65536"/>
              <a:gd name="T11" fmla="*/ 0 60000 65536"/>
              <a:gd name="T12" fmla="*/ 0 w 197"/>
              <a:gd name="T13" fmla="*/ 0 h 260"/>
              <a:gd name="T14" fmla="*/ 197 w 197"/>
              <a:gd name="T15" fmla="*/ 260 h 260"/>
            </a:gdLst>
            <a:ahLst/>
            <a:cxnLst>
              <a:cxn ang="T8">
                <a:pos x="T0" y="T1"/>
              </a:cxn>
              <a:cxn ang="T9">
                <a:pos x="T2" y="T3"/>
              </a:cxn>
              <a:cxn ang="T10">
                <a:pos x="T4" y="T5"/>
              </a:cxn>
              <a:cxn ang="T11">
                <a:pos x="T6" y="T7"/>
              </a:cxn>
            </a:cxnLst>
            <a:rect l="T12" t="T13" r="T14" b="T15"/>
            <a:pathLst>
              <a:path w="197" h="260">
                <a:moveTo>
                  <a:pt x="197" y="260"/>
                </a:moveTo>
                <a:cubicBezTo>
                  <a:pt x="183" y="256"/>
                  <a:pt x="140" y="249"/>
                  <a:pt x="114" y="233"/>
                </a:cubicBezTo>
                <a:cubicBezTo>
                  <a:pt x="88" y="217"/>
                  <a:pt x="60" y="203"/>
                  <a:pt x="41" y="164"/>
                </a:cubicBezTo>
                <a:cubicBezTo>
                  <a:pt x="22" y="125"/>
                  <a:pt x="9" y="34"/>
                  <a:pt x="0" y="0"/>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solidFill>
                <a:srgbClr val="FF0000"/>
              </a:solidFill>
            </a:endParaRPr>
          </a:p>
        </p:txBody>
      </p:sp>
      <p:sp>
        <p:nvSpPr>
          <p:cNvPr id="37" name="Freeform 18"/>
          <p:cNvSpPr>
            <a:spLocks/>
          </p:cNvSpPr>
          <p:nvPr/>
        </p:nvSpPr>
        <p:spPr bwMode="auto">
          <a:xfrm>
            <a:off x="8100912" y="2691889"/>
            <a:ext cx="451023" cy="585697"/>
          </a:xfrm>
          <a:custGeom>
            <a:avLst/>
            <a:gdLst>
              <a:gd name="T0" fmla="*/ 0 w 157"/>
              <a:gd name="T1" fmla="*/ 0 h 283"/>
              <a:gd name="T2" fmla="*/ 91 w 157"/>
              <a:gd name="T3" fmla="*/ 41 h 283"/>
              <a:gd name="T4" fmla="*/ 147 w 157"/>
              <a:gd name="T5" fmla="*/ 151 h 283"/>
              <a:gd name="T6" fmla="*/ 152 w 157"/>
              <a:gd name="T7" fmla="*/ 283 h 283"/>
              <a:gd name="T8" fmla="*/ 0 60000 65536"/>
              <a:gd name="T9" fmla="*/ 0 60000 65536"/>
              <a:gd name="T10" fmla="*/ 0 60000 65536"/>
              <a:gd name="T11" fmla="*/ 0 60000 65536"/>
              <a:gd name="T12" fmla="*/ 0 w 157"/>
              <a:gd name="T13" fmla="*/ 0 h 283"/>
              <a:gd name="T14" fmla="*/ 157 w 157"/>
              <a:gd name="T15" fmla="*/ 283 h 283"/>
            </a:gdLst>
            <a:ahLst/>
            <a:cxnLst>
              <a:cxn ang="T8">
                <a:pos x="T0" y="T1"/>
              </a:cxn>
              <a:cxn ang="T9">
                <a:pos x="T2" y="T3"/>
              </a:cxn>
              <a:cxn ang="T10">
                <a:pos x="T4" y="T5"/>
              </a:cxn>
              <a:cxn ang="T11">
                <a:pos x="T6" y="T7"/>
              </a:cxn>
            </a:cxnLst>
            <a:rect l="T12" t="T13" r="T14" b="T15"/>
            <a:pathLst>
              <a:path w="157" h="283">
                <a:moveTo>
                  <a:pt x="0" y="0"/>
                </a:moveTo>
                <a:cubicBezTo>
                  <a:pt x="15" y="7"/>
                  <a:pt x="67" y="16"/>
                  <a:pt x="91" y="41"/>
                </a:cubicBezTo>
                <a:cubicBezTo>
                  <a:pt x="115" y="66"/>
                  <a:pt x="137" y="111"/>
                  <a:pt x="147" y="151"/>
                </a:cubicBezTo>
                <a:cubicBezTo>
                  <a:pt x="157" y="191"/>
                  <a:pt x="151" y="256"/>
                  <a:pt x="152" y="283"/>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solidFill>
                <a:srgbClr val="FF0000"/>
              </a:solidFill>
            </a:endParaRPr>
          </a:p>
        </p:txBody>
      </p:sp>
      <p:sp>
        <p:nvSpPr>
          <p:cNvPr id="38" name="Freeform 37"/>
          <p:cNvSpPr/>
          <p:nvPr/>
        </p:nvSpPr>
        <p:spPr>
          <a:xfrm rot="10800000">
            <a:off x="7408978" y="1117928"/>
            <a:ext cx="1385397" cy="186437"/>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9" name="TextBox 38"/>
          <p:cNvSpPr txBox="1"/>
          <p:nvPr/>
        </p:nvSpPr>
        <p:spPr>
          <a:xfrm>
            <a:off x="2730239" y="2518043"/>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7</a:t>
            </a:r>
          </a:p>
        </p:txBody>
      </p:sp>
      <p:sp>
        <p:nvSpPr>
          <p:cNvPr id="40" name="TextBox 39"/>
          <p:cNvSpPr txBox="1"/>
          <p:nvPr/>
        </p:nvSpPr>
        <p:spPr>
          <a:xfrm>
            <a:off x="2644050" y="4427227"/>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17</a:t>
            </a:r>
          </a:p>
        </p:txBody>
      </p:sp>
      <p:sp>
        <p:nvSpPr>
          <p:cNvPr id="41" name="TextBox 40"/>
          <p:cNvSpPr txBox="1"/>
          <p:nvPr/>
        </p:nvSpPr>
        <p:spPr>
          <a:xfrm>
            <a:off x="4258492" y="1443316"/>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17</a:t>
            </a:r>
          </a:p>
        </p:txBody>
      </p:sp>
      <p:sp>
        <p:nvSpPr>
          <p:cNvPr id="42" name="TextBox 41"/>
          <p:cNvSpPr txBox="1"/>
          <p:nvPr/>
        </p:nvSpPr>
        <p:spPr>
          <a:xfrm>
            <a:off x="1693821" y="1443315"/>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7</a:t>
            </a:r>
          </a:p>
        </p:txBody>
      </p:sp>
      <p:sp>
        <p:nvSpPr>
          <p:cNvPr id="43" name="TextBox 42"/>
          <p:cNvSpPr txBox="1"/>
          <p:nvPr/>
        </p:nvSpPr>
        <p:spPr>
          <a:xfrm>
            <a:off x="7231320" y="1443316"/>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16</a:t>
            </a:r>
          </a:p>
        </p:txBody>
      </p:sp>
      <p:sp>
        <p:nvSpPr>
          <p:cNvPr id="44" name="TextBox 43"/>
          <p:cNvSpPr txBox="1"/>
          <p:nvPr/>
        </p:nvSpPr>
        <p:spPr>
          <a:xfrm>
            <a:off x="8540295" y="1442930"/>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7</a:t>
            </a:r>
          </a:p>
        </p:txBody>
      </p:sp>
      <p:sp>
        <p:nvSpPr>
          <p:cNvPr id="45" name="TextBox 44"/>
          <p:cNvSpPr txBox="1"/>
          <p:nvPr/>
        </p:nvSpPr>
        <p:spPr>
          <a:xfrm>
            <a:off x="7437996" y="2537381"/>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16</a:t>
            </a:r>
          </a:p>
        </p:txBody>
      </p:sp>
      <p:sp>
        <p:nvSpPr>
          <p:cNvPr id="46" name="TextBox 45"/>
          <p:cNvSpPr txBox="1"/>
          <p:nvPr/>
        </p:nvSpPr>
        <p:spPr>
          <a:xfrm>
            <a:off x="8351476" y="3408277"/>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7</a:t>
            </a:r>
          </a:p>
        </p:txBody>
      </p:sp>
      <p:sp>
        <p:nvSpPr>
          <p:cNvPr id="47" name="TextBox 46"/>
          <p:cNvSpPr txBox="1"/>
          <p:nvPr/>
        </p:nvSpPr>
        <p:spPr>
          <a:xfrm>
            <a:off x="256897" y="796458"/>
            <a:ext cx="840295" cy="400110"/>
          </a:xfrm>
          <a:prstGeom prst="rect">
            <a:avLst/>
          </a:prstGeom>
          <a:noFill/>
          <a:ln w="28575">
            <a:solidFill>
              <a:schemeClr val="tx1"/>
            </a:solidFill>
          </a:ln>
        </p:spPr>
        <p:txBody>
          <a:bodyPr wrap="none" rtlCol="0">
            <a:spAutoFit/>
          </a:bodyPr>
          <a:lstStyle/>
          <a:p>
            <a:r>
              <a:rPr lang="en-IN" sz="2000" b="1" dirty="0"/>
              <a:t>Step 5</a:t>
            </a:r>
            <a:endParaRPr lang="en-US" sz="2000" b="1" dirty="0"/>
          </a:p>
        </p:txBody>
      </p:sp>
      <p:sp>
        <p:nvSpPr>
          <p:cNvPr id="48" name="TextBox 47"/>
          <p:cNvSpPr txBox="1"/>
          <p:nvPr/>
        </p:nvSpPr>
        <p:spPr>
          <a:xfrm>
            <a:off x="6251083" y="796458"/>
            <a:ext cx="840295" cy="400110"/>
          </a:xfrm>
          <a:prstGeom prst="rect">
            <a:avLst/>
          </a:prstGeom>
          <a:noFill/>
          <a:ln w="28575">
            <a:solidFill>
              <a:schemeClr val="tx1"/>
            </a:solidFill>
          </a:ln>
        </p:spPr>
        <p:txBody>
          <a:bodyPr wrap="none" rtlCol="0">
            <a:spAutoFit/>
          </a:bodyPr>
          <a:lstStyle/>
          <a:p>
            <a:r>
              <a:rPr lang="en-IN" sz="2000" b="1" dirty="0"/>
              <a:t>Step 6</a:t>
            </a:r>
            <a:endParaRPr lang="en-US" sz="2000" b="1" dirty="0"/>
          </a:p>
        </p:txBody>
      </p:sp>
    </p:spTree>
    <p:extLst>
      <p:ext uri="{BB962C8B-B14F-4D97-AF65-F5344CB8AC3E}">
        <p14:creationId xmlns:p14="http://schemas.microsoft.com/office/powerpoint/2010/main" val="3620713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up)">
                                      <p:cBhvr>
                                        <p:cTn id="39" dur="500"/>
                                        <p:tgtEl>
                                          <p:spTgt spid="3"/>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500"/>
                                        <p:tgtEl>
                                          <p:spTgt spid="33"/>
                                        </p:tgtEl>
                                      </p:cBhvr>
                                    </p:animEffect>
                                  </p:childTnLst>
                                </p:cTn>
                              </p:par>
                            </p:childTnLst>
                          </p:cTn>
                        </p:par>
                        <p:par>
                          <p:cTn id="44" fill="hold">
                            <p:stCondLst>
                              <p:cond delay="1000"/>
                            </p:stCondLst>
                            <p:childTnLst>
                              <p:par>
                                <p:cTn id="45" presetID="10" presetClass="entr" presetSubtype="0" fill="hold" grpId="0" nodeType="after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50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500"/>
                                        <p:tgtEl>
                                          <p:spTgt spid="39"/>
                                        </p:tgtEl>
                                      </p:cBhvr>
                                    </p:animEffect>
                                  </p:childTnLst>
                                </p:cTn>
                              </p:par>
                            </p:childTnLst>
                          </p:cTn>
                        </p:par>
                        <p:par>
                          <p:cTn id="53" fill="hold">
                            <p:stCondLst>
                              <p:cond delay="500"/>
                            </p:stCondLst>
                            <p:childTnLst>
                              <p:par>
                                <p:cTn id="54" presetID="10" presetClass="entr" presetSubtype="0" fill="hold" grpId="0" nodeType="after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500"/>
                                        <p:tgtEl>
                                          <p:spTgt spid="4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500"/>
                                        <p:tgtEl>
                                          <p:spTgt spid="41"/>
                                        </p:tgtEl>
                                      </p:cBhvr>
                                    </p:animEffect>
                                  </p:childTnLst>
                                </p:cTn>
                              </p:par>
                            </p:childTnLst>
                          </p:cTn>
                        </p:par>
                        <p:par>
                          <p:cTn id="62" fill="hold">
                            <p:stCondLst>
                              <p:cond delay="500"/>
                            </p:stCondLst>
                            <p:childTnLst>
                              <p:par>
                                <p:cTn id="63" presetID="10" presetClass="entr" presetSubtype="0" fill="hold" grpId="0" nodeType="after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fade">
                                      <p:cBhvr>
                                        <p:cTn id="65" dur="500"/>
                                        <p:tgtEl>
                                          <p:spTgt spid="42"/>
                                        </p:tgtEl>
                                      </p:cBhvr>
                                    </p:animEffect>
                                  </p:childTnLst>
                                </p:cTn>
                              </p:par>
                            </p:childTnLst>
                          </p:cTn>
                        </p:par>
                      </p:childTnLst>
                    </p:cTn>
                  </p:par>
                  <p:par>
                    <p:cTn id="66" fill="hold">
                      <p:stCondLst>
                        <p:cond delay="indefinite"/>
                      </p:stCondLst>
                      <p:childTnLst>
                        <p:par>
                          <p:cTn id="67" fill="hold">
                            <p:stCondLst>
                              <p:cond delay="0"/>
                            </p:stCondLst>
                            <p:childTnLst>
                              <p:par>
                                <p:cTn id="68" presetID="14" presetClass="exit" presetSubtype="10" fill="hold" nodeType="clickEffect">
                                  <p:stCondLst>
                                    <p:cond delay="0"/>
                                  </p:stCondLst>
                                  <p:childTnLst>
                                    <p:animEffect transition="out" filter="randombar(horizontal)">
                                      <p:cBhvr>
                                        <p:cTn id="69" dur="500"/>
                                        <p:tgtEl>
                                          <p:spTgt spid="13"/>
                                        </p:tgtEl>
                                      </p:cBhvr>
                                    </p:animEffect>
                                    <p:set>
                                      <p:cBhvr>
                                        <p:cTn id="70" dur="1" fill="hold">
                                          <p:stCondLst>
                                            <p:cond delay="499"/>
                                          </p:stCondLst>
                                        </p:cTn>
                                        <p:tgtEl>
                                          <p:spTgt spid="13"/>
                                        </p:tgtEl>
                                        <p:attrNameLst>
                                          <p:attrName>style.visibility</p:attrName>
                                        </p:attrNameLst>
                                      </p:cBhvr>
                                      <p:to>
                                        <p:strVal val="hidden"/>
                                      </p:to>
                                    </p:set>
                                  </p:childTnLst>
                                </p:cTn>
                              </p:par>
                              <p:par>
                                <p:cTn id="71" presetID="14" presetClass="exit" presetSubtype="10" fill="hold" grpId="1" nodeType="withEffect">
                                  <p:stCondLst>
                                    <p:cond delay="0"/>
                                  </p:stCondLst>
                                  <p:childTnLst>
                                    <p:animEffect transition="out" filter="randombar(horizontal)">
                                      <p:cBhvr>
                                        <p:cTn id="72" dur="500"/>
                                        <p:tgtEl>
                                          <p:spTgt spid="14"/>
                                        </p:tgtEl>
                                      </p:cBhvr>
                                    </p:animEffect>
                                    <p:set>
                                      <p:cBhvr>
                                        <p:cTn id="73" dur="1" fill="hold">
                                          <p:stCondLst>
                                            <p:cond delay="499"/>
                                          </p:stCondLst>
                                        </p:cTn>
                                        <p:tgtEl>
                                          <p:spTgt spid="14"/>
                                        </p:tgtEl>
                                        <p:attrNameLst>
                                          <p:attrName>style.visibility</p:attrName>
                                        </p:attrNameLst>
                                      </p:cBhvr>
                                      <p:to>
                                        <p:strVal val="hidden"/>
                                      </p:to>
                                    </p:set>
                                  </p:childTnLst>
                                </p:cTn>
                              </p:par>
                              <p:par>
                                <p:cTn id="74" presetID="14" presetClass="exit" presetSubtype="10" fill="hold" grpId="1" nodeType="withEffect">
                                  <p:stCondLst>
                                    <p:cond delay="0"/>
                                  </p:stCondLst>
                                  <p:childTnLst>
                                    <p:animEffect transition="out" filter="randombar(horizontal)">
                                      <p:cBhvr>
                                        <p:cTn id="75" dur="500"/>
                                        <p:tgtEl>
                                          <p:spTgt spid="40"/>
                                        </p:tgtEl>
                                      </p:cBhvr>
                                    </p:animEffect>
                                    <p:set>
                                      <p:cBhvr>
                                        <p:cTn id="76" dur="1" fill="hold">
                                          <p:stCondLst>
                                            <p:cond delay="499"/>
                                          </p:stCondLst>
                                        </p:cTn>
                                        <p:tgtEl>
                                          <p:spTgt spid="40"/>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nodeType="click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wipe(up)">
                                      <p:cBhvr>
                                        <p:cTn id="81" dur="500"/>
                                        <p:tgtEl>
                                          <p:spTgt spid="17"/>
                                        </p:tgtEl>
                                      </p:cBhvr>
                                    </p:animEffect>
                                  </p:childTnLst>
                                </p:cTn>
                              </p:par>
                            </p:childTnLst>
                          </p:cTn>
                        </p:par>
                        <p:par>
                          <p:cTn id="82" fill="hold">
                            <p:stCondLst>
                              <p:cond delay="500"/>
                            </p:stCondLst>
                            <p:childTnLst>
                              <p:par>
                                <p:cTn id="83" presetID="10" presetClass="entr" presetSubtype="0" fill="hold" grpId="0" nodeType="afterEffect">
                                  <p:stCondLst>
                                    <p:cond delay="0"/>
                                  </p:stCondLst>
                                  <p:childTnLst>
                                    <p:set>
                                      <p:cBhvr>
                                        <p:cTn id="84" dur="1" fill="hold">
                                          <p:stCondLst>
                                            <p:cond delay="0"/>
                                          </p:stCondLst>
                                        </p:cTn>
                                        <p:tgtEl>
                                          <p:spTgt spid="48"/>
                                        </p:tgtEl>
                                        <p:attrNameLst>
                                          <p:attrName>style.visibility</p:attrName>
                                        </p:attrNameLst>
                                      </p:cBhvr>
                                      <p:to>
                                        <p:strVal val="visible"/>
                                      </p:to>
                                    </p:set>
                                    <p:animEffect transition="in" filter="fade">
                                      <p:cBhvr>
                                        <p:cTn id="85" dur="500"/>
                                        <p:tgtEl>
                                          <p:spTgt spid="48"/>
                                        </p:tgtEl>
                                      </p:cBhvr>
                                    </p:animEffect>
                                  </p:childTnLst>
                                </p:cTn>
                              </p:par>
                            </p:childTnLst>
                          </p:cTn>
                        </p:par>
                        <p:par>
                          <p:cTn id="86" fill="hold">
                            <p:stCondLst>
                              <p:cond delay="1000"/>
                            </p:stCondLst>
                            <p:childTnLst>
                              <p:par>
                                <p:cTn id="87" presetID="10" presetClass="entr" presetSubtype="0" fill="hold" nodeType="after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500"/>
                                        <p:tgtEl>
                                          <p:spTgt spid="28"/>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19"/>
                                        </p:tgtEl>
                                        <p:attrNameLst>
                                          <p:attrName>style.visibility</p:attrName>
                                        </p:attrNameLst>
                                      </p:cBhvr>
                                      <p:to>
                                        <p:strVal val="visible"/>
                                      </p:to>
                                    </p:set>
                                    <p:animEffect transition="in" filter="fade">
                                      <p:cBhvr>
                                        <p:cTn id="94" dur="500"/>
                                        <p:tgtEl>
                                          <p:spTgt spid="19"/>
                                        </p:tgtEl>
                                      </p:cBhvr>
                                    </p:animEffect>
                                  </p:childTnLst>
                                </p:cTn>
                              </p:par>
                              <p:par>
                                <p:cTn id="95" presetID="10" presetClass="entr" presetSubtype="0" fill="hold"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500"/>
                                        <p:tgtEl>
                                          <p:spTgt spid="20"/>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1"/>
                                        </p:tgtEl>
                                        <p:attrNameLst>
                                          <p:attrName>style.visibility</p:attrName>
                                        </p:attrNameLst>
                                      </p:cBhvr>
                                      <p:to>
                                        <p:strVal val="visible"/>
                                      </p:to>
                                    </p:set>
                                    <p:animEffect transition="in" filter="fade">
                                      <p:cBhvr>
                                        <p:cTn id="100" dur="500"/>
                                        <p:tgtEl>
                                          <p:spTgt spid="21"/>
                                        </p:tgtEl>
                                      </p:cBhvr>
                                    </p:animEffect>
                                  </p:childTnLst>
                                </p:cTn>
                              </p:par>
                              <p:par>
                                <p:cTn id="101" presetID="10" presetClass="entr" presetSubtype="0" fill="hold" nodeType="withEffect">
                                  <p:stCondLst>
                                    <p:cond delay="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500"/>
                                        <p:tgtEl>
                                          <p:spTgt spid="22"/>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3"/>
                                        </p:tgtEl>
                                        <p:attrNameLst>
                                          <p:attrName>style.visibility</p:attrName>
                                        </p:attrNameLst>
                                      </p:cBhvr>
                                      <p:to>
                                        <p:strVal val="visible"/>
                                      </p:to>
                                    </p:set>
                                    <p:animEffect transition="in" filter="fade">
                                      <p:cBhvr>
                                        <p:cTn id="106" dur="500"/>
                                        <p:tgtEl>
                                          <p:spTgt spid="23"/>
                                        </p:tgtEl>
                                      </p:cBhvr>
                                    </p:animEffect>
                                  </p:childTnLst>
                                </p:cTn>
                              </p:par>
                              <p:par>
                                <p:cTn id="107" presetID="10" presetClass="entr" presetSubtype="0" fill="hold" nodeType="withEffect">
                                  <p:stCondLst>
                                    <p:cond delay="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500"/>
                                        <p:tgtEl>
                                          <p:spTgt spid="24"/>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00"/>
                                        <p:tgtEl>
                                          <p:spTgt spid="25"/>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35"/>
                                        </p:tgtEl>
                                        <p:attrNameLst>
                                          <p:attrName>style.visibility</p:attrName>
                                        </p:attrNameLst>
                                      </p:cBhvr>
                                      <p:to>
                                        <p:strVal val="visible"/>
                                      </p:to>
                                    </p:set>
                                    <p:animEffect transition="in" filter="fade">
                                      <p:cBhvr>
                                        <p:cTn id="117" dur="500"/>
                                        <p:tgtEl>
                                          <p:spTgt spid="35"/>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36"/>
                                        </p:tgtEl>
                                        <p:attrNameLst>
                                          <p:attrName>style.visibility</p:attrName>
                                        </p:attrNameLst>
                                      </p:cBhvr>
                                      <p:to>
                                        <p:strVal val="visible"/>
                                      </p:to>
                                    </p:set>
                                    <p:animEffect transition="in" filter="wipe(down)">
                                      <p:cBhvr>
                                        <p:cTn id="122" dur="500"/>
                                        <p:tgtEl>
                                          <p:spTgt spid="36"/>
                                        </p:tgtEl>
                                      </p:cBhvr>
                                    </p:animEffect>
                                  </p:childTnLst>
                                </p:cTn>
                              </p:par>
                              <p:par>
                                <p:cTn id="123" presetID="22" presetClass="entr" presetSubtype="1" fill="hold" grpId="0" nodeType="withEffect">
                                  <p:stCondLst>
                                    <p:cond delay="0"/>
                                  </p:stCondLst>
                                  <p:childTnLst>
                                    <p:set>
                                      <p:cBhvr>
                                        <p:cTn id="124" dur="1" fill="hold">
                                          <p:stCondLst>
                                            <p:cond delay="0"/>
                                          </p:stCondLst>
                                        </p:cTn>
                                        <p:tgtEl>
                                          <p:spTgt spid="37"/>
                                        </p:tgtEl>
                                        <p:attrNameLst>
                                          <p:attrName>style.visibility</p:attrName>
                                        </p:attrNameLst>
                                      </p:cBhvr>
                                      <p:to>
                                        <p:strVal val="visible"/>
                                      </p:to>
                                    </p:set>
                                    <p:animEffect transition="in" filter="wipe(up)">
                                      <p:cBhvr>
                                        <p:cTn id="125" dur="500"/>
                                        <p:tgtEl>
                                          <p:spTgt spid="37"/>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38"/>
                                        </p:tgtEl>
                                        <p:attrNameLst>
                                          <p:attrName>style.visibility</p:attrName>
                                        </p:attrNameLst>
                                      </p:cBhvr>
                                      <p:to>
                                        <p:strVal val="visible"/>
                                      </p:to>
                                    </p:set>
                                    <p:animEffect transition="in" filter="fade">
                                      <p:cBhvr>
                                        <p:cTn id="128" dur="500"/>
                                        <p:tgtEl>
                                          <p:spTgt spid="38"/>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45"/>
                                        </p:tgtEl>
                                        <p:attrNameLst>
                                          <p:attrName>style.visibility</p:attrName>
                                        </p:attrNameLst>
                                      </p:cBhvr>
                                      <p:to>
                                        <p:strVal val="visible"/>
                                      </p:to>
                                    </p:set>
                                    <p:animEffect transition="in" filter="fade">
                                      <p:cBhvr>
                                        <p:cTn id="133" dur="500"/>
                                        <p:tgtEl>
                                          <p:spTgt spid="45"/>
                                        </p:tgtEl>
                                      </p:cBhvr>
                                    </p:animEffect>
                                  </p:childTnLst>
                                </p:cTn>
                              </p:par>
                            </p:childTnLst>
                          </p:cTn>
                        </p:par>
                        <p:par>
                          <p:cTn id="134" fill="hold">
                            <p:stCondLst>
                              <p:cond delay="500"/>
                            </p:stCondLst>
                            <p:childTnLst>
                              <p:par>
                                <p:cTn id="135" presetID="10" presetClass="entr" presetSubtype="0" fill="hold" grpId="0" nodeType="afterEffect">
                                  <p:stCondLst>
                                    <p:cond delay="0"/>
                                  </p:stCondLst>
                                  <p:childTnLst>
                                    <p:set>
                                      <p:cBhvr>
                                        <p:cTn id="136" dur="1" fill="hold">
                                          <p:stCondLst>
                                            <p:cond delay="0"/>
                                          </p:stCondLst>
                                        </p:cTn>
                                        <p:tgtEl>
                                          <p:spTgt spid="46"/>
                                        </p:tgtEl>
                                        <p:attrNameLst>
                                          <p:attrName>style.visibility</p:attrName>
                                        </p:attrNameLst>
                                      </p:cBhvr>
                                      <p:to>
                                        <p:strVal val="visible"/>
                                      </p:to>
                                    </p:set>
                                    <p:animEffect transition="in" filter="fade">
                                      <p:cBhvr>
                                        <p:cTn id="137" dur="500"/>
                                        <p:tgtEl>
                                          <p:spTgt spid="46"/>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43"/>
                                        </p:tgtEl>
                                        <p:attrNameLst>
                                          <p:attrName>style.visibility</p:attrName>
                                        </p:attrNameLst>
                                      </p:cBhvr>
                                      <p:to>
                                        <p:strVal val="visible"/>
                                      </p:to>
                                    </p:set>
                                    <p:animEffect transition="in" filter="fade">
                                      <p:cBhvr>
                                        <p:cTn id="142" dur="500"/>
                                        <p:tgtEl>
                                          <p:spTgt spid="43"/>
                                        </p:tgtEl>
                                      </p:cBhvr>
                                    </p:animEffect>
                                  </p:childTnLst>
                                </p:cTn>
                              </p:par>
                            </p:childTnLst>
                          </p:cTn>
                        </p:par>
                        <p:par>
                          <p:cTn id="143" fill="hold">
                            <p:stCondLst>
                              <p:cond delay="500"/>
                            </p:stCondLst>
                            <p:childTnLst>
                              <p:par>
                                <p:cTn id="144" presetID="10" presetClass="entr" presetSubtype="0" fill="hold" grpId="0" nodeType="afterEffect">
                                  <p:stCondLst>
                                    <p:cond delay="0"/>
                                  </p:stCondLst>
                                  <p:childTnLst>
                                    <p:set>
                                      <p:cBhvr>
                                        <p:cTn id="145" dur="1" fill="hold">
                                          <p:stCondLst>
                                            <p:cond delay="0"/>
                                          </p:stCondLst>
                                        </p:cTn>
                                        <p:tgtEl>
                                          <p:spTgt spid="44"/>
                                        </p:tgtEl>
                                        <p:attrNameLst>
                                          <p:attrName>style.visibility</p:attrName>
                                        </p:attrNameLst>
                                      </p:cBhvr>
                                      <p:to>
                                        <p:strVal val="visible"/>
                                      </p:to>
                                    </p:set>
                                    <p:animEffect transition="in" filter="fade">
                                      <p:cBhvr>
                                        <p:cTn id="14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4" grpId="1" animBg="1"/>
      <p:bldP spid="19" grpId="0" animBg="1"/>
      <p:bldP spid="21" grpId="0" animBg="1"/>
      <p:bldP spid="23" grpId="0" animBg="1"/>
      <p:bldP spid="25" grpId="0" animBg="1"/>
      <p:bldP spid="33" grpId="0"/>
      <p:bldP spid="34" grpId="0" animBg="1"/>
      <p:bldP spid="35" grpId="0" animBg="1"/>
      <p:bldP spid="36" grpId="0" animBg="1"/>
      <p:bldP spid="37" grpId="0" animBg="1"/>
      <p:bldP spid="38" grpId="0" animBg="1"/>
      <p:bldP spid="39" grpId="0" animBg="1"/>
      <p:bldP spid="40" grpId="0" animBg="1"/>
      <p:bldP spid="40" grpId="1" animBg="1"/>
      <p:bldP spid="41" grpId="0" animBg="1"/>
      <p:bldP spid="42" grpId="0" animBg="1"/>
      <p:bldP spid="43" grpId="0" animBg="1"/>
      <p:bldP spid="44" grpId="0" animBg="1"/>
      <p:bldP spid="45" grpId="0" animBg="1"/>
      <p:bldP spid="46" grpId="0" animBg="1"/>
      <p:bldP spid="4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Example 2</a:t>
            </a:r>
          </a:p>
        </p:txBody>
      </p:sp>
      <p:sp>
        <p:nvSpPr>
          <p:cNvPr id="6" name="Oval 5"/>
          <p:cNvSpPr/>
          <p:nvPr/>
        </p:nvSpPr>
        <p:spPr>
          <a:xfrm>
            <a:off x="2638797" y="2398059"/>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16</a:t>
            </a:r>
          </a:p>
        </p:txBody>
      </p:sp>
      <p:cxnSp>
        <p:nvCxnSpPr>
          <p:cNvPr id="7" name="Straight Connector 6"/>
          <p:cNvCxnSpPr>
            <a:stCxn id="6" idx="3"/>
            <a:endCxn id="8" idx="0"/>
          </p:cNvCxnSpPr>
          <p:nvPr/>
        </p:nvCxnSpPr>
        <p:spPr>
          <a:xfrm flipH="1">
            <a:off x="2384408" y="2944401"/>
            <a:ext cx="348127" cy="41199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064368" y="3356392"/>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14</a:t>
            </a:r>
          </a:p>
        </p:txBody>
      </p:sp>
      <p:cxnSp>
        <p:nvCxnSpPr>
          <p:cNvPr id="9" name="Straight Connector 8"/>
          <p:cNvCxnSpPr>
            <a:stCxn id="6" idx="5"/>
            <a:endCxn id="10" idx="1"/>
          </p:cNvCxnSpPr>
          <p:nvPr/>
        </p:nvCxnSpPr>
        <p:spPr>
          <a:xfrm>
            <a:off x="3185139" y="2944401"/>
            <a:ext cx="449653" cy="42692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3541054" y="3277586"/>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7</a:t>
            </a:r>
          </a:p>
        </p:txBody>
      </p:sp>
      <p:cxnSp>
        <p:nvCxnSpPr>
          <p:cNvPr id="11" name="Straight Connector 10"/>
          <p:cNvCxnSpPr>
            <a:stCxn id="8" idx="3"/>
            <a:endCxn id="12" idx="0"/>
          </p:cNvCxnSpPr>
          <p:nvPr/>
        </p:nvCxnSpPr>
        <p:spPr>
          <a:xfrm flipH="1">
            <a:off x="1977524" y="3902734"/>
            <a:ext cx="180582" cy="4045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1657484" y="4307242"/>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graphicFrame>
        <p:nvGraphicFramePr>
          <p:cNvPr id="16" name="Table 15"/>
          <p:cNvGraphicFramePr>
            <a:graphicFrameLocks noGrp="1"/>
          </p:cNvGraphicFramePr>
          <p:nvPr/>
        </p:nvGraphicFramePr>
        <p:xfrm>
          <a:off x="1657484" y="1386239"/>
          <a:ext cx="3840480" cy="5486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1751283045"/>
                    </a:ext>
                  </a:extLst>
                </a:gridCol>
              </a:tblGrid>
              <a:tr h="548640">
                <a:tc>
                  <a:txBody>
                    <a:bodyPr/>
                    <a:lstStyle/>
                    <a:p>
                      <a:pPr algn="ctr"/>
                      <a:r>
                        <a:rPr lang="en-US" sz="2400" dirty="0"/>
                        <a:t>16</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b="1" dirty="0">
                          <a:solidFill>
                            <a:schemeClr val="bg1">
                              <a:lumMod val="95000"/>
                            </a:schemeClr>
                          </a:solidFill>
                        </a:rPr>
                        <a:t>17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lumMod val="95000"/>
                            </a:schemeClr>
                          </a:solidFill>
                        </a:rPr>
                        <a:t>19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bl>
          </a:graphicData>
        </a:graphic>
      </p:graphicFrame>
      <p:cxnSp>
        <p:nvCxnSpPr>
          <p:cNvPr id="17" name="Straight Connector 16"/>
          <p:cNvCxnSpPr/>
          <p:nvPr/>
        </p:nvCxnSpPr>
        <p:spPr>
          <a:xfrm>
            <a:off x="6096000" y="1053692"/>
            <a:ext cx="0" cy="520781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7358699" y="2426143"/>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cxnSp>
        <p:nvCxnSpPr>
          <p:cNvPr id="20" name="Straight Connector 19"/>
          <p:cNvCxnSpPr>
            <a:stCxn id="19" idx="3"/>
            <a:endCxn id="21" idx="0"/>
          </p:cNvCxnSpPr>
          <p:nvPr/>
        </p:nvCxnSpPr>
        <p:spPr>
          <a:xfrm flipH="1">
            <a:off x="7104310" y="2972485"/>
            <a:ext cx="348127" cy="41199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6784270" y="3384476"/>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14</a:t>
            </a:r>
          </a:p>
        </p:txBody>
      </p:sp>
      <p:cxnSp>
        <p:nvCxnSpPr>
          <p:cNvPr id="22" name="Straight Connector 21"/>
          <p:cNvCxnSpPr>
            <a:stCxn id="19" idx="5"/>
            <a:endCxn id="23" idx="1"/>
          </p:cNvCxnSpPr>
          <p:nvPr/>
        </p:nvCxnSpPr>
        <p:spPr>
          <a:xfrm>
            <a:off x="7905041" y="2972485"/>
            <a:ext cx="449653" cy="42692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8260956" y="3305670"/>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7</a:t>
            </a:r>
          </a:p>
        </p:txBody>
      </p:sp>
      <p:graphicFrame>
        <p:nvGraphicFramePr>
          <p:cNvPr id="28" name="Table 27"/>
          <p:cNvGraphicFramePr>
            <a:graphicFrameLocks noGrp="1"/>
          </p:cNvGraphicFramePr>
          <p:nvPr/>
        </p:nvGraphicFramePr>
        <p:xfrm>
          <a:off x="7197653" y="1386239"/>
          <a:ext cx="3840480" cy="5486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1751283045"/>
                    </a:ext>
                  </a:extLst>
                </a:gridCol>
              </a:tblGrid>
              <a:tr h="548640">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b="1" dirty="0">
                          <a:solidFill>
                            <a:schemeClr val="bg1">
                              <a:lumMod val="95000"/>
                            </a:schemeClr>
                          </a:solidFill>
                        </a:rPr>
                        <a:t>16</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lumMod val="95000"/>
                            </a:schemeClr>
                          </a:solidFill>
                        </a:rPr>
                        <a:t>17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solidFill>
                        </a:rPr>
                        <a:t>19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bl>
          </a:graphicData>
        </a:graphic>
      </p:graphicFrame>
      <p:grpSp>
        <p:nvGrpSpPr>
          <p:cNvPr id="4" name="Group 3"/>
          <p:cNvGrpSpPr/>
          <p:nvPr/>
        </p:nvGrpSpPr>
        <p:grpSpPr>
          <a:xfrm>
            <a:off x="2439410" y="2600912"/>
            <a:ext cx="3017520" cy="2006947"/>
            <a:chOff x="2439410" y="2600912"/>
            <a:chExt cx="3017520" cy="2006947"/>
          </a:xfrm>
        </p:grpSpPr>
        <p:cxnSp>
          <p:nvCxnSpPr>
            <p:cNvPr id="30" name="Straight Arrow Connector 29"/>
            <p:cNvCxnSpPr/>
            <p:nvPr/>
          </p:nvCxnSpPr>
          <p:spPr>
            <a:xfrm flipH="1">
              <a:off x="3630328" y="2600912"/>
              <a:ext cx="1815726" cy="1"/>
            </a:xfrm>
            <a:prstGeom prst="straightConnector1">
              <a:avLst/>
            </a:prstGeom>
            <a:ln w="28575">
              <a:solidFill>
                <a:srgbClr val="ED524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5446054" y="2600913"/>
              <a:ext cx="0" cy="2006946"/>
            </a:xfrm>
            <a:prstGeom prst="line">
              <a:avLst/>
            </a:prstGeom>
            <a:ln w="28575">
              <a:solidFill>
                <a:srgbClr val="ED524F"/>
              </a:solidFill>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H="1">
              <a:off x="2439410" y="4607859"/>
              <a:ext cx="3017520" cy="0"/>
            </a:xfrm>
            <a:prstGeom prst="straightConnector1">
              <a:avLst/>
            </a:prstGeom>
            <a:ln w="28575">
              <a:solidFill>
                <a:srgbClr val="ED524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33" name="TextBox 32"/>
          <p:cNvSpPr txBox="1"/>
          <p:nvPr/>
        </p:nvSpPr>
        <p:spPr>
          <a:xfrm>
            <a:off x="4315269" y="2903421"/>
            <a:ext cx="1069907" cy="1323439"/>
          </a:xfrm>
          <a:prstGeom prst="rect">
            <a:avLst/>
          </a:prstGeom>
          <a:noFill/>
        </p:spPr>
        <p:txBody>
          <a:bodyPr wrap="square" rtlCol="0">
            <a:spAutoFit/>
          </a:bodyPr>
          <a:lstStyle/>
          <a:p>
            <a:pPr algn="just"/>
            <a:r>
              <a:rPr lang="en-US" sz="2000" b="1" dirty="0">
                <a:solidFill>
                  <a:srgbClr val="0070C0"/>
                </a:solidFill>
              </a:rPr>
              <a:t>Swap &amp; remove the last element</a:t>
            </a:r>
          </a:p>
        </p:txBody>
      </p:sp>
      <p:sp>
        <p:nvSpPr>
          <p:cNvPr id="34" name="Freeform 33"/>
          <p:cNvSpPr/>
          <p:nvPr/>
        </p:nvSpPr>
        <p:spPr>
          <a:xfrm rot="10800000">
            <a:off x="1976717" y="1149532"/>
            <a:ext cx="1942140" cy="222069"/>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5" name="TextBox 34"/>
          <p:cNvSpPr txBox="1"/>
          <p:nvPr/>
        </p:nvSpPr>
        <p:spPr>
          <a:xfrm>
            <a:off x="9222372" y="2417747"/>
            <a:ext cx="2617309" cy="461665"/>
          </a:xfrm>
          <a:prstGeom prst="rect">
            <a:avLst/>
          </a:prstGeom>
          <a:solidFill>
            <a:schemeClr val="bg1">
              <a:lumMod val="85000"/>
            </a:schemeClr>
          </a:solidFill>
        </p:spPr>
        <p:txBody>
          <a:bodyPr wrap="square" rtlCol="0">
            <a:spAutoFit/>
          </a:bodyPr>
          <a:lstStyle/>
          <a:p>
            <a:pPr algn="ctr"/>
            <a:r>
              <a:rPr lang="en-US" sz="2400" b="1" dirty="0"/>
              <a:t>Create Max-heap</a:t>
            </a:r>
          </a:p>
        </p:txBody>
      </p:sp>
      <p:sp>
        <p:nvSpPr>
          <p:cNvPr id="38" name="Freeform 37"/>
          <p:cNvSpPr/>
          <p:nvPr/>
        </p:nvSpPr>
        <p:spPr>
          <a:xfrm rot="10800000">
            <a:off x="7408978" y="1117927"/>
            <a:ext cx="755308" cy="214483"/>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9" name="TextBox 38"/>
          <p:cNvSpPr txBox="1"/>
          <p:nvPr/>
        </p:nvSpPr>
        <p:spPr>
          <a:xfrm>
            <a:off x="1748924" y="4427227"/>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16</a:t>
            </a:r>
          </a:p>
        </p:txBody>
      </p:sp>
      <p:sp>
        <p:nvSpPr>
          <p:cNvPr id="40" name="TextBox 39"/>
          <p:cNvSpPr txBox="1"/>
          <p:nvPr/>
        </p:nvSpPr>
        <p:spPr>
          <a:xfrm>
            <a:off x="2730237" y="2518044"/>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1</a:t>
            </a:r>
          </a:p>
        </p:txBody>
      </p:sp>
      <p:sp>
        <p:nvSpPr>
          <p:cNvPr id="41" name="TextBox 40"/>
          <p:cNvSpPr txBox="1"/>
          <p:nvPr/>
        </p:nvSpPr>
        <p:spPr>
          <a:xfrm>
            <a:off x="3631476" y="1443317"/>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16</a:t>
            </a:r>
          </a:p>
        </p:txBody>
      </p:sp>
      <p:sp>
        <p:nvSpPr>
          <p:cNvPr id="42" name="TextBox 41"/>
          <p:cNvSpPr txBox="1"/>
          <p:nvPr/>
        </p:nvSpPr>
        <p:spPr>
          <a:xfrm>
            <a:off x="1680758" y="1443315"/>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1</a:t>
            </a:r>
          </a:p>
        </p:txBody>
      </p:sp>
      <p:sp>
        <p:nvSpPr>
          <p:cNvPr id="43" name="TextBox 42"/>
          <p:cNvSpPr txBox="1"/>
          <p:nvPr/>
        </p:nvSpPr>
        <p:spPr>
          <a:xfrm>
            <a:off x="7218258" y="1443316"/>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14</a:t>
            </a:r>
          </a:p>
        </p:txBody>
      </p:sp>
      <p:sp>
        <p:nvSpPr>
          <p:cNvPr id="44" name="TextBox 43"/>
          <p:cNvSpPr txBox="1"/>
          <p:nvPr/>
        </p:nvSpPr>
        <p:spPr>
          <a:xfrm>
            <a:off x="7861026" y="1442931"/>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1</a:t>
            </a:r>
          </a:p>
        </p:txBody>
      </p:sp>
      <p:sp>
        <p:nvSpPr>
          <p:cNvPr id="45" name="TextBox 44"/>
          <p:cNvSpPr txBox="1"/>
          <p:nvPr/>
        </p:nvSpPr>
        <p:spPr>
          <a:xfrm>
            <a:off x="7451059" y="2550446"/>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14</a:t>
            </a:r>
          </a:p>
        </p:txBody>
      </p:sp>
      <p:sp>
        <p:nvSpPr>
          <p:cNvPr id="46" name="TextBox 45"/>
          <p:cNvSpPr txBox="1"/>
          <p:nvPr/>
        </p:nvSpPr>
        <p:spPr>
          <a:xfrm>
            <a:off x="6875372" y="3512779"/>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1</a:t>
            </a:r>
          </a:p>
        </p:txBody>
      </p:sp>
      <p:sp>
        <p:nvSpPr>
          <p:cNvPr id="47" name="Freeform 11"/>
          <p:cNvSpPr>
            <a:spLocks/>
          </p:cNvSpPr>
          <p:nvPr/>
        </p:nvSpPr>
        <p:spPr bwMode="auto">
          <a:xfrm>
            <a:off x="6931865" y="2818200"/>
            <a:ext cx="376788" cy="534342"/>
          </a:xfrm>
          <a:custGeom>
            <a:avLst/>
            <a:gdLst>
              <a:gd name="T0" fmla="*/ 0 w 162"/>
              <a:gd name="T1" fmla="*/ 264 h 264"/>
              <a:gd name="T2" fmla="*/ 30 w 162"/>
              <a:gd name="T3" fmla="*/ 162 h 264"/>
              <a:gd name="T4" fmla="*/ 90 w 162"/>
              <a:gd name="T5" fmla="*/ 66 h 264"/>
              <a:gd name="T6" fmla="*/ 162 w 162"/>
              <a:gd name="T7" fmla="*/ 0 h 264"/>
              <a:gd name="T8" fmla="*/ 0 60000 65536"/>
              <a:gd name="T9" fmla="*/ 0 60000 65536"/>
              <a:gd name="T10" fmla="*/ 0 60000 65536"/>
              <a:gd name="T11" fmla="*/ 0 60000 65536"/>
              <a:gd name="T12" fmla="*/ 0 w 162"/>
              <a:gd name="T13" fmla="*/ 0 h 264"/>
              <a:gd name="T14" fmla="*/ 162 w 162"/>
              <a:gd name="T15" fmla="*/ 264 h 264"/>
            </a:gdLst>
            <a:ahLst/>
            <a:cxnLst>
              <a:cxn ang="T8">
                <a:pos x="T0" y="T1"/>
              </a:cxn>
              <a:cxn ang="T9">
                <a:pos x="T2" y="T3"/>
              </a:cxn>
              <a:cxn ang="T10">
                <a:pos x="T4" y="T5"/>
              </a:cxn>
              <a:cxn ang="T11">
                <a:pos x="T6" y="T7"/>
              </a:cxn>
            </a:cxnLst>
            <a:rect l="T12" t="T13" r="T14" b="T15"/>
            <a:pathLst>
              <a:path w="162" h="264">
                <a:moveTo>
                  <a:pt x="0" y="264"/>
                </a:moveTo>
                <a:cubicBezTo>
                  <a:pt x="5" y="247"/>
                  <a:pt x="15" y="195"/>
                  <a:pt x="30" y="162"/>
                </a:cubicBezTo>
                <a:cubicBezTo>
                  <a:pt x="45" y="129"/>
                  <a:pt x="68" y="93"/>
                  <a:pt x="90" y="66"/>
                </a:cubicBezTo>
                <a:cubicBezTo>
                  <a:pt x="112" y="39"/>
                  <a:pt x="147" y="14"/>
                  <a:pt x="162" y="0"/>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2"/>
          <p:cNvSpPr>
            <a:spLocks/>
          </p:cNvSpPr>
          <p:nvPr/>
        </p:nvSpPr>
        <p:spPr bwMode="auto">
          <a:xfrm>
            <a:off x="7391783" y="3085371"/>
            <a:ext cx="239714" cy="452814"/>
          </a:xfrm>
          <a:custGeom>
            <a:avLst/>
            <a:gdLst>
              <a:gd name="T0" fmla="*/ 156 w 170"/>
              <a:gd name="T1" fmla="*/ 0 h 258"/>
              <a:gd name="T2" fmla="*/ 144 w 170"/>
              <a:gd name="T3" fmla="*/ 126 h 258"/>
              <a:gd name="T4" fmla="*/ 0 w 170"/>
              <a:gd name="T5" fmla="*/ 258 h 258"/>
              <a:gd name="T6" fmla="*/ 0 60000 65536"/>
              <a:gd name="T7" fmla="*/ 0 60000 65536"/>
              <a:gd name="T8" fmla="*/ 0 60000 65536"/>
              <a:gd name="T9" fmla="*/ 0 w 170"/>
              <a:gd name="T10" fmla="*/ 0 h 258"/>
              <a:gd name="T11" fmla="*/ 170 w 170"/>
              <a:gd name="T12" fmla="*/ 258 h 258"/>
            </a:gdLst>
            <a:ahLst/>
            <a:cxnLst>
              <a:cxn ang="T6">
                <a:pos x="T0" y="T1"/>
              </a:cxn>
              <a:cxn ang="T7">
                <a:pos x="T2" y="T3"/>
              </a:cxn>
              <a:cxn ang="T8">
                <a:pos x="T4" y="T5"/>
              </a:cxn>
            </a:cxnLst>
            <a:rect l="T9" t="T10" r="T11" b="T12"/>
            <a:pathLst>
              <a:path w="170" h="258">
                <a:moveTo>
                  <a:pt x="156" y="0"/>
                </a:moveTo>
                <a:cubicBezTo>
                  <a:pt x="154" y="21"/>
                  <a:pt x="170" y="83"/>
                  <a:pt x="144" y="126"/>
                </a:cubicBezTo>
                <a:cubicBezTo>
                  <a:pt x="118" y="169"/>
                  <a:pt x="30" y="231"/>
                  <a:pt x="0" y="258"/>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 name="TextBox 35"/>
          <p:cNvSpPr txBox="1"/>
          <p:nvPr/>
        </p:nvSpPr>
        <p:spPr>
          <a:xfrm>
            <a:off x="256897" y="796458"/>
            <a:ext cx="840295" cy="400110"/>
          </a:xfrm>
          <a:prstGeom prst="rect">
            <a:avLst/>
          </a:prstGeom>
          <a:noFill/>
          <a:ln w="28575">
            <a:solidFill>
              <a:schemeClr val="tx1"/>
            </a:solidFill>
          </a:ln>
        </p:spPr>
        <p:txBody>
          <a:bodyPr wrap="none" rtlCol="0">
            <a:spAutoFit/>
          </a:bodyPr>
          <a:lstStyle/>
          <a:p>
            <a:r>
              <a:rPr lang="en-IN" sz="2000" b="1" dirty="0"/>
              <a:t>Step 7</a:t>
            </a:r>
            <a:endParaRPr lang="en-US" sz="2000" b="1" dirty="0"/>
          </a:p>
        </p:txBody>
      </p:sp>
      <p:sp>
        <p:nvSpPr>
          <p:cNvPr id="37" name="TextBox 36"/>
          <p:cNvSpPr txBox="1"/>
          <p:nvPr/>
        </p:nvSpPr>
        <p:spPr>
          <a:xfrm>
            <a:off x="6251083" y="796458"/>
            <a:ext cx="840295" cy="400110"/>
          </a:xfrm>
          <a:prstGeom prst="rect">
            <a:avLst/>
          </a:prstGeom>
          <a:noFill/>
          <a:ln w="28575">
            <a:solidFill>
              <a:schemeClr val="tx1"/>
            </a:solidFill>
          </a:ln>
        </p:spPr>
        <p:txBody>
          <a:bodyPr wrap="none" rtlCol="0">
            <a:spAutoFit/>
          </a:bodyPr>
          <a:lstStyle/>
          <a:p>
            <a:r>
              <a:rPr lang="en-IN" sz="2000" b="1" dirty="0"/>
              <a:t>Step 8</a:t>
            </a:r>
            <a:endParaRPr lang="en-US" sz="2000" b="1" dirty="0"/>
          </a:p>
        </p:txBody>
      </p:sp>
    </p:spTree>
    <p:extLst>
      <p:ext uri="{BB962C8B-B14F-4D97-AF65-F5344CB8AC3E}">
        <p14:creationId xmlns:p14="http://schemas.microsoft.com/office/powerpoint/2010/main" val="2140487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par>
                                <p:cTn id="34" presetID="22" presetClass="entr" presetSubtype="1" fill="hold" nodeType="with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up)">
                                      <p:cBhvr>
                                        <p:cTn id="36" dur="500"/>
                                        <p:tgtEl>
                                          <p:spTgt spid="4"/>
                                        </p:tgtEl>
                                      </p:cBhvr>
                                    </p:animEffect>
                                  </p:childTnLst>
                                </p:cTn>
                              </p:par>
                            </p:childTnLst>
                          </p:cTn>
                        </p:par>
                        <p:par>
                          <p:cTn id="37" fill="hold">
                            <p:stCondLst>
                              <p:cond delay="500"/>
                            </p:stCondLst>
                            <p:childTnLst>
                              <p:par>
                                <p:cTn id="38" presetID="10" presetClass="entr" presetSubtype="0" fill="hold" grpId="0" nodeType="after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500"/>
                                        <p:tgtEl>
                                          <p:spTgt spid="3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fade">
                                      <p:cBhvr>
                                        <p:cTn id="45" dur="500"/>
                                        <p:tgtEl>
                                          <p:spTgt spid="39"/>
                                        </p:tgtEl>
                                      </p:cBhvr>
                                    </p:animEffect>
                                  </p:childTnLst>
                                </p:cTn>
                              </p:par>
                            </p:childTnLst>
                          </p:cTn>
                        </p:par>
                        <p:par>
                          <p:cTn id="46" fill="hold">
                            <p:stCondLst>
                              <p:cond delay="500"/>
                            </p:stCondLst>
                            <p:childTnLst>
                              <p:par>
                                <p:cTn id="47" presetID="10" presetClass="entr" presetSubtype="0" fill="hold" grpId="0" nodeType="after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500"/>
                                        <p:tgtEl>
                                          <p:spTgt spid="4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500"/>
                                        <p:tgtEl>
                                          <p:spTgt spid="41"/>
                                        </p:tgtEl>
                                      </p:cBhvr>
                                    </p:animEffect>
                                  </p:childTnLst>
                                </p:cTn>
                              </p:par>
                            </p:childTnLst>
                          </p:cTn>
                        </p:par>
                        <p:par>
                          <p:cTn id="55" fill="hold">
                            <p:stCondLst>
                              <p:cond delay="500"/>
                            </p:stCondLst>
                            <p:childTnLst>
                              <p:par>
                                <p:cTn id="56" presetID="10" presetClass="entr" presetSubtype="0" fill="hold" grpId="0" nodeType="after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500"/>
                                        <p:tgtEl>
                                          <p:spTgt spid="42"/>
                                        </p:tgtEl>
                                      </p:cBhvr>
                                    </p:animEffect>
                                  </p:childTnLst>
                                </p:cTn>
                              </p:par>
                            </p:childTnLst>
                          </p:cTn>
                        </p:par>
                      </p:childTnLst>
                    </p:cTn>
                  </p:par>
                  <p:par>
                    <p:cTn id="59" fill="hold">
                      <p:stCondLst>
                        <p:cond delay="indefinite"/>
                      </p:stCondLst>
                      <p:childTnLst>
                        <p:par>
                          <p:cTn id="60" fill="hold">
                            <p:stCondLst>
                              <p:cond delay="0"/>
                            </p:stCondLst>
                            <p:childTnLst>
                              <p:par>
                                <p:cTn id="61" presetID="14" presetClass="exit" presetSubtype="10" fill="hold" nodeType="clickEffect">
                                  <p:stCondLst>
                                    <p:cond delay="0"/>
                                  </p:stCondLst>
                                  <p:childTnLst>
                                    <p:animEffect transition="out" filter="randombar(horizontal)">
                                      <p:cBhvr>
                                        <p:cTn id="62" dur="500"/>
                                        <p:tgtEl>
                                          <p:spTgt spid="11"/>
                                        </p:tgtEl>
                                      </p:cBhvr>
                                    </p:animEffect>
                                    <p:set>
                                      <p:cBhvr>
                                        <p:cTn id="63" dur="1" fill="hold">
                                          <p:stCondLst>
                                            <p:cond delay="499"/>
                                          </p:stCondLst>
                                        </p:cTn>
                                        <p:tgtEl>
                                          <p:spTgt spid="11"/>
                                        </p:tgtEl>
                                        <p:attrNameLst>
                                          <p:attrName>style.visibility</p:attrName>
                                        </p:attrNameLst>
                                      </p:cBhvr>
                                      <p:to>
                                        <p:strVal val="hidden"/>
                                      </p:to>
                                    </p:set>
                                  </p:childTnLst>
                                </p:cTn>
                              </p:par>
                              <p:par>
                                <p:cTn id="64" presetID="14" presetClass="exit" presetSubtype="10" fill="hold" grpId="1" nodeType="withEffect">
                                  <p:stCondLst>
                                    <p:cond delay="0"/>
                                  </p:stCondLst>
                                  <p:childTnLst>
                                    <p:animEffect transition="out" filter="randombar(horizontal)">
                                      <p:cBhvr>
                                        <p:cTn id="65" dur="500"/>
                                        <p:tgtEl>
                                          <p:spTgt spid="12"/>
                                        </p:tgtEl>
                                      </p:cBhvr>
                                    </p:animEffect>
                                    <p:set>
                                      <p:cBhvr>
                                        <p:cTn id="66" dur="1" fill="hold">
                                          <p:stCondLst>
                                            <p:cond delay="499"/>
                                          </p:stCondLst>
                                        </p:cTn>
                                        <p:tgtEl>
                                          <p:spTgt spid="12"/>
                                        </p:tgtEl>
                                        <p:attrNameLst>
                                          <p:attrName>style.visibility</p:attrName>
                                        </p:attrNameLst>
                                      </p:cBhvr>
                                      <p:to>
                                        <p:strVal val="hidden"/>
                                      </p:to>
                                    </p:set>
                                  </p:childTnLst>
                                </p:cTn>
                              </p:par>
                              <p:par>
                                <p:cTn id="67" presetID="14" presetClass="exit" presetSubtype="10" fill="hold" grpId="1" nodeType="withEffect">
                                  <p:stCondLst>
                                    <p:cond delay="0"/>
                                  </p:stCondLst>
                                  <p:childTnLst>
                                    <p:animEffect transition="out" filter="randombar(horizontal)">
                                      <p:cBhvr>
                                        <p:cTn id="68" dur="500"/>
                                        <p:tgtEl>
                                          <p:spTgt spid="39"/>
                                        </p:tgtEl>
                                      </p:cBhvr>
                                    </p:animEffect>
                                    <p:set>
                                      <p:cBhvr>
                                        <p:cTn id="69" dur="1" fill="hold">
                                          <p:stCondLst>
                                            <p:cond delay="499"/>
                                          </p:stCondLst>
                                        </p:cTn>
                                        <p:tgtEl>
                                          <p:spTgt spid="39"/>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wipe(up)">
                                      <p:cBhvr>
                                        <p:cTn id="74" dur="500"/>
                                        <p:tgtEl>
                                          <p:spTgt spid="17"/>
                                        </p:tgtEl>
                                      </p:cBhvr>
                                    </p:animEffect>
                                  </p:childTnLst>
                                </p:cTn>
                              </p:par>
                            </p:childTnLst>
                          </p:cTn>
                        </p:par>
                        <p:par>
                          <p:cTn id="75" fill="hold">
                            <p:stCondLst>
                              <p:cond delay="500"/>
                            </p:stCondLst>
                            <p:childTnLst>
                              <p:par>
                                <p:cTn id="76" presetID="10" presetClass="entr" presetSubtype="0" fill="hold" grpId="0" nodeType="after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500"/>
                                        <p:tgtEl>
                                          <p:spTgt spid="37"/>
                                        </p:tgtEl>
                                      </p:cBhvr>
                                    </p:animEffect>
                                  </p:childTnLst>
                                </p:cTn>
                              </p:par>
                            </p:childTnLst>
                          </p:cTn>
                        </p:par>
                        <p:par>
                          <p:cTn id="79" fill="hold">
                            <p:stCondLst>
                              <p:cond delay="1000"/>
                            </p:stCondLst>
                            <p:childTnLst>
                              <p:par>
                                <p:cTn id="80" presetID="10" presetClass="entr" presetSubtype="0" fill="hold" nodeType="after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500"/>
                                        <p:tgtEl>
                                          <p:spTgt spid="19"/>
                                        </p:tgtEl>
                                      </p:cBhvr>
                                    </p:animEffect>
                                  </p:childTnLst>
                                </p:cTn>
                              </p:par>
                              <p:par>
                                <p:cTn id="88" presetID="10" presetClass="entr" presetSubtype="0" fill="hold" nodeType="with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500"/>
                                        <p:tgtEl>
                                          <p:spTgt spid="2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500"/>
                                        <p:tgtEl>
                                          <p:spTgt spid="21"/>
                                        </p:tgtEl>
                                      </p:cBhvr>
                                    </p:animEffect>
                                  </p:childTnLst>
                                </p:cTn>
                              </p:par>
                              <p:par>
                                <p:cTn id="94" presetID="10" presetClass="entr" presetSubtype="0" fill="hold" nodeType="with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fade">
                                      <p:cBhvr>
                                        <p:cTn id="96" dur="500"/>
                                        <p:tgtEl>
                                          <p:spTgt spid="2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3"/>
                                        </p:tgtEl>
                                        <p:attrNameLst>
                                          <p:attrName>style.visibility</p:attrName>
                                        </p:attrNameLst>
                                      </p:cBhvr>
                                      <p:to>
                                        <p:strVal val="visible"/>
                                      </p:to>
                                    </p:set>
                                    <p:animEffect transition="in" filter="fade">
                                      <p:cBhvr>
                                        <p:cTn id="99" dur="500"/>
                                        <p:tgtEl>
                                          <p:spTgt spid="23"/>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fade">
                                      <p:cBhvr>
                                        <p:cTn id="104" dur="500"/>
                                        <p:tgtEl>
                                          <p:spTgt spid="35"/>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4" fill="hold" grpId="0" nodeType="clickEffect">
                                  <p:stCondLst>
                                    <p:cond delay="0"/>
                                  </p:stCondLst>
                                  <p:childTnLst>
                                    <p:set>
                                      <p:cBhvr>
                                        <p:cTn id="108" dur="1" fill="hold">
                                          <p:stCondLst>
                                            <p:cond delay="0"/>
                                          </p:stCondLst>
                                        </p:cTn>
                                        <p:tgtEl>
                                          <p:spTgt spid="47"/>
                                        </p:tgtEl>
                                        <p:attrNameLst>
                                          <p:attrName>style.visibility</p:attrName>
                                        </p:attrNameLst>
                                      </p:cBhvr>
                                      <p:to>
                                        <p:strVal val="visible"/>
                                      </p:to>
                                    </p:set>
                                    <p:animEffect transition="in" filter="wipe(down)">
                                      <p:cBhvr>
                                        <p:cTn id="109" dur="500"/>
                                        <p:tgtEl>
                                          <p:spTgt spid="47"/>
                                        </p:tgtEl>
                                      </p:cBhvr>
                                    </p:animEffect>
                                  </p:childTnLst>
                                </p:cTn>
                              </p:par>
                              <p:par>
                                <p:cTn id="110" presetID="22" presetClass="entr" presetSubtype="1" fill="hold" grpId="0" nodeType="withEffect">
                                  <p:stCondLst>
                                    <p:cond delay="0"/>
                                  </p:stCondLst>
                                  <p:childTnLst>
                                    <p:set>
                                      <p:cBhvr>
                                        <p:cTn id="111" dur="1" fill="hold">
                                          <p:stCondLst>
                                            <p:cond delay="0"/>
                                          </p:stCondLst>
                                        </p:cTn>
                                        <p:tgtEl>
                                          <p:spTgt spid="48"/>
                                        </p:tgtEl>
                                        <p:attrNameLst>
                                          <p:attrName>style.visibility</p:attrName>
                                        </p:attrNameLst>
                                      </p:cBhvr>
                                      <p:to>
                                        <p:strVal val="visible"/>
                                      </p:to>
                                    </p:set>
                                    <p:animEffect transition="in" filter="wipe(up)">
                                      <p:cBhvr>
                                        <p:cTn id="112" dur="500"/>
                                        <p:tgtEl>
                                          <p:spTgt spid="4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20" dur="500"/>
                                        <p:tgtEl>
                                          <p:spTgt spid="45"/>
                                        </p:tgtEl>
                                      </p:cBhvr>
                                    </p:animEffect>
                                  </p:childTnLst>
                                </p:cTn>
                              </p:par>
                            </p:childTnLst>
                          </p:cTn>
                        </p:par>
                        <p:par>
                          <p:cTn id="121" fill="hold">
                            <p:stCondLst>
                              <p:cond delay="500"/>
                            </p:stCondLst>
                            <p:childTnLst>
                              <p:par>
                                <p:cTn id="122" presetID="10" presetClass="entr" presetSubtype="0" fill="hold" grpId="0" nodeType="afterEffect">
                                  <p:stCondLst>
                                    <p:cond delay="0"/>
                                  </p:stCondLst>
                                  <p:childTnLst>
                                    <p:set>
                                      <p:cBhvr>
                                        <p:cTn id="123" dur="1" fill="hold">
                                          <p:stCondLst>
                                            <p:cond delay="0"/>
                                          </p:stCondLst>
                                        </p:cTn>
                                        <p:tgtEl>
                                          <p:spTgt spid="46"/>
                                        </p:tgtEl>
                                        <p:attrNameLst>
                                          <p:attrName>style.visibility</p:attrName>
                                        </p:attrNameLst>
                                      </p:cBhvr>
                                      <p:to>
                                        <p:strVal val="visible"/>
                                      </p:to>
                                    </p:set>
                                    <p:animEffect transition="in" filter="fade">
                                      <p:cBhvr>
                                        <p:cTn id="124" dur="500"/>
                                        <p:tgtEl>
                                          <p:spTgt spid="46"/>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43"/>
                                        </p:tgtEl>
                                        <p:attrNameLst>
                                          <p:attrName>style.visibility</p:attrName>
                                        </p:attrNameLst>
                                      </p:cBhvr>
                                      <p:to>
                                        <p:strVal val="visible"/>
                                      </p:to>
                                    </p:set>
                                    <p:animEffect transition="in" filter="fade">
                                      <p:cBhvr>
                                        <p:cTn id="129" dur="500"/>
                                        <p:tgtEl>
                                          <p:spTgt spid="43"/>
                                        </p:tgtEl>
                                      </p:cBhvr>
                                    </p:animEffect>
                                  </p:childTnLst>
                                </p:cTn>
                              </p:par>
                            </p:childTnLst>
                          </p:cTn>
                        </p:par>
                        <p:par>
                          <p:cTn id="130" fill="hold">
                            <p:stCondLst>
                              <p:cond delay="500"/>
                            </p:stCondLst>
                            <p:childTnLst>
                              <p:par>
                                <p:cTn id="131" presetID="10" presetClass="entr" presetSubtype="0" fill="hold" grpId="0" nodeType="after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fade">
                                      <p:cBhvr>
                                        <p:cTn id="13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2" grpId="1" animBg="1"/>
      <p:bldP spid="19" grpId="0" animBg="1"/>
      <p:bldP spid="21" grpId="0" animBg="1"/>
      <p:bldP spid="23" grpId="0" animBg="1"/>
      <p:bldP spid="33" grpId="0"/>
      <p:bldP spid="34" grpId="0" animBg="1"/>
      <p:bldP spid="35" grpId="0" animBg="1"/>
      <p:bldP spid="38" grpId="0" animBg="1"/>
      <p:bldP spid="39" grpId="0" animBg="1"/>
      <p:bldP spid="39" grpId="1" animBg="1"/>
      <p:bldP spid="40" grpId="0" animBg="1"/>
      <p:bldP spid="41" grpId="0" animBg="1"/>
      <p:bldP spid="42" grpId="0" animBg="1"/>
      <p:bldP spid="43" grpId="0" animBg="1"/>
      <p:bldP spid="44" grpId="0" animBg="1"/>
      <p:bldP spid="45" grpId="0" animBg="1"/>
      <p:bldP spid="46" grpId="0" animBg="1"/>
      <p:bldP spid="47" grpId="0" animBg="1"/>
      <p:bldP spid="48" grpId="0" animBg="1"/>
      <p:bldP spid="3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Example 2</a:t>
            </a:r>
          </a:p>
        </p:txBody>
      </p:sp>
      <p:sp>
        <p:nvSpPr>
          <p:cNvPr id="4" name="Oval 3"/>
          <p:cNvSpPr/>
          <p:nvPr/>
        </p:nvSpPr>
        <p:spPr>
          <a:xfrm>
            <a:off x="2638797" y="2398059"/>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14</a:t>
            </a:r>
          </a:p>
        </p:txBody>
      </p:sp>
      <p:cxnSp>
        <p:nvCxnSpPr>
          <p:cNvPr id="5" name="Straight Connector 4"/>
          <p:cNvCxnSpPr>
            <a:stCxn id="4" idx="3"/>
            <a:endCxn id="6" idx="0"/>
          </p:cNvCxnSpPr>
          <p:nvPr/>
        </p:nvCxnSpPr>
        <p:spPr>
          <a:xfrm flipH="1">
            <a:off x="2384408" y="2944401"/>
            <a:ext cx="348127" cy="41199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Oval 5"/>
          <p:cNvSpPr/>
          <p:nvPr/>
        </p:nvSpPr>
        <p:spPr>
          <a:xfrm>
            <a:off x="2064368" y="3356392"/>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cxnSp>
        <p:nvCxnSpPr>
          <p:cNvPr id="7" name="Straight Connector 6"/>
          <p:cNvCxnSpPr>
            <a:stCxn id="4" idx="5"/>
            <a:endCxn id="8" idx="1"/>
          </p:cNvCxnSpPr>
          <p:nvPr/>
        </p:nvCxnSpPr>
        <p:spPr>
          <a:xfrm>
            <a:off x="3185139" y="2944401"/>
            <a:ext cx="449653" cy="42692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3541054" y="3277586"/>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7</a:t>
            </a:r>
          </a:p>
        </p:txBody>
      </p:sp>
      <p:graphicFrame>
        <p:nvGraphicFramePr>
          <p:cNvPr id="9" name="Table 8"/>
          <p:cNvGraphicFramePr>
            <a:graphicFrameLocks noGrp="1"/>
          </p:cNvGraphicFramePr>
          <p:nvPr/>
        </p:nvGraphicFramePr>
        <p:xfrm>
          <a:off x="1657484" y="1386239"/>
          <a:ext cx="3840480" cy="5486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1751283045"/>
                    </a:ext>
                  </a:extLst>
                </a:gridCol>
              </a:tblGrid>
              <a:tr h="548640">
                <a:tc>
                  <a:txBody>
                    <a:bodyPr/>
                    <a:lstStyle/>
                    <a:p>
                      <a:pPr algn="ctr"/>
                      <a:r>
                        <a:rPr lang="en-US" sz="2400" dirty="0"/>
                        <a:t>14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b="1" dirty="0">
                          <a:solidFill>
                            <a:schemeClr val="bg1">
                              <a:lumMod val="95000"/>
                            </a:schemeClr>
                          </a:solidFill>
                        </a:rPr>
                        <a:t>16</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lumMod val="95000"/>
                            </a:schemeClr>
                          </a:solidFill>
                        </a:rPr>
                        <a:t>17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lumMod val="95000"/>
                            </a:schemeClr>
                          </a:solidFill>
                        </a:rPr>
                        <a:t>19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bl>
          </a:graphicData>
        </a:graphic>
      </p:graphicFrame>
      <p:cxnSp>
        <p:nvCxnSpPr>
          <p:cNvPr id="10" name="Straight Connector 9"/>
          <p:cNvCxnSpPr/>
          <p:nvPr/>
        </p:nvCxnSpPr>
        <p:spPr>
          <a:xfrm>
            <a:off x="6096000" y="1053692"/>
            <a:ext cx="0" cy="520781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7358699" y="2426143"/>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7</a:t>
            </a:r>
          </a:p>
        </p:txBody>
      </p:sp>
      <p:cxnSp>
        <p:nvCxnSpPr>
          <p:cNvPr id="12" name="Straight Connector 11"/>
          <p:cNvCxnSpPr>
            <a:stCxn id="11" idx="3"/>
            <a:endCxn id="13" idx="0"/>
          </p:cNvCxnSpPr>
          <p:nvPr/>
        </p:nvCxnSpPr>
        <p:spPr>
          <a:xfrm flipH="1">
            <a:off x="7104310" y="2972485"/>
            <a:ext cx="348127" cy="41199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6784270" y="3384476"/>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graphicFrame>
        <p:nvGraphicFramePr>
          <p:cNvPr id="14" name="Table 13"/>
          <p:cNvGraphicFramePr>
            <a:graphicFrameLocks noGrp="1"/>
          </p:cNvGraphicFramePr>
          <p:nvPr/>
        </p:nvGraphicFramePr>
        <p:xfrm>
          <a:off x="7197653" y="1386239"/>
          <a:ext cx="3840480" cy="5486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1751283045"/>
                    </a:ext>
                  </a:extLst>
                </a:gridCol>
              </a:tblGrid>
              <a:tr h="548640">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b="1" dirty="0">
                          <a:solidFill>
                            <a:schemeClr val="bg1">
                              <a:lumMod val="95000"/>
                            </a:schemeClr>
                          </a:solidFill>
                        </a:rPr>
                        <a:t>14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lumMod val="95000"/>
                            </a:schemeClr>
                          </a:solidFill>
                        </a:rPr>
                        <a:t>16</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lumMod val="95000"/>
                            </a:schemeClr>
                          </a:solidFill>
                        </a:rPr>
                        <a:t>17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solidFill>
                        </a:rPr>
                        <a:t>19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bl>
          </a:graphicData>
        </a:graphic>
      </p:graphicFrame>
      <p:grpSp>
        <p:nvGrpSpPr>
          <p:cNvPr id="15" name="Group 14"/>
          <p:cNvGrpSpPr/>
          <p:nvPr/>
        </p:nvGrpSpPr>
        <p:grpSpPr>
          <a:xfrm>
            <a:off x="3630328" y="2600912"/>
            <a:ext cx="1826602" cy="1097281"/>
            <a:chOff x="3630328" y="2600912"/>
            <a:chExt cx="1826602" cy="1097281"/>
          </a:xfrm>
        </p:grpSpPr>
        <p:cxnSp>
          <p:nvCxnSpPr>
            <p:cNvPr id="16" name="Straight Arrow Connector 15"/>
            <p:cNvCxnSpPr/>
            <p:nvPr/>
          </p:nvCxnSpPr>
          <p:spPr>
            <a:xfrm flipH="1">
              <a:off x="3630328" y="2600912"/>
              <a:ext cx="1815726" cy="1"/>
            </a:xfrm>
            <a:prstGeom prst="straightConnector1">
              <a:avLst/>
            </a:prstGeom>
            <a:ln w="28575">
              <a:solidFill>
                <a:srgbClr val="ED524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5446054" y="2600913"/>
              <a:ext cx="0" cy="1097280"/>
            </a:xfrm>
            <a:prstGeom prst="line">
              <a:avLst/>
            </a:prstGeom>
            <a:ln w="28575">
              <a:solidFill>
                <a:srgbClr val="ED524F"/>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4268210" y="3693459"/>
              <a:ext cx="1188720" cy="0"/>
            </a:xfrm>
            <a:prstGeom prst="straightConnector1">
              <a:avLst/>
            </a:prstGeom>
            <a:ln w="28575">
              <a:solidFill>
                <a:srgbClr val="ED524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19" name="TextBox 18"/>
          <p:cNvSpPr txBox="1"/>
          <p:nvPr/>
        </p:nvSpPr>
        <p:spPr>
          <a:xfrm>
            <a:off x="4075612" y="2642164"/>
            <a:ext cx="1387942" cy="923330"/>
          </a:xfrm>
          <a:prstGeom prst="rect">
            <a:avLst/>
          </a:prstGeom>
          <a:noFill/>
        </p:spPr>
        <p:txBody>
          <a:bodyPr wrap="square" rtlCol="0">
            <a:spAutoFit/>
          </a:bodyPr>
          <a:lstStyle/>
          <a:p>
            <a:pPr algn="just"/>
            <a:r>
              <a:rPr lang="en-US" b="1" dirty="0">
                <a:solidFill>
                  <a:srgbClr val="0070C0"/>
                </a:solidFill>
              </a:rPr>
              <a:t>Swap &amp; remove the last element</a:t>
            </a:r>
          </a:p>
        </p:txBody>
      </p:sp>
      <p:sp>
        <p:nvSpPr>
          <p:cNvPr id="20" name="Freeform 19"/>
          <p:cNvSpPr/>
          <p:nvPr/>
        </p:nvSpPr>
        <p:spPr>
          <a:xfrm rot="10800000">
            <a:off x="1976717" y="1149531"/>
            <a:ext cx="1210620" cy="235131"/>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1" name="TextBox 20"/>
          <p:cNvSpPr txBox="1"/>
          <p:nvPr/>
        </p:nvSpPr>
        <p:spPr>
          <a:xfrm>
            <a:off x="9222372" y="2417747"/>
            <a:ext cx="2617309" cy="461665"/>
          </a:xfrm>
          <a:prstGeom prst="rect">
            <a:avLst/>
          </a:prstGeom>
          <a:solidFill>
            <a:schemeClr val="bg1">
              <a:lumMod val="85000"/>
            </a:schemeClr>
          </a:solidFill>
        </p:spPr>
        <p:txBody>
          <a:bodyPr wrap="square" rtlCol="0">
            <a:spAutoFit/>
          </a:bodyPr>
          <a:lstStyle/>
          <a:p>
            <a:pPr algn="ctr"/>
            <a:r>
              <a:rPr lang="en-US" sz="2400" b="1" dirty="0"/>
              <a:t>Already a Max-heap</a:t>
            </a:r>
          </a:p>
        </p:txBody>
      </p:sp>
      <p:sp>
        <p:nvSpPr>
          <p:cNvPr id="22" name="Freeform 21"/>
          <p:cNvSpPr/>
          <p:nvPr/>
        </p:nvSpPr>
        <p:spPr>
          <a:xfrm rot="10800000">
            <a:off x="7408978" y="1117927"/>
            <a:ext cx="755308" cy="214483"/>
          </a:xfrm>
          <a:custGeom>
            <a:avLst/>
            <a:gdLst>
              <a:gd name="connsiteX0" fmla="*/ 0 w 1636294"/>
              <a:gd name="connsiteY0" fmla="*/ 0 h 228600"/>
              <a:gd name="connsiteX1" fmla="*/ 0 w 1636294"/>
              <a:gd name="connsiteY1" fmla="*/ 228600 h 228600"/>
              <a:gd name="connsiteX2" fmla="*/ 1636294 w 1636294"/>
              <a:gd name="connsiteY2" fmla="*/ 228600 h 228600"/>
              <a:gd name="connsiteX3" fmla="*/ 1636294 w 1636294"/>
              <a:gd name="connsiteY3" fmla="*/ 36094 h 228600"/>
            </a:gdLst>
            <a:ahLst/>
            <a:cxnLst>
              <a:cxn ang="0">
                <a:pos x="connsiteX0" y="connsiteY0"/>
              </a:cxn>
              <a:cxn ang="0">
                <a:pos x="connsiteX1" y="connsiteY1"/>
              </a:cxn>
              <a:cxn ang="0">
                <a:pos x="connsiteX2" y="connsiteY2"/>
              </a:cxn>
              <a:cxn ang="0">
                <a:pos x="connsiteX3" y="connsiteY3"/>
              </a:cxn>
            </a:cxnLst>
            <a:rect l="l" t="t" r="r" b="b"/>
            <a:pathLst>
              <a:path w="1636294" h="228600">
                <a:moveTo>
                  <a:pt x="0" y="0"/>
                </a:moveTo>
                <a:lnTo>
                  <a:pt x="0" y="228600"/>
                </a:lnTo>
                <a:lnTo>
                  <a:pt x="1636294" y="228600"/>
                </a:lnTo>
                <a:lnTo>
                  <a:pt x="1636294" y="36094"/>
                </a:lnTo>
              </a:path>
            </a:pathLst>
          </a:custGeom>
          <a:ln>
            <a:headEnd type="arrow"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3" name="TextBox 22"/>
          <p:cNvSpPr txBox="1"/>
          <p:nvPr/>
        </p:nvSpPr>
        <p:spPr>
          <a:xfrm>
            <a:off x="3632494" y="3397571"/>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14</a:t>
            </a:r>
          </a:p>
        </p:txBody>
      </p:sp>
      <p:sp>
        <p:nvSpPr>
          <p:cNvPr id="24" name="TextBox 23"/>
          <p:cNvSpPr txBox="1"/>
          <p:nvPr/>
        </p:nvSpPr>
        <p:spPr>
          <a:xfrm>
            <a:off x="2730237" y="2518044"/>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7</a:t>
            </a:r>
          </a:p>
        </p:txBody>
      </p:sp>
      <p:sp>
        <p:nvSpPr>
          <p:cNvPr id="25" name="TextBox 24"/>
          <p:cNvSpPr txBox="1"/>
          <p:nvPr/>
        </p:nvSpPr>
        <p:spPr>
          <a:xfrm>
            <a:off x="2952207" y="1430255"/>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14</a:t>
            </a:r>
          </a:p>
        </p:txBody>
      </p:sp>
      <p:sp>
        <p:nvSpPr>
          <p:cNvPr id="26" name="TextBox 25"/>
          <p:cNvSpPr txBox="1"/>
          <p:nvPr/>
        </p:nvSpPr>
        <p:spPr>
          <a:xfrm>
            <a:off x="1719947" y="1443315"/>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7</a:t>
            </a:r>
          </a:p>
        </p:txBody>
      </p:sp>
      <p:sp>
        <p:nvSpPr>
          <p:cNvPr id="27" name="TextBox 26"/>
          <p:cNvSpPr txBox="1"/>
          <p:nvPr/>
        </p:nvSpPr>
        <p:spPr>
          <a:xfrm>
            <a:off x="7884464" y="1430254"/>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7</a:t>
            </a:r>
          </a:p>
        </p:txBody>
      </p:sp>
      <p:sp>
        <p:nvSpPr>
          <p:cNvPr id="28" name="TextBox 27"/>
          <p:cNvSpPr txBox="1"/>
          <p:nvPr/>
        </p:nvSpPr>
        <p:spPr>
          <a:xfrm>
            <a:off x="7234008" y="1442931"/>
            <a:ext cx="548640" cy="457200"/>
          </a:xfrm>
          <a:prstGeom prst="rect">
            <a:avLst/>
          </a:prstGeom>
          <a:solidFill>
            <a:schemeClr val="bg1"/>
          </a:solidFill>
          <a:ln>
            <a:noFill/>
          </a:ln>
        </p:spPr>
        <p:txBody>
          <a:bodyPr wrap="square" rtlCol="0">
            <a:spAutoFit/>
          </a:bodyPr>
          <a:lstStyle/>
          <a:p>
            <a:pPr algn="ctr"/>
            <a:r>
              <a:rPr lang="en-US" sz="2400" dirty="0">
                <a:solidFill>
                  <a:srgbClr val="A71160"/>
                </a:solidFill>
              </a:rPr>
              <a:t>1</a:t>
            </a:r>
          </a:p>
        </p:txBody>
      </p:sp>
      <p:sp>
        <p:nvSpPr>
          <p:cNvPr id="29" name="TextBox 28"/>
          <p:cNvSpPr txBox="1"/>
          <p:nvPr/>
        </p:nvSpPr>
        <p:spPr>
          <a:xfrm>
            <a:off x="6875710" y="3504461"/>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7</a:t>
            </a:r>
          </a:p>
        </p:txBody>
      </p:sp>
      <p:sp>
        <p:nvSpPr>
          <p:cNvPr id="30" name="TextBox 29"/>
          <p:cNvSpPr txBox="1"/>
          <p:nvPr/>
        </p:nvSpPr>
        <p:spPr>
          <a:xfrm>
            <a:off x="7463201" y="2546128"/>
            <a:ext cx="457200" cy="400110"/>
          </a:xfrm>
          <a:prstGeom prst="rect">
            <a:avLst/>
          </a:prstGeom>
          <a:solidFill>
            <a:srgbClr val="002060"/>
          </a:solidFill>
        </p:spPr>
        <p:txBody>
          <a:bodyPr wrap="square" rtlCol="0" anchor="ctr">
            <a:spAutoFit/>
          </a:bodyPr>
          <a:lstStyle/>
          <a:p>
            <a:pPr algn="ctr"/>
            <a:r>
              <a:rPr lang="en-US" sz="2000" b="1" dirty="0">
                <a:solidFill>
                  <a:schemeClr val="accent5"/>
                </a:solidFill>
              </a:rPr>
              <a:t>1</a:t>
            </a:r>
          </a:p>
        </p:txBody>
      </p:sp>
      <p:sp>
        <p:nvSpPr>
          <p:cNvPr id="31" name="Freeform 11"/>
          <p:cNvSpPr>
            <a:spLocks/>
          </p:cNvSpPr>
          <p:nvPr/>
        </p:nvSpPr>
        <p:spPr bwMode="auto">
          <a:xfrm>
            <a:off x="6931865" y="2818200"/>
            <a:ext cx="376788" cy="534342"/>
          </a:xfrm>
          <a:custGeom>
            <a:avLst/>
            <a:gdLst>
              <a:gd name="T0" fmla="*/ 0 w 162"/>
              <a:gd name="T1" fmla="*/ 264 h 264"/>
              <a:gd name="T2" fmla="*/ 30 w 162"/>
              <a:gd name="T3" fmla="*/ 162 h 264"/>
              <a:gd name="T4" fmla="*/ 90 w 162"/>
              <a:gd name="T5" fmla="*/ 66 h 264"/>
              <a:gd name="T6" fmla="*/ 162 w 162"/>
              <a:gd name="T7" fmla="*/ 0 h 264"/>
              <a:gd name="T8" fmla="*/ 0 60000 65536"/>
              <a:gd name="T9" fmla="*/ 0 60000 65536"/>
              <a:gd name="T10" fmla="*/ 0 60000 65536"/>
              <a:gd name="T11" fmla="*/ 0 60000 65536"/>
              <a:gd name="T12" fmla="*/ 0 w 162"/>
              <a:gd name="T13" fmla="*/ 0 h 264"/>
              <a:gd name="T14" fmla="*/ 162 w 162"/>
              <a:gd name="T15" fmla="*/ 264 h 264"/>
            </a:gdLst>
            <a:ahLst/>
            <a:cxnLst>
              <a:cxn ang="T8">
                <a:pos x="T0" y="T1"/>
              </a:cxn>
              <a:cxn ang="T9">
                <a:pos x="T2" y="T3"/>
              </a:cxn>
              <a:cxn ang="T10">
                <a:pos x="T4" y="T5"/>
              </a:cxn>
              <a:cxn ang="T11">
                <a:pos x="T6" y="T7"/>
              </a:cxn>
            </a:cxnLst>
            <a:rect l="T12" t="T13" r="T14" b="T15"/>
            <a:pathLst>
              <a:path w="162" h="264">
                <a:moveTo>
                  <a:pt x="0" y="264"/>
                </a:moveTo>
                <a:cubicBezTo>
                  <a:pt x="5" y="247"/>
                  <a:pt x="15" y="195"/>
                  <a:pt x="30" y="162"/>
                </a:cubicBezTo>
                <a:cubicBezTo>
                  <a:pt x="45" y="129"/>
                  <a:pt x="68" y="93"/>
                  <a:pt x="90" y="66"/>
                </a:cubicBezTo>
                <a:cubicBezTo>
                  <a:pt x="112" y="39"/>
                  <a:pt x="147" y="14"/>
                  <a:pt x="162" y="0"/>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12"/>
          <p:cNvSpPr>
            <a:spLocks/>
          </p:cNvSpPr>
          <p:nvPr/>
        </p:nvSpPr>
        <p:spPr bwMode="auto">
          <a:xfrm>
            <a:off x="7391783" y="3085371"/>
            <a:ext cx="239714" cy="452814"/>
          </a:xfrm>
          <a:custGeom>
            <a:avLst/>
            <a:gdLst>
              <a:gd name="T0" fmla="*/ 156 w 170"/>
              <a:gd name="T1" fmla="*/ 0 h 258"/>
              <a:gd name="T2" fmla="*/ 144 w 170"/>
              <a:gd name="T3" fmla="*/ 126 h 258"/>
              <a:gd name="T4" fmla="*/ 0 w 170"/>
              <a:gd name="T5" fmla="*/ 258 h 258"/>
              <a:gd name="T6" fmla="*/ 0 60000 65536"/>
              <a:gd name="T7" fmla="*/ 0 60000 65536"/>
              <a:gd name="T8" fmla="*/ 0 60000 65536"/>
              <a:gd name="T9" fmla="*/ 0 w 170"/>
              <a:gd name="T10" fmla="*/ 0 h 258"/>
              <a:gd name="T11" fmla="*/ 170 w 170"/>
              <a:gd name="T12" fmla="*/ 258 h 258"/>
            </a:gdLst>
            <a:ahLst/>
            <a:cxnLst>
              <a:cxn ang="T6">
                <a:pos x="T0" y="T1"/>
              </a:cxn>
              <a:cxn ang="T7">
                <a:pos x="T2" y="T3"/>
              </a:cxn>
              <a:cxn ang="T8">
                <a:pos x="T4" y="T5"/>
              </a:cxn>
            </a:cxnLst>
            <a:rect l="T9" t="T10" r="T11" b="T12"/>
            <a:pathLst>
              <a:path w="170" h="258">
                <a:moveTo>
                  <a:pt x="156" y="0"/>
                </a:moveTo>
                <a:cubicBezTo>
                  <a:pt x="154" y="21"/>
                  <a:pt x="170" y="83"/>
                  <a:pt x="144" y="126"/>
                </a:cubicBezTo>
                <a:cubicBezTo>
                  <a:pt x="118" y="169"/>
                  <a:pt x="30" y="231"/>
                  <a:pt x="0" y="258"/>
                </a:cubicBezTo>
              </a:path>
            </a:pathLst>
          </a:custGeom>
          <a:noFill/>
          <a:ln w="15875" cap="flat" cmpd="sng">
            <a:solidFill>
              <a:srgbClr val="ED524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 name="TextBox 32"/>
          <p:cNvSpPr txBox="1"/>
          <p:nvPr/>
        </p:nvSpPr>
        <p:spPr>
          <a:xfrm>
            <a:off x="9257212" y="2899067"/>
            <a:ext cx="2538548" cy="646331"/>
          </a:xfrm>
          <a:prstGeom prst="rect">
            <a:avLst/>
          </a:prstGeom>
          <a:noFill/>
        </p:spPr>
        <p:txBody>
          <a:bodyPr wrap="square" rtlCol="0">
            <a:spAutoFit/>
          </a:bodyPr>
          <a:lstStyle/>
          <a:p>
            <a:pPr algn="just"/>
            <a:r>
              <a:rPr lang="en-US" b="1" dirty="0">
                <a:solidFill>
                  <a:srgbClr val="0070C0"/>
                </a:solidFill>
              </a:rPr>
              <a:t>Swap &amp; remove the last element</a:t>
            </a:r>
          </a:p>
        </p:txBody>
      </p:sp>
      <p:graphicFrame>
        <p:nvGraphicFramePr>
          <p:cNvPr id="34" name="Table 33"/>
          <p:cNvGraphicFramePr>
            <a:graphicFrameLocks noGrp="1"/>
          </p:cNvGraphicFramePr>
          <p:nvPr/>
        </p:nvGraphicFramePr>
        <p:xfrm>
          <a:off x="7524224" y="4556160"/>
          <a:ext cx="3840480" cy="5486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1751283045"/>
                    </a:ext>
                  </a:extLst>
                </a:gridCol>
              </a:tblGrid>
              <a:tr h="548640">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b="1" dirty="0">
                          <a:solidFill>
                            <a:schemeClr val="bg1">
                              <a:lumMod val="95000"/>
                            </a:schemeClr>
                          </a:solidFill>
                        </a:rPr>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lumMod val="95000"/>
                            </a:schemeClr>
                          </a:solidFill>
                        </a:rPr>
                        <a:t>14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lumMod val="95000"/>
                            </a:schemeClr>
                          </a:solidFill>
                        </a:rPr>
                        <a:t>16</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lumMod val="95000"/>
                            </a:schemeClr>
                          </a:solidFill>
                        </a:rPr>
                        <a:t>17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solidFill>
                        </a:rPr>
                        <a:t>19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bl>
          </a:graphicData>
        </a:graphic>
      </p:graphicFrame>
      <p:cxnSp>
        <p:nvCxnSpPr>
          <p:cNvPr id="35" name="Straight Connector 34"/>
          <p:cNvCxnSpPr/>
          <p:nvPr/>
        </p:nvCxnSpPr>
        <p:spPr>
          <a:xfrm>
            <a:off x="6087291" y="4219303"/>
            <a:ext cx="57607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9124424" y="5311466"/>
            <a:ext cx="640080" cy="640080"/>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sp>
        <p:nvSpPr>
          <p:cNvPr id="37" name="TextBox 36"/>
          <p:cNvSpPr txBox="1"/>
          <p:nvPr/>
        </p:nvSpPr>
        <p:spPr>
          <a:xfrm>
            <a:off x="10167258" y="5311342"/>
            <a:ext cx="1537061" cy="646331"/>
          </a:xfrm>
          <a:prstGeom prst="rect">
            <a:avLst/>
          </a:prstGeom>
          <a:noFill/>
        </p:spPr>
        <p:txBody>
          <a:bodyPr wrap="square" rtlCol="0">
            <a:spAutoFit/>
          </a:bodyPr>
          <a:lstStyle/>
          <a:p>
            <a:pPr algn="just"/>
            <a:r>
              <a:rPr lang="en-US" b="1" dirty="0">
                <a:solidFill>
                  <a:srgbClr val="0070C0"/>
                </a:solidFill>
              </a:rPr>
              <a:t>Remove the last element</a:t>
            </a:r>
          </a:p>
        </p:txBody>
      </p:sp>
      <p:graphicFrame>
        <p:nvGraphicFramePr>
          <p:cNvPr id="38" name="Table 37"/>
          <p:cNvGraphicFramePr>
            <a:graphicFrameLocks noGrp="1"/>
          </p:cNvGraphicFramePr>
          <p:nvPr/>
        </p:nvGraphicFramePr>
        <p:xfrm>
          <a:off x="7524224" y="4551806"/>
          <a:ext cx="3840480" cy="5486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1751283045"/>
                    </a:ext>
                  </a:extLst>
                </a:gridCol>
              </a:tblGrid>
              <a:tr h="548640">
                <a:tc>
                  <a:txBody>
                    <a:bodyPr/>
                    <a:lstStyle/>
                    <a:p>
                      <a:pPr algn="ctr"/>
                      <a:r>
                        <a:rPr lang="en-US" sz="2400" b="1" dirty="0">
                          <a:solidFill>
                            <a:schemeClr val="bg1">
                              <a:lumMod val="95000"/>
                            </a:schemeClr>
                          </a:solidFill>
                        </a:rPr>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lumMod val="95000"/>
                            </a:schemeClr>
                          </a:solidFill>
                        </a:rPr>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lumMod val="95000"/>
                            </a:schemeClr>
                          </a:solidFill>
                        </a:rPr>
                        <a:t>14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lumMod val="95000"/>
                            </a:schemeClr>
                          </a:solidFill>
                        </a:rPr>
                        <a:t>16</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lumMod val="95000"/>
                            </a:schemeClr>
                          </a:solidFill>
                        </a:rPr>
                        <a:t>17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tc>
                  <a:txBody>
                    <a:bodyPr/>
                    <a:lstStyle/>
                    <a:p>
                      <a:pPr algn="ctr"/>
                      <a:r>
                        <a:rPr lang="en-US" sz="2400" b="1" dirty="0">
                          <a:solidFill>
                            <a:schemeClr val="bg1"/>
                          </a:solidFill>
                        </a:rPr>
                        <a:t>19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bl>
          </a:graphicData>
        </a:graphic>
      </p:graphicFrame>
      <p:sp>
        <p:nvSpPr>
          <p:cNvPr id="39" name="Rounded Rectangle 38"/>
          <p:cNvSpPr/>
          <p:nvPr/>
        </p:nvSpPr>
        <p:spPr>
          <a:xfrm>
            <a:off x="7467618" y="5734590"/>
            <a:ext cx="3931920" cy="457200"/>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90E4F"/>
                </a:solidFill>
              </a:rPr>
              <a:t>The entire array is sorted now.</a:t>
            </a:r>
          </a:p>
        </p:txBody>
      </p:sp>
      <p:sp>
        <p:nvSpPr>
          <p:cNvPr id="40" name="TextBox 39"/>
          <p:cNvSpPr txBox="1"/>
          <p:nvPr/>
        </p:nvSpPr>
        <p:spPr>
          <a:xfrm>
            <a:off x="256897" y="796458"/>
            <a:ext cx="840295" cy="400110"/>
          </a:xfrm>
          <a:prstGeom prst="rect">
            <a:avLst/>
          </a:prstGeom>
          <a:noFill/>
          <a:ln w="28575">
            <a:solidFill>
              <a:schemeClr val="tx1"/>
            </a:solidFill>
          </a:ln>
        </p:spPr>
        <p:txBody>
          <a:bodyPr wrap="none" rtlCol="0">
            <a:spAutoFit/>
          </a:bodyPr>
          <a:lstStyle/>
          <a:p>
            <a:r>
              <a:rPr lang="en-IN" sz="2000" b="1" dirty="0"/>
              <a:t>Step 9</a:t>
            </a:r>
            <a:endParaRPr lang="en-US" sz="2000" b="1" dirty="0"/>
          </a:p>
        </p:txBody>
      </p:sp>
      <p:sp>
        <p:nvSpPr>
          <p:cNvPr id="41" name="TextBox 40"/>
          <p:cNvSpPr txBox="1"/>
          <p:nvPr/>
        </p:nvSpPr>
        <p:spPr>
          <a:xfrm>
            <a:off x="6251083" y="796458"/>
            <a:ext cx="970137" cy="400110"/>
          </a:xfrm>
          <a:prstGeom prst="rect">
            <a:avLst/>
          </a:prstGeom>
          <a:noFill/>
          <a:ln w="28575">
            <a:solidFill>
              <a:schemeClr val="tx1"/>
            </a:solidFill>
          </a:ln>
        </p:spPr>
        <p:txBody>
          <a:bodyPr wrap="none" rtlCol="0">
            <a:spAutoFit/>
          </a:bodyPr>
          <a:lstStyle/>
          <a:p>
            <a:r>
              <a:rPr lang="en-IN" sz="2000" b="1" dirty="0"/>
              <a:t>Step 10</a:t>
            </a:r>
            <a:endParaRPr lang="en-US" sz="2000" b="1" dirty="0"/>
          </a:p>
        </p:txBody>
      </p:sp>
      <p:sp>
        <p:nvSpPr>
          <p:cNvPr id="42" name="TextBox 41"/>
          <p:cNvSpPr txBox="1"/>
          <p:nvPr/>
        </p:nvSpPr>
        <p:spPr>
          <a:xfrm>
            <a:off x="6194477" y="4279887"/>
            <a:ext cx="970137" cy="400110"/>
          </a:xfrm>
          <a:prstGeom prst="rect">
            <a:avLst/>
          </a:prstGeom>
          <a:noFill/>
          <a:ln w="28575">
            <a:solidFill>
              <a:schemeClr val="tx1"/>
            </a:solidFill>
          </a:ln>
        </p:spPr>
        <p:txBody>
          <a:bodyPr wrap="none" rtlCol="0">
            <a:spAutoFit/>
          </a:bodyPr>
          <a:lstStyle/>
          <a:p>
            <a:r>
              <a:rPr lang="en-IN" sz="2000" b="1" dirty="0"/>
              <a:t>Step 11</a:t>
            </a:r>
            <a:endParaRPr lang="en-US" sz="2000" b="1" dirty="0"/>
          </a:p>
        </p:txBody>
      </p:sp>
    </p:spTree>
    <p:extLst>
      <p:ext uri="{BB962C8B-B14F-4D97-AF65-F5344CB8AC3E}">
        <p14:creationId xmlns:p14="http://schemas.microsoft.com/office/powerpoint/2010/main" val="1937938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22" presetClass="entr" presetSubtype="1"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up)">
                                      <p:cBhvr>
                                        <p:cTn id="30" dur="500"/>
                                        <p:tgtEl>
                                          <p:spTgt spid="15"/>
                                        </p:tgtEl>
                                      </p:cBhvr>
                                    </p:animEffect>
                                  </p:childTnLst>
                                </p:cTn>
                              </p:par>
                            </p:childTnLst>
                          </p:cTn>
                        </p:par>
                        <p:par>
                          <p:cTn id="31" fill="hold">
                            <p:stCondLst>
                              <p:cond delay="500"/>
                            </p:stCondLst>
                            <p:childTnLst>
                              <p:par>
                                <p:cTn id="32" presetID="10" presetClass="entr" presetSubtype="0"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childTnLst>
                          </p:cTn>
                        </p:par>
                        <p:par>
                          <p:cTn id="49" fill="hold">
                            <p:stCondLst>
                              <p:cond delay="500"/>
                            </p:stCondLst>
                            <p:childTnLst>
                              <p:par>
                                <p:cTn id="50" presetID="10" presetClass="entr" presetSubtype="0" fill="hold" grpId="0" nodeType="after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xit" presetSubtype="10" fill="hold" nodeType="clickEffect">
                                  <p:stCondLst>
                                    <p:cond delay="0"/>
                                  </p:stCondLst>
                                  <p:childTnLst>
                                    <p:animEffect transition="out" filter="randombar(horizontal)">
                                      <p:cBhvr>
                                        <p:cTn id="56" dur="500"/>
                                        <p:tgtEl>
                                          <p:spTgt spid="7"/>
                                        </p:tgtEl>
                                      </p:cBhvr>
                                    </p:animEffect>
                                    <p:set>
                                      <p:cBhvr>
                                        <p:cTn id="57" dur="1" fill="hold">
                                          <p:stCondLst>
                                            <p:cond delay="499"/>
                                          </p:stCondLst>
                                        </p:cTn>
                                        <p:tgtEl>
                                          <p:spTgt spid="7"/>
                                        </p:tgtEl>
                                        <p:attrNameLst>
                                          <p:attrName>style.visibility</p:attrName>
                                        </p:attrNameLst>
                                      </p:cBhvr>
                                      <p:to>
                                        <p:strVal val="hidden"/>
                                      </p:to>
                                    </p:set>
                                  </p:childTnLst>
                                </p:cTn>
                              </p:par>
                              <p:par>
                                <p:cTn id="58" presetID="14" presetClass="exit" presetSubtype="10" fill="hold" grpId="1" nodeType="withEffect">
                                  <p:stCondLst>
                                    <p:cond delay="0"/>
                                  </p:stCondLst>
                                  <p:childTnLst>
                                    <p:animEffect transition="out" filter="randombar(horizontal)">
                                      <p:cBhvr>
                                        <p:cTn id="59" dur="500"/>
                                        <p:tgtEl>
                                          <p:spTgt spid="8"/>
                                        </p:tgtEl>
                                      </p:cBhvr>
                                    </p:animEffect>
                                    <p:set>
                                      <p:cBhvr>
                                        <p:cTn id="60" dur="1" fill="hold">
                                          <p:stCondLst>
                                            <p:cond delay="499"/>
                                          </p:stCondLst>
                                        </p:cTn>
                                        <p:tgtEl>
                                          <p:spTgt spid="8"/>
                                        </p:tgtEl>
                                        <p:attrNameLst>
                                          <p:attrName>style.visibility</p:attrName>
                                        </p:attrNameLst>
                                      </p:cBhvr>
                                      <p:to>
                                        <p:strVal val="hidden"/>
                                      </p:to>
                                    </p:set>
                                  </p:childTnLst>
                                </p:cTn>
                              </p:par>
                              <p:par>
                                <p:cTn id="61" presetID="14" presetClass="exit" presetSubtype="10" fill="hold" grpId="1" nodeType="withEffect">
                                  <p:stCondLst>
                                    <p:cond delay="0"/>
                                  </p:stCondLst>
                                  <p:childTnLst>
                                    <p:animEffect transition="out" filter="randombar(horizontal)">
                                      <p:cBhvr>
                                        <p:cTn id="62" dur="500"/>
                                        <p:tgtEl>
                                          <p:spTgt spid="23"/>
                                        </p:tgtEl>
                                      </p:cBhvr>
                                    </p:animEffect>
                                    <p:set>
                                      <p:cBhvr>
                                        <p:cTn id="63" dur="1" fill="hold">
                                          <p:stCondLst>
                                            <p:cond delay="499"/>
                                          </p:stCondLst>
                                        </p:cTn>
                                        <p:tgtEl>
                                          <p:spTgt spid="23"/>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10"/>
                                        </p:tgtEl>
                                        <p:attrNameLst>
                                          <p:attrName>style.visibility</p:attrName>
                                        </p:attrNameLst>
                                      </p:cBhvr>
                                      <p:to>
                                        <p:strVal val="visible"/>
                                      </p:to>
                                    </p:set>
                                    <p:animEffect transition="in" filter="wipe(up)">
                                      <p:cBhvr>
                                        <p:cTn id="68" dur="500"/>
                                        <p:tgtEl>
                                          <p:spTgt spid="10"/>
                                        </p:tgtEl>
                                      </p:cBhvr>
                                    </p:animEffect>
                                  </p:childTnLst>
                                </p:cTn>
                              </p:par>
                            </p:childTnLst>
                          </p:cTn>
                        </p:par>
                        <p:par>
                          <p:cTn id="69" fill="hold">
                            <p:stCondLst>
                              <p:cond delay="500"/>
                            </p:stCondLst>
                            <p:childTnLst>
                              <p:par>
                                <p:cTn id="70" presetID="10" presetClass="entr" presetSubtype="0" fill="hold" grpId="0" nodeType="after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500"/>
                                        <p:tgtEl>
                                          <p:spTgt spid="41"/>
                                        </p:tgtEl>
                                      </p:cBhvr>
                                    </p:animEffect>
                                  </p:childTnLst>
                                </p:cTn>
                              </p:par>
                            </p:childTnLst>
                          </p:cTn>
                        </p:par>
                        <p:par>
                          <p:cTn id="73" fill="hold">
                            <p:stCondLst>
                              <p:cond delay="1000"/>
                            </p:stCondLst>
                            <p:childTnLst>
                              <p:par>
                                <p:cTn id="74" presetID="10" presetClass="entr" presetSubtype="0" fill="hold" nodeType="after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fade">
                                      <p:cBhvr>
                                        <p:cTn id="76" dur="500"/>
                                        <p:tgtEl>
                                          <p:spTgt spid="14"/>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11"/>
                                        </p:tgtEl>
                                        <p:attrNameLst>
                                          <p:attrName>style.visibility</p:attrName>
                                        </p:attrNameLst>
                                      </p:cBhvr>
                                      <p:to>
                                        <p:strVal val="visible"/>
                                      </p:to>
                                    </p:set>
                                    <p:animEffect transition="in" filter="fade">
                                      <p:cBhvr>
                                        <p:cTn id="81" dur="500"/>
                                        <p:tgtEl>
                                          <p:spTgt spid="11"/>
                                        </p:tgtEl>
                                      </p:cBhvr>
                                    </p:animEffect>
                                  </p:childTnLst>
                                </p:cTn>
                              </p:par>
                              <p:par>
                                <p:cTn id="82" presetID="10" presetClass="entr" presetSubtype="0" fill="hold" nodeType="withEffect">
                                  <p:stCondLst>
                                    <p:cond delay="0"/>
                                  </p:stCondLst>
                                  <p:childTnLst>
                                    <p:set>
                                      <p:cBhvr>
                                        <p:cTn id="83" dur="1" fill="hold">
                                          <p:stCondLst>
                                            <p:cond delay="0"/>
                                          </p:stCondLst>
                                        </p:cTn>
                                        <p:tgtEl>
                                          <p:spTgt spid="12"/>
                                        </p:tgtEl>
                                        <p:attrNameLst>
                                          <p:attrName>style.visibility</p:attrName>
                                        </p:attrNameLst>
                                      </p:cBhvr>
                                      <p:to>
                                        <p:strVal val="visible"/>
                                      </p:to>
                                    </p:set>
                                    <p:animEffect transition="in" filter="fade">
                                      <p:cBhvr>
                                        <p:cTn id="84" dur="500"/>
                                        <p:tgtEl>
                                          <p:spTgt spid="1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3"/>
                                        </p:tgtEl>
                                        <p:attrNameLst>
                                          <p:attrName>style.visibility</p:attrName>
                                        </p:attrNameLst>
                                      </p:cBhvr>
                                      <p:to>
                                        <p:strVal val="visible"/>
                                      </p:to>
                                    </p:set>
                                    <p:animEffect transition="in" filter="fade">
                                      <p:cBhvr>
                                        <p:cTn id="87" dur="500"/>
                                        <p:tgtEl>
                                          <p:spTgt spid="13"/>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500"/>
                                        <p:tgtEl>
                                          <p:spTgt spid="33"/>
                                        </p:tgtEl>
                                      </p:cBhvr>
                                    </p:animEffect>
                                  </p:childTnLst>
                                </p:cTn>
                              </p:par>
                            </p:childTnLst>
                          </p:cTn>
                        </p:par>
                        <p:par>
                          <p:cTn id="98" fill="hold">
                            <p:stCondLst>
                              <p:cond delay="500"/>
                            </p:stCondLst>
                            <p:childTnLst>
                              <p:par>
                                <p:cTn id="99" presetID="22" presetClass="entr" presetSubtype="4" fill="hold" grpId="0" nodeType="afterEffect">
                                  <p:stCondLst>
                                    <p:cond delay="0"/>
                                  </p:stCondLst>
                                  <p:childTnLst>
                                    <p:set>
                                      <p:cBhvr>
                                        <p:cTn id="100" dur="1" fill="hold">
                                          <p:stCondLst>
                                            <p:cond delay="0"/>
                                          </p:stCondLst>
                                        </p:cTn>
                                        <p:tgtEl>
                                          <p:spTgt spid="31"/>
                                        </p:tgtEl>
                                        <p:attrNameLst>
                                          <p:attrName>style.visibility</p:attrName>
                                        </p:attrNameLst>
                                      </p:cBhvr>
                                      <p:to>
                                        <p:strVal val="visible"/>
                                      </p:to>
                                    </p:set>
                                    <p:animEffect transition="in" filter="wipe(down)">
                                      <p:cBhvr>
                                        <p:cTn id="101" dur="500"/>
                                        <p:tgtEl>
                                          <p:spTgt spid="31"/>
                                        </p:tgtEl>
                                      </p:cBhvr>
                                    </p:animEffect>
                                  </p:childTnLst>
                                </p:cTn>
                              </p:par>
                              <p:par>
                                <p:cTn id="102" presetID="22" presetClass="entr" presetSubtype="1" fill="hold" grpId="0" nodeType="with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wipe(up)">
                                      <p:cBhvr>
                                        <p:cTn id="104" dur="500"/>
                                        <p:tgtEl>
                                          <p:spTgt spid="3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500"/>
                                        <p:tgtEl>
                                          <p:spTgt spid="2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500"/>
                                        <p:tgtEl>
                                          <p:spTgt spid="29"/>
                                        </p:tgtEl>
                                      </p:cBhvr>
                                    </p:animEffect>
                                  </p:childTnLst>
                                </p:cTn>
                              </p:par>
                            </p:childTnLst>
                          </p:cTn>
                        </p:par>
                        <p:par>
                          <p:cTn id="113" fill="hold">
                            <p:stCondLst>
                              <p:cond delay="500"/>
                            </p:stCondLst>
                            <p:childTnLst>
                              <p:par>
                                <p:cTn id="114" presetID="10" presetClass="entr" presetSubtype="0" fill="hold" grpId="0" nodeType="afterEffect">
                                  <p:stCondLst>
                                    <p:cond delay="0"/>
                                  </p:stCondLst>
                                  <p:childTnLst>
                                    <p:set>
                                      <p:cBhvr>
                                        <p:cTn id="115" dur="1" fill="hold">
                                          <p:stCondLst>
                                            <p:cond delay="0"/>
                                          </p:stCondLst>
                                        </p:cTn>
                                        <p:tgtEl>
                                          <p:spTgt spid="30"/>
                                        </p:tgtEl>
                                        <p:attrNameLst>
                                          <p:attrName>style.visibility</p:attrName>
                                        </p:attrNameLst>
                                      </p:cBhvr>
                                      <p:to>
                                        <p:strVal val="visible"/>
                                      </p:to>
                                    </p:set>
                                    <p:animEffect transition="in" filter="fade">
                                      <p:cBhvr>
                                        <p:cTn id="116" dur="500"/>
                                        <p:tgtEl>
                                          <p:spTgt spid="30"/>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27"/>
                                        </p:tgtEl>
                                        <p:attrNameLst>
                                          <p:attrName>style.visibility</p:attrName>
                                        </p:attrNameLst>
                                      </p:cBhvr>
                                      <p:to>
                                        <p:strVal val="visible"/>
                                      </p:to>
                                    </p:set>
                                    <p:animEffect transition="in" filter="fade">
                                      <p:cBhvr>
                                        <p:cTn id="121" dur="500"/>
                                        <p:tgtEl>
                                          <p:spTgt spid="27"/>
                                        </p:tgtEl>
                                      </p:cBhvr>
                                    </p:animEffect>
                                  </p:childTnLst>
                                </p:cTn>
                              </p:par>
                            </p:childTnLst>
                          </p:cTn>
                        </p:par>
                        <p:par>
                          <p:cTn id="122" fill="hold">
                            <p:stCondLst>
                              <p:cond delay="500"/>
                            </p:stCondLst>
                            <p:childTnLst>
                              <p:par>
                                <p:cTn id="123" presetID="10" presetClass="entr" presetSubtype="0" fill="hold" grpId="0" nodeType="afterEffect">
                                  <p:stCondLst>
                                    <p:cond delay="0"/>
                                  </p:stCondLst>
                                  <p:childTnLst>
                                    <p:set>
                                      <p:cBhvr>
                                        <p:cTn id="124" dur="1" fill="hold">
                                          <p:stCondLst>
                                            <p:cond delay="0"/>
                                          </p:stCondLst>
                                        </p:cTn>
                                        <p:tgtEl>
                                          <p:spTgt spid="28"/>
                                        </p:tgtEl>
                                        <p:attrNameLst>
                                          <p:attrName>style.visibility</p:attrName>
                                        </p:attrNameLst>
                                      </p:cBhvr>
                                      <p:to>
                                        <p:strVal val="visible"/>
                                      </p:to>
                                    </p:set>
                                    <p:animEffect transition="in" filter="fade">
                                      <p:cBhvr>
                                        <p:cTn id="125" dur="500"/>
                                        <p:tgtEl>
                                          <p:spTgt spid="28"/>
                                        </p:tgtEl>
                                      </p:cBhvr>
                                    </p:animEffect>
                                  </p:childTnLst>
                                </p:cTn>
                              </p:par>
                            </p:childTnLst>
                          </p:cTn>
                        </p:par>
                      </p:childTnLst>
                    </p:cTn>
                  </p:par>
                  <p:par>
                    <p:cTn id="126" fill="hold">
                      <p:stCondLst>
                        <p:cond delay="indefinite"/>
                      </p:stCondLst>
                      <p:childTnLst>
                        <p:par>
                          <p:cTn id="127" fill="hold">
                            <p:stCondLst>
                              <p:cond delay="0"/>
                            </p:stCondLst>
                            <p:childTnLst>
                              <p:par>
                                <p:cTn id="128" presetID="14" presetClass="exit" presetSubtype="10" fill="hold" nodeType="clickEffect">
                                  <p:stCondLst>
                                    <p:cond delay="0"/>
                                  </p:stCondLst>
                                  <p:childTnLst>
                                    <p:animEffect transition="out" filter="randombar(horizontal)">
                                      <p:cBhvr>
                                        <p:cTn id="129" dur="500"/>
                                        <p:tgtEl>
                                          <p:spTgt spid="12"/>
                                        </p:tgtEl>
                                      </p:cBhvr>
                                    </p:animEffect>
                                    <p:set>
                                      <p:cBhvr>
                                        <p:cTn id="130" dur="1" fill="hold">
                                          <p:stCondLst>
                                            <p:cond delay="499"/>
                                          </p:stCondLst>
                                        </p:cTn>
                                        <p:tgtEl>
                                          <p:spTgt spid="12"/>
                                        </p:tgtEl>
                                        <p:attrNameLst>
                                          <p:attrName>style.visibility</p:attrName>
                                        </p:attrNameLst>
                                      </p:cBhvr>
                                      <p:to>
                                        <p:strVal val="hidden"/>
                                      </p:to>
                                    </p:set>
                                  </p:childTnLst>
                                </p:cTn>
                              </p:par>
                              <p:par>
                                <p:cTn id="131" presetID="14" presetClass="exit" presetSubtype="10" fill="hold" grpId="1" nodeType="withEffect">
                                  <p:stCondLst>
                                    <p:cond delay="0"/>
                                  </p:stCondLst>
                                  <p:childTnLst>
                                    <p:animEffect transition="out" filter="randombar(horizontal)">
                                      <p:cBhvr>
                                        <p:cTn id="132" dur="500"/>
                                        <p:tgtEl>
                                          <p:spTgt spid="13"/>
                                        </p:tgtEl>
                                      </p:cBhvr>
                                    </p:animEffect>
                                    <p:set>
                                      <p:cBhvr>
                                        <p:cTn id="133" dur="1" fill="hold">
                                          <p:stCondLst>
                                            <p:cond delay="499"/>
                                          </p:stCondLst>
                                        </p:cTn>
                                        <p:tgtEl>
                                          <p:spTgt spid="13"/>
                                        </p:tgtEl>
                                        <p:attrNameLst>
                                          <p:attrName>style.visibility</p:attrName>
                                        </p:attrNameLst>
                                      </p:cBhvr>
                                      <p:to>
                                        <p:strVal val="hidden"/>
                                      </p:to>
                                    </p:set>
                                  </p:childTnLst>
                                </p:cTn>
                              </p:par>
                              <p:par>
                                <p:cTn id="134" presetID="14" presetClass="exit" presetSubtype="10" fill="hold" grpId="1" nodeType="withEffect">
                                  <p:stCondLst>
                                    <p:cond delay="0"/>
                                  </p:stCondLst>
                                  <p:childTnLst>
                                    <p:animEffect transition="out" filter="randombar(horizontal)">
                                      <p:cBhvr>
                                        <p:cTn id="135" dur="500"/>
                                        <p:tgtEl>
                                          <p:spTgt spid="29"/>
                                        </p:tgtEl>
                                      </p:cBhvr>
                                    </p:animEffect>
                                    <p:set>
                                      <p:cBhvr>
                                        <p:cTn id="136" dur="1" fill="hold">
                                          <p:stCondLst>
                                            <p:cond delay="499"/>
                                          </p:stCondLst>
                                        </p:cTn>
                                        <p:tgtEl>
                                          <p:spTgt spid="29"/>
                                        </p:tgtEl>
                                        <p:attrNameLst>
                                          <p:attrName>style.visibility</p:attrName>
                                        </p:attrNameLst>
                                      </p:cBhvr>
                                      <p:to>
                                        <p:strVal val="hidden"/>
                                      </p:to>
                                    </p:set>
                                  </p:childTnLst>
                                </p:cTn>
                              </p:par>
                              <p:par>
                                <p:cTn id="137" presetID="14" presetClass="exit" presetSubtype="10" fill="hold" grpId="1" nodeType="withEffect">
                                  <p:stCondLst>
                                    <p:cond delay="0"/>
                                  </p:stCondLst>
                                  <p:childTnLst>
                                    <p:animEffect transition="out" filter="randombar(horizontal)">
                                      <p:cBhvr>
                                        <p:cTn id="138" dur="500"/>
                                        <p:tgtEl>
                                          <p:spTgt spid="31"/>
                                        </p:tgtEl>
                                      </p:cBhvr>
                                    </p:animEffect>
                                    <p:set>
                                      <p:cBhvr>
                                        <p:cTn id="139" dur="1" fill="hold">
                                          <p:stCondLst>
                                            <p:cond delay="499"/>
                                          </p:stCondLst>
                                        </p:cTn>
                                        <p:tgtEl>
                                          <p:spTgt spid="31"/>
                                        </p:tgtEl>
                                        <p:attrNameLst>
                                          <p:attrName>style.visibility</p:attrName>
                                        </p:attrNameLst>
                                      </p:cBhvr>
                                      <p:to>
                                        <p:strVal val="hidden"/>
                                      </p:to>
                                    </p:set>
                                  </p:childTnLst>
                                </p:cTn>
                              </p:par>
                              <p:par>
                                <p:cTn id="140" presetID="14" presetClass="exit" presetSubtype="10" fill="hold" grpId="1" nodeType="withEffect">
                                  <p:stCondLst>
                                    <p:cond delay="0"/>
                                  </p:stCondLst>
                                  <p:childTnLst>
                                    <p:animEffect transition="out" filter="randombar(horizontal)">
                                      <p:cBhvr>
                                        <p:cTn id="141" dur="500"/>
                                        <p:tgtEl>
                                          <p:spTgt spid="32"/>
                                        </p:tgtEl>
                                      </p:cBhvr>
                                    </p:animEffect>
                                    <p:set>
                                      <p:cBhvr>
                                        <p:cTn id="142" dur="1" fill="hold">
                                          <p:stCondLst>
                                            <p:cond delay="499"/>
                                          </p:stCondLst>
                                        </p:cTn>
                                        <p:tgtEl>
                                          <p:spTgt spid="32"/>
                                        </p:tgtEl>
                                        <p:attrNameLst>
                                          <p:attrName>style.visibility</p:attrName>
                                        </p:attrNameLst>
                                      </p:cBhvr>
                                      <p:to>
                                        <p:strVal val="hidden"/>
                                      </p:to>
                                    </p:set>
                                  </p:childTnLst>
                                </p:cTn>
                              </p:par>
                            </p:childTnLst>
                          </p:cTn>
                        </p:par>
                        <p:par>
                          <p:cTn id="143" fill="hold">
                            <p:stCondLst>
                              <p:cond delay="500"/>
                            </p:stCondLst>
                            <p:childTnLst>
                              <p:par>
                                <p:cTn id="144" presetID="22" presetClass="entr" presetSubtype="8" fill="hold" nodeType="afterEffect">
                                  <p:stCondLst>
                                    <p:cond delay="0"/>
                                  </p:stCondLst>
                                  <p:childTnLst>
                                    <p:set>
                                      <p:cBhvr>
                                        <p:cTn id="145" dur="1" fill="hold">
                                          <p:stCondLst>
                                            <p:cond delay="0"/>
                                          </p:stCondLst>
                                        </p:cTn>
                                        <p:tgtEl>
                                          <p:spTgt spid="35"/>
                                        </p:tgtEl>
                                        <p:attrNameLst>
                                          <p:attrName>style.visibility</p:attrName>
                                        </p:attrNameLst>
                                      </p:cBhvr>
                                      <p:to>
                                        <p:strVal val="visible"/>
                                      </p:to>
                                    </p:set>
                                    <p:animEffect transition="in" filter="wipe(left)">
                                      <p:cBhvr>
                                        <p:cTn id="146" dur="500"/>
                                        <p:tgtEl>
                                          <p:spTgt spid="35"/>
                                        </p:tgtEl>
                                      </p:cBhvr>
                                    </p:animEffect>
                                  </p:childTnLst>
                                </p:cTn>
                              </p:par>
                            </p:childTnLst>
                          </p:cTn>
                        </p:par>
                        <p:par>
                          <p:cTn id="147" fill="hold">
                            <p:stCondLst>
                              <p:cond delay="1000"/>
                            </p:stCondLst>
                            <p:childTnLst>
                              <p:par>
                                <p:cTn id="148" presetID="10" presetClass="entr" presetSubtype="0" fill="hold" grpId="0" nodeType="afterEffect">
                                  <p:stCondLst>
                                    <p:cond delay="0"/>
                                  </p:stCondLst>
                                  <p:childTnLst>
                                    <p:set>
                                      <p:cBhvr>
                                        <p:cTn id="149" dur="1" fill="hold">
                                          <p:stCondLst>
                                            <p:cond delay="0"/>
                                          </p:stCondLst>
                                        </p:cTn>
                                        <p:tgtEl>
                                          <p:spTgt spid="42"/>
                                        </p:tgtEl>
                                        <p:attrNameLst>
                                          <p:attrName>style.visibility</p:attrName>
                                        </p:attrNameLst>
                                      </p:cBhvr>
                                      <p:to>
                                        <p:strVal val="visible"/>
                                      </p:to>
                                    </p:set>
                                    <p:animEffect transition="in" filter="fade">
                                      <p:cBhvr>
                                        <p:cTn id="150" dur="500"/>
                                        <p:tgtEl>
                                          <p:spTgt spid="42"/>
                                        </p:tgtEl>
                                      </p:cBhvr>
                                    </p:animEffect>
                                  </p:childTnLst>
                                </p:cTn>
                              </p:par>
                            </p:childTnLst>
                          </p:cTn>
                        </p:par>
                        <p:par>
                          <p:cTn id="151" fill="hold">
                            <p:stCondLst>
                              <p:cond delay="1500"/>
                            </p:stCondLst>
                            <p:childTnLst>
                              <p:par>
                                <p:cTn id="152" presetID="10" presetClass="entr" presetSubtype="0" fill="hold" nodeType="afterEffect">
                                  <p:stCondLst>
                                    <p:cond delay="0"/>
                                  </p:stCondLst>
                                  <p:childTnLst>
                                    <p:set>
                                      <p:cBhvr>
                                        <p:cTn id="153" dur="1" fill="hold">
                                          <p:stCondLst>
                                            <p:cond delay="0"/>
                                          </p:stCondLst>
                                        </p:cTn>
                                        <p:tgtEl>
                                          <p:spTgt spid="34"/>
                                        </p:tgtEl>
                                        <p:attrNameLst>
                                          <p:attrName>style.visibility</p:attrName>
                                        </p:attrNameLst>
                                      </p:cBhvr>
                                      <p:to>
                                        <p:strVal val="visible"/>
                                      </p:to>
                                    </p:set>
                                    <p:animEffect transition="in" filter="fade">
                                      <p:cBhvr>
                                        <p:cTn id="154" dur="500"/>
                                        <p:tgtEl>
                                          <p:spTgt spid="34"/>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36"/>
                                        </p:tgtEl>
                                        <p:attrNameLst>
                                          <p:attrName>style.visibility</p:attrName>
                                        </p:attrNameLst>
                                      </p:cBhvr>
                                      <p:to>
                                        <p:strVal val="visible"/>
                                      </p:to>
                                    </p:set>
                                    <p:animEffect transition="in" filter="fade">
                                      <p:cBhvr>
                                        <p:cTn id="157" dur="500"/>
                                        <p:tgtEl>
                                          <p:spTgt spid="36"/>
                                        </p:tgtEl>
                                      </p:cBhvr>
                                    </p:animEffect>
                                  </p:childTnLst>
                                </p:cTn>
                              </p:par>
                            </p:childTnLst>
                          </p:cTn>
                        </p:par>
                      </p:childTnLst>
                    </p:cTn>
                  </p:par>
                  <p:par>
                    <p:cTn id="158" fill="hold">
                      <p:stCondLst>
                        <p:cond delay="indefinite"/>
                      </p:stCondLst>
                      <p:childTnLst>
                        <p:par>
                          <p:cTn id="159" fill="hold">
                            <p:stCondLst>
                              <p:cond delay="0"/>
                            </p:stCondLst>
                            <p:childTnLst>
                              <p:par>
                                <p:cTn id="160" presetID="10" presetClass="entr" presetSubtype="0" fill="hold" grpId="0" nodeType="clickEffect">
                                  <p:stCondLst>
                                    <p:cond delay="0"/>
                                  </p:stCondLst>
                                  <p:childTnLst>
                                    <p:set>
                                      <p:cBhvr>
                                        <p:cTn id="161" dur="1" fill="hold">
                                          <p:stCondLst>
                                            <p:cond delay="0"/>
                                          </p:stCondLst>
                                        </p:cTn>
                                        <p:tgtEl>
                                          <p:spTgt spid="37"/>
                                        </p:tgtEl>
                                        <p:attrNameLst>
                                          <p:attrName>style.visibility</p:attrName>
                                        </p:attrNameLst>
                                      </p:cBhvr>
                                      <p:to>
                                        <p:strVal val="visible"/>
                                      </p:to>
                                    </p:set>
                                    <p:animEffect transition="in" filter="fade">
                                      <p:cBhvr>
                                        <p:cTn id="162" dur="500"/>
                                        <p:tgtEl>
                                          <p:spTgt spid="37"/>
                                        </p:tgtEl>
                                      </p:cBhvr>
                                    </p:animEffect>
                                  </p:childTnLst>
                                </p:cTn>
                              </p:par>
                            </p:childTnLst>
                          </p:cTn>
                        </p:par>
                      </p:childTnLst>
                    </p:cTn>
                  </p:par>
                  <p:par>
                    <p:cTn id="163" fill="hold">
                      <p:stCondLst>
                        <p:cond delay="indefinite"/>
                      </p:stCondLst>
                      <p:childTnLst>
                        <p:par>
                          <p:cTn id="164" fill="hold">
                            <p:stCondLst>
                              <p:cond delay="0"/>
                            </p:stCondLst>
                            <p:childTnLst>
                              <p:par>
                                <p:cTn id="165" presetID="14" presetClass="exit" presetSubtype="10" fill="hold" grpId="1" nodeType="clickEffect">
                                  <p:stCondLst>
                                    <p:cond delay="0"/>
                                  </p:stCondLst>
                                  <p:childTnLst>
                                    <p:animEffect transition="out" filter="randombar(horizontal)">
                                      <p:cBhvr>
                                        <p:cTn id="166" dur="500"/>
                                        <p:tgtEl>
                                          <p:spTgt spid="36"/>
                                        </p:tgtEl>
                                      </p:cBhvr>
                                    </p:animEffect>
                                    <p:set>
                                      <p:cBhvr>
                                        <p:cTn id="167" dur="1" fill="hold">
                                          <p:stCondLst>
                                            <p:cond delay="499"/>
                                          </p:stCondLst>
                                        </p:cTn>
                                        <p:tgtEl>
                                          <p:spTgt spid="36"/>
                                        </p:tgtEl>
                                        <p:attrNameLst>
                                          <p:attrName>style.visibility</p:attrName>
                                        </p:attrNameLst>
                                      </p:cBhvr>
                                      <p:to>
                                        <p:strVal val="hidden"/>
                                      </p:to>
                                    </p:set>
                                  </p:childTnLst>
                                </p:cTn>
                              </p:par>
                            </p:childTnLst>
                          </p:cTn>
                        </p:par>
                        <p:par>
                          <p:cTn id="168" fill="hold">
                            <p:stCondLst>
                              <p:cond delay="500"/>
                            </p:stCondLst>
                            <p:childTnLst>
                              <p:par>
                                <p:cTn id="169" presetID="10" presetClass="entr" presetSubtype="0" fill="hold" nodeType="afterEffect">
                                  <p:stCondLst>
                                    <p:cond delay="0"/>
                                  </p:stCondLst>
                                  <p:childTnLst>
                                    <p:set>
                                      <p:cBhvr>
                                        <p:cTn id="170" dur="1" fill="hold">
                                          <p:stCondLst>
                                            <p:cond delay="0"/>
                                          </p:stCondLst>
                                        </p:cTn>
                                        <p:tgtEl>
                                          <p:spTgt spid="38"/>
                                        </p:tgtEl>
                                        <p:attrNameLst>
                                          <p:attrName>style.visibility</p:attrName>
                                        </p:attrNameLst>
                                      </p:cBhvr>
                                      <p:to>
                                        <p:strVal val="visible"/>
                                      </p:to>
                                    </p:set>
                                    <p:animEffect transition="in" filter="fade">
                                      <p:cBhvr>
                                        <p:cTn id="171" dur="500"/>
                                        <p:tgtEl>
                                          <p:spTgt spid="38"/>
                                        </p:tgtEl>
                                      </p:cBhvr>
                                    </p:animEffect>
                                  </p:childTnLst>
                                </p:cTn>
                              </p:par>
                              <p:par>
                                <p:cTn id="172" presetID="14" presetClass="exit" presetSubtype="10" fill="hold" grpId="1" nodeType="withEffect">
                                  <p:stCondLst>
                                    <p:cond delay="0"/>
                                  </p:stCondLst>
                                  <p:childTnLst>
                                    <p:animEffect transition="out" filter="randombar(horizontal)">
                                      <p:cBhvr>
                                        <p:cTn id="173" dur="500"/>
                                        <p:tgtEl>
                                          <p:spTgt spid="37"/>
                                        </p:tgtEl>
                                      </p:cBhvr>
                                    </p:animEffect>
                                    <p:set>
                                      <p:cBhvr>
                                        <p:cTn id="174" dur="1" fill="hold">
                                          <p:stCondLst>
                                            <p:cond delay="499"/>
                                          </p:stCondLst>
                                        </p:cTn>
                                        <p:tgtEl>
                                          <p:spTgt spid="37"/>
                                        </p:tgtEl>
                                        <p:attrNameLst>
                                          <p:attrName>style.visibility</p:attrName>
                                        </p:attrNameLst>
                                      </p:cBhvr>
                                      <p:to>
                                        <p:strVal val="hidden"/>
                                      </p:to>
                                    </p:set>
                                  </p:childTnLst>
                                </p:cTn>
                              </p:par>
                            </p:childTnLst>
                          </p:cTn>
                        </p:par>
                      </p:childTnLst>
                    </p:cTn>
                  </p:par>
                  <p:par>
                    <p:cTn id="175" fill="hold">
                      <p:stCondLst>
                        <p:cond delay="indefinite"/>
                      </p:stCondLst>
                      <p:childTnLst>
                        <p:par>
                          <p:cTn id="176" fill="hold">
                            <p:stCondLst>
                              <p:cond delay="0"/>
                            </p:stCondLst>
                            <p:childTnLst>
                              <p:par>
                                <p:cTn id="177" presetID="10" presetClass="entr" presetSubtype="0" fill="hold" grpId="0" nodeType="clickEffect">
                                  <p:stCondLst>
                                    <p:cond delay="0"/>
                                  </p:stCondLst>
                                  <p:childTnLst>
                                    <p:set>
                                      <p:cBhvr>
                                        <p:cTn id="178" dur="1" fill="hold">
                                          <p:stCondLst>
                                            <p:cond delay="0"/>
                                          </p:stCondLst>
                                        </p:cTn>
                                        <p:tgtEl>
                                          <p:spTgt spid="39"/>
                                        </p:tgtEl>
                                        <p:attrNameLst>
                                          <p:attrName>style.visibility</p:attrName>
                                        </p:attrNameLst>
                                      </p:cBhvr>
                                      <p:to>
                                        <p:strVal val="visible"/>
                                      </p:to>
                                    </p:set>
                                    <p:animEffect transition="in" filter="fade">
                                      <p:cBhvr>
                                        <p:cTn id="17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8" grpId="1" animBg="1"/>
      <p:bldP spid="11" grpId="0" animBg="1"/>
      <p:bldP spid="13" grpId="0" animBg="1"/>
      <p:bldP spid="13" grpId="1" animBg="1"/>
      <p:bldP spid="19" grpId="0"/>
      <p:bldP spid="20" grpId="0" animBg="1"/>
      <p:bldP spid="21" grpId="0" animBg="1"/>
      <p:bldP spid="22" grpId="0" animBg="1"/>
      <p:bldP spid="23" grpId="0" animBg="1"/>
      <p:bldP spid="23" grpId="1" animBg="1"/>
      <p:bldP spid="24" grpId="0" animBg="1"/>
      <p:bldP spid="25" grpId="0" animBg="1"/>
      <p:bldP spid="26" grpId="0" animBg="1"/>
      <p:bldP spid="27" grpId="0" animBg="1"/>
      <p:bldP spid="28" grpId="0" animBg="1"/>
      <p:bldP spid="29" grpId="0" animBg="1"/>
      <p:bldP spid="29" grpId="1" animBg="1"/>
      <p:bldP spid="30" grpId="0" animBg="1"/>
      <p:bldP spid="31" grpId="0" animBg="1"/>
      <p:bldP spid="31" grpId="1" animBg="1"/>
      <p:bldP spid="32" grpId="0" animBg="1"/>
      <p:bldP spid="32" grpId="1" animBg="1"/>
      <p:bldP spid="33" grpId="0"/>
      <p:bldP spid="36" grpId="0" animBg="1"/>
      <p:bldP spid="36" grpId="1" animBg="1"/>
      <p:bldP spid="37" grpId="0"/>
      <p:bldP spid="37" grpId="1"/>
      <p:bldP spid="39" grpId="0" animBg="1"/>
      <p:bldP spid="41" grpId="0" animBg="1"/>
      <p:bldP spid="4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 </a:t>
            </a:r>
          </a:p>
        </p:txBody>
      </p:sp>
      <p:sp>
        <p:nvSpPr>
          <p:cNvPr id="3" name="Content Placeholder 2"/>
          <p:cNvSpPr>
            <a:spLocks noGrp="1"/>
          </p:cNvSpPr>
          <p:nvPr>
            <p:ph idx="1"/>
          </p:nvPr>
        </p:nvSpPr>
        <p:spPr/>
        <p:txBody>
          <a:bodyPr/>
          <a:lstStyle/>
          <a:p>
            <a:r>
              <a:rPr lang="en-US" dirty="0"/>
              <a:t>Sort the following elements using Heap Sort Method.</a:t>
            </a:r>
          </a:p>
          <a:p>
            <a:pPr marL="1001712" lvl="1" indent="-457200">
              <a:buFont typeface="+mj-lt"/>
              <a:buAutoNum type="arabicPeriod"/>
            </a:pPr>
            <a:r>
              <a:rPr lang="en-US" dirty="0"/>
              <a:t>34, 18, 65, 32, 51, 21</a:t>
            </a:r>
          </a:p>
          <a:p>
            <a:pPr marL="1001712" lvl="1" indent="-457200">
              <a:buFont typeface="+mj-lt"/>
              <a:buAutoNum type="arabicPeriod"/>
            </a:pPr>
            <a:r>
              <a:rPr lang="en-US" dirty="0"/>
              <a:t>20, 50, 30, 75, 90, 65, 25, 10, 40</a:t>
            </a:r>
          </a:p>
          <a:p>
            <a:pPr marL="1001712" lvl="1" indent="-457200">
              <a:buFont typeface="+mj-lt"/>
              <a:buAutoNum type="arabicPeriod"/>
            </a:pPr>
            <a:endParaRPr lang="en-US" dirty="0"/>
          </a:p>
          <a:p>
            <a:r>
              <a:rPr lang="en-US" dirty="0"/>
              <a:t>Sort the following elements in Descending order using Hear Sort Algorithm.</a:t>
            </a:r>
          </a:p>
          <a:p>
            <a:pPr marL="914400" lvl="1" indent="-457200">
              <a:buFont typeface="+mj-lt"/>
              <a:buAutoNum type="arabicPeriod"/>
            </a:pPr>
            <a:r>
              <a:rPr lang="en-US" dirty="0"/>
              <a:t>65, 77, 5, 23, 32, 45, 99, 83, 69, 81 </a:t>
            </a:r>
          </a:p>
        </p:txBody>
      </p:sp>
    </p:spTree>
    <p:extLst>
      <p:ext uri="{BB962C8B-B14F-4D97-AF65-F5344CB8AC3E}">
        <p14:creationId xmlns:p14="http://schemas.microsoft.com/office/powerpoint/2010/main" val="301235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Algorithm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solidFill>
                <a:srgbClr val="424242"/>
              </a:solidFill>
            </p:spPr>
            <p:txBody>
              <a:bodyPr/>
              <a:lstStyle/>
              <a:p>
                <a:pPr marL="0" indent="0">
                  <a:spcBef>
                    <a:spcPts val="600"/>
                  </a:spcBef>
                  <a:buNone/>
                </a:pPr>
                <a:r>
                  <a:rPr lang="en-IN" b="1" dirty="0">
                    <a:solidFill>
                      <a:schemeClr val="tx2">
                        <a:lumMod val="60000"/>
                        <a:lumOff val="40000"/>
                      </a:schemeClr>
                    </a:solidFill>
                    <a:latin typeface="Consolas" pitchFamily="49" charset="0"/>
                    <a:cs typeface="Consolas" pitchFamily="49" charset="0"/>
                  </a:rPr>
                  <a:t># Input: Array A</a:t>
                </a:r>
              </a:p>
              <a:p>
                <a:pPr marL="0" indent="0">
                  <a:spcBef>
                    <a:spcPts val="600"/>
                  </a:spcBef>
                  <a:buNone/>
                </a:pPr>
                <a:r>
                  <a:rPr lang="en-IN" b="1" dirty="0">
                    <a:solidFill>
                      <a:schemeClr val="tx2">
                        <a:lumMod val="60000"/>
                        <a:lumOff val="40000"/>
                      </a:schemeClr>
                    </a:solidFill>
                    <a:latin typeface="Consolas" pitchFamily="49" charset="0"/>
                    <a:cs typeface="Consolas" pitchFamily="49" charset="0"/>
                  </a:rPr>
                  <a:t># Output: Sorted array A</a:t>
                </a:r>
              </a:p>
              <a:p>
                <a:pPr marL="0" indent="0">
                  <a:spcBef>
                    <a:spcPts val="600"/>
                  </a:spcBef>
                  <a:buNone/>
                </a:pPr>
                <a:endParaRPr lang="en-IN" b="1" dirty="0">
                  <a:solidFill>
                    <a:srgbClr val="FBD9EB"/>
                  </a:solidFill>
                  <a:latin typeface="Consolas" pitchFamily="49" charset="0"/>
                  <a:cs typeface="Consolas" pitchFamily="49" charset="0"/>
                </a:endParaRPr>
              </a:p>
              <a:p>
                <a:pPr marL="0" indent="0">
                  <a:spcBef>
                    <a:spcPts val="600"/>
                  </a:spcBef>
                  <a:buNone/>
                </a:pPr>
                <a:r>
                  <a:rPr lang="en-IN" b="1" dirty="0">
                    <a:solidFill>
                      <a:srgbClr val="FBD9EB"/>
                    </a:solidFill>
                    <a:latin typeface="Consolas" pitchFamily="49" charset="0"/>
                    <a:cs typeface="Consolas" pitchFamily="49" charset="0"/>
                  </a:rPr>
                  <a:t>Algorithm: </a:t>
                </a:r>
                <a:r>
                  <a:rPr lang="en-IN" b="1" dirty="0" err="1">
                    <a:solidFill>
                      <a:srgbClr val="FBD9EB"/>
                    </a:solidFill>
                    <a:latin typeface="Consolas" pitchFamily="49" charset="0"/>
                    <a:cs typeface="Consolas" pitchFamily="49" charset="0"/>
                  </a:rPr>
                  <a:t>Heap_Sort</a:t>
                </a:r>
                <a:r>
                  <a:rPr lang="en-IN" b="1" dirty="0">
                    <a:solidFill>
                      <a:srgbClr val="FBD9EB"/>
                    </a:solidFill>
                    <a:latin typeface="Consolas" pitchFamily="49" charset="0"/>
                    <a:cs typeface="Consolas" pitchFamily="49" charset="0"/>
                  </a:rPr>
                  <a:t>(A[1,…,n])</a:t>
                </a:r>
              </a:p>
              <a:p>
                <a:pPr marL="0" indent="0">
                  <a:spcBef>
                    <a:spcPts val="600"/>
                  </a:spcBef>
                  <a:buNone/>
                </a:pPr>
                <a:r>
                  <a:rPr lang="en-US" b="1" dirty="0">
                    <a:solidFill>
                      <a:srgbClr val="92D050"/>
                    </a:solidFill>
                    <a:latin typeface="Consolas" pitchFamily="49" charset="0"/>
                    <a:cs typeface="Consolas" pitchFamily="49" charset="0"/>
                  </a:rPr>
                  <a:t>	BUILD-MAX-HEAP(A)</a:t>
                </a:r>
              </a:p>
              <a:p>
                <a:pPr marL="0" indent="0">
                  <a:spcBef>
                    <a:spcPts val="600"/>
                  </a:spcBef>
                  <a:buNone/>
                </a:pPr>
                <a:r>
                  <a:rPr lang="en-US" b="1" dirty="0">
                    <a:solidFill>
                      <a:srgbClr val="92D050"/>
                    </a:solidFill>
                    <a:latin typeface="Consolas" pitchFamily="49" charset="0"/>
                    <a:cs typeface="Consolas" pitchFamily="49" charset="0"/>
                  </a:rPr>
                  <a:t>	</a:t>
                </a:r>
                <a:r>
                  <a:rPr lang="en-US" b="1" dirty="0">
                    <a:solidFill>
                      <a:srgbClr val="FBD9EB"/>
                    </a:solidFill>
                    <a:latin typeface="Consolas" pitchFamily="49" charset="0"/>
                    <a:cs typeface="Consolas" pitchFamily="49" charset="0"/>
                  </a:rPr>
                  <a:t>for </a:t>
                </a:r>
                <a:r>
                  <a:rPr lang="en-US" b="1" dirty="0" err="1">
                    <a:solidFill>
                      <a:srgbClr val="FBD9EB"/>
                    </a:solidFill>
                    <a:latin typeface="Consolas" pitchFamily="49" charset="0"/>
                    <a:cs typeface="Consolas" pitchFamily="49" charset="0"/>
                  </a:rPr>
                  <a:t>i</a:t>
                </a:r>
                <a:r>
                  <a:rPr lang="en-US" b="1" dirty="0">
                    <a:solidFill>
                      <a:srgbClr val="FBD9EB"/>
                    </a:solidFill>
                    <a:latin typeface="Consolas" pitchFamily="49" charset="0"/>
                    <a:cs typeface="Consolas" pitchFamily="49" charset="0"/>
                  </a:rPr>
                  <a:t> </a:t>
                </a:r>
                <a14:m>
                  <m:oMath xmlns:m="http://schemas.openxmlformats.org/officeDocument/2006/math">
                    <m:r>
                      <a:rPr lang="en-US" b="1" i="1" dirty="0">
                        <a:solidFill>
                          <a:srgbClr val="FBD9EB"/>
                        </a:solidFill>
                        <a:latin typeface="Cambria Math" panose="02040503050406030204" pitchFamily="18" charset="0"/>
                        <a:cs typeface="Consolas" pitchFamily="49" charset="0"/>
                      </a:rPr>
                      <m:t>←</m:t>
                    </m:r>
                  </m:oMath>
                </a14:m>
                <a:r>
                  <a:rPr lang="en-US" b="1" dirty="0">
                    <a:solidFill>
                      <a:srgbClr val="FBD9EB"/>
                    </a:solidFill>
                    <a:latin typeface="Consolas" pitchFamily="49" charset="0"/>
                    <a:cs typeface="Consolas" pitchFamily="49" charset="0"/>
                  </a:rPr>
                  <a:t> length[A] </a:t>
                </a:r>
                <a:r>
                  <a:rPr lang="en-US" b="1" dirty="0" err="1">
                    <a:solidFill>
                      <a:srgbClr val="FBD9EB"/>
                    </a:solidFill>
                    <a:latin typeface="Consolas" pitchFamily="49" charset="0"/>
                    <a:cs typeface="Consolas" pitchFamily="49" charset="0"/>
                  </a:rPr>
                  <a:t>downto</a:t>
                </a:r>
                <a:r>
                  <a:rPr lang="en-US" b="1" dirty="0">
                    <a:solidFill>
                      <a:srgbClr val="FBD9EB"/>
                    </a:solidFill>
                    <a:latin typeface="Consolas" pitchFamily="49" charset="0"/>
                    <a:cs typeface="Consolas" pitchFamily="49" charset="0"/>
                  </a:rPr>
                  <a:t> 2</a:t>
                </a:r>
              </a:p>
              <a:p>
                <a:pPr marL="0" indent="0">
                  <a:spcBef>
                    <a:spcPts val="600"/>
                  </a:spcBef>
                  <a:buNone/>
                </a:pPr>
                <a:r>
                  <a:rPr lang="en-US" b="1" dirty="0">
                    <a:solidFill>
                      <a:srgbClr val="FBD9EB"/>
                    </a:solidFill>
                    <a:latin typeface="Consolas" pitchFamily="49" charset="0"/>
                    <a:cs typeface="Consolas" pitchFamily="49" charset="0"/>
                  </a:rPr>
                  <a:t>		do exchange A[1] </a:t>
                </a:r>
                <a14:m>
                  <m:oMath xmlns:m="http://schemas.openxmlformats.org/officeDocument/2006/math">
                    <m:r>
                      <a:rPr lang="en-US" b="1" i="1" dirty="0">
                        <a:solidFill>
                          <a:srgbClr val="FBD9EB"/>
                        </a:solidFill>
                        <a:latin typeface="Cambria Math" panose="02040503050406030204" pitchFamily="18" charset="0"/>
                        <a:cs typeface="Consolas" pitchFamily="49" charset="0"/>
                      </a:rPr>
                      <m:t>↔</m:t>
                    </m:r>
                  </m:oMath>
                </a14:m>
                <a:r>
                  <a:rPr lang="en-US" b="1" dirty="0">
                    <a:solidFill>
                      <a:srgbClr val="FBD9EB"/>
                    </a:solidFill>
                    <a:latin typeface="Consolas" pitchFamily="49" charset="0"/>
                    <a:cs typeface="Consolas" pitchFamily="49" charset="0"/>
                  </a:rPr>
                  <a:t> A[</a:t>
                </a:r>
                <a:r>
                  <a:rPr lang="en-US" b="1" dirty="0" err="1">
                    <a:solidFill>
                      <a:srgbClr val="FBD9EB"/>
                    </a:solidFill>
                    <a:latin typeface="Consolas" pitchFamily="49" charset="0"/>
                    <a:cs typeface="Consolas" pitchFamily="49" charset="0"/>
                  </a:rPr>
                  <a:t>i</a:t>
                </a:r>
                <a:r>
                  <a:rPr lang="en-US" b="1" dirty="0">
                    <a:solidFill>
                      <a:srgbClr val="FBD9EB"/>
                    </a:solidFill>
                    <a:latin typeface="Consolas" pitchFamily="49" charset="0"/>
                    <a:cs typeface="Consolas" pitchFamily="49" charset="0"/>
                  </a:rPr>
                  <a:t>]</a:t>
                </a:r>
              </a:p>
              <a:p>
                <a:pPr marL="0" indent="0">
                  <a:spcBef>
                    <a:spcPts val="600"/>
                  </a:spcBef>
                  <a:buNone/>
                </a:pPr>
                <a:r>
                  <a:rPr lang="en-US" b="1" dirty="0">
                    <a:solidFill>
                      <a:srgbClr val="FBD9EB"/>
                    </a:solidFill>
                    <a:latin typeface="Consolas" pitchFamily="49" charset="0"/>
                    <a:cs typeface="Consolas" pitchFamily="49" charset="0"/>
                  </a:rPr>
                  <a:t>		heap-size[A] </a:t>
                </a:r>
                <a14:m>
                  <m:oMath xmlns:m="http://schemas.openxmlformats.org/officeDocument/2006/math">
                    <m:r>
                      <a:rPr lang="en-US" b="1" i="1" dirty="0">
                        <a:solidFill>
                          <a:srgbClr val="FBD9EB"/>
                        </a:solidFill>
                        <a:latin typeface="Cambria Math" panose="02040503050406030204" pitchFamily="18" charset="0"/>
                        <a:cs typeface="Consolas" pitchFamily="49" charset="0"/>
                      </a:rPr>
                      <m:t>←</m:t>
                    </m:r>
                  </m:oMath>
                </a14:m>
                <a:r>
                  <a:rPr lang="en-US" b="1" dirty="0">
                    <a:solidFill>
                      <a:srgbClr val="FBD9EB"/>
                    </a:solidFill>
                    <a:latin typeface="Consolas" pitchFamily="49" charset="0"/>
                    <a:cs typeface="Consolas" pitchFamily="49" charset="0"/>
                  </a:rPr>
                  <a:t> heap-size[A] – 1</a:t>
                </a:r>
              </a:p>
              <a:p>
                <a:pPr marL="0" indent="0">
                  <a:spcBef>
                    <a:spcPts val="600"/>
                  </a:spcBef>
                  <a:buNone/>
                </a:pPr>
                <a:r>
                  <a:rPr lang="en-US" b="1" dirty="0">
                    <a:solidFill>
                      <a:srgbClr val="FBD9EB"/>
                    </a:solidFill>
                    <a:latin typeface="Consolas" pitchFamily="49" charset="0"/>
                    <a:cs typeface="Consolas" pitchFamily="49" charset="0"/>
                  </a:rPr>
                  <a:t>		</a:t>
                </a:r>
                <a:r>
                  <a:rPr lang="en-US" b="1" dirty="0">
                    <a:solidFill>
                      <a:srgbClr val="ED524F"/>
                    </a:solidFill>
                    <a:latin typeface="Consolas" pitchFamily="49" charset="0"/>
                    <a:cs typeface="Consolas" pitchFamily="49" charset="0"/>
                  </a:rPr>
                  <a:t>MAX-HEAPIFY(A, 1, n)</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18" t="-1527"/>
                </a:stretch>
              </a:blipFill>
            </p:spPr>
            <p:txBody>
              <a:bodyPr/>
              <a:lstStyle/>
              <a:p>
                <a:r>
                  <a:rPr lang="en-US">
                    <a:noFill/>
                  </a:rPr>
                  <a:t> </a:t>
                </a:r>
              </a:p>
            </p:txBody>
          </p:sp>
        </mc:Fallback>
      </mc:AlternateContent>
      <p:sp>
        <p:nvSpPr>
          <p:cNvPr id="4" name="Rounded Rectangle 3"/>
          <p:cNvSpPr/>
          <p:nvPr/>
        </p:nvSpPr>
        <p:spPr>
          <a:xfrm>
            <a:off x="974271" y="2471057"/>
            <a:ext cx="3108960" cy="457200"/>
          </a:xfrm>
          <a:prstGeom prst="roundRect">
            <a:avLst/>
          </a:prstGeom>
          <a:noFill/>
          <a:ln w="1905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9044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1" presetClass="entr" presetSubtype="1" fill="hold" grpId="0" nodeType="click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wheel(1)">
                                      <p:cBhvr>
                                        <p:cTn id="46"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Algorithm </a:t>
            </a:r>
          </a:p>
        </p:txBody>
      </p:sp>
      <p:sp>
        <p:nvSpPr>
          <p:cNvPr id="4" name="TextBox 3"/>
          <p:cNvSpPr txBox="1"/>
          <p:nvPr/>
        </p:nvSpPr>
        <p:spPr>
          <a:xfrm>
            <a:off x="343989" y="907868"/>
            <a:ext cx="4953000" cy="1677382"/>
          </a:xfrm>
          <a:prstGeom prst="rect">
            <a:avLst/>
          </a:prstGeom>
          <a:solidFill>
            <a:srgbClr val="424242"/>
          </a:solidFill>
        </p:spPr>
        <p:style>
          <a:lnRef idx="0">
            <a:scrgbClr r="0" g="0" b="0"/>
          </a:lnRef>
          <a:fillRef idx="1001">
            <a:schemeClr val="lt2"/>
          </a:fillRef>
          <a:effectRef idx="0">
            <a:scrgbClr r="0" g="0" b="0"/>
          </a:effectRef>
          <a:fontRef idx="major"/>
        </p:style>
        <p:txBody>
          <a:bodyPr wrap="square" rtlCol="0">
            <a:spAutoFit/>
          </a:bodyPr>
          <a:lstStyle/>
          <a:p>
            <a:pPr>
              <a:spcBef>
                <a:spcPts val="600"/>
              </a:spcBef>
            </a:pPr>
            <a:r>
              <a:rPr lang="en-IN" sz="2200" b="1" dirty="0">
                <a:solidFill>
                  <a:srgbClr val="92D050"/>
                </a:solidFill>
                <a:latin typeface="Consolas" pitchFamily="49" charset="0"/>
                <a:cs typeface="Consolas" pitchFamily="49" charset="0"/>
              </a:rPr>
              <a:t>Algorithm: </a:t>
            </a:r>
            <a:r>
              <a:rPr lang="en-US" sz="2200" b="1" dirty="0">
                <a:solidFill>
                  <a:srgbClr val="92D050"/>
                </a:solidFill>
                <a:latin typeface="Consolas" pitchFamily="49" charset="0"/>
                <a:cs typeface="Consolas" pitchFamily="49" charset="0"/>
              </a:rPr>
              <a:t>BUILD-MAX-HEAP(A)</a:t>
            </a:r>
          </a:p>
          <a:p>
            <a:pPr>
              <a:spcBef>
                <a:spcPts val="600"/>
              </a:spcBef>
            </a:pPr>
            <a:r>
              <a:rPr lang="en-US" sz="2200" b="1" dirty="0">
                <a:solidFill>
                  <a:srgbClr val="92D050"/>
                </a:solidFill>
                <a:latin typeface="Consolas" pitchFamily="49" charset="0"/>
                <a:cs typeface="Consolas" pitchFamily="49" charset="0"/>
              </a:rPr>
              <a:t>heap-size[A] ← length[A]</a:t>
            </a:r>
          </a:p>
          <a:p>
            <a:pPr>
              <a:spcBef>
                <a:spcPts val="600"/>
              </a:spcBef>
            </a:pPr>
            <a:r>
              <a:rPr lang="en-US" sz="2200" b="1" dirty="0">
                <a:solidFill>
                  <a:srgbClr val="92D050"/>
                </a:solidFill>
                <a:latin typeface="Consolas" pitchFamily="49" charset="0"/>
                <a:cs typeface="Consolas" pitchFamily="49" charset="0"/>
              </a:rPr>
              <a:t>for </a:t>
            </a:r>
            <a:r>
              <a:rPr lang="en-US" sz="2200" b="1" dirty="0" err="1">
                <a:solidFill>
                  <a:srgbClr val="92D050"/>
                </a:solidFill>
                <a:latin typeface="Consolas" pitchFamily="49" charset="0"/>
                <a:cs typeface="Consolas" pitchFamily="49" charset="0"/>
              </a:rPr>
              <a:t>i</a:t>
            </a:r>
            <a:r>
              <a:rPr lang="en-US" sz="2200" b="1" dirty="0">
                <a:solidFill>
                  <a:srgbClr val="92D050"/>
                </a:solidFill>
                <a:latin typeface="Consolas" pitchFamily="49" charset="0"/>
                <a:cs typeface="Consolas" pitchFamily="49" charset="0"/>
              </a:rPr>
              <a:t> ← ⌊length[A]/2⌋ </a:t>
            </a:r>
            <a:r>
              <a:rPr lang="en-US" sz="2200" b="1" dirty="0" err="1">
                <a:solidFill>
                  <a:srgbClr val="92D050"/>
                </a:solidFill>
                <a:latin typeface="Consolas" pitchFamily="49" charset="0"/>
                <a:cs typeface="Consolas" pitchFamily="49" charset="0"/>
              </a:rPr>
              <a:t>downto</a:t>
            </a:r>
            <a:r>
              <a:rPr lang="en-US" sz="2200" b="1" dirty="0">
                <a:solidFill>
                  <a:srgbClr val="92D050"/>
                </a:solidFill>
                <a:latin typeface="Consolas" pitchFamily="49" charset="0"/>
                <a:cs typeface="Consolas" pitchFamily="49" charset="0"/>
              </a:rPr>
              <a:t> 1</a:t>
            </a:r>
          </a:p>
          <a:p>
            <a:pPr lvl="1">
              <a:spcBef>
                <a:spcPts val="600"/>
              </a:spcBef>
            </a:pPr>
            <a:r>
              <a:rPr lang="en-US" sz="2200" b="1" dirty="0">
                <a:solidFill>
                  <a:srgbClr val="92D050"/>
                </a:solidFill>
                <a:latin typeface="Consolas" pitchFamily="49" charset="0"/>
                <a:cs typeface="Consolas" pitchFamily="49" charset="0"/>
              </a:rPr>
              <a:t>do </a:t>
            </a:r>
            <a:r>
              <a:rPr lang="en-US" sz="2200" b="1" dirty="0">
                <a:solidFill>
                  <a:srgbClr val="ED524F"/>
                </a:solidFill>
                <a:latin typeface="Consolas" pitchFamily="49" charset="0"/>
                <a:cs typeface="Consolas" pitchFamily="49" charset="0"/>
              </a:rPr>
              <a:t>MAX-HEAPIFY(A, </a:t>
            </a:r>
            <a:r>
              <a:rPr lang="en-US" sz="2200" b="1" dirty="0" err="1">
                <a:solidFill>
                  <a:srgbClr val="ED524F"/>
                </a:solidFill>
                <a:latin typeface="Consolas" pitchFamily="49" charset="0"/>
                <a:cs typeface="Consolas" pitchFamily="49" charset="0"/>
              </a:rPr>
              <a:t>i</a:t>
            </a:r>
            <a:r>
              <a:rPr lang="en-US" sz="2200" b="1" dirty="0">
                <a:solidFill>
                  <a:srgbClr val="ED524F"/>
                </a:solidFill>
                <a:latin typeface="Consolas" pitchFamily="49" charset="0"/>
                <a:cs typeface="Consolas" pitchFamily="49" charset="0"/>
              </a:rPr>
              <a:t>)</a:t>
            </a:r>
          </a:p>
        </p:txBody>
      </p:sp>
      <p:cxnSp>
        <p:nvCxnSpPr>
          <p:cNvPr id="5" name="Straight Connector 4"/>
          <p:cNvCxnSpPr/>
          <p:nvPr/>
        </p:nvCxnSpPr>
        <p:spPr>
          <a:xfrm>
            <a:off x="381000" y="3657600"/>
            <a:ext cx="1143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 name="Table 5"/>
          <p:cNvGraphicFramePr>
            <a:graphicFrameLocks noGrp="1"/>
          </p:cNvGraphicFramePr>
          <p:nvPr/>
        </p:nvGraphicFramePr>
        <p:xfrm>
          <a:off x="5503358" y="907868"/>
          <a:ext cx="3291840" cy="548640"/>
        </p:xfrm>
        <a:graphic>
          <a:graphicData uri="http://schemas.openxmlformats.org/drawingml/2006/table">
            <a:tbl>
              <a:tblPr firstRow="1" bandRow="1">
                <a:tableStyleId>{5940675A-B579-460E-94D1-54222C63F5DA}</a:tableStyleId>
              </a:tblPr>
              <a:tblGrid>
                <a:gridCol w="548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1751283045"/>
                    </a:ext>
                  </a:extLst>
                </a:gridCol>
              </a:tblGrid>
              <a:tr h="548640">
                <a:tc>
                  <a:txBody>
                    <a:bodyPr/>
                    <a:lstStyle/>
                    <a:p>
                      <a:pPr algn="ctr"/>
                      <a:r>
                        <a:rPr lang="en-US" sz="2400" b="0" dirty="0"/>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t>2</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t>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TextBox 6"/>
          <p:cNvSpPr txBox="1"/>
          <p:nvPr/>
        </p:nvSpPr>
        <p:spPr>
          <a:xfrm>
            <a:off x="1342696" y="2882554"/>
            <a:ext cx="2286000" cy="461665"/>
          </a:xfrm>
          <a:prstGeom prst="rect">
            <a:avLst/>
          </a:prstGeom>
          <a:solidFill>
            <a:schemeClr val="bg1">
              <a:lumMod val="85000"/>
            </a:schemeClr>
          </a:solidFill>
        </p:spPr>
        <p:txBody>
          <a:bodyPr wrap="square" rtlCol="0">
            <a:spAutoFit/>
          </a:bodyPr>
          <a:lstStyle/>
          <a:p>
            <a:pPr algn="ctr"/>
            <a:r>
              <a:rPr lang="en-US" sz="2400" b="1" dirty="0">
                <a:solidFill>
                  <a:srgbClr val="A71160"/>
                </a:solidFill>
              </a:rPr>
              <a:t>heap-size[A] = 6</a:t>
            </a:r>
          </a:p>
        </p:txBody>
      </p:sp>
      <p:sp>
        <p:nvSpPr>
          <p:cNvPr id="8" name="Rounded Rectangle 7"/>
          <p:cNvSpPr/>
          <p:nvPr/>
        </p:nvSpPr>
        <p:spPr>
          <a:xfrm>
            <a:off x="370112" y="1347129"/>
            <a:ext cx="4645641" cy="386368"/>
          </a:xfrm>
          <a:prstGeom prst="roundRect">
            <a:avLst/>
          </a:prstGeom>
          <a:noFill/>
          <a:ln w="19050">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642303" y="4243452"/>
            <a:ext cx="656525" cy="400110"/>
          </a:xfrm>
          <a:prstGeom prst="rect">
            <a:avLst/>
          </a:prstGeom>
          <a:noFill/>
          <a:ln w="28575">
            <a:solidFill>
              <a:schemeClr val="tx1"/>
            </a:solidFill>
          </a:ln>
        </p:spPr>
        <p:txBody>
          <a:bodyPr wrap="square" rtlCol="0">
            <a:spAutoFit/>
          </a:bodyPr>
          <a:lstStyle/>
          <a:p>
            <a:r>
              <a:rPr lang="en-US" sz="2000" b="1" dirty="0" err="1">
                <a:solidFill>
                  <a:srgbClr val="A71160"/>
                </a:solidFill>
              </a:rPr>
              <a:t>i</a:t>
            </a:r>
            <a:r>
              <a:rPr lang="en-US" sz="2000" b="1" dirty="0">
                <a:solidFill>
                  <a:srgbClr val="A71160"/>
                </a:solidFill>
              </a:rPr>
              <a:t> = 3</a:t>
            </a:r>
          </a:p>
        </p:txBody>
      </p:sp>
      <p:grpSp>
        <p:nvGrpSpPr>
          <p:cNvPr id="115" name="Group 114"/>
          <p:cNvGrpSpPr/>
          <p:nvPr/>
        </p:nvGrpSpPr>
        <p:grpSpPr>
          <a:xfrm>
            <a:off x="6297918" y="1558608"/>
            <a:ext cx="2052062" cy="1884429"/>
            <a:chOff x="6297918" y="1558608"/>
            <a:chExt cx="2052062" cy="1884429"/>
          </a:xfrm>
        </p:grpSpPr>
        <p:cxnSp>
          <p:nvCxnSpPr>
            <p:cNvPr id="18" name="Straight Connector 17"/>
            <p:cNvCxnSpPr>
              <a:stCxn id="23" idx="4"/>
              <a:endCxn id="28" idx="0"/>
            </p:cNvCxnSpPr>
            <p:nvPr/>
          </p:nvCxnSpPr>
          <p:spPr>
            <a:xfrm flipH="1">
              <a:off x="8050091" y="2734026"/>
              <a:ext cx="43251" cy="18207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7208752" y="1558608"/>
              <a:ext cx="513275" cy="526931"/>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95000"/>
                    </a:schemeClr>
                  </a:solidFill>
                </a:rPr>
                <a:t>4</a:t>
              </a:r>
            </a:p>
          </p:txBody>
        </p:sp>
        <p:cxnSp>
          <p:nvCxnSpPr>
            <p:cNvPr id="20" name="Straight Connector 19"/>
            <p:cNvCxnSpPr>
              <a:stCxn id="19" idx="3"/>
              <a:endCxn id="21" idx="0"/>
            </p:cNvCxnSpPr>
            <p:nvPr/>
          </p:nvCxnSpPr>
          <p:spPr>
            <a:xfrm flipH="1">
              <a:off x="6938988" y="2008373"/>
              <a:ext cx="344932" cy="2276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6682350" y="2235981"/>
              <a:ext cx="513275" cy="526931"/>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95000"/>
                    </a:schemeClr>
                  </a:solidFill>
                </a:rPr>
                <a:t>1</a:t>
              </a:r>
            </a:p>
          </p:txBody>
        </p:sp>
        <p:cxnSp>
          <p:nvCxnSpPr>
            <p:cNvPr id="22" name="Straight Connector 21"/>
            <p:cNvCxnSpPr>
              <a:stCxn id="19" idx="5"/>
              <a:endCxn id="23" idx="0"/>
            </p:cNvCxnSpPr>
            <p:nvPr/>
          </p:nvCxnSpPr>
          <p:spPr>
            <a:xfrm>
              <a:off x="7646859" y="2008374"/>
              <a:ext cx="446483" cy="19872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7836705" y="2207093"/>
              <a:ext cx="513275" cy="526931"/>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95000"/>
                    </a:schemeClr>
                  </a:solidFill>
                </a:rPr>
                <a:t>3</a:t>
              </a:r>
            </a:p>
          </p:txBody>
        </p:sp>
        <p:cxnSp>
          <p:nvCxnSpPr>
            <p:cNvPr id="24" name="Straight Connector 23"/>
            <p:cNvCxnSpPr>
              <a:stCxn id="21" idx="3"/>
              <a:endCxn id="25" idx="0"/>
            </p:cNvCxnSpPr>
            <p:nvPr/>
          </p:nvCxnSpPr>
          <p:spPr>
            <a:xfrm flipH="1">
              <a:off x="6554556" y="2685747"/>
              <a:ext cx="202962" cy="23035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6297918" y="2916105"/>
              <a:ext cx="513275" cy="526932"/>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95000"/>
                    </a:schemeClr>
                  </a:solidFill>
                </a:rPr>
                <a:t>2</a:t>
              </a:r>
            </a:p>
          </p:txBody>
        </p:sp>
        <p:cxnSp>
          <p:nvCxnSpPr>
            <p:cNvPr id="26" name="Straight Connector 25"/>
            <p:cNvCxnSpPr>
              <a:stCxn id="21" idx="5"/>
              <a:endCxn id="27" idx="0"/>
            </p:cNvCxnSpPr>
            <p:nvPr/>
          </p:nvCxnSpPr>
          <p:spPr>
            <a:xfrm>
              <a:off x="7120458" y="2685749"/>
              <a:ext cx="236095" cy="21376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7099916" y="2899510"/>
              <a:ext cx="513275" cy="526932"/>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95000"/>
                    </a:schemeClr>
                  </a:solidFill>
                </a:rPr>
                <a:t>9</a:t>
              </a:r>
            </a:p>
          </p:txBody>
        </p:sp>
        <p:sp>
          <p:nvSpPr>
            <p:cNvPr id="28" name="Oval 27"/>
            <p:cNvSpPr/>
            <p:nvPr/>
          </p:nvSpPr>
          <p:spPr>
            <a:xfrm>
              <a:off x="7793452" y="2916102"/>
              <a:ext cx="513275" cy="526932"/>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95000"/>
                    </a:schemeClr>
                  </a:solidFill>
                </a:rPr>
                <a:t>7</a:t>
              </a:r>
            </a:p>
          </p:txBody>
        </p:sp>
      </p:grpSp>
      <p:grpSp>
        <p:nvGrpSpPr>
          <p:cNvPr id="114" name="Group 113"/>
          <p:cNvGrpSpPr/>
          <p:nvPr/>
        </p:nvGrpSpPr>
        <p:grpSpPr>
          <a:xfrm>
            <a:off x="6165668" y="1495697"/>
            <a:ext cx="1840785" cy="1588951"/>
            <a:chOff x="6165668" y="1495697"/>
            <a:chExt cx="1840785" cy="1588951"/>
          </a:xfrm>
        </p:grpSpPr>
        <p:sp>
          <p:nvSpPr>
            <p:cNvPr id="12" name="TextBox 11"/>
            <p:cNvSpPr txBox="1"/>
            <p:nvPr/>
          </p:nvSpPr>
          <p:spPr>
            <a:xfrm>
              <a:off x="7004124" y="1495697"/>
              <a:ext cx="276606" cy="337090"/>
            </a:xfrm>
            <a:prstGeom prst="rect">
              <a:avLst/>
            </a:prstGeom>
            <a:noFill/>
          </p:spPr>
          <p:txBody>
            <a:bodyPr wrap="square" rtlCol="0">
              <a:spAutoFit/>
            </a:bodyPr>
            <a:lstStyle/>
            <a:p>
              <a:r>
                <a:rPr lang="en-US" dirty="0">
                  <a:solidFill>
                    <a:srgbClr val="C00000"/>
                  </a:solidFill>
                </a:rPr>
                <a:t>1</a:t>
              </a:r>
            </a:p>
          </p:txBody>
        </p:sp>
        <p:sp>
          <p:nvSpPr>
            <p:cNvPr id="13" name="TextBox 12"/>
            <p:cNvSpPr txBox="1"/>
            <p:nvPr/>
          </p:nvSpPr>
          <p:spPr>
            <a:xfrm>
              <a:off x="6555009" y="2052080"/>
              <a:ext cx="276606" cy="337090"/>
            </a:xfrm>
            <a:prstGeom prst="rect">
              <a:avLst/>
            </a:prstGeom>
            <a:noFill/>
          </p:spPr>
          <p:txBody>
            <a:bodyPr wrap="square" rtlCol="0">
              <a:spAutoFit/>
            </a:bodyPr>
            <a:lstStyle/>
            <a:p>
              <a:r>
                <a:rPr lang="en-US" dirty="0">
                  <a:solidFill>
                    <a:srgbClr val="C00000"/>
                  </a:solidFill>
                </a:rPr>
                <a:t>2</a:t>
              </a:r>
            </a:p>
          </p:txBody>
        </p:sp>
        <p:sp>
          <p:nvSpPr>
            <p:cNvPr id="14" name="TextBox 13"/>
            <p:cNvSpPr txBox="1"/>
            <p:nvPr/>
          </p:nvSpPr>
          <p:spPr>
            <a:xfrm>
              <a:off x="7702074" y="2059193"/>
              <a:ext cx="253623" cy="337090"/>
            </a:xfrm>
            <a:prstGeom prst="rect">
              <a:avLst/>
            </a:prstGeom>
            <a:noFill/>
          </p:spPr>
          <p:txBody>
            <a:bodyPr wrap="square" rtlCol="0">
              <a:spAutoFit/>
            </a:bodyPr>
            <a:lstStyle/>
            <a:p>
              <a:r>
                <a:rPr lang="en-US" dirty="0">
                  <a:solidFill>
                    <a:srgbClr val="C00000"/>
                  </a:solidFill>
                </a:rPr>
                <a:t>3</a:t>
              </a:r>
            </a:p>
          </p:txBody>
        </p:sp>
        <p:sp>
          <p:nvSpPr>
            <p:cNvPr id="15" name="TextBox 14"/>
            <p:cNvSpPr txBox="1"/>
            <p:nvPr/>
          </p:nvSpPr>
          <p:spPr>
            <a:xfrm>
              <a:off x="6165668" y="2721681"/>
              <a:ext cx="276606" cy="337090"/>
            </a:xfrm>
            <a:prstGeom prst="rect">
              <a:avLst/>
            </a:prstGeom>
            <a:noFill/>
          </p:spPr>
          <p:txBody>
            <a:bodyPr wrap="square" rtlCol="0">
              <a:spAutoFit/>
            </a:bodyPr>
            <a:lstStyle/>
            <a:p>
              <a:r>
                <a:rPr lang="en-US" dirty="0">
                  <a:solidFill>
                    <a:srgbClr val="C00000"/>
                  </a:solidFill>
                </a:rPr>
                <a:t>4</a:t>
              </a:r>
            </a:p>
          </p:txBody>
        </p:sp>
        <p:sp>
          <p:nvSpPr>
            <p:cNvPr id="16" name="TextBox 15"/>
            <p:cNvSpPr txBox="1"/>
            <p:nvPr/>
          </p:nvSpPr>
          <p:spPr>
            <a:xfrm>
              <a:off x="6959934" y="2747558"/>
              <a:ext cx="276606" cy="337090"/>
            </a:xfrm>
            <a:prstGeom prst="rect">
              <a:avLst/>
            </a:prstGeom>
            <a:noFill/>
          </p:spPr>
          <p:txBody>
            <a:bodyPr wrap="square" rtlCol="0">
              <a:spAutoFit/>
            </a:bodyPr>
            <a:lstStyle/>
            <a:p>
              <a:r>
                <a:rPr lang="en-US" dirty="0">
                  <a:solidFill>
                    <a:srgbClr val="C00000"/>
                  </a:solidFill>
                </a:rPr>
                <a:t>5</a:t>
              </a:r>
            </a:p>
          </p:txBody>
        </p:sp>
        <p:sp>
          <p:nvSpPr>
            <p:cNvPr id="17" name="TextBox 16"/>
            <p:cNvSpPr txBox="1"/>
            <p:nvPr/>
          </p:nvSpPr>
          <p:spPr>
            <a:xfrm>
              <a:off x="7729847" y="2688659"/>
              <a:ext cx="276606" cy="337090"/>
            </a:xfrm>
            <a:prstGeom prst="rect">
              <a:avLst/>
            </a:prstGeom>
            <a:noFill/>
          </p:spPr>
          <p:txBody>
            <a:bodyPr wrap="square" rtlCol="0">
              <a:spAutoFit/>
            </a:bodyPr>
            <a:lstStyle/>
            <a:p>
              <a:r>
                <a:rPr lang="en-US" dirty="0">
                  <a:solidFill>
                    <a:srgbClr val="C00000"/>
                  </a:solidFill>
                </a:rPr>
                <a:t>6</a:t>
              </a:r>
            </a:p>
          </p:txBody>
        </p:sp>
      </p:grpSp>
      <p:grpSp>
        <p:nvGrpSpPr>
          <p:cNvPr id="29" name="Group 28"/>
          <p:cNvGrpSpPr/>
          <p:nvPr/>
        </p:nvGrpSpPr>
        <p:grpSpPr>
          <a:xfrm>
            <a:off x="930202" y="4192871"/>
            <a:ext cx="2594235" cy="2191536"/>
            <a:chOff x="5838477" y="1752600"/>
            <a:chExt cx="2594235" cy="2191536"/>
          </a:xfrm>
        </p:grpSpPr>
        <p:grpSp>
          <p:nvGrpSpPr>
            <p:cNvPr id="30" name="Group 29"/>
            <p:cNvGrpSpPr/>
            <p:nvPr/>
          </p:nvGrpSpPr>
          <p:grpSpPr>
            <a:xfrm>
              <a:off x="5995546" y="1821529"/>
              <a:ext cx="2437166" cy="2122607"/>
              <a:chOff x="5522950" y="3505200"/>
              <a:chExt cx="2437166" cy="2122607"/>
            </a:xfrm>
          </p:grpSpPr>
          <p:cxnSp>
            <p:nvCxnSpPr>
              <p:cNvPr id="37" name="Straight Connector 36"/>
              <p:cNvCxnSpPr>
                <a:stCxn id="42" idx="4"/>
                <a:endCxn id="47" idx="0"/>
              </p:cNvCxnSpPr>
              <p:nvPr/>
            </p:nvCxnSpPr>
            <p:spPr>
              <a:xfrm flipH="1">
                <a:off x="7535815" y="4793045"/>
                <a:ext cx="119501" cy="25742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6604717" y="3505200"/>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4</a:t>
                </a:r>
              </a:p>
            </p:txBody>
          </p:sp>
          <p:cxnSp>
            <p:nvCxnSpPr>
              <p:cNvPr id="39" name="Straight Connector 38"/>
              <p:cNvCxnSpPr>
                <a:stCxn id="38" idx="3"/>
                <a:endCxn id="40" idx="0"/>
              </p:cNvCxnSpPr>
              <p:nvPr/>
            </p:nvCxnSpPr>
            <p:spPr>
              <a:xfrm flipH="1">
                <a:off x="6284327" y="3997985"/>
                <a:ext cx="409664" cy="24937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5979527" y="4247363"/>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cxnSp>
            <p:nvCxnSpPr>
              <p:cNvPr id="41" name="Straight Connector 40"/>
              <p:cNvCxnSpPr>
                <a:stCxn id="38" idx="5"/>
                <a:endCxn id="42" idx="0"/>
              </p:cNvCxnSpPr>
              <p:nvPr/>
            </p:nvCxnSpPr>
            <p:spPr>
              <a:xfrm>
                <a:off x="7125043" y="3997985"/>
                <a:ext cx="530273" cy="21772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2" name="Oval 41"/>
              <p:cNvSpPr/>
              <p:nvPr/>
            </p:nvSpPr>
            <p:spPr>
              <a:xfrm>
                <a:off x="7350516" y="4215712"/>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3</a:t>
                </a:r>
              </a:p>
            </p:txBody>
          </p:sp>
          <p:cxnSp>
            <p:nvCxnSpPr>
              <p:cNvPr id="43" name="Straight Connector 42"/>
              <p:cNvCxnSpPr>
                <a:stCxn id="40" idx="3"/>
                <a:endCxn id="44" idx="0"/>
              </p:cNvCxnSpPr>
              <p:nvPr/>
            </p:nvCxnSpPr>
            <p:spPr>
              <a:xfrm flipH="1">
                <a:off x="5827750" y="4740148"/>
                <a:ext cx="241051" cy="25239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4" name="Oval 43"/>
              <p:cNvSpPr/>
              <p:nvPr/>
            </p:nvSpPr>
            <p:spPr>
              <a:xfrm>
                <a:off x="5522950" y="4992538"/>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2</a:t>
                </a:r>
              </a:p>
            </p:txBody>
          </p:sp>
          <p:cxnSp>
            <p:nvCxnSpPr>
              <p:cNvPr id="45" name="Straight Connector 44"/>
              <p:cNvCxnSpPr>
                <a:stCxn id="40" idx="5"/>
                <a:endCxn id="46" idx="0"/>
              </p:cNvCxnSpPr>
              <p:nvPr/>
            </p:nvCxnSpPr>
            <p:spPr>
              <a:xfrm>
                <a:off x="6499853" y="4740148"/>
                <a:ext cx="280402" cy="28645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6475455" y="5026607"/>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9</a:t>
                </a:r>
              </a:p>
            </p:txBody>
          </p:sp>
          <p:sp>
            <p:nvSpPr>
              <p:cNvPr id="47" name="Oval 46"/>
              <p:cNvSpPr/>
              <p:nvPr/>
            </p:nvSpPr>
            <p:spPr>
              <a:xfrm>
                <a:off x="7231015" y="5050474"/>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7</a:t>
                </a:r>
              </a:p>
            </p:txBody>
          </p:sp>
        </p:grpSp>
        <p:sp>
          <p:nvSpPr>
            <p:cNvPr id="31" name="TextBox 30"/>
            <p:cNvSpPr txBox="1"/>
            <p:nvPr/>
          </p:nvSpPr>
          <p:spPr>
            <a:xfrm>
              <a:off x="6834284" y="1752600"/>
              <a:ext cx="328516" cy="369332"/>
            </a:xfrm>
            <a:prstGeom prst="rect">
              <a:avLst/>
            </a:prstGeom>
            <a:noFill/>
          </p:spPr>
          <p:txBody>
            <a:bodyPr wrap="square" rtlCol="0">
              <a:spAutoFit/>
            </a:bodyPr>
            <a:lstStyle/>
            <a:p>
              <a:r>
                <a:rPr lang="en-US" dirty="0">
                  <a:solidFill>
                    <a:srgbClr val="C00000"/>
                  </a:solidFill>
                </a:rPr>
                <a:t>1</a:t>
              </a:r>
            </a:p>
          </p:txBody>
        </p:sp>
        <p:sp>
          <p:nvSpPr>
            <p:cNvPr id="32" name="TextBox 31"/>
            <p:cNvSpPr txBox="1"/>
            <p:nvPr/>
          </p:nvSpPr>
          <p:spPr>
            <a:xfrm>
              <a:off x="6300884" y="2362200"/>
              <a:ext cx="328516" cy="369332"/>
            </a:xfrm>
            <a:prstGeom prst="rect">
              <a:avLst/>
            </a:prstGeom>
            <a:noFill/>
          </p:spPr>
          <p:txBody>
            <a:bodyPr wrap="square" rtlCol="0">
              <a:spAutoFit/>
            </a:bodyPr>
            <a:lstStyle/>
            <a:p>
              <a:r>
                <a:rPr lang="en-US" dirty="0">
                  <a:solidFill>
                    <a:srgbClr val="C00000"/>
                  </a:solidFill>
                </a:rPr>
                <a:t>2</a:t>
              </a:r>
            </a:p>
          </p:txBody>
        </p:sp>
        <p:sp>
          <p:nvSpPr>
            <p:cNvPr id="33" name="TextBox 32"/>
            <p:cNvSpPr txBox="1"/>
            <p:nvPr/>
          </p:nvSpPr>
          <p:spPr>
            <a:xfrm>
              <a:off x="7663215" y="2369994"/>
              <a:ext cx="301220" cy="369332"/>
            </a:xfrm>
            <a:prstGeom prst="rect">
              <a:avLst/>
            </a:prstGeom>
            <a:noFill/>
          </p:spPr>
          <p:txBody>
            <a:bodyPr wrap="square" rtlCol="0">
              <a:spAutoFit/>
            </a:bodyPr>
            <a:lstStyle/>
            <a:p>
              <a:r>
                <a:rPr lang="en-US" dirty="0">
                  <a:solidFill>
                    <a:srgbClr val="C00000"/>
                  </a:solidFill>
                </a:rPr>
                <a:t>3</a:t>
              </a:r>
            </a:p>
          </p:txBody>
        </p:sp>
        <p:sp>
          <p:nvSpPr>
            <p:cNvPr id="34" name="TextBox 33"/>
            <p:cNvSpPr txBox="1"/>
            <p:nvPr/>
          </p:nvSpPr>
          <p:spPr>
            <a:xfrm>
              <a:off x="5838477" y="3095848"/>
              <a:ext cx="328516" cy="369332"/>
            </a:xfrm>
            <a:prstGeom prst="rect">
              <a:avLst/>
            </a:prstGeom>
            <a:noFill/>
          </p:spPr>
          <p:txBody>
            <a:bodyPr wrap="square" rtlCol="0">
              <a:spAutoFit/>
            </a:bodyPr>
            <a:lstStyle/>
            <a:p>
              <a:r>
                <a:rPr lang="en-US" dirty="0">
                  <a:solidFill>
                    <a:srgbClr val="C00000"/>
                  </a:solidFill>
                </a:rPr>
                <a:t>4</a:t>
              </a:r>
            </a:p>
          </p:txBody>
        </p:sp>
        <p:sp>
          <p:nvSpPr>
            <p:cNvPr id="35" name="TextBox 34"/>
            <p:cNvSpPr txBox="1"/>
            <p:nvPr/>
          </p:nvSpPr>
          <p:spPr>
            <a:xfrm>
              <a:off x="6781800" y="3124200"/>
              <a:ext cx="328516" cy="369332"/>
            </a:xfrm>
            <a:prstGeom prst="rect">
              <a:avLst/>
            </a:prstGeom>
            <a:noFill/>
          </p:spPr>
          <p:txBody>
            <a:bodyPr wrap="square" rtlCol="0">
              <a:spAutoFit/>
            </a:bodyPr>
            <a:lstStyle/>
            <a:p>
              <a:r>
                <a:rPr lang="en-US" dirty="0">
                  <a:solidFill>
                    <a:srgbClr val="C00000"/>
                  </a:solidFill>
                </a:rPr>
                <a:t>5</a:t>
              </a:r>
            </a:p>
          </p:txBody>
        </p:sp>
        <p:sp>
          <p:nvSpPr>
            <p:cNvPr id="36" name="TextBox 35"/>
            <p:cNvSpPr txBox="1"/>
            <p:nvPr/>
          </p:nvSpPr>
          <p:spPr>
            <a:xfrm>
              <a:off x="7667013" y="3124200"/>
              <a:ext cx="328516" cy="369332"/>
            </a:xfrm>
            <a:prstGeom prst="rect">
              <a:avLst/>
            </a:prstGeom>
            <a:noFill/>
          </p:spPr>
          <p:txBody>
            <a:bodyPr wrap="square" rtlCol="0">
              <a:spAutoFit/>
            </a:bodyPr>
            <a:lstStyle/>
            <a:p>
              <a:r>
                <a:rPr lang="en-US" dirty="0">
                  <a:solidFill>
                    <a:srgbClr val="C00000"/>
                  </a:solidFill>
                </a:rPr>
                <a:t>6</a:t>
              </a:r>
            </a:p>
          </p:txBody>
        </p:sp>
      </p:grpSp>
      <p:cxnSp>
        <p:nvCxnSpPr>
          <p:cNvPr id="48" name="Straight Connector 47"/>
          <p:cNvCxnSpPr/>
          <p:nvPr/>
        </p:nvCxnSpPr>
        <p:spPr>
          <a:xfrm flipH="1">
            <a:off x="4193180" y="3819912"/>
            <a:ext cx="3489" cy="26517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8194283" y="3819912"/>
            <a:ext cx="0" cy="26517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0" name="Group 49"/>
          <p:cNvGrpSpPr/>
          <p:nvPr/>
        </p:nvGrpSpPr>
        <p:grpSpPr>
          <a:xfrm>
            <a:off x="4750991" y="4273059"/>
            <a:ext cx="2594235" cy="2146433"/>
            <a:chOff x="5838477" y="1752600"/>
            <a:chExt cx="2594235" cy="2146433"/>
          </a:xfrm>
        </p:grpSpPr>
        <p:grpSp>
          <p:nvGrpSpPr>
            <p:cNvPr id="51" name="Group 50"/>
            <p:cNvGrpSpPr/>
            <p:nvPr/>
          </p:nvGrpSpPr>
          <p:grpSpPr>
            <a:xfrm>
              <a:off x="5995546" y="1821529"/>
              <a:ext cx="2437166" cy="2077504"/>
              <a:chOff x="5522950" y="3505200"/>
              <a:chExt cx="2437166" cy="2077504"/>
            </a:xfrm>
          </p:grpSpPr>
          <p:cxnSp>
            <p:nvCxnSpPr>
              <p:cNvPr id="58" name="Straight Connector 57"/>
              <p:cNvCxnSpPr>
                <a:stCxn id="63" idx="4"/>
                <a:endCxn id="68" idx="0"/>
              </p:cNvCxnSpPr>
              <p:nvPr/>
            </p:nvCxnSpPr>
            <p:spPr>
              <a:xfrm flipH="1">
                <a:off x="7508124" y="4793045"/>
                <a:ext cx="147192" cy="21232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6604717" y="3505200"/>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4</a:t>
                </a:r>
              </a:p>
            </p:txBody>
          </p:sp>
          <p:cxnSp>
            <p:nvCxnSpPr>
              <p:cNvPr id="60" name="Straight Connector 59"/>
              <p:cNvCxnSpPr>
                <a:stCxn id="59" idx="3"/>
                <a:endCxn id="61" idx="0"/>
              </p:cNvCxnSpPr>
              <p:nvPr/>
            </p:nvCxnSpPr>
            <p:spPr>
              <a:xfrm flipH="1">
                <a:off x="6284327" y="3997985"/>
                <a:ext cx="409664" cy="24937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1" name="Oval 60"/>
              <p:cNvSpPr/>
              <p:nvPr/>
            </p:nvSpPr>
            <p:spPr>
              <a:xfrm>
                <a:off x="5979527" y="4247363"/>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cxnSp>
            <p:nvCxnSpPr>
              <p:cNvPr id="62" name="Straight Connector 61"/>
              <p:cNvCxnSpPr>
                <a:stCxn id="59" idx="5"/>
                <a:endCxn id="63" idx="0"/>
              </p:cNvCxnSpPr>
              <p:nvPr/>
            </p:nvCxnSpPr>
            <p:spPr>
              <a:xfrm>
                <a:off x="7125043" y="3997985"/>
                <a:ext cx="530273" cy="21772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3" name="Oval 62"/>
              <p:cNvSpPr/>
              <p:nvPr/>
            </p:nvSpPr>
            <p:spPr>
              <a:xfrm>
                <a:off x="7350516" y="4215712"/>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7</a:t>
                </a:r>
              </a:p>
            </p:txBody>
          </p:sp>
          <p:cxnSp>
            <p:nvCxnSpPr>
              <p:cNvPr id="64" name="Straight Connector 63"/>
              <p:cNvCxnSpPr>
                <a:stCxn id="61" idx="3"/>
                <a:endCxn id="65" idx="0"/>
              </p:cNvCxnSpPr>
              <p:nvPr/>
            </p:nvCxnSpPr>
            <p:spPr>
              <a:xfrm flipH="1">
                <a:off x="5827750" y="4740148"/>
                <a:ext cx="241051" cy="25239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5" name="Oval 64"/>
              <p:cNvSpPr/>
              <p:nvPr/>
            </p:nvSpPr>
            <p:spPr>
              <a:xfrm>
                <a:off x="5522950" y="4992538"/>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2</a:t>
                </a:r>
              </a:p>
            </p:txBody>
          </p:sp>
          <p:cxnSp>
            <p:nvCxnSpPr>
              <p:cNvPr id="66" name="Straight Connector 65"/>
              <p:cNvCxnSpPr>
                <a:stCxn id="61" idx="5"/>
                <a:endCxn id="67" idx="0"/>
              </p:cNvCxnSpPr>
              <p:nvPr/>
            </p:nvCxnSpPr>
            <p:spPr>
              <a:xfrm>
                <a:off x="6499853" y="4740148"/>
                <a:ext cx="280402" cy="23420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 name="Oval 66"/>
              <p:cNvSpPr/>
              <p:nvPr/>
            </p:nvSpPr>
            <p:spPr>
              <a:xfrm>
                <a:off x="6475455" y="4974355"/>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9</a:t>
                </a:r>
              </a:p>
            </p:txBody>
          </p:sp>
          <p:sp>
            <p:nvSpPr>
              <p:cNvPr id="68" name="Oval 67"/>
              <p:cNvSpPr/>
              <p:nvPr/>
            </p:nvSpPr>
            <p:spPr>
              <a:xfrm>
                <a:off x="7203324" y="5005371"/>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3</a:t>
                </a:r>
              </a:p>
            </p:txBody>
          </p:sp>
        </p:grpSp>
        <p:sp>
          <p:nvSpPr>
            <p:cNvPr id="52" name="TextBox 51"/>
            <p:cNvSpPr txBox="1"/>
            <p:nvPr/>
          </p:nvSpPr>
          <p:spPr>
            <a:xfrm>
              <a:off x="6834284" y="1752600"/>
              <a:ext cx="328516" cy="369332"/>
            </a:xfrm>
            <a:prstGeom prst="rect">
              <a:avLst/>
            </a:prstGeom>
            <a:noFill/>
          </p:spPr>
          <p:txBody>
            <a:bodyPr wrap="square" rtlCol="0">
              <a:spAutoFit/>
            </a:bodyPr>
            <a:lstStyle/>
            <a:p>
              <a:r>
                <a:rPr lang="en-US" dirty="0">
                  <a:solidFill>
                    <a:srgbClr val="C00000"/>
                  </a:solidFill>
                </a:rPr>
                <a:t>1</a:t>
              </a:r>
            </a:p>
          </p:txBody>
        </p:sp>
        <p:sp>
          <p:nvSpPr>
            <p:cNvPr id="53" name="TextBox 52"/>
            <p:cNvSpPr txBox="1"/>
            <p:nvPr/>
          </p:nvSpPr>
          <p:spPr>
            <a:xfrm>
              <a:off x="6300884" y="2362200"/>
              <a:ext cx="328516" cy="369332"/>
            </a:xfrm>
            <a:prstGeom prst="rect">
              <a:avLst/>
            </a:prstGeom>
            <a:noFill/>
          </p:spPr>
          <p:txBody>
            <a:bodyPr wrap="square" rtlCol="0">
              <a:spAutoFit/>
            </a:bodyPr>
            <a:lstStyle/>
            <a:p>
              <a:r>
                <a:rPr lang="en-US" dirty="0">
                  <a:solidFill>
                    <a:srgbClr val="C00000"/>
                  </a:solidFill>
                </a:rPr>
                <a:t>2</a:t>
              </a:r>
            </a:p>
          </p:txBody>
        </p:sp>
        <p:sp>
          <p:nvSpPr>
            <p:cNvPr id="54" name="TextBox 53"/>
            <p:cNvSpPr txBox="1"/>
            <p:nvPr/>
          </p:nvSpPr>
          <p:spPr>
            <a:xfrm>
              <a:off x="7663215" y="2369994"/>
              <a:ext cx="301220" cy="369332"/>
            </a:xfrm>
            <a:prstGeom prst="rect">
              <a:avLst/>
            </a:prstGeom>
            <a:noFill/>
          </p:spPr>
          <p:txBody>
            <a:bodyPr wrap="square" rtlCol="0">
              <a:spAutoFit/>
            </a:bodyPr>
            <a:lstStyle/>
            <a:p>
              <a:r>
                <a:rPr lang="en-US" dirty="0">
                  <a:solidFill>
                    <a:srgbClr val="C00000"/>
                  </a:solidFill>
                </a:rPr>
                <a:t>3</a:t>
              </a:r>
            </a:p>
          </p:txBody>
        </p:sp>
        <p:sp>
          <p:nvSpPr>
            <p:cNvPr id="55" name="TextBox 54"/>
            <p:cNvSpPr txBox="1"/>
            <p:nvPr/>
          </p:nvSpPr>
          <p:spPr>
            <a:xfrm>
              <a:off x="5838477" y="3095848"/>
              <a:ext cx="328516" cy="369332"/>
            </a:xfrm>
            <a:prstGeom prst="rect">
              <a:avLst/>
            </a:prstGeom>
            <a:noFill/>
          </p:spPr>
          <p:txBody>
            <a:bodyPr wrap="square" rtlCol="0">
              <a:spAutoFit/>
            </a:bodyPr>
            <a:lstStyle/>
            <a:p>
              <a:r>
                <a:rPr lang="en-US" dirty="0">
                  <a:solidFill>
                    <a:srgbClr val="C00000"/>
                  </a:solidFill>
                </a:rPr>
                <a:t>4</a:t>
              </a:r>
            </a:p>
          </p:txBody>
        </p:sp>
        <p:sp>
          <p:nvSpPr>
            <p:cNvPr id="56" name="TextBox 55"/>
            <p:cNvSpPr txBox="1"/>
            <p:nvPr/>
          </p:nvSpPr>
          <p:spPr>
            <a:xfrm>
              <a:off x="6781800" y="3124200"/>
              <a:ext cx="328516" cy="369332"/>
            </a:xfrm>
            <a:prstGeom prst="rect">
              <a:avLst/>
            </a:prstGeom>
            <a:noFill/>
          </p:spPr>
          <p:txBody>
            <a:bodyPr wrap="square" rtlCol="0">
              <a:spAutoFit/>
            </a:bodyPr>
            <a:lstStyle/>
            <a:p>
              <a:r>
                <a:rPr lang="en-US" dirty="0">
                  <a:solidFill>
                    <a:srgbClr val="C00000"/>
                  </a:solidFill>
                </a:rPr>
                <a:t>5</a:t>
              </a:r>
            </a:p>
          </p:txBody>
        </p:sp>
        <p:sp>
          <p:nvSpPr>
            <p:cNvPr id="57" name="TextBox 56"/>
            <p:cNvSpPr txBox="1"/>
            <p:nvPr/>
          </p:nvSpPr>
          <p:spPr>
            <a:xfrm>
              <a:off x="7696200" y="3059668"/>
              <a:ext cx="328516" cy="369332"/>
            </a:xfrm>
            <a:prstGeom prst="rect">
              <a:avLst/>
            </a:prstGeom>
            <a:noFill/>
          </p:spPr>
          <p:txBody>
            <a:bodyPr wrap="square" rtlCol="0">
              <a:spAutoFit/>
            </a:bodyPr>
            <a:lstStyle/>
            <a:p>
              <a:r>
                <a:rPr lang="en-US" dirty="0">
                  <a:solidFill>
                    <a:srgbClr val="C00000"/>
                  </a:solidFill>
                </a:rPr>
                <a:t>6</a:t>
              </a:r>
            </a:p>
          </p:txBody>
        </p:sp>
      </p:grpSp>
      <p:grpSp>
        <p:nvGrpSpPr>
          <p:cNvPr id="69" name="Group 68"/>
          <p:cNvGrpSpPr/>
          <p:nvPr/>
        </p:nvGrpSpPr>
        <p:grpSpPr>
          <a:xfrm>
            <a:off x="8669114" y="4261800"/>
            <a:ext cx="2594235" cy="2133600"/>
            <a:chOff x="5838477" y="1752600"/>
            <a:chExt cx="2594235" cy="2133600"/>
          </a:xfrm>
        </p:grpSpPr>
        <p:grpSp>
          <p:nvGrpSpPr>
            <p:cNvPr id="70" name="Group 69"/>
            <p:cNvGrpSpPr/>
            <p:nvPr/>
          </p:nvGrpSpPr>
          <p:grpSpPr>
            <a:xfrm>
              <a:off x="5995546" y="1821529"/>
              <a:ext cx="2437166" cy="2064671"/>
              <a:chOff x="5522950" y="3505200"/>
              <a:chExt cx="2437166" cy="2064671"/>
            </a:xfrm>
          </p:grpSpPr>
          <p:cxnSp>
            <p:nvCxnSpPr>
              <p:cNvPr id="77" name="Straight Connector 76"/>
              <p:cNvCxnSpPr>
                <a:stCxn id="82" idx="4"/>
                <a:endCxn id="87" idx="0"/>
              </p:cNvCxnSpPr>
              <p:nvPr/>
            </p:nvCxnSpPr>
            <p:spPr>
              <a:xfrm flipH="1">
                <a:off x="7495419" y="4793045"/>
                <a:ext cx="159897" cy="199492"/>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8" name="Oval 77"/>
              <p:cNvSpPr/>
              <p:nvPr/>
            </p:nvSpPr>
            <p:spPr>
              <a:xfrm>
                <a:off x="6604717" y="3505200"/>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4</a:t>
                </a:r>
              </a:p>
            </p:txBody>
          </p:sp>
          <p:cxnSp>
            <p:nvCxnSpPr>
              <p:cNvPr id="79" name="Straight Connector 78"/>
              <p:cNvCxnSpPr>
                <a:stCxn id="78" idx="3"/>
                <a:endCxn id="80" idx="0"/>
              </p:cNvCxnSpPr>
              <p:nvPr/>
            </p:nvCxnSpPr>
            <p:spPr>
              <a:xfrm flipH="1">
                <a:off x="6284327" y="3997985"/>
                <a:ext cx="409664" cy="24937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0" name="Oval 79"/>
              <p:cNvSpPr/>
              <p:nvPr/>
            </p:nvSpPr>
            <p:spPr>
              <a:xfrm>
                <a:off x="5979527" y="4247363"/>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9</a:t>
                </a:r>
              </a:p>
            </p:txBody>
          </p:sp>
          <p:cxnSp>
            <p:nvCxnSpPr>
              <p:cNvPr id="81" name="Straight Connector 80"/>
              <p:cNvCxnSpPr>
                <a:stCxn id="78" idx="5"/>
                <a:endCxn id="82" idx="0"/>
              </p:cNvCxnSpPr>
              <p:nvPr/>
            </p:nvCxnSpPr>
            <p:spPr>
              <a:xfrm>
                <a:off x="7125043" y="3997985"/>
                <a:ext cx="530273" cy="21772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7350516" y="4215712"/>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7</a:t>
                </a:r>
              </a:p>
            </p:txBody>
          </p:sp>
          <p:cxnSp>
            <p:nvCxnSpPr>
              <p:cNvPr id="83" name="Straight Connector 82"/>
              <p:cNvCxnSpPr>
                <a:stCxn id="80" idx="3"/>
                <a:endCxn id="84" idx="0"/>
              </p:cNvCxnSpPr>
              <p:nvPr/>
            </p:nvCxnSpPr>
            <p:spPr>
              <a:xfrm flipH="1">
                <a:off x="5827750" y="4740148"/>
                <a:ext cx="241051" cy="25239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4" name="Oval 83"/>
              <p:cNvSpPr/>
              <p:nvPr/>
            </p:nvSpPr>
            <p:spPr>
              <a:xfrm>
                <a:off x="5522950" y="4992538"/>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2</a:t>
                </a:r>
              </a:p>
            </p:txBody>
          </p:sp>
          <p:cxnSp>
            <p:nvCxnSpPr>
              <p:cNvPr id="85" name="Straight Connector 84"/>
              <p:cNvCxnSpPr>
                <a:stCxn id="80" idx="5"/>
                <a:endCxn id="86" idx="0"/>
              </p:cNvCxnSpPr>
              <p:nvPr/>
            </p:nvCxnSpPr>
            <p:spPr>
              <a:xfrm>
                <a:off x="6499853" y="4740148"/>
                <a:ext cx="280402" cy="23420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6" name="Oval 85"/>
              <p:cNvSpPr/>
              <p:nvPr/>
            </p:nvSpPr>
            <p:spPr>
              <a:xfrm>
                <a:off x="6475455" y="4974355"/>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1</a:t>
                </a:r>
              </a:p>
            </p:txBody>
          </p:sp>
          <p:sp>
            <p:nvSpPr>
              <p:cNvPr id="87" name="Oval 86"/>
              <p:cNvSpPr/>
              <p:nvPr/>
            </p:nvSpPr>
            <p:spPr>
              <a:xfrm>
                <a:off x="7190619" y="4992537"/>
                <a:ext cx="609600" cy="577333"/>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3</a:t>
                </a:r>
              </a:p>
            </p:txBody>
          </p:sp>
        </p:grpSp>
        <p:sp>
          <p:nvSpPr>
            <p:cNvPr id="71" name="TextBox 70"/>
            <p:cNvSpPr txBox="1"/>
            <p:nvPr/>
          </p:nvSpPr>
          <p:spPr>
            <a:xfrm>
              <a:off x="6834284" y="1752600"/>
              <a:ext cx="328516" cy="369332"/>
            </a:xfrm>
            <a:prstGeom prst="rect">
              <a:avLst/>
            </a:prstGeom>
            <a:noFill/>
          </p:spPr>
          <p:txBody>
            <a:bodyPr wrap="square" rtlCol="0">
              <a:spAutoFit/>
            </a:bodyPr>
            <a:lstStyle/>
            <a:p>
              <a:r>
                <a:rPr lang="en-US" dirty="0">
                  <a:solidFill>
                    <a:srgbClr val="C00000"/>
                  </a:solidFill>
                </a:rPr>
                <a:t>1</a:t>
              </a:r>
            </a:p>
          </p:txBody>
        </p:sp>
        <p:sp>
          <p:nvSpPr>
            <p:cNvPr id="72" name="TextBox 71"/>
            <p:cNvSpPr txBox="1"/>
            <p:nvPr/>
          </p:nvSpPr>
          <p:spPr>
            <a:xfrm>
              <a:off x="6300884" y="2362200"/>
              <a:ext cx="328516" cy="369332"/>
            </a:xfrm>
            <a:prstGeom prst="rect">
              <a:avLst/>
            </a:prstGeom>
            <a:noFill/>
          </p:spPr>
          <p:txBody>
            <a:bodyPr wrap="square" rtlCol="0">
              <a:spAutoFit/>
            </a:bodyPr>
            <a:lstStyle/>
            <a:p>
              <a:r>
                <a:rPr lang="en-US" dirty="0">
                  <a:solidFill>
                    <a:srgbClr val="C00000"/>
                  </a:solidFill>
                </a:rPr>
                <a:t>2</a:t>
              </a:r>
            </a:p>
          </p:txBody>
        </p:sp>
        <p:sp>
          <p:nvSpPr>
            <p:cNvPr id="73" name="TextBox 72"/>
            <p:cNvSpPr txBox="1"/>
            <p:nvPr/>
          </p:nvSpPr>
          <p:spPr>
            <a:xfrm>
              <a:off x="7663215" y="2369994"/>
              <a:ext cx="301220" cy="369332"/>
            </a:xfrm>
            <a:prstGeom prst="rect">
              <a:avLst/>
            </a:prstGeom>
            <a:noFill/>
          </p:spPr>
          <p:txBody>
            <a:bodyPr wrap="square" rtlCol="0">
              <a:spAutoFit/>
            </a:bodyPr>
            <a:lstStyle/>
            <a:p>
              <a:r>
                <a:rPr lang="en-US" dirty="0">
                  <a:solidFill>
                    <a:srgbClr val="C00000"/>
                  </a:solidFill>
                </a:rPr>
                <a:t>3</a:t>
              </a:r>
            </a:p>
          </p:txBody>
        </p:sp>
        <p:sp>
          <p:nvSpPr>
            <p:cNvPr id="74" name="TextBox 73"/>
            <p:cNvSpPr txBox="1"/>
            <p:nvPr/>
          </p:nvSpPr>
          <p:spPr>
            <a:xfrm>
              <a:off x="5838477" y="3095848"/>
              <a:ext cx="328516" cy="369332"/>
            </a:xfrm>
            <a:prstGeom prst="rect">
              <a:avLst/>
            </a:prstGeom>
            <a:noFill/>
          </p:spPr>
          <p:txBody>
            <a:bodyPr wrap="square" rtlCol="0">
              <a:spAutoFit/>
            </a:bodyPr>
            <a:lstStyle/>
            <a:p>
              <a:r>
                <a:rPr lang="en-US" dirty="0">
                  <a:solidFill>
                    <a:srgbClr val="C00000"/>
                  </a:solidFill>
                </a:rPr>
                <a:t>4</a:t>
              </a:r>
            </a:p>
          </p:txBody>
        </p:sp>
        <p:sp>
          <p:nvSpPr>
            <p:cNvPr id="75" name="TextBox 74"/>
            <p:cNvSpPr txBox="1"/>
            <p:nvPr/>
          </p:nvSpPr>
          <p:spPr>
            <a:xfrm>
              <a:off x="6781800" y="3124200"/>
              <a:ext cx="328516" cy="369332"/>
            </a:xfrm>
            <a:prstGeom prst="rect">
              <a:avLst/>
            </a:prstGeom>
            <a:noFill/>
          </p:spPr>
          <p:txBody>
            <a:bodyPr wrap="square" rtlCol="0">
              <a:spAutoFit/>
            </a:bodyPr>
            <a:lstStyle/>
            <a:p>
              <a:r>
                <a:rPr lang="en-US" dirty="0">
                  <a:solidFill>
                    <a:srgbClr val="C00000"/>
                  </a:solidFill>
                </a:rPr>
                <a:t>5</a:t>
              </a:r>
            </a:p>
          </p:txBody>
        </p:sp>
        <p:sp>
          <p:nvSpPr>
            <p:cNvPr id="76" name="TextBox 75"/>
            <p:cNvSpPr txBox="1"/>
            <p:nvPr/>
          </p:nvSpPr>
          <p:spPr>
            <a:xfrm>
              <a:off x="7696200" y="3046605"/>
              <a:ext cx="328516" cy="369332"/>
            </a:xfrm>
            <a:prstGeom prst="rect">
              <a:avLst/>
            </a:prstGeom>
            <a:noFill/>
          </p:spPr>
          <p:txBody>
            <a:bodyPr wrap="square" rtlCol="0">
              <a:spAutoFit/>
            </a:bodyPr>
            <a:lstStyle/>
            <a:p>
              <a:r>
                <a:rPr lang="en-US" dirty="0">
                  <a:solidFill>
                    <a:srgbClr val="C00000"/>
                  </a:solidFill>
                </a:rPr>
                <a:t>6</a:t>
              </a:r>
            </a:p>
          </p:txBody>
        </p:sp>
      </p:grpSp>
      <p:sp>
        <p:nvSpPr>
          <p:cNvPr id="88" name="TextBox 87"/>
          <p:cNvSpPr txBox="1"/>
          <p:nvPr/>
        </p:nvSpPr>
        <p:spPr>
          <a:xfrm>
            <a:off x="4529088" y="4243452"/>
            <a:ext cx="656525" cy="400110"/>
          </a:xfrm>
          <a:prstGeom prst="rect">
            <a:avLst/>
          </a:prstGeom>
          <a:noFill/>
          <a:ln w="28575">
            <a:solidFill>
              <a:schemeClr val="tx1"/>
            </a:solidFill>
          </a:ln>
        </p:spPr>
        <p:txBody>
          <a:bodyPr wrap="square" rtlCol="0">
            <a:spAutoFit/>
          </a:bodyPr>
          <a:lstStyle>
            <a:defPPr>
              <a:defRPr lang="en-US"/>
            </a:defPPr>
            <a:lvl1pPr>
              <a:defRPr sz="2000" b="1">
                <a:solidFill>
                  <a:srgbClr val="A71160"/>
                </a:solidFill>
              </a:defRPr>
            </a:lvl1pPr>
          </a:lstStyle>
          <a:p>
            <a:r>
              <a:rPr lang="en-US" dirty="0" err="1"/>
              <a:t>i</a:t>
            </a:r>
            <a:r>
              <a:rPr lang="en-US" dirty="0"/>
              <a:t> = 2</a:t>
            </a:r>
          </a:p>
        </p:txBody>
      </p:sp>
      <p:sp>
        <p:nvSpPr>
          <p:cNvPr id="89" name="TextBox 88"/>
          <p:cNvSpPr txBox="1"/>
          <p:nvPr/>
        </p:nvSpPr>
        <p:spPr>
          <a:xfrm>
            <a:off x="8398368" y="4243452"/>
            <a:ext cx="656525" cy="400110"/>
          </a:xfrm>
          <a:prstGeom prst="rect">
            <a:avLst/>
          </a:prstGeom>
          <a:noFill/>
          <a:ln w="28575">
            <a:solidFill>
              <a:schemeClr val="tx1"/>
            </a:solidFill>
          </a:ln>
        </p:spPr>
        <p:txBody>
          <a:bodyPr wrap="square" rtlCol="0">
            <a:spAutoFit/>
          </a:bodyPr>
          <a:lstStyle>
            <a:defPPr>
              <a:defRPr lang="en-US"/>
            </a:defPPr>
            <a:lvl1pPr>
              <a:defRPr sz="2000" b="1">
                <a:solidFill>
                  <a:srgbClr val="A71160"/>
                </a:solidFill>
              </a:defRPr>
            </a:lvl1pPr>
          </a:lstStyle>
          <a:p>
            <a:r>
              <a:rPr lang="en-US" dirty="0" err="1"/>
              <a:t>i</a:t>
            </a:r>
            <a:r>
              <a:rPr lang="en-US" dirty="0"/>
              <a:t> = 1</a:t>
            </a:r>
          </a:p>
        </p:txBody>
      </p:sp>
      <p:sp>
        <p:nvSpPr>
          <p:cNvPr id="90" name="Freeform 11"/>
          <p:cNvSpPr>
            <a:spLocks/>
          </p:cNvSpPr>
          <p:nvPr/>
        </p:nvSpPr>
        <p:spPr bwMode="auto">
          <a:xfrm>
            <a:off x="2729955" y="5356265"/>
            <a:ext cx="203504" cy="449263"/>
          </a:xfrm>
          <a:custGeom>
            <a:avLst/>
            <a:gdLst>
              <a:gd name="T0" fmla="*/ 0 w 162"/>
              <a:gd name="T1" fmla="*/ 264 h 264"/>
              <a:gd name="T2" fmla="*/ 30 w 162"/>
              <a:gd name="T3" fmla="*/ 162 h 264"/>
              <a:gd name="T4" fmla="*/ 90 w 162"/>
              <a:gd name="T5" fmla="*/ 66 h 264"/>
              <a:gd name="T6" fmla="*/ 162 w 162"/>
              <a:gd name="T7" fmla="*/ 0 h 264"/>
              <a:gd name="T8" fmla="*/ 0 60000 65536"/>
              <a:gd name="T9" fmla="*/ 0 60000 65536"/>
              <a:gd name="T10" fmla="*/ 0 60000 65536"/>
              <a:gd name="T11" fmla="*/ 0 60000 65536"/>
              <a:gd name="T12" fmla="*/ 0 w 162"/>
              <a:gd name="T13" fmla="*/ 0 h 264"/>
              <a:gd name="T14" fmla="*/ 162 w 162"/>
              <a:gd name="T15" fmla="*/ 264 h 264"/>
            </a:gdLst>
            <a:ahLst/>
            <a:cxnLst>
              <a:cxn ang="T8">
                <a:pos x="T0" y="T1"/>
              </a:cxn>
              <a:cxn ang="T9">
                <a:pos x="T2" y="T3"/>
              </a:cxn>
              <a:cxn ang="T10">
                <a:pos x="T4" y="T5"/>
              </a:cxn>
              <a:cxn ang="T11">
                <a:pos x="T6" y="T7"/>
              </a:cxn>
            </a:cxnLst>
            <a:rect l="T12" t="T13" r="T14" b="T15"/>
            <a:pathLst>
              <a:path w="162" h="264">
                <a:moveTo>
                  <a:pt x="0" y="264"/>
                </a:moveTo>
                <a:cubicBezTo>
                  <a:pt x="5" y="247"/>
                  <a:pt x="15" y="195"/>
                  <a:pt x="30" y="162"/>
                </a:cubicBezTo>
                <a:cubicBezTo>
                  <a:pt x="45" y="129"/>
                  <a:pt x="68" y="93"/>
                  <a:pt x="90" y="66"/>
                </a:cubicBezTo>
                <a:cubicBezTo>
                  <a:pt x="112" y="39"/>
                  <a:pt x="147" y="14"/>
                  <a:pt x="162" y="0"/>
                </a:cubicBezTo>
              </a:path>
            </a:pathLst>
          </a:custGeom>
          <a:noFill/>
          <a:ln w="15875" cap="flat" cmpd="sng">
            <a:solidFill>
              <a:schemeClr val="accent5"/>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2"/>
          <p:cNvSpPr>
            <a:spLocks/>
          </p:cNvSpPr>
          <p:nvPr/>
        </p:nvSpPr>
        <p:spPr bwMode="auto">
          <a:xfrm>
            <a:off x="3367407" y="5496748"/>
            <a:ext cx="124045" cy="408703"/>
          </a:xfrm>
          <a:custGeom>
            <a:avLst/>
            <a:gdLst>
              <a:gd name="T0" fmla="*/ 156 w 170"/>
              <a:gd name="T1" fmla="*/ 0 h 258"/>
              <a:gd name="T2" fmla="*/ 144 w 170"/>
              <a:gd name="T3" fmla="*/ 126 h 258"/>
              <a:gd name="T4" fmla="*/ 0 w 170"/>
              <a:gd name="T5" fmla="*/ 258 h 258"/>
              <a:gd name="T6" fmla="*/ 0 60000 65536"/>
              <a:gd name="T7" fmla="*/ 0 60000 65536"/>
              <a:gd name="T8" fmla="*/ 0 60000 65536"/>
              <a:gd name="T9" fmla="*/ 0 w 170"/>
              <a:gd name="T10" fmla="*/ 0 h 258"/>
              <a:gd name="T11" fmla="*/ 170 w 170"/>
              <a:gd name="T12" fmla="*/ 258 h 258"/>
            </a:gdLst>
            <a:ahLst/>
            <a:cxnLst>
              <a:cxn ang="T6">
                <a:pos x="T0" y="T1"/>
              </a:cxn>
              <a:cxn ang="T7">
                <a:pos x="T2" y="T3"/>
              </a:cxn>
              <a:cxn ang="T8">
                <a:pos x="T4" y="T5"/>
              </a:cxn>
            </a:cxnLst>
            <a:rect l="T9" t="T10" r="T11" b="T12"/>
            <a:pathLst>
              <a:path w="170" h="258">
                <a:moveTo>
                  <a:pt x="156" y="0"/>
                </a:moveTo>
                <a:cubicBezTo>
                  <a:pt x="154" y="21"/>
                  <a:pt x="170" y="83"/>
                  <a:pt x="144" y="126"/>
                </a:cubicBezTo>
                <a:cubicBezTo>
                  <a:pt x="118" y="169"/>
                  <a:pt x="30" y="231"/>
                  <a:pt x="0" y="258"/>
                </a:cubicBezTo>
              </a:path>
            </a:pathLst>
          </a:custGeom>
          <a:noFill/>
          <a:ln w="15875" cap="flat" cmpd="sng">
            <a:solidFill>
              <a:schemeClr val="accent5"/>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Rounded Rectangle 93"/>
          <p:cNvSpPr/>
          <p:nvPr/>
        </p:nvSpPr>
        <p:spPr>
          <a:xfrm>
            <a:off x="788783" y="2187115"/>
            <a:ext cx="3215146" cy="365760"/>
          </a:xfrm>
          <a:prstGeom prst="roundRect">
            <a:avLst/>
          </a:prstGeom>
          <a:noFill/>
          <a:ln w="19050">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17"/>
          <p:cNvSpPr>
            <a:spLocks/>
          </p:cNvSpPr>
          <p:nvPr/>
        </p:nvSpPr>
        <p:spPr bwMode="auto">
          <a:xfrm>
            <a:off x="5587264" y="5683250"/>
            <a:ext cx="262607" cy="370251"/>
          </a:xfrm>
          <a:custGeom>
            <a:avLst/>
            <a:gdLst>
              <a:gd name="T0" fmla="*/ 197 w 197"/>
              <a:gd name="T1" fmla="*/ 260 h 260"/>
              <a:gd name="T2" fmla="*/ 114 w 197"/>
              <a:gd name="T3" fmla="*/ 233 h 260"/>
              <a:gd name="T4" fmla="*/ 41 w 197"/>
              <a:gd name="T5" fmla="*/ 164 h 260"/>
              <a:gd name="T6" fmla="*/ 0 w 197"/>
              <a:gd name="T7" fmla="*/ 0 h 260"/>
              <a:gd name="T8" fmla="*/ 0 60000 65536"/>
              <a:gd name="T9" fmla="*/ 0 60000 65536"/>
              <a:gd name="T10" fmla="*/ 0 60000 65536"/>
              <a:gd name="T11" fmla="*/ 0 60000 65536"/>
              <a:gd name="T12" fmla="*/ 0 w 197"/>
              <a:gd name="T13" fmla="*/ 0 h 260"/>
              <a:gd name="T14" fmla="*/ 197 w 197"/>
              <a:gd name="T15" fmla="*/ 260 h 260"/>
            </a:gdLst>
            <a:ahLst/>
            <a:cxnLst>
              <a:cxn ang="T8">
                <a:pos x="T0" y="T1"/>
              </a:cxn>
              <a:cxn ang="T9">
                <a:pos x="T2" y="T3"/>
              </a:cxn>
              <a:cxn ang="T10">
                <a:pos x="T4" y="T5"/>
              </a:cxn>
              <a:cxn ang="T11">
                <a:pos x="T6" y="T7"/>
              </a:cxn>
            </a:cxnLst>
            <a:rect l="T12" t="T13" r="T14" b="T15"/>
            <a:pathLst>
              <a:path w="197" h="260">
                <a:moveTo>
                  <a:pt x="197" y="260"/>
                </a:moveTo>
                <a:cubicBezTo>
                  <a:pt x="183" y="256"/>
                  <a:pt x="140" y="249"/>
                  <a:pt x="114" y="233"/>
                </a:cubicBezTo>
                <a:cubicBezTo>
                  <a:pt x="88" y="217"/>
                  <a:pt x="60" y="203"/>
                  <a:pt x="41" y="164"/>
                </a:cubicBezTo>
                <a:cubicBezTo>
                  <a:pt x="22" y="125"/>
                  <a:pt x="9" y="34"/>
                  <a:pt x="0" y="0"/>
                </a:cubicBezTo>
              </a:path>
            </a:pathLst>
          </a:custGeom>
          <a:noFill/>
          <a:ln w="15875" cap="flat" cmpd="sng">
            <a:solidFill>
              <a:schemeClr val="accent5"/>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solidFill>
                <a:srgbClr val="FF0000"/>
              </a:solidFill>
            </a:endParaRPr>
          </a:p>
        </p:txBody>
      </p:sp>
      <p:sp>
        <p:nvSpPr>
          <p:cNvPr id="96" name="Freeform 18"/>
          <p:cNvSpPr>
            <a:spLocks/>
          </p:cNvSpPr>
          <p:nvPr/>
        </p:nvSpPr>
        <p:spPr bwMode="auto">
          <a:xfrm>
            <a:off x="6076024" y="5327095"/>
            <a:ext cx="249238" cy="449263"/>
          </a:xfrm>
          <a:custGeom>
            <a:avLst/>
            <a:gdLst>
              <a:gd name="T0" fmla="*/ 0 w 157"/>
              <a:gd name="T1" fmla="*/ 0 h 283"/>
              <a:gd name="T2" fmla="*/ 91 w 157"/>
              <a:gd name="T3" fmla="*/ 41 h 283"/>
              <a:gd name="T4" fmla="*/ 147 w 157"/>
              <a:gd name="T5" fmla="*/ 151 h 283"/>
              <a:gd name="T6" fmla="*/ 152 w 157"/>
              <a:gd name="T7" fmla="*/ 283 h 283"/>
              <a:gd name="T8" fmla="*/ 0 60000 65536"/>
              <a:gd name="T9" fmla="*/ 0 60000 65536"/>
              <a:gd name="T10" fmla="*/ 0 60000 65536"/>
              <a:gd name="T11" fmla="*/ 0 60000 65536"/>
              <a:gd name="T12" fmla="*/ 0 w 157"/>
              <a:gd name="T13" fmla="*/ 0 h 283"/>
              <a:gd name="T14" fmla="*/ 157 w 157"/>
              <a:gd name="T15" fmla="*/ 283 h 283"/>
            </a:gdLst>
            <a:ahLst/>
            <a:cxnLst>
              <a:cxn ang="T8">
                <a:pos x="T0" y="T1"/>
              </a:cxn>
              <a:cxn ang="T9">
                <a:pos x="T2" y="T3"/>
              </a:cxn>
              <a:cxn ang="T10">
                <a:pos x="T4" y="T5"/>
              </a:cxn>
              <a:cxn ang="T11">
                <a:pos x="T6" y="T7"/>
              </a:cxn>
            </a:cxnLst>
            <a:rect l="T12" t="T13" r="T14" b="T15"/>
            <a:pathLst>
              <a:path w="157" h="283">
                <a:moveTo>
                  <a:pt x="0" y="0"/>
                </a:moveTo>
                <a:cubicBezTo>
                  <a:pt x="15" y="7"/>
                  <a:pt x="67" y="16"/>
                  <a:pt x="91" y="41"/>
                </a:cubicBezTo>
                <a:cubicBezTo>
                  <a:pt x="115" y="66"/>
                  <a:pt x="137" y="111"/>
                  <a:pt x="147" y="151"/>
                </a:cubicBezTo>
                <a:cubicBezTo>
                  <a:pt x="157" y="191"/>
                  <a:pt x="151" y="256"/>
                  <a:pt x="152" y="283"/>
                </a:cubicBezTo>
              </a:path>
            </a:pathLst>
          </a:custGeom>
          <a:noFill/>
          <a:ln w="15875" cap="flat" cmpd="sng">
            <a:solidFill>
              <a:schemeClr val="accent5"/>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solidFill>
                <a:srgbClr val="FF0000"/>
              </a:solidFill>
            </a:endParaRPr>
          </a:p>
        </p:txBody>
      </p:sp>
      <p:sp>
        <p:nvSpPr>
          <p:cNvPr id="99" name="Freeform 11"/>
          <p:cNvSpPr>
            <a:spLocks/>
          </p:cNvSpPr>
          <p:nvPr/>
        </p:nvSpPr>
        <p:spPr bwMode="auto">
          <a:xfrm>
            <a:off x="9324343" y="4573018"/>
            <a:ext cx="468049" cy="368127"/>
          </a:xfrm>
          <a:custGeom>
            <a:avLst/>
            <a:gdLst>
              <a:gd name="T0" fmla="*/ 0 w 162"/>
              <a:gd name="T1" fmla="*/ 264 h 264"/>
              <a:gd name="T2" fmla="*/ 30 w 162"/>
              <a:gd name="T3" fmla="*/ 162 h 264"/>
              <a:gd name="T4" fmla="*/ 90 w 162"/>
              <a:gd name="T5" fmla="*/ 66 h 264"/>
              <a:gd name="T6" fmla="*/ 162 w 162"/>
              <a:gd name="T7" fmla="*/ 0 h 264"/>
              <a:gd name="T8" fmla="*/ 0 60000 65536"/>
              <a:gd name="T9" fmla="*/ 0 60000 65536"/>
              <a:gd name="T10" fmla="*/ 0 60000 65536"/>
              <a:gd name="T11" fmla="*/ 0 60000 65536"/>
              <a:gd name="T12" fmla="*/ 0 w 162"/>
              <a:gd name="T13" fmla="*/ 0 h 264"/>
              <a:gd name="T14" fmla="*/ 162 w 162"/>
              <a:gd name="T15" fmla="*/ 264 h 264"/>
            </a:gdLst>
            <a:ahLst/>
            <a:cxnLst>
              <a:cxn ang="T8">
                <a:pos x="T0" y="T1"/>
              </a:cxn>
              <a:cxn ang="T9">
                <a:pos x="T2" y="T3"/>
              </a:cxn>
              <a:cxn ang="T10">
                <a:pos x="T4" y="T5"/>
              </a:cxn>
              <a:cxn ang="T11">
                <a:pos x="T6" y="T7"/>
              </a:cxn>
            </a:cxnLst>
            <a:rect l="T12" t="T13" r="T14" b="T15"/>
            <a:pathLst>
              <a:path w="162" h="264">
                <a:moveTo>
                  <a:pt x="0" y="264"/>
                </a:moveTo>
                <a:cubicBezTo>
                  <a:pt x="5" y="247"/>
                  <a:pt x="15" y="195"/>
                  <a:pt x="30" y="162"/>
                </a:cubicBezTo>
                <a:cubicBezTo>
                  <a:pt x="45" y="129"/>
                  <a:pt x="68" y="93"/>
                  <a:pt x="90" y="66"/>
                </a:cubicBezTo>
                <a:cubicBezTo>
                  <a:pt x="112" y="39"/>
                  <a:pt x="147" y="14"/>
                  <a:pt x="162" y="0"/>
                </a:cubicBezTo>
              </a:path>
            </a:pathLst>
          </a:custGeom>
          <a:noFill/>
          <a:ln w="15875" cap="flat" cmpd="sng">
            <a:solidFill>
              <a:schemeClr val="accent5"/>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12"/>
          <p:cNvSpPr>
            <a:spLocks/>
          </p:cNvSpPr>
          <p:nvPr/>
        </p:nvSpPr>
        <p:spPr bwMode="auto">
          <a:xfrm>
            <a:off x="9874516" y="4932377"/>
            <a:ext cx="308720" cy="414679"/>
          </a:xfrm>
          <a:custGeom>
            <a:avLst/>
            <a:gdLst>
              <a:gd name="T0" fmla="*/ 156 w 170"/>
              <a:gd name="T1" fmla="*/ 0 h 258"/>
              <a:gd name="T2" fmla="*/ 144 w 170"/>
              <a:gd name="T3" fmla="*/ 126 h 258"/>
              <a:gd name="T4" fmla="*/ 0 w 170"/>
              <a:gd name="T5" fmla="*/ 258 h 258"/>
              <a:gd name="T6" fmla="*/ 0 60000 65536"/>
              <a:gd name="T7" fmla="*/ 0 60000 65536"/>
              <a:gd name="T8" fmla="*/ 0 60000 65536"/>
              <a:gd name="T9" fmla="*/ 0 w 170"/>
              <a:gd name="T10" fmla="*/ 0 h 258"/>
              <a:gd name="T11" fmla="*/ 170 w 170"/>
              <a:gd name="T12" fmla="*/ 258 h 258"/>
            </a:gdLst>
            <a:ahLst/>
            <a:cxnLst>
              <a:cxn ang="T6">
                <a:pos x="T0" y="T1"/>
              </a:cxn>
              <a:cxn ang="T7">
                <a:pos x="T2" y="T3"/>
              </a:cxn>
              <a:cxn ang="T8">
                <a:pos x="T4" y="T5"/>
              </a:cxn>
            </a:cxnLst>
            <a:rect l="T9" t="T10" r="T11" b="T12"/>
            <a:pathLst>
              <a:path w="170" h="258">
                <a:moveTo>
                  <a:pt x="156" y="0"/>
                </a:moveTo>
                <a:cubicBezTo>
                  <a:pt x="154" y="21"/>
                  <a:pt x="170" y="83"/>
                  <a:pt x="144" y="126"/>
                </a:cubicBezTo>
                <a:cubicBezTo>
                  <a:pt x="118" y="169"/>
                  <a:pt x="30" y="231"/>
                  <a:pt x="0" y="258"/>
                </a:cubicBezTo>
              </a:path>
            </a:pathLst>
          </a:custGeom>
          <a:noFill/>
          <a:ln w="15875" cap="flat" cmpd="sng">
            <a:solidFill>
              <a:schemeClr val="accent5"/>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graphicFrame>
        <p:nvGraphicFramePr>
          <p:cNvPr id="103" name="Table 102"/>
          <p:cNvGraphicFramePr>
            <a:graphicFrameLocks noGrp="1"/>
          </p:cNvGraphicFramePr>
          <p:nvPr/>
        </p:nvGraphicFramePr>
        <p:xfrm>
          <a:off x="649035" y="3749040"/>
          <a:ext cx="3291840" cy="457200"/>
        </p:xfrm>
        <a:graphic>
          <a:graphicData uri="http://schemas.openxmlformats.org/drawingml/2006/table">
            <a:tbl>
              <a:tblPr firstRow="1" bandRow="1">
                <a:tableStyleId>{5940675A-B579-460E-94D1-54222C63F5DA}</a:tableStyleId>
              </a:tblPr>
              <a:tblGrid>
                <a:gridCol w="548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1751283045"/>
                    </a:ext>
                  </a:extLst>
                </a:gridCol>
              </a:tblGrid>
              <a:tr h="457200">
                <a:tc>
                  <a:txBody>
                    <a:bodyPr/>
                    <a:lstStyle/>
                    <a:p>
                      <a:pPr algn="ctr"/>
                      <a:r>
                        <a:rPr lang="en-US" sz="2400" dirty="0"/>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bg1">
                        <a:lumMod val="85000"/>
                      </a:schemeClr>
                    </a:solidFill>
                  </a:tcPr>
                </a:tc>
                <a:tc>
                  <a:txBody>
                    <a:bodyPr/>
                    <a:lstStyle/>
                    <a:p>
                      <a:pPr algn="ctr"/>
                      <a:r>
                        <a:rPr lang="en-US" sz="2400" dirty="0"/>
                        <a:t>2</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104" name="Table 103"/>
          <p:cNvGraphicFramePr>
            <a:graphicFrameLocks noGrp="1"/>
          </p:cNvGraphicFramePr>
          <p:nvPr/>
        </p:nvGraphicFramePr>
        <p:xfrm>
          <a:off x="4529088" y="3749040"/>
          <a:ext cx="3291840" cy="457200"/>
        </p:xfrm>
        <a:graphic>
          <a:graphicData uri="http://schemas.openxmlformats.org/drawingml/2006/table">
            <a:tbl>
              <a:tblPr firstRow="1" bandRow="1">
                <a:tableStyleId>{5940675A-B579-460E-94D1-54222C63F5DA}</a:tableStyleId>
              </a:tblPr>
              <a:tblGrid>
                <a:gridCol w="548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1751283045"/>
                    </a:ext>
                  </a:extLst>
                </a:gridCol>
              </a:tblGrid>
              <a:tr h="443322">
                <a:tc>
                  <a:txBody>
                    <a:bodyPr/>
                    <a:lstStyle/>
                    <a:p>
                      <a:pPr algn="ctr"/>
                      <a:r>
                        <a:rPr lang="en-US" sz="2400" dirty="0"/>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3">
                        <a:lumMod val="40000"/>
                        <a:lumOff val="60000"/>
                      </a:schemeClr>
                    </a:solidFill>
                  </a:tcPr>
                </a:tc>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bg1">
                        <a:lumMod val="85000"/>
                      </a:schemeClr>
                    </a:solidFill>
                  </a:tcPr>
                </a:tc>
                <a:tc>
                  <a:txBody>
                    <a:bodyPr/>
                    <a:lstStyle/>
                    <a:p>
                      <a:pPr algn="ctr"/>
                      <a:r>
                        <a:rPr lang="en-US" sz="2400" dirty="0"/>
                        <a:t>2</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3">
                        <a:lumMod val="40000"/>
                        <a:lumOff val="60000"/>
                      </a:schemeClr>
                    </a:solidFill>
                  </a:tcPr>
                </a:tc>
                <a:tc>
                  <a:txBody>
                    <a:bodyPr/>
                    <a:lstStyle/>
                    <a:p>
                      <a:pPr algn="ctr"/>
                      <a:r>
                        <a:rPr lang="en-US" sz="240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105" name="Table 104"/>
          <p:cNvGraphicFramePr>
            <a:graphicFrameLocks noGrp="1"/>
          </p:cNvGraphicFramePr>
          <p:nvPr/>
        </p:nvGraphicFramePr>
        <p:xfrm>
          <a:off x="8398368" y="3749040"/>
          <a:ext cx="3291840" cy="457200"/>
        </p:xfrm>
        <a:graphic>
          <a:graphicData uri="http://schemas.openxmlformats.org/drawingml/2006/table">
            <a:tbl>
              <a:tblPr firstRow="1" bandRow="1">
                <a:tableStyleId>{5940675A-B579-460E-94D1-54222C63F5DA}</a:tableStyleId>
              </a:tblPr>
              <a:tblGrid>
                <a:gridCol w="548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1751283045"/>
                    </a:ext>
                  </a:extLst>
                </a:gridCol>
              </a:tblGrid>
              <a:tr h="420564">
                <a:tc>
                  <a:txBody>
                    <a:bodyPr/>
                    <a:lstStyle/>
                    <a:p>
                      <a:pPr algn="ctr"/>
                      <a:r>
                        <a:rPr lang="en-US" sz="2400" dirty="0"/>
                        <a:t>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tx2">
                        <a:lumMod val="20000"/>
                        <a:lumOff val="80000"/>
                      </a:schemeClr>
                    </a:solidFill>
                  </a:tcPr>
                </a:tc>
                <a:tc>
                  <a:txBody>
                    <a:bodyPr/>
                    <a:lstStyle/>
                    <a:p>
                      <a:pPr algn="ctr"/>
                      <a:r>
                        <a:rPr lang="en-US" sz="2400" dirty="0"/>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tx2">
                        <a:lumMod val="20000"/>
                        <a:lumOff val="80000"/>
                      </a:schemeClr>
                    </a:solidFill>
                  </a:tcPr>
                </a:tc>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bg1">
                        <a:lumMod val="85000"/>
                      </a:schemeClr>
                    </a:solidFill>
                  </a:tcPr>
                </a:tc>
                <a:tc>
                  <a:txBody>
                    <a:bodyPr/>
                    <a:lstStyle/>
                    <a:p>
                      <a:pPr algn="ctr"/>
                      <a:r>
                        <a:rPr lang="en-US" sz="2400" dirty="0"/>
                        <a:t>2</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3">
                        <a:lumMod val="40000"/>
                        <a:lumOff val="60000"/>
                      </a:schemeClr>
                    </a:solidFill>
                  </a:tcPr>
                </a:tc>
                <a:tc>
                  <a:txBody>
                    <a:bodyPr/>
                    <a:lstStyle/>
                    <a:p>
                      <a:pPr algn="ctr"/>
                      <a:r>
                        <a:rPr lang="en-US" sz="240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106" name="Straight Connector 105"/>
          <p:cNvCxnSpPr/>
          <p:nvPr/>
        </p:nvCxnSpPr>
        <p:spPr>
          <a:xfrm>
            <a:off x="3722915" y="2133257"/>
            <a:ext cx="1215624" cy="0"/>
          </a:xfrm>
          <a:prstGeom prst="line">
            <a:avLst/>
          </a:prstGeom>
          <a:ln w="28575">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3069872" y="5078365"/>
            <a:ext cx="365760" cy="365760"/>
          </a:xfrm>
          <a:prstGeom prst="rect">
            <a:avLst/>
          </a:prstGeom>
          <a:solidFill>
            <a:srgbClr val="002060"/>
          </a:solidFill>
        </p:spPr>
        <p:txBody>
          <a:bodyPr wrap="square" rtlCol="0" anchor="ctr">
            <a:spAutoFit/>
          </a:bodyPr>
          <a:lstStyle/>
          <a:p>
            <a:pPr algn="ctr"/>
            <a:r>
              <a:rPr lang="en-US" sz="2000" b="1" dirty="0">
                <a:solidFill>
                  <a:schemeClr val="accent5"/>
                </a:solidFill>
              </a:rPr>
              <a:t>7</a:t>
            </a:r>
          </a:p>
        </p:txBody>
      </p:sp>
      <p:sp>
        <p:nvSpPr>
          <p:cNvPr id="117" name="TextBox 116"/>
          <p:cNvSpPr txBox="1"/>
          <p:nvPr/>
        </p:nvSpPr>
        <p:spPr>
          <a:xfrm>
            <a:off x="2921826" y="5892858"/>
            <a:ext cx="365760" cy="400110"/>
          </a:xfrm>
          <a:prstGeom prst="rect">
            <a:avLst/>
          </a:prstGeom>
          <a:solidFill>
            <a:srgbClr val="002060"/>
          </a:solidFill>
        </p:spPr>
        <p:txBody>
          <a:bodyPr wrap="square" rtlCol="0" anchor="ctr">
            <a:spAutoFit/>
          </a:bodyPr>
          <a:lstStyle/>
          <a:p>
            <a:pPr algn="ctr"/>
            <a:r>
              <a:rPr lang="en-US" sz="2000" b="1" dirty="0">
                <a:solidFill>
                  <a:schemeClr val="accent5"/>
                </a:solidFill>
              </a:rPr>
              <a:t>3</a:t>
            </a:r>
          </a:p>
        </p:txBody>
      </p:sp>
      <p:sp>
        <p:nvSpPr>
          <p:cNvPr id="118" name="TextBox 117"/>
          <p:cNvSpPr txBox="1"/>
          <p:nvPr/>
        </p:nvSpPr>
        <p:spPr>
          <a:xfrm>
            <a:off x="5482150" y="5161338"/>
            <a:ext cx="365760" cy="400110"/>
          </a:xfrm>
          <a:prstGeom prst="rect">
            <a:avLst/>
          </a:prstGeom>
          <a:solidFill>
            <a:srgbClr val="002060"/>
          </a:solidFill>
        </p:spPr>
        <p:txBody>
          <a:bodyPr wrap="square" rtlCol="0" anchor="ctr">
            <a:spAutoFit/>
          </a:bodyPr>
          <a:lstStyle/>
          <a:p>
            <a:pPr algn="ctr"/>
            <a:r>
              <a:rPr lang="en-US" sz="2000" b="1" dirty="0">
                <a:solidFill>
                  <a:schemeClr val="accent5"/>
                </a:solidFill>
              </a:rPr>
              <a:t>9</a:t>
            </a:r>
          </a:p>
        </p:txBody>
      </p:sp>
      <p:sp>
        <p:nvSpPr>
          <p:cNvPr id="119" name="TextBox 118"/>
          <p:cNvSpPr txBox="1"/>
          <p:nvPr/>
        </p:nvSpPr>
        <p:spPr>
          <a:xfrm>
            <a:off x="5987246" y="5901566"/>
            <a:ext cx="365760" cy="400110"/>
          </a:xfrm>
          <a:prstGeom prst="rect">
            <a:avLst/>
          </a:prstGeom>
          <a:solidFill>
            <a:srgbClr val="002060"/>
          </a:solidFill>
        </p:spPr>
        <p:txBody>
          <a:bodyPr wrap="square" rtlCol="0" anchor="ctr">
            <a:spAutoFit/>
          </a:bodyPr>
          <a:lstStyle/>
          <a:p>
            <a:pPr algn="ctr"/>
            <a:r>
              <a:rPr lang="en-US" sz="2000" b="1" dirty="0">
                <a:solidFill>
                  <a:schemeClr val="accent5"/>
                </a:solidFill>
              </a:rPr>
              <a:t>1</a:t>
            </a:r>
          </a:p>
        </p:txBody>
      </p:sp>
      <p:sp>
        <p:nvSpPr>
          <p:cNvPr id="120" name="TextBox 119"/>
          <p:cNvSpPr txBox="1"/>
          <p:nvPr/>
        </p:nvSpPr>
        <p:spPr>
          <a:xfrm>
            <a:off x="10049801" y="4438526"/>
            <a:ext cx="365760" cy="400110"/>
          </a:xfrm>
          <a:prstGeom prst="rect">
            <a:avLst/>
          </a:prstGeom>
          <a:solidFill>
            <a:srgbClr val="002060"/>
          </a:solidFill>
        </p:spPr>
        <p:txBody>
          <a:bodyPr wrap="square" rtlCol="0" anchor="ctr">
            <a:spAutoFit/>
          </a:bodyPr>
          <a:lstStyle/>
          <a:p>
            <a:pPr algn="ctr"/>
            <a:r>
              <a:rPr lang="en-US" sz="2000" b="1" dirty="0">
                <a:solidFill>
                  <a:schemeClr val="accent5"/>
                </a:solidFill>
              </a:rPr>
              <a:t>9</a:t>
            </a:r>
          </a:p>
        </p:txBody>
      </p:sp>
      <p:sp>
        <p:nvSpPr>
          <p:cNvPr id="121" name="TextBox 120"/>
          <p:cNvSpPr txBox="1"/>
          <p:nvPr/>
        </p:nvSpPr>
        <p:spPr>
          <a:xfrm>
            <a:off x="9405364" y="5165692"/>
            <a:ext cx="365760" cy="400110"/>
          </a:xfrm>
          <a:prstGeom prst="rect">
            <a:avLst/>
          </a:prstGeom>
          <a:solidFill>
            <a:srgbClr val="002060"/>
          </a:solidFill>
        </p:spPr>
        <p:txBody>
          <a:bodyPr wrap="square" rtlCol="0" anchor="ctr">
            <a:spAutoFit/>
          </a:bodyPr>
          <a:lstStyle/>
          <a:p>
            <a:pPr algn="ctr"/>
            <a:r>
              <a:rPr lang="en-US" sz="2000" b="1" dirty="0">
                <a:solidFill>
                  <a:schemeClr val="accent5"/>
                </a:solidFill>
              </a:rPr>
              <a:t>4</a:t>
            </a:r>
          </a:p>
        </p:txBody>
      </p:sp>
    </p:spTree>
    <p:extLst>
      <p:ext uri="{BB962C8B-B14F-4D97-AF65-F5344CB8AC3E}">
        <p14:creationId xmlns:p14="http://schemas.microsoft.com/office/powerpoint/2010/main" val="3076844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15"/>
                                        </p:tgtEl>
                                        <p:attrNameLst>
                                          <p:attrName>style.visibility</p:attrName>
                                        </p:attrNameLst>
                                      </p:cBhvr>
                                      <p:to>
                                        <p:strVal val="visible"/>
                                      </p:to>
                                    </p:set>
                                    <p:animEffect transition="in" filter="wipe(up)">
                                      <p:cBhvr>
                                        <p:cTn id="16" dur="2000"/>
                                        <p:tgtEl>
                                          <p:spTgt spid="115"/>
                                        </p:tgtEl>
                                      </p:cBhvr>
                                    </p:animEffect>
                                  </p:childTnLst>
                                </p:cTn>
                              </p:par>
                              <p:par>
                                <p:cTn id="17" presetID="22" presetClass="entr" presetSubtype="1" fill="hold" nodeType="withEffect">
                                  <p:stCondLst>
                                    <p:cond delay="0"/>
                                  </p:stCondLst>
                                  <p:childTnLst>
                                    <p:set>
                                      <p:cBhvr>
                                        <p:cTn id="18" dur="1" fill="hold">
                                          <p:stCondLst>
                                            <p:cond delay="0"/>
                                          </p:stCondLst>
                                        </p:cTn>
                                        <p:tgtEl>
                                          <p:spTgt spid="114"/>
                                        </p:tgtEl>
                                        <p:attrNameLst>
                                          <p:attrName>style.visibility</p:attrName>
                                        </p:attrNameLst>
                                      </p:cBhvr>
                                      <p:to>
                                        <p:strVal val="visible"/>
                                      </p:to>
                                    </p:set>
                                    <p:animEffect transition="in" filter="wipe(up)">
                                      <p:cBhvr>
                                        <p:cTn id="19" dur="2000"/>
                                        <p:tgtEl>
                                          <p:spTgt spid="11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up)">
                                      <p:cBhvr>
                                        <p:cTn id="24" dur="500"/>
                                        <p:tgtEl>
                                          <p:spTgt spid="8"/>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grpId="1" nodeType="clickEffect">
                                  <p:stCondLst>
                                    <p:cond delay="0"/>
                                  </p:stCondLst>
                                  <p:childTnLst>
                                    <p:animMotion origin="layout" path="M -3.33333E-6 2.96296E-6 L -3.33333E-6 0.00023 C -0.00247 0.03217 -0.00156 0.01319 -0.00156 0.05764 L -0.00156 0.05787 " pathEditMode="relative" rAng="0" ptsTypes="AAAA">
                                      <p:cBhvr>
                                        <p:cTn id="32" dur="2000" fill="hold"/>
                                        <p:tgtEl>
                                          <p:spTgt spid="8"/>
                                        </p:tgtEl>
                                        <p:attrNameLst>
                                          <p:attrName>ppt_x</p:attrName>
                                          <p:attrName>ppt_y</p:attrName>
                                        </p:attrNameLst>
                                      </p:cBhvr>
                                      <p:rCtr x="-91" y="2894"/>
                                    </p:animMotion>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par>
                          <p:cTn id="38" fill="hold">
                            <p:stCondLst>
                              <p:cond delay="500"/>
                            </p:stCondLst>
                            <p:childTnLst>
                              <p:par>
                                <p:cTn id="39" presetID="10" presetClass="entr" presetSubtype="0" fill="hold" grpId="0" nodeType="after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500"/>
                                        <p:tgtEl>
                                          <p:spTgt spid="29"/>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grpId="2" nodeType="clickEffect">
                                  <p:stCondLst>
                                    <p:cond delay="0"/>
                                  </p:stCondLst>
                                  <p:childTnLst>
                                    <p:set>
                                      <p:cBhvr>
                                        <p:cTn id="49" dur="1" fill="hold">
                                          <p:stCondLst>
                                            <p:cond delay="0"/>
                                          </p:stCondLst>
                                        </p:cTn>
                                        <p:tgtEl>
                                          <p:spTgt spid="8"/>
                                        </p:tgtEl>
                                        <p:attrNameLst>
                                          <p:attrName>style.visibility</p:attrName>
                                        </p:attrNameLst>
                                      </p:cBhvr>
                                      <p:to>
                                        <p:strVal val="hidden"/>
                                      </p:to>
                                    </p:set>
                                  </p:childTnLst>
                                </p:cTn>
                              </p:par>
                            </p:childTnLst>
                          </p:cTn>
                        </p:par>
                        <p:par>
                          <p:cTn id="50" fill="hold">
                            <p:stCondLst>
                              <p:cond delay="0"/>
                            </p:stCondLst>
                            <p:childTnLst>
                              <p:par>
                                <p:cTn id="51" presetID="10" presetClass="entr" presetSubtype="0" fill="hold" grpId="0" nodeType="afterEffect">
                                  <p:stCondLst>
                                    <p:cond delay="0"/>
                                  </p:stCondLst>
                                  <p:childTnLst>
                                    <p:set>
                                      <p:cBhvr>
                                        <p:cTn id="52" dur="1" fill="hold">
                                          <p:stCondLst>
                                            <p:cond delay="0"/>
                                          </p:stCondLst>
                                        </p:cTn>
                                        <p:tgtEl>
                                          <p:spTgt spid="94"/>
                                        </p:tgtEl>
                                        <p:attrNameLst>
                                          <p:attrName>style.visibility</p:attrName>
                                        </p:attrNameLst>
                                      </p:cBhvr>
                                      <p:to>
                                        <p:strVal val="visible"/>
                                      </p:to>
                                    </p:set>
                                    <p:animEffect transition="in" filter="fade">
                                      <p:cBhvr>
                                        <p:cTn id="53" dur="500"/>
                                        <p:tgtEl>
                                          <p:spTgt spid="9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90"/>
                                        </p:tgtEl>
                                        <p:attrNameLst>
                                          <p:attrName>style.visibility</p:attrName>
                                        </p:attrNameLst>
                                      </p:cBhvr>
                                      <p:to>
                                        <p:strVal val="visible"/>
                                      </p:to>
                                    </p:set>
                                    <p:animEffect transition="in" filter="wipe(down)">
                                      <p:cBhvr>
                                        <p:cTn id="58" dur="500"/>
                                        <p:tgtEl>
                                          <p:spTgt spid="90"/>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91"/>
                                        </p:tgtEl>
                                        <p:attrNameLst>
                                          <p:attrName>style.visibility</p:attrName>
                                        </p:attrNameLst>
                                      </p:cBhvr>
                                      <p:to>
                                        <p:strVal val="visible"/>
                                      </p:to>
                                    </p:set>
                                    <p:animEffect transition="in" filter="wipe(up)">
                                      <p:cBhvr>
                                        <p:cTn id="61" dur="500"/>
                                        <p:tgtEl>
                                          <p:spTgt spid="91"/>
                                        </p:tgtEl>
                                      </p:cBhvr>
                                    </p:animEffect>
                                  </p:childTnLst>
                                </p:cTn>
                              </p:par>
                            </p:childTnLst>
                          </p:cTn>
                        </p:par>
                        <p:par>
                          <p:cTn id="62" fill="hold">
                            <p:stCondLst>
                              <p:cond delay="500"/>
                            </p:stCondLst>
                            <p:childTnLst>
                              <p:par>
                                <p:cTn id="63" presetID="10" presetClass="entr" presetSubtype="0" fill="hold" grpId="0" nodeType="afterEffect">
                                  <p:stCondLst>
                                    <p:cond delay="0"/>
                                  </p:stCondLst>
                                  <p:childTnLst>
                                    <p:set>
                                      <p:cBhvr>
                                        <p:cTn id="64" dur="1" fill="hold">
                                          <p:stCondLst>
                                            <p:cond delay="0"/>
                                          </p:stCondLst>
                                        </p:cTn>
                                        <p:tgtEl>
                                          <p:spTgt spid="116"/>
                                        </p:tgtEl>
                                        <p:attrNameLst>
                                          <p:attrName>style.visibility</p:attrName>
                                        </p:attrNameLst>
                                      </p:cBhvr>
                                      <p:to>
                                        <p:strVal val="visible"/>
                                      </p:to>
                                    </p:set>
                                    <p:animEffect transition="in" filter="fade">
                                      <p:cBhvr>
                                        <p:cTn id="65" dur="500"/>
                                        <p:tgtEl>
                                          <p:spTgt spid="116"/>
                                        </p:tgtEl>
                                      </p:cBhvr>
                                    </p:animEffect>
                                  </p:childTnLst>
                                </p:cTn>
                              </p:par>
                            </p:childTnLst>
                          </p:cTn>
                        </p:par>
                        <p:par>
                          <p:cTn id="66" fill="hold">
                            <p:stCondLst>
                              <p:cond delay="1000"/>
                            </p:stCondLst>
                            <p:childTnLst>
                              <p:par>
                                <p:cTn id="67" presetID="10" presetClass="entr" presetSubtype="0" fill="hold" grpId="0" nodeType="afterEffect">
                                  <p:stCondLst>
                                    <p:cond delay="0"/>
                                  </p:stCondLst>
                                  <p:childTnLst>
                                    <p:set>
                                      <p:cBhvr>
                                        <p:cTn id="68" dur="1" fill="hold">
                                          <p:stCondLst>
                                            <p:cond delay="0"/>
                                          </p:stCondLst>
                                        </p:cTn>
                                        <p:tgtEl>
                                          <p:spTgt spid="117"/>
                                        </p:tgtEl>
                                        <p:attrNameLst>
                                          <p:attrName>style.visibility</p:attrName>
                                        </p:attrNameLst>
                                      </p:cBhvr>
                                      <p:to>
                                        <p:strVal val="visible"/>
                                      </p:to>
                                    </p:set>
                                    <p:animEffect transition="in" filter="fade">
                                      <p:cBhvr>
                                        <p:cTn id="69" dur="500"/>
                                        <p:tgtEl>
                                          <p:spTgt spid="117"/>
                                        </p:tgtEl>
                                      </p:cBhvr>
                                    </p:animEffect>
                                  </p:childTnLst>
                                </p:cTn>
                              </p:par>
                            </p:childTnLst>
                          </p:cTn>
                        </p:par>
                        <p:par>
                          <p:cTn id="70" fill="hold">
                            <p:stCondLst>
                              <p:cond delay="1500"/>
                            </p:stCondLst>
                            <p:childTnLst>
                              <p:par>
                                <p:cTn id="71" presetID="1" presetClass="exit" presetSubtype="0" fill="hold" grpId="1" nodeType="afterEffect">
                                  <p:stCondLst>
                                    <p:cond delay="0"/>
                                  </p:stCondLst>
                                  <p:childTnLst>
                                    <p:set>
                                      <p:cBhvr>
                                        <p:cTn id="72" dur="1" fill="hold">
                                          <p:stCondLst>
                                            <p:cond delay="0"/>
                                          </p:stCondLst>
                                        </p:cTn>
                                        <p:tgtEl>
                                          <p:spTgt spid="90"/>
                                        </p:tgtEl>
                                        <p:attrNameLst>
                                          <p:attrName>style.visibility</p:attrName>
                                        </p:attrNameLst>
                                      </p:cBhvr>
                                      <p:to>
                                        <p:strVal val="hidden"/>
                                      </p:to>
                                    </p:set>
                                  </p:childTnLst>
                                </p:cTn>
                              </p:par>
                            </p:childTnLst>
                          </p:cTn>
                        </p:par>
                        <p:par>
                          <p:cTn id="73" fill="hold">
                            <p:stCondLst>
                              <p:cond delay="1500"/>
                            </p:stCondLst>
                            <p:childTnLst>
                              <p:par>
                                <p:cTn id="74" presetID="1" presetClass="exit" presetSubtype="0" fill="hold" grpId="1" nodeType="afterEffect">
                                  <p:stCondLst>
                                    <p:cond delay="0"/>
                                  </p:stCondLst>
                                  <p:childTnLst>
                                    <p:set>
                                      <p:cBhvr>
                                        <p:cTn id="75" dur="1" fill="hold">
                                          <p:stCondLst>
                                            <p:cond delay="0"/>
                                          </p:stCondLst>
                                        </p:cTn>
                                        <p:tgtEl>
                                          <p:spTgt spid="91"/>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103"/>
                                        </p:tgtEl>
                                        <p:attrNameLst>
                                          <p:attrName>style.visibility</p:attrName>
                                        </p:attrNameLst>
                                      </p:cBhvr>
                                      <p:to>
                                        <p:strVal val="visible"/>
                                      </p:to>
                                    </p:set>
                                    <p:animEffect transition="in" filter="fade">
                                      <p:cBhvr>
                                        <p:cTn id="80" dur="500"/>
                                        <p:tgtEl>
                                          <p:spTgt spid="103"/>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106"/>
                                        </p:tgtEl>
                                        <p:attrNameLst>
                                          <p:attrName>style.visibility</p:attrName>
                                        </p:attrNameLst>
                                      </p:cBhvr>
                                      <p:to>
                                        <p:strVal val="visible"/>
                                      </p:to>
                                    </p:set>
                                    <p:animEffect transition="in" filter="wipe(left)">
                                      <p:cBhvr>
                                        <p:cTn id="85" dur="500"/>
                                        <p:tgtEl>
                                          <p:spTgt spid="10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nodeType="clickEffect">
                                  <p:stCondLst>
                                    <p:cond delay="0"/>
                                  </p:stCondLst>
                                  <p:childTnLst>
                                    <p:set>
                                      <p:cBhvr>
                                        <p:cTn id="89" dur="1" fill="hold">
                                          <p:stCondLst>
                                            <p:cond delay="0"/>
                                          </p:stCondLst>
                                        </p:cTn>
                                        <p:tgtEl>
                                          <p:spTgt spid="48"/>
                                        </p:tgtEl>
                                        <p:attrNameLst>
                                          <p:attrName>style.visibility</p:attrName>
                                        </p:attrNameLst>
                                      </p:cBhvr>
                                      <p:to>
                                        <p:strVal val="visible"/>
                                      </p:to>
                                    </p:set>
                                    <p:animEffect transition="in" filter="wipe(down)">
                                      <p:cBhvr>
                                        <p:cTn id="90" dur="500"/>
                                        <p:tgtEl>
                                          <p:spTgt spid="48"/>
                                        </p:tgtEl>
                                      </p:cBhvr>
                                    </p:animEffect>
                                  </p:childTnLst>
                                </p:cTn>
                              </p:par>
                            </p:childTnLst>
                          </p:cTn>
                        </p:par>
                        <p:par>
                          <p:cTn id="91" fill="hold">
                            <p:stCondLst>
                              <p:cond delay="500"/>
                            </p:stCondLst>
                            <p:childTnLst>
                              <p:par>
                                <p:cTn id="92" presetID="10" presetClass="entr" presetSubtype="0" fill="hold" grpId="0" nodeType="afterEffect">
                                  <p:stCondLst>
                                    <p:cond delay="0"/>
                                  </p:stCondLst>
                                  <p:childTnLst>
                                    <p:set>
                                      <p:cBhvr>
                                        <p:cTn id="93" dur="1" fill="hold">
                                          <p:stCondLst>
                                            <p:cond delay="0"/>
                                          </p:stCondLst>
                                        </p:cTn>
                                        <p:tgtEl>
                                          <p:spTgt spid="88"/>
                                        </p:tgtEl>
                                        <p:attrNameLst>
                                          <p:attrName>style.visibility</p:attrName>
                                        </p:attrNameLst>
                                      </p:cBhvr>
                                      <p:to>
                                        <p:strVal val="visible"/>
                                      </p:to>
                                    </p:set>
                                    <p:animEffect transition="in" filter="fade">
                                      <p:cBhvr>
                                        <p:cTn id="94" dur="500"/>
                                        <p:tgtEl>
                                          <p:spTgt spid="88"/>
                                        </p:tgtEl>
                                      </p:cBhvr>
                                    </p:animEffect>
                                  </p:childTnLst>
                                </p:cTn>
                              </p:par>
                            </p:childTnLst>
                          </p:cTn>
                        </p:par>
                        <p:par>
                          <p:cTn id="95" fill="hold">
                            <p:stCondLst>
                              <p:cond delay="1000"/>
                            </p:stCondLst>
                            <p:childTnLst>
                              <p:par>
                                <p:cTn id="96" presetID="10" presetClass="entr" presetSubtype="0" fill="hold" nodeType="after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fade">
                                      <p:cBhvr>
                                        <p:cTn id="98" dur="500"/>
                                        <p:tgtEl>
                                          <p:spTgt spid="50"/>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1" fill="hold" grpId="0" nodeType="clickEffect">
                                  <p:stCondLst>
                                    <p:cond delay="0"/>
                                  </p:stCondLst>
                                  <p:childTnLst>
                                    <p:set>
                                      <p:cBhvr>
                                        <p:cTn id="102" dur="1" fill="hold">
                                          <p:stCondLst>
                                            <p:cond delay="0"/>
                                          </p:stCondLst>
                                        </p:cTn>
                                        <p:tgtEl>
                                          <p:spTgt spid="96"/>
                                        </p:tgtEl>
                                        <p:attrNameLst>
                                          <p:attrName>style.visibility</p:attrName>
                                        </p:attrNameLst>
                                      </p:cBhvr>
                                      <p:to>
                                        <p:strVal val="visible"/>
                                      </p:to>
                                    </p:set>
                                    <p:animEffect transition="in" filter="wipe(up)">
                                      <p:cBhvr>
                                        <p:cTn id="103" dur="500"/>
                                        <p:tgtEl>
                                          <p:spTgt spid="96"/>
                                        </p:tgtEl>
                                      </p:cBhvr>
                                    </p:animEffect>
                                  </p:childTnLst>
                                </p:cTn>
                              </p:par>
                            </p:childTnLst>
                          </p:cTn>
                        </p:par>
                        <p:par>
                          <p:cTn id="104" fill="hold">
                            <p:stCondLst>
                              <p:cond delay="500"/>
                            </p:stCondLst>
                            <p:childTnLst>
                              <p:par>
                                <p:cTn id="105" presetID="22" presetClass="entr" presetSubtype="4" fill="hold" grpId="0" nodeType="afterEffect">
                                  <p:stCondLst>
                                    <p:cond delay="0"/>
                                  </p:stCondLst>
                                  <p:childTnLst>
                                    <p:set>
                                      <p:cBhvr>
                                        <p:cTn id="106" dur="1" fill="hold">
                                          <p:stCondLst>
                                            <p:cond delay="0"/>
                                          </p:stCondLst>
                                        </p:cTn>
                                        <p:tgtEl>
                                          <p:spTgt spid="95"/>
                                        </p:tgtEl>
                                        <p:attrNameLst>
                                          <p:attrName>style.visibility</p:attrName>
                                        </p:attrNameLst>
                                      </p:cBhvr>
                                      <p:to>
                                        <p:strVal val="visible"/>
                                      </p:to>
                                    </p:set>
                                    <p:animEffect transition="in" filter="wipe(down)">
                                      <p:cBhvr>
                                        <p:cTn id="107" dur="500"/>
                                        <p:tgtEl>
                                          <p:spTgt spid="95"/>
                                        </p:tgtEl>
                                      </p:cBhvr>
                                    </p:animEffect>
                                  </p:childTnLst>
                                </p:cTn>
                              </p:par>
                            </p:childTnLst>
                          </p:cTn>
                        </p:par>
                        <p:par>
                          <p:cTn id="108" fill="hold">
                            <p:stCondLst>
                              <p:cond delay="1000"/>
                            </p:stCondLst>
                            <p:childTnLst>
                              <p:par>
                                <p:cTn id="109" presetID="10" presetClass="entr" presetSubtype="0" fill="hold" grpId="0" nodeType="afterEffect">
                                  <p:stCondLst>
                                    <p:cond delay="0"/>
                                  </p:stCondLst>
                                  <p:childTnLst>
                                    <p:set>
                                      <p:cBhvr>
                                        <p:cTn id="110" dur="1" fill="hold">
                                          <p:stCondLst>
                                            <p:cond delay="0"/>
                                          </p:stCondLst>
                                        </p:cTn>
                                        <p:tgtEl>
                                          <p:spTgt spid="118"/>
                                        </p:tgtEl>
                                        <p:attrNameLst>
                                          <p:attrName>style.visibility</p:attrName>
                                        </p:attrNameLst>
                                      </p:cBhvr>
                                      <p:to>
                                        <p:strVal val="visible"/>
                                      </p:to>
                                    </p:set>
                                    <p:animEffect transition="in" filter="fade">
                                      <p:cBhvr>
                                        <p:cTn id="111" dur="500"/>
                                        <p:tgtEl>
                                          <p:spTgt spid="118"/>
                                        </p:tgtEl>
                                      </p:cBhvr>
                                    </p:animEffect>
                                  </p:childTnLst>
                                </p:cTn>
                              </p:par>
                            </p:childTnLst>
                          </p:cTn>
                        </p:par>
                        <p:par>
                          <p:cTn id="112" fill="hold">
                            <p:stCondLst>
                              <p:cond delay="1500"/>
                            </p:stCondLst>
                            <p:childTnLst>
                              <p:par>
                                <p:cTn id="113" presetID="10" presetClass="entr" presetSubtype="0" fill="hold" grpId="0" nodeType="afterEffect">
                                  <p:stCondLst>
                                    <p:cond delay="0"/>
                                  </p:stCondLst>
                                  <p:childTnLst>
                                    <p:set>
                                      <p:cBhvr>
                                        <p:cTn id="114" dur="1" fill="hold">
                                          <p:stCondLst>
                                            <p:cond delay="0"/>
                                          </p:stCondLst>
                                        </p:cTn>
                                        <p:tgtEl>
                                          <p:spTgt spid="119"/>
                                        </p:tgtEl>
                                        <p:attrNameLst>
                                          <p:attrName>style.visibility</p:attrName>
                                        </p:attrNameLst>
                                      </p:cBhvr>
                                      <p:to>
                                        <p:strVal val="visible"/>
                                      </p:to>
                                    </p:set>
                                    <p:animEffect transition="in" filter="fade">
                                      <p:cBhvr>
                                        <p:cTn id="115" dur="500"/>
                                        <p:tgtEl>
                                          <p:spTgt spid="119"/>
                                        </p:tgtEl>
                                      </p:cBhvr>
                                    </p:animEffect>
                                  </p:childTnLst>
                                </p:cTn>
                              </p:par>
                            </p:childTnLst>
                          </p:cTn>
                        </p:par>
                      </p:childTnLst>
                    </p:cTn>
                  </p:par>
                  <p:par>
                    <p:cTn id="116" fill="hold">
                      <p:stCondLst>
                        <p:cond delay="indefinite"/>
                      </p:stCondLst>
                      <p:childTnLst>
                        <p:par>
                          <p:cTn id="117" fill="hold">
                            <p:stCondLst>
                              <p:cond delay="0"/>
                            </p:stCondLst>
                            <p:childTnLst>
                              <p:par>
                                <p:cTn id="118" presetID="1" presetClass="exit" presetSubtype="0" fill="hold" grpId="1" nodeType="clickEffect">
                                  <p:stCondLst>
                                    <p:cond delay="0"/>
                                  </p:stCondLst>
                                  <p:childTnLst>
                                    <p:set>
                                      <p:cBhvr>
                                        <p:cTn id="119" dur="1" fill="hold">
                                          <p:stCondLst>
                                            <p:cond delay="0"/>
                                          </p:stCondLst>
                                        </p:cTn>
                                        <p:tgtEl>
                                          <p:spTgt spid="96"/>
                                        </p:tgtEl>
                                        <p:attrNameLst>
                                          <p:attrName>style.visibility</p:attrName>
                                        </p:attrNameLst>
                                      </p:cBhvr>
                                      <p:to>
                                        <p:strVal val="hidden"/>
                                      </p:to>
                                    </p:set>
                                  </p:childTnLst>
                                </p:cTn>
                              </p:par>
                              <p:par>
                                <p:cTn id="120" presetID="1" presetClass="exit" presetSubtype="0" fill="hold" grpId="1" nodeType="withEffect">
                                  <p:stCondLst>
                                    <p:cond delay="0"/>
                                  </p:stCondLst>
                                  <p:childTnLst>
                                    <p:set>
                                      <p:cBhvr>
                                        <p:cTn id="121" dur="1" fill="hold">
                                          <p:stCondLst>
                                            <p:cond delay="0"/>
                                          </p:stCondLst>
                                        </p:cTn>
                                        <p:tgtEl>
                                          <p:spTgt spid="95"/>
                                        </p:tgtEl>
                                        <p:attrNameLst>
                                          <p:attrName>style.visibility</p:attrName>
                                        </p:attrNameLst>
                                      </p:cBhvr>
                                      <p:to>
                                        <p:strVal val="hidden"/>
                                      </p:to>
                                    </p:set>
                                  </p:childTnLst>
                                </p:cTn>
                              </p:par>
                            </p:childTnLst>
                          </p:cTn>
                        </p:par>
                        <p:par>
                          <p:cTn id="122" fill="hold">
                            <p:stCondLst>
                              <p:cond delay="0"/>
                            </p:stCondLst>
                            <p:childTnLst>
                              <p:par>
                                <p:cTn id="123" presetID="10" presetClass="entr" presetSubtype="0" fill="hold" nodeType="afterEffect">
                                  <p:stCondLst>
                                    <p:cond delay="0"/>
                                  </p:stCondLst>
                                  <p:childTnLst>
                                    <p:set>
                                      <p:cBhvr>
                                        <p:cTn id="124" dur="1" fill="hold">
                                          <p:stCondLst>
                                            <p:cond delay="0"/>
                                          </p:stCondLst>
                                        </p:cTn>
                                        <p:tgtEl>
                                          <p:spTgt spid="104"/>
                                        </p:tgtEl>
                                        <p:attrNameLst>
                                          <p:attrName>style.visibility</p:attrName>
                                        </p:attrNameLst>
                                      </p:cBhvr>
                                      <p:to>
                                        <p:strVal val="visible"/>
                                      </p:to>
                                    </p:set>
                                    <p:animEffect transition="in" filter="fade">
                                      <p:cBhvr>
                                        <p:cTn id="125" dur="500"/>
                                        <p:tgtEl>
                                          <p:spTgt spid="104"/>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4" fill="hold" nodeType="clickEffect">
                                  <p:stCondLst>
                                    <p:cond delay="0"/>
                                  </p:stCondLst>
                                  <p:childTnLst>
                                    <p:set>
                                      <p:cBhvr>
                                        <p:cTn id="129" dur="1" fill="hold">
                                          <p:stCondLst>
                                            <p:cond delay="0"/>
                                          </p:stCondLst>
                                        </p:cTn>
                                        <p:tgtEl>
                                          <p:spTgt spid="49"/>
                                        </p:tgtEl>
                                        <p:attrNameLst>
                                          <p:attrName>style.visibility</p:attrName>
                                        </p:attrNameLst>
                                      </p:cBhvr>
                                      <p:to>
                                        <p:strVal val="visible"/>
                                      </p:to>
                                    </p:set>
                                    <p:animEffect transition="in" filter="wipe(down)">
                                      <p:cBhvr>
                                        <p:cTn id="130" dur="500"/>
                                        <p:tgtEl>
                                          <p:spTgt spid="49"/>
                                        </p:tgtEl>
                                      </p:cBhvr>
                                    </p:animEffect>
                                  </p:childTnLst>
                                </p:cTn>
                              </p:par>
                            </p:childTnLst>
                          </p:cTn>
                        </p:par>
                        <p:par>
                          <p:cTn id="131" fill="hold">
                            <p:stCondLst>
                              <p:cond delay="500"/>
                            </p:stCondLst>
                            <p:childTnLst>
                              <p:par>
                                <p:cTn id="132" presetID="10" presetClass="entr" presetSubtype="0" fill="hold" grpId="0" nodeType="afterEffect">
                                  <p:stCondLst>
                                    <p:cond delay="0"/>
                                  </p:stCondLst>
                                  <p:childTnLst>
                                    <p:set>
                                      <p:cBhvr>
                                        <p:cTn id="133" dur="1" fill="hold">
                                          <p:stCondLst>
                                            <p:cond delay="0"/>
                                          </p:stCondLst>
                                        </p:cTn>
                                        <p:tgtEl>
                                          <p:spTgt spid="89"/>
                                        </p:tgtEl>
                                        <p:attrNameLst>
                                          <p:attrName>style.visibility</p:attrName>
                                        </p:attrNameLst>
                                      </p:cBhvr>
                                      <p:to>
                                        <p:strVal val="visible"/>
                                      </p:to>
                                    </p:set>
                                    <p:animEffect transition="in" filter="fade">
                                      <p:cBhvr>
                                        <p:cTn id="134" dur="500"/>
                                        <p:tgtEl>
                                          <p:spTgt spid="89"/>
                                        </p:tgtEl>
                                      </p:cBhvr>
                                    </p:animEffect>
                                  </p:childTnLst>
                                </p:cTn>
                              </p:par>
                            </p:childTnLst>
                          </p:cTn>
                        </p:par>
                        <p:par>
                          <p:cTn id="135" fill="hold">
                            <p:stCondLst>
                              <p:cond delay="1000"/>
                            </p:stCondLst>
                            <p:childTnLst>
                              <p:par>
                                <p:cTn id="136" presetID="10" presetClass="entr" presetSubtype="0" fill="hold" nodeType="afterEffect">
                                  <p:stCondLst>
                                    <p:cond delay="0"/>
                                  </p:stCondLst>
                                  <p:childTnLst>
                                    <p:set>
                                      <p:cBhvr>
                                        <p:cTn id="137" dur="1" fill="hold">
                                          <p:stCondLst>
                                            <p:cond delay="0"/>
                                          </p:stCondLst>
                                        </p:cTn>
                                        <p:tgtEl>
                                          <p:spTgt spid="69"/>
                                        </p:tgtEl>
                                        <p:attrNameLst>
                                          <p:attrName>style.visibility</p:attrName>
                                        </p:attrNameLst>
                                      </p:cBhvr>
                                      <p:to>
                                        <p:strVal val="visible"/>
                                      </p:to>
                                    </p:set>
                                    <p:animEffect transition="in" filter="fade">
                                      <p:cBhvr>
                                        <p:cTn id="138" dur="500"/>
                                        <p:tgtEl>
                                          <p:spTgt spid="69"/>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4" fill="hold" grpId="0" nodeType="clickEffect">
                                  <p:stCondLst>
                                    <p:cond delay="0"/>
                                  </p:stCondLst>
                                  <p:childTnLst>
                                    <p:set>
                                      <p:cBhvr>
                                        <p:cTn id="142" dur="1" fill="hold">
                                          <p:stCondLst>
                                            <p:cond delay="0"/>
                                          </p:stCondLst>
                                        </p:cTn>
                                        <p:tgtEl>
                                          <p:spTgt spid="99"/>
                                        </p:tgtEl>
                                        <p:attrNameLst>
                                          <p:attrName>style.visibility</p:attrName>
                                        </p:attrNameLst>
                                      </p:cBhvr>
                                      <p:to>
                                        <p:strVal val="visible"/>
                                      </p:to>
                                    </p:set>
                                    <p:animEffect transition="in" filter="wipe(down)">
                                      <p:cBhvr>
                                        <p:cTn id="143" dur="500"/>
                                        <p:tgtEl>
                                          <p:spTgt spid="99"/>
                                        </p:tgtEl>
                                      </p:cBhvr>
                                    </p:animEffect>
                                  </p:childTnLst>
                                </p:cTn>
                              </p:par>
                              <p:par>
                                <p:cTn id="144" presetID="22" presetClass="entr" presetSubtype="1" fill="hold" grpId="0" nodeType="withEffect">
                                  <p:stCondLst>
                                    <p:cond delay="0"/>
                                  </p:stCondLst>
                                  <p:childTnLst>
                                    <p:set>
                                      <p:cBhvr>
                                        <p:cTn id="145" dur="1" fill="hold">
                                          <p:stCondLst>
                                            <p:cond delay="0"/>
                                          </p:stCondLst>
                                        </p:cTn>
                                        <p:tgtEl>
                                          <p:spTgt spid="100"/>
                                        </p:tgtEl>
                                        <p:attrNameLst>
                                          <p:attrName>style.visibility</p:attrName>
                                        </p:attrNameLst>
                                      </p:cBhvr>
                                      <p:to>
                                        <p:strVal val="visible"/>
                                      </p:to>
                                    </p:set>
                                    <p:animEffect transition="in" filter="wipe(up)">
                                      <p:cBhvr>
                                        <p:cTn id="146" dur="500"/>
                                        <p:tgtEl>
                                          <p:spTgt spid="100"/>
                                        </p:tgtEl>
                                      </p:cBhvr>
                                    </p:animEffect>
                                  </p:childTnLst>
                                </p:cTn>
                              </p:par>
                            </p:childTnLst>
                          </p:cTn>
                        </p:par>
                        <p:par>
                          <p:cTn id="147" fill="hold">
                            <p:stCondLst>
                              <p:cond delay="500"/>
                            </p:stCondLst>
                            <p:childTnLst>
                              <p:par>
                                <p:cTn id="148" presetID="10" presetClass="entr" presetSubtype="0" fill="hold" grpId="0" nodeType="afterEffect">
                                  <p:stCondLst>
                                    <p:cond delay="0"/>
                                  </p:stCondLst>
                                  <p:childTnLst>
                                    <p:set>
                                      <p:cBhvr>
                                        <p:cTn id="149" dur="1" fill="hold">
                                          <p:stCondLst>
                                            <p:cond delay="0"/>
                                          </p:stCondLst>
                                        </p:cTn>
                                        <p:tgtEl>
                                          <p:spTgt spid="120"/>
                                        </p:tgtEl>
                                        <p:attrNameLst>
                                          <p:attrName>style.visibility</p:attrName>
                                        </p:attrNameLst>
                                      </p:cBhvr>
                                      <p:to>
                                        <p:strVal val="visible"/>
                                      </p:to>
                                    </p:set>
                                    <p:animEffect transition="in" filter="fade">
                                      <p:cBhvr>
                                        <p:cTn id="150" dur="500"/>
                                        <p:tgtEl>
                                          <p:spTgt spid="120"/>
                                        </p:tgtEl>
                                      </p:cBhvr>
                                    </p:animEffect>
                                  </p:childTnLst>
                                </p:cTn>
                              </p:par>
                            </p:childTnLst>
                          </p:cTn>
                        </p:par>
                        <p:par>
                          <p:cTn id="151" fill="hold">
                            <p:stCondLst>
                              <p:cond delay="1000"/>
                            </p:stCondLst>
                            <p:childTnLst>
                              <p:par>
                                <p:cTn id="152" presetID="10" presetClass="entr" presetSubtype="0" fill="hold" grpId="0" nodeType="afterEffect">
                                  <p:stCondLst>
                                    <p:cond delay="0"/>
                                  </p:stCondLst>
                                  <p:childTnLst>
                                    <p:set>
                                      <p:cBhvr>
                                        <p:cTn id="153" dur="1" fill="hold">
                                          <p:stCondLst>
                                            <p:cond delay="0"/>
                                          </p:stCondLst>
                                        </p:cTn>
                                        <p:tgtEl>
                                          <p:spTgt spid="121"/>
                                        </p:tgtEl>
                                        <p:attrNameLst>
                                          <p:attrName>style.visibility</p:attrName>
                                        </p:attrNameLst>
                                      </p:cBhvr>
                                      <p:to>
                                        <p:strVal val="visible"/>
                                      </p:to>
                                    </p:set>
                                    <p:animEffect transition="in" filter="fade">
                                      <p:cBhvr>
                                        <p:cTn id="154" dur="500"/>
                                        <p:tgtEl>
                                          <p:spTgt spid="121"/>
                                        </p:tgtEl>
                                      </p:cBhvr>
                                    </p:animEffect>
                                  </p:childTnLst>
                                </p:cTn>
                              </p:par>
                            </p:childTnLst>
                          </p:cTn>
                        </p:par>
                        <p:par>
                          <p:cTn id="155" fill="hold">
                            <p:stCondLst>
                              <p:cond delay="1500"/>
                            </p:stCondLst>
                            <p:childTnLst>
                              <p:par>
                                <p:cTn id="156" presetID="1" presetClass="exit" presetSubtype="0" fill="hold" grpId="1" nodeType="afterEffect">
                                  <p:stCondLst>
                                    <p:cond delay="0"/>
                                  </p:stCondLst>
                                  <p:childTnLst>
                                    <p:set>
                                      <p:cBhvr>
                                        <p:cTn id="157" dur="1" fill="hold">
                                          <p:stCondLst>
                                            <p:cond delay="0"/>
                                          </p:stCondLst>
                                        </p:cTn>
                                        <p:tgtEl>
                                          <p:spTgt spid="99"/>
                                        </p:tgtEl>
                                        <p:attrNameLst>
                                          <p:attrName>style.visibility</p:attrName>
                                        </p:attrNameLst>
                                      </p:cBhvr>
                                      <p:to>
                                        <p:strVal val="hidden"/>
                                      </p:to>
                                    </p:set>
                                  </p:childTnLst>
                                </p:cTn>
                              </p:par>
                            </p:childTnLst>
                          </p:cTn>
                        </p:par>
                        <p:par>
                          <p:cTn id="158" fill="hold">
                            <p:stCondLst>
                              <p:cond delay="1500"/>
                            </p:stCondLst>
                            <p:childTnLst>
                              <p:par>
                                <p:cTn id="159" presetID="1" presetClass="exit" presetSubtype="0" fill="hold" grpId="1" nodeType="afterEffect">
                                  <p:stCondLst>
                                    <p:cond delay="0"/>
                                  </p:stCondLst>
                                  <p:childTnLst>
                                    <p:set>
                                      <p:cBhvr>
                                        <p:cTn id="160" dur="1" fill="hold">
                                          <p:stCondLst>
                                            <p:cond delay="0"/>
                                          </p:stCondLst>
                                        </p:cTn>
                                        <p:tgtEl>
                                          <p:spTgt spid="100"/>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0" presetClass="entr" presetSubtype="0" fill="hold" nodeType="clickEffect">
                                  <p:stCondLst>
                                    <p:cond delay="0"/>
                                  </p:stCondLst>
                                  <p:childTnLst>
                                    <p:set>
                                      <p:cBhvr>
                                        <p:cTn id="164" dur="1" fill="hold">
                                          <p:stCondLst>
                                            <p:cond delay="0"/>
                                          </p:stCondLst>
                                        </p:cTn>
                                        <p:tgtEl>
                                          <p:spTgt spid="105"/>
                                        </p:tgtEl>
                                        <p:attrNameLst>
                                          <p:attrName>style.visibility</p:attrName>
                                        </p:attrNameLst>
                                      </p:cBhvr>
                                      <p:to>
                                        <p:strVal val="visible"/>
                                      </p:to>
                                    </p:set>
                                    <p:animEffect transition="in" filter="fade">
                                      <p:cBhvr>
                                        <p:cTn id="165"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8" grpId="1" animBg="1"/>
      <p:bldP spid="8" grpId="2" animBg="1"/>
      <p:bldP spid="9" grpId="0" animBg="1"/>
      <p:bldP spid="88" grpId="0" animBg="1"/>
      <p:bldP spid="89" grpId="0" animBg="1"/>
      <p:bldP spid="90" grpId="0" animBg="1"/>
      <p:bldP spid="90" grpId="1" animBg="1"/>
      <p:bldP spid="91" grpId="0" animBg="1"/>
      <p:bldP spid="91" grpId="1" animBg="1"/>
      <p:bldP spid="94" grpId="0" animBg="1"/>
      <p:bldP spid="95" grpId="0" animBg="1"/>
      <p:bldP spid="95" grpId="1" animBg="1"/>
      <p:bldP spid="96" grpId="0" animBg="1"/>
      <p:bldP spid="96" grpId="1" animBg="1"/>
      <p:bldP spid="99" grpId="0" animBg="1"/>
      <p:bldP spid="99" grpId="1" animBg="1"/>
      <p:bldP spid="100" grpId="0" animBg="1"/>
      <p:bldP spid="100" grpId="1" animBg="1"/>
      <p:bldP spid="116" grpId="0" animBg="1"/>
      <p:bldP spid="117" grpId="0" animBg="1"/>
      <p:bldP spid="118" grpId="0" animBg="1"/>
      <p:bldP spid="119" grpId="0" animBg="1"/>
      <p:bldP spid="120" grpId="0" animBg="1"/>
      <p:bldP spid="12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Algorithm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solidFill>
                <a:srgbClr val="424242"/>
              </a:solidFill>
            </p:spPr>
            <p:txBody>
              <a:bodyPr/>
              <a:lstStyle/>
              <a:p>
                <a:pPr marL="0" indent="0">
                  <a:spcBef>
                    <a:spcPts val="600"/>
                  </a:spcBef>
                  <a:buNone/>
                </a:pPr>
                <a:r>
                  <a:rPr lang="en-IN" b="1" dirty="0">
                    <a:solidFill>
                      <a:schemeClr val="tx2">
                        <a:lumMod val="60000"/>
                        <a:lumOff val="40000"/>
                      </a:schemeClr>
                    </a:solidFill>
                    <a:latin typeface="Consolas" pitchFamily="49" charset="0"/>
                    <a:cs typeface="Consolas" pitchFamily="49" charset="0"/>
                  </a:rPr>
                  <a:t># Input: Array A</a:t>
                </a:r>
              </a:p>
              <a:p>
                <a:pPr marL="0" indent="0">
                  <a:spcBef>
                    <a:spcPts val="600"/>
                  </a:spcBef>
                  <a:buNone/>
                </a:pPr>
                <a:r>
                  <a:rPr lang="en-IN" b="1" dirty="0">
                    <a:solidFill>
                      <a:schemeClr val="tx2">
                        <a:lumMod val="60000"/>
                        <a:lumOff val="40000"/>
                      </a:schemeClr>
                    </a:solidFill>
                    <a:latin typeface="Consolas" pitchFamily="49" charset="0"/>
                    <a:cs typeface="Consolas" pitchFamily="49" charset="0"/>
                  </a:rPr>
                  <a:t># Output: Sorted array A</a:t>
                </a:r>
              </a:p>
              <a:p>
                <a:pPr marL="0" indent="0">
                  <a:spcBef>
                    <a:spcPts val="600"/>
                  </a:spcBef>
                  <a:buNone/>
                </a:pPr>
                <a:endParaRPr lang="en-IN" b="1" dirty="0">
                  <a:solidFill>
                    <a:srgbClr val="FBD9EB"/>
                  </a:solidFill>
                  <a:latin typeface="Consolas" pitchFamily="49" charset="0"/>
                  <a:cs typeface="Consolas" pitchFamily="49" charset="0"/>
                </a:endParaRPr>
              </a:p>
              <a:p>
                <a:pPr marL="0" indent="0">
                  <a:spcBef>
                    <a:spcPts val="600"/>
                  </a:spcBef>
                  <a:buNone/>
                </a:pPr>
                <a:r>
                  <a:rPr lang="en-IN" b="1" dirty="0">
                    <a:solidFill>
                      <a:srgbClr val="FBD9EB"/>
                    </a:solidFill>
                    <a:latin typeface="Consolas" pitchFamily="49" charset="0"/>
                    <a:cs typeface="Consolas" pitchFamily="49" charset="0"/>
                  </a:rPr>
                  <a:t>Algorithm: </a:t>
                </a:r>
                <a:r>
                  <a:rPr lang="en-IN" b="1" dirty="0" err="1">
                    <a:solidFill>
                      <a:srgbClr val="FBD9EB"/>
                    </a:solidFill>
                    <a:latin typeface="Consolas" pitchFamily="49" charset="0"/>
                    <a:cs typeface="Consolas" pitchFamily="49" charset="0"/>
                  </a:rPr>
                  <a:t>Heap_Sort</a:t>
                </a:r>
                <a:r>
                  <a:rPr lang="en-IN" b="1" dirty="0">
                    <a:solidFill>
                      <a:srgbClr val="FBD9EB"/>
                    </a:solidFill>
                    <a:latin typeface="Consolas" pitchFamily="49" charset="0"/>
                    <a:cs typeface="Consolas" pitchFamily="49" charset="0"/>
                  </a:rPr>
                  <a:t>(A[1,…,n])</a:t>
                </a:r>
              </a:p>
              <a:p>
                <a:pPr marL="0" indent="0">
                  <a:spcBef>
                    <a:spcPts val="600"/>
                  </a:spcBef>
                  <a:buNone/>
                </a:pPr>
                <a:r>
                  <a:rPr lang="en-US" b="1" dirty="0">
                    <a:solidFill>
                      <a:srgbClr val="92D050"/>
                    </a:solidFill>
                    <a:latin typeface="Consolas" pitchFamily="49" charset="0"/>
                    <a:cs typeface="Consolas" pitchFamily="49" charset="0"/>
                  </a:rPr>
                  <a:t>	BUILD-MAX-HEAP(A)</a:t>
                </a:r>
              </a:p>
              <a:p>
                <a:pPr marL="0" indent="0">
                  <a:spcBef>
                    <a:spcPts val="600"/>
                  </a:spcBef>
                  <a:buNone/>
                </a:pPr>
                <a:r>
                  <a:rPr lang="en-US" b="1" dirty="0">
                    <a:solidFill>
                      <a:srgbClr val="92D050"/>
                    </a:solidFill>
                    <a:latin typeface="Consolas" pitchFamily="49" charset="0"/>
                    <a:cs typeface="Consolas" pitchFamily="49" charset="0"/>
                  </a:rPr>
                  <a:t>	</a:t>
                </a:r>
                <a:r>
                  <a:rPr lang="en-US" b="1" dirty="0">
                    <a:solidFill>
                      <a:srgbClr val="FBD9EB"/>
                    </a:solidFill>
                    <a:latin typeface="Consolas" pitchFamily="49" charset="0"/>
                    <a:cs typeface="Consolas" pitchFamily="49" charset="0"/>
                  </a:rPr>
                  <a:t>for </a:t>
                </a:r>
                <a:r>
                  <a:rPr lang="en-US" b="1" dirty="0" err="1">
                    <a:solidFill>
                      <a:srgbClr val="FBD9EB"/>
                    </a:solidFill>
                    <a:latin typeface="Consolas" pitchFamily="49" charset="0"/>
                    <a:cs typeface="Consolas" pitchFamily="49" charset="0"/>
                  </a:rPr>
                  <a:t>i</a:t>
                </a:r>
                <a:r>
                  <a:rPr lang="en-US" b="1" dirty="0">
                    <a:solidFill>
                      <a:srgbClr val="FBD9EB"/>
                    </a:solidFill>
                    <a:latin typeface="Consolas" pitchFamily="49" charset="0"/>
                    <a:cs typeface="Consolas" pitchFamily="49" charset="0"/>
                  </a:rPr>
                  <a:t> </a:t>
                </a:r>
                <a14:m>
                  <m:oMath xmlns:m="http://schemas.openxmlformats.org/officeDocument/2006/math">
                    <m:r>
                      <a:rPr lang="en-US" b="1" i="1" dirty="0">
                        <a:solidFill>
                          <a:srgbClr val="FBD9EB"/>
                        </a:solidFill>
                        <a:latin typeface="Cambria Math" panose="02040503050406030204" pitchFamily="18" charset="0"/>
                        <a:cs typeface="Consolas" pitchFamily="49" charset="0"/>
                      </a:rPr>
                      <m:t>←</m:t>
                    </m:r>
                  </m:oMath>
                </a14:m>
                <a:r>
                  <a:rPr lang="en-US" b="1" dirty="0">
                    <a:solidFill>
                      <a:srgbClr val="FBD9EB"/>
                    </a:solidFill>
                    <a:latin typeface="Consolas" pitchFamily="49" charset="0"/>
                    <a:cs typeface="Consolas" pitchFamily="49" charset="0"/>
                  </a:rPr>
                  <a:t> length[A] </a:t>
                </a:r>
                <a:r>
                  <a:rPr lang="en-US" b="1" dirty="0" err="1">
                    <a:solidFill>
                      <a:srgbClr val="FBD9EB"/>
                    </a:solidFill>
                    <a:latin typeface="Consolas" pitchFamily="49" charset="0"/>
                    <a:cs typeface="Consolas" pitchFamily="49" charset="0"/>
                  </a:rPr>
                  <a:t>downto</a:t>
                </a:r>
                <a:r>
                  <a:rPr lang="en-US" b="1" dirty="0">
                    <a:solidFill>
                      <a:srgbClr val="FBD9EB"/>
                    </a:solidFill>
                    <a:latin typeface="Consolas" pitchFamily="49" charset="0"/>
                    <a:cs typeface="Consolas" pitchFamily="49" charset="0"/>
                  </a:rPr>
                  <a:t> 2</a:t>
                </a:r>
              </a:p>
              <a:p>
                <a:pPr marL="0" indent="0">
                  <a:spcBef>
                    <a:spcPts val="600"/>
                  </a:spcBef>
                  <a:buNone/>
                </a:pPr>
                <a:r>
                  <a:rPr lang="en-US" b="1" dirty="0">
                    <a:solidFill>
                      <a:srgbClr val="FBD9EB"/>
                    </a:solidFill>
                    <a:latin typeface="Consolas" pitchFamily="49" charset="0"/>
                    <a:cs typeface="Consolas" pitchFamily="49" charset="0"/>
                  </a:rPr>
                  <a:t>		do exchange A[1] </a:t>
                </a:r>
                <a14:m>
                  <m:oMath xmlns:m="http://schemas.openxmlformats.org/officeDocument/2006/math">
                    <m:r>
                      <a:rPr lang="en-US" b="1" i="1" dirty="0">
                        <a:solidFill>
                          <a:srgbClr val="FBD9EB"/>
                        </a:solidFill>
                        <a:latin typeface="Cambria Math" panose="02040503050406030204" pitchFamily="18" charset="0"/>
                        <a:cs typeface="Consolas" pitchFamily="49" charset="0"/>
                      </a:rPr>
                      <m:t>↔</m:t>
                    </m:r>
                  </m:oMath>
                </a14:m>
                <a:r>
                  <a:rPr lang="en-US" b="1" dirty="0">
                    <a:solidFill>
                      <a:srgbClr val="FBD9EB"/>
                    </a:solidFill>
                    <a:latin typeface="Consolas" pitchFamily="49" charset="0"/>
                    <a:cs typeface="Consolas" pitchFamily="49" charset="0"/>
                  </a:rPr>
                  <a:t> A[</a:t>
                </a:r>
                <a:r>
                  <a:rPr lang="en-US" b="1" dirty="0" err="1">
                    <a:solidFill>
                      <a:srgbClr val="FBD9EB"/>
                    </a:solidFill>
                    <a:latin typeface="Consolas" pitchFamily="49" charset="0"/>
                    <a:cs typeface="Consolas" pitchFamily="49" charset="0"/>
                  </a:rPr>
                  <a:t>i</a:t>
                </a:r>
                <a:r>
                  <a:rPr lang="en-US" b="1" dirty="0">
                    <a:solidFill>
                      <a:srgbClr val="FBD9EB"/>
                    </a:solidFill>
                    <a:latin typeface="Consolas" pitchFamily="49" charset="0"/>
                    <a:cs typeface="Consolas" pitchFamily="49" charset="0"/>
                  </a:rPr>
                  <a:t>]</a:t>
                </a:r>
              </a:p>
              <a:p>
                <a:pPr marL="0" indent="0">
                  <a:spcBef>
                    <a:spcPts val="600"/>
                  </a:spcBef>
                  <a:buNone/>
                </a:pPr>
                <a:r>
                  <a:rPr lang="en-US" b="1" dirty="0">
                    <a:solidFill>
                      <a:srgbClr val="FBD9EB"/>
                    </a:solidFill>
                    <a:latin typeface="Consolas" pitchFamily="49" charset="0"/>
                    <a:cs typeface="Consolas" pitchFamily="49" charset="0"/>
                  </a:rPr>
                  <a:t>		heap-size[A] </a:t>
                </a:r>
                <a14:m>
                  <m:oMath xmlns:m="http://schemas.openxmlformats.org/officeDocument/2006/math">
                    <m:r>
                      <a:rPr lang="en-US" b="1" i="1" dirty="0">
                        <a:solidFill>
                          <a:srgbClr val="FBD9EB"/>
                        </a:solidFill>
                        <a:latin typeface="Cambria Math" panose="02040503050406030204" pitchFamily="18" charset="0"/>
                        <a:cs typeface="Consolas" pitchFamily="49" charset="0"/>
                      </a:rPr>
                      <m:t>←</m:t>
                    </m:r>
                  </m:oMath>
                </a14:m>
                <a:r>
                  <a:rPr lang="en-US" b="1" dirty="0">
                    <a:solidFill>
                      <a:srgbClr val="FBD9EB"/>
                    </a:solidFill>
                    <a:latin typeface="Consolas" pitchFamily="49" charset="0"/>
                    <a:cs typeface="Consolas" pitchFamily="49" charset="0"/>
                  </a:rPr>
                  <a:t> heap-size[A] – 1</a:t>
                </a:r>
              </a:p>
              <a:p>
                <a:pPr marL="0" indent="0">
                  <a:spcBef>
                    <a:spcPts val="600"/>
                  </a:spcBef>
                  <a:buNone/>
                </a:pPr>
                <a:r>
                  <a:rPr lang="en-US" b="1" dirty="0">
                    <a:solidFill>
                      <a:srgbClr val="FBD9EB"/>
                    </a:solidFill>
                    <a:latin typeface="Consolas" pitchFamily="49" charset="0"/>
                    <a:cs typeface="Consolas" pitchFamily="49" charset="0"/>
                  </a:rPr>
                  <a:t>		</a:t>
                </a:r>
                <a:r>
                  <a:rPr lang="en-US" b="1" dirty="0">
                    <a:solidFill>
                      <a:schemeClr val="accent5"/>
                    </a:solidFill>
                    <a:latin typeface="Consolas" pitchFamily="49" charset="0"/>
                    <a:cs typeface="Consolas" pitchFamily="49" charset="0"/>
                  </a:rPr>
                  <a:t>MAX-HEAPIFY(A, 1, n)</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18" t="-1527"/>
                </a:stretch>
              </a:blipFill>
            </p:spPr>
            <p:txBody>
              <a:bodyPr/>
              <a:lstStyle/>
              <a:p>
                <a:r>
                  <a:rPr lang="en-US">
                    <a:noFill/>
                  </a:rPr>
                  <a:t> </a:t>
                </a:r>
              </a:p>
            </p:txBody>
          </p:sp>
        </mc:Fallback>
      </mc:AlternateContent>
      <p:sp>
        <p:nvSpPr>
          <p:cNvPr id="4" name="Rounded Rectangle 3"/>
          <p:cNvSpPr/>
          <p:nvPr/>
        </p:nvSpPr>
        <p:spPr>
          <a:xfrm>
            <a:off x="1014612" y="2834127"/>
            <a:ext cx="4673494" cy="457200"/>
          </a:xfrm>
          <a:prstGeom prst="roundRect">
            <a:avLst/>
          </a:prstGeom>
          <a:noFill/>
          <a:ln w="1905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a:stCxn id="18" idx="4"/>
          </p:cNvCxnSpPr>
          <p:nvPr/>
        </p:nvCxnSpPr>
        <p:spPr>
          <a:xfrm flipH="1">
            <a:off x="10789920" y="3278793"/>
            <a:ext cx="168629" cy="24817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9907950" y="1990948"/>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9</a:t>
            </a:r>
          </a:p>
        </p:txBody>
      </p:sp>
      <p:cxnSp>
        <p:nvCxnSpPr>
          <p:cNvPr id="15" name="Straight Connector 14"/>
          <p:cNvCxnSpPr>
            <a:stCxn id="14" idx="3"/>
            <a:endCxn id="16" idx="0"/>
          </p:cNvCxnSpPr>
          <p:nvPr/>
        </p:nvCxnSpPr>
        <p:spPr>
          <a:xfrm flipH="1">
            <a:off x="9587560" y="2483733"/>
            <a:ext cx="409664" cy="24937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9282760" y="2733111"/>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4</a:t>
            </a:r>
          </a:p>
        </p:txBody>
      </p:sp>
      <p:cxnSp>
        <p:nvCxnSpPr>
          <p:cNvPr id="17" name="Straight Connector 16"/>
          <p:cNvCxnSpPr>
            <a:stCxn id="14" idx="5"/>
            <a:endCxn id="18" idx="0"/>
          </p:cNvCxnSpPr>
          <p:nvPr/>
        </p:nvCxnSpPr>
        <p:spPr>
          <a:xfrm>
            <a:off x="10428276" y="2483733"/>
            <a:ext cx="530273" cy="21772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10653749" y="2701460"/>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7</a:t>
            </a:r>
          </a:p>
        </p:txBody>
      </p:sp>
      <p:cxnSp>
        <p:nvCxnSpPr>
          <p:cNvPr id="19" name="Straight Connector 18"/>
          <p:cNvCxnSpPr>
            <a:stCxn id="16" idx="3"/>
            <a:endCxn id="20" idx="0"/>
          </p:cNvCxnSpPr>
          <p:nvPr/>
        </p:nvCxnSpPr>
        <p:spPr>
          <a:xfrm flipH="1">
            <a:off x="9130983" y="3225896"/>
            <a:ext cx="241051" cy="25239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8826183" y="3478286"/>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2</a:t>
            </a:r>
          </a:p>
        </p:txBody>
      </p:sp>
      <p:cxnSp>
        <p:nvCxnSpPr>
          <p:cNvPr id="21" name="Straight Connector 20"/>
          <p:cNvCxnSpPr>
            <a:stCxn id="16" idx="5"/>
            <a:endCxn id="22" idx="0"/>
          </p:cNvCxnSpPr>
          <p:nvPr/>
        </p:nvCxnSpPr>
        <p:spPr>
          <a:xfrm>
            <a:off x="9803086" y="3225896"/>
            <a:ext cx="280402" cy="27454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9778688" y="3500444"/>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1</a:t>
            </a:r>
          </a:p>
        </p:txBody>
      </p:sp>
      <p:sp>
        <p:nvSpPr>
          <p:cNvPr id="23" name="Oval 22"/>
          <p:cNvSpPr/>
          <p:nvPr/>
        </p:nvSpPr>
        <p:spPr>
          <a:xfrm>
            <a:off x="10493852" y="3478285"/>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3</a:t>
            </a:r>
          </a:p>
        </p:txBody>
      </p:sp>
      <p:sp>
        <p:nvSpPr>
          <p:cNvPr id="7" name="TextBox 6"/>
          <p:cNvSpPr txBox="1"/>
          <p:nvPr/>
        </p:nvSpPr>
        <p:spPr>
          <a:xfrm>
            <a:off x="9664921" y="1922019"/>
            <a:ext cx="328516" cy="369332"/>
          </a:xfrm>
          <a:prstGeom prst="rect">
            <a:avLst/>
          </a:prstGeom>
          <a:noFill/>
        </p:spPr>
        <p:txBody>
          <a:bodyPr wrap="square" rtlCol="0">
            <a:spAutoFit/>
          </a:bodyPr>
          <a:lstStyle/>
          <a:p>
            <a:r>
              <a:rPr lang="en-US" dirty="0">
                <a:solidFill>
                  <a:schemeClr val="accent2">
                    <a:lumMod val="40000"/>
                    <a:lumOff val="60000"/>
                  </a:schemeClr>
                </a:solidFill>
              </a:rPr>
              <a:t>1</a:t>
            </a:r>
          </a:p>
        </p:txBody>
      </p:sp>
      <p:sp>
        <p:nvSpPr>
          <p:cNvPr id="8" name="TextBox 7"/>
          <p:cNvSpPr txBox="1"/>
          <p:nvPr/>
        </p:nvSpPr>
        <p:spPr>
          <a:xfrm>
            <a:off x="9131521" y="2531619"/>
            <a:ext cx="328516" cy="369332"/>
          </a:xfrm>
          <a:prstGeom prst="rect">
            <a:avLst/>
          </a:prstGeom>
          <a:noFill/>
        </p:spPr>
        <p:txBody>
          <a:bodyPr wrap="square" rtlCol="0">
            <a:spAutoFit/>
          </a:bodyPr>
          <a:lstStyle/>
          <a:p>
            <a:r>
              <a:rPr lang="en-US" dirty="0">
                <a:solidFill>
                  <a:schemeClr val="accent2">
                    <a:lumMod val="40000"/>
                    <a:lumOff val="60000"/>
                  </a:schemeClr>
                </a:solidFill>
              </a:rPr>
              <a:t>2</a:t>
            </a:r>
          </a:p>
        </p:txBody>
      </p:sp>
      <p:sp>
        <p:nvSpPr>
          <p:cNvPr id="9" name="TextBox 8"/>
          <p:cNvSpPr txBox="1"/>
          <p:nvPr/>
        </p:nvSpPr>
        <p:spPr>
          <a:xfrm>
            <a:off x="10493852" y="2539413"/>
            <a:ext cx="301220" cy="369332"/>
          </a:xfrm>
          <a:prstGeom prst="rect">
            <a:avLst/>
          </a:prstGeom>
          <a:noFill/>
        </p:spPr>
        <p:txBody>
          <a:bodyPr wrap="square" rtlCol="0">
            <a:spAutoFit/>
          </a:bodyPr>
          <a:lstStyle/>
          <a:p>
            <a:r>
              <a:rPr lang="en-US" dirty="0">
                <a:solidFill>
                  <a:schemeClr val="accent2">
                    <a:lumMod val="40000"/>
                    <a:lumOff val="60000"/>
                  </a:schemeClr>
                </a:solidFill>
              </a:rPr>
              <a:t>3</a:t>
            </a:r>
          </a:p>
        </p:txBody>
      </p:sp>
      <p:sp>
        <p:nvSpPr>
          <p:cNvPr id="10" name="TextBox 9"/>
          <p:cNvSpPr txBox="1"/>
          <p:nvPr/>
        </p:nvSpPr>
        <p:spPr>
          <a:xfrm>
            <a:off x="8669114" y="3265267"/>
            <a:ext cx="328516" cy="369332"/>
          </a:xfrm>
          <a:prstGeom prst="rect">
            <a:avLst/>
          </a:prstGeom>
          <a:noFill/>
        </p:spPr>
        <p:txBody>
          <a:bodyPr wrap="square" rtlCol="0">
            <a:spAutoFit/>
          </a:bodyPr>
          <a:lstStyle/>
          <a:p>
            <a:r>
              <a:rPr lang="en-US" dirty="0">
                <a:solidFill>
                  <a:schemeClr val="accent2">
                    <a:lumMod val="40000"/>
                    <a:lumOff val="60000"/>
                  </a:schemeClr>
                </a:solidFill>
              </a:rPr>
              <a:t>4</a:t>
            </a:r>
          </a:p>
        </p:txBody>
      </p:sp>
      <p:sp>
        <p:nvSpPr>
          <p:cNvPr id="11" name="TextBox 10"/>
          <p:cNvSpPr txBox="1"/>
          <p:nvPr/>
        </p:nvSpPr>
        <p:spPr>
          <a:xfrm>
            <a:off x="9612437" y="3293619"/>
            <a:ext cx="328516" cy="369332"/>
          </a:xfrm>
          <a:prstGeom prst="rect">
            <a:avLst/>
          </a:prstGeom>
          <a:noFill/>
        </p:spPr>
        <p:txBody>
          <a:bodyPr wrap="square" rtlCol="0">
            <a:spAutoFit/>
          </a:bodyPr>
          <a:lstStyle/>
          <a:p>
            <a:r>
              <a:rPr lang="en-US" dirty="0">
                <a:solidFill>
                  <a:schemeClr val="accent2">
                    <a:lumMod val="40000"/>
                    <a:lumOff val="60000"/>
                  </a:schemeClr>
                </a:solidFill>
              </a:rPr>
              <a:t>5</a:t>
            </a:r>
          </a:p>
        </p:txBody>
      </p:sp>
      <p:sp>
        <p:nvSpPr>
          <p:cNvPr id="12" name="TextBox 11"/>
          <p:cNvSpPr txBox="1"/>
          <p:nvPr/>
        </p:nvSpPr>
        <p:spPr>
          <a:xfrm>
            <a:off x="10526837" y="3216024"/>
            <a:ext cx="328516" cy="369332"/>
          </a:xfrm>
          <a:prstGeom prst="rect">
            <a:avLst/>
          </a:prstGeom>
          <a:noFill/>
        </p:spPr>
        <p:txBody>
          <a:bodyPr wrap="square" rtlCol="0">
            <a:spAutoFit/>
          </a:bodyPr>
          <a:lstStyle/>
          <a:p>
            <a:r>
              <a:rPr lang="en-US" dirty="0">
                <a:solidFill>
                  <a:schemeClr val="accent2">
                    <a:lumMod val="40000"/>
                    <a:lumOff val="60000"/>
                  </a:schemeClr>
                </a:solidFill>
              </a:rPr>
              <a:t>6</a:t>
            </a:r>
          </a:p>
        </p:txBody>
      </p:sp>
      <p:graphicFrame>
        <p:nvGraphicFramePr>
          <p:cNvPr id="24" name="Table 23"/>
          <p:cNvGraphicFramePr>
            <a:graphicFrameLocks noGrp="1"/>
          </p:cNvGraphicFramePr>
          <p:nvPr/>
        </p:nvGraphicFramePr>
        <p:xfrm>
          <a:off x="8398368" y="1153766"/>
          <a:ext cx="3291840" cy="457200"/>
        </p:xfrm>
        <a:graphic>
          <a:graphicData uri="http://schemas.openxmlformats.org/drawingml/2006/table">
            <a:tbl>
              <a:tblPr firstRow="1" bandRow="1">
                <a:tableStyleId>{5940675A-B579-460E-94D1-54222C63F5DA}</a:tableStyleId>
              </a:tblPr>
              <a:tblGrid>
                <a:gridCol w="548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1751283045"/>
                    </a:ext>
                  </a:extLst>
                </a:gridCol>
              </a:tblGrid>
              <a:tr h="420564">
                <a:tc>
                  <a:txBody>
                    <a:bodyPr/>
                    <a:lstStyle/>
                    <a:p>
                      <a:pPr algn="ctr"/>
                      <a:r>
                        <a:rPr lang="en-US" sz="2400" dirty="0"/>
                        <a:t>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2</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bl>
          </a:graphicData>
        </a:graphic>
      </p:graphicFrame>
      <p:sp>
        <p:nvSpPr>
          <p:cNvPr id="28" name="Rounded Rectangle 27"/>
          <p:cNvSpPr/>
          <p:nvPr/>
        </p:nvSpPr>
        <p:spPr>
          <a:xfrm>
            <a:off x="1911595" y="3678859"/>
            <a:ext cx="5508108" cy="457200"/>
          </a:xfrm>
          <a:prstGeom prst="roundRect">
            <a:avLst/>
          </a:prstGeom>
          <a:noFill/>
          <a:ln w="1905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9" name="Table 28"/>
          <p:cNvGraphicFramePr>
            <a:graphicFrameLocks noGrp="1"/>
          </p:cNvGraphicFramePr>
          <p:nvPr/>
        </p:nvGraphicFramePr>
        <p:xfrm>
          <a:off x="8394014" y="1149412"/>
          <a:ext cx="3291840" cy="457200"/>
        </p:xfrm>
        <a:graphic>
          <a:graphicData uri="http://schemas.openxmlformats.org/drawingml/2006/table">
            <a:tbl>
              <a:tblPr firstRow="1" bandRow="1">
                <a:tableStyleId>{5940675A-B579-460E-94D1-54222C63F5DA}</a:tableStyleId>
              </a:tblPr>
              <a:tblGrid>
                <a:gridCol w="548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1751283045"/>
                    </a:ext>
                  </a:extLst>
                </a:gridCol>
              </a:tblGrid>
              <a:tr h="420564">
                <a:tc>
                  <a:txBody>
                    <a:bodyPr/>
                    <a:lstStyle/>
                    <a:p>
                      <a:pPr algn="ctr"/>
                      <a:r>
                        <a:rPr lang="en-US" sz="240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2</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b="1" dirty="0">
                          <a:solidFill>
                            <a:srgbClr val="A71160"/>
                          </a:solidFill>
                        </a:rPr>
                        <a:t>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bl>
          </a:graphicData>
        </a:graphic>
      </p:graphicFrame>
      <p:sp>
        <p:nvSpPr>
          <p:cNvPr id="30" name="Rounded Rectangle 29"/>
          <p:cNvSpPr/>
          <p:nvPr/>
        </p:nvSpPr>
        <p:spPr>
          <a:xfrm>
            <a:off x="1916077" y="4086753"/>
            <a:ext cx="3597217" cy="457200"/>
          </a:xfrm>
          <a:prstGeom prst="roundRect">
            <a:avLst/>
          </a:prstGeom>
          <a:noFill/>
          <a:ln w="1905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1368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1500"/>
                                        <p:tgtEl>
                                          <p:spTgt spid="13"/>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up)">
                                      <p:cBhvr>
                                        <p:cTn id="15" dur="1500"/>
                                        <p:tgtEl>
                                          <p:spTgt spid="14"/>
                                        </p:tgtEl>
                                      </p:cBhvr>
                                    </p:animEffect>
                                  </p:childTnLst>
                                </p:cTn>
                              </p:par>
                              <p:par>
                                <p:cTn id="16" presetID="22" presetClass="entr" presetSubtype="1"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up)">
                                      <p:cBhvr>
                                        <p:cTn id="18" dur="1500"/>
                                        <p:tgtEl>
                                          <p:spTgt spid="15"/>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up)">
                                      <p:cBhvr>
                                        <p:cTn id="21" dur="1500"/>
                                        <p:tgtEl>
                                          <p:spTgt spid="16"/>
                                        </p:tgtEl>
                                      </p:cBhvr>
                                    </p:animEffect>
                                  </p:childTnLst>
                                </p:cTn>
                              </p:par>
                              <p:par>
                                <p:cTn id="22" presetID="22" presetClass="entr" presetSubtype="1"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up)">
                                      <p:cBhvr>
                                        <p:cTn id="24" dur="1500"/>
                                        <p:tgtEl>
                                          <p:spTgt spid="17"/>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up)">
                                      <p:cBhvr>
                                        <p:cTn id="27" dur="1500"/>
                                        <p:tgtEl>
                                          <p:spTgt spid="18"/>
                                        </p:tgtEl>
                                      </p:cBhvr>
                                    </p:animEffect>
                                  </p:childTnLst>
                                </p:cTn>
                              </p:par>
                              <p:par>
                                <p:cTn id="28" presetID="22" presetClass="entr" presetSubtype="1"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up)">
                                      <p:cBhvr>
                                        <p:cTn id="30" dur="1500"/>
                                        <p:tgtEl>
                                          <p:spTgt spid="19"/>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up)">
                                      <p:cBhvr>
                                        <p:cTn id="33" dur="1500"/>
                                        <p:tgtEl>
                                          <p:spTgt spid="20"/>
                                        </p:tgtEl>
                                      </p:cBhvr>
                                    </p:animEffect>
                                  </p:childTnLst>
                                </p:cTn>
                              </p:par>
                              <p:par>
                                <p:cTn id="34" presetID="22" presetClass="entr" presetSubtype="1"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up)">
                                      <p:cBhvr>
                                        <p:cTn id="36" dur="1500"/>
                                        <p:tgtEl>
                                          <p:spTgt spid="21"/>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wipe(up)">
                                      <p:cBhvr>
                                        <p:cTn id="39" dur="1500"/>
                                        <p:tgtEl>
                                          <p:spTgt spid="22"/>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up)">
                                      <p:cBhvr>
                                        <p:cTn id="42" dur="1500"/>
                                        <p:tgtEl>
                                          <p:spTgt spid="23"/>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up)">
                                      <p:cBhvr>
                                        <p:cTn id="45" dur="1500"/>
                                        <p:tgtEl>
                                          <p:spTgt spid="7"/>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up)">
                                      <p:cBhvr>
                                        <p:cTn id="48" dur="1500"/>
                                        <p:tgtEl>
                                          <p:spTgt spid="8"/>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up)">
                                      <p:cBhvr>
                                        <p:cTn id="51" dur="1500"/>
                                        <p:tgtEl>
                                          <p:spTgt spid="9"/>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wipe(up)">
                                      <p:cBhvr>
                                        <p:cTn id="54" dur="1500"/>
                                        <p:tgtEl>
                                          <p:spTgt spid="10"/>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up)">
                                      <p:cBhvr>
                                        <p:cTn id="57" dur="1500"/>
                                        <p:tgtEl>
                                          <p:spTgt spid="11"/>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wipe(up)">
                                      <p:cBhvr>
                                        <p:cTn id="60" dur="1500"/>
                                        <p:tgtEl>
                                          <p:spTgt spid="12"/>
                                        </p:tgtEl>
                                      </p:cBhvr>
                                    </p:animEffect>
                                  </p:childTnLst>
                                </p:cTn>
                              </p:par>
                            </p:childTnLst>
                          </p:cTn>
                        </p:par>
                      </p:childTnLst>
                    </p:cTn>
                  </p:par>
                  <p:par>
                    <p:cTn id="61" fill="hold">
                      <p:stCondLst>
                        <p:cond delay="indefinite"/>
                      </p:stCondLst>
                      <p:childTnLst>
                        <p:par>
                          <p:cTn id="62" fill="hold">
                            <p:stCondLst>
                              <p:cond delay="0"/>
                            </p:stCondLst>
                            <p:childTnLst>
                              <p:par>
                                <p:cTn id="63" presetID="21" presetClass="entr" presetSubtype="1" fill="hold" grpId="0" nodeType="click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wheel(1)">
                                      <p:cBhvr>
                                        <p:cTn id="65" dur="2000"/>
                                        <p:tgtEl>
                                          <p:spTgt spid="4"/>
                                        </p:tgtEl>
                                      </p:cBhvr>
                                    </p:animEffect>
                                  </p:childTnLst>
                                </p:cTn>
                              </p:par>
                            </p:childTnLst>
                          </p:cTn>
                        </p:par>
                      </p:childTnLst>
                    </p:cTn>
                  </p:par>
                  <p:par>
                    <p:cTn id="66" fill="hold">
                      <p:stCondLst>
                        <p:cond delay="indefinite"/>
                      </p:stCondLst>
                      <p:childTnLst>
                        <p:par>
                          <p:cTn id="67" fill="hold">
                            <p:stCondLst>
                              <p:cond delay="0"/>
                            </p:stCondLst>
                            <p:childTnLst>
                              <p:par>
                                <p:cTn id="68" presetID="42" presetClass="path" presetSubtype="0" accel="50000" decel="50000" fill="hold" grpId="1" nodeType="clickEffect">
                                  <p:stCondLst>
                                    <p:cond delay="0"/>
                                  </p:stCondLst>
                                  <p:childTnLst>
                                    <p:animMotion origin="layout" path="M 2.08333E-7 2.22222E-6 L 0.05495 0.06528 " pathEditMode="relative" rAng="0" ptsTypes="AA">
                                      <p:cBhvr>
                                        <p:cTn id="69" dur="2000" fill="hold"/>
                                        <p:tgtEl>
                                          <p:spTgt spid="4"/>
                                        </p:tgtEl>
                                        <p:attrNameLst>
                                          <p:attrName>ppt_x</p:attrName>
                                          <p:attrName>ppt_y</p:attrName>
                                        </p:attrNameLst>
                                      </p:cBhvr>
                                      <p:rCtr x="2747" y="3264"/>
                                    </p:animMotion>
                                  </p:childTnLst>
                                </p:cTn>
                              </p:par>
                            </p:childTnLst>
                          </p:cTn>
                        </p:par>
                      </p:childTnLst>
                    </p:cTn>
                  </p:par>
                  <p:par>
                    <p:cTn id="70" fill="hold">
                      <p:stCondLst>
                        <p:cond delay="indefinite"/>
                      </p:stCondLst>
                      <p:childTnLst>
                        <p:par>
                          <p:cTn id="71" fill="hold">
                            <p:stCondLst>
                              <p:cond delay="0"/>
                            </p:stCondLst>
                            <p:childTnLst>
                              <p:par>
                                <p:cTn id="72" presetID="50" presetClass="path" presetSubtype="0" accel="50000" decel="50000" fill="hold" grpId="1" nodeType="clickEffect">
                                  <p:stCondLst>
                                    <p:cond delay="0"/>
                                  </p:stCondLst>
                                  <p:childTnLst>
                                    <p:animMotion origin="layout" path="M 2.91667E-6 4.44444E-6 L -0.02318 4.44444E-6 C -0.0336 4.44444E-6 -0.04636 -0.05973 -0.04636 -0.10811 L -0.04636 -0.21598 " pathEditMode="relative" rAng="0" ptsTypes="AAAA">
                                      <p:cBhvr>
                                        <p:cTn id="73" dur="2000" fill="hold"/>
                                        <p:tgtEl>
                                          <p:spTgt spid="23"/>
                                        </p:tgtEl>
                                        <p:attrNameLst>
                                          <p:attrName>ppt_x</p:attrName>
                                          <p:attrName>ppt_y</p:attrName>
                                        </p:attrNameLst>
                                      </p:cBhvr>
                                      <p:rCtr x="-2318" y="-10810"/>
                                    </p:animMotion>
                                  </p:childTnLst>
                                </p:cTn>
                              </p:par>
                            </p:childTnLst>
                          </p:cTn>
                        </p:par>
                        <p:par>
                          <p:cTn id="74" fill="hold">
                            <p:stCondLst>
                              <p:cond delay="2000"/>
                            </p:stCondLst>
                            <p:childTnLst>
                              <p:par>
                                <p:cTn id="75" presetID="50" presetClass="path" presetSubtype="0" accel="50000" decel="50000" fill="hold" grpId="1" nodeType="afterEffect">
                                  <p:stCondLst>
                                    <p:cond delay="0"/>
                                  </p:stCondLst>
                                  <p:childTnLst>
                                    <p:animMotion origin="layout" path="M 0.00169 0.00093 L 0.02513 0.00093 C 0.03554 0.00093 0.04857 0.06111 0.04857 0.11019 L 0.04857 0.21945 " pathEditMode="relative" rAng="0" ptsTypes="AAAA">
                                      <p:cBhvr>
                                        <p:cTn id="76" dur="2000" fill="hold"/>
                                        <p:tgtEl>
                                          <p:spTgt spid="14"/>
                                        </p:tgtEl>
                                        <p:attrNameLst>
                                          <p:attrName>ppt_x</p:attrName>
                                          <p:attrName>ppt_y</p:attrName>
                                        </p:attrNameLst>
                                      </p:cBhvr>
                                      <p:rCtr x="2344" y="10926"/>
                                    </p:animMotion>
                                  </p:childTnLst>
                                </p:cTn>
                              </p:par>
                            </p:childTnLst>
                          </p:cTn>
                        </p:par>
                      </p:childTnLst>
                    </p:cTn>
                  </p:par>
                  <p:par>
                    <p:cTn id="77" fill="hold">
                      <p:stCondLst>
                        <p:cond delay="indefinite"/>
                      </p:stCondLst>
                      <p:childTnLst>
                        <p:par>
                          <p:cTn id="78" fill="hold">
                            <p:stCondLst>
                              <p:cond delay="0"/>
                            </p:stCondLst>
                            <p:childTnLst>
                              <p:par>
                                <p:cTn id="79" presetID="21" presetClass="exit" presetSubtype="1" fill="hold" grpId="2" nodeType="clickEffect">
                                  <p:stCondLst>
                                    <p:cond delay="0"/>
                                  </p:stCondLst>
                                  <p:childTnLst>
                                    <p:animEffect transition="out" filter="wheel(1)">
                                      <p:cBhvr>
                                        <p:cTn id="80" dur="500"/>
                                        <p:tgtEl>
                                          <p:spTgt spid="4"/>
                                        </p:tgtEl>
                                      </p:cBhvr>
                                    </p:animEffect>
                                    <p:set>
                                      <p:cBhvr>
                                        <p:cTn id="81" dur="1" fill="hold">
                                          <p:stCondLst>
                                            <p:cond delay="499"/>
                                          </p:stCondLst>
                                        </p:cTn>
                                        <p:tgtEl>
                                          <p:spTgt spid="4"/>
                                        </p:tgtEl>
                                        <p:attrNameLst>
                                          <p:attrName>style.visibility</p:attrName>
                                        </p:attrNameLst>
                                      </p:cBhvr>
                                      <p:to>
                                        <p:strVal val="hidden"/>
                                      </p:to>
                                    </p:set>
                                  </p:childTnLst>
                                </p:cTn>
                              </p:par>
                              <p:par>
                                <p:cTn id="82" presetID="21" presetClass="entr" presetSubtype="1"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wheel(1)">
                                      <p:cBhvr>
                                        <p:cTn id="84" dur="2000"/>
                                        <p:tgtEl>
                                          <p:spTgt spid="28"/>
                                        </p:tgtEl>
                                      </p:cBhvr>
                                    </p:animEffect>
                                  </p:childTnLst>
                                </p:cTn>
                              </p:par>
                            </p:childTnLst>
                          </p:cTn>
                        </p:par>
                      </p:childTnLst>
                    </p:cTn>
                  </p:par>
                  <p:par>
                    <p:cTn id="85" fill="hold">
                      <p:stCondLst>
                        <p:cond delay="indefinite"/>
                      </p:stCondLst>
                      <p:childTnLst>
                        <p:par>
                          <p:cTn id="86" fill="hold">
                            <p:stCondLst>
                              <p:cond delay="0"/>
                            </p:stCondLst>
                            <p:childTnLst>
                              <p:par>
                                <p:cTn id="87" presetID="14" presetClass="exit" presetSubtype="10" fill="hold" nodeType="clickEffect">
                                  <p:stCondLst>
                                    <p:cond delay="0"/>
                                  </p:stCondLst>
                                  <p:childTnLst>
                                    <p:animEffect transition="out" filter="randombar(horizontal)">
                                      <p:cBhvr>
                                        <p:cTn id="88" dur="500"/>
                                        <p:tgtEl>
                                          <p:spTgt spid="13"/>
                                        </p:tgtEl>
                                      </p:cBhvr>
                                    </p:animEffect>
                                    <p:set>
                                      <p:cBhvr>
                                        <p:cTn id="89" dur="1" fill="hold">
                                          <p:stCondLst>
                                            <p:cond delay="499"/>
                                          </p:stCondLst>
                                        </p:cTn>
                                        <p:tgtEl>
                                          <p:spTgt spid="13"/>
                                        </p:tgtEl>
                                        <p:attrNameLst>
                                          <p:attrName>style.visibility</p:attrName>
                                        </p:attrNameLst>
                                      </p:cBhvr>
                                      <p:to>
                                        <p:strVal val="hidden"/>
                                      </p:to>
                                    </p:set>
                                  </p:childTnLst>
                                </p:cTn>
                              </p:par>
                              <p:par>
                                <p:cTn id="90" presetID="14" presetClass="exit" presetSubtype="10" fill="hold" grpId="2" nodeType="withEffect">
                                  <p:stCondLst>
                                    <p:cond delay="0"/>
                                  </p:stCondLst>
                                  <p:childTnLst>
                                    <p:animEffect transition="out" filter="randombar(horizontal)">
                                      <p:cBhvr>
                                        <p:cTn id="91" dur="500"/>
                                        <p:tgtEl>
                                          <p:spTgt spid="14"/>
                                        </p:tgtEl>
                                      </p:cBhvr>
                                    </p:animEffect>
                                    <p:set>
                                      <p:cBhvr>
                                        <p:cTn id="92" dur="1" fill="hold">
                                          <p:stCondLst>
                                            <p:cond delay="499"/>
                                          </p:stCondLst>
                                        </p:cTn>
                                        <p:tgtEl>
                                          <p:spTgt spid="14"/>
                                        </p:tgtEl>
                                        <p:attrNameLst>
                                          <p:attrName>style.visibility</p:attrName>
                                        </p:attrNameLst>
                                      </p:cBhvr>
                                      <p:to>
                                        <p:strVal val="hidden"/>
                                      </p:to>
                                    </p:set>
                                  </p:childTnLst>
                                </p:cTn>
                              </p:par>
                              <p:par>
                                <p:cTn id="93" presetID="14" presetClass="exit" presetSubtype="10" fill="hold" grpId="1" nodeType="withEffect">
                                  <p:stCondLst>
                                    <p:cond delay="0"/>
                                  </p:stCondLst>
                                  <p:childTnLst>
                                    <p:animEffect transition="out" filter="randombar(horizontal)">
                                      <p:cBhvr>
                                        <p:cTn id="94" dur="500"/>
                                        <p:tgtEl>
                                          <p:spTgt spid="12"/>
                                        </p:tgtEl>
                                      </p:cBhvr>
                                    </p:animEffect>
                                    <p:set>
                                      <p:cBhvr>
                                        <p:cTn id="95" dur="1" fill="hold">
                                          <p:stCondLst>
                                            <p:cond delay="499"/>
                                          </p:stCondLst>
                                        </p:cTn>
                                        <p:tgtEl>
                                          <p:spTgt spid="12"/>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29"/>
                                        </p:tgtEl>
                                        <p:attrNameLst>
                                          <p:attrName>style.visibility</p:attrName>
                                        </p:attrNameLst>
                                      </p:cBhvr>
                                      <p:to>
                                        <p:strVal val="visible"/>
                                      </p:to>
                                    </p:set>
                                    <p:animEffect transition="in" filter="fade">
                                      <p:cBhvr>
                                        <p:cTn id="100" dur="500"/>
                                        <p:tgtEl>
                                          <p:spTgt spid="29"/>
                                        </p:tgtEl>
                                      </p:cBhvr>
                                    </p:animEffect>
                                  </p:childTnLst>
                                </p:cTn>
                              </p:par>
                            </p:childTnLst>
                          </p:cTn>
                        </p:par>
                      </p:childTnLst>
                    </p:cTn>
                  </p:par>
                  <p:par>
                    <p:cTn id="101" fill="hold">
                      <p:stCondLst>
                        <p:cond delay="indefinite"/>
                      </p:stCondLst>
                      <p:childTnLst>
                        <p:par>
                          <p:cTn id="102" fill="hold">
                            <p:stCondLst>
                              <p:cond delay="0"/>
                            </p:stCondLst>
                            <p:childTnLst>
                              <p:par>
                                <p:cTn id="103" presetID="21" presetClass="exit" presetSubtype="1" fill="hold" grpId="1" nodeType="clickEffect">
                                  <p:stCondLst>
                                    <p:cond delay="0"/>
                                  </p:stCondLst>
                                  <p:childTnLst>
                                    <p:animEffect transition="out" filter="wheel(1)">
                                      <p:cBhvr>
                                        <p:cTn id="104" dur="500"/>
                                        <p:tgtEl>
                                          <p:spTgt spid="28"/>
                                        </p:tgtEl>
                                      </p:cBhvr>
                                    </p:animEffect>
                                    <p:set>
                                      <p:cBhvr>
                                        <p:cTn id="105" dur="1" fill="hold">
                                          <p:stCondLst>
                                            <p:cond delay="499"/>
                                          </p:stCondLst>
                                        </p:cTn>
                                        <p:tgtEl>
                                          <p:spTgt spid="28"/>
                                        </p:tgtEl>
                                        <p:attrNameLst>
                                          <p:attrName>style.visibility</p:attrName>
                                        </p:attrNameLst>
                                      </p:cBhvr>
                                      <p:to>
                                        <p:strVal val="hidden"/>
                                      </p:to>
                                    </p:set>
                                  </p:childTnLst>
                                </p:cTn>
                              </p:par>
                              <p:par>
                                <p:cTn id="106" presetID="21" presetClass="entr" presetSubtype="1" fill="hold" grpId="0" nodeType="withEffect">
                                  <p:stCondLst>
                                    <p:cond delay="0"/>
                                  </p:stCondLst>
                                  <p:childTnLst>
                                    <p:set>
                                      <p:cBhvr>
                                        <p:cTn id="107" dur="1" fill="hold">
                                          <p:stCondLst>
                                            <p:cond delay="0"/>
                                          </p:stCondLst>
                                        </p:cTn>
                                        <p:tgtEl>
                                          <p:spTgt spid="30"/>
                                        </p:tgtEl>
                                        <p:attrNameLst>
                                          <p:attrName>style.visibility</p:attrName>
                                        </p:attrNameLst>
                                      </p:cBhvr>
                                      <p:to>
                                        <p:strVal val="visible"/>
                                      </p:to>
                                    </p:set>
                                    <p:animEffect transition="in" filter="wheel(1)">
                                      <p:cBhvr>
                                        <p:cTn id="108"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P spid="14" grpId="0" animBg="1"/>
      <p:bldP spid="14" grpId="1" animBg="1"/>
      <p:bldP spid="14" grpId="2" animBg="1"/>
      <p:bldP spid="16" grpId="0" animBg="1"/>
      <p:bldP spid="18" grpId="0" animBg="1"/>
      <p:bldP spid="20" grpId="0" animBg="1"/>
      <p:bldP spid="22" grpId="0" animBg="1"/>
      <p:bldP spid="23" grpId="0" animBg="1"/>
      <p:bldP spid="23" grpId="1" animBg="1"/>
      <p:bldP spid="7" grpId="0"/>
      <p:bldP spid="8" grpId="0"/>
      <p:bldP spid="9" grpId="0"/>
      <p:bldP spid="10" grpId="0"/>
      <p:bldP spid="11" grpId="0"/>
      <p:bldP spid="12" grpId="0"/>
      <p:bldP spid="12" grpId="1"/>
      <p:bldP spid="28" grpId="0" animBg="1"/>
      <p:bldP spid="28" grpId="1" animBg="1"/>
      <p:bldP spid="3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Algorithm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solidFill>
                <a:srgbClr val="424242"/>
              </a:solidFill>
            </p:spPr>
            <p:txBody>
              <a:bodyPr/>
              <a:lstStyle/>
              <a:p>
                <a:pPr marL="0" indent="0">
                  <a:spcBef>
                    <a:spcPts val="600"/>
                  </a:spcBef>
                  <a:buNone/>
                </a:pPr>
                <a:r>
                  <a:rPr lang="en-IN" dirty="0">
                    <a:solidFill>
                      <a:schemeClr val="accent5"/>
                    </a:solidFill>
                    <a:latin typeface="Consolas" pitchFamily="49" charset="0"/>
                    <a:cs typeface="Consolas" pitchFamily="49" charset="0"/>
                  </a:rPr>
                  <a:t>Algorithm: Max-</a:t>
                </a:r>
                <a:r>
                  <a:rPr lang="en-IN" dirty="0" err="1">
                    <a:solidFill>
                      <a:schemeClr val="accent5"/>
                    </a:solidFill>
                    <a:latin typeface="Consolas" pitchFamily="49" charset="0"/>
                    <a:cs typeface="Consolas" pitchFamily="49" charset="0"/>
                  </a:rPr>
                  <a:t>heapify</a:t>
                </a:r>
                <a:r>
                  <a:rPr lang="en-IN" dirty="0">
                    <a:solidFill>
                      <a:schemeClr val="accent5"/>
                    </a:solidFill>
                    <a:latin typeface="Consolas" pitchFamily="49" charset="0"/>
                    <a:cs typeface="Consolas" pitchFamily="49" charset="0"/>
                  </a:rPr>
                  <a:t>(A, </a:t>
                </a:r>
                <a:r>
                  <a:rPr lang="en-IN" dirty="0" err="1">
                    <a:solidFill>
                      <a:schemeClr val="accent5"/>
                    </a:solidFill>
                    <a:latin typeface="Consolas" pitchFamily="49" charset="0"/>
                    <a:cs typeface="Consolas" pitchFamily="49" charset="0"/>
                  </a:rPr>
                  <a:t>i</a:t>
                </a:r>
                <a:r>
                  <a:rPr lang="en-IN" dirty="0">
                    <a:solidFill>
                      <a:schemeClr val="accent5"/>
                    </a:solidFill>
                    <a:latin typeface="Consolas" pitchFamily="49" charset="0"/>
                    <a:cs typeface="Consolas" pitchFamily="49" charset="0"/>
                  </a:rPr>
                  <a:t>, n)</a:t>
                </a:r>
              </a:p>
              <a:p>
                <a:pPr marL="0" indent="0">
                  <a:spcAft>
                    <a:spcPts val="0"/>
                  </a:spcAft>
                  <a:buNone/>
                </a:pPr>
                <a:r>
                  <a:rPr lang="en-US" dirty="0">
                    <a:solidFill>
                      <a:schemeClr val="accent5"/>
                    </a:solidFill>
                    <a:latin typeface="Consolas" pitchFamily="49" charset="0"/>
                    <a:cs typeface="Consolas" pitchFamily="49" charset="0"/>
                  </a:rPr>
                  <a:t>l </a:t>
                </a:r>
                <a14:m>
                  <m:oMath xmlns:m="http://schemas.openxmlformats.org/officeDocument/2006/math">
                    <m:r>
                      <a:rPr lang="en-US" b="0" i="1" dirty="0">
                        <a:solidFill>
                          <a:schemeClr val="accent5"/>
                        </a:solidFill>
                        <a:latin typeface="Cambria Math" panose="02040503050406030204" pitchFamily="18" charset="0"/>
                        <a:cs typeface="Consolas" pitchFamily="49" charset="0"/>
                      </a:rPr>
                      <m:t>←</m:t>
                    </m:r>
                  </m:oMath>
                </a14:m>
                <a:r>
                  <a:rPr lang="en-US" dirty="0">
                    <a:solidFill>
                      <a:schemeClr val="accent5"/>
                    </a:solidFill>
                    <a:latin typeface="Consolas" pitchFamily="49" charset="0"/>
                    <a:cs typeface="Consolas" pitchFamily="49" charset="0"/>
                  </a:rPr>
                  <a:t> LEFT(</a:t>
                </a:r>
                <a:r>
                  <a:rPr lang="en-US" dirty="0" err="1">
                    <a:solidFill>
                      <a:schemeClr val="accent5"/>
                    </a:solidFill>
                    <a:latin typeface="Consolas" pitchFamily="49" charset="0"/>
                    <a:cs typeface="Consolas" pitchFamily="49" charset="0"/>
                  </a:rPr>
                  <a:t>i</a:t>
                </a:r>
                <a:r>
                  <a:rPr lang="en-US" dirty="0">
                    <a:solidFill>
                      <a:schemeClr val="accent5"/>
                    </a:solidFill>
                    <a:latin typeface="Consolas" pitchFamily="49" charset="0"/>
                    <a:cs typeface="Consolas" pitchFamily="49" charset="0"/>
                  </a:rPr>
                  <a:t>)</a:t>
                </a:r>
              </a:p>
              <a:p>
                <a:pPr marL="0" indent="0">
                  <a:spcAft>
                    <a:spcPts val="0"/>
                  </a:spcAft>
                  <a:buNone/>
                </a:pPr>
                <a:r>
                  <a:rPr lang="en-US" dirty="0">
                    <a:solidFill>
                      <a:schemeClr val="accent5"/>
                    </a:solidFill>
                    <a:latin typeface="Consolas" pitchFamily="49" charset="0"/>
                    <a:cs typeface="Consolas" pitchFamily="49" charset="0"/>
                  </a:rPr>
                  <a:t>r </a:t>
                </a:r>
                <a14:m>
                  <m:oMath xmlns:m="http://schemas.openxmlformats.org/officeDocument/2006/math">
                    <m:r>
                      <a:rPr lang="en-US" b="0" i="1" dirty="0">
                        <a:solidFill>
                          <a:schemeClr val="accent5"/>
                        </a:solidFill>
                        <a:latin typeface="Cambria Math" panose="02040503050406030204" pitchFamily="18" charset="0"/>
                        <a:cs typeface="Consolas" pitchFamily="49" charset="0"/>
                      </a:rPr>
                      <m:t>←</m:t>
                    </m:r>
                  </m:oMath>
                </a14:m>
                <a:r>
                  <a:rPr lang="en-US" dirty="0">
                    <a:solidFill>
                      <a:schemeClr val="accent5"/>
                    </a:solidFill>
                    <a:latin typeface="Consolas" pitchFamily="49" charset="0"/>
                    <a:cs typeface="Consolas" pitchFamily="49" charset="0"/>
                  </a:rPr>
                  <a:t> RIGHT(</a:t>
                </a:r>
                <a:r>
                  <a:rPr lang="en-US" dirty="0" err="1">
                    <a:solidFill>
                      <a:schemeClr val="accent5"/>
                    </a:solidFill>
                    <a:latin typeface="Consolas" pitchFamily="49" charset="0"/>
                    <a:cs typeface="Consolas" pitchFamily="49" charset="0"/>
                  </a:rPr>
                  <a:t>i</a:t>
                </a:r>
                <a:r>
                  <a:rPr lang="en-US" dirty="0">
                    <a:solidFill>
                      <a:schemeClr val="accent5"/>
                    </a:solidFill>
                    <a:latin typeface="Consolas" pitchFamily="49" charset="0"/>
                    <a:cs typeface="Consolas" pitchFamily="49" charset="0"/>
                  </a:rPr>
                  <a:t>)</a:t>
                </a:r>
              </a:p>
              <a:p>
                <a:pPr marL="0" indent="0">
                  <a:spcAft>
                    <a:spcPts val="0"/>
                  </a:spcAft>
                  <a:buNone/>
                </a:pPr>
                <a:r>
                  <a:rPr lang="en-US" dirty="0">
                    <a:solidFill>
                      <a:schemeClr val="accent5"/>
                    </a:solidFill>
                    <a:latin typeface="Consolas" pitchFamily="49" charset="0"/>
                    <a:cs typeface="Consolas" pitchFamily="49" charset="0"/>
                  </a:rPr>
                  <a:t>if l ≤ n and A[l] &gt; A[</a:t>
                </a:r>
                <a:r>
                  <a:rPr lang="en-US" dirty="0" err="1">
                    <a:solidFill>
                      <a:schemeClr val="accent5"/>
                    </a:solidFill>
                    <a:latin typeface="Consolas" pitchFamily="49" charset="0"/>
                    <a:cs typeface="Consolas" pitchFamily="49" charset="0"/>
                  </a:rPr>
                  <a:t>i</a:t>
                </a:r>
                <a:r>
                  <a:rPr lang="en-US" dirty="0">
                    <a:solidFill>
                      <a:schemeClr val="accent5"/>
                    </a:solidFill>
                    <a:latin typeface="Consolas" pitchFamily="49" charset="0"/>
                    <a:cs typeface="Consolas" pitchFamily="49" charset="0"/>
                  </a:rPr>
                  <a:t>]</a:t>
                </a:r>
              </a:p>
              <a:p>
                <a:pPr marL="0" indent="0">
                  <a:spcAft>
                    <a:spcPts val="0"/>
                  </a:spcAft>
                  <a:buNone/>
                </a:pPr>
                <a:r>
                  <a:rPr lang="en-US" dirty="0">
                    <a:solidFill>
                      <a:schemeClr val="accent5"/>
                    </a:solidFill>
                    <a:latin typeface="Consolas" pitchFamily="49" charset="0"/>
                    <a:cs typeface="Consolas" pitchFamily="49" charset="0"/>
                  </a:rPr>
                  <a:t>   then largest </a:t>
                </a:r>
                <a14:m>
                  <m:oMath xmlns:m="http://schemas.openxmlformats.org/officeDocument/2006/math">
                    <m:r>
                      <a:rPr lang="en-US" b="0" i="1" dirty="0">
                        <a:solidFill>
                          <a:schemeClr val="accent5"/>
                        </a:solidFill>
                        <a:latin typeface="Cambria Math" panose="02040503050406030204" pitchFamily="18" charset="0"/>
                        <a:cs typeface="Consolas" pitchFamily="49" charset="0"/>
                      </a:rPr>
                      <m:t>← </m:t>
                    </m:r>
                  </m:oMath>
                </a14:m>
                <a:r>
                  <a:rPr lang="en-US" dirty="0">
                    <a:solidFill>
                      <a:schemeClr val="accent5"/>
                    </a:solidFill>
                    <a:latin typeface="Consolas" pitchFamily="49" charset="0"/>
                    <a:cs typeface="Consolas" pitchFamily="49" charset="0"/>
                  </a:rPr>
                  <a:t>l</a:t>
                </a:r>
              </a:p>
              <a:p>
                <a:pPr marL="0" indent="0">
                  <a:spcAft>
                    <a:spcPts val="0"/>
                  </a:spcAft>
                  <a:buNone/>
                </a:pPr>
                <a:r>
                  <a:rPr lang="en-US" dirty="0">
                    <a:solidFill>
                      <a:schemeClr val="accent5"/>
                    </a:solidFill>
                    <a:latin typeface="Consolas" pitchFamily="49" charset="0"/>
                    <a:cs typeface="Consolas" pitchFamily="49" charset="0"/>
                  </a:rPr>
                  <a:t>   else largest </a:t>
                </a:r>
                <a14:m>
                  <m:oMath xmlns:m="http://schemas.openxmlformats.org/officeDocument/2006/math">
                    <m:r>
                      <a:rPr lang="en-US" b="0" i="1" dirty="0">
                        <a:solidFill>
                          <a:schemeClr val="accent5"/>
                        </a:solidFill>
                        <a:latin typeface="Cambria Math" panose="02040503050406030204" pitchFamily="18" charset="0"/>
                        <a:cs typeface="Consolas" pitchFamily="49" charset="0"/>
                      </a:rPr>
                      <m:t>← </m:t>
                    </m:r>
                  </m:oMath>
                </a14:m>
                <a:r>
                  <a:rPr lang="en-US" dirty="0" err="1">
                    <a:solidFill>
                      <a:schemeClr val="accent5"/>
                    </a:solidFill>
                    <a:latin typeface="Consolas" pitchFamily="49" charset="0"/>
                    <a:cs typeface="Consolas" pitchFamily="49" charset="0"/>
                  </a:rPr>
                  <a:t>i</a:t>
                </a:r>
                <a:endParaRPr lang="en-US" dirty="0">
                  <a:solidFill>
                    <a:schemeClr val="accent5"/>
                  </a:solidFill>
                  <a:latin typeface="Consolas" pitchFamily="49" charset="0"/>
                  <a:cs typeface="Consolas" pitchFamily="49" charset="0"/>
                </a:endParaRPr>
              </a:p>
              <a:p>
                <a:pPr marL="0" indent="0">
                  <a:spcAft>
                    <a:spcPts val="0"/>
                  </a:spcAft>
                  <a:buNone/>
                </a:pPr>
                <a:r>
                  <a:rPr lang="en-US" dirty="0">
                    <a:solidFill>
                      <a:schemeClr val="accent5"/>
                    </a:solidFill>
                    <a:latin typeface="Consolas" pitchFamily="49" charset="0"/>
                    <a:cs typeface="Consolas" pitchFamily="49" charset="0"/>
                  </a:rPr>
                  <a:t>if r ≤ n and A[r] &gt; A[largest]</a:t>
                </a:r>
              </a:p>
              <a:p>
                <a:pPr marL="0" indent="0">
                  <a:spcAft>
                    <a:spcPts val="0"/>
                  </a:spcAft>
                  <a:buNone/>
                </a:pPr>
                <a:r>
                  <a:rPr lang="en-US" dirty="0">
                    <a:solidFill>
                      <a:schemeClr val="accent5"/>
                    </a:solidFill>
                    <a:latin typeface="Consolas" pitchFamily="49" charset="0"/>
                    <a:cs typeface="Consolas" pitchFamily="49" charset="0"/>
                  </a:rPr>
                  <a:t>   then largest </a:t>
                </a:r>
                <a14:m>
                  <m:oMath xmlns:m="http://schemas.openxmlformats.org/officeDocument/2006/math">
                    <m:r>
                      <a:rPr lang="en-US" b="0" i="1" dirty="0">
                        <a:solidFill>
                          <a:schemeClr val="accent5"/>
                        </a:solidFill>
                        <a:latin typeface="Cambria Math" panose="02040503050406030204" pitchFamily="18" charset="0"/>
                        <a:cs typeface="Consolas" pitchFamily="49" charset="0"/>
                      </a:rPr>
                      <m:t>← </m:t>
                    </m:r>
                  </m:oMath>
                </a14:m>
                <a:r>
                  <a:rPr lang="en-US" dirty="0">
                    <a:solidFill>
                      <a:schemeClr val="accent5"/>
                    </a:solidFill>
                    <a:latin typeface="Consolas" pitchFamily="49" charset="0"/>
                    <a:cs typeface="Consolas" pitchFamily="49" charset="0"/>
                  </a:rPr>
                  <a:t>r</a:t>
                </a:r>
              </a:p>
              <a:p>
                <a:pPr marL="0" indent="0">
                  <a:spcAft>
                    <a:spcPts val="0"/>
                  </a:spcAft>
                  <a:buNone/>
                </a:pPr>
                <a:r>
                  <a:rPr lang="en-US" dirty="0">
                    <a:solidFill>
                      <a:schemeClr val="accent5"/>
                    </a:solidFill>
                    <a:latin typeface="Consolas" pitchFamily="49" charset="0"/>
                    <a:cs typeface="Consolas" pitchFamily="49" charset="0"/>
                  </a:rPr>
                  <a:t>if largest </a:t>
                </a:r>
                <a14:m>
                  <m:oMath xmlns:m="http://schemas.openxmlformats.org/officeDocument/2006/math">
                    <m:r>
                      <a:rPr lang="en-US" b="0" i="1" dirty="0">
                        <a:solidFill>
                          <a:schemeClr val="accent5"/>
                        </a:solidFill>
                        <a:latin typeface="Cambria Math" panose="02040503050406030204" pitchFamily="18" charset="0"/>
                        <a:ea typeface="Cambria Math" panose="02040503050406030204" pitchFamily="18" charset="0"/>
                        <a:cs typeface="Consolas" pitchFamily="49" charset="0"/>
                      </a:rPr>
                      <m:t>≠</m:t>
                    </m:r>
                  </m:oMath>
                </a14:m>
                <a:r>
                  <a:rPr lang="en-US" dirty="0">
                    <a:solidFill>
                      <a:schemeClr val="accent5"/>
                    </a:solidFill>
                    <a:latin typeface="Consolas" pitchFamily="49" charset="0"/>
                    <a:cs typeface="Consolas" pitchFamily="49" charset="0"/>
                  </a:rPr>
                  <a:t> </a:t>
                </a:r>
                <a:r>
                  <a:rPr lang="en-US" dirty="0" err="1">
                    <a:solidFill>
                      <a:schemeClr val="accent5"/>
                    </a:solidFill>
                    <a:latin typeface="Consolas" pitchFamily="49" charset="0"/>
                    <a:cs typeface="Consolas" pitchFamily="49" charset="0"/>
                  </a:rPr>
                  <a:t>i</a:t>
                </a:r>
                <a:endParaRPr lang="en-US" dirty="0">
                  <a:solidFill>
                    <a:schemeClr val="accent5"/>
                  </a:solidFill>
                  <a:latin typeface="Consolas" pitchFamily="49" charset="0"/>
                  <a:cs typeface="Consolas" pitchFamily="49" charset="0"/>
                </a:endParaRPr>
              </a:p>
              <a:p>
                <a:pPr marL="0" indent="0">
                  <a:spcAft>
                    <a:spcPts val="0"/>
                  </a:spcAft>
                  <a:buNone/>
                </a:pPr>
                <a:r>
                  <a:rPr lang="en-US" dirty="0">
                    <a:solidFill>
                      <a:schemeClr val="accent5"/>
                    </a:solidFill>
                    <a:latin typeface="Consolas" pitchFamily="49" charset="0"/>
                    <a:cs typeface="Consolas" pitchFamily="49" charset="0"/>
                  </a:rPr>
                  <a:t>   then exchange A[</a:t>
                </a:r>
                <a:r>
                  <a:rPr lang="en-US" dirty="0" err="1">
                    <a:solidFill>
                      <a:schemeClr val="accent5"/>
                    </a:solidFill>
                    <a:latin typeface="Consolas" pitchFamily="49" charset="0"/>
                    <a:cs typeface="Consolas" pitchFamily="49" charset="0"/>
                  </a:rPr>
                  <a:t>i</a:t>
                </a:r>
                <a:r>
                  <a:rPr lang="en-US" dirty="0">
                    <a:solidFill>
                      <a:schemeClr val="accent5"/>
                    </a:solidFill>
                    <a:latin typeface="Consolas" pitchFamily="49" charset="0"/>
                    <a:cs typeface="Consolas" pitchFamily="49" charset="0"/>
                  </a:rPr>
                  <a:t>] </a:t>
                </a:r>
                <a14:m>
                  <m:oMath xmlns:m="http://schemas.openxmlformats.org/officeDocument/2006/math">
                    <m:r>
                      <a:rPr lang="en-US" b="0" i="1" dirty="0">
                        <a:solidFill>
                          <a:schemeClr val="accent5"/>
                        </a:solidFill>
                        <a:latin typeface="Cambria Math" panose="02040503050406030204" pitchFamily="18" charset="0"/>
                        <a:cs typeface="Consolas" pitchFamily="49" charset="0"/>
                      </a:rPr>
                      <m:t>↔</m:t>
                    </m:r>
                  </m:oMath>
                </a14:m>
                <a:r>
                  <a:rPr lang="en-US" dirty="0">
                    <a:solidFill>
                      <a:schemeClr val="accent5"/>
                    </a:solidFill>
                    <a:latin typeface="Consolas" pitchFamily="49" charset="0"/>
                    <a:cs typeface="Consolas" pitchFamily="49" charset="0"/>
                  </a:rPr>
                  <a:t> A[largest]</a:t>
                </a:r>
              </a:p>
              <a:p>
                <a:pPr marL="0" indent="0">
                  <a:spcAft>
                    <a:spcPts val="0"/>
                  </a:spcAft>
                  <a:buNone/>
                </a:pPr>
                <a:r>
                  <a:rPr lang="en-US" dirty="0">
                    <a:solidFill>
                      <a:schemeClr val="accent5"/>
                    </a:solidFill>
                    <a:latin typeface="Consolas" pitchFamily="49" charset="0"/>
                    <a:cs typeface="Consolas" pitchFamily="49" charset="0"/>
                  </a:rPr>
                  <a:t>MAX-HEAPIFY(A, largest, n)</a:t>
                </a:r>
                <a:endParaRPr lang="en-IN" dirty="0">
                  <a:solidFill>
                    <a:schemeClr val="accent5"/>
                  </a:solidFill>
                  <a:latin typeface="Consolas" pitchFamily="49" charset="0"/>
                  <a:cs typeface="Consolas" pitchFamily="49"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18" t="-1527"/>
                </a:stretch>
              </a:blipFill>
            </p:spPr>
            <p:txBody>
              <a:bodyPr/>
              <a:lstStyle/>
              <a:p>
                <a:r>
                  <a:rPr lang="en-US">
                    <a:noFill/>
                  </a:rPr>
                  <a:t> </a:t>
                </a:r>
              </a:p>
            </p:txBody>
          </p:sp>
        </mc:Fallback>
      </mc:AlternateContent>
      <p:sp>
        <p:nvSpPr>
          <p:cNvPr id="18" name="Oval Callout 17"/>
          <p:cNvSpPr/>
          <p:nvPr/>
        </p:nvSpPr>
        <p:spPr>
          <a:xfrm>
            <a:off x="4441368" y="1308884"/>
            <a:ext cx="457200" cy="376225"/>
          </a:xfrm>
          <a:prstGeom prst="wedgeEllipseCallout">
            <a:avLst>
              <a:gd name="adj1" fmla="val 319"/>
              <a:gd name="adj2" fmla="val -74467"/>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1</a:t>
            </a:r>
          </a:p>
        </p:txBody>
      </p:sp>
      <mc:AlternateContent xmlns:mc="http://schemas.openxmlformats.org/markup-compatibility/2006" xmlns:a14="http://schemas.microsoft.com/office/drawing/2010/main">
        <mc:Choice Requires="a14">
          <p:sp>
            <p:nvSpPr>
              <p:cNvPr id="19" name="TextBox 18"/>
              <p:cNvSpPr txBox="1"/>
              <p:nvPr/>
            </p:nvSpPr>
            <p:spPr>
              <a:xfrm>
                <a:off x="2648586" y="1358953"/>
                <a:ext cx="832993" cy="369332"/>
              </a:xfrm>
              <a:prstGeom prst="rect">
                <a:avLst/>
              </a:prstGeom>
              <a:solidFill>
                <a:schemeClr val="bg1"/>
              </a:solidFill>
              <a:ln>
                <a:solidFill>
                  <a:srgbClr val="0066FF"/>
                </a:solidFill>
              </a:ln>
            </p:spPr>
            <p:txBody>
              <a:bodyPr wrap="square" rtlCol="0">
                <a:spAutoFit/>
              </a:bodyPr>
              <a:lstStyle/>
              <a:p>
                <a:r>
                  <a:rPr lang="en-US" b="1" dirty="0">
                    <a:solidFill>
                      <a:srgbClr val="A71160"/>
                    </a:solidFill>
                    <a:latin typeface="Consolas" pitchFamily="49" charset="0"/>
                    <a:cs typeface="Consolas" pitchFamily="49" charset="0"/>
                  </a:rPr>
                  <a:t>l </a:t>
                </a:r>
                <a14:m>
                  <m:oMath xmlns:m="http://schemas.openxmlformats.org/officeDocument/2006/math">
                    <m:r>
                      <a:rPr lang="en-US" b="1" i="1" dirty="0">
                        <a:solidFill>
                          <a:srgbClr val="A71160"/>
                        </a:solidFill>
                        <a:latin typeface="Cambria Math" panose="02040503050406030204" pitchFamily="18" charset="0"/>
                        <a:cs typeface="Consolas" pitchFamily="49" charset="0"/>
                      </a:rPr>
                      <m:t>←</m:t>
                    </m:r>
                  </m:oMath>
                </a14:m>
                <a:r>
                  <a:rPr lang="en-US" b="1" dirty="0">
                    <a:solidFill>
                      <a:srgbClr val="A71160"/>
                    </a:solidFill>
                  </a:rPr>
                  <a:t> 2</a:t>
                </a:r>
              </a:p>
            </p:txBody>
          </p:sp>
        </mc:Choice>
        <mc:Fallback xmlns="">
          <p:sp>
            <p:nvSpPr>
              <p:cNvPr id="19" name="TextBox 18"/>
              <p:cNvSpPr txBox="1">
                <a:spLocks noRot="1" noChangeAspect="1" noMove="1" noResize="1" noEditPoints="1" noAdjustHandles="1" noChangeArrowheads="1" noChangeShapeType="1" noTextEdit="1"/>
              </p:cNvSpPr>
              <p:nvPr/>
            </p:nvSpPr>
            <p:spPr>
              <a:xfrm>
                <a:off x="2648586" y="1358953"/>
                <a:ext cx="832993" cy="369332"/>
              </a:xfrm>
              <a:prstGeom prst="rect">
                <a:avLst/>
              </a:prstGeom>
              <a:blipFill>
                <a:blip r:embed="rId3"/>
                <a:stretch>
                  <a:fillRect l="-5036" t="-7937" r="-1439" b="-22222"/>
                </a:stretch>
              </a:blipFill>
              <a:ln>
                <a:solidFill>
                  <a:srgbClr val="0066FF"/>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2648586" y="1754411"/>
                <a:ext cx="832993" cy="369332"/>
              </a:xfrm>
              <a:prstGeom prst="rect">
                <a:avLst/>
              </a:prstGeom>
              <a:solidFill>
                <a:schemeClr val="bg1"/>
              </a:solidFill>
              <a:ln>
                <a:solidFill>
                  <a:srgbClr val="0066FF"/>
                </a:solidFill>
              </a:ln>
            </p:spPr>
            <p:txBody>
              <a:bodyPr wrap="square" rtlCol="0">
                <a:spAutoFit/>
              </a:bodyPr>
              <a:lstStyle/>
              <a:p>
                <a:r>
                  <a:rPr lang="en-US" b="1" dirty="0">
                    <a:solidFill>
                      <a:srgbClr val="A71160"/>
                    </a:solidFill>
                    <a:latin typeface="Consolas" pitchFamily="49" charset="0"/>
                    <a:cs typeface="Consolas" pitchFamily="49" charset="0"/>
                  </a:rPr>
                  <a:t>r </a:t>
                </a:r>
                <a14:m>
                  <m:oMath xmlns:m="http://schemas.openxmlformats.org/officeDocument/2006/math">
                    <m:r>
                      <a:rPr lang="en-US" b="1" i="1" dirty="0">
                        <a:solidFill>
                          <a:srgbClr val="A71160"/>
                        </a:solidFill>
                        <a:latin typeface="Cambria Math" panose="02040503050406030204" pitchFamily="18" charset="0"/>
                        <a:cs typeface="Consolas" pitchFamily="49" charset="0"/>
                      </a:rPr>
                      <m:t>←</m:t>
                    </m:r>
                  </m:oMath>
                </a14:m>
                <a:r>
                  <a:rPr lang="en-US" b="1" dirty="0">
                    <a:solidFill>
                      <a:srgbClr val="A71160"/>
                    </a:solidFill>
                  </a:rPr>
                  <a:t> 3</a:t>
                </a:r>
              </a:p>
            </p:txBody>
          </p:sp>
        </mc:Choice>
        <mc:Fallback xmlns="">
          <p:sp>
            <p:nvSpPr>
              <p:cNvPr id="20" name="TextBox 19"/>
              <p:cNvSpPr txBox="1">
                <a:spLocks noRot="1" noChangeAspect="1" noMove="1" noResize="1" noEditPoints="1" noAdjustHandles="1" noChangeArrowheads="1" noChangeShapeType="1" noTextEdit="1"/>
              </p:cNvSpPr>
              <p:nvPr/>
            </p:nvSpPr>
            <p:spPr>
              <a:xfrm>
                <a:off x="2648586" y="1754411"/>
                <a:ext cx="832993" cy="369332"/>
              </a:xfrm>
              <a:prstGeom prst="rect">
                <a:avLst/>
              </a:prstGeom>
              <a:blipFill>
                <a:blip r:embed="rId4"/>
                <a:stretch>
                  <a:fillRect l="-5036" t="-8065" r="-1439" b="-24194"/>
                </a:stretch>
              </a:blipFill>
              <a:ln>
                <a:solidFill>
                  <a:srgbClr val="0066FF"/>
                </a:solidFill>
              </a:ln>
            </p:spPr>
            <p:txBody>
              <a:bodyPr/>
              <a:lstStyle/>
              <a:p>
                <a:r>
                  <a:rPr lang="en-US">
                    <a:noFill/>
                  </a:rPr>
                  <a:t> </a:t>
                </a:r>
              </a:p>
            </p:txBody>
          </p:sp>
        </mc:Fallback>
      </mc:AlternateContent>
      <p:cxnSp>
        <p:nvCxnSpPr>
          <p:cNvPr id="21" name="Straight Connector 20"/>
          <p:cNvCxnSpPr/>
          <p:nvPr/>
        </p:nvCxnSpPr>
        <p:spPr>
          <a:xfrm>
            <a:off x="2338247" y="2664432"/>
            <a:ext cx="182880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769595" y="2280498"/>
            <a:ext cx="608797" cy="369332"/>
          </a:xfrm>
          <a:prstGeom prst="rect">
            <a:avLst/>
          </a:prstGeom>
          <a:solidFill>
            <a:schemeClr val="bg1"/>
          </a:solidFill>
          <a:ln>
            <a:solidFill>
              <a:srgbClr val="0066FF"/>
            </a:solidFill>
          </a:ln>
        </p:spPr>
        <p:txBody>
          <a:bodyPr wrap="square" rtlCol="0">
            <a:spAutoFit/>
          </a:bodyPr>
          <a:lstStyle/>
          <a:p>
            <a:r>
              <a:rPr lang="en-US" b="1" dirty="0">
                <a:solidFill>
                  <a:srgbClr val="A71160"/>
                </a:solidFill>
                <a:latin typeface="Consolas" pitchFamily="49" charset="0"/>
                <a:cs typeface="Consolas" pitchFamily="49" charset="0"/>
              </a:rPr>
              <a:t>Yes </a:t>
            </a:r>
            <a:endParaRPr lang="en-US" b="1" dirty="0">
              <a:solidFill>
                <a:srgbClr val="A71160"/>
              </a:solidFill>
            </a:endParaRPr>
          </a:p>
        </p:txBody>
      </p:sp>
      <mc:AlternateContent xmlns:mc="http://schemas.openxmlformats.org/markup-compatibility/2006" xmlns:a14="http://schemas.microsoft.com/office/drawing/2010/main">
        <mc:Choice Requires="a14">
          <p:sp>
            <p:nvSpPr>
              <p:cNvPr id="23" name="TextBox 22"/>
              <p:cNvSpPr txBox="1"/>
              <p:nvPr/>
            </p:nvSpPr>
            <p:spPr>
              <a:xfrm>
                <a:off x="3779845" y="2728707"/>
                <a:ext cx="1588983" cy="369332"/>
              </a:xfrm>
              <a:prstGeom prst="rect">
                <a:avLst/>
              </a:prstGeom>
              <a:solidFill>
                <a:schemeClr val="bg1"/>
              </a:solidFill>
              <a:ln>
                <a:solidFill>
                  <a:srgbClr val="0066FF"/>
                </a:solidFill>
              </a:ln>
            </p:spPr>
            <p:txBody>
              <a:bodyPr wrap="square" rtlCol="0">
                <a:spAutoFit/>
              </a:bodyPr>
              <a:lstStyle/>
              <a:p>
                <a:r>
                  <a:rPr lang="en-US" b="1" dirty="0">
                    <a:solidFill>
                      <a:srgbClr val="A71160"/>
                    </a:solidFill>
                    <a:latin typeface="Consolas" pitchFamily="49" charset="0"/>
                    <a:cs typeface="Consolas" pitchFamily="49" charset="0"/>
                  </a:rPr>
                  <a:t>largest</a:t>
                </a:r>
                <a:r>
                  <a:rPr lang="en-US" dirty="0">
                    <a:solidFill>
                      <a:srgbClr val="A71160"/>
                    </a:solidFill>
                    <a:cs typeface="Consolas" pitchFamily="49" charset="0"/>
                  </a:rPr>
                  <a:t> </a:t>
                </a:r>
                <a14:m>
                  <m:oMath xmlns:m="http://schemas.openxmlformats.org/officeDocument/2006/math">
                    <m:r>
                      <a:rPr lang="en-US" i="1" dirty="0">
                        <a:solidFill>
                          <a:srgbClr val="A71160"/>
                        </a:solidFill>
                        <a:latin typeface="Cambria Math" panose="02040503050406030204" pitchFamily="18" charset="0"/>
                        <a:cs typeface="Consolas" pitchFamily="49" charset="0"/>
                      </a:rPr>
                      <m:t>←</m:t>
                    </m:r>
                  </m:oMath>
                </a14:m>
                <a:r>
                  <a:rPr lang="en-US" b="1" dirty="0">
                    <a:solidFill>
                      <a:srgbClr val="A71160"/>
                    </a:solidFill>
                    <a:latin typeface="Consolas" pitchFamily="49" charset="0"/>
                    <a:cs typeface="Consolas" pitchFamily="49" charset="0"/>
                  </a:rPr>
                  <a:t> 2 </a:t>
                </a:r>
                <a:endParaRPr lang="en-US" b="1" dirty="0">
                  <a:solidFill>
                    <a:srgbClr val="A71160"/>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3779845" y="2728707"/>
                <a:ext cx="1588983" cy="369332"/>
              </a:xfrm>
              <a:prstGeom prst="rect">
                <a:avLst/>
              </a:prstGeom>
              <a:blipFill>
                <a:blip r:embed="rId5"/>
                <a:stretch>
                  <a:fillRect l="-2662" t="-8065" r="-8745" b="-24194"/>
                </a:stretch>
              </a:blipFill>
              <a:ln>
                <a:solidFill>
                  <a:srgbClr val="0066FF"/>
                </a:solidFill>
              </a:ln>
            </p:spPr>
            <p:txBody>
              <a:bodyPr/>
              <a:lstStyle/>
              <a:p>
                <a:r>
                  <a:rPr lang="en-US">
                    <a:noFill/>
                  </a:rPr>
                  <a:t> </a:t>
                </a:r>
              </a:p>
            </p:txBody>
          </p:sp>
        </mc:Fallback>
      </mc:AlternateContent>
      <p:cxnSp>
        <p:nvCxnSpPr>
          <p:cNvPr id="24" name="Straight Connector 23"/>
          <p:cNvCxnSpPr/>
          <p:nvPr/>
        </p:nvCxnSpPr>
        <p:spPr>
          <a:xfrm>
            <a:off x="2364373" y="4023360"/>
            <a:ext cx="274320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368829" y="3576787"/>
            <a:ext cx="608797" cy="369332"/>
          </a:xfrm>
          <a:prstGeom prst="rect">
            <a:avLst/>
          </a:prstGeom>
          <a:solidFill>
            <a:schemeClr val="bg1"/>
          </a:solidFill>
          <a:ln>
            <a:solidFill>
              <a:srgbClr val="0066FF"/>
            </a:solidFill>
          </a:ln>
        </p:spPr>
        <p:txBody>
          <a:bodyPr wrap="square" rtlCol="0">
            <a:spAutoFit/>
          </a:bodyPr>
          <a:lstStyle/>
          <a:p>
            <a:r>
              <a:rPr lang="en-US" b="1" dirty="0">
                <a:solidFill>
                  <a:srgbClr val="A71160"/>
                </a:solidFill>
                <a:latin typeface="Consolas" pitchFamily="49" charset="0"/>
                <a:cs typeface="Consolas" pitchFamily="49" charset="0"/>
              </a:rPr>
              <a:t>Yes </a:t>
            </a:r>
            <a:endParaRPr lang="en-US" b="1" dirty="0">
              <a:solidFill>
                <a:srgbClr val="A71160"/>
              </a:solidFill>
            </a:endParaRPr>
          </a:p>
        </p:txBody>
      </p:sp>
      <mc:AlternateContent xmlns:mc="http://schemas.openxmlformats.org/markup-compatibility/2006" xmlns:a14="http://schemas.microsoft.com/office/drawing/2010/main">
        <mc:Choice Requires="a14">
          <p:sp>
            <p:nvSpPr>
              <p:cNvPr id="26" name="TextBox 25"/>
              <p:cNvSpPr txBox="1"/>
              <p:nvPr/>
            </p:nvSpPr>
            <p:spPr>
              <a:xfrm>
                <a:off x="3740657" y="4072617"/>
                <a:ext cx="1588983" cy="369332"/>
              </a:xfrm>
              <a:prstGeom prst="rect">
                <a:avLst/>
              </a:prstGeom>
              <a:solidFill>
                <a:schemeClr val="bg1"/>
              </a:solidFill>
              <a:ln>
                <a:solidFill>
                  <a:srgbClr val="0066FF"/>
                </a:solidFill>
              </a:ln>
            </p:spPr>
            <p:txBody>
              <a:bodyPr wrap="square" rtlCol="0">
                <a:spAutoFit/>
              </a:bodyPr>
              <a:lstStyle/>
              <a:p>
                <a:r>
                  <a:rPr lang="en-US" b="1" dirty="0">
                    <a:solidFill>
                      <a:srgbClr val="A71160"/>
                    </a:solidFill>
                    <a:latin typeface="Consolas" pitchFamily="49" charset="0"/>
                    <a:cs typeface="Consolas" pitchFamily="49" charset="0"/>
                  </a:rPr>
                  <a:t>largest</a:t>
                </a:r>
                <a:r>
                  <a:rPr lang="en-US" dirty="0">
                    <a:solidFill>
                      <a:srgbClr val="A71160"/>
                    </a:solidFill>
                    <a:cs typeface="Consolas" pitchFamily="49" charset="0"/>
                  </a:rPr>
                  <a:t> </a:t>
                </a:r>
                <a14:m>
                  <m:oMath xmlns:m="http://schemas.openxmlformats.org/officeDocument/2006/math">
                    <m:r>
                      <a:rPr lang="en-US" i="1" dirty="0">
                        <a:solidFill>
                          <a:srgbClr val="A71160"/>
                        </a:solidFill>
                        <a:latin typeface="Cambria Math" panose="02040503050406030204" pitchFamily="18" charset="0"/>
                        <a:cs typeface="Consolas" pitchFamily="49" charset="0"/>
                      </a:rPr>
                      <m:t>←</m:t>
                    </m:r>
                  </m:oMath>
                </a14:m>
                <a:r>
                  <a:rPr lang="en-US" b="1" dirty="0">
                    <a:solidFill>
                      <a:srgbClr val="A71160"/>
                    </a:solidFill>
                    <a:latin typeface="Consolas" pitchFamily="49" charset="0"/>
                    <a:cs typeface="Consolas" pitchFamily="49" charset="0"/>
                  </a:rPr>
                  <a:t> 3 </a:t>
                </a:r>
                <a:endParaRPr lang="en-US" b="1" dirty="0">
                  <a:solidFill>
                    <a:srgbClr val="A71160"/>
                  </a:solidFill>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3740657" y="4072617"/>
                <a:ext cx="1588983" cy="369332"/>
              </a:xfrm>
              <a:prstGeom prst="rect">
                <a:avLst/>
              </a:prstGeom>
              <a:blipFill>
                <a:blip r:embed="rId6"/>
                <a:stretch>
                  <a:fillRect l="-3053" t="-6349" r="-8779" b="-22222"/>
                </a:stretch>
              </a:blipFill>
              <a:ln>
                <a:solidFill>
                  <a:srgbClr val="0066FF"/>
                </a:solidFill>
              </a:ln>
            </p:spPr>
            <p:txBody>
              <a:bodyPr/>
              <a:lstStyle/>
              <a:p>
                <a:r>
                  <a:rPr lang="en-US">
                    <a:noFill/>
                  </a:rPr>
                  <a:t> </a:t>
                </a:r>
              </a:p>
            </p:txBody>
          </p:sp>
        </mc:Fallback>
      </mc:AlternateContent>
      <p:cxnSp>
        <p:nvCxnSpPr>
          <p:cNvPr id="27" name="Straight Connector 26"/>
          <p:cNvCxnSpPr/>
          <p:nvPr/>
        </p:nvCxnSpPr>
        <p:spPr>
          <a:xfrm>
            <a:off x="1571039" y="5388429"/>
            <a:ext cx="43891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3090147" y="4547356"/>
            <a:ext cx="608797" cy="369332"/>
          </a:xfrm>
          <a:prstGeom prst="rect">
            <a:avLst/>
          </a:prstGeom>
          <a:solidFill>
            <a:schemeClr val="bg1"/>
          </a:solidFill>
          <a:ln>
            <a:solidFill>
              <a:srgbClr val="0066FF"/>
            </a:solidFill>
          </a:ln>
        </p:spPr>
        <p:txBody>
          <a:bodyPr wrap="square" rtlCol="0">
            <a:spAutoFit/>
          </a:bodyPr>
          <a:lstStyle/>
          <a:p>
            <a:r>
              <a:rPr lang="en-US" b="1" dirty="0">
                <a:solidFill>
                  <a:srgbClr val="A71160"/>
                </a:solidFill>
                <a:latin typeface="Consolas" pitchFamily="49" charset="0"/>
                <a:cs typeface="Consolas" pitchFamily="49" charset="0"/>
              </a:rPr>
              <a:t>Yes </a:t>
            </a:r>
            <a:endParaRPr lang="en-US" b="1" dirty="0">
              <a:solidFill>
                <a:srgbClr val="A71160"/>
              </a:solidFill>
            </a:endParaRPr>
          </a:p>
        </p:txBody>
      </p:sp>
      <p:sp>
        <p:nvSpPr>
          <p:cNvPr id="47" name="Oval 46"/>
          <p:cNvSpPr/>
          <p:nvPr/>
        </p:nvSpPr>
        <p:spPr>
          <a:xfrm>
            <a:off x="9907950" y="1990948"/>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3</a:t>
            </a:r>
          </a:p>
        </p:txBody>
      </p:sp>
      <p:cxnSp>
        <p:nvCxnSpPr>
          <p:cNvPr id="48" name="Straight Connector 47"/>
          <p:cNvCxnSpPr>
            <a:stCxn id="47" idx="3"/>
            <a:endCxn id="49" idx="0"/>
          </p:cNvCxnSpPr>
          <p:nvPr/>
        </p:nvCxnSpPr>
        <p:spPr>
          <a:xfrm flipH="1">
            <a:off x="9587560" y="2483733"/>
            <a:ext cx="409664" cy="24937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9" name="Oval 48"/>
          <p:cNvSpPr/>
          <p:nvPr/>
        </p:nvSpPr>
        <p:spPr>
          <a:xfrm>
            <a:off x="9282760" y="2733111"/>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4</a:t>
            </a:r>
          </a:p>
        </p:txBody>
      </p:sp>
      <p:cxnSp>
        <p:nvCxnSpPr>
          <p:cNvPr id="50" name="Straight Connector 49"/>
          <p:cNvCxnSpPr>
            <a:stCxn id="47" idx="5"/>
            <a:endCxn id="51" idx="0"/>
          </p:cNvCxnSpPr>
          <p:nvPr/>
        </p:nvCxnSpPr>
        <p:spPr>
          <a:xfrm>
            <a:off x="10428276" y="2483733"/>
            <a:ext cx="530273" cy="21772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10653749" y="2701460"/>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7</a:t>
            </a:r>
          </a:p>
        </p:txBody>
      </p:sp>
      <p:cxnSp>
        <p:nvCxnSpPr>
          <p:cNvPr id="52" name="Straight Connector 51"/>
          <p:cNvCxnSpPr>
            <a:stCxn id="49" idx="3"/>
            <a:endCxn id="53" idx="0"/>
          </p:cNvCxnSpPr>
          <p:nvPr/>
        </p:nvCxnSpPr>
        <p:spPr>
          <a:xfrm flipH="1">
            <a:off x="9130983" y="3225896"/>
            <a:ext cx="241051" cy="25239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3" name="Oval 52"/>
          <p:cNvSpPr/>
          <p:nvPr/>
        </p:nvSpPr>
        <p:spPr>
          <a:xfrm>
            <a:off x="8826183" y="3478286"/>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2</a:t>
            </a:r>
          </a:p>
        </p:txBody>
      </p:sp>
      <p:cxnSp>
        <p:nvCxnSpPr>
          <p:cNvPr id="54" name="Straight Connector 53"/>
          <p:cNvCxnSpPr>
            <a:stCxn id="49" idx="5"/>
            <a:endCxn id="55" idx="0"/>
          </p:cNvCxnSpPr>
          <p:nvPr/>
        </p:nvCxnSpPr>
        <p:spPr>
          <a:xfrm>
            <a:off x="9803086" y="3225896"/>
            <a:ext cx="280402" cy="27454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5" name="Oval 54"/>
          <p:cNvSpPr/>
          <p:nvPr/>
        </p:nvSpPr>
        <p:spPr>
          <a:xfrm>
            <a:off x="9778688" y="3500444"/>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1</a:t>
            </a:r>
          </a:p>
        </p:txBody>
      </p:sp>
      <p:sp>
        <p:nvSpPr>
          <p:cNvPr id="57" name="TextBox 56"/>
          <p:cNvSpPr txBox="1"/>
          <p:nvPr/>
        </p:nvSpPr>
        <p:spPr>
          <a:xfrm>
            <a:off x="9664921" y="1922019"/>
            <a:ext cx="328516" cy="369332"/>
          </a:xfrm>
          <a:prstGeom prst="rect">
            <a:avLst/>
          </a:prstGeom>
          <a:noFill/>
        </p:spPr>
        <p:txBody>
          <a:bodyPr wrap="square" rtlCol="0">
            <a:spAutoFit/>
          </a:bodyPr>
          <a:lstStyle/>
          <a:p>
            <a:r>
              <a:rPr lang="en-US" dirty="0">
                <a:solidFill>
                  <a:schemeClr val="accent2">
                    <a:lumMod val="40000"/>
                    <a:lumOff val="60000"/>
                  </a:schemeClr>
                </a:solidFill>
              </a:rPr>
              <a:t>1</a:t>
            </a:r>
          </a:p>
        </p:txBody>
      </p:sp>
      <p:sp>
        <p:nvSpPr>
          <p:cNvPr id="58" name="TextBox 57"/>
          <p:cNvSpPr txBox="1"/>
          <p:nvPr/>
        </p:nvSpPr>
        <p:spPr>
          <a:xfrm>
            <a:off x="9131521" y="2531619"/>
            <a:ext cx="328516" cy="369332"/>
          </a:xfrm>
          <a:prstGeom prst="rect">
            <a:avLst/>
          </a:prstGeom>
          <a:noFill/>
        </p:spPr>
        <p:txBody>
          <a:bodyPr wrap="square" rtlCol="0">
            <a:spAutoFit/>
          </a:bodyPr>
          <a:lstStyle/>
          <a:p>
            <a:r>
              <a:rPr lang="en-US" dirty="0">
                <a:solidFill>
                  <a:schemeClr val="accent2">
                    <a:lumMod val="40000"/>
                    <a:lumOff val="60000"/>
                  </a:schemeClr>
                </a:solidFill>
              </a:rPr>
              <a:t>2</a:t>
            </a:r>
          </a:p>
        </p:txBody>
      </p:sp>
      <p:sp>
        <p:nvSpPr>
          <p:cNvPr id="59" name="TextBox 58"/>
          <p:cNvSpPr txBox="1"/>
          <p:nvPr/>
        </p:nvSpPr>
        <p:spPr>
          <a:xfrm>
            <a:off x="10493852" y="2539413"/>
            <a:ext cx="301220" cy="369332"/>
          </a:xfrm>
          <a:prstGeom prst="rect">
            <a:avLst/>
          </a:prstGeom>
          <a:noFill/>
        </p:spPr>
        <p:txBody>
          <a:bodyPr wrap="square" rtlCol="0">
            <a:spAutoFit/>
          </a:bodyPr>
          <a:lstStyle/>
          <a:p>
            <a:r>
              <a:rPr lang="en-US" dirty="0">
                <a:solidFill>
                  <a:schemeClr val="accent2">
                    <a:lumMod val="40000"/>
                    <a:lumOff val="60000"/>
                  </a:schemeClr>
                </a:solidFill>
              </a:rPr>
              <a:t>3</a:t>
            </a:r>
          </a:p>
        </p:txBody>
      </p:sp>
      <p:sp>
        <p:nvSpPr>
          <p:cNvPr id="60" name="TextBox 59"/>
          <p:cNvSpPr txBox="1"/>
          <p:nvPr/>
        </p:nvSpPr>
        <p:spPr>
          <a:xfrm>
            <a:off x="8669114" y="3265267"/>
            <a:ext cx="328516" cy="369332"/>
          </a:xfrm>
          <a:prstGeom prst="rect">
            <a:avLst/>
          </a:prstGeom>
          <a:noFill/>
        </p:spPr>
        <p:txBody>
          <a:bodyPr wrap="square" rtlCol="0">
            <a:spAutoFit/>
          </a:bodyPr>
          <a:lstStyle/>
          <a:p>
            <a:r>
              <a:rPr lang="en-US" dirty="0">
                <a:solidFill>
                  <a:schemeClr val="accent2">
                    <a:lumMod val="40000"/>
                    <a:lumOff val="60000"/>
                  </a:schemeClr>
                </a:solidFill>
              </a:rPr>
              <a:t>4</a:t>
            </a:r>
          </a:p>
        </p:txBody>
      </p:sp>
      <p:sp>
        <p:nvSpPr>
          <p:cNvPr id="61" name="TextBox 60"/>
          <p:cNvSpPr txBox="1"/>
          <p:nvPr/>
        </p:nvSpPr>
        <p:spPr>
          <a:xfrm>
            <a:off x="9612437" y="3293619"/>
            <a:ext cx="328516" cy="369332"/>
          </a:xfrm>
          <a:prstGeom prst="rect">
            <a:avLst/>
          </a:prstGeom>
          <a:noFill/>
        </p:spPr>
        <p:txBody>
          <a:bodyPr wrap="square" rtlCol="0">
            <a:spAutoFit/>
          </a:bodyPr>
          <a:lstStyle/>
          <a:p>
            <a:r>
              <a:rPr lang="en-US" dirty="0">
                <a:solidFill>
                  <a:schemeClr val="accent2">
                    <a:lumMod val="40000"/>
                    <a:lumOff val="60000"/>
                  </a:schemeClr>
                </a:solidFill>
              </a:rPr>
              <a:t>5</a:t>
            </a:r>
          </a:p>
        </p:txBody>
      </p:sp>
      <p:graphicFrame>
        <p:nvGraphicFramePr>
          <p:cNvPr id="63" name="Table 62"/>
          <p:cNvGraphicFramePr>
            <a:graphicFrameLocks noGrp="1"/>
          </p:cNvGraphicFramePr>
          <p:nvPr/>
        </p:nvGraphicFramePr>
        <p:xfrm>
          <a:off x="8398368" y="1153766"/>
          <a:ext cx="3291840" cy="457200"/>
        </p:xfrm>
        <a:graphic>
          <a:graphicData uri="http://schemas.openxmlformats.org/drawingml/2006/table">
            <a:tbl>
              <a:tblPr firstRow="1" bandRow="1">
                <a:tableStyleId>{5940675A-B579-460E-94D1-54222C63F5DA}</a:tableStyleId>
              </a:tblPr>
              <a:tblGrid>
                <a:gridCol w="548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1751283045"/>
                    </a:ext>
                  </a:extLst>
                </a:gridCol>
              </a:tblGrid>
              <a:tr h="420564">
                <a:tc>
                  <a:txBody>
                    <a:bodyPr/>
                    <a:lstStyle/>
                    <a:p>
                      <a:pPr algn="ctr"/>
                      <a:r>
                        <a:rPr lang="en-US" sz="240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2</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b="1" dirty="0">
                          <a:solidFill>
                            <a:srgbClr val="A71160"/>
                          </a:solidFill>
                        </a:rPr>
                        <a:t>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bl>
          </a:graphicData>
        </a:graphic>
      </p:graphicFrame>
      <p:sp>
        <p:nvSpPr>
          <p:cNvPr id="4" name="Oval 3"/>
          <p:cNvSpPr/>
          <p:nvPr/>
        </p:nvSpPr>
        <p:spPr>
          <a:xfrm>
            <a:off x="9977717" y="2043953"/>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9363638" y="280146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2315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500"/>
                                        <p:tgtEl>
                                          <p:spTgt spid="3">
                                            <p:txEl>
                                              <p:pRg st="9" end="9"/>
                                            </p:txEl>
                                          </p:spTgt>
                                        </p:tgtEl>
                                      </p:cBhvr>
                                    </p:animEffect>
                                  </p:childTnLst>
                                </p:cTn>
                              </p:par>
                            </p:childTnLst>
                          </p:cTn>
                        </p:par>
                        <p:par>
                          <p:cTn id="44" fill="hold">
                            <p:stCondLst>
                              <p:cond delay="5000"/>
                            </p:stCondLst>
                            <p:childTnLst>
                              <p:par>
                                <p:cTn id="45" presetID="10" presetClass="entr" presetSubtype="0" fill="hold" nodeType="after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ipe(left)">
                                      <p:cBhvr>
                                        <p:cTn id="67" dur="500"/>
                                        <p:tgtEl>
                                          <p:spTgt spid="21"/>
                                        </p:tgtEl>
                                      </p:cBhvr>
                                    </p:animEffect>
                                  </p:childTnLst>
                                </p:cTn>
                              </p:par>
                            </p:childTnLst>
                          </p:cTn>
                        </p:par>
                        <p:par>
                          <p:cTn id="68" fill="hold">
                            <p:stCondLst>
                              <p:cond delay="500"/>
                            </p:stCondLst>
                            <p:childTnLst>
                              <p:par>
                                <p:cTn id="69" presetID="21" presetClass="entr" presetSubtype="1" fill="hold" grpId="0" nodeType="after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wheel(1)">
                                      <p:cBhvr>
                                        <p:cTn id="71" dur="2000"/>
                                        <p:tgtEl>
                                          <p:spTgt spid="31"/>
                                        </p:tgtEl>
                                      </p:cBhvr>
                                    </p:animEffect>
                                  </p:childTnLst>
                                </p:cTn>
                              </p:par>
                              <p:par>
                                <p:cTn id="72" presetID="21" presetClass="entr" presetSubtype="1" fill="hold" grpId="0" nodeType="withEffect">
                                  <p:stCondLst>
                                    <p:cond delay="0"/>
                                  </p:stCondLst>
                                  <p:childTnLst>
                                    <p:set>
                                      <p:cBhvr>
                                        <p:cTn id="73" dur="1" fill="hold">
                                          <p:stCondLst>
                                            <p:cond delay="0"/>
                                          </p:stCondLst>
                                        </p:cTn>
                                        <p:tgtEl>
                                          <p:spTgt spid="4"/>
                                        </p:tgtEl>
                                        <p:attrNameLst>
                                          <p:attrName>style.visibility</p:attrName>
                                        </p:attrNameLst>
                                      </p:cBhvr>
                                      <p:to>
                                        <p:strVal val="visible"/>
                                      </p:to>
                                    </p:set>
                                    <p:animEffect transition="in" filter="wheel(1)">
                                      <p:cBhvr>
                                        <p:cTn id="74" dur="2000"/>
                                        <p:tgtEl>
                                          <p:spTgt spid="4"/>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500"/>
                                        <p:tgtEl>
                                          <p:spTgt spid="2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fade">
                                      <p:cBhvr>
                                        <p:cTn id="84" dur="500"/>
                                        <p:tgtEl>
                                          <p:spTgt spid="23"/>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wipe(left)">
                                      <p:cBhvr>
                                        <p:cTn id="89" dur="500"/>
                                        <p:tgtEl>
                                          <p:spTgt spid="24"/>
                                        </p:tgtEl>
                                      </p:cBhvr>
                                    </p:animEffect>
                                  </p:childTnLst>
                                </p:cTn>
                              </p:par>
                            </p:childTnLst>
                          </p:cTn>
                        </p:par>
                        <p:par>
                          <p:cTn id="90" fill="hold">
                            <p:stCondLst>
                              <p:cond delay="500"/>
                            </p:stCondLst>
                            <p:childTnLst>
                              <p:par>
                                <p:cTn id="91" presetID="42" presetClass="path" presetSubtype="0" accel="50000" decel="50000" fill="hold" grpId="1" nodeType="afterEffect">
                                  <p:stCondLst>
                                    <p:cond delay="0"/>
                                  </p:stCondLst>
                                  <p:childTnLst>
                                    <p:animMotion origin="layout" path="M 6.25E-7 -1.48148E-6 L 0.06185 0.10371 " pathEditMode="relative" rAng="0" ptsTypes="AA">
                                      <p:cBhvr>
                                        <p:cTn id="92" dur="2000" fill="hold"/>
                                        <p:tgtEl>
                                          <p:spTgt spid="4"/>
                                        </p:tgtEl>
                                        <p:attrNameLst>
                                          <p:attrName>ppt_x</p:attrName>
                                          <p:attrName>ppt_y</p:attrName>
                                        </p:attrNameLst>
                                      </p:cBhvr>
                                      <p:rCtr x="3086" y="5185"/>
                                    </p:animMotion>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500"/>
                                        <p:tgtEl>
                                          <p:spTgt spid="26"/>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500"/>
                                        <p:tgtEl>
                                          <p:spTgt spid="28"/>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wipe(left)">
                                      <p:cBhvr>
                                        <p:cTn id="112" dur="500"/>
                                        <p:tgtEl>
                                          <p:spTgt spid="27"/>
                                        </p:tgtEl>
                                      </p:cBhvr>
                                    </p:animEffect>
                                  </p:childTnLst>
                                </p:cTn>
                              </p:par>
                              <p:par>
                                <p:cTn id="113" presetID="21" presetClass="exit" presetSubtype="1" fill="hold" grpId="1" nodeType="withEffect">
                                  <p:stCondLst>
                                    <p:cond delay="0"/>
                                  </p:stCondLst>
                                  <p:childTnLst>
                                    <p:animEffect transition="out" filter="wheel(1)">
                                      <p:cBhvr>
                                        <p:cTn id="114" dur="500"/>
                                        <p:tgtEl>
                                          <p:spTgt spid="31"/>
                                        </p:tgtEl>
                                      </p:cBhvr>
                                    </p:animEffect>
                                    <p:set>
                                      <p:cBhvr>
                                        <p:cTn id="115" dur="1" fill="hold">
                                          <p:stCondLst>
                                            <p:cond delay="499"/>
                                          </p:stCondLst>
                                        </p:cTn>
                                        <p:tgtEl>
                                          <p:spTgt spid="31"/>
                                        </p:tgtEl>
                                        <p:attrNameLst>
                                          <p:attrName>style.visibility</p:attrName>
                                        </p:attrNameLst>
                                      </p:cBhvr>
                                      <p:to>
                                        <p:strVal val="hidden"/>
                                      </p:to>
                                    </p:set>
                                  </p:childTnLst>
                                </p:cTn>
                              </p:par>
                              <p:par>
                                <p:cTn id="116" presetID="21" presetClass="exit" presetSubtype="1" fill="hold" grpId="2" nodeType="withEffect">
                                  <p:stCondLst>
                                    <p:cond delay="0"/>
                                  </p:stCondLst>
                                  <p:childTnLst>
                                    <p:animEffect transition="out" filter="wheel(1)">
                                      <p:cBhvr>
                                        <p:cTn id="117" dur="500"/>
                                        <p:tgtEl>
                                          <p:spTgt spid="4"/>
                                        </p:tgtEl>
                                      </p:cBhvr>
                                    </p:animEffect>
                                    <p:set>
                                      <p:cBhvr>
                                        <p:cTn id="118" dur="1" fill="hold">
                                          <p:stCondLst>
                                            <p:cond delay="499"/>
                                          </p:stCondLst>
                                        </p:cTn>
                                        <p:tgtEl>
                                          <p:spTgt spid="4"/>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50" presetClass="path" presetSubtype="0" accel="50000" decel="50000" fill="hold" grpId="0" nodeType="clickEffect">
                                  <p:stCondLst>
                                    <p:cond delay="0"/>
                                  </p:stCondLst>
                                  <p:childTnLst>
                                    <p:animMotion origin="layout" path="M -2.08333E-7 2.59259E-6 L 0.0306 2.59259E-6 C 0.04427 2.59259E-6 0.06133 0.0287 0.06133 0.05231 L 0.06133 0.10486 " pathEditMode="relative" rAng="0" ptsTypes="AAAA">
                                      <p:cBhvr>
                                        <p:cTn id="122" dur="2000" fill="hold"/>
                                        <p:tgtEl>
                                          <p:spTgt spid="47"/>
                                        </p:tgtEl>
                                        <p:attrNameLst>
                                          <p:attrName>ppt_x</p:attrName>
                                          <p:attrName>ppt_y</p:attrName>
                                        </p:attrNameLst>
                                      </p:cBhvr>
                                      <p:rCtr x="3060" y="5231"/>
                                    </p:animMotion>
                                  </p:childTnLst>
                                </p:cTn>
                              </p:par>
                            </p:childTnLst>
                          </p:cTn>
                        </p:par>
                        <p:par>
                          <p:cTn id="123" fill="hold">
                            <p:stCondLst>
                              <p:cond delay="2000"/>
                            </p:stCondLst>
                            <p:childTnLst>
                              <p:par>
                                <p:cTn id="124" presetID="50" presetClass="path" presetSubtype="0" accel="50000" decel="50000" fill="hold" grpId="0" nodeType="afterEffect">
                                  <p:stCondLst>
                                    <p:cond delay="0"/>
                                  </p:stCondLst>
                                  <p:childTnLst>
                                    <p:animMotion origin="layout" path="M 0.00013 -0.00069 L -0.03021 -0.00069 C -0.04375 -0.00069 -0.06042 -0.02916 -0.06042 -0.05208 L -0.06042 -0.10324 " pathEditMode="relative" rAng="0" ptsTypes="AAAA">
                                      <p:cBhvr>
                                        <p:cTn id="125" dur="2000" fill="hold"/>
                                        <p:tgtEl>
                                          <p:spTgt spid="51"/>
                                        </p:tgtEl>
                                        <p:attrNameLst>
                                          <p:attrName>ppt_x</p:attrName>
                                          <p:attrName>ppt_y</p:attrName>
                                        </p:attrNameLst>
                                      </p:cBhvr>
                                      <p:rCtr x="-3034" y="-51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2" grpId="0" animBg="1"/>
      <p:bldP spid="23" grpId="0" animBg="1"/>
      <p:bldP spid="25" grpId="0" animBg="1"/>
      <p:bldP spid="26" grpId="0" animBg="1"/>
      <p:bldP spid="28" grpId="0" animBg="1"/>
      <p:bldP spid="47" grpId="0" animBg="1"/>
      <p:bldP spid="51" grpId="0" animBg="1"/>
      <p:bldP spid="4" grpId="0" animBg="1"/>
      <p:bldP spid="4" grpId="1" animBg="1"/>
      <p:bldP spid="4" grpId="2" animBg="1"/>
      <p:bldP spid="31" grpId="0" animBg="1"/>
      <p:bldP spid="31"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 Algorithm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solidFill>
                <a:srgbClr val="424242"/>
              </a:solidFill>
            </p:spPr>
            <p:txBody>
              <a:bodyPr/>
              <a:lstStyle/>
              <a:p>
                <a:pPr marL="0" indent="0">
                  <a:spcBef>
                    <a:spcPts val="600"/>
                  </a:spcBef>
                  <a:buNone/>
                </a:pPr>
                <a:r>
                  <a:rPr lang="en-IN" b="1" dirty="0">
                    <a:solidFill>
                      <a:schemeClr val="tx2">
                        <a:lumMod val="60000"/>
                        <a:lumOff val="40000"/>
                      </a:schemeClr>
                    </a:solidFill>
                    <a:latin typeface="Consolas" pitchFamily="49" charset="0"/>
                    <a:cs typeface="Consolas" pitchFamily="49" charset="0"/>
                  </a:rPr>
                  <a:t># Input: Array A</a:t>
                </a:r>
              </a:p>
              <a:p>
                <a:pPr marL="0" indent="0">
                  <a:spcBef>
                    <a:spcPts val="600"/>
                  </a:spcBef>
                  <a:buNone/>
                </a:pPr>
                <a:r>
                  <a:rPr lang="en-IN" b="1" dirty="0">
                    <a:solidFill>
                      <a:schemeClr val="tx2">
                        <a:lumMod val="60000"/>
                        <a:lumOff val="40000"/>
                      </a:schemeClr>
                    </a:solidFill>
                    <a:latin typeface="Consolas" pitchFamily="49" charset="0"/>
                    <a:cs typeface="Consolas" pitchFamily="49" charset="0"/>
                  </a:rPr>
                  <a:t># Output: Sorted array A</a:t>
                </a:r>
              </a:p>
              <a:p>
                <a:pPr marL="0" indent="0">
                  <a:spcBef>
                    <a:spcPts val="600"/>
                  </a:spcBef>
                  <a:buNone/>
                </a:pPr>
                <a:endParaRPr lang="en-IN" b="1" dirty="0">
                  <a:solidFill>
                    <a:srgbClr val="FBD9EB"/>
                  </a:solidFill>
                  <a:latin typeface="Consolas" pitchFamily="49" charset="0"/>
                  <a:cs typeface="Consolas" pitchFamily="49" charset="0"/>
                </a:endParaRPr>
              </a:p>
              <a:p>
                <a:pPr marL="0" indent="0">
                  <a:spcBef>
                    <a:spcPts val="600"/>
                  </a:spcBef>
                  <a:buNone/>
                </a:pPr>
                <a:r>
                  <a:rPr lang="en-IN" b="1" dirty="0">
                    <a:solidFill>
                      <a:srgbClr val="FBD9EB"/>
                    </a:solidFill>
                    <a:latin typeface="Consolas" pitchFamily="49" charset="0"/>
                    <a:cs typeface="Consolas" pitchFamily="49" charset="0"/>
                  </a:rPr>
                  <a:t>Algorithm: </a:t>
                </a:r>
                <a:r>
                  <a:rPr lang="en-IN" b="1" dirty="0" err="1">
                    <a:solidFill>
                      <a:srgbClr val="FBD9EB"/>
                    </a:solidFill>
                    <a:latin typeface="Consolas" pitchFamily="49" charset="0"/>
                    <a:cs typeface="Consolas" pitchFamily="49" charset="0"/>
                  </a:rPr>
                  <a:t>Heap_Sort</a:t>
                </a:r>
                <a:r>
                  <a:rPr lang="en-IN" b="1" dirty="0">
                    <a:solidFill>
                      <a:srgbClr val="FBD9EB"/>
                    </a:solidFill>
                    <a:latin typeface="Consolas" pitchFamily="49" charset="0"/>
                    <a:cs typeface="Consolas" pitchFamily="49" charset="0"/>
                  </a:rPr>
                  <a:t>(A[1,…,n])</a:t>
                </a:r>
              </a:p>
              <a:p>
                <a:pPr marL="0" indent="0">
                  <a:spcBef>
                    <a:spcPts val="600"/>
                  </a:spcBef>
                  <a:buNone/>
                </a:pPr>
                <a:r>
                  <a:rPr lang="en-US" b="1" dirty="0">
                    <a:solidFill>
                      <a:srgbClr val="92D050"/>
                    </a:solidFill>
                    <a:latin typeface="Consolas" pitchFamily="49" charset="0"/>
                    <a:cs typeface="Consolas" pitchFamily="49" charset="0"/>
                  </a:rPr>
                  <a:t>	BUILD-MAX-HEAP(A)</a:t>
                </a:r>
              </a:p>
              <a:p>
                <a:pPr marL="0" indent="0">
                  <a:spcBef>
                    <a:spcPts val="600"/>
                  </a:spcBef>
                  <a:buNone/>
                </a:pPr>
                <a:r>
                  <a:rPr lang="en-US" b="1" dirty="0">
                    <a:solidFill>
                      <a:srgbClr val="92D050"/>
                    </a:solidFill>
                    <a:latin typeface="Consolas" pitchFamily="49" charset="0"/>
                    <a:cs typeface="Consolas" pitchFamily="49" charset="0"/>
                  </a:rPr>
                  <a:t>	</a:t>
                </a:r>
                <a:r>
                  <a:rPr lang="en-US" b="1" dirty="0">
                    <a:solidFill>
                      <a:srgbClr val="FBD9EB"/>
                    </a:solidFill>
                    <a:latin typeface="Consolas" pitchFamily="49" charset="0"/>
                    <a:cs typeface="Consolas" pitchFamily="49" charset="0"/>
                  </a:rPr>
                  <a:t>for </a:t>
                </a:r>
                <a:r>
                  <a:rPr lang="en-US" b="1" dirty="0" err="1">
                    <a:solidFill>
                      <a:srgbClr val="FBD9EB"/>
                    </a:solidFill>
                    <a:latin typeface="Consolas" pitchFamily="49" charset="0"/>
                    <a:cs typeface="Consolas" pitchFamily="49" charset="0"/>
                  </a:rPr>
                  <a:t>i</a:t>
                </a:r>
                <a:r>
                  <a:rPr lang="en-US" b="1" dirty="0">
                    <a:solidFill>
                      <a:srgbClr val="FBD9EB"/>
                    </a:solidFill>
                    <a:latin typeface="Consolas" pitchFamily="49" charset="0"/>
                    <a:cs typeface="Consolas" pitchFamily="49" charset="0"/>
                  </a:rPr>
                  <a:t> </a:t>
                </a:r>
                <a14:m>
                  <m:oMath xmlns:m="http://schemas.openxmlformats.org/officeDocument/2006/math">
                    <m:r>
                      <a:rPr lang="en-US" b="1" i="1" dirty="0">
                        <a:solidFill>
                          <a:srgbClr val="FBD9EB"/>
                        </a:solidFill>
                        <a:latin typeface="Cambria Math" panose="02040503050406030204" pitchFamily="18" charset="0"/>
                        <a:cs typeface="Consolas" pitchFamily="49" charset="0"/>
                      </a:rPr>
                      <m:t>←</m:t>
                    </m:r>
                  </m:oMath>
                </a14:m>
                <a:r>
                  <a:rPr lang="en-US" b="1" dirty="0">
                    <a:solidFill>
                      <a:srgbClr val="FBD9EB"/>
                    </a:solidFill>
                    <a:latin typeface="Consolas" pitchFamily="49" charset="0"/>
                    <a:cs typeface="Consolas" pitchFamily="49" charset="0"/>
                  </a:rPr>
                  <a:t> length[A] </a:t>
                </a:r>
                <a:r>
                  <a:rPr lang="en-US" b="1" dirty="0" err="1">
                    <a:solidFill>
                      <a:srgbClr val="FBD9EB"/>
                    </a:solidFill>
                    <a:latin typeface="Consolas" pitchFamily="49" charset="0"/>
                    <a:cs typeface="Consolas" pitchFamily="49" charset="0"/>
                  </a:rPr>
                  <a:t>downto</a:t>
                </a:r>
                <a:r>
                  <a:rPr lang="en-US" b="1" dirty="0">
                    <a:solidFill>
                      <a:srgbClr val="FBD9EB"/>
                    </a:solidFill>
                    <a:latin typeface="Consolas" pitchFamily="49" charset="0"/>
                    <a:cs typeface="Consolas" pitchFamily="49" charset="0"/>
                  </a:rPr>
                  <a:t> 2</a:t>
                </a:r>
              </a:p>
              <a:p>
                <a:pPr marL="0" indent="0">
                  <a:spcBef>
                    <a:spcPts val="600"/>
                  </a:spcBef>
                  <a:buNone/>
                </a:pPr>
                <a:r>
                  <a:rPr lang="en-US" b="1" dirty="0">
                    <a:solidFill>
                      <a:srgbClr val="FBD9EB"/>
                    </a:solidFill>
                    <a:latin typeface="Consolas" pitchFamily="49" charset="0"/>
                    <a:cs typeface="Consolas" pitchFamily="49" charset="0"/>
                  </a:rPr>
                  <a:t>		do exchange A[1] </a:t>
                </a:r>
                <a14:m>
                  <m:oMath xmlns:m="http://schemas.openxmlformats.org/officeDocument/2006/math">
                    <m:r>
                      <a:rPr lang="en-US" b="1" i="1" dirty="0">
                        <a:solidFill>
                          <a:srgbClr val="FBD9EB"/>
                        </a:solidFill>
                        <a:latin typeface="Cambria Math" panose="02040503050406030204" pitchFamily="18" charset="0"/>
                        <a:cs typeface="Consolas" pitchFamily="49" charset="0"/>
                      </a:rPr>
                      <m:t>↔</m:t>
                    </m:r>
                  </m:oMath>
                </a14:m>
                <a:r>
                  <a:rPr lang="en-US" b="1" dirty="0">
                    <a:solidFill>
                      <a:srgbClr val="FBD9EB"/>
                    </a:solidFill>
                    <a:latin typeface="Consolas" pitchFamily="49" charset="0"/>
                    <a:cs typeface="Consolas" pitchFamily="49" charset="0"/>
                  </a:rPr>
                  <a:t> A[</a:t>
                </a:r>
                <a:r>
                  <a:rPr lang="en-US" b="1" dirty="0" err="1">
                    <a:solidFill>
                      <a:srgbClr val="FBD9EB"/>
                    </a:solidFill>
                    <a:latin typeface="Consolas" pitchFamily="49" charset="0"/>
                    <a:cs typeface="Consolas" pitchFamily="49" charset="0"/>
                  </a:rPr>
                  <a:t>i</a:t>
                </a:r>
                <a:r>
                  <a:rPr lang="en-US" b="1" dirty="0">
                    <a:solidFill>
                      <a:srgbClr val="FBD9EB"/>
                    </a:solidFill>
                    <a:latin typeface="Consolas" pitchFamily="49" charset="0"/>
                    <a:cs typeface="Consolas" pitchFamily="49" charset="0"/>
                  </a:rPr>
                  <a:t>]</a:t>
                </a:r>
              </a:p>
              <a:p>
                <a:pPr marL="0" indent="0">
                  <a:spcBef>
                    <a:spcPts val="600"/>
                  </a:spcBef>
                  <a:buNone/>
                </a:pPr>
                <a:r>
                  <a:rPr lang="en-US" b="1" dirty="0">
                    <a:solidFill>
                      <a:srgbClr val="FBD9EB"/>
                    </a:solidFill>
                    <a:latin typeface="Consolas" pitchFamily="49" charset="0"/>
                    <a:cs typeface="Consolas" pitchFamily="49" charset="0"/>
                  </a:rPr>
                  <a:t>		heap-size[A] </a:t>
                </a:r>
                <a14:m>
                  <m:oMath xmlns:m="http://schemas.openxmlformats.org/officeDocument/2006/math">
                    <m:r>
                      <a:rPr lang="en-US" b="1" i="1" dirty="0">
                        <a:solidFill>
                          <a:srgbClr val="FBD9EB"/>
                        </a:solidFill>
                        <a:latin typeface="Cambria Math" panose="02040503050406030204" pitchFamily="18" charset="0"/>
                        <a:cs typeface="Consolas" pitchFamily="49" charset="0"/>
                      </a:rPr>
                      <m:t>←</m:t>
                    </m:r>
                  </m:oMath>
                </a14:m>
                <a:r>
                  <a:rPr lang="en-US" b="1" dirty="0">
                    <a:solidFill>
                      <a:srgbClr val="FBD9EB"/>
                    </a:solidFill>
                    <a:latin typeface="Consolas" pitchFamily="49" charset="0"/>
                    <a:cs typeface="Consolas" pitchFamily="49" charset="0"/>
                  </a:rPr>
                  <a:t> heap-size[A] – 1</a:t>
                </a:r>
              </a:p>
              <a:p>
                <a:pPr marL="0" indent="0">
                  <a:spcBef>
                    <a:spcPts val="600"/>
                  </a:spcBef>
                  <a:buNone/>
                </a:pPr>
                <a:r>
                  <a:rPr lang="en-US" b="1" dirty="0">
                    <a:solidFill>
                      <a:srgbClr val="FBD9EB"/>
                    </a:solidFill>
                    <a:latin typeface="Consolas" pitchFamily="49" charset="0"/>
                    <a:cs typeface="Consolas" pitchFamily="49" charset="0"/>
                  </a:rPr>
                  <a:t>		</a:t>
                </a:r>
                <a:r>
                  <a:rPr lang="en-US" b="1" dirty="0">
                    <a:solidFill>
                      <a:schemeClr val="accent5"/>
                    </a:solidFill>
                    <a:latin typeface="Consolas" pitchFamily="49" charset="0"/>
                    <a:cs typeface="Consolas" pitchFamily="49" charset="0"/>
                  </a:rPr>
                  <a:t>MAX-HEAPIFY(A, 1, n)</a:t>
                </a:r>
              </a:p>
              <a:p>
                <a:pPr marL="0" indent="0">
                  <a:spcBef>
                    <a:spcPts val="600"/>
                  </a:spcBef>
                  <a:buNone/>
                </a:pPr>
                <a:endParaRPr lang="en-IN" dirty="0">
                  <a:solidFill>
                    <a:schemeClr val="accent5"/>
                  </a:solidFill>
                  <a:latin typeface="Consolas" pitchFamily="49" charset="0"/>
                  <a:cs typeface="Consolas" pitchFamily="49"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18" t="-1527"/>
                </a:stretch>
              </a:blipFill>
            </p:spPr>
            <p:txBody>
              <a:bodyPr/>
              <a:lstStyle/>
              <a:p>
                <a:r>
                  <a:rPr lang="en-US">
                    <a:noFill/>
                  </a:rPr>
                  <a:t> </a:t>
                </a:r>
              </a:p>
            </p:txBody>
          </p:sp>
        </mc:Fallback>
      </mc:AlternateContent>
      <p:sp>
        <p:nvSpPr>
          <p:cNvPr id="47" name="Oval 46"/>
          <p:cNvSpPr/>
          <p:nvPr/>
        </p:nvSpPr>
        <p:spPr>
          <a:xfrm>
            <a:off x="9907950" y="1990948"/>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7</a:t>
            </a:r>
          </a:p>
        </p:txBody>
      </p:sp>
      <p:cxnSp>
        <p:nvCxnSpPr>
          <p:cNvPr id="48" name="Straight Connector 47"/>
          <p:cNvCxnSpPr>
            <a:stCxn id="47" idx="3"/>
            <a:endCxn id="49" idx="0"/>
          </p:cNvCxnSpPr>
          <p:nvPr/>
        </p:nvCxnSpPr>
        <p:spPr>
          <a:xfrm flipH="1">
            <a:off x="9587560" y="2483733"/>
            <a:ext cx="409664" cy="24937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9" name="Oval 48"/>
          <p:cNvSpPr/>
          <p:nvPr/>
        </p:nvSpPr>
        <p:spPr>
          <a:xfrm>
            <a:off x="9282760" y="2733111"/>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4</a:t>
            </a:r>
          </a:p>
        </p:txBody>
      </p:sp>
      <p:cxnSp>
        <p:nvCxnSpPr>
          <p:cNvPr id="50" name="Straight Connector 49"/>
          <p:cNvCxnSpPr>
            <a:stCxn id="47" idx="5"/>
            <a:endCxn id="51" idx="0"/>
          </p:cNvCxnSpPr>
          <p:nvPr/>
        </p:nvCxnSpPr>
        <p:spPr>
          <a:xfrm>
            <a:off x="10428276" y="2483733"/>
            <a:ext cx="530273" cy="21772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10653749" y="2701460"/>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3</a:t>
            </a:r>
          </a:p>
        </p:txBody>
      </p:sp>
      <p:cxnSp>
        <p:nvCxnSpPr>
          <p:cNvPr id="52" name="Straight Connector 51"/>
          <p:cNvCxnSpPr>
            <a:stCxn id="49" idx="3"/>
            <a:endCxn id="53" idx="0"/>
          </p:cNvCxnSpPr>
          <p:nvPr/>
        </p:nvCxnSpPr>
        <p:spPr>
          <a:xfrm flipH="1">
            <a:off x="9130983" y="3225896"/>
            <a:ext cx="241051" cy="25239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3" name="Oval 52"/>
          <p:cNvSpPr/>
          <p:nvPr/>
        </p:nvSpPr>
        <p:spPr>
          <a:xfrm>
            <a:off x="8826183" y="3478286"/>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2</a:t>
            </a:r>
          </a:p>
        </p:txBody>
      </p:sp>
      <p:cxnSp>
        <p:nvCxnSpPr>
          <p:cNvPr id="54" name="Straight Connector 53"/>
          <p:cNvCxnSpPr>
            <a:stCxn id="49" idx="5"/>
            <a:endCxn id="55" idx="0"/>
          </p:cNvCxnSpPr>
          <p:nvPr/>
        </p:nvCxnSpPr>
        <p:spPr>
          <a:xfrm>
            <a:off x="9803086" y="3225896"/>
            <a:ext cx="280402" cy="27454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5" name="Oval 54"/>
          <p:cNvSpPr/>
          <p:nvPr/>
        </p:nvSpPr>
        <p:spPr>
          <a:xfrm>
            <a:off x="9778688" y="3500444"/>
            <a:ext cx="609600" cy="577333"/>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71160"/>
                </a:solidFill>
              </a:rPr>
              <a:t>1</a:t>
            </a:r>
          </a:p>
        </p:txBody>
      </p:sp>
      <p:sp>
        <p:nvSpPr>
          <p:cNvPr id="57" name="TextBox 56"/>
          <p:cNvSpPr txBox="1"/>
          <p:nvPr/>
        </p:nvSpPr>
        <p:spPr>
          <a:xfrm>
            <a:off x="9664921" y="1922019"/>
            <a:ext cx="328516" cy="369332"/>
          </a:xfrm>
          <a:prstGeom prst="rect">
            <a:avLst/>
          </a:prstGeom>
          <a:noFill/>
        </p:spPr>
        <p:txBody>
          <a:bodyPr wrap="square" rtlCol="0">
            <a:spAutoFit/>
          </a:bodyPr>
          <a:lstStyle/>
          <a:p>
            <a:r>
              <a:rPr lang="en-US" dirty="0">
                <a:solidFill>
                  <a:schemeClr val="accent2">
                    <a:lumMod val="40000"/>
                    <a:lumOff val="60000"/>
                  </a:schemeClr>
                </a:solidFill>
              </a:rPr>
              <a:t>1</a:t>
            </a:r>
          </a:p>
        </p:txBody>
      </p:sp>
      <p:sp>
        <p:nvSpPr>
          <p:cNvPr id="58" name="TextBox 57"/>
          <p:cNvSpPr txBox="1"/>
          <p:nvPr/>
        </p:nvSpPr>
        <p:spPr>
          <a:xfrm>
            <a:off x="9131521" y="2531619"/>
            <a:ext cx="328516" cy="369332"/>
          </a:xfrm>
          <a:prstGeom prst="rect">
            <a:avLst/>
          </a:prstGeom>
          <a:noFill/>
        </p:spPr>
        <p:txBody>
          <a:bodyPr wrap="square" rtlCol="0">
            <a:spAutoFit/>
          </a:bodyPr>
          <a:lstStyle/>
          <a:p>
            <a:r>
              <a:rPr lang="en-US" dirty="0">
                <a:solidFill>
                  <a:schemeClr val="accent2">
                    <a:lumMod val="40000"/>
                    <a:lumOff val="60000"/>
                  </a:schemeClr>
                </a:solidFill>
              </a:rPr>
              <a:t>2</a:t>
            </a:r>
          </a:p>
        </p:txBody>
      </p:sp>
      <p:sp>
        <p:nvSpPr>
          <p:cNvPr id="59" name="TextBox 58"/>
          <p:cNvSpPr txBox="1"/>
          <p:nvPr/>
        </p:nvSpPr>
        <p:spPr>
          <a:xfrm>
            <a:off x="10493852" y="2539413"/>
            <a:ext cx="301220" cy="369332"/>
          </a:xfrm>
          <a:prstGeom prst="rect">
            <a:avLst/>
          </a:prstGeom>
          <a:noFill/>
        </p:spPr>
        <p:txBody>
          <a:bodyPr wrap="square" rtlCol="0">
            <a:spAutoFit/>
          </a:bodyPr>
          <a:lstStyle/>
          <a:p>
            <a:r>
              <a:rPr lang="en-US" dirty="0">
                <a:solidFill>
                  <a:schemeClr val="accent2">
                    <a:lumMod val="40000"/>
                    <a:lumOff val="60000"/>
                  </a:schemeClr>
                </a:solidFill>
              </a:rPr>
              <a:t>3</a:t>
            </a:r>
          </a:p>
        </p:txBody>
      </p:sp>
      <p:sp>
        <p:nvSpPr>
          <p:cNvPr id="60" name="TextBox 59"/>
          <p:cNvSpPr txBox="1"/>
          <p:nvPr/>
        </p:nvSpPr>
        <p:spPr>
          <a:xfrm>
            <a:off x="8669114" y="3265267"/>
            <a:ext cx="328516" cy="369332"/>
          </a:xfrm>
          <a:prstGeom prst="rect">
            <a:avLst/>
          </a:prstGeom>
          <a:noFill/>
        </p:spPr>
        <p:txBody>
          <a:bodyPr wrap="square" rtlCol="0">
            <a:spAutoFit/>
          </a:bodyPr>
          <a:lstStyle/>
          <a:p>
            <a:r>
              <a:rPr lang="en-US" dirty="0">
                <a:solidFill>
                  <a:schemeClr val="accent2">
                    <a:lumMod val="40000"/>
                    <a:lumOff val="60000"/>
                  </a:schemeClr>
                </a:solidFill>
              </a:rPr>
              <a:t>4</a:t>
            </a:r>
          </a:p>
        </p:txBody>
      </p:sp>
      <p:sp>
        <p:nvSpPr>
          <p:cNvPr id="61" name="TextBox 60"/>
          <p:cNvSpPr txBox="1"/>
          <p:nvPr/>
        </p:nvSpPr>
        <p:spPr>
          <a:xfrm>
            <a:off x="9612437" y="3293619"/>
            <a:ext cx="328516" cy="369332"/>
          </a:xfrm>
          <a:prstGeom prst="rect">
            <a:avLst/>
          </a:prstGeom>
          <a:noFill/>
        </p:spPr>
        <p:txBody>
          <a:bodyPr wrap="square" rtlCol="0">
            <a:spAutoFit/>
          </a:bodyPr>
          <a:lstStyle/>
          <a:p>
            <a:r>
              <a:rPr lang="en-US" dirty="0">
                <a:solidFill>
                  <a:schemeClr val="accent2">
                    <a:lumMod val="40000"/>
                    <a:lumOff val="60000"/>
                  </a:schemeClr>
                </a:solidFill>
              </a:rPr>
              <a:t>5</a:t>
            </a:r>
          </a:p>
        </p:txBody>
      </p:sp>
      <p:graphicFrame>
        <p:nvGraphicFramePr>
          <p:cNvPr id="63" name="Table 62"/>
          <p:cNvGraphicFramePr>
            <a:graphicFrameLocks noGrp="1"/>
          </p:cNvGraphicFramePr>
          <p:nvPr/>
        </p:nvGraphicFramePr>
        <p:xfrm>
          <a:off x="8398368" y="1153766"/>
          <a:ext cx="3291840" cy="457200"/>
        </p:xfrm>
        <a:graphic>
          <a:graphicData uri="http://schemas.openxmlformats.org/drawingml/2006/table">
            <a:tbl>
              <a:tblPr firstRow="1" bandRow="1">
                <a:tableStyleId>{5940675A-B579-460E-94D1-54222C63F5DA}</a:tableStyleId>
              </a:tblPr>
              <a:tblGrid>
                <a:gridCol w="548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1751283045"/>
                    </a:ext>
                  </a:extLst>
                </a:gridCol>
              </a:tblGrid>
              <a:tr h="420564">
                <a:tc>
                  <a:txBody>
                    <a:bodyPr/>
                    <a:lstStyle/>
                    <a:p>
                      <a:pPr algn="ctr"/>
                      <a:r>
                        <a:rPr lang="en-US" sz="2400" dirty="0"/>
                        <a:t>3</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4</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7</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2</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dirty="0"/>
                        <a:t>1</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400" b="1" dirty="0">
                          <a:solidFill>
                            <a:srgbClr val="A71160"/>
                          </a:solidFill>
                        </a:rPr>
                        <a:t>9</a:t>
                      </a:r>
                    </a:p>
                  </a:txBody>
                  <a:tcPr anchor="ct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bl>
          </a:graphicData>
        </a:graphic>
      </p:graphicFrame>
      <p:sp>
        <p:nvSpPr>
          <p:cNvPr id="33" name="Rounded Rectangle 32"/>
          <p:cNvSpPr/>
          <p:nvPr/>
        </p:nvSpPr>
        <p:spPr>
          <a:xfrm>
            <a:off x="1014612" y="2834127"/>
            <a:ext cx="4673494" cy="457200"/>
          </a:xfrm>
          <a:prstGeom prst="roundRect">
            <a:avLst/>
          </a:prstGeom>
          <a:noFill/>
          <a:ln w="1905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9077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heel(1)">
                                      <p:cBhvr>
                                        <p:cTn id="7" dur="20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grpId="1" nodeType="clickEffect">
                                  <p:stCondLst>
                                    <p:cond delay="0"/>
                                  </p:stCondLst>
                                  <p:childTnLst>
                                    <p:animMotion origin="layout" path="M 2.08333E-7 2.22222E-6 L 0.05273 0.06528 " pathEditMode="relative" rAng="0" ptsTypes="AA">
                                      <p:cBhvr>
                                        <p:cTn id="11" dur="2000" fill="hold"/>
                                        <p:tgtEl>
                                          <p:spTgt spid="33"/>
                                        </p:tgtEl>
                                        <p:attrNameLst>
                                          <p:attrName>ppt_x</p:attrName>
                                          <p:attrName>ppt_y</p:attrName>
                                        </p:attrNameLst>
                                      </p:cBhvr>
                                      <p:rCtr x="2630" y="326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3"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Algorithm – Analysis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solidFill>
                <a:srgbClr val="424242"/>
              </a:solidFill>
            </p:spPr>
            <p:txBody>
              <a:bodyPr/>
              <a:lstStyle/>
              <a:p>
                <a:pPr marL="0" indent="0">
                  <a:spcBef>
                    <a:spcPts val="600"/>
                  </a:spcBef>
                  <a:buNone/>
                </a:pPr>
                <a:r>
                  <a:rPr lang="en-IN" b="1" dirty="0">
                    <a:solidFill>
                      <a:schemeClr val="tx2">
                        <a:lumMod val="60000"/>
                        <a:lumOff val="40000"/>
                      </a:schemeClr>
                    </a:solidFill>
                    <a:latin typeface="Consolas" pitchFamily="49" charset="0"/>
                    <a:cs typeface="Consolas" pitchFamily="49" charset="0"/>
                  </a:rPr>
                  <a:t># Input: Array A</a:t>
                </a:r>
              </a:p>
              <a:p>
                <a:pPr marL="0" indent="0">
                  <a:spcBef>
                    <a:spcPts val="600"/>
                  </a:spcBef>
                  <a:buNone/>
                </a:pPr>
                <a:r>
                  <a:rPr lang="en-IN" b="1" dirty="0">
                    <a:solidFill>
                      <a:schemeClr val="tx2">
                        <a:lumMod val="60000"/>
                        <a:lumOff val="40000"/>
                      </a:schemeClr>
                    </a:solidFill>
                    <a:latin typeface="Consolas" pitchFamily="49" charset="0"/>
                    <a:cs typeface="Consolas" pitchFamily="49" charset="0"/>
                  </a:rPr>
                  <a:t># Output: Sorted array A</a:t>
                </a:r>
              </a:p>
              <a:p>
                <a:pPr marL="0" indent="0">
                  <a:spcBef>
                    <a:spcPts val="600"/>
                  </a:spcBef>
                  <a:buNone/>
                </a:pPr>
                <a:endParaRPr lang="en-IN" b="1" dirty="0">
                  <a:solidFill>
                    <a:srgbClr val="FBD9EB"/>
                  </a:solidFill>
                  <a:latin typeface="Consolas" pitchFamily="49" charset="0"/>
                  <a:cs typeface="Consolas" pitchFamily="49" charset="0"/>
                </a:endParaRPr>
              </a:p>
              <a:p>
                <a:pPr marL="0" indent="0">
                  <a:spcBef>
                    <a:spcPts val="600"/>
                  </a:spcBef>
                  <a:buNone/>
                </a:pPr>
                <a:r>
                  <a:rPr lang="en-IN" b="1" dirty="0">
                    <a:solidFill>
                      <a:srgbClr val="FBD9EB"/>
                    </a:solidFill>
                    <a:latin typeface="Consolas" pitchFamily="49" charset="0"/>
                    <a:cs typeface="Consolas" pitchFamily="49" charset="0"/>
                  </a:rPr>
                  <a:t>Algorithm: </a:t>
                </a:r>
                <a:r>
                  <a:rPr lang="en-IN" b="1" dirty="0" err="1">
                    <a:solidFill>
                      <a:srgbClr val="FBD9EB"/>
                    </a:solidFill>
                    <a:latin typeface="Consolas" pitchFamily="49" charset="0"/>
                    <a:cs typeface="Consolas" pitchFamily="49" charset="0"/>
                  </a:rPr>
                  <a:t>Heap_Sort</a:t>
                </a:r>
                <a:r>
                  <a:rPr lang="en-IN" b="1" dirty="0">
                    <a:solidFill>
                      <a:srgbClr val="FBD9EB"/>
                    </a:solidFill>
                    <a:latin typeface="Consolas" pitchFamily="49" charset="0"/>
                    <a:cs typeface="Consolas" pitchFamily="49" charset="0"/>
                  </a:rPr>
                  <a:t>(A[1,…,n])</a:t>
                </a:r>
              </a:p>
              <a:p>
                <a:pPr marL="0" indent="0">
                  <a:spcBef>
                    <a:spcPts val="600"/>
                  </a:spcBef>
                  <a:buNone/>
                </a:pPr>
                <a:r>
                  <a:rPr lang="en-US" b="1" dirty="0">
                    <a:solidFill>
                      <a:srgbClr val="92D050"/>
                    </a:solidFill>
                    <a:latin typeface="Consolas" pitchFamily="49" charset="0"/>
                    <a:cs typeface="Consolas" pitchFamily="49" charset="0"/>
                  </a:rPr>
                  <a:t>	BUILD-MAX-HEAP(A)</a:t>
                </a:r>
              </a:p>
              <a:p>
                <a:pPr marL="0" indent="0">
                  <a:spcBef>
                    <a:spcPts val="600"/>
                  </a:spcBef>
                  <a:buNone/>
                </a:pPr>
                <a:r>
                  <a:rPr lang="en-US" b="1" dirty="0">
                    <a:solidFill>
                      <a:srgbClr val="92D050"/>
                    </a:solidFill>
                    <a:latin typeface="Consolas" pitchFamily="49" charset="0"/>
                    <a:cs typeface="Consolas" pitchFamily="49" charset="0"/>
                  </a:rPr>
                  <a:t>	</a:t>
                </a:r>
                <a:r>
                  <a:rPr lang="en-US" b="1" dirty="0">
                    <a:solidFill>
                      <a:srgbClr val="FBD9EB"/>
                    </a:solidFill>
                    <a:latin typeface="Consolas" pitchFamily="49" charset="0"/>
                    <a:cs typeface="Consolas" pitchFamily="49" charset="0"/>
                  </a:rPr>
                  <a:t>for </a:t>
                </a:r>
                <a:r>
                  <a:rPr lang="en-US" b="1" dirty="0" err="1">
                    <a:solidFill>
                      <a:srgbClr val="FBD9EB"/>
                    </a:solidFill>
                    <a:latin typeface="Consolas" pitchFamily="49" charset="0"/>
                    <a:cs typeface="Consolas" pitchFamily="49" charset="0"/>
                  </a:rPr>
                  <a:t>i</a:t>
                </a:r>
                <a:r>
                  <a:rPr lang="en-US" b="1" dirty="0">
                    <a:solidFill>
                      <a:srgbClr val="FBD9EB"/>
                    </a:solidFill>
                    <a:latin typeface="Consolas" pitchFamily="49" charset="0"/>
                    <a:cs typeface="Consolas" pitchFamily="49" charset="0"/>
                  </a:rPr>
                  <a:t> </a:t>
                </a:r>
                <a14:m>
                  <m:oMath xmlns:m="http://schemas.openxmlformats.org/officeDocument/2006/math">
                    <m:r>
                      <a:rPr lang="en-US" b="1" i="1" dirty="0">
                        <a:solidFill>
                          <a:srgbClr val="FBD9EB"/>
                        </a:solidFill>
                        <a:latin typeface="Cambria Math" panose="02040503050406030204" pitchFamily="18" charset="0"/>
                        <a:cs typeface="Consolas" pitchFamily="49" charset="0"/>
                      </a:rPr>
                      <m:t>←</m:t>
                    </m:r>
                  </m:oMath>
                </a14:m>
                <a:r>
                  <a:rPr lang="en-US" b="1" dirty="0">
                    <a:solidFill>
                      <a:srgbClr val="FBD9EB"/>
                    </a:solidFill>
                    <a:latin typeface="Consolas" pitchFamily="49" charset="0"/>
                    <a:cs typeface="Consolas" pitchFamily="49" charset="0"/>
                  </a:rPr>
                  <a:t> length[A] </a:t>
                </a:r>
                <a:r>
                  <a:rPr lang="en-US" b="1" dirty="0" err="1">
                    <a:solidFill>
                      <a:srgbClr val="FBD9EB"/>
                    </a:solidFill>
                    <a:latin typeface="Consolas" pitchFamily="49" charset="0"/>
                    <a:cs typeface="Consolas" pitchFamily="49" charset="0"/>
                  </a:rPr>
                  <a:t>downto</a:t>
                </a:r>
                <a:r>
                  <a:rPr lang="en-US" b="1" dirty="0">
                    <a:solidFill>
                      <a:srgbClr val="FBD9EB"/>
                    </a:solidFill>
                    <a:latin typeface="Consolas" pitchFamily="49" charset="0"/>
                    <a:cs typeface="Consolas" pitchFamily="49" charset="0"/>
                  </a:rPr>
                  <a:t> 2</a:t>
                </a:r>
              </a:p>
              <a:p>
                <a:pPr marL="0" indent="0">
                  <a:spcBef>
                    <a:spcPts val="600"/>
                  </a:spcBef>
                  <a:buNone/>
                </a:pPr>
                <a:r>
                  <a:rPr lang="en-US" b="1" dirty="0">
                    <a:solidFill>
                      <a:srgbClr val="FBD9EB"/>
                    </a:solidFill>
                    <a:latin typeface="Consolas" pitchFamily="49" charset="0"/>
                    <a:cs typeface="Consolas" pitchFamily="49" charset="0"/>
                  </a:rPr>
                  <a:t>		do exchange A[1] </a:t>
                </a:r>
                <a14:m>
                  <m:oMath xmlns:m="http://schemas.openxmlformats.org/officeDocument/2006/math">
                    <m:r>
                      <a:rPr lang="en-US" b="1" i="1" dirty="0">
                        <a:solidFill>
                          <a:srgbClr val="FBD9EB"/>
                        </a:solidFill>
                        <a:latin typeface="Cambria Math" panose="02040503050406030204" pitchFamily="18" charset="0"/>
                        <a:cs typeface="Consolas" pitchFamily="49" charset="0"/>
                      </a:rPr>
                      <m:t>↔</m:t>
                    </m:r>
                  </m:oMath>
                </a14:m>
                <a:r>
                  <a:rPr lang="en-US" b="1" dirty="0">
                    <a:solidFill>
                      <a:srgbClr val="FBD9EB"/>
                    </a:solidFill>
                    <a:latin typeface="Consolas" pitchFamily="49" charset="0"/>
                    <a:cs typeface="Consolas" pitchFamily="49" charset="0"/>
                  </a:rPr>
                  <a:t> A[</a:t>
                </a:r>
                <a:r>
                  <a:rPr lang="en-US" b="1" dirty="0" err="1">
                    <a:solidFill>
                      <a:srgbClr val="FBD9EB"/>
                    </a:solidFill>
                    <a:latin typeface="Consolas" pitchFamily="49" charset="0"/>
                    <a:cs typeface="Consolas" pitchFamily="49" charset="0"/>
                  </a:rPr>
                  <a:t>i</a:t>
                </a:r>
                <a:r>
                  <a:rPr lang="en-US" b="1" dirty="0">
                    <a:solidFill>
                      <a:srgbClr val="FBD9EB"/>
                    </a:solidFill>
                    <a:latin typeface="Consolas" pitchFamily="49" charset="0"/>
                    <a:cs typeface="Consolas" pitchFamily="49" charset="0"/>
                  </a:rPr>
                  <a:t>]</a:t>
                </a:r>
              </a:p>
              <a:p>
                <a:pPr marL="0" indent="0">
                  <a:spcBef>
                    <a:spcPts val="600"/>
                  </a:spcBef>
                  <a:buNone/>
                </a:pPr>
                <a:r>
                  <a:rPr lang="en-US" b="1" dirty="0">
                    <a:solidFill>
                      <a:srgbClr val="FBD9EB"/>
                    </a:solidFill>
                    <a:latin typeface="Consolas" pitchFamily="49" charset="0"/>
                    <a:cs typeface="Consolas" pitchFamily="49" charset="0"/>
                  </a:rPr>
                  <a:t>		heap-size[A] </a:t>
                </a:r>
                <a14:m>
                  <m:oMath xmlns:m="http://schemas.openxmlformats.org/officeDocument/2006/math">
                    <m:r>
                      <a:rPr lang="en-US" b="1" i="1" dirty="0">
                        <a:solidFill>
                          <a:srgbClr val="FBD9EB"/>
                        </a:solidFill>
                        <a:latin typeface="Cambria Math" panose="02040503050406030204" pitchFamily="18" charset="0"/>
                        <a:cs typeface="Consolas" pitchFamily="49" charset="0"/>
                      </a:rPr>
                      <m:t>←</m:t>
                    </m:r>
                  </m:oMath>
                </a14:m>
                <a:r>
                  <a:rPr lang="en-US" b="1" dirty="0">
                    <a:solidFill>
                      <a:srgbClr val="FBD9EB"/>
                    </a:solidFill>
                    <a:latin typeface="Consolas" pitchFamily="49" charset="0"/>
                    <a:cs typeface="Consolas" pitchFamily="49" charset="0"/>
                  </a:rPr>
                  <a:t> heap-size[A] – 1</a:t>
                </a:r>
              </a:p>
              <a:p>
                <a:pPr marL="0" indent="0">
                  <a:spcBef>
                    <a:spcPts val="600"/>
                  </a:spcBef>
                  <a:buNone/>
                </a:pPr>
                <a:r>
                  <a:rPr lang="en-US" b="1" dirty="0">
                    <a:solidFill>
                      <a:srgbClr val="FBD9EB"/>
                    </a:solidFill>
                    <a:latin typeface="Consolas" pitchFamily="49" charset="0"/>
                    <a:cs typeface="Consolas" pitchFamily="49" charset="0"/>
                  </a:rPr>
                  <a:t>		</a:t>
                </a:r>
                <a:r>
                  <a:rPr lang="en-US" b="1" dirty="0">
                    <a:solidFill>
                      <a:srgbClr val="ED524F"/>
                    </a:solidFill>
                    <a:latin typeface="Consolas" pitchFamily="49" charset="0"/>
                    <a:cs typeface="Consolas" pitchFamily="49" charset="0"/>
                  </a:rPr>
                  <a:t>MAX-HEAPIFY(A, 1, n)</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18" t="-1527"/>
                </a:stretch>
              </a:blipFill>
            </p:spPr>
            <p:txBody>
              <a:bodyPr/>
              <a:lstStyle/>
              <a:p>
                <a:r>
                  <a:rPr lang="en-US">
                    <a:noFill/>
                  </a:rPr>
                  <a:t> </a:t>
                </a:r>
              </a:p>
            </p:txBody>
          </p:sp>
        </mc:Fallback>
      </mc:AlternateContent>
      <p:sp>
        <p:nvSpPr>
          <p:cNvPr id="4" name="Rounded Rectangle 3"/>
          <p:cNvSpPr/>
          <p:nvPr/>
        </p:nvSpPr>
        <p:spPr>
          <a:xfrm>
            <a:off x="914399" y="2471057"/>
            <a:ext cx="3108960" cy="457200"/>
          </a:xfrm>
          <a:prstGeom prst="roundRect">
            <a:avLst/>
          </a:prstGeom>
          <a:noFill/>
          <a:ln w="1905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ular Callout 4"/>
          <p:cNvSpPr/>
          <p:nvPr/>
        </p:nvSpPr>
        <p:spPr>
          <a:xfrm>
            <a:off x="4336866" y="1554479"/>
            <a:ext cx="5721533" cy="1188720"/>
          </a:xfrm>
          <a:prstGeom prst="wedgeRoundRectCallout">
            <a:avLst>
              <a:gd name="adj1" fmla="val -55463"/>
              <a:gd name="adj2" fmla="val 29280"/>
              <a:gd name="adj3" fmla="val 16667"/>
            </a:avLst>
          </a:prstGeom>
          <a:solidFill>
            <a:schemeClr val="accent5">
              <a:lumMod val="20000"/>
              <a:lumOff val="80000"/>
            </a:schemeClr>
          </a:solidFill>
          <a:ln w="19050">
            <a:solidFill>
              <a:schemeClr val="accent2">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en-US" sz="2000" b="1" dirty="0">
                <a:solidFill>
                  <a:srgbClr val="A71160"/>
                </a:solidFill>
                <a:latin typeface="Consolas" panose="020B0609020204030204" pitchFamily="49" charset="0"/>
                <a:cs typeface="Consolas" pitchFamily="49" charset="0"/>
              </a:rPr>
              <a:t>heap-size[A] ← length[A]</a:t>
            </a:r>
          </a:p>
          <a:p>
            <a:pPr>
              <a:spcBef>
                <a:spcPts val="600"/>
              </a:spcBef>
            </a:pPr>
            <a:r>
              <a:rPr lang="en-US" sz="2000" b="1" dirty="0">
                <a:solidFill>
                  <a:srgbClr val="A71160"/>
                </a:solidFill>
                <a:latin typeface="Consolas" panose="020B0609020204030204" pitchFamily="49" charset="0"/>
                <a:cs typeface="Consolas" pitchFamily="49" charset="0"/>
              </a:rPr>
              <a:t>for </a:t>
            </a:r>
            <a:r>
              <a:rPr lang="en-US" sz="2000" b="1" dirty="0" err="1">
                <a:solidFill>
                  <a:srgbClr val="A71160"/>
                </a:solidFill>
                <a:latin typeface="Consolas" panose="020B0609020204030204" pitchFamily="49" charset="0"/>
                <a:cs typeface="Consolas" pitchFamily="49" charset="0"/>
              </a:rPr>
              <a:t>i</a:t>
            </a:r>
            <a:r>
              <a:rPr lang="en-US" sz="2000" b="1" dirty="0">
                <a:solidFill>
                  <a:srgbClr val="A71160"/>
                </a:solidFill>
                <a:latin typeface="Consolas" panose="020B0609020204030204" pitchFamily="49" charset="0"/>
                <a:cs typeface="Consolas" pitchFamily="49" charset="0"/>
              </a:rPr>
              <a:t> ← ⌊length[A]/2⌋ </a:t>
            </a:r>
            <a:r>
              <a:rPr lang="en-US" sz="2000" b="1" dirty="0" err="1">
                <a:solidFill>
                  <a:srgbClr val="A71160"/>
                </a:solidFill>
                <a:latin typeface="Consolas" panose="020B0609020204030204" pitchFamily="49" charset="0"/>
                <a:cs typeface="Consolas" pitchFamily="49" charset="0"/>
              </a:rPr>
              <a:t>downto</a:t>
            </a:r>
            <a:r>
              <a:rPr lang="en-US" sz="2000" b="1" dirty="0">
                <a:solidFill>
                  <a:srgbClr val="A71160"/>
                </a:solidFill>
                <a:latin typeface="Consolas" panose="020B0609020204030204" pitchFamily="49" charset="0"/>
                <a:cs typeface="Consolas" pitchFamily="49" charset="0"/>
              </a:rPr>
              <a:t> 1</a:t>
            </a:r>
          </a:p>
          <a:p>
            <a:pPr>
              <a:spcBef>
                <a:spcPts val="600"/>
              </a:spcBef>
            </a:pPr>
            <a:r>
              <a:rPr lang="en-US" sz="2000" b="1" dirty="0">
                <a:solidFill>
                  <a:srgbClr val="A71160"/>
                </a:solidFill>
                <a:latin typeface="Consolas" panose="020B0609020204030204" pitchFamily="49" charset="0"/>
                <a:cs typeface="Consolas" pitchFamily="49" charset="0"/>
              </a:rPr>
              <a:t>	do MAX-HEAPIFY(A, </a:t>
            </a:r>
            <a:r>
              <a:rPr lang="en-US" sz="2000" b="1" dirty="0" err="1">
                <a:solidFill>
                  <a:srgbClr val="A71160"/>
                </a:solidFill>
                <a:latin typeface="Consolas" panose="020B0609020204030204" pitchFamily="49" charset="0"/>
                <a:cs typeface="Consolas" pitchFamily="49" charset="0"/>
              </a:rPr>
              <a:t>i</a:t>
            </a:r>
            <a:r>
              <a:rPr lang="en-US" sz="2000" b="1" dirty="0">
                <a:solidFill>
                  <a:srgbClr val="A71160"/>
                </a:solidFill>
                <a:latin typeface="Consolas" panose="020B0609020204030204" pitchFamily="49" charset="0"/>
                <a:cs typeface="Consolas" pitchFamily="49" charset="0"/>
              </a:rPr>
              <a:t>)</a:t>
            </a:r>
          </a:p>
        </p:txBody>
      </p:sp>
      <p:sp>
        <p:nvSpPr>
          <p:cNvPr id="6" name="Rounded Rectangle 5"/>
          <p:cNvSpPr/>
          <p:nvPr/>
        </p:nvSpPr>
        <p:spPr>
          <a:xfrm>
            <a:off x="1920239" y="3291840"/>
            <a:ext cx="5617029" cy="822960"/>
          </a:xfrm>
          <a:prstGeom prst="roundRect">
            <a:avLst/>
          </a:prstGeom>
          <a:noFill/>
          <a:ln>
            <a:solidFill>
              <a:schemeClr val="accent2">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ounded Rectangular Callout 6"/>
              <p:cNvSpPr/>
              <p:nvPr/>
            </p:nvSpPr>
            <p:spPr>
              <a:xfrm>
                <a:off x="7667898" y="3004456"/>
                <a:ext cx="979714" cy="457200"/>
              </a:xfrm>
              <a:prstGeom prst="wedgeRoundRectCallout">
                <a:avLst>
                  <a:gd name="adj1" fmla="val -66166"/>
                  <a:gd name="adj2" fmla="val 20640"/>
                  <a:gd name="adj3" fmla="val 16667"/>
                </a:avLst>
              </a:prstGeom>
              <a:solidFill>
                <a:srgbClr val="424242"/>
              </a:solidFill>
              <a:ln>
                <a:solidFill>
                  <a:schemeClr val="accent2">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1" i="1" dirty="0" smtClean="0">
                          <a:solidFill>
                            <a:schemeClr val="accent5"/>
                          </a:solidFill>
                          <a:latin typeface="Cambria Math" panose="02040503050406030204" pitchFamily="18" charset="0"/>
                        </a:rPr>
                        <m:t>𝒏</m:t>
                      </m:r>
                      <m:r>
                        <a:rPr lang="en-US" sz="2400" b="1" i="1" dirty="0" smtClean="0">
                          <a:solidFill>
                            <a:schemeClr val="accent5"/>
                          </a:solidFill>
                          <a:latin typeface="Cambria Math" panose="02040503050406030204" pitchFamily="18" charset="0"/>
                        </a:rPr>
                        <m:t>−</m:t>
                      </m:r>
                      <m:r>
                        <a:rPr lang="en-US" sz="2400" b="1" i="1" dirty="0" smtClean="0">
                          <a:solidFill>
                            <a:schemeClr val="accent5"/>
                          </a:solidFill>
                          <a:latin typeface="Cambria Math" panose="02040503050406030204" pitchFamily="18" charset="0"/>
                        </a:rPr>
                        <m:t>𝟏</m:t>
                      </m:r>
                    </m:oMath>
                  </m:oMathPara>
                </a14:m>
                <a:endParaRPr lang="en-US" sz="2400" b="1" i="1" dirty="0">
                  <a:solidFill>
                    <a:schemeClr val="accent5"/>
                  </a:solidFill>
                </a:endParaRPr>
              </a:p>
            </p:txBody>
          </p:sp>
        </mc:Choice>
        <mc:Fallback xmlns="">
          <p:sp>
            <p:nvSpPr>
              <p:cNvPr id="7" name="Rounded Rectangular Callout 6"/>
              <p:cNvSpPr>
                <a:spLocks noRot="1" noChangeAspect="1" noMove="1" noResize="1" noEditPoints="1" noAdjustHandles="1" noChangeArrowheads="1" noChangeShapeType="1" noTextEdit="1"/>
              </p:cNvSpPr>
              <p:nvPr/>
            </p:nvSpPr>
            <p:spPr>
              <a:xfrm>
                <a:off x="7667898" y="3004456"/>
                <a:ext cx="979714" cy="457200"/>
              </a:xfrm>
              <a:prstGeom prst="wedgeRoundRectCallout">
                <a:avLst>
                  <a:gd name="adj1" fmla="val -66166"/>
                  <a:gd name="adj2" fmla="val 20640"/>
                  <a:gd name="adj3" fmla="val 16667"/>
                </a:avLst>
              </a:prstGeom>
              <a:blipFill>
                <a:blip r:embed="rId3"/>
                <a:stretch>
                  <a:fillRect/>
                </a:stretch>
              </a:blipFill>
              <a:ln>
                <a:solidFill>
                  <a:schemeClr val="accent2">
                    <a:lumMod val="60000"/>
                    <a:lumOff val="40000"/>
                  </a:schemeClr>
                </a:solidFill>
                <a:prstDash val="sys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ounded Rectangular Callout 7"/>
              <p:cNvSpPr/>
              <p:nvPr/>
            </p:nvSpPr>
            <p:spPr>
              <a:xfrm>
                <a:off x="4178835" y="2441089"/>
                <a:ext cx="1554480" cy="457200"/>
              </a:xfrm>
              <a:prstGeom prst="wedgeRoundRectCallout">
                <a:avLst>
                  <a:gd name="adj1" fmla="val -60283"/>
                  <a:gd name="adj2" fmla="val 9212"/>
                  <a:gd name="adj3" fmla="val 16667"/>
                </a:avLst>
              </a:prstGeom>
              <a:solidFill>
                <a:srgbClr val="424242"/>
              </a:solidFill>
              <a:ln>
                <a:solidFill>
                  <a:schemeClr val="accent2">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1" i="1" dirty="0" smtClean="0">
                          <a:solidFill>
                            <a:schemeClr val="accent5"/>
                          </a:solidFill>
                          <a:latin typeface="Cambria Math" panose="02040503050406030204" pitchFamily="18" charset="0"/>
                        </a:rPr>
                        <m:t>𝐎</m:t>
                      </m:r>
                      <m:r>
                        <a:rPr lang="en-US" sz="2400" b="1" dirty="0" smtClean="0">
                          <a:solidFill>
                            <a:schemeClr val="accent5"/>
                          </a:solidFill>
                          <a:latin typeface="Cambria Math" panose="02040503050406030204" pitchFamily="18" charset="0"/>
                        </a:rPr>
                        <m:t>(</m:t>
                      </m:r>
                      <m:r>
                        <a:rPr lang="en-US" sz="2400" b="1" i="1" dirty="0" smtClean="0">
                          <a:solidFill>
                            <a:schemeClr val="accent5"/>
                          </a:solidFill>
                          <a:latin typeface="Cambria Math" panose="02040503050406030204" pitchFamily="18" charset="0"/>
                        </a:rPr>
                        <m:t>𝒏</m:t>
                      </m:r>
                      <m:r>
                        <a:rPr lang="en-US" sz="2400" b="1" i="1" dirty="0" smtClean="0">
                          <a:solidFill>
                            <a:schemeClr val="accent5"/>
                          </a:solidFill>
                          <a:latin typeface="Cambria Math" panose="02040503050406030204" pitchFamily="18" charset="0"/>
                        </a:rPr>
                        <m:t> </m:t>
                      </m:r>
                      <m:r>
                        <a:rPr lang="en-US" sz="2400" b="1" i="1" dirty="0">
                          <a:solidFill>
                            <a:schemeClr val="accent5"/>
                          </a:solidFill>
                          <a:latin typeface="Cambria Math" panose="02040503050406030204" pitchFamily="18" charset="0"/>
                        </a:rPr>
                        <m:t>𝒍𝒐𝒈</m:t>
                      </m:r>
                      <m:r>
                        <a:rPr lang="en-US" sz="2400" b="1" i="1" dirty="0">
                          <a:solidFill>
                            <a:schemeClr val="accent5"/>
                          </a:solidFill>
                          <a:latin typeface="Cambria Math" panose="02040503050406030204" pitchFamily="18" charset="0"/>
                        </a:rPr>
                        <m:t>⁡</m:t>
                      </m:r>
                      <m:r>
                        <a:rPr lang="en-US" sz="2400" b="1" i="1" dirty="0">
                          <a:solidFill>
                            <a:schemeClr val="accent5"/>
                          </a:solidFill>
                          <a:latin typeface="Cambria Math" panose="02040503050406030204" pitchFamily="18" charset="0"/>
                        </a:rPr>
                        <m:t>𝒏</m:t>
                      </m:r>
                      <m:r>
                        <a:rPr lang="en-US" sz="2400" b="1" i="1" dirty="0">
                          <a:solidFill>
                            <a:schemeClr val="accent5"/>
                          </a:solidFill>
                          <a:latin typeface="Cambria Math" panose="02040503050406030204" pitchFamily="18" charset="0"/>
                        </a:rPr>
                        <m:t>)</m:t>
                      </m:r>
                    </m:oMath>
                  </m:oMathPara>
                </a14:m>
                <a:endParaRPr lang="en-US" sz="2400" b="1" dirty="0">
                  <a:solidFill>
                    <a:schemeClr val="accent5"/>
                  </a:solidFill>
                </a:endParaRPr>
              </a:p>
            </p:txBody>
          </p:sp>
        </mc:Choice>
        <mc:Fallback xmlns="">
          <p:sp>
            <p:nvSpPr>
              <p:cNvPr id="8" name="Rounded Rectangular Callout 7"/>
              <p:cNvSpPr>
                <a:spLocks noRot="1" noChangeAspect="1" noMove="1" noResize="1" noEditPoints="1" noAdjustHandles="1" noChangeArrowheads="1" noChangeShapeType="1" noTextEdit="1"/>
              </p:cNvSpPr>
              <p:nvPr/>
            </p:nvSpPr>
            <p:spPr>
              <a:xfrm>
                <a:off x="4178835" y="2441089"/>
                <a:ext cx="1554480" cy="457200"/>
              </a:xfrm>
              <a:prstGeom prst="wedgeRoundRectCallout">
                <a:avLst>
                  <a:gd name="adj1" fmla="val -60283"/>
                  <a:gd name="adj2" fmla="val 9212"/>
                  <a:gd name="adj3" fmla="val 16667"/>
                </a:avLst>
              </a:prstGeom>
              <a:blipFill>
                <a:blip r:embed="rId4"/>
                <a:stretch>
                  <a:fillRect r="-3497" b="-18182"/>
                </a:stretch>
              </a:blipFill>
              <a:ln>
                <a:solidFill>
                  <a:schemeClr val="accent2">
                    <a:lumMod val="60000"/>
                    <a:lumOff val="40000"/>
                  </a:schemeClr>
                </a:solidFill>
                <a:prstDash val="sys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ounded Rectangular Callout 8"/>
              <p:cNvSpPr/>
              <p:nvPr/>
            </p:nvSpPr>
            <p:spPr>
              <a:xfrm>
                <a:off x="8748145" y="1877849"/>
                <a:ext cx="731520" cy="365760"/>
              </a:xfrm>
              <a:prstGeom prst="wedgeRoundRectCallout">
                <a:avLst>
                  <a:gd name="adj1" fmla="val -66166"/>
                  <a:gd name="adj2" fmla="val 20640"/>
                  <a:gd name="adj3" fmla="val 16667"/>
                </a:avLst>
              </a:prstGeom>
              <a:solidFill>
                <a:schemeClr val="accent5">
                  <a:lumMod val="20000"/>
                  <a:lumOff val="80000"/>
                </a:schemeClr>
              </a:solidFill>
              <a:ln>
                <a:solidFill>
                  <a:srgbClr val="00206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type m:val="lin"/>
                          <m:ctrlPr>
                            <a:rPr lang="en-US" sz="2000" b="1" i="1" dirty="0" smtClean="0">
                              <a:solidFill>
                                <a:schemeClr val="tx1"/>
                              </a:solidFill>
                              <a:latin typeface="Cambria Math" panose="02040503050406030204" pitchFamily="18" charset="0"/>
                            </a:rPr>
                          </m:ctrlPr>
                        </m:fPr>
                        <m:num>
                          <m:r>
                            <a:rPr lang="en-US" sz="2000" b="1" i="1" dirty="0" smtClean="0">
                              <a:solidFill>
                                <a:schemeClr val="tx1"/>
                              </a:solidFill>
                              <a:latin typeface="Cambria Math" panose="02040503050406030204" pitchFamily="18" charset="0"/>
                            </a:rPr>
                            <m:t>𝒏</m:t>
                          </m:r>
                        </m:num>
                        <m:den>
                          <m:r>
                            <a:rPr lang="en-US" sz="2000" b="1" i="1" dirty="0" smtClean="0">
                              <a:solidFill>
                                <a:schemeClr val="tx1"/>
                              </a:solidFill>
                              <a:latin typeface="Cambria Math" panose="02040503050406030204" pitchFamily="18" charset="0"/>
                            </a:rPr>
                            <m:t>𝟐</m:t>
                          </m:r>
                        </m:den>
                      </m:f>
                    </m:oMath>
                  </m:oMathPara>
                </a14:m>
                <a:endParaRPr lang="en-US" sz="2000" b="1" dirty="0">
                  <a:solidFill>
                    <a:schemeClr val="tx1"/>
                  </a:solidFill>
                </a:endParaRPr>
              </a:p>
            </p:txBody>
          </p:sp>
        </mc:Choice>
        <mc:Fallback xmlns="">
          <p:sp>
            <p:nvSpPr>
              <p:cNvPr id="9" name="Rounded Rectangular Callout 8"/>
              <p:cNvSpPr>
                <a:spLocks noRot="1" noChangeAspect="1" noMove="1" noResize="1" noEditPoints="1" noAdjustHandles="1" noChangeArrowheads="1" noChangeShapeType="1" noTextEdit="1"/>
              </p:cNvSpPr>
              <p:nvPr/>
            </p:nvSpPr>
            <p:spPr>
              <a:xfrm>
                <a:off x="8748145" y="1877849"/>
                <a:ext cx="731520" cy="365760"/>
              </a:xfrm>
              <a:prstGeom prst="wedgeRoundRectCallout">
                <a:avLst>
                  <a:gd name="adj1" fmla="val -66166"/>
                  <a:gd name="adj2" fmla="val 20640"/>
                  <a:gd name="adj3" fmla="val 16667"/>
                </a:avLst>
              </a:prstGeom>
              <a:blipFill>
                <a:blip r:embed="rId5"/>
                <a:stretch>
                  <a:fillRect l="-4861" t="-124194" r="-54167" b="-195161"/>
                </a:stretch>
              </a:blipFill>
              <a:ln>
                <a:solidFill>
                  <a:srgbClr val="002060"/>
                </a:solidFill>
                <a:prstDash val="sys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ounded Rectangular Callout 9"/>
              <p:cNvSpPr/>
              <p:nvPr/>
            </p:nvSpPr>
            <p:spPr>
              <a:xfrm>
                <a:off x="8310414" y="2342605"/>
                <a:ext cx="1188720" cy="365760"/>
              </a:xfrm>
              <a:prstGeom prst="wedgeRoundRectCallout">
                <a:avLst>
                  <a:gd name="adj1" fmla="val -61716"/>
                  <a:gd name="adj2" fmla="val 1124"/>
                  <a:gd name="adj3" fmla="val 16667"/>
                </a:avLst>
              </a:prstGeom>
              <a:solidFill>
                <a:schemeClr val="accent5">
                  <a:lumMod val="20000"/>
                  <a:lumOff val="80000"/>
                </a:schemeClr>
              </a:solidFill>
              <a:ln>
                <a:solidFill>
                  <a:srgbClr val="00206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b="1" i="1" dirty="0" smtClean="0">
                          <a:solidFill>
                            <a:schemeClr val="tx1"/>
                          </a:solidFill>
                          <a:latin typeface="Cambria Math" panose="02040503050406030204" pitchFamily="18" charset="0"/>
                        </a:rPr>
                        <m:t>𝐎</m:t>
                      </m:r>
                      <m:r>
                        <a:rPr lang="en-US" sz="2000" b="1" dirty="0" smtClean="0">
                          <a:solidFill>
                            <a:schemeClr val="tx1"/>
                          </a:solidFill>
                          <a:latin typeface="Cambria Math" panose="02040503050406030204" pitchFamily="18" charset="0"/>
                        </a:rPr>
                        <m:t>(</m:t>
                      </m:r>
                      <m:r>
                        <a:rPr lang="en-US" sz="2000" b="1" i="1" dirty="0">
                          <a:solidFill>
                            <a:schemeClr val="tx1"/>
                          </a:solidFill>
                          <a:latin typeface="Cambria Math" panose="02040503050406030204" pitchFamily="18" charset="0"/>
                        </a:rPr>
                        <m:t> </m:t>
                      </m:r>
                      <m:r>
                        <a:rPr lang="en-US" sz="2000" b="1" i="1" dirty="0">
                          <a:solidFill>
                            <a:schemeClr val="tx1"/>
                          </a:solidFill>
                          <a:latin typeface="Cambria Math" panose="02040503050406030204" pitchFamily="18" charset="0"/>
                        </a:rPr>
                        <m:t>𝒍𝒐𝒈</m:t>
                      </m:r>
                      <m:r>
                        <a:rPr lang="en-US" sz="2000" b="1" i="1" dirty="0">
                          <a:solidFill>
                            <a:schemeClr val="tx1"/>
                          </a:solidFill>
                          <a:latin typeface="Cambria Math" panose="02040503050406030204" pitchFamily="18" charset="0"/>
                        </a:rPr>
                        <m:t>⁡</m:t>
                      </m:r>
                      <m:r>
                        <a:rPr lang="en-US" sz="2000" b="1" i="1" dirty="0">
                          <a:solidFill>
                            <a:schemeClr val="tx1"/>
                          </a:solidFill>
                          <a:latin typeface="Cambria Math" panose="02040503050406030204" pitchFamily="18" charset="0"/>
                        </a:rPr>
                        <m:t>𝒏</m:t>
                      </m:r>
                      <m:r>
                        <a:rPr lang="en-US" sz="2000" b="1" i="1" dirty="0">
                          <a:solidFill>
                            <a:schemeClr val="tx1"/>
                          </a:solidFill>
                          <a:latin typeface="Cambria Math" panose="02040503050406030204" pitchFamily="18" charset="0"/>
                        </a:rPr>
                        <m:t>)</m:t>
                      </m:r>
                    </m:oMath>
                  </m:oMathPara>
                </a14:m>
                <a:endParaRPr lang="en-US" sz="2000" b="1" dirty="0">
                  <a:solidFill>
                    <a:schemeClr val="tx1"/>
                  </a:solidFill>
                </a:endParaRPr>
              </a:p>
            </p:txBody>
          </p:sp>
        </mc:Choice>
        <mc:Fallback xmlns="">
          <p:sp>
            <p:nvSpPr>
              <p:cNvPr id="10" name="Rounded Rectangular Callout 9"/>
              <p:cNvSpPr>
                <a:spLocks noRot="1" noChangeAspect="1" noMove="1" noResize="1" noEditPoints="1" noAdjustHandles="1" noChangeArrowheads="1" noChangeShapeType="1" noTextEdit="1"/>
              </p:cNvSpPr>
              <p:nvPr/>
            </p:nvSpPr>
            <p:spPr>
              <a:xfrm>
                <a:off x="8310414" y="2342605"/>
                <a:ext cx="1188720" cy="365760"/>
              </a:xfrm>
              <a:prstGeom prst="wedgeRoundRectCallout">
                <a:avLst>
                  <a:gd name="adj1" fmla="val -61716"/>
                  <a:gd name="adj2" fmla="val 1124"/>
                  <a:gd name="adj3" fmla="val 16667"/>
                </a:avLst>
              </a:prstGeom>
              <a:blipFill>
                <a:blip r:embed="rId6"/>
                <a:stretch>
                  <a:fillRect r="-1794" b="-20968"/>
                </a:stretch>
              </a:blipFill>
              <a:ln>
                <a:solidFill>
                  <a:srgbClr val="002060"/>
                </a:solidFill>
                <a:prstDash val="sysDash"/>
              </a:ln>
            </p:spPr>
            <p:txBody>
              <a:bodyPr/>
              <a:lstStyle/>
              <a:p>
                <a:r>
                  <a:rPr lang="en-US">
                    <a:noFill/>
                  </a:rPr>
                  <a:t> </a:t>
                </a:r>
              </a:p>
            </p:txBody>
          </p:sp>
        </mc:Fallback>
      </mc:AlternateContent>
      <p:sp>
        <p:nvSpPr>
          <p:cNvPr id="11" name="Rounded Rectangle 10"/>
          <p:cNvSpPr/>
          <p:nvPr/>
        </p:nvSpPr>
        <p:spPr>
          <a:xfrm>
            <a:off x="1902821" y="4086497"/>
            <a:ext cx="3596641" cy="457200"/>
          </a:xfrm>
          <a:prstGeom prst="roundRect">
            <a:avLst/>
          </a:prstGeom>
          <a:noFill/>
          <a:ln w="1905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ounded Rectangular Callout 11"/>
              <p:cNvSpPr/>
              <p:nvPr/>
            </p:nvSpPr>
            <p:spPr>
              <a:xfrm>
                <a:off x="5808615" y="4188821"/>
                <a:ext cx="2468880" cy="457200"/>
              </a:xfrm>
              <a:prstGeom prst="wedgeRoundRectCallout">
                <a:avLst>
                  <a:gd name="adj1" fmla="val -62857"/>
                  <a:gd name="adj2" fmla="val 17699"/>
                  <a:gd name="adj3" fmla="val 16667"/>
                </a:avLst>
              </a:prstGeom>
              <a:solidFill>
                <a:srgbClr val="424242"/>
              </a:solidFill>
              <a:ln>
                <a:solidFill>
                  <a:schemeClr val="accent2">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1" i="1" dirty="0" smtClean="0">
                          <a:solidFill>
                            <a:schemeClr val="accent5"/>
                          </a:solidFill>
                          <a:latin typeface="Cambria Math" panose="02040503050406030204" pitchFamily="18" charset="0"/>
                        </a:rPr>
                        <m:t>𝑶</m:t>
                      </m:r>
                      <m:r>
                        <a:rPr lang="en-US" sz="2400" b="1" i="1" dirty="0" smtClean="0">
                          <a:solidFill>
                            <a:schemeClr val="accent5"/>
                          </a:solidFill>
                          <a:latin typeface="Cambria Math" panose="02040503050406030204" pitchFamily="18" charset="0"/>
                        </a:rPr>
                        <m:t>(</m:t>
                      </m:r>
                      <m:r>
                        <a:rPr lang="en-US" sz="2400" b="1" i="1" dirty="0" smtClean="0">
                          <a:solidFill>
                            <a:schemeClr val="accent5"/>
                          </a:solidFill>
                          <a:latin typeface="Cambria Math" panose="02040503050406030204" pitchFamily="18" charset="0"/>
                        </a:rPr>
                        <m:t>𝒏</m:t>
                      </m:r>
                      <m:r>
                        <a:rPr lang="en-US" sz="2400" b="1" i="1" dirty="0" smtClean="0">
                          <a:solidFill>
                            <a:schemeClr val="accent5"/>
                          </a:solidFill>
                          <a:latin typeface="Cambria Math" panose="02040503050406030204" pitchFamily="18" charset="0"/>
                        </a:rPr>
                        <m:t>−</m:t>
                      </m:r>
                      <m:r>
                        <a:rPr lang="en-US" sz="2400" b="1" i="1" dirty="0" smtClean="0">
                          <a:solidFill>
                            <a:schemeClr val="accent5"/>
                          </a:solidFill>
                          <a:latin typeface="Cambria Math" panose="02040503050406030204" pitchFamily="18" charset="0"/>
                        </a:rPr>
                        <m:t>𝟏</m:t>
                      </m:r>
                      <m:r>
                        <a:rPr lang="en-US" sz="2400" b="1" i="1" dirty="0" smtClean="0">
                          <a:solidFill>
                            <a:schemeClr val="accent5"/>
                          </a:solidFill>
                          <a:latin typeface="Cambria Math" panose="02040503050406030204" pitchFamily="18" charset="0"/>
                        </a:rPr>
                        <m:t>) (</m:t>
                      </m:r>
                      <m:r>
                        <a:rPr lang="en-US" sz="2400" b="1" i="1" dirty="0" smtClean="0">
                          <a:solidFill>
                            <a:schemeClr val="accent5"/>
                          </a:solidFill>
                          <a:latin typeface="Cambria Math" panose="02040503050406030204" pitchFamily="18" charset="0"/>
                        </a:rPr>
                        <m:t>𝒍𝒐𝒈𝒏</m:t>
                      </m:r>
                      <m:r>
                        <a:rPr lang="en-US" sz="2400" b="1" i="1" dirty="0" smtClean="0">
                          <a:solidFill>
                            <a:schemeClr val="accent5"/>
                          </a:solidFill>
                          <a:latin typeface="Cambria Math" panose="02040503050406030204" pitchFamily="18" charset="0"/>
                        </a:rPr>
                        <m:t>)</m:t>
                      </m:r>
                    </m:oMath>
                  </m:oMathPara>
                </a14:m>
                <a:endParaRPr lang="en-US" sz="2400" b="1" i="1" dirty="0">
                  <a:solidFill>
                    <a:schemeClr val="accent5"/>
                  </a:solidFill>
                </a:endParaRPr>
              </a:p>
            </p:txBody>
          </p:sp>
        </mc:Choice>
        <mc:Fallback xmlns="">
          <p:sp>
            <p:nvSpPr>
              <p:cNvPr id="12" name="Rounded Rectangular Callout 11"/>
              <p:cNvSpPr>
                <a:spLocks noRot="1" noChangeAspect="1" noMove="1" noResize="1" noEditPoints="1" noAdjustHandles="1" noChangeArrowheads="1" noChangeShapeType="1" noTextEdit="1"/>
              </p:cNvSpPr>
              <p:nvPr/>
            </p:nvSpPr>
            <p:spPr>
              <a:xfrm>
                <a:off x="5808615" y="4188821"/>
                <a:ext cx="2468880" cy="457200"/>
              </a:xfrm>
              <a:prstGeom prst="wedgeRoundRectCallout">
                <a:avLst>
                  <a:gd name="adj1" fmla="val -62857"/>
                  <a:gd name="adj2" fmla="val 17699"/>
                  <a:gd name="adj3" fmla="val 16667"/>
                </a:avLst>
              </a:prstGeom>
              <a:blipFill>
                <a:blip r:embed="rId7"/>
                <a:stretch>
                  <a:fillRect b="-18182"/>
                </a:stretch>
              </a:blipFill>
              <a:ln>
                <a:solidFill>
                  <a:schemeClr val="accent2">
                    <a:lumMod val="60000"/>
                    <a:lumOff val="40000"/>
                  </a:schemeClr>
                </a:solidFill>
                <a:prstDash val="sys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2232404" y="5338047"/>
                <a:ext cx="7727192" cy="830997"/>
              </a:xfrm>
              <a:prstGeom prst="rect">
                <a:avLst/>
              </a:prstGeom>
            </p:spPr>
            <p:txBody>
              <a:bodyPr wrap="square">
                <a:spAutoFit/>
              </a:bodyPr>
              <a:lstStyle/>
              <a:p>
                <a:r>
                  <a:rPr lang="en-US" sz="2400" dirty="0">
                    <a:solidFill>
                      <a:schemeClr val="accent5"/>
                    </a:solidFill>
                  </a:rPr>
                  <a:t>Running time of heap sort algorithm is: </a:t>
                </a:r>
                <a:endParaRPr lang="en-US" sz="2400" i="1" dirty="0">
                  <a:solidFill>
                    <a:schemeClr val="accent5"/>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b="1" i="1">
                          <a:solidFill>
                            <a:schemeClr val="accent5"/>
                          </a:solidFill>
                          <a:latin typeface="Cambria Math" panose="02040503050406030204" pitchFamily="18" charset="0"/>
                        </a:rPr>
                        <m:t>𝑶</m:t>
                      </m:r>
                      <m:d>
                        <m:dPr>
                          <m:ctrlPr>
                            <a:rPr lang="en-US" sz="2400" b="1" i="1">
                              <a:solidFill>
                                <a:schemeClr val="accent5"/>
                              </a:solidFill>
                              <a:latin typeface="Cambria Math" panose="02040503050406030204" pitchFamily="18" charset="0"/>
                            </a:rPr>
                          </m:ctrlPr>
                        </m:dPr>
                        <m:e>
                          <m:r>
                            <a:rPr lang="en-US" sz="2400" b="1" i="1">
                              <a:solidFill>
                                <a:schemeClr val="accent5"/>
                              </a:solidFill>
                              <a:latin typeface="Cambria Math" panose="02040503050406030204" pitchFamily="18" charset="0"/>
                            </a:rPr>
                            <m:t>𝒏</m:t>
                          </m:r>
                          <m:r>
                            <a:rPr lang="en-US" sz="2400" b="1" i="1">
                              <a:solidFill>
                                <a:schemeClr val="accent5"/>
                              </a:solidFill>
                              <a:latin typeface="Cambria Math" panose="02040503050406030204" pitchFamily="18" charset="0"/>
                            </a:rPr>
                            <m:t> </m:t>
                          </m:r>
                          <m:r>
                            <a:rPr lang="en-US" sz="2400" b="1" i="1">
                              <a:solidFill>
                                <a:schemeClr val="accent5"/>
                              </a:solidFill>
                              <a:latin typeface="Cambria Math" panose="02040503050406030204" pitchFamily="18" charset="0"/>
                            </a:rPr>
                            <m:t>𝒍𝒐𝒈</m:t>
                          </m:r>
                          <m:r>
                            <a:rPr lang="en-US" sz="2400" b="1" i="1">
                              <a:solidFill>
                                <a:schemeClr val="accent5"/>
                              </a:solidFill>
                              <a:latin typeface="Cambria Math" panose="02040503050406030204" pitchFamily="18" charset="0"/>
                            </a:rPr>
                            <m:t> </m:t>
                          </m:r>
                          <m:r>
                            <a:rPr lang="en-US" sz="2400" b="1" i="1">
                              <a:solidFill>
                                <a:schemeClr val="accent5"/>
                              </a:solidFill>
                              <a:latin typeface="Cambria Math" panose="02040503050406030204" pitchFamily="18" charset="0"/>
                            </a:rPr>
                            <m:t>𝒏</m:t>
                          </m:r>
                        </m:e>
                      </m:d>
                      <m:r>
                        <a:rPr lang="en-US" sz="2400" b="1" i="1">
                          <a:solidFill>
                            <a:schemeClr val="accent5"/>
                          </a:solidFill>
                          <a:latin typeface="Cambria Math" panose="02040503050406030204" pitchFamily="18" charset="0"/>
                        </a:rPr>
                        <m:t>+</m:t>
                      </m:r>
                      <m:r>
                        <a:rPr lang="en-US" sz="2400" b="1" i="1">
                          <a:solidFill>
                            <a:schemeClr val="accent5"/>
                          </a:solidFill>
                          <a:latin typeface="Cambria Math" panose="02040503050406030204" pitchFamily="18" charset="0"/>
                        </a:rPr>
                        <m:t>𝑶</m:t>
                      </m:r>
                      <m:r>
                        <a:rPr lang="en-US" sz="2400" b="1" i="1">
                          <a:solidFill>
                            <a:schemeClr val="accent5"/>
                          </a:solidFill>
                          <a:latin typeface="Cambria Math" panose="02040503050406030204" pitchFamily="18" charset="0"/>
                        </a:rPr>
                        <m:t>(</m:t>
                      </m:r>
                      <m:func>
                        <m:funcPr>
                          <m:ctrlPr>
                            <a:rPr lang="en-US" sz="2400" b="1" i="1">
                              <a:solidFill>
                                <a:schemeClr val="accent5"/>
                              </a:solidFill>
                              <a:latin typeface="Cambria Math" panose="02040503050406030204" pitchFamily="18" charset="0"/>
                            </a:rPr>
                          </m:ctrlPr>
                        </m:funcPr>
                        <m:fName>
                          <m:r>
                            <a:rPr lang="en-US" sz="2400" b="1">
                              <a:solidFill>
                                <a:schemeClr val="accent5"/>
                              </a:solidFill>
                              <a:latin typeface="Cambria Math" panose="02040503050406030204" pitchFamily="18" charset="0"/>
                            </a:rPr>
                            <m:t>𝐥𝐨𝐠</m:t>
                          </m:r>
                        </m:fName>
                        <m:e>
                          <m:r>
                            <a:rPr lang="en-US" sz="2400" b="1" i="1">
                              <a:solidFill>
                                <a:schemeClr val="accent5"/>
                              </a:solidFill>
                              <a:latin typeface="Cambria Math" panose="02040503050406030204" pitchFamily="18" charset="0"/>
                            </a:rPr>
                            <m:t>𝒏</m:t>
                          </m:r>
                          <m:r>
                            <a:rPr lang="en-US" sz="2400" b="1" i="1">
                              <a:solidFill>
                                <a:schemeClr val="accent5"/>
                              </a:solidFill>
                              <a:latin typeface="Cambria Math" panose="02040503050406030204" pitchFamily="18" charset="0"/>
                            </a:rPr>
                            <m:t>)</m:t>
                          </m:r>
                          <m:d>
                            <m:dPr>
                              <m:ctrlPr>
                                <a:rPr lang="en-US" sz="2400" b="1" i="1">
                                  <a:solidFill>
                                    <a:schemeClr val="accent5"/>
                                  </a:solidFill>
                                  <a:latin typeface="Cambria Math" panose="02040503050406030204" pitchFamily="18" charset="0"/>
                                </a:rPr>
                              </m:ctrlPr>
                            </m:dPr>
                            <m:e>
                              <m:r>
                                <a:rPr lang="en-US" sz="2400" b="1" i="1">
                                  <a:solidFill>
                                    <a:schemeClr val="accent5"/>
                                  </a:solidFill>
                                  <a:latin typeface="Cambria Math" panose="02040503050406030204" pitchFamily="18" charset="0"/>
                                </a:rPr>
                                <m:t>𝒏</m:t>
                              </m:r>
                              <m:r>
                                <a:rPr lang="en-US" sz="2400" b="1" i="1">
                                  <a:solidFill>
                                    <a:schemeClr val="accent5"/>
                                  </a:solidFill>
                                  <a:latin typeface="Cambria Math" panose="02040503050406030204" pitchFamily="18" charset="0"/>
                                </a:rPr>
                                <m:t>−</m:t>
                              </m:r>
                              <m:r>
                                <a:rPr lang="en-US" sz="2400" b="1" i="1">
                                  <a:solidFill>
                                    <a:schemeClr val="accent5"/>
                                  </a:solidFill>
                                  <a:latin typeface="Cambria Math" panose="02040503050406030204" pitchFamily="18" charset="0"/>
                                </a:rPr>
                                <m:t>𝟏</m:t>
                              </m:r>
                            </m:e>
                          </m:d>
                          <m:r>
                            <a:rPr lang="en-US" sz="2400" b="1" i="1" smtClean="0">
                              <a:solidFill>
                                <a:schemeClr val="accent5"/>
                              </a:solidFill>
                              <a:latin typeface="Cambria Math" panose="02040503050406030204" pitchFamily="18" charset="0"/>
                            </a:rPr>
                            <m:t>+</m:t>
                          </m:r>
                          <m:r>
                            <a:rPr lang="en-US" sz="2400" b="1" i="1" smtClean="0">
                              <a:solidFill>
                                <a:schemeClr val="accent5"/>
                              </a:solidFill>
                              <a:latin typeface="Cambria Math" panose="02040503050406030204" pitchFamily="18" charset="0"/>
                            </a:rPr>
                            <m:t>𝑶</m:t>
                          </m:r>
                          <m:r>
                            <a:rPr lang="en-US" sz="2400" b="1" i="1" smtClean="0">
                              <a:solidFill>
                                <a:schemeClr val="accent5"/>
                              </a:solidFill>
                              <a:latin typeface="Cambria Math" panose="02040503050406030204" pitchFamily="18" charset="0"/>
                            </a:rPr>
                            <m:t>(</m:t>
                          </m:r>
                          <m:r>
                            <a:rPr lang="en-US" sz="2400" b="1" i="1" smtClean="0">
                              <a:solidFill>
                                <a:schemeClr val="accent5"/>
                              </a:solidFill>
                              <a:latin typeface="Cambria Math" panose="02040503050406030204" pitchFamily="18" charset="0"/>
                            </a:rPr>
                            <m:t>𝒏</m:t>
                          </m:r>
                          <m:r>
                            <a:rPr lang="en-US" sz="2400" b="1" i="1" smtClean="0">
                              <a:solidFill>
                                <a:schemeClr val="accent5"/>
                              </a:solidFill>
                              <a:latin typeface="Cambria Math" panose="02040503050406030204" pitchFamily="18" charset="0"/>
                            </a:rPr>
                            <m:t>−</m:t>
                          </m:r>
                          <m:r>
                            <a:rPr lang="en-US" sz="2400" b="1" i="1" smtClean="0">
                              <a:solidFill>
                                <a:schemeClr val="accent5"/>
                              </a:solidFill>
                              <a:latin typeface="Cambria Math" panose="02040503050406030204" pitchFamily="18" charset="0"/>
                            </a:rPr>
                            <m:t>𝟏</m:t>
                          </m:r>
                          <m:r>
                            <a:rPr lang="en-US" sz="2400" b="1" i="1" smtClean="0">
                              <a:solidFill>
                                <a:schemeClr val="accent5"/>
                              </a:solidFill>
                              <a:latin typeface="Cambria Math" panose="02040503050406030204" pitchFamily="18" charset="0"/>
                            </a:rPr>
                            <m:t>)=</m:t>
                          </m:r>
                          <m:r>
                            <a:rPr lang="en-US" sz="2400" b="1" i="1">
                              <a:solidFill>
                                <a:schemeClr val="accent5"/>
                              </a:solidFill>
                              <a:latin typeface="Cambria Math" panose="02040503050406030204" pitchFamily="18" charset="0"/>
                            </a:rPr>
                            <m:t>𝑶</m:t>
                          </m:r>
                          <m:r>
                            <a:rPr lang="en-US" sz="2400" b="1" i="1">
                              <a:solidFill>
                                <a:schemeClr val="accent5"/>
                              </a:solidFill>
                              <a:latin typeface="Cambria Math" panose="02040503050406030204" pitchFamily="18" charset="0"/>
                            </a:rPr>
                            <m:t>(</m:t>
                          </m:r>
                          <m:r>
                            <a:rPr lang="en-US" sz="2400" b="1" i="1">
                              <a:solidFill>
                                <a:schemeClr val="accent5"/>
                              </a:solidFill>
                              <a:latin typeface="Cambria Math" panose="02040503050406030204" pitchFamily="18" charset="0"/>
                            </a:rPr>
                            <m:t>𝒏</m:t>
                          </m:r>
                          <m:func>
                            <m:funcPr>
                              <m:ctrlPr>
                                <a:rPr lang="en-US" sz="2400" b="1" i="1">
                                  <a:solidFill>
                                    <a:schemeClr val="accent5"/>
                                  </a:solidFill>
                                  <a:latin typeface="Cambria Math" panose="02040503050406030204" pitchFamily="18" charset="0"/>
                                </a:rPr>
                              </m:ctrlPr>
                            </m:funcPr>
                            <m:fName>
                              <m:r>
                                <a:rPr lang="en-US" sz="2400" b="1">
                                  <a:solidFill>
                                    <a:schemeClr val="accent5"/>
                                  </a:solidFill>
                                  <a:latin typeface="Cambria Math" panose="02040503050406030204" pitchFamily="18" charset="0"/>
                                </a:rPr>
                                <m:t>𝐥𝐨𝐠</m:t>
                              </m:r>
                            </m:fName>
                            <m:e>
                              <m:r>
                                <a:rPr lang="en-US" sz="2400" b="1" i="1">
                                  <a:solidFill>
                                    <a:schemeClr val="accent5"/>
                                  </a:solidFill>
                                  <a:latin typeface="Cambria Math" panose="02040503050406030204" pitchFamily="18" charset="0"/>
                                </a:rPr>
                                <m:t>𝒏</m:t>
                              </m:r>
                              <m:r>
                                <a:rPr lang="en-US" sz="2400" b="1" i="1">
                                  <a:solidFill>
                                    <a:schemeClr val="accent5"/>
                                  </a:solidFill>
                                  <a:latin typeface="Cambria Math" panose="02040503050406030204" pitchFamily="18" charset="0"/>
                                </a:rPr>
                                <m:t>)</m:t>
                              </m:r>
                            </m:e>
                          </m:func>
                        </m:e>
                      </m:func>
                    </m:oMath>
                  </m:oMathPara>
                </a14:m>
                <a:endParaRPr lang="en-US" sz="2400" b="1" dirty="0">
                  <a:solidFill>
                    <a:schemeClr val="accent5"/>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2232404" y="5338047"/>
                <a:ext cx="7727192" cy="830997"/>
              </a:xfrm>
              <a:prstGeom prst="rect">
                <a:avLst/>
              </a:prstGeom>
              <a:blipFill>
                <a:blip r:embed="rId8"/>
                <a:stretch>
                  <a:fillRect l="-1183" t="-5147" b="-10294"/>
                </a:stretch>
              </a:blipFill>
            </p:spPr>
            <p:txBody>
              <a:bodyPr/>
              <a:lstStyle/>
              <a:p>
                <a:r>
                  <a:rPr lang="en-US">
                    <a:noFill/>
                  </a:rPr>
                  <a:t> </a:t>
                </a:r>
              </a:p>
            </p:txBody>
          </p:sp>
        </mc:Fallback>
      </mc:AlternateContent>
      <p:sp>
        <p:nvSpPr>
          <p:cNvPr id="14" name="Rectangle 13"/>
          <p:cNvSpPr/>
          <p:nvPr/>
        </p:nvSpPr>
        <p:spPr>
          <a:xfrm>
            <a:off x="8364071" y="5741894"/>
            <a:ext cx="1465729" cy="443753"/>
          </a:xfrm>
          <a:prstGeom prst="rect">
            <a:avLst/>
          </a:prstGeom>
          <a:noFill/>
          <a:ln w="28575">
            <a:solidFill>
              <a:srgbClr val="ED52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6512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1" presetClass="entr" presetSubtype="1"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heel(1)">
                                      <p:cBhvr>
                                        <p:cTn id="40" dur="2000"/>
                                        <p:tgtEl>
                                          <p:spTgt spid="4"/>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wipe(left)">
                                      <p:cBhvr>
                                        <p:cTn id="44" dur="1000"/>
                                        <p:tgtEl>
                                          <p:spTgt spid="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1"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wipe(left)">
                                      <p:cBhvr>
                                        <p:cTn id="49" dur="1000"/>
                                        <p:tgtEl>
                                          <p:spTgt spid="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1" nodeType="click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wipe(down)">
                                      <p:cBhvr>
                                        <p:cTn id="54" dur="1000"/>
                                        <p:tgtEl>
                                          <p:spTgt spid="10"/>
                                        </p:tgtEl>
                                      </p:cBhvr>
                                    </p:animEffect>
                                  </p:childTnLst>
                                </p:cTn>
                              </p:par>
                            </p:childTnLst>
                          </p:cTn>
                        </p:par>
                      </p:childTnLst>
                    </p:cTn>
                  </p:par>
                  <p:par>
                    <p:cTn id="55" fill="hold">
                      <p:stCondLst>
                        <p:cond delay="indefinite"/>
                      </p:stCondLst>
                      <p:childTnLst>
                        <p:par>
                          <p:cTn id="56" fill="hold">
                            <p:stCondLst>
                              <p:cond delay="0"/>
                            </p:stCondLst>
                            <p:childTnLst>
                              <p:par>
                                <p:cTn id="57" presetID="14" presetClass="exit" presetSubtype="10" fill="hold" grpId="1" nodeType="clickEffect">
                                  <p:stCondLst>
                                    <p:cond delay="0"/>
                                  </p:stCondLst>
                                  <p:childTnLst>
                                    <p:animEffect transition="out" filter="randombar(horizontal)">
                                      <p:cBhvr>
                                        <p:cTn id="58" dur="500"/>
                                        <p:tgtEl>
                                          <p:spTgt spid="5"/>
                                        </p:tgtEl>
                                      </p:cBhvr>
                                    </p:animEffect>
                                    <p:set>
                                      <p:cBhvr>
                                        <p:cTn id="59" dur="1" fill="hold">
                                          <p:stCondLst>
                                            <p:cond delay="499"/>
                                          </p:stCondLst>
                                        </p:cTn>
                                        <p:tgtEl>
                                          <p:spTgt spid="5"/>
                                        </p:tgtEl>
                                        <p:attrNameLst>
                                          <p:attrName>style.visibility</p:attrName>
                                        </p:attrNameLst>
                                      </p:cBhvr>
                                      <p:to>
                                        <p:strVal val="hidden"/>
                                      </p:to>
                                    </p:set>
                                  </p:childTnLst>
                                </p:cTn>
                              </p:par>
                              <p:par>
                                <p:cTn id="60" presetID="14" presetClass="exit" presetSubtype="10" fill="hold" grpId="0" nodeType="withEffect">
                                  <p:stCondLst>
                                    <p:cond delay="0"/>
                                  </p:stCondLst>
                                  <p:childTnLst>
                                    <p:animEffect transition="out" filter="randombar(horizontal)">
                                      <p:cBhvr>
                                        <p:cTn id="61" dur="500"/>
                                        <p:tgtEl>
                                          <p:spTgt spid="9"/>
                                        </p:tgtEl>
                                      </p:cBhvr>
                                    </p:animEffect>
                                    <p:set>
                                      <p:cBhvr>
                                        <p:cTn id="62" dur="1" fill="hold">
                                          <p:stCondLst>
                                            <p:cond delay="499"/>
                                          </p:stCondLst>
                                        </p:cTn>
                                        <p:tgtEl>
                                          <p:spTgt spid="9"/>
                                        </p:tgtEl>
                                        <p:attrNameLst>
                                          <p:attrName>style.visibility</p:attrName>
                                        </p:attrNameLst>
                                      </p:cBhvr>
                                      <p:to>
                                        <p:strVal val="hidden"/>
                                      </p:to>
                                    </p:set>
                                  </p:childTnLst>
                                </p:cTn>
                              </p:par>
                              <p:par>
                                <p:cTn id="63" presetID="14" presetClass="exit" presetSubtype="10" fill="hold" grpId="0" nodeType="withEffect">
                                  <p:stCondLst>
                                    <p:cond delay="0"/>
                                  </p:stCondLst>
                                  <p:childTnLst>
                                    <p:animEffect transition="out" filter="randombar(horizontal)">
                                      <p:cBhvr>
                                        <p:cTn id="64" dur="500"/>
                                        <p:tgtEl>
                                          <p:spTgt spid="10"/>
                                        </p:tgtEl>
                                      </p:cBhvr>
                                    </p:animEffect>
                                    <p:set>
                                      <p:cBhvr>
                                        <p:cTn id="65" dur="1" fill="hold">
                                          <p:stCondLst>
                                            <p:cond delay="499"/>
                                          </p:stCondLst>
                                        </p:cTn>
                                        <p:tgtEl>
                                          <p:spTgt spid="10"/>
                                        </p:tgtEl>
                                        <p:attrNameLst>
                                          <p:attrName>style.visibility</p:attrName>
                                        </p:attrNameLst>
                                      </p:cBhvr>
                                      <p:to>
                                        <p:strVal val="hidden"/>
                                      </p:to>
                                    </p:set>
                                  </p:childTnLst>
                                </p:cTn>
                              </p:par>
                            </p:childTnLst>
                          </p:cTn>
                        </p:par>
                        <p:par>
                          <p:cTn id="66"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8"/>
                                        </p:tgtEl>
                                        <p:attrNameLst>
                                          <p:attrName>style.visibility</p:attrName>
                                        </p:attrNameLst>
                                      </p:cBhvr>
                                      <p:to>
                                        <p:strVal val="visible"/>
                                      </p:to>
                                    </p:set>
                                    <p:animEffect transition="in" filter="wipe(left)">
                                      <p:cBhvr>
                                        <p:cTn id="69" dur="1250"/>
                                        <p:tgtEl>
                                          <p:spTgt spid="8"/>
                                        </p:tgtEl>
                                      </p:cBhvr>
                                    </p:animEffect>
                                  </p:childTnLst>
                                </p:cTn>
                              </p:par>
                            </p:childTnLst>
                          </p:cTn>
                        </p:par>
                      </p:childTnLst>
                    </p:cTn>
                  </p:par>
                  <p:par>
                    <p:cTn id="70" fill="hold">
                      <p:stCondLst>
                        <p:cond delay="indefinite"/>
                      </p:stCondLst>
                      <p:childTnLst>
                        <p:par>
                          <p:cTn id="71" fill="hold">
                            <p:stCondLst>
                              <p:cond delay="0"/>
                            </p:stCondLst>
                            <p:childTnLst>
                              <p:par>
                                <p:cTn id="72" presetID="21" presetClass="entr" presetSubtype="1" fill="hold" grpId="0" nodeType="clickEffect">
                                  <p:stCondLst>
                                    <p:cond delay="0"/>
                                  </p:stCondLst>
                                  <p:childTnLst>
                                    <p:set>
                                      <p:cBhvr>
                                        <p:cTn id="73" dur="1" fill="hold">
                                          <p:stCondLst>
                                            <p:cond delay="0"/>
                                          </p:stCondLst>
                                        </p:cTn>
                                        <p:tgtEl>
                                          <p:spTgt spid="6"/>
                                        </p:tgtEl>
                                        <p:attrNameLst>
                                          <p:attrName>style.visibility</p:attrName>
                                        </p:attrNameLst>
                                      </p:cBhvr>
                                      <p:to>
                                        <p:strVal val="visible"/>
                                      </p:to>
                                    </p:set>
                                    <p:animEffect transition="in" filter="wheel(1)">
                                      <p:cBhvr>
                                        <p:cTn id="74" dur="750"/>
                                        <p:tgtEl>
                                          <p:spTgt spid="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wipe(left)">
                                      <p:cBhvr>
                                        <p:cTn id="79" dur="1000"/>
                                        <p:tgtEl>
                                          <p:spTgt spid="7"/>
                                        </p:tgtEl>
                                      </p:cBhvr>
                                    </p:animEffect>
                                  </p:childTnLst>
                                </p:cTn>
                              </p:par>
                            </p:childTnLst>
                          </p:cTn>
                        </p:par>
                      </p:childTnLst>
                    </p:cTn>
                  </p:par>
                  <p:par>
                    <p:cTn id="80" fill="hold">
                      <p:stCondLst>
                        <p:cond delay="indefinite"/>
                      </p:stCondLst>
                      <p:childTnLst>
                        <p:par>
                          <p:cTn id="81" fill="hold">
                            <p:stCondLst>
                              <p:cond delay="0"/>
                            </p:stCondLst>
                            <p:childTnLst>
                              <p:par>
                                <p:cTn id="82" presetID="21" presetClass="entr" presetSubtype="1" fill="hold" grpId="0" nodeType="click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wheel(1)">
                                      <p:cBhvr>
                                        <p:cTn id="84" dur="2000"/>
                                        <p:tgtEl>
                                          <p:spTgt spid="11"/>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2"/>
                                        </p:tgtEl>
                                        <p:attrNameLst>
                                          <p:attrName>style.visibility</p:attrName>
                                        </p:attrNameLst>
                                      </p:cBhvr>
                                      <p:to>
                                        <p:strVal val="visible"/>
                                      </p:to>
                                    </p:set>
                                    <p:animEffect transition="in" filter="wipe(left)">
                                      <p:cBhvr>
                                        <p:cTn id="89" dur="1000"/>
                                        <p:tgtEl>
                                          <p:spTgt spid="12"/>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3"/>
                                        </p:tgtEl>
                                        <p:attrNameLst>
                                          <p:attrName>style.visibility</p:attrName>
                                        </p:attrNameLst>
                                      </p:cBhvr>
                                      <p:to>
                                        <p:strVal val="visible"/>
                                      </p:to>
                                    </p:set>
                                    <p:animEffect transition="in" filter="wipe(left)">
                                      <p:cBhvr>
                                        <p:cTn id="94" dur="1500"/>
                                        <p:tgtEl>
                                          <p:spTgt spid="13"/>
                                        </p:tgtEl>
                                      </p:cBhvr>
                                    </p:animEffect>
                                  </p:childTnLst>
                                </p:cTn>
                              </p:par>
                            </p:childTnLst>
                          </p:cTn>
                        </p:par>
                        <p:par>
                          <p:cTn id="95" fill="hold">
                            <p:stCondLst>
                              <p:cond delay="1500"/>
                            </p:stCondLst>
                            <p:childTnLst>
                              <p:par>
                                <p:cTn id="96" presetID="21" presetClass="entr" presetSubtype="1" fill="hold" grpId="0" nodeType="afterEffect">
                                  <p:stCondLst>
                                    <p:cond delay="0"/>
                                  </p:stCondLst>
                                  <p:childTnLst>
                                    <p:set>
                                      <p:cBhvr>
                                        <p:cTn id="97" dur="1" fill="hold">
                                          <p:stCondLst>
                                            <p:cond delay="0"/>
                                          </p:stCondLst>
                                        </p:cTn>
                                        <p:tgtEl>
                                          <p:spTgt spid="14"/>
                                        </p:tgtEl>
                                        <p:attrNameLst>
                                          <p:attrName>style.visibility</p:attrName>
                                        </p:attrNameLst>
                                      </p:cBhvr>
                                      <p:to>
                                        <p:strVal val="visible"/>
                                      </p:to>
                                    </p:set>
                                    <p:animEffect transition="in" filter="wheel(1)">
                                      <p:cBhvr>
                                        <p:cTn id="98"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5" grpId="1" animBg="1"/>
      <p:bldP spid="6" grpId="0" animBg="1"/>
      <p:bldP spid="7" grpId="0" animBg="1"/>
      <p:bldP spid="8" grpId="0" animBg="1"/>
      <p:bldP spid="9" grpId="0" animBg="1"/>
      <p:bldP spid="9" grpId="1" animBg="1"/>
      <p:bldP spid="10" grpId="0" animBg="1"/>
      <p:bldP spid="10" grpId="1" animBg="1"/>
      <p:bldP spid="11" grpId="0" animBg="1"/>
      <p:bldP spid="12" grpId="0" animBg="1"/>
      <p:bldP spid="13" grpId="0"/>
      <p:bldP spid="1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1850" y="1709738"/>
            <a:ext cx="10515600" cy="2852737"/>
          </a:xfrm>
        </p:spPr>
        <p:txBody>
          <a:bodyPr/>
          <a:lstStyle/>
          <a:p>
            <a:r>
              <a:rPr lang="en-US" dirty="0"/>
              <a:t>Binomial Heap </a:t>
            </a:r>
          </a:p>
        </p:txBody>
      </p:sp>
      <p:sp>
        <p:nvSpPr>
          <p:cNvPr id="3" name="Text Placeholder 2"/>
          <p:cNvSpPr>
            <a:spLocks noGrp="1"/>
          </p:cNvSpPr>
          <p:nvPr>
            <p:ph type="body" idx="4294967295"/>
          </p:nvPr>
        </p:nvSpPr>
        <p:spPr>
          <a:xfrm>
            <a:off x="831850" y="4589463"/>
            <a:ext cx="10515600" cy="1500187"/>
          </a:xfrm>
        </p:spPr>
        <p:txBody>
          <a:bodyPr/>
          <a:lstStyle/>
          <a:p>
            <a:endParaRPr lang="en-US"/>
          </a:p>
        </p:txBody>
      </p:sp>
    </p:spTree>
    <p:extLst>
      <p:ext uri="{BB962C8B-B14F-4D97-AF65-F5344CB8AC3E}">
        <p14:creationId xmlns:p14="http://schemas.microsoft.com/office/powerpoint/2010/main" val="27004078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Binomial Tree</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altLang="en-US" dirty="0"/>
                  <a:t>A binomial heap is a collection of binomial trees.</a:t>
                </a:r>
              </a:p>
              <a:p>
                <a:r>
                  <a:rPr lang="en-US" altLang="en-US" dirty="0"/>
                  <a:t>Binomial tree </a:t>
                </a:r>
                <a:r>
                  <a:rPr lang="en-US" altLang="en-US" dirty="0">
                    <a:highlight>
                      <a:srgbClr val="FFFF00"/>
                    </a:highlight>
                  </a:rPr>
                  <a:t>B</a:t>
                </a:r>
                <a:r>
                  <a:rPr lang="en-US" altLang="en-US" baseline="-25000" dirty="0">
                    <a:highlight>
                      <a:srgbClr val="FFFF00"/>
                    </a:highlight>
                  </a:rPr>
                  <a:t>k</a:t>
                </a:r>
                <a:r>
                  <a:rPr lang="en-US" altLang="en-US" dirty="0"/>
                  <a:t> is an ordered tree defined recursively.  The binomial tree B</a:t>
                </a:r>
                <a:r>
                  <a:rPr lang="en-US" altLang="en-US" baseline="-25000" dirty="0"/>
                  <a:t>0</a:t>
                </a:r>
                <a:r>
                  <a:rPr lang="en-US" altLang="en-US" dirty="0"/>
                  <a:t> has one node.  The binomial tree </a:t>
                </a:r>
                <a:r>
                  <a:rPr lang="en-US" altLang="en-US" dirty="0">
                    <a:highlight>
                      <a:srgbClr val="00FF00"/>
                    </a:highlight>
                  </a:rPr>
                  <a:t>B</a:t>
                </a:r>
                <a:r>
                  <a:rPr lang="en-US" altLang="en-US" baseline="-25000" dirty="0">
                    <a:highlight>
                      <a:srgbClr val="00FF00"/>
                    </a:highlight>
                  </a:rPr>
                  <a:t>k</a:t>
                </a:r>
                <a:r>
                  <a:rPr lang="en-US" altLang="en-US" dirty="0">
                    <a:highlight>
                      <a:srgbClr val="00FF00"/>
                    </a:highlight>
                  </a:rPr>
                  <a:t> consists of two binomial trees B</a:t>
                </a:r>
                <a:r>
                  <a:rPr lang="en-US" altLang="en-US" baseline="-25000" dirty="0">
                    <a:highlight>
                      <a:srgbClr val="00FF00"/>
                    </a:highlight>
                  </a:rPr>
                  <a:t>k-1</a:t>
                </a:r>
                <a:r>
                  <a:rPr lang="en-US" altLang="en-US" dirty="0"/>
                  <a:t> and they are connected such that the root of one tree is the leftmost child of the other. </a:t>
                </a:r>
              </a:p>
              <a:p>
                <a:pPr>
                  <a:buNone/>
                </a:pPr>
                <a:endParaRPr lang="en-US" altLang="en-US" dirty="0"/>
              </a:p>
              <a:p>
                <a:r>
                  <a:rPr lang="en-US" altLang="en-US" dirty="0"/>
                  <a:t>Binomial tree properties:</a:t>
                </a:r>
              </a:p>
              <a:p>
                <a:pPr lvl="1"/>
                <a:r>
                  <a:rPr lang="en-US" altLang="en-US" sz="2400" dirty="0">
                    <a:highlight>
                      <a:srgbClr val="FFFF00"/>
                    </a:highlight>
                  </a:rPr>
                  <a:t>B</a:t>
                </a:r>
                <a:r>
                  <a:rPr lang="en-US" altLang="en-US" sz="2400" baseline="-25000" dirty="0">
                    <a:highlight>
                      <a:srgbClr val="FFFF00"/>
                    </a:highlight>
                  </a:rPr>
                  <a:t>k</a:t>
                </a:r>
                <a:r>
                  <a:rPr lang="en-US" altLang="en-US" sz="2400" dirty="0"/>
                  <a:t> has </a:t>
                </a:r>
                <a:r>
                  <a:rPr lang="en-US" altLang="en-US" sz="2400" dirty="0">
                    <a:highlight>
                      <a:srgbClr val="00FF00"/>
                    </a:highlight>
                  </a:rPr>
                  <a:t>2</a:t>
                </a:r>
                <a:r>
                  <a:rPr lang="en-US" altLang="en-US" sz="2400" baseline="30000" dirty="0">
                    <a:highlight>
                      <a:srgbClr val="00FF00"/>
                    </a:highlight>
                  </a:rPr>
                  <a:t>k</a:t>
                </a:r>
                <a:r>
                  <a:rPr lang="en-US" altLang="en-US" sz="2400" dirty="0"/>
                  <a:t> nodes</a:t>
                </a:r>
              </a:p>
              <a:p>
                <a:pPr lvl="1"/>
                <a:r>
                  <a:rPr lang="en-US" altLang="en-US" sz="2400" dirty="0"/>
                  <a:t>B</a:t>
                </a:r>
                <a:r>
                  <a:rPr lang="en-US" altLang="en-US" sz="2400" baseline="-25000" dirty="0"/>
                  <a:t>k</a:t>
                </a:r>
                <a:r>
                  <a:rPr lang="en-US" altLang="en-US" sz="2400" dirty="0"/>
                  <a:t> has height k </a:t>
                </a:r>
              </a:p>
              <a:p>
                <a:pPr lvl="1"/>
                <a:r>
                  <a:rPr lang="en-US" altLang="en-US" sz="2400" dirty="0"/>
                  <a:t>For any binomial tree </a:t>
                </a:r>
                <a:r>
                  <a:rPr lang="en-US" altLang="en-US" sz="2400" dirty="0">
                    <a:highlight>
                      <a:srgbClr val="00FF00"/>
                    </a:highlight>
                  </a:rPr>
                  <a:t>B</a:t>
                </a:r>
                <a:r>
                  <a:rPr lang="en-US" altLang="en-US" sz="2400" baseline="-25000" dirty="0">
                    <a:highlight>
                      <a:srgbClr val="00FF00"/>
                    </a:highlight>
                  </a:rPr>
                  <a:t>k</a:t>
                </a:r>
                <a:r>
                  <a:rPr lang="en-US" altLang="en-US" sz="2400" baseline="-25000" dirty="0"/>
                  <a:t> , </a:t>
                </a:r>
                <a:r>
                  <a:rPr lang="en-US" altLang="en-US" sz="2400" dirty="0"/>
                  <a:t>Number of nodes at depth </a:t>
                </a:r>
                <a:r>
                  <a:rPr lang="en-US" altLang="en-US" sz="2400" dirty="0" err="1"/>
                  <a:t>i</a:t>
                </a:r>
                <a:r>
                  <a:rPr lang="en-US" altLang="en-US" sz="2400" dirty="0"/>
                  <a:t> is given by binomial coefficient </a:t>
                </a:r>
                <a:r>
                  <a:rPr lang="en-US" altLang="en-US" sz="2400" b="1" dirty="0">
                    <a:highlight>
                      <a:srgbClr val="00FF00"/>
                    </a:highlight>
                    <a:latin typeface="Cambria Math" panose="02040503050406030204" pitchFamily="18" charset="0"/>
                    <a:ea typeface="Cambria Math" panose="02040503050406030204" pitchFamily="18" charset="0"/>
                  </a:rPr>
                  <a:t>C(</a:t>
                </a:r>
                <a:r>
                  <a:rPr lang="en-US" altLang="en-US" sz="2400" b="1" dirty="0" err="1">
                    <a:highlight>
                      <a:srgbClr val="00FF00"/>
                    </a:highlight>
                    <a:latin typeface="Cambria Math" panose="02040503050406030204" pitchFamily="18" charset="0"/>
                    <a:ea typeface="Cambria Math" panose="02040503050406030204" pitchFamily="18" charset="0"/>
                  </a:rPr>
                  <a:t>k,i</a:t>
                </a:r>
                <a:r>
                  <a:rPr lang="en-US" altLang="en-US" sz="2400" b="1" dirty="0">
                    <a:highlight>
                      <a:srgbClr val="00FF00"/>
                    </a:highlight>
                    <a:latin typeface="Cambria Math" panose="02040503050406030204" pitchFamily="18" charset="0"/>
                    <a:ea typeface="Cambria Math" panose="02040503050406030204" pitchFamily="18" charset="0"/>
                  </a:rPr>
                  <a:t>)</a:t>
                </a:r>
                <a:r>
                  <a:rPr lang="en-US" altLang="en-US" sz="2400" dirty="0"/>
                  <a:t> for </a:t>
                </a:r>
                <a:r>
                  <a:rPr lang="en-US" altLang="en-US" i="1" dirty="0" err="1">
                    <a:latin typeface="Cambria Math" panose="02040503050406030204" pitchFamily="18" charset="0"/>
                    <a:ea typeface="Cambria Math" panose="02040503050406030204" pitchFamily="18" charset="0"/>
                  </a:rPr>
                  <a:t>i</a:t>
                </a:r>
                <a:r>
                  <a:rPr lang="en-US" altLang="en-US" i="1" dirty="0">
                    <a:latin typeface="Cambria Math" panose="02040503050406030204" pitchFamily="18" charset="0"/>
                    <a:ea typeface="Cambria Math" panose="02040503050406030204" pitchFamily="18" charset="0"/>
                  </a:rPr>
                  <a:t>=0, 1, 2,…,k</a:t>
                </a:r>
                <a:r>
                  <a:rPr lang="en-US" altLang="en-US" sz="2400" dirty="0"/>
                  <a:t>. </a:t>
                </a:r>
                <a:r>
                  <a:rPr lang="en-US" altLang="en-US" sz="2400" dirty="0">
                    <a:latin typeface="Cambria Math" panose="02040503050406030204" pitchFamily="18" charset="0"/>
                    <a:ea typeface="Cambria Math" panose="02040503050406030204" pitchFamily="18" charset="0"/>
                  </a:rPr>
                  <a:t>{</a:t>
                </a:r>
                <a:r>
                  <a:rPr lang="en-US" altLang="en-US" sz="1800" dirty="0">
                    <a:latin typeface="Cambria Math" panose="02040503050406030204" pitchFamily="18" charset="0"/>
                    <a:ea typeface="Cambria Math" panose="02040503050406030204" pitchFamily="18" charset="0"/>
                  </a:rPr>
                  <a:t>C(</a:t>
                </a:r>
                <a:r>
                  <a:rPr lang="en-US" altLang="en-US" sz="1800" dirty="0" err="1">
                    <a:latin typeface="Cambria Math" panose="02040503050406030204" pitchFamily="18" charset="0"/>
                    <a:ea typeface="Cambria Math" panose="02040503050406030204" pitchFamily="18" charset="0"/>
                  </a:rPr>
                  <a:t>k,i</a:t>
                </a:r>
                <a:r>
                  <a:rPr lang="en-US" altLang="en-US" sz="1800" dirty="0">
                    <a:latin typeface="Cambria Math" panose="02040503050406030204" pitchFamily="18" charset="0"/>
                    <a:ea typeface="Cambria Math" panose="02040503050406030204" pitchFamily="18" charset="0"/>
                  </a:rPr>
                  <a:t>)=</a:t>
                </a:r>
                <a14:m>
                  <m:oMath xmlns:m="http://schemas.openxmlformats.org/officeDocument/2006/math">
                    <m:f>
                      <m:fPr>
                        <m:ctrlPr>
                          <a:rPr lang="en-US" altLang="en-US" sz="2400" i="1" smtClean="0">
                            <a:latin typeface="Cambria Math" panose="02040503050406030204" pitchFamily="18" charset="0"/>
                            <a:ea typeface="Cambria Math" panose="02040503050406030204" pitchFamily="18" charset="0"/>
                          </a:rPr>
                        </m:ctrlPr>
                      </m:fPr>
                      <m:num>
                        <m:r>
                          <a:rPr lang="en-IN" altLang="en-US" sz="2400" b="0" i="1" smtClean="0">
                            <a:latin typeface="Cambria Math" panose="02040503050406030204" pitchFamily="18" charset="0"/>
                            <a:ea typeface="Cambria Math" panose="02040503050406030204" pitchFamily="18" charset="0"/>
                          </a:rPr>
                          <m:t>𝑘</m:t>
                        </m:r>
                        <m:r>
                          <a:rPr lang="en-IN" altLang="en-US" sz="2400" b="0" i="1" smtClean="0">
                            <a:latin typeface="Cambria Math" panose="02040503050406030204" pitchFamily="18" charset="0"/>
                            <a:ea typeface="Cambria Math" panose="02040503050406030204" pitchFamily="18" charset="0"/>
                          </a:rPr>
                          <m:t>!</m:t>
                        </m:r>
                      </m:num>
                      <m:den>
                        <m:r>
                          <a:rPr lang="en-IN" altLang="en-US" sz="2400" b="0" i="1" smtClean="0">
                            <a:latin typeface="Cambria Math" panose="02040503050406030204" pitchFamily="18" charset="0"/>
                            <a:ea typeface="Cambria Math" panose="02040503050406030204" pitchFamily="18" charset="0"/>
                          </a:rPr>
                          <m:t>𝑖</m:t>
                        </m:r>
                        <m:r>
                          <a:rPr lang="en-IN" altLang="en-US" sz="2400" b="0" i="1" smtClean="0">
                            <a:latin typeface="Cambria Math" panose="02040503050406030204" pitchFamily="18" charset="0"/>
                            <a:ea typeface="Cambria Math" panose="02040503050406030204" pitchFamily="18" charset="0"/>
                          </a:rPr>
                          <m:t>!∗</m:t>
                        </m:r>
                        <m:d>
                          <m:dPr>
                            <m:ctrlPr>
                              <a:rPr lang="en-IN" altLang="en-US" sz="2400" b="0" i="1" smtClean="0">
                                <a:latin typeface="Cambria Math" panose="02040503050406030204" pitchFamily="18" charset="0"/>
                                <a:ea typeface="Cambria Math" panose="02040503050406030204" pitchFamily="18" charset="0"/>
                              </a:rPr>
                            </m:ctrlPr>
                          </m:dPr>
                          <m:e>
                            <m:r>
                              <a:rPr lang="en-IN" altLang="en-US" sz="2400" b="0" i="1" smtClean="0">
                                <a:latin typeface="Cambria Math" panose="02040503050406030204" pitchFamily="18" charset="0"/>
                                <a:ea typeface="Cambria Math" panose="02040503050406030204" pitchFamily="18" charset="0"/>
                              </a:rPr>
                              <m:t>𝑘</m:t>
                            </m:r>
                            <m:r>
                              <a:rPr lang="en-IN" altLang="en-US" sz="2400" b="0" i="1" smtClean="0">
                                <a:latin typeface="Cambria Math" panose="02040503050406030204" pitchFamily="18" charset="0"/>
                                <a:ea typeface="Cambria Math" panose="02040503050406030204" pitchFamily="18" charset="0"/>
                              </a:rPr>
                              <m:t>−</m:t>
                            </m:r>
                            <m:r>
                              <a:rPr lang="en-IN" altLang="en-US" sz="2400" b="0" i="1" smtClean="0">
                                <a:latin typeface="Cambria Math" panose="02040503050406030204" pitchFamily="18" charset="0"/>
                                <a:ea typeface="Cambria Math" panose="02040503050406030204" pitchFamily="18" charset="0"/>
                              </a:rPr>
                              <m:t>𝑖</m:t>
                            </m:r>
                          </m:e>
                        </m:d>
                        <m:r>
                          <a:rPr lang="en-IN" altLang="en-US" sz="2400" b="0" i="1" smtClean="0">
                            <a:latin typeface="Cambria Math" panose="02040503050406030204" pitchFamily="18" charset="0"/>
                            <a:ea typeface="Cambria Math" panose="02040503050406030204" pitchFamily="18" charset="0"/>
                          </a:rPr>
                          <m:t>!</m:t>
                        </m:r>
                      </m:den>
                    </m:f>
                  </m:oMath>
                </a14:m>
                <a:r>
                  <a:rPr lang="en-US" altLang="en-US" sz="2400" dirty="0">
                    <a:latin typeface="Cambria Math" panose="02040503050406030204" pitchFamily="18" charset="0"/>
                    <a:ea typeface="Cambria Math" panose="02040503050406030204" pitchFamily="18" charset="0"/>
                  </a:rPr>
                  <a:t>}</a:t>
                </a:r>
              </a:p>
              <a:p>
                <a:pPr lvl="1"/>
                <a:r>
                  <a:rPr lang="en-US" altLang="en-US" sz="2400" dirty="0"/>
                  <a:t>The root has degree k which is greater than other node in the tree.  Each of the root’s child is the root of a subtree B</a:t>
                </a:r>
                <a:r>
                  <a:rPr lang="en-US" altLang="en-US" sz="2400" baseline="-25000" dirty="0"/>
                  <a:t>i</a:t>
                </a:r>
                <a:r>
                  <a:rPr lang="en-US" altLang="en-US" sz="2400" dirty="0"/>
                  <a:t>.</a:t>
                </a:r>
              </a:p>
              <a:p>
                <a:endParaRPr lang="en-US" altLang="en-US" sz="2000"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r="-818"/>
                </a:stretch>
              </a:blipFill>
            </p:spPr>
            <p:txBody>
              <a:bodyPr/>
              <a:lstStyle/>
              <a:p>
                <a:r>
                  <a:rPr lang="en-IN">
                    <a:noFill/>
                  </a:rPr>
                  <a:t> </a:t>
                </a:r>
              </a:p>
            </p:txBody>
          </p:sp>
        </mc:Fallback>
      </mc:AlternateContent>
    </p:spTree>
    <p:extLst>
      <p:ext uri="{BB962C8B-B14F-4D97-AF65-F5344CB8AC3E}">
        <p14:creationId xmlns:p14="http://schemas.microsoft.com/office/powerpoint/2010/main" val="2917334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 Binomial Tree Example</a:t>
            </a:r>
            <a:endParaRPr lang="en-IN" dirty="0"/>
          </a:p>
        </p:txBody>
      </p:sp>
      <p:sp>
        <p:nvSpPr>
          <p:cNvPr id="6" name="Oval 4"/>
          <p:cNvSpPr>
            <a:spLocks noChangeArrowheads="1"/>
          </p:cNvSpPr>
          <p:nvPr/>
        </p:nvSpPr>
        <p:spPr bwMode="auto">
          <a:xfrm>
            <a:off x="349596" y="2144523"/>
            <a:ext cx="343364" cy="359094"/>
          </a:xfrm>
          <a:prstGeom prst="ellipse">
            <a:avLst/>
          </a:prstGeom>
          <a:ln w="28575"/>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en-US" dirty="0">
                <a:solidFill>
                  <a:schemeClr val="lt1"/>
                </a:solidFill>
              </a:rPr>
              <a:t>7</a:t>
            </a:r>
          </a:p>
        </p:txBody>
      </p:sp>
      <p:sp>
        <p:nvSpPr>
          <p:cNvPr id="7" name="Text Box 5"/>
          <p:cNvSpPr txBox="1">
            <a:spLocks noChangeArrowheads="1"/>
          </p:cNvSpPr>
          <p:nvPr/>
        </p:nvSpPr>
        <p:spPr bwMode="auto">
          <a:xfrm>
            <a:off x="261592" y="1225989"/>
            <a:ext cx="10300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B</a:t>
            </a:r>
            <a:r>
              <a:rPr lang="en-US" altLang="en-US" baseline="-25000" dirty="0"/>
              <a:t>0</a:t>
            </a:r>
          </a:p>
        </p:txBody>
      </p:sp>
      <p:sp>
        <p:nvSpPr>
          <p:cNvPr id="8" name="Text Box 10"/>
          <p:cNvSpPr txBox="1">
            <a:spLocks noChangeArrowheads="1"/>
          </p:cNvSpPr>
          <p:nvPr/>
        </p:nvSpPr>
        <p:spPr bwMode="auto">
          <a:xfrm>
            <a:off x="1252191" y="1225989"/>
            <a:ext cx="9156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B</a:t>
            </a:r>
            <a:r>
              <a:rPr lang="en-US" altLang="en-US" baseline="-25000" dirty="0"/>
              <a:t>1</a:t>
            </a:r>
          </a:p>
        </p:txBody>
      </p:sp>
      <p:grpSp>
        <p:nvGrpSpPr>
          <p:cNvPr id="9" name="Group 13"/>
          <p:cNvGrpSpPr>
            <a:grpSpLocks/>
          </p:cNvGrpSpPr>
          <p:nvPr/>
        </p:nvGrpSpPr>
        <p:grpSpPr bwMode="auto">
          <a:xfrm>
            <a:off x="1263996" y="2080508"/>
            <a:ext cx="343364" cy="1077280"/>
            <a:chOff x="1824" y="1872"/>
            <a:chExt cx="144" cy="432"/>
          </a:xfrm>
          <a:effectLst>
            <a:outerShdw blurRad="50800" dist="38100" dir="2700000" algn="tl" rotWithShape="0">
              <a:prstClr val="black">
                <a:alpha val="40000"/>
              </a:prstClr>
            </a:outerShdw>
          </a:effectLst>
        </p:grpSpPr>
        <p:sp>
          <p:nvSpPr>
            <p:cNvPr id="10" name="Oval 8"/>
            <p:cNvSpPr>
              <a:spLocks noChangeArrowheads="1"/>
            </p:cNvSpPr>
            <p:nvPr/>
          </p:nvSpPr>
          <p:spPr bwMode="auto">
            <a:xfrm>
              <a:off x="1824" y="1872"/>
              <a:ext cx="144" cy="144"/>
            </a:xfrm>
            <a:prstGeom prst="ellipse">
              <a:avLst/>
            </a:prstGeom>
            <a:ln w="28575"/>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en-US" dirty="0">
                  <a:solidFill>
                    <a:schemeClr val="lt1"/>
                  </a:solidFill>
                </a:rPr>
                <a:t>5</a:t>
              </a:r>
            </a:p>
          </p:txBody>
        </p:sp>
        <p:sp>
          <p:nvSpPr>
            <p:cNvPr id="11" name="Oval 9"/>
            <p:cNvSpPr>
              <a:spLocks noChangeArrowheads="1"/>
            </p:cNvSpPr>
            <p:nvPr/>
          </p:nvSpPr>
          <p:spPr bwMode="auto">
            <a:xfrm>
              <a:off x="1824" y="2160"/>
              <a:ext cx="144" cy="144"/>
            </a:xfrm>
            <a:prstGeom prst="ellipse">
              <a:avLst/>
            </a:prstGeom>
            <a:ln w="28575"/>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en-US" dirty="0">
                  <a:solidFill>
                    <a:schemeClr val="lt1"/>
                  </a:solidFill>
                </a:rPr>
                <a:t>8</a:t>
              </a:r>
            </a:p>
          </p:txBody>
        </p:sp>
        <p:sp>
          <p:nvSpPr>
            <p:cNvPr id="12" name="Freeform 11"/>
            <p:cNvSpPr>
              <a:spLocks/>
            </p:cNvSpPr>
            <p:nvPr/>
          </p:nvSpPr>
          <p:spPr bwMode="auto">
            <a:xfrm>
              <a:off x="1899" y="2013"/>
              <a:ext cx="1" cy="145"/>
            </a:xfrm>
            <a:custGeom>
              <a:avLst/>
              <a:gdLst>
                <a:gd name="T0" fmla="*/ 0 w 1"/>
                <a:gd name="T1" fmla="*/ 0 h 145"/>
                <a:gd name="T2" fmla="*/ 0 w 1"/>
                <a:gd name="T3" fmla="*/ 145 h 145"/>
                <a:gd name="T4" fmla="*/ 0 60000 65536"/>
                <a:gd name="T5" fmla="*/ 0 60000 65536"/>
                <a:gd name="T6" fmla="*/ 0 w 1"/>
                <a:gd name="T7" fmla="*/ 0 h 145"/>
                <a:gd name="T8" fmla="*/ 1 w 1"/>
                <a:gd name="T9" fmla="*/ 145 h 145"/>
              </a:gdLst>
              <a:ahLst/>
              <a:cxnLst>
                <a:cxn ang="T4">
                  <a:pos x="T0" y="T1"/>
                </a:cxn>
                <a:cxn ang="T5">
                  <a:pos x="T2" y="T3"/>
                </a:cxn>
              </a:cxnLst>
              <a:rect l="T6" t="T7" r="T8" b="T9"/>
              <a:pathLst>
                <a:path w="1" h="145">
                  <a:moveTo>
                    <a:pt x="0" y="0"/>
                  </a:moveTo>
                  <a:lnTo>
                    <a:pt x="0" y="145"/>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sp>
        <p:nvSpPr>
          <p:cNvPr id="13" name="Text Box 24"/>
          <p:cNvSpPr txBox="1">
            <a:spLocks noChangeArrowheads="1"/>
          </p:cNvSpPr>
          <p:nvPr/>
        </p:nvSpPr>
        <p:spPr bwMode="auto">
          <a:xfrm>
            <a:off x="2014191" y="1225989"/>
            <a:ext cx="1259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B</a:t>
            </a:r>
            <a:r>
              <a:rPr lang="en-US" altLang="en-US" baseline="-25000" dirty="0"/>
              <a:t>2</a:t>
            </a:r>
          </a:p>
        </p:txBody>
      </p:sp>
      <p:grpSp>
        <p:nvGrpSpPr>
          <p:cNvPr id="14" name="Group 28"/>
          <p:cNvGrpSpPr>
            <a:grpSpLocks/>
          </p:cNvGrpSpPr>
          <p:nvPr/>
        </p:nvGrpSpPr>
        <p:grpSpPr bwMode="auto">
          <a:xfrm>
            <a:off x="2025996" y="1972301"/>
            <a:ext cx="1144547" cy="1436372"/>
            <a:chOff x="2256" y="1872"/>
            <a:chExt cx="480" cy="576"/>
          </a:xfrm>
          <a:effectLst>
            <a:outerShdw blurRad="50800" dist="38100" dir="2700000" algn="tl" rotWithShape="0">
              <a:prstClr val="black">
                <a:alpha val="40000"/>
              </a:prstClr>
            </a:outerShdw>
          </a:effectLst>
        </p:grpSpPr>
        <p:grpSp>
          <p:nvGrpSpPr>
            <p:cNvPr id="15" name="Group 15"/>
            <p:cNvGrpSpPr>
              <a:grpSpLocks/>
            </p:cNvGrpSpPr>
            <p:nvPr/>
          </p:nvGrpSpPr>
          <p:grpSpPr bwMode="auto">
            <a:xfrm>
              <a:off x="2592" y="1872"/>
              <a:ext cx="144" cy="432"/>
              <a:chOff x="1824" y="1872"/>
              <a:chExt cx="144" cy="432"/>
            </a:xfrm>
          </p:grpSpPr>
          <p:sp>
            <p:nvSpPr>
              <p:cNvPr id="21" name="Oval 16"/>
              <p:cNvSpPr>
                <a:spLocks noChangeArrowheads="1"/>
              </p:cNvSpPr>
              <p:nvPr/>
            </p:nvSpPr>
            <p:spPr bwMode="auto">
              <a:xfrm>
                <a:off x="1824" y="1872"/>
                <a:ext cx="144" cy="144"/>
              </a:xfrm>
              <a:prstGeom prst="ellipse">
                <a:avLst/>
              </a:prstGeom>
              <a:ln w="28575">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10</a:t>
                </a:r>
              </a:p>
            </p:txBody>
          </p:sp>
          <p:sp>
            <p:nvSpPr>
              <p:cNvPr id="22" name="Oval 17"/>
              <p:cNvSpPr>
                <a:spLocks noChangeArrowheads="1"/>
              </p:cNvSpPr>
              <p:nvPr/>
            </p:nvSpPr>
            <p:spPr bwMode="auto">
              <a:xfrm>
                <a:off x="1824" y="2160"/>
                <a:ext cx="144" cy="144"/>
              </a:xfrm>
              <a:prstGeom prst="ellipse">
                <a:avLst/>
              </a:prstGeom>
              <a:ln w="28575">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23" name="Freeform 18"/>
              <p:cNvSpPr>
                <a:spLocks/>
              </p:cNvSpPr>
              <p:nvPr/>
            </p:nvSpPr>
            <p:spPr bwMode="auto">
              <a:xfrm>
                <a:off x="1899" y="2013"/>
                <a:ext cx="1" cy="145"/>
              </a:xfrm>
              <a:custGeom>
                <a:avLst/>
                <a:gdLst>
                  <a:gd name="T0" fmla="*/ 0 w 1"/>
                  <a:gd name="T1" fmla="*/ 0 h 145"/>
                  <a:gd name="T2" fmla="*/ 0 w 1"/>
                  <a:gd name="T3" fmla="*/ 145 h 145"/>
                  <a:gd name="T4" fmla="*/ 0 60000 65536"/>
                  <a:gd name="T5" fmla="*/ 0 60000 65536"/>
                  <a:gd name="T6" fmla="*/ 0 w 1"/>
                  <a:gd name="T7" fmla="*/ 0 h 145"/>
                  <a:gd name="T8" fmla="*/ 1 w 1"/>
                  <a:gd name="T9" fmla="*/ 145 h 145"/>
                </a:gdLst>
                <a:ahLst/>
                <a:cxnLst>
                  <a:cxn ang="T4">
                    <a:pos x="T0" y="T1"/>
                  </a:cxn>
                  <a:cxn ang="T5">
                    <a:pos x="T2" y="T3"/>
                  </a:cxn>
                </a:cxnLst>
                <a:rect l="T6" t="T7" r="T8" b="T9"/>
                <a:pathLst>
                  <a:path w="1" h="145">
                    <a:moveTo>
                      <a:pt x="0" y="0"/>
                    </a:moveTo>
                    <a:lnTo>
                      <a:pt x="0" y="145"/>
                    </a:lnTo>
                  </a:path>
                </a:pathLst>
              </a:custGeom>
              <a:ln w="28575">
                <a:headEnd/>
                <a:tailEnd/>
              </a:ln>
            </p:spPr>
            <p:style>
              <a:lnRef idx="2">
                <a:schemeClr val="accent3">
                  <a:shade val="50000"/>
                </a:schemeClr>
              </a:lnRef>
              <a:fillRef idx="1">
                <a:schemeClr val="accent3"/>
              </a:fillRef>
              <a:effectRef idx="0">
                <a:schemeClr val="accent3"/>
              </a:effectRef>
              <a:fontRef idx="minor">
                <a:schemeClr val="lt1"/>
              </a:fontRef>
            </p:style>
            <p:txBody>
              <a:bodyPr/>
              <a:lstStyle/>
              <a:p>
                <a:endParaRPr lang="en-IN"/>
              </a:p>
            </p:txBody>
          </p:sp>
        </p:grpSp>
        <p:grpSp>
          <p:nvGrpSpPr>
            <p:cNvPr id="16" name="Group 19"/>
            <p:cNvGrpSpPr>
              <a:grpSpLocks/>
            </p:cNvGrpSpPr>
            <p:nvPr/>
          </p:nvGrpSpPr>
          <p:grpSpPr bwMode="auto">
            <a:xfrm>
              <a:off x="2256" y="2016"/>
              <a:ext cx="144" cy="432"/>
              <a:chOff x="1824" y="1872"/>
              <a:chExt cx="144" cy="432"/>
            </a:xfrm>
          </p:grpSpPr>
          <p:sp>
            <p:nvSpPr>
              <p:cNvPr id="18" name="Oval 20"/>
              <p:cNvSpPr>
                <a:spLocks noChangeArrowheads="1"/>
              </p:cNvSpPr>
              <p:nvPr/>
            </p:nvSpPr>
            <p:spPr bwMode="auto">
              <a:xfrm>
                <a:off x="1824" y="1872"/>
                <a:ext cx="144" cy="144"/>
              </a:xfrm>
              <a:prstGeom prst="ellipse">
                <a:avLst/>
              </a:prstGeom>
              <a:ln w="28575">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4</a:t>
                </a:r>
              </a:p>
            </p:txBody>
          </p:sp>
          <p:sp>
            <p:nvSpPr>
              <p:cNvPr id="19" name="Oval 21"/>
              <p:cNvSpPr>
                <a:spLocks noChangeArrowheads="1"/>
              </p:cNvSpPr>
              <p:nvPr/>
            </p:nvSpPr>
            <p:spPr bwMode="auto">
              <a:xfrm>
                <a:off x="1824" y="2160"/>
                <a:ext cx="144" cy="144"/>
              </a:xfrm>
              <a:prstGeom prst="ellipse">
                <a:avLst/>
              </a:prstGeom>
              <a:ln w="28575">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6</a:t>
                </a:r>
              </a:p>
            </p:txBody>
          </p:sp>
          <p:sp>
            <p:nvSpPr>
              <p:cNvPr id="20" name="Freeform 22"/>
              <p:cNvSpPr>
                <a:spLocks/>
              </p:cNvSpPr>
              <p:nvPr/>
            </p:nvSpPr>
            <p:spPr bwMode="auto">
              <a:xfrm>
                <a:off x="1899" y="2013"/>
                <a:ext cx="1" cy="145"/>
              </a:xfrm>
              <a:custGeom>
                <a:avLst/>
                <a:gdLst>
                  <a:gd name="T0" fmla="*/ 0 w 1"/>
                  <a:gd name="T1" fmla="*/ 0 h 145"/>
                  <a:gd name="T2" fmla="*/ 0 w 1"/>
                  <a:gd name="T3" fmla="*/ 145 h 145"/>
                  <a:gd name="T4" fmla="*/ 0 60000 65536"/>
                  <a:gd name="T5" fmla="*/ 0 60000 65536"/>
                  <a:gd name="T6" fmla="*/ 0 w 1"/>
                  <a:gd name="T7" fmla="*/ 0 h 145"/>
                  <a:gd name="T8" fmla="*/ 1 w 1"/>
                  <a:gd name="T9" fmla="*/ 145 h 145"/>
                </a:gdLst>
                <a:ahLst/>
                <a:cxnLst>
                  <a:cxn ang="T4">
                    <a:pos x="T0" y="T1"/>
                  </a:cxn>
                  <a:cxn ang="T5">
                    <a:pos x="T2" y="T3"/>
                  </a:cxn>
                </a:cxnLst>
                <a:rect l="T6" t="T7" r="T8" b="T9"/>
                <a:pathLst>
                  <a:path w="1" h="145">
                    <a:moveTo>
                      <a:pt x="0" y="0"/>
                    </a:moveTo>
                    <a:lnTo>
                      <a:pt x="0" y="145"/>
                    </a:lnTo>
                  </a:path>
                </a:pathLst>
              </a:custGeom>
              <a:ln w="28575">
                <a:headEnd/>
                <a:tailEnd/>
              </a:ln>
            </p:spPr>
            <p:style>
              <a:lnRef idx="2">
                <a:schemeClr val="accent3">
                  <a:shade val="50000"/>
                </a:schemeClr>
              </a:lnRef>
              <a:fillRef idx="1">
                <a:schemeClr val="accent3"/>
              </a:fillRef>
              <a:effectRef idx="0">
                <a:schemeClr val="accent3"/>
              </a:effectRef>
              <a:fontRef idx="minor">
                <a:schemeClr val="lt1"/>
              </a:fontRef>
            </p:style>
            <p:txBody>
              <a:bodyPr/>
              <a:lstStyle/>
              <a:p>
                <a:endParaRPr lang="en-IN"/>
              </a:p>
            </p:txBody>
          </p:sp>
        </p:grpSp>
        <p:sp>
          <p:nvSpPr>
            <p:cNvPr id="17" name="Line 25"/>
            <p:cNvSpPr>
              <a:spLocks noChangeShapeType="1"/>
            </p:cNvSpPr>
            <p:nvPr/>
          </p:nvSpPr>
          <p:spPr bwMode="auto">
            <a:xfrm flipV="1">
              <a:off x="2400" y="1968"/>
              <a:ext cx="192" cy="96"/>
            </a:xfrm>
            <a:prstGeom prst="line">
              <a:avLst/>
            </a:prstGeom>
            <a:ln w="28575">
              <a:headEnd/>
              <a:tailEnd/>
            </a:ln>
          </p:spPr>
          <p:style>
            <a:lnRef idx="2">
              <a:schemeClr val="accent3">
                <a:shade val="50000"/>
              </a:schemeClr>
            </a:lnRef>
            <a:fillRef idx="1">
              <a:schemeClr val="accent3"/>
            </a:fillRef>
            <a:effectRef idx="0">
              <a:schemeClr val="accent3"/>
            </a:effectRef>
            <a:fontRef idx="minor">
              <a:schemeClr val="lt1"/>
            </a:fontRef>
          </p:style>
          <p:txBody>
            <a:bodyPr/>
            <a:lstStyle/>
            <a:p>
              <a:endParaRPr lang="en-IN"/>
            </a:p>
          </p:txBody>
        </p:sp>
      </p:grpSp>
      <p:grpSp>
        <p:nvGrpSpPr>
          <p:cNvPr id="24" name="Group 30"/>
          <p:cNvGrpSpPr>
            <a:grpSpLocks/>
          </p:cNvGrpSpPr>
          <p:nvPr/>
        </p:nvGrpSpPr>
        <p:grpSpPr bwMode="auto">
          <a:xfrm>
            <a:off x="6556088" y="1596102"/>
            <a:ext cx="343364" cy="1077280"/>
            <a:chOff x="1824" y="1872"/>
            <a:chExt cx="144" cy="432"/>
          </a:xfrm>
          <a:effectLst>
            <a:outerShdw blurRad="50800" dist="38100" dir="2700000" algn="tl" rotWithShape="0">
              <a:prstClr val="black">
                <a:alpha val="40000"/>
              </a:prstClr>
            </a:outerShdw>
          </a:effectLst>
        </p:grpSpPr>
        <p:sp>
          <p:nvSpPr>
            <p:cNvPr id="25" name="Oval 31"/>
            <p:cNvSpPr>
              <a:spLocks noChangeArrowheads="1"/>
            </p:cNvSpPr>
            <p:nvPr/>
          </p:nvSpPr>
          <p:spPr bwMode="auto">
            <a:xfrm>
              <a:off x="1824" y="1872"/>
              <a:ext cx="144" cy="144"/>
            </a:xfrm>
            <a:prstGeom prst="ellipse">
              <a:avLst/>
            </a:prstGeom>
            <a:ln w="28575">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6</a:t>
              </a:r>
            </a:p>
          </p:txBody>
        </p:sp>
        <p:sp>
          <p:nvSpPr>
            <p:cNvPr id="26" name="Oval 32"/>
            <p:cNvSpPr>
              <a:spLocks noChangeArrowheads="1"/>
            </p:cNvSpPr>
            <p:nvPr/>
          </p:nvSpPr>
          <p:spPr bwMode="auto">
            <a:xfrm>
              <a:off x="1824" y="2160"/>
              <a:ext cx="144" cy="144"/>
            </a:xfrm>
            <a:prstGeom prst="ellipse">
              <a:avLst/>
            </a:prstGeom>
            <a:ln w="28575">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7</a:t>
              </a:r>
            </a:p>
          </p:txBody>
        </p:sp>
        <p:sp>
          <p:nvSpPr>
            <p:cNvPr id="27" name="Freeform 33"/>
            <p:cNvSpPr>
              <a:spLocks/>
            </p:cNvSpPr>
            <p:nvPr/>
          </p:nvSpPr>
          <p:spPr bwMode="auto">
            <a:xfrm>
              <a:off x="1899" y="2013"/>
              <a:ext cx="1" cy="145"/>
            </a:xfrm>
            <a:custGeom>
              <a:avLst/>
              <a:gdLst>
                <a:gd name="T0" fmla="*/ 0 w 1"/>
                <a:gd name="T1" fmla="*/ 0 h 145"/>
                <a:gd name="T2" fmla="*/ 0 w 1"/>
                <a:gd name="T3" fmla="*/ 145 h 145"/>
                <a:gd name="T4" fmla="*/ 0 60000 65536"/>
                <a:gd name="T5" fmla="*/ 0 60000 65536"/>
                <a:gd name="T6" fmla="*/ 0 w 1"/>
                <a:gd name="T7" fmla="*/ 0 h 145"/>
                <a:gd name="T8" fmla="*/ 1 w 1"/>
                <a:gd name="T9" fmla="*/ 145 h 145"/>
              </a:gdLst>
              <a:ahLst/>
              <a:cxnLst>
                <a:cxn ang="T4">
                  <a:pos x="T0" y="T1"/>
                </a:cxn>
                <a:cxn ang="T5">
                  <a:pos x="T2" y="T3"/>
                </a:cxn>
              </a:cxnLst>
              <a:rect l="T6" t="T7" r="T8" b="T9"/>
              <a:pathLst>
                <a:path w="1" h="145">
                  <a:moveTo>
                    <a:pt x="0" y="0"/>
                  </a:moveTo>
                  <a:lnTo>
                    <a:pt x="0" y="145"/>
                  </a:lnTo>
                </a:path>
              </a:pathLst>
            </a:custGeom>
            <a:ln w="28575">
              <a:headEnd/>
              <a:tailEnd/>
            </a:ln>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grpSp>
      <p:grpSp>
        <p:nvGrpSpPr>
          <p:cNvPr id="28" name="Group 34"/>
          <p:cNvGrpSpPr>
            <a:grpSpLocks/>
          </p:cNvGrpSpPr>
          <p:nvPr/>
        </p:nvGrpSpPr>
        <p:grpSpPr bwMode="auto">
          <a:xfrm>
            <a:off x="5881022" y="2095160"/>
            <a:ext cx="343364" cy="1077280"/>
            <a:chOff x="1824" y="1872"/>
            <a:chExt cx="144" cy="432"/>
          </a:xfrm>
          <a:effectLst>
            <a:outerShdw blurRad="50800" dist="38100" dir="2700000" algn="tl" rotWithShape="0">
              <a:prstClr val="black">
                <a:alpha val="40000"/>
              </a:prstClr>
            </a:outerShdw>
          </a:effectLst>
        </p:grpSpPr>
        <p:sp>
          <p:nvSpPr>
            <p:cNvPr id="29" name="Oval 35"/>
            <p:cNvSpPr>
              <a:spLocks noChangeArrowheads="1"/>
            </p:cNvSpPr>
            <p:nvPr/>
          </p:nvSpPr>
          <p:spPr bwMode="auto">
            <a:xfrm>
              <a:off x="1824" y="1872"/>
              <a:ext cx="144" cy="144"/>
            </a:xfrm>
            <a:prstGeom prst="ellipse">
              <a:avLst/>
            </a:prstGeom>
            <a:ln w="28575">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23</a:t>
              </a:r>
            </a:p>
          </p:txBody>
        </p:sp>
        <p:sp>
          <p:nvSpPr>
            <p:cNvPr id="30" name="Oval 36"/>
            <p:cNvSpPr>
              <a:spLocks noChangeArrowheads="1"/>
            </p:cNvSpPr>
            <p:nvPr/>
          </p:nvSpPr>
          <p:spPr bwMode="auto">
            <a:xfrm>
              <a:off x="1824" y="2160"/>
              <a:ext cx="144" cy="144"/>
            </a:xfrm>
            <a:prstGeom prst="ellipse">
              <a:avLst/>
            </a:prstGeom>
            <a:ln w="28575">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11</a:t>
              </a:r>
            </a:p>
          </p:txBody>
        </p:sp>
        <p:sp>
          <p:nvSpPr>
            <p:cNvPr id="31" name="Freeform 37"/>
            <p:cNvSpPr>
              <a:spLocks/>
            </p:cNvSpPr>
            <p:nvPr/>
          </p:nvSpPr>
          <p:spPr bwMode="auto">
            <a:xfrm>
              <a:off x="1899" y="2013"/>
              <a:ext cx="1" cy="145"/>
            </a:xfrm>
            <a:custGeom>
              <a:avLst/>
              <a:gdLst>
                <a:gd name="T0" fmla="*/ 0 w 1"/>
                <a:gd name="T1" fmla="*/ 0 h 145"/>
                <a:gd name="T2" fmla="*/ 0 w 1"/>
                <a:gd name="T3" fmla="*/ 145 h 145"/>
                <a:gd name="T4" fmla="*/ 0 60000 65536"/>
                <a:gd name="T5" fmla="*/ 0 60000 65536"/>
                <a:gd name="T6" fmla="*/ 0 w 1"/>
                <a:gd name="T7" fmla="*/ 0 h 145"/>
                <a:gd name="T8" fmla="*/ 1 w 1"/>
                <a:gd name="T9" fmla="*/ 145 h 145"/>
              </a:gdLst>
              <a:ahLst/>
              <a:cxnLst>
                <a:cxn ang="T4">
                  <a:pos x="T0" y="T1"/>
                </a:cxn>
                <a:cxn ang="T5">
                  <a:pos x="T2" y="T3"/>
                </a:cxn>
              </a:cxnLst>
              <a:rect l="T6" t="T7" r="T8" b="T9"/>
              <a:pathLst>
                <a:path w="1" h="145">
                  <a:moveTo>
                    <a:pt x="0" y="0"/>
                  </a:moveTo>
                  <a:lnTo>
                    <a:pt x="0" y="145"/>
                  </a:lnTo>
                </a:path>
              </a:pathLst>
            </a:custGeom>
            <a:ln w="28575">
              <a:headEnd/>
              <a:tailEnd/>
            </a:ln>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grpSp>
      <p:sp>
        <p:nvSpPr>
          <p:cNvPr id="32" name="Line 38"/>
          <p:cNvSpPr>
            <a:spLocks noChangeShapeType="1"/>
          </p:cNvSpPr>
          <p:nvPr/>
        </p:nvSpPr>
        <p:spPr bwMode="auto">
          <a:xfrm flipV="1">
            <a:off x="6186900" y="1939095"/>
            <a:ext cx="457818" cy="239395"/>
          </a:xfrm>
          <a:prstGeom prst="line">
            <a:avLst/>
          </a:prstGeom>
          <a:ln w="28575">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sp>
        <p:nvSpPr>
          <p:cNvPr id="33" name="Oval 41"/>
          <p:cNvSpPr>
            <a:spLocks noChangeArrowheads="1"/>
          </p:cNvSpPr>
          <p:nvPr/>
        </p:nvSpPr>
        <p:spPr bwMode="auto">
          <a:xfrm>
            <a:off x="4744378" y="2084153"/>
            <a:ext cx="343364" cy="359094"/>
          </a:xfrm>
          <a:prstGeom prst="ellipse">
            <a:avLst/>
          </a:prstGeom>
          <a:ln w="28575">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34" name="Oval 42"/>
          <p:cNvSpPr>
            <a:spLocks noChangeArrowheads="1"/>
          </p:cNvSpPr>
          <p:nvPr/>
        </p:nvSpPr>
        <p:spPr bwMode="auto">
          <a:xfrm>
            <a:off x="4779655" y="2794531"/>
            <a:ext cx="343364" cy="359094"/>
          </a:xfrm>
          <a:prstGeom prst="ellipse">
            <a:avLst/>
          </a:prstGeom>
          <a:ln w="28575">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10</a:t>
            </a:r>
          </a:p>
        </p:txBody>
      </p:sp>
      <p:sp>
        <p:nvSpPr>
          <p:cNvPr id="35" name="Freeform 43"/>
          <p:cNvSpPr>
            <a:spLocks/>
          </p:cNvSpPr>
          <p:nvPr/>
        </p:nvSpPr>
        <p:spPr bwMode="auto">
          <a:xfrm>
            <a:off x="4938425" y="2436508"/>
            <a:ext cx="47251" cy="361586"/>
          </a:xfrm>
          <a:custGeom>
            <a:avLst/>
            <a:gdLst>
              <a:gd name="T0" fmla="*/ 0 w 1"/>
              <a:gd name="T1" fmla="*/ 0 h 145"/>
              <a:gd name="T2" fmla="*/ 0 w 1"/>
              <a:gd name="T3" fmla="*/ 2147483647 h 145"/>
              <a:gd name="T4" fmla="*/ 0 60000 65536"/>
              <a:gd name="T5" fmla="*/ 0 60000 65536"/>
              <a:gd name="T6" fmla="*/ 0 w 1"/>
              <a:gd name="T7" fmla="*/ 0 h 145"/>
              <a:gd name="T8" fmla="*/ 1 w 1"/>
              <a:gd name="T9" fmla="*/ 145 h 145"/>
            </a:gdLst>
            <a:ahLst/>
            <a:cxnLst>
              <a:cxn ang="T4">
                <a:pos x="T0" y="T1"/>
              </a:cxn>
              <a:cxn ang="T5">
                <a:pos x="T2" y="T3"/>
              </a:cxn>
            </a:cxnLst>
            <a:rect l="T6" t="T7" r="T8" b="T9"/>
            <a:pathLst>
              <a:path w="1" h="145">
                <a:moveTo>
                  <a:pt x="0" y="0"/>
                </a:moveTo>
                <a:lnTo>
                  <a:pt x="0" y="145"/>
                </a:lnTo>
              </a:path>
            </a:pathLst>
          </a:custGeom>
          <a:ln w="28575">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sp>
        <p:nvSpPr>
          <p:cNvPr id="36" name="Oval 45"/>
          <p:cNvSpPr>
            <a:spLocks noChangeArrowheads="1"/>
          </p:cNvSpPr>
          <p:nvPr/>
        </p:nvSpPr>
        <p:spPr bwMode="auto">
          <a:xfrm>
            <a:off x="3993526" y="2542991"/>
            <a:ext cx="343364" cy="359094"/>
          </a:xfrm>
          <a:prstGeom prst="ellipse">
            <a:avLst/>
          </a:prstGeom>
          <a:ln w="28575">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20</a:t>
            </a:r>
          </a:p>
        </p:txBody>
      </p:sp>
      <p:sp>
        <p:nvSpPr>
          <p:cNvPr id="37" name="Oval 46"/>
          <p:cNvSpPr>
            <a:spLocks noChangeArrowheads="1"/>
          </p:cNvSpPr>
          <p:nvPr/>
        </p:nvSpPr>
        <p:spPr bwMode="auto">
          <a:xfrm>
            <a:off x="4006405" y="3243778"/>
            <a:ext cx="343364" cy="359094"/>
          </a:xfrm>
          <a:prstGeom prst="ellipse">
            <a:avLst/>
          </a:prstGeom>
          <a:ln w="28575">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25</a:t>
            </a:r>
          </a:p>
        </p:txBody>
      </p:sp>
      <p:sp>
        <p:nvSpPr>
          <p:cNvPr id="38" name="Freeform 47"/>
          <p:cNvSpPr>
            <a:spLocks/>
          </p:cNvSpPr>
          <p:nvPr/>
        </p:nvSpPr>
        <p:spPr bwMode="auto">
          <a:xfrm>
            <a:off x="4163515" y="2884684"/>
            <a:ext cx="47251" cy="361586"/>
          </a:xfrm>
          <a:custGeom>
            <a:avLst/>
            <a:gdLst>
              <a:gd name="T0" fmla="*/ 0 w 1"/>
              <a:gd name="T1" fmla="*/ 0 h 145"/>
              <a:gd name="T2" fmla="*/ 0 w 1"/>
              <a:gd name="T3" fmla="*/ 2147483647 h 145"/>
              <a:gd name="T4" fmla="*/ 0 60000 65536"/>
              <a:gd name="T5" fmla="*/ 0 60000 65536"/>
              <a:gd name="T6" fmla="*/ 0 w 1"/>
              <a:gd name="T7" fmla="*/ 0 h 145"/>
              <a:gd name="T8" fmla="*/ 1 w 1"/>
              <a:gd name="T9" fmla="*/ 145 h 145"/>
            </a:gdLst>
            <a:ahLst/>
            <a:cxnLst>
              <a:cxn ang="T4">
                <a:pos x="T0" y="T1"/>
              </a:cxn>
              <a:cxn ang="T5">
                <a:pos x="T2" y="T3"/>
              </a:cxn>
            </a:cxnLst>
            <a:rect l="T6" t="T7" r="T8" b="T9"/>
            <a:pathLst>
              <a:path w="1" h="145">
                <a:moveTo>
                  <a:pt x="0" y="0"/>
                </a:moveTo>
                <a:lnTo>
                  <a:pt x="0" y="145"/>
                </a:lnTo>
              </a:path>
            </a:pathLst>
          </a:custGeom>
          <a:ln w="28575">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sp>
        <p:nvSpPr>
          <p:cNvPr id="39" name="Line 48"/>
          <p:cNvSpPr>
            <a:spLocks noChangeShapeType="1"/>
          </p:cNvSpPr>
          <p:nvPr/>
        </p:nvSpPr>
        <p:spPr bwMode="auto">
          <a:xfrm flipV="1">
            <a:off x="4309210" y="2370046"/>
            <a:ext cx="457818" cy="239395"/>
          </a:xfrm>
          <a:prstGeom prst="line">
            <a:avLst/>
          </a:prstGeom>
          <a:ln w="28575">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sp>
        <p:nvSpPr>
          <p:cNvPr id="40" name="Line 49"/>
          <p:cNvSpPr>
            <a:spLocks noChangeShapeType="1"/>
          </p:cNvSpPr>
          <p:nvPr/>
        </p:nvSpPr>
        <p:spPr bwMode="auto">
          <a:xfrm flipV="1">
            <a:off x="5055428" y="1838339"/>
            <a:ext cx="1487910" cy="359094"/>
          </a:xfrm>
          <a:prstGeom prst="line">
            <a:avLst/>
          </a:prstGeom>
          <a:ln w="28575">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grpSp>
        <p:nvGrpSpPr>
          <p:cNvPr id="41" name="Group 96"/>
          <p:cNvGrpSpPr>
            <a:grpSpLocks/>
          </p:cNvGrpSpPr>
          <p:nvPr/>
        </p:nvGrpSpPr>
        <p:grpSpPr bwMode="auto">
          <a:xfrm>
            <a:off x="2133599" y="4314423"/>
            <a:ext cx="6752823" cy="2034861"/>
            <a:chOff x="1296" y="3120"/>
            <a:chExt cx="2832" cy="816"/>
          </a:xfrm>
          <a:effectLst>
            <a:outerShdw blurRad="50800" dist="38100" dir="2700000" algn="tl" rotWithShape="0">
              <a:prstClr val="black">
                <a:alpha val="40000"/>
              </a:prstClr>
            </a:outerShdw>
          </a:effectLst>
        </p:grpSpPr>
        <p:grpSp>
          <p:nvGrpSpPr>
            <p:cNvPr id="42" name="Group 51"/>
            <p:cNvGrpSpPr>
              <a:grpSpLocks/>
            </p:cNvGrpSpPr>
            <p:nvPr/>
          </p:nvGrpSpPr>
          <p:grpSpPr bwMode="auto">
            <a:xfrm>
              <a:off x="1296" y="3216"/>
              <a:ext cx="1248" cy="720"/>
              <a:chOff x="3168" y="1872"/>
              <a:chExt cx="1248" cy="720"/>
            </a:xfrm>
          </p:grpSpPr>
          <p:grpSp>
            <p:nvGrpSpPr>
              <p:cNvPr id="66" name="Group 52"/>
              <p:cNvGrpSpPr>
                <a:grpSpLocks/>
              </p:cNvGrpSpPr>
              <p:nvPr/>
            </p:nvGrpSpPr>
            <p:grpSpPr bwMode="auto">
              <a:xfrm>
                <a:off x="3936" y="1872"/>
                <a:ext cx="480" cy="576"/>
                <a:chOff x="2256" y="1872"/>
                <a:chExt cx="480" cy="576"/>
              </a:xfrm>
            </p:grpSpPr>
            <p:grpSp>
              <p:nvGrpSpPr>
                <p:cNvPr id="78" name="Group 53"/>
                <p:cNvGrpSpPr>
                  <a:grpSpLocks/>
                </p:cNvGrpSpPr>
                <p:nvPr/>
              </p:nvGrpSpPr>
              <p:grpSpPr bwMode="auto">
                <a:xfrm>
                  <a:off x="2592" y="1872"/>
                  <a:ext cx="144" cy="432"/>
                  <a:chOff x="1824" y="1872"/>
                  <a:chExt cx="144" cy="432"/>
                </a:xfrm>
              </p:grpSpPr>
              <p:sp>
                <p:nvSpPr>
                  <p:cNvPr id="84" name="Oval 54"/>
                  <p:cNvSpPr>
                    <a:spLocks noChangeArrowheads="1"/>
                  </p:cNvSpPr>
                  <p:nvPr/>
                </p:nvSpPr>
                <p:spPr bwMode="auto">
                  <a:xfrm>
                    <a:off x="1824" y="1872"/>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21</a:t>
                    </a:r>
                  </a:p>
                </p:txBody>
              </p:sp>
              <p:sp>
                <p:nvSpPr>
                  <p:cNvPr id="85" name="Oval 55"/>
                  <p:cNvSpPr>
                    <a:spLocks noChangeArrowheads="1"/>
                  </p:cNvSpPr>
                  <p:nvPr/>
                </p:nvSpPr>
                <p:spPr bwMode="auto">
                  <a:xfrm>
                    <a:off x="1824" y="2160"/>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23</a:t>
                    </a:r>
                  </a:p>
                </p:txBody>
              </p:sp>
              <p:sp>
                <p:nvSpPr>
                  <p:cNvPr id="86" name="Freeform 56"/>
                  <p:cNvSpPr>
                    <a:spLocks/>
                  </p:cNvSpPr>
                  <p:nvPr/>
                </p:nvSpPr>
                <p:spPr bwMode="auto">
                  <a:xfrm>
                    <a:off x="1899" y="2013"/>
                    <a:ext cx="1" cy="145"/>
                  </a:xfrm>
                  <a:custGeom>
                    <a:avLst/>
                    <a:gdLst>
                      <a:gd name="T0" fmla="*/ 0 w 1"/>
                      <a:gd name="T1" fmla="*/ 0 h 145"/>
                      <a:gd name="T2" fmla="*/ 0 w 1"/>
                      <a:gd name="T3" fmla="*/ 145 h 145"/>
                      <a:gd name="T4" fmla="*/ 0 60000 65536"/>
                      <a:gd name="T5" fmla="*/ 0 60000 65536"/>
                      <a:gd name="T6" fmla="*/ 0 w 1"/>
                      <a:gd name="T7" fmla="*/ 0 h 145"/>
                      <a:gd name="T8" fmla="*/ 1 w 1"/>
                      <a:gd name="T9" fmla="*/ 145 h 145"/>
                    </a:gdLst>
                    <a:ahLst/>
                    <a:cxnLst>
                      <a:cxn ang="T4">
                        <a:pos x="T0" y="T1"/>
                      </a:cxn>
                      <a:cxn ang="T5">
                        <a:pos x="T2" y="T3"/>
                      </a:cxn>
                    </a:cxnLst>
                    <a:rect l="T6" t="T7" r="T8" b="T9"/>
                    <a:pathLst>
                      <a:path w="1" h="145">
                        <a:moveTo>
                          <a:pt x="0" y="0"/>
                        </a:moveTo>
                        <a:lnTo>
                          <a:pt x="0" y="145"/>
                        </a:lnTo>
                      </a:path>
                    </a:pathLst>
                  </a:cu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grpSp>
            <p:grpSp>
              <p:nvGrpSpPr>
                <p:cNvPr id="79" name="Group 57"/>
                <p:cNvGrpSpPr>
                  <a:grpSpLocks/>
                </p:cNvGrpSpPr>
                <p:nvPr/>
              </p:nvGrpSpPr>
              <p:grpSpPr bwMode="auto">
                <a:xfrm>
                  <a:off x="2256" y="2016"/>
                  <a:ext cx="144" cy="432"/>
                  <a:chOff x="1824" y="1872"/>
                  <a:chExt cx="144" cy="432"/>
                </a:xfrm>
              </p:grpSpPr>
              <p:sp>
                <p:nvSpPr>
                  <p:cNvPr id="81" name="Oval 58"/>
                  <p:cNvSpPr>
                    <a:spLocks noChangeArrowheads="1"/>
                  </p:cNvSpPr>
                  <p:nvPr/>
                </p:nvSpPr>
                <p:spPr bwMode="auto">
                  <a:xfrm>
                    <a:off x="1824" y="1872"/>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32</a:t>
                    </a:r>
                  </a:p>
                </p:txBody>
              </p:sp>
              <p:sp>
                <p:nvSpPr>
                  <p:cNvPr id="82" name="Oval 59"/>
                  <p:cNvSpPr>
                    <a:spLocks noChangeArrowheads="1"/>
                  </p:cNvSpPr>
                  <p:nvPr/>
                </p:nvSpPr>
                <p:spPr bwMode="auto">
                  <a:xfrm>
                    <a:off x="1824" y="2160"/>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14</a:t>
                    </a:r>
                  </a:p>
                </p:txBody>
              </p:sp>
              <p:sp>
                <p:nvSpPr>
                  <p:cNvPr id="83" name="Freeform 60"/>
                  <p:cNvSpPr>
                    <a:spLocks/>
                  </p:cNvSpPr>
                  <p:nvPr/>
                </p:nvSpPr>
                <p:spPr bwMode="auto">
                  <a:xfrm>
                    <a:off x="1899" y="2013"/>
                    <a:ext cx="1" cy="145"/>
                  </a:xfrm>
                  <a:custGeom>
                    <a:avLst/>
                    <a:gdLst>
                      <a:gd name="T0" fmla="*/ 0 w 1"/>
                      <a:gd name="T1" fmla="*/ 0 h 145"/>
                      <a:gd name="T2" fmla="*/ 0 w 1"/>
                      <a:gd name="T3" fmla="*/ 145 h 145"/>
                      <a:gd name="T4" fmla="*/ 0 60000 65536"/>
                      <a:gd name="T5" fmla="*/ 0 60000 65536"/>
                      <a:gd name="T6" fmla="*/ 0 w 1"/>
                      <a:gd name="T7" fmla="*/ 0 h 145"/>
                      <a:gd name="T8" fmla="*/ 1 w 1"/>
                      <a:gd name="T9" fmla="*/ 145 h 145"/>
                    </a:gdLst>
                    <a:ahLst/>
                    <a:cxnLst>
                      <a:cxn ang="T4">
                        <a:pos x="T0" y="T1"/>
                      </a:cxn>
                      <a:cxn ang="T5">
                        <a:pos x="T2" y="T3"/>
                      </a:cxn>
                    </a:cxnLst>
                    <a:rect l="T6" t="T7" r="T8" b="T9"/>
                    <a:pathLst>
                      <a:path w="1" h="145">
                        <a:moveTo>
                          <a:pt x="0" y="0"/>
                        </a:moveTo>
                        <a:lnTo>
                          <a:pt x="0" y="145"/>
                        </a:lnTo>
                      </a:path>
                    </a:pathLst>
                  </a:cu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grpSp>
            <p:sp>
              <p:nvSpPr>
                <p:cNvPr id="80" name="Line 61"/>
                <p:cNvSpPr>
                  <a:spLocks noChangeShapeType="1"/>
                </p:cNvSpPr>
                <p:nvPr/>
              </p:nvSpPr>
              <p:spPr bwMode="auto">
                <a:xfrm flipV="1">
                  <a:off x="2400" y="1968"/>
                  <a:ext cx="192" cy="96"/>
                </a:xfrm>
                <a:prstGeom prst="lin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grpSp>
          <p:grpSp>
            <p:nvGrpSpPr>
              <p:cNvPr id="67" name="Group 62"/>
              <p:cNvGrpSpPr>
                <a:grpSpLocks/>
              </p:cNvGrpSpPr>
              <p:nvPr/>
            </p:nvGrpSpPr>
            <p:grpSpPr bwMode="auto">
              <a:xfrm>
                <a:off x="3168" y="2016"/>
                <a:ext cx="480" cy="576"/>
                <a:chOff x="2256" y="1872"/>
                <a:chExt cx="480" cy="576"/>
              </a:xfrm>
            </p:grpSpPr>
            <p:grpSp>
              <p:nvGrpSpPr>
                <p:cNvPr id="69" name="Group 63"/>
                <p:cNvGrpSpPr>
                  <a:grpSpLocks/>
                </p:cNvGrpSpPr>
                <p:nvPr/>
              </p:nvGrpSpPr>
              <p:grpSpPr bwMode="auto">
                <a:xfrm>
                  <a:off x="2592" y="1872"/>
                  <a:ext cx="144" cy="432"/>
                  <a:chOff x="1824" y="1872"/>
                  <a:chExt cx="144" cy="432"/>
                </a:xfrm>
              </p:grpSpPr>
              <p:sp>
                <p:nvSpPr>
                  <p:cNvPr id="75" name="Oval 64"/>
                  <p:cNvSpPr>
                    <a:spLocks noChangeArrowheads="1"/>
                  </p:cNvSpPr>
                  <p:nvPr/>
                </p:nvSpPr>
                <p:spPr bwMode="auto">
                  <a:xfrm>
                    <a:off x="1824" y="1872"/>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4</a:t>
                    </a:r>
                  </a:p>
                </p:txBody>
              </p:sp>
              <p:sp>
                <p:nvSpPr>
                  <p:cNvPr id="76" name="Oval 65"/>
                  <p:cNvSpPr>
                    <a:spLocks noChangeArrowheads="1"/>
                  </p:cNvSpPr>
                  <p:nvPr/>
                </p:nvSpPr>
                <p:spPr bwMode="auto">
                  <a:xfrm>
                    <a:off x="1824" y="2160"/>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7</a:t>
                    </a:r>
                  </a:p>
                </p:txBody>
              </p:sp>
              <p:sp>
                <p:nvSpPr>
                  <p:cNvPr id="77" name="Freeform 66"/>
                  <p:cNvSpPr>
                    <a:spLocks/>
                  </p:cNvSpPr>
                  <p:nvPr/>
                </p:nvSpPr>
                <p:spPr bwMode="auto">
                  <a:xfrm>
                    <a:off x="1899" y="2013"/>
                    <a:ext cx="1" cy="145"/>
                  </a:xfrm>
                  <a:custGeom>
                    <a:avLst/>
                    <a:gdLst>
                      <a:gd name="T0" fmla="*/ 0 w 1"/>
                      <a:gd name="T1" fmla="*/ 0 h 145"/>
                      <a:gd name="T2" fmla="*/ 0 w 1"/>
                      <a:gd name="T3" fmla="*/ 145 h 145"/>
                      <a:gd name="T4" fmla="*/ 0 60000 65536"/>
                      <a:gd name="T5" fmla="*/ 0 60000 65536"/>
                      <a:gd name="T6" fmla="*/ 0 w 1"/>
                      <a:gd name="T7" fmla="*/ 0 h 145"/>
                      <a:gd name="T8" fmla="*/ 1 w 1"/>
                      <a:gd name="T9" fmla="*/ 145 h 145"/>
                    </a:gdLst>
                    <a:ahLst/>
                    <a:cxnLst>
                      <a:cxn ang="T4">
                        <a:pos x="T0" y="T1"/>
                      </a:cxn>
                      <a:cxn ang="T5">
                        <a:pos x="T2" y="T3"/>
                      </a:cxn>
                    </a:cxnLst>
                    <a:rect l="T6" t="T7" r="T8" b="T9"/>
                    <a:pathLst>
                      <a:path w="1" h="145">
                        <a:moveTo>
                          <a:pt x="0" y="0"/>
                        </a:moveTo>
                        <a:lnTo>
                          <a:pt x="0" y="145"/>
                        </a:lnTo>
                      </a:path>
                    </a:pathLst>
                  </a:cu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grpSp>
            <p:grpSp>
              <p:nvGrpSpPr>
                <p:cNvPr id="70" name="Group 67"/>
                <p:cNvGrpSpPr>
                  <a:grpSpLocks/>
                </p:cNvGrpSpPr>
                <p:nvPr/>
              </p:nvGrpSpPr>
              <p:grpSpPr bwMode="auto">
                <a:xfrm>
                  <a:off x="2256" y="2016"/>
                  <a:ext cx="144" cy="432"/>
                  <a:chOff x="1824" y="1872"/>
                  <a:chExt cx="144" cy="432"/>
                </a:xfrm>
              </p:grpSpPr>
              <p:sp>
                <p:nvSpPr>
                  <p:cNvPr id="72" name="Oval 68"/>
                  <p:cNvSpPr>
                    <a:spLocks noChangeArrowheads="1"/>
                  </p:cNvSpPr>
                  <p:nvPr/>
                </p:nvSpPr>
                <p:spPr bwMode="auto">
                  <a:xfrm>
                    <a:off x="1824" y="1872"/>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73" name="Oval 69"/>
                  <p:cNvSpPr>
                    <a:spLocks noChangeArrowheads="1"/>
                  </p:cNvSpPr>
                  <p:nvPr/>
                </p:nvSpPr>
                <p:spPr bwMode="auto">
                  <a:xfrm>
                    <a:off x="1824" y="2160"/>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9</a:t>
                    </a:r>
                  </a:p>
                </p:txBody>
              </p:sp>
              <p:sp>
                <p:nvSpPr>
                  <p:cNvPr id="74" name="Freeform 70"/>
                  <p:cNvSpPr>
                    <a:spLocks/>
                  </p:cNvSpPr>
                  <p:nvPr/>
                </p:nvSpPr>
                <p:spPr bwMode="auto">
                  <a:xfrm>
                    <a:off x="1899" y="2013"/>
                    <a:ext cx="1" cy="145"/>
                  </a:xfrm>
                  <a:custGeom>
                    <a:avLst/>
                    <a:gdLst>
                      <a:gd name="T0" fmla="*/ 0 w 1"/>
                      <a:gd name="T1" fmla="*/ 0 h 145"/>
                      <a:gd name="T2" fmla="*/ 0 w 1"/>
                      <a:gd name="T3" fmla="*/ 145 h 145"/>
                      <a:gd name="T4" fmla="*/ 0 60000 65536"/>
                      <a:gd name="T5" fmla="*/ 0 60000 65536"/>
                      <a:gd name="T6" fmla="*/ 0 w 1"/>
                      <a:gd name="T7" fmla="*/ 0 h 145"/>
                      <a:gd name="T8" fmla="*/ 1 w 1"/>
                      <a:gd name="T9" fmla="*/ 145 h 145"/>
                    </a:gdLst>
                    <a:ahLst/>
                    <a:cxnLst>
                      <a:cxn ang="T4">
                        <a:pos x="T0" y="T1"/>
                      </a:cxn>
                      <a:cxn ang="T5">
                        <a:pos x="T2" y="T3"/>
                      </a:cxn>
                    </a:cxnLst>
                    <a:rect l="T6" t="T7" r="T8" b="T9"/>
                    <a:pathLst>
                      <a:path w="1" h="145">
                        <a:moveTo>
                          <a:pt x="0" y="0"/>
                        </a:moveTo>
                        <a:lnTo>
                          <a:pt x="0" y="145"/>
                        </a:lnTo>
                      </a:path>
                    </a:pathLst>
                  </a:cu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grpSp>
            <p:sp>
              <p:nvSpPr>
                <p:cNvPr id="71" name="Line 71"/>
                <p:cNvSpPr>
                  <a:spLocks noChangeShapeType="1"/>
                </p:cNvSpPr>
                <p:nvPr/>
              </p:nvSpPr>
              <p:spPr bwMode="auto">
                <a:xfrm flipV="1">
                  <a:off x="2400" y="1968"/>
                  <a:ext cx="192" cy="96"/>
                </a:xfrm>
                <a:prstGeom prst="lin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grpSp>
          <p:sp>
            <p:nvSpPr>
              <p:cNvPr id="68" name="Line 72"/>
              <p:cNvSpPr>
                <a:spLocks noChangeShapeType="1"/>
              </p:cNvSpPr>
              <p:nvPr/>
            </p:nvSpPr>
            <p:spPr bwMode="auto">
              <a:xfrm flipV="1">
                <a:off x="3648" y="1920"/>
                <a:ext cx="624" cy="144"/>
              </a:xfrm>
              <a:prstGeom prst="lin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grpSp>
        <p:grpSp>
          <p:nvGrpSpPr>
            <p:cNvPr id="43" name="Group 73"/>
            <p:cNvGrpSpPr>
              <a:grpSpLocks/>
            </p:cNvGrpSpPr>
            <p:nvPr/>
          </p:nvGrpSpPr>
          <p:grpSpPr bwMode="auto">
            <a:xfrm>
              <a:off x="2880" y="3120"/>
              <a:ext cx="1248" cy="720"/>
              <a:chOff x="3168" y="1872"/>
              <a:chExt cx="1248" cy="720"/>
            </a:xfrm>
          </p:grpSpPr>
          <p:grpSp>
            <p:nvGrpSpPr>
              <p:cNvPr id="45" name="Group 74"/>
              <p:cNvGrpSpPr>
                <a:grpSpLocks/>
              </p:cNvGrpSpPr>
              <p:nvPr/>
            </p:nvGrpSpPr>
            <p:grpSpPr bwMode="auto">
              <a:xfrm>
                <a:off x="3936" y="1872"/>
                <a:ext cx="480" cy="576"/>
                <a:chOff x="2256" y="1872"/>
                <a:chExt cx="480" cy="576"/>
              </a:xfrm>
            </p:grpSpPr>
            <p:grpSp>
              <p:nvGrpSpPr>
                <p:cNvPr id="57" name="Group 75"/>
                <p:cNvGrpSpPr>
                  <a:grpSpLocks/>
                </p:cNvGrpSpPr>
                <p:nvPr/>
              </p:nvGrpSpPr>
              <p:grpSpPr bwMode="auto">
                <a:xfrm>
                  <a:off x="2592" y="1872"/>
                  <a:ext cx="144" cy="432"/>
                  <a:chOff x="1824" y="1872"/>
                  <a:chExt cx="144" cy="432"/>
                </a:xfrm>
              </p:grpSpPr>
              <p:sp>
                <p:nvSpPr>
                  <p:cNvPr id="63" name="Oval 76"/>
                  <p:cNvSpPr>
                    <a:spLocks noChangeArrowheads="1"/>
                  </p:cNvSpPr>
                  <p:nvPr/>
                </p:nvSpPr>
                <p:spPr bwMode="auto">
                  <a:xfrm>
                    <a:off x="1824" y="1872"/>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4</a:t>
                    </a:r>
                  </a:p>
                </p:txBody>
              </p:sp>
              <p:sp>
                <p:nvSpPr>
                  <p:cNvPr id="64" name="Oval 77"/>
                  <p:cNvSpPr>
                    <a:spLocks noChangeArrowheads="1"/>
                  </p:cNvSpPr>
                  <p:nvPr/>
                </p:nvSpPr>
                <p:spPr bwMode="auto">
                  <a:xfrm>
                    <a:off x="1824" y="2160"/>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3</a:t>
                    </a:r>
                  </a:p>
                </p:txBody>
              </p:sp>
              <p:sp>
                <p:nvSpPr>
                  <p:cNvPr id="65" name="Freeform 78"/>
                  <p:cNvSpPr>
                    <a:spLocks/>
                  </p:cNvSpPr>
                  <p:nvPr/>
                </p:nvSpPr>
                <p:spPr bwMode="auto">
                  <a:xfrm>
                    <a:off x="1899" y="2013"/>
                    <a:ext cx="1" cy="145"/>
                  </a:xfrm>
                  <a:custGeom>
                    <a:avLst/>
                    <a:gdLst>
                      <a:gd name="T0" fmla="*/ 0 w 1"/>
                      <a:gd name="T1" fmla="*/ 0 h 145"/>
                      <a:gd name="T2" fmla="*/ 0 w 1"/>
                      <a:gd name="T3" fmla="*/ 145 h 145"/>
                      <a:gd name="T4" fmla="*/ 0 60000 65536"/>
                      <a:gd name="T5" fmla="*/ 0 60000 65536"/>
                      <a:gd name="T6" fmla="*/ 0 w 1"/>
                      <a:gd name="T7" fmla="*/ 0 h 145"/>
                      <a:gd name="T8" fmla="*/ 1 w 1"/>
                      <a:gd name="T9" fmla="*/ 145 h 145"/>
                    </a:gdLst>
                    <a:ahLst/>
                    <a:cxnLst>
                      <a:cxn ang="T4">
                        <a:pos x="T0" y="T1"/>
                      </a:cxn>
                      <a:cxn ang="T5">
                        <a:pos x="T2" y="T3"/>
                      </a:cxn>
                    </a:cxnLst>
                    <a:rect l="T6" t="T7" r="T8" b="T9"/>
                    <a:pathLst>
                      <a:path w="1" h="145">
                        <a:moveTo>
                          <a:pt x="0" y="0"/>
                        </a:moveTo>
                        <a:lnTo>
                          <a:pt x="0" y="145"/>
                        </a:lnTo>
                      </a:path>
                    </a:pathLst>
                  </a:cu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grpSp>
            <p:grpSp>
              <p:nvGrpSpPr>
                <p:cNvPr id="58" name="Group 79"/>
                <p:cNvGrpSpPr>
                  <a:grpSpLocks/>
                </p:cNvGrpSpPr>
                <p:nvPr/>
              </p:nvGrpSpPr>
              <p:grpSpPr bwMode="auto">
                <a:xfrm>
                  <a:off x="2256" y="2016"/>
                  <a:ext cx="144" cy="432"/>
                  <a:chOff x="1824" y="1872"/>
                  <a:chExt cx="144" cy="432"/>
                </a:xfrm>
              </p:grpSpPr>
              <p:sp>
                <p:nvSpPr>
                  <p:cNvPr id="60" name="Oval 80"/>
                  <p:cNvSpPr>
                    <a:spLocks noChangeArrowheads="1"/>
                  </p:cNvSpPr>
                  <p:nvPr/>
                </p:nvSpPr>
                <p:spPr bwMode="auto">
                  <a:xfrm>
                    <a:off x="1824" y="1872"/>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6</a:t>
                    </a:r>
                  </a:p>
                </p:txBody>
              </p:sp>
              <p:sp>
                <p:nvSpPr>
                  <p:cNvPr id="61" name="Oval 81"/>
                  <p:cNvSpPr>
                    <a:spLocks noChangeArrowheads="1"/>
                  </p:cNvSpPr>
                  <p:nvPr/>
                </p:nvSpPr>
                <p:spPr bwMode="auto">
                  <a:xfrm>
                    <a:off x="1824" y="2160"/>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33</a:t>
                    </a:r>
                  </a:p>
                </p:txBody>
              </p:sp>
              <p:sp>
                <p:nvSpPr>
                  <p:cNvPr id="62" name="Freeform 82"/>
                  <p:cNvSpPr>
                    <a:spLocks/>
                  </p:cNvSpPr>
                  <p:nvPr/>
                </p:nvSpPr>
                <p:spPr bwMode="auto">
                  <a:xfrm>
                    <a:off x="1899" y="2013"/>
                    <a:ext cx="1" cy="145"/>
                  </a:xfrm>
                  <a:custGeom>
                    <a:avLst/>
                    <a:gdLst>
                      <a:gd name="T0" fmla="*/ 0 w 1"/>
                      <a:gd name="T1" fmla="*/ 0 h 145"/>
                      <a:gd name="T2" fmla="*/ 0 w 1"/>
                      <a:gd name="T3" fmla="*/ 145 h 145"/>
                      <a:gd name="T4" fmla="*/ 0 60000 65536"/>
                      <a:gd name="T5" fmla="*/ 0 60000 65536"/>
                      <a:gd name="T6" fmla="*/ 0 w 1"/>
                      <a:gd name="T7" fmla="*/ 0 h 145"/>
                      <a:gd name="T8" fmla="*/ 1 w 1"/>
                      <a:gd name="T9" fmla="*/ 145 h 145"/>
                    </a:gdLst>
                    <a:ahLst/>
                    <a:cxnLst>
                      <a:cxn ang="T4">
                        <a:pos x="T0" y="T1"/>
                      </a:cxn>
                      <a:cxn ang="T5">
                        <a:pos x="T2" y="T3"/>
                      </a:cxn>
                    </a:cxnLst>
                    <a:rect l="T6" t="T7" r="T8" b="T9"/>
                    <a:pathLst>
                      <a:path w="1" h="145">
                        <a:moveTo>
                          <a:pt x="0" y="0"/>
                        </a:moveTo>
                        <a:lnTo>
                          <a:pt x="0" y="145"/>
                        </a:lnTo>
                      </a:path>
                    </a:pathLst>
                  </a:cu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grpSp>
            <p:sp>
              <p:nvSpPr>
                <p:cNvPr id="59" name="Line 83"/>
                <p:cNvSpPr>
                  <a:spLocks noChangeShapeType="1"/>
                </p:cNvSpPr>
                <p:nvPr/>
              </p:nvSpPr>
              <p:spPr bwMode="auto">
                <a:xfrm flipV="1">
                  <a:off x="2400" y="1968"/>
                  <a:ext cx="192" cy="96"/>
                </a:xfrm>
                <a:prstGeom prst="lin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grpSp>
          <p:grpSp>
            <p:nvGrpSpPr>
              <p:cNvPr id="46" name="Group 84"/>
              <p:cNvGrpSpPr>
                <a:grpSpLocks/>
              </p:cNvGrpSpPr>
              <p:nvPr/>
            </p:nvGrpSpPr>
            <p:grpSpPr bwMode="auto">
              <a:xfrm>
                <a:off x="3168" y="2016"/>
                <a:ext cx="480" cy="576"/>
                <a:chOff x="2256" y="1872"/>
                <a:chExt cx="480" cy="576"/>
              </a:xfrm>
            </p:grpSpPr>
            <p:grpSp>
              <p:nvGrpSpPr>
                <p:cNvPr id="48" name="Group 85"/>
                <p:cNvGrpSpPr>
                  <a:grpSpLocks/>
                </p:cNvGrpSpPr>
                <p:nvPr/>
              </p:nvGrpSpPr>
              <p:grpSpPr bwMode="auto">
                <a:xfrm>
                  <a:off x="2592" y="1872"/>
                  <a:ext cx="144" cy="432"/>
                  <a:chOff x="1824" y="1872"/>
                  <a:chExt cx="144" cy="432"/>
                </a:xfrm>
              </p:grpSpPr>
              <p:sp>
                <p:nvSpPr>
                  <p:cNvPr id="54" name="Oval 86"/>
                  <p:cNvSpPr>
                    <a:spLocks noChangeArrowheads="1"/>
                  </p:cNvSpPr>
                  <p:nvPr/>
                </p:nvSpPr>
                <p:spPr bwMode="auto">
                  <a:xfrm>
                    <a:off x="1824" y="1872"/>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11</a:t>
                    </a:r>
                  </a:p>
                </p:txBody>
              </p:sp>
              <p:sp>
                <p:nvSpPr>
                  <p:cNvPr id="55" name="Oval 87"/>
                  <p:cNvSpPr>
                    <a:spLocks noChangeArrowheads="1"/>
                  </p:cNvSpPr>
                  <p:nvPr/>
                </p:nvSpPr>
                <p:spPr bwMode="auto">
                  <a:xfrm>
                    <a:off x="1824" y="2160"/>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31</a:t>
                    </a:r>
                  </a:p>
                </p:txBody>
              </p:sp>
              <p:sp>
                <p:nvSpPr>
                  <p:cNvPr id="56" name="Freeform 88"/>
                  <p:cNvSpPr>
                    <a:spLocks/>
                  </p:cNvSpPr>
                  <p:nvPr/>
                </p:nvSpPr>
                <p:spPr bwMode="auto">
                  <a:xfrm>
                    <a:off x="1899" y="2013"/>
                    <a:ext cx="1" cy="145"/>
                  </a:xfrm>
                  <a:custGeom>
                    <a:avLst/>
                    <a:gdLst>
                      <a:gd name="T0" fmla="*/ 0 w 1"/>
                      <a:gd name="T1" fmla="*/ 0 h 145"/>
                      <a:gd name="T2" fmla="*/ 0 w 1"/>
                      <a:gd name="T3" fmla="*/ 145 h 145"/>
                      <a:gd name="T4" fmla="*/ 0 60000 65536"/>
                      <a:gd name="T5" fmla="*/ 0 60000 65536"/>
                      <a:gd name="T6" fmla="*/ 0 w 1"/>
                      <a:gd name="T7" fmla="*/ 0 h 145"/>
                      <a:gd name="T8" fmla="*/ 1 w 1"/>
                      <a:gd name="T9" fmla="*/ 145 h 145"/>
                    </a:gdLst>
                    <a:ahLst/>
                    <a:cxnLst>
                      <a:cxn ang="T4">
                        <a:pos x="T0" y="T1"/>
                      </a:cxn>
                      <a:cxn ang="T5">
                        <a:pos x="T2" y="T3"/>
                      </a:cxn>
                    </a:cxnLst>
                    <a:rect l="T6" t="T7" r="T8" b="T9"/>
                    <a:pathLst>
                      <a:path w="1" h="145">
                        <a:moveTo>
                          <a:pt x="0" y="0"/>
                        </a:moveTo>
                        <a:lnTo>
                          <a:pt x="0" y="145"/>
                        </a:lnTo>
                      </a:path>
                    </a:pathLst>
                  </a:cu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grpSp>
            <p:grpSp>
              <p:nvGrpSpPr>
                <p:cNvPr id="49" name="Group 89"/>
                <p:cNvGrpSpPr>
                  <a:grpSpLocks/>
                </p:cNvGrpSpPr>
                <p:nvPr/>
              </p:nvGrpSpPr>
              <p:grpSpPr bwMode="auto">
                <a:xfrm>
                  <a:off x="2256" y="2016"/>
                  <a:ext cx="144" cy="432"/>
                  <a:chOff x="1824" y="1872"/>
                  <a:chExt cx="144" cy="432"/>
                </a:xfrm>
              </p:grpSpPr>
              <p:sp>
                <p:nvSpPr>
                  <p:cNvPr id="51" name="Oval 90"/>
                  <p:cNvSpPr>
                    <a:spLocks noChangeArrowheads="1"/>
                  </p:cNvSpPr>
                  <p:nvPr/>
                </p:nvSpPr>
                <p:spPr bwMode="auto">
                  <a:xfrm>
                    <a:off x="1824" y="1872"/>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34</a:t>
                    </a:r>
                  </a:p>
                </p:txBody>
              </p:sp>
              <p:sp>
                <p:nvSpPr>
                  <p:cNvPr id="52" name="Oval 91"/>
                  <p:cNvSpPr>
                    <a:spLocks noChangeArrowheads="1"/>
                  </p:cNvSpPr>
                  <p:nvPr/>
                </p:nvSpPr>
                <p:spPr bwMode="auto">
                  <a:xfrm>
                    <a:off x="1824" y="2160"/>
                    <a:ext cx="144" cy="144"/>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22</a:t>
                    </a:r>
                  </a:p>
                </p:txBody>
              </p:sp>
              <p:sp>
                <p:nvSpPr>
                  <p:cNvPr id="53" name="Freeform 92"/>
                  <p:cNvSpPr>
                    <a:spLocks/>
                  </p:cNvSpPr>
                  <p:nvPr/>
                </p:nvSpPr>
                <p:spPr bwMode="auto">
                  <a:xfrm>
                    <a:off x="1899" y="2013"/>
                    <a:ext cx="1" cy="145"/>
                  </a:xfrm>
                  <a:custGeom>
                    <a:avLst/>
                    <a:gdLst>
                      <a:gd name="T0" fmla="*/ 0 w 1"/>
                      <a:gd name="T1" fmla="*/ 0 h 145"/>
                      <a:gd name="T2" fmla="*/ 0 w 1"/>
                      <a:gd name="T3" fmla="*/ 145 h 145"/>
                      <a:gd name="T4" fmla="*/ 0 60000 65536"/>
                      <a:gd name="T5" fmla="*/ 0 60000 65536"/>
                      <a:gd name="T6" fmla="*/ 0 w 1"/>
                      <a:gd name="T7" fmla="*/ 0 h 145"/>
                      <a:gd name="T8" fmla="*/ 1 w 1"/>
                      <a:gd name="T9" fmla="*/ 145 h 145"/>
                    </a:gdLst>
                    <a:ahLst/>
                    <a:cxnLst>
                      <a:cxn ang="T4">
                        <a:pos x="T0" y="T1"/>
                      </a:cxn>
                      <a:cxn ang="T5">
                        <a:pos x="T2" y="T3"/>
                      </a:cxn>
                    </a:cxnLst>
                    <a:rect l="T6" t="T7" r="T8" b="T9"/>
                    <a:pathLst>
                      <a:path w="1" h="145">
                        <a:moveTo>
                          <a:pt x="0" y="0"/>
                        </a:moveTo>
                        <a:lnTo>
                          <a:pt x="0" y="145"/>
                        </a:lnTo>
                      </a:path>
                    </a:pathLst>
                  </a:cu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grpSp>
            <p:sp>
              <p:nvSpPr>
                <p:cNvPr id="50" name="Line 93"/>
                <p:cNvSpPr>
                  <a:spLocks noChangeShapeType="1"/>
                </p:cNvSpPr>
                <p:nvPr/>
              </p:nvSpPr>
              <p:spPr bwMode="auto">
                <a:xfrm flipV="1">
                  <a:off x="2400" y="1968"/>
                  <a:ext cx="192" cy="96"/>
                </a:xfrm>
                <a:prstGeom prst="lin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grpSp>
          <p:sp>
            <p:nvSpPr>
              <p:cNvPr id="47" name="Line 94"/>
              <p:cNvSpPr>
                <a:spLocks noChangeShapeType="1"/>
              </p:cNvSpPr>
              <p:nvPr/>
            </p:nvSpPr>
            <p:spPr bwMode="auto">
              <a:xfrm flipV="1">
                <a:off x="3648" y="1920"/>
                <a:ext cx="624" cy="144"/>
              </a:xfrm>
              <a:prstGeom prst="lin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grpSp>
        <p:sp>
          <p:nvSpPr>
            <p:cNvPr id="44" name="Line 95"/>
            <p:cNvSpPr>
              <a:spLocks noChangeShapeType="1"/>
            </p:cNvSpPr>
            <p:nvPr/>
          </p:nvSpPr>
          <p:spPr bwMode="auto">
            <a:xfrm flipV="1">
              <a:off x="2544" y="3120"/>
              <a:ext cx="1488" cy="144"/>
            </a:xfrm>
            <a:prstGeom prst="lin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grpSp>
      <p:sp>
        <p:nvSpPr>
          <p:cNvPr id="87" name="Text Box 97"/>
          <p:cNvSpPr txBox="1">
            <a:spLocks noChangeArrowheads="1"/>
          </p:cNvSpPr>
          <p:nvPr/>
        </p:nvSpPr>
        <p:spPr bwMode="auto">
          <a:xfrm>
            <a:off x="4344851" y="1249636"/>
            <a:ext cx="1259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B</a:t>
            </a:r>
            <a:r>
              <a:rPr lang="en-US" altLang="en-US" baseline="-25000" dirty="0"/>
              <a:t>3</a:t>
            </a:r>
          </a:p>
        </p:txBody>
      </p:sp>
      <p:sp>
        <p:nvSpPr>
          <p:cNvPr id="88" name="Text Box 98"/>
          <p:cNvSpPr txBox="1">
            <a:spLocks noChangeArrowheads="1"/>
          </p:cNvSpPr>
          <p:nvPr/>
        </p:nvSpPr>
        <p:spPr bwMode="auto">
          <a:xfrm>
            <a:off x="4343399" y="4154858"/>
            <a:ext cx="915637" cy="369332"/>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B</a:t>
            </a:r>
            <a:r>
              <a:rPr lang="en-US" altLang="en-US" baseline="-25000" dirty="0"/>
              <a:t>4</a:t>
            </a:r>
          </a:p>
        </p:txBody>
      </p:sp>
      <p:sp>
        <p:nvSpPr>
          <p:cNvPr id="89" name="TextBox 88">
            <a:extLst>
              <a:ext uri="{FF2B5EF4-FFF2-40B4-BE49-F238E27FC236}">
                <a16:creationId xmlns:a16="http://schemas.microsoft.com/office/drawing/2014/main" id="{2A06CFA2-A6A5-4078-88C0-C3314AE097C8}"/>
              </a:ext>
            </a:extLst>
          </p:cNvPr>
          <p:cNvSpPr txBox="1"/>
          <p:nvPr/>
        </p:nvSpPr>
        <p:spPr>
          <a:xfrm>
            <a:off x="7323544" y="1397543"/>
            <a:ext cx="4785391" cy="1354217"/>
          </a:xfrm>
          <a:prstGeom prst="rect">
            <a:avLst/>
          </a:prstGeom>
          <a:noFill/>
        </p:spPr>
        <p:txBody>
          <a:bodyPr wrap="square">
            <a:spAutoFit/>
          </a:bodyPr>
          <a:lstStyle/>
          <a:p>
            <a:r>
              <a:rPr lang="en-IN" b="1" dirty="0">
                <a:latin typeface="Cambria Math" panose="02040503050406030204" pitchFamily="18" charset="0"/>
                <a:ea typeface="Cambria Math" panose="02040503050406030204" pitchFamily="18" charset="0"/>
              </a:rPr>
              <a:t>Depth </a:t>
            </a:r>
            <a:r>
              <a:rPr lang="en-IN" b="1" dirty="0" err="1">
                <a:latin typeface="Cambria Math" panose="02040503050406030204" pitchFamily="18" charset="0"/>
                <a:ea typeface="Cambria Math" panose="02040503050406030204" pitchFamily="18" charset="0"/>
              </a:rPr>
              <a:t>i</a:t>
            </a:r>
            <a:r>
              <a:rPr lang="en-IN" b="1" dirty="0">
                <a:latin typeface="Cambria Math" panose="02040503050406030204" pitchFamily="18" charset="0"/>
                <a:ea typeface="Cambria Math" panose="02040503050406030204" pitchFamily="18" charset="0"/>
              </a:rPr>
              <a:t> in B</a:t>
            </a:r>
            <a:r>
              <a:rPr lang="en-IN" b="1" baseline="-25000" dirty="0">
                <a:latin typeface="Cambria Math" panose="02040503050406030204" pitchFamily="18" charset="0"/>
                <a:ea typeface="Cambria Math" panose="02040503050406030204" pitchFamily="18" charset="0"/>
              </a:rPr>
              <a:t>3</a:t>
            </a:r>
            <a:r>
              <a:rPr lang="en-IN" b="1" dirty="0">
                <a:latin typeface="Cambria Math" panose="02040503050406030204" pitchFamily="18" charset="0"/>
                <a:ea typeface="Cambria Math" panose="02040503050406030204" pitchFamily="18" charset="0"/>
              </a:rPr>
              <a:t>​:</a:t>
            </a:r>
          </a:p>
          <a:p>
            <a:pPr>
              <a:buFont typeface="Arial" panose="020B0604020202020204" pitchFamily="34" charset="0"/>
              <a:buChar char="•"/>
            </a:pPr>
            <a:r>
              <a:rPr lang="en-IN" sz="1600" b="1" dirty="0">
                <a:latin typeface="Cambria Math" panose="02040503050406030204" pitchFamily="18" charset="0"/>
                <a:ea typeface="Cambria Math" panose="02040503050406030204" pitchFamily="18" charset="0"/>
              </a:rPr>
              <a:t>Depth 0</a:t>
            </a:r>
            <a:r>
              <a:rPr lang="en-IN" sz="1600" dirty="0">
                <a:latin typeface="Cambria Math" panose="02040503050406030204" pitchFamily="18" charset="0"/>
                <a:ea typeface="Cambria Math" panose="02040503050406030204" pitchFamily="18" charset="0"/>
              </a:rPr>
              <a:t>: C(3,0) = 1 node (the root).</a:t>
            </a:r>
          </a:p>
          <a:p>
            <a:pPr>
              <a:buFont typeface="Arial" panose="020B0604020202020204" pitchFamily="34" charset="0"/>
              <a:buChar char="•"/>
            </a:pPr>
            <a:r>
              <a:rPr lang="en-IN" sz="1600" b="1" dirty="0">
                <a:latin typeface="Cambria Math" panose="02040503050406030204" pitchFamily="18" charset="0"/>
                <a:ea typeface="Cambria Math" panose="02040503050406030204" pitchFamily="18" charset="0"/>
              </a:rPr>
              <a:t>Depth 1</a:t>
            </a:r>
            <a:r>
              <a:rPr lang="en-IN" sz="1600" dirty="0">
                <a:latin typeface="Cambria Math" panose="02040503050406030204" pitchFamily="18" charset="0"/>
                <a:ea typeface="Cambria Math" panose="02040503050406030204" pitchFamily="18" charset="0"/>
              </a:rPr>
              <a:t>: C(3,1) =3 nodes.</a:t>
            </a:r>
          </a:p>
          <a:p>
            <a:pPr>
              <a:buFont typeface="Arial" panose="020B0604020202020204" pitchFamily="34" charset="0"/>
              <a:buChar char="•"/>
            </a:pPr>
            <a:r>
              <a:rPr lang="en-IN" sz="1600" b="1" dirty="0">
                <a:latin typeface="Cambria Math" panose="02040503050406030204" pitchFamily="18" charset="0"/>
                <a:ea typeface="Cambria Math" panose="02040503050406030204" pitchFamily="18" charset="0"/>
              </a:rPr>
              <a:t>Depth 2</a:t>
            </a:r>
            <a:r>
              <a:rPr lang="en-IN" sz="1600" dirty="0">
                <a:latin typeface="Cambria Math" panose="02040503050406030204" pitchFamily="18" charset="0"/>
                <a:ea typeface="Cambria Math" panose="02040503050406030204" pitchFamily="18" charset="0"/>
              </a:rPr>
              <a:t>: C(3,2) =3 nodes.</a:t>
            </a:r>
          </a:p>
          <a:p>
            <a:pPr>
              <a:buFont typeface="Arial" panose="020B0604020202020204" pitchFamily="34" charset="0"/>
              <a:buChar char="•"/>
            </a:pPr>
            <a:r>
              <a:rPr lang="en-IN" sz="1600" b="1" dirty="0">
                <a:latin typeface="Cambria Math" panose="02040503050406030204" pitchFamily="18" charset="0"/>
                <a:ea typeface="Cambria Math" panose="02040503050406030204" pitchFamily="18" charset="0"/>
              </a:rPr>
              <a:t>Depth 3</a:t>
            </a:r>
            <a:r>
              <a:rPr lang="en-IN" sz="1600" dirty="0">
                <a:latin typeface="Cambria Math" panose="02040503050406030204" pitchFamily="18" charset="0"/>
                <a:ea typeface="Cambria Math" panose="02040503050406030204" pitchFamily="18" charset="0"/>
              </a:rPr>
              <a:t>: C(3,3) =1 node (the deepest leaf node).</a:t>
            </a:r>
          </a:p>
        </p:txBody>
      </p:sp>
    </p:spTree>
    <p:extLst>
      <p:ext uri="{BB962C8B-B14F-4D97-AF65-F5344CB8AC3E}">
        <p14:creationId xmlns:p14="http://schemas.microsoft.com/office/powerpoint/2010/main" val="3321927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5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50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50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50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500"/>
                                        <p:tgtEl>
                                          <p:spTgt spid="3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500"/>
                                        <p:tgtEl>
                                          <p:spTgt spid="3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500"/>
                                        <p:tgtEl>
                                          <p:spTgt spid="3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500"/>
                                        <p:tgtEl>
                                          <p:spTgt spid="3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500"/>
                                        <p:tgtEl>
                                          <p:spTgt spid="4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87"/>
                                        </p:tgtEl>
                                        <p:attrNameLst>
                                          <p:attrName>style.visibility</p:attrName>
                                        </p:attrNameLst>
                                      </p:cBhvr>
                                      <p:to>
                                        <p:strVal val="visible"/>
                                      </p:to>
                                    </p:set>
                                    <p:animEffect transition="in" filter="fade">
                                      <p:cBhvr>
                                        <p:cTn id="64" dur="500"/>
                                        <p:tgtEl>
                                          <p:spTgt spid="87"/>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89"/>
                                        </p:tgtEl>
                                        <p:attrNameLst>
                                          <p:attrName>style.visibility</p:attrName>
                                        </p:attrNameLst>
                                      </p:cBhvr>
                                      <p:to>
                                        <p:strVal val="visible"/>
                                      </p:to>
                                    </p:set>
                                    <p:animEffect transition="in" filter="fade">
                                      <p:cBhvr>
                                        <p:cTn id="69" dur="500"/>
                                        <p:tgtEl>
                                          <p:spTgt spid="89"/>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41"/>
                                        </p:tgtEl>
                                        <p:attrNameLst>
                                          <p:attrName>style.visibility</p:attrName>
                                        </p:attrNameLst>
                                      </p:cBhvr>
                                      <p:to>
                                        <p:strVal val="visible"/>
                                      </p:to>
                                    </p:set>
                                    <p:animEffect transition="in" filter="fade">
                                      <p:cBhvr>
                                        <p:cTn id="74" dur="500"/>
                                        <p:tgtEl>
                                          <p:spTgt spid="4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88"/>
                                        </p:tgtEl>
                                        <p:attrNameLst>
                                          <p:attrName>style.visibility</p:attrName>
                                        </p:attrNameLst>
                                      </p:cBhvr>
                                      <p:to>
                                        <p:strVal val="visible"/>
                                      </p:to>
                                    </p:set>
                                    <p:animEffect transition="in" filter="fade">
                                      <p:cBhvr>
                                        <p:cTn id="77"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13" grpId="0"/>
      <p:bldP spid="32" grpId="0" animBg="1"/>
      <p:bldP spid="33" grpId="0" animBg="1"/>
      <p:bldP spid="34" grpId="0" animBg="1"/>
      <p:bldP spid="35" grpId="0" animBg="1"/>
      <p:bldP spid="36" grpId="0" animBg="1"/>
      <p:bldP spid="37" grpId="0" animBg="1"/>
      <p:bldP spid="38" grpId="0" animBg="1"/>
      <p:bldP spid="39" grpId="0" animBg="1"/>
      <p:bldP spid="40" grpId="0" animBg="1"/>
      <p:bldP spid="87" grpId="0"/>
      <p:bldP spid="88" grpId="0"/>
      <p:bldP spid="8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Binomial Heap Properties</a:t>
            </a:r>
            <a:endParaRPr lang="en-IN" dirty="0"/>
          </a:p>
        </p:txBody>
      </p:sp>
      <p:sp>
        <p:nvSpPr>
          <p:cNvPr id="3" name="Content Placeholder 2"/>
          <p:cNvSpPr>
            <a:spLocks noGrp="1"/>
          </p:cNvSpPr>
          <p:nvPr>
            <p:ph idx="1"/>
          </p:nvPr>
        </p:nvSpPr>
        <p:spPr/>
        <p:txBody>
          <a:bodyPr/>
          <a:lstStyle/>
          <a:p>
            <a:r>
              <a:rPr lang="en-US" altLang="en-US" dirty="0"/>
              <a:t>Binomial heap(H) is a set of Binomial Trees.</a:t>
            </a:r>
          </a:p>
          <a:p>
            <a:r>
              <a:rPr lang="en-US" altLang="en-US" dirty="0"/>
              <a:t>Each binomial tree in </a:t>
            </a:r>
            <a:r>
              <a:rPr lang="en-US" altLang="en-US" dirty="0">
                <a:highlight>
                  <a:srgbClr val="00FF00"/>
                </a:highlight>
              </a:rPr>
              <a:t>H</a:t>
            </a:r>
            <a:r>
              <a:rPr lang="en-US" altLang="en-US" dirty="0"/>
              <a:t> obeys the </a:t>
            </a:r>
            <a:r>
              <a:rPr lang="en-US" altLang="en-US" b="1" dirty="0">
                <a:solidFill>
                  <a:srgbClr val="C00000"/>
                </a:solidFill>
              </a:rPr>
              <a:t>min heap property</a:t>
            </a:r>
            <a:r>
              <a:rPr lang="en-US" altLang="en-US" dirty="0"/>
              <a:t>: </a:t>
            </a:r>
            <a:r>
              <a:rPr lang="en-US" altLang="en-US" dirty="0">
                <a:highlight>
                  <a:srgbClr val="FCE0EE"/>
                </a:highlight>
              </a:rPr>
              <a:t>key of a node is greater or equal to the key of its parent. The root has the smallest key in the tree</a:t>
            </a:r>
            <a:r>
              <a:rPr lang="en-US" altLang="en-US" dirty="0"/>
              <a:t>.</a:t>
            </a:r>
          </a:p>
          <a:p>
            <a:r>
              <a:rPr lang="en-US" altLang="en-US" dirty="0"/>
              <a:t>There can be at most one Binomial Tree of any degree. </a:t>
            </a:r>
            <a:r>
              <a:rPr lang="en-US" altLang="en-US" sz="2000" dirty="0"/>
              <a:t>{i.e. no two binomial tree of same degree}</a:t>
            </a:r>
            <a:endParaRPr lang="en-US" altLang="en-US" dirty="0"/>
          </a:p>
          <a:p>
            <a:r>
              <a:rPr lang="en-US" altLang="en-US" dirty="0"/>
              <a:t>The binomial trees in the binomial heap are arranged in increasing order of degree</a:t>
            </a:r>
          </a:p>
          <a:p>
            <a:pPr marL="0" indent="0">
              <a:buNone/>
            </a:pPr>
            <a:r>
              <a:rPr lang="en-US" altLang="en-US" dirty="0">
                <a:solidFill>
                  <a:srgbClr val="C00000"/>
                </a:solidFill>
              </a:rPr>
              <a:t>Example:</a:t>
            </a:r>
          </a:p>
          <a:p>
            <a:pPr marL="0" indent="0">
              <a:buNone/>
            </a:pPr>
            <a:endParaRPr lang="en-IN" dirty="0"/>
          </a:p>
        </p:txBody>
      </p:sp>
      <p:sp>
        <p:nvSpPr>
          <p:cNvPr id="4" name="Oval 4"/>
          <p:cNvSpPr>
            <a:spLocks noChangeArrowheads="1"/>
          </p:cNvSpPr>
          <p:nvPr/>
        </p:nvSpPr>
        <p:spPr bwMode="auto">
          <a:xfrm>
            <a:off x="4163096" y="3705896"/>
            <a:ext cx="304800" cy="304800"/>
          </a:xfrm>
          <a:prstGeom prst="ellips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5</a:t>
            </a:r>
          </a:p>
        </p:txBody>
      </p:sp>
      <p:sp>
        <p:nvSpPr>
          <p:cNvPr id="5" name="Oval 5"/>
          <p:cNvSpPr>
            <a:spLocks noChangeArrowheads="1"/>
          </p:cNvSpPr>
          <p:nvPr/>
        </p:nvSpPr>
        <p:spPr bwMode="auto">
          <a:xfrm>
            <a:off x="5687096" y="3705896"/>
            <a:ext cx="304800" cy="304800"/>
          </a:xfrm>
          <a:prstGeom prst="ellips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6" name="Oval 6"/>
          <p:cNvSpPr>
            <a:spLocks noChangeArrowheads="1"/>
          </p:cNvSpPr>
          <p:nvPr/>
        </p:nvSpPr>
        <p:spPr bwMode="auto">
          <a:xfrm>
            <a:off x="5687096" y="4315496"/>
            <a:ext cx="304800" cy="304800"/>
          </a:xfrm>
          <a:prstGeom prst="ellips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7" name="Oval 7"/>
          <p:cNvSpPr>
            <a:spLocks noChangeArrowheads="1"/>
          </p:cNvSpPr>
          <p:nvPr/>
        </p:nvSpPr>
        <p:spPr bwMode="auto">
          <a:xfrm>
            <a:off x="5001296" y="4315496"/>
            <a:ext cx="304800" cy="304800"/>
          </a:xfrm>
          <a:prstGeom prst="ellips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10</a:t>
            </a:r>
          </a:p>
        </p:txBody>
      </p:sp>
      <p:sp>
        <p:nvSpPr>
          <p:cNvPr id="8" name="Oval 8"/>
          <p:cNvSpPr>
            <a:spLocks noChangeArrowheads="1"/>
          </p:cNvSpPr>
          <p:nvPr/>
        </p:nvSpPr>
        <p:spPr bwMode="auto">
          <a:xfrm>
            <a:off x="5001296" y="4925096"/>
            <a:ext cx="304800" cy="304800"/>
          </a:xfrm>
          <a:prstGeom prst="ellips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9" name="Line 9"/>
          <p:cNvSpPr>
            <a:spLocks noChangeShapeType="1"/>
          </p:cNvSpPr>
          <p:nvPr/>
        </p:nvSpPr>
        <p:spPr bwMode="auto">
          <a:xfrm>
            <a:off x="5153696" y="4620296"/>
            <a:ext cx="0" cy="304800"/>
          </a:xfrm>
          <a:prstGeom prst="lin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0" name="Line 10"/>
          <p:cNvSpPr>
            <a:spLocks noChangeShapeType="1"/>
          </p:cNvSpPr>
          <p:nvPr/>
        </p:nvSpPr>
        <p:spPr bwMode="auto">
          <a:xfrm>
            <a:off x="5839496" y="4010696"/>
            <a:ext cx="0" cy="304800"/>
          </a:xfrm>
          <a:prstGeom prst="lin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1" name="Line 11"/>
          <p:cNvSpPr>
            <a:spLocks noChangeShapeType="1"/>
          </p:cNvSpPr>
          <p:nvPr/>
        </p:nvSpPr>
        <p:spPr bwMode="auto">
          <a:xfrm flipV="1">
            <a:off x="5229896" y="3934496"/>
            <a:ext cx="457200" cy="381000"/>
          </a:xfrm>
          <a:prstGeom prst="lin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2" name="Line 12"/>
          <p:cNvSpPr>
            <a:spLocks noChangeShapeType="1"/>
          </p:cNvSpPr>
          <p:nvPr/>
        </p:nvSpPr>
        <p:spPr bwMode="auto">
          <a:xfrm>
            <a:off x="4467896" y="3858296"/>
            <a:ext cx="1219200" cy="0"/>
          </a:xfrm>
          <a:prstGeom prst="line">
            <a:avLst/>
          </a:prstGeom>
          <a:ln w="28575">
            <a:headEnd/>
            <a:tailEnd type="triangle" w="med" len="me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3" name="Text Box 13"/>
          <p:cNvSpPr txBox="1">
            <a:spLocks noChangeArrowheads="1"/>
          </p:cNvSpPr>
          <p:nvPr/>
        </p:nvSpPr>
        <p:spPr bwMode="auto">
          <a:xfrm>
            <a:off x="2715298" y="3720976"/>
            <a:ext cx="888104" cy="27699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b="1" dirty="0">
                <a:latin typeface="+mj-lt"/>
              </a:rPr>
              <a:t>head[H]</a:t>
            </a:r>
          </a:p>
        </p:txBody>
      </p:sp>
      <p:sp>
        <p:nvSpPr>
          <p:cNvPr id="14" name="Line 14"/>
          <p:cNvSpPr>
            <a:spLocks noChangeShapeType="1"/>
          </p:cNvSpPr>
          <p:nvPr/>
        </p:nvSpPr>
        <p:spPr bwMode="auto">
          <a:xfrm>
            <a:off x="3401096" y="3858296"/>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5" name="Oval 15"/>
          <p:cNvSpPr>
            <a:spLocks noChangeArrowheads="1"/>
          </p:cNvSpPr>
          <p:nvPr/>
        </p:nvSpPr>
        <p:spPr bwMode="auto">
          <a:xfrm>
            <a:off x="4163096" y="4315496"/>
            <a:ext cx="304800" cy="304800"/>
          </a:xfrm>
          <a:prstGeom prst="ellips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7</a:t>
            </a:r>
          </a:p>
        </p:txBody>
      </p:sp>
      <p:sp>
        <p:nvSpPr>
          <p:cNvPr id="16" name="Oval 16"/>
          <p:cNvSpPr>
            <a:spLocks noChangeArrowheads="1"/>
          </p:cNvSpPr>
          <p:nvPr/>
        </p:nvSpPr>
        <p:spPr bwMode="auto">
          <a:xfrm>
            <a:off x="8049296" y="3782096"/>
            <a:ext cx="304800" cy="304800"/>
          </a:xfrm>
          <a:prstGeom prst="ellips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17" name="Oval 17"/>
          <p:cNvSpPr>
            <a:spLocks noChangeArrowheads="1"/>
          </p:cNvSpPr>
          <p:nvPr/>
        </p:nvSpPr>
        <p:spPr bwMode="auto">
          <a:xfrm>
            <a:off x="8049296" y="4391696"/>
            <a:ext cx="304800" cy="304800"/>
          </a:xfrm>
          <a:prstGeom prst="ellips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13</a:t>
            </a:r>
          </a:p>
        </p:txBody>
      </p:sp>
      <p:sp>
        <p:nvSpPr>
          <p:cNvPr id="18" name="Oval 18"/>
          <p:cNvSpPr>
            <a:spLocks noChangeArrowheads="1"/>
          </p:cNvSpPr>
          <p:nvPr/>
        </p:nvSpPr>
        <p:spPr bwMode="auto">
          <a:xfrm>
            <a:off x="7363496" y="4391696"/>
            <a:ext cx="304800" cy="304800"/>
          </a:xfrm>
          <a:prstGeom prst="ellips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19" name="Oval 19"/>
          <p:cNvSpPr>
            <a:spLocks noChangeArrowheads="1"/>
          </p:cNvSpPr>
          <p:nvPr/>
        </p:nvSpPr>
        <p:spPr bwMode="auto">
          <a:xfrm>
            <a:off x="7363496" y="5001296"/>
            <a:ext cx="304800" cy="304800"/>
          </a:xfrm>
          <a:prstGeom prst="ellips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20" name="Line 20"/>
          <p:cNvSpPr>
            <a:spLocks noChangeShapeType="1"/>
          </p:cNvSpPr>
          <p:nvPr/>
        </p:nvSpPr>
        <p:spPr bwMode="auto">
          <a:xfrm>
            <a:off x="7515896" y="4696496"/>
            <a:ext cx="0" cy="304800"/>
          </a:xfrm>
          <a:prstGeom prst="lin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1" name="Line 21"/>
          <p:cNvSpPr>
            <a:spLocks noChangeShapeType="1"/>
          </p:cNvSpPr>
          <p:nvPr/>
        </p:nvSpPr>
        <p:spPr bwMode="auto">
          <a:xfrm>
            <a:off x="8201696" y="4086896"/>
            <a:ext cx="0" cy="304800"/>
          </a:xfrm>
          <a:prstGeom prst="lin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2" name="Line 22"/>
          <p:cNvSpPr>
            <a:spLocks noChangeShapeType="1"/>
          </p:cNvSpPr>
          <p:nvPr/>
        </p:nvSpPr>
        <p:spPr bwMode="auto">
          <a:xfrm flipV="1">
            <a:off x="7592096" y="4010696"/>
            <a:ext cx="457200" cy="381000"/>
          </a:xfrm>
          <a:prstGeom prst="lin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3" name="Oval 23"/>
          <p:cNvSpPr>
            <a:spLocks noChangeArrowheads="1"/>
          </p:cNvSpPr>
          <p:nvPr/>
        </p:nvSpPr>
        <p:spPr bwMode="auto">
          <a:xfrm>
            <a:off x="6753896" y="4467896"/>
            <a:ext cx="304800" cy="304800"/>
          </a:xfrm>
          <a:prstGeom prst="ellips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3</a:t>
            </a:r>
          </a:p>
        </p:txBody>
      </p:sp>
      <p:sp>
        <p:nvSpPr>
          <p:cNvPr id="24" name="Oval 24"/>
          <p:cNvSpPr>
            <a:spLocks noChangeArrowheads="1"/>
          </p:cNvSpPr>
          <p:nvPr/>
        </p:nvSpPr>
        <p:spPr bwMode="auto">
          <a:xfrm>
            <a:off x="6753896" y="5077496"/>
            <a:ext cx="304800" cy="304800"/>
          </a:xfrm>
          <a:prstGeom prst="ellips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25" name="Oval 25"/>
          <p:cNvSpPr>
            <a:spLocks noChangeArrowheads="1"/>
          </p:cNvSpPr>
          <p:nvPr/>
        </p:nvSpPr>
        <p:spPr bwMode="auto">
          <a:xfrm>
            <a:off x="6068096" y="5077496"/>
            <a:ext cx="304800" cy="304800"/>
          </a:xfrm>
          <a:prstGeom prst="ellips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26" name="Oval 26"/>
          <p:cNvSpPr>
            <a:spLocks noChangeArrowheads="1"/>
          </p:cNvSpPr>
          <p:nvPr/>
        </p:nvSpPr>
        <p:spPr bwMode="auto">
          <a:xfrm>
            <a:off x="6068096" y="5687096"/>
            <a:ext cx="304800" cy="304800"/>
          </a:xfrm>
          <a:prstGeom prst="ellips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16</a:t>
            </a:r>
          </a:p>
        </p:txBody>
      </p:sp>
      <p:sp>
        <p:nvSpPr>
          <p:cNvPr id="27" name="Line 27"/>
          <p:cNvSpPr>
            <a:spLocks noChangeShapeType="1"/>
          </p:cNvSpPr>
          <p:nvPr/>
        </p:nvSpPr>
        <p:spPr bwMode="auto">
          <a:xfrm>
            <a:off x="6220496" y="5382296"/>
            <a:ext cx="0" cy="304800"/>
          </a:xfrm>
          <a:prstGeom prst="lin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8" name="Line 28"/>
          <p:cNvSpPr>
            <a:spLocks noChangeShapeType="1"/>
          </p:cNvSpPr>
          <p:nvPr/>
        </p:nvSpPr>
        <p:spPr bwMode="auto">
          <a:xfrm>
            <a:off x="6906296" y="4772696"/>
            <a:ext cx="0" cy="304800"/>
          </a:xfrm>
          <a:prstGeom prst="lin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9" name="Line 29"/>
          <p:cNvSpPr>
            <a:spLocks noChangeShapeType="1"/>
          </p:cNvSpPr>
          <p:nvPr/>
        </p:nvSpPr>
        <p:spPr bwMode="auto">
          <a:xfrm flipV="1">
            <a:off x="6296696" y="4696496"/>
            <a:ext cx="457200" cy="381000"/>
          </a:xfrm>
          <a:prstGeom prst="lin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30" name="Line 30"/>
          <p:cNvSpPr>
            <a:spLocks noChangeShapeType="1"/>
          </p:cNvSpPr>
          <p:nvPr/>
        </p:nvSpPr>
        <p:spPr bwMode="auto">
          <a:xfrm flipV="1">
            <a:off x="6982496" y="3934496"/>
            <a:ext cx="1066800" cy="533400"/>
          </a:xfrm>
          <a:prstGeom prst="lin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31" name="Line 31"/>
          <p:cNvSpPr>
            <a:spLocks noChangeShapeType="1"/>
          </p:cNvSpPr>
          <p:nvPr/>
        </p:nvSpPr>
        <p:spPr bwMode="auto">
          <a:xfrm>
            <a:off x="5991896" y="3858296"/>
            <a:ext cx="2057400" cy="0"/>
          </a:xfrm>
          <a:prstGeom prst="line">
            <a:avLst/>
          </a:prstGeom>
          <a:ln w="28575">
            <a:headEnd/>
            <a:tailEnd type="triangle" w="med" len="me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32" name="Line 32"/>
          <p:cNvSpPr>
            <a:spLocks noChangeShapeType="1"/>
          </p:cNvSpPr>
          <p:nvPr/>
        </p:nvSpPr>
        <p:spPr bwMode="auto">
          <a:xfrm>
            <a:off x="4315496" y="4010696"/>
            <a:ext cx="0" cy="304800"/>
          </a:xfrm>
          <a:prstGeom prst="line">
            <a:avLst/>
          </a:prstGeom>
          <a:ln w="28575">
            <a:headEnd/>
            <a:tailEnd/>
          </a:ln>
          <a:effectLst>
            <a:outerShdw blurRad="50800" dist="38100" dir="5400000" algn="t"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Tree>
    <p:extLst>
      <p:ext uri="{BB962C8B-B14F-4D97-AF65-F5344CB8AC3E}">
        <p14:creationId xmlns:p14="http://schemas.microsoft.com/office/powerpoint/2010/main" val="2071192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Binomial Heap Implementation</a:t>
            </a:r>
            <a:endParaRPr lang="en-IN" dirty="0"/>
          </a:p>
        </p:txBody>
      </p:sp>
      <p:sp>
        <p:nvSpPr>
          <p:cNvPr id="3" name="Content Placeholder 2"/>
          <p:cNvSpPr>
            <a:spLocks noGrp="1"/>
          </p:cNvSpPr>
          <p:nvPr>
            <p:ph idx="1"/>
          </p:nvPr>
        </p:nvSpPr>
        <p:spPr/>
        <p:txBody>
          <a:bodyPr/>
          <a:lstStyle/>
          <a:p>
            <a:r>
              <a:rPr lang="en-US" altLang="en-US" dirty="0"/>
              <a:t>Each node has the following fields:</a:t>
            </a:r>
          </a:p>
          <a:p>
            <a:pPr lvl="1"/>
            <a:r>
              <a:rPr lang="en-US" altLang="en-US" sz="2400" dirty="0"/>
              <a:t>p: parent</a:t>
            </a:r>
          </a:p>
          <a:p>
            <a:pPr lvl="1"/>
            <a:r>
              <a:rPr lang="en-US" altLang="en-US" sz="2400" dirty="0"/>
              <a:t>child: leftmost child</a:t>
            </a:r>
          </a:p>
          <a:p>
            <a:pPr lvl="1"/>
            <a:r>
              <a:rPr lang="en-US" altLang="en-US" sz="2400" dirty="0"/>
              <a:t>sibling</a:t>
            </a:r>
          </a:p>
          <a:p>
            <a:pPr lvl="1"/>
            <a:r>
              <a:rPr lang="en-US" altLang="en-US" sz="2400" dirty="0"/>
              <a:t>Degree</a:t>
            </a:r>
          </a:p>
          <a:p>
            <a:pPr lvl="1"/>
            <a:r>
              <a:rPr lang="en-US" altLang="en-US" sz="2400" dirty="0"/>
              <a:t>Key (data)</a:t>
            </a:r>
          </a:p>
          <a:p>
            <a:pPr lvl="1"/>
            <a:endParaRPr lang="en-US" altLang="en-US" sz="2400" dirty="0"/>
          </a:p>
          <a:p>
            <a:r>
              <a:rPr lang="en-US" altLang="en-US" dirty="0"/>
              <a:t>Roots of the trees are </a:t>
            </a:r>
            <a:r>
              <a:rPr lang="en-US" altLang="en-US" dirty="0">
                <a:highlight>
                  <a:srgbClr val="FCE0EE"/>
                </a:highlight>
              </a:rPr>
              <a:t>connected using linked list</a:t>
            </a:r>
            <a:r>
              <a:rPr lang="en-US" altLang="en-US" dirty="0"/>
              <a:t>.</a:t>
            </a:r>
          </a:p>
          <a:p>
            <a:pPr lvl="1">
              <a:buNone/>
            </a:pPr>
            <a:endParaRPr lang="en-US" altLang="en-US" dirty="0"/>
          </a:p>
          <a:p>
            <a:pPr marL="0" indent="0">
              <a:buNone/>
            </a:pPr>
            <a:endParaRPr lang="en-IN" dirty="0"/>
          </a:p>
        </p:txBody>
      </p:sp>
    </p:spTree>
    <p:extLst>
      <p:ext uri="{BB962C8B-B14F-4D97-AF65-F5344CB8AC3E}">
        <p14:creationId xmlns:p14="http://schemas.microsoft.com/office/powerpoint/2010/main" val="16315768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Binomial Heap Implementation</a:t>
            </a:r>
            <a:endParaRPr lang="en-IN" dirty="0"/>
          </a:p>
        </p:txBody>
      </p:sp>
      <p:sp>
        <p:nvSpPr>
          <p:cNvPr id="3" name="Content Placeholder 2"/>
          <p:cNvSpPr>
            <a:spLocks noGrp="1"/>
          </p:cNvSpPr>
          <p:nvPr>
            <p:ph idx="1"/>
          </p:nvPr>
        </p:nvSpPr>
        <p:spPr>
          <a:xfrm>
            <a:off x="131178" y="861193"/>
            <a:ext cx="11588597" cy="586607"/>
          </a:xfrm>
        </p:spPr>
        <p:txBody>
          <a:bodyPr/>
          <a:lstStyle/>
          <a:p>
            <a:endParaRPr lang="en-IN" dirty="0"/>
          </a:p>
        </p:txBody>
      </p:sp>
      <p:sp>
        <p:nvSpPr>
          <p:cNvPr id="4" name="Rectangle 4"/>
          <p:cNvSpPr>
            <a:spLocks noChangeArrowheads="1"/>
          </p:cNvSpPr>
          <p:nvPr/>
        </p:nvSpPr>
        <p:spPr bwMode="auto">
          <a:xfrm>
            <a:off x="4648200" y="24384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5" name="Rectangle 5"/>
          <p:cNvSpPr>
            <a:spLocks noChangeArrowheads="1"/>
          </p:cNvSpPr>
          <p:nvPr/>
        </p:nvSpPr>
        <p:spPr bwMode="auto">
          <a:xfrm>
            <a:off x="4648200" y="26670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0</a:t>
            </a:r>
          </a:p>
        </p:txBody>
      </p:sp>
      <p:sp>
        <p:nvSpPr>
          <p:cNvPr id="6" name="Rectangle 6"/>
          <p:cNvSpPr>
            <a:spLocks noChangeArrowheads="1"/>
          </p:cNvSpPr>
          <p:nvPr/>
        </p:nvSpPr>
        <p:spPr bwMode="auto">
          <a:xfrm>
            <a:off x="4648200" y="2895600"/>
            <a:ext cx="381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900"/>
              <a:t>NIL</a:t>
            </a:r>
          </a:p>
        </p:txBody>
      </p:sp>
      <p:sp>
        <p:nvSpPr>
          <p:cNvPr id="7" name="Rectangle 7"/>
          <p:cNvSpPr>
            <a:spLocks noChangeArrowheads="1"/>
          </p:cNvSpPr>
          <p:nvPr/>
        </p:nvSpPr>
        <p:spPr bwMode="auto">
          <a:xfrm>
            <a:off x="5029200" y="2895600"/>
            <a:ext cx="381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800"/>
          </a:p>
        </p:txBody>
      </p:sp>
      <p:sp>
        <p:nvSpPr>
          <p:cNvPr id="8" name="Rectangle 8"/>
          <p:cNvSpPr>
            <a:spLocks noChangeArrowheads="1"/>
          </p:cNvSpPr>
          <p:nvPr/>
        </p:nvSpPr>
        <p:spPr bwMode="auto">
          <a:xfrm>
            <a:off x="4648200" y="22098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NIL</a:t>
            </a:r>
          </a:p>
        </p:txBody>
      </p:sp>
      <p:sp>
        <p:nvSpPr>
          <p:cNvPr id="9" name="Text Box 13"/>
          <p:cNvSpPr txBox="1">
            <a:spLocks noChangeArrowheads="1"/>
          </p:cNvSpPr>
          <p:nvPr/>
        </p:nvSpPr>
        <p:spPr bwMode="auto">
          <a:xfrm>
            <a:off x="3657600" y="2819400"/>
            <a:ext cx="762000" cy="2746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a:t>
            </a:r>
          </a:p>
        </p:txBody>
      </p:sp>
      <p:sp>
        <p:nvSpPr>
          <p:cNvPr id="10" name="Line 14"/>
          <p:cNvSpPr>
            <a:spLocks noChangeShapeType="1"/>
          </p:cNvSpPr>
          <p:nvPr/>
        </p:nvSpPr>
        <p:spPr bwMode="auto">
          <a:xfrm>
            <a:off x="4267200" y="2971800"/>
            <a:ext cx="381000" cy="0"/>
          </a:xfrm>
          <a:prstGeom prst="line">
            <a:avLst/>
          </a:prstGeom>
          <a:noFill/>
          <a:ln w="952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11" name="Line 16"/>
          <p:cNvSpPr>
            <a:spLocks noChangeShapeType="1"/>
          </p:cNvSpPr>
          <p:nvPr/>
        </p:nvSpPr>
        <p:spPr bwMode="auto">
          <a:xfrm>
            <a:off x="2438400" y="4038600"/>
            <a:ext cx="457200" cy="0"/>
          </a:xfrm>
          <a:prstGeom prst="line">
            <a:avLst/>
          </a:prstGeom>
          <a:ln w="28575">
            <a:headEnd/>
            <a:tailEnd type="triangle" w="med" len="me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2" name="Oval 18"/>
          <p:cNvSpPr>
            <a:spLocks noChangeArrowheads="1"/>
          </p:cNvSpPr>
          <p:nvPr/>
        </p:nvSpPr>
        <p:spPr bwMode="auto">
          <a:xfrm>
            <a:off x="2133600" y="3886200"/>
            <a:ext cx="304800" cy="304800"/>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13" name="Rectangle 19"/>
          <p:cNvSpPr>
            <a:spLocks noChangeArrowheads="1"/>
          </p:cNvSpPr>
          <p:nvPr/>
        </p:nvSpPr>
        <p:spPr bwMode="auto">
          <a:xfrm>
            <a:off x="6553200" y="24384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14" name="Rectangle 20"/>
          <p:cNvSpPr>
            <a:spLocks noChangeArrowheads="1"/>
          </p:cNvSpPr>
          <p:nvPr/>
        </p:nvSpPr>
        <p:spPr bwMode="auto">
          <a:xfrm>
            <a:off x="6553200" y="26670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15" name="Rectangle 21"/>
          <p:cNvSpPr>
            <a:spLocks noChangeArrowheads="1"/>
          </p:cNvSpPr>
          <p:nvPr/>
        </p:nvSpPr>
        <p:spPr bwMode="auto">
          <a:xfrm>
            <a:off x="6553200" y="2895600"/>
            <a:ext cx="381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900"/>
          </a:p>
        </p:txBody>
      </p:sp>
      <p:sp>
        <p:nvSpPr>
          <p:cNvPr id="16" name="Rectangle 22"/>
          <p:cNvSpPr>
            <a:spLocks noChangeArrowheads="1"/>
          </p:cNvSpPr>
          <p:nvPr/>
        </p:nvSpPr>
        <p:spPr bwMode="auto">
          <a:xfrm>
            <a:off x="6934200" y="2895600"/>
            <a:ext cx="381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a:t>NIL</a:t>
            </a:r>
          </a:p>
        </p:txBody>
      </p:sp>
      <p:sp>
        <p:nvSpPr>
          <p:cNvPr id="17" name="Rectangle 23"/>
          <p:cNvSpPr>
            <a:spLocks noChangeArrowheads="1"/>
          </p:cNvSpPr>
          <p:nvPr/>
        </p:nvSpPr>
        <p:spPr bwMode="auto">
          <a:xfrm>
            <a:off x="6553200" y="22098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NIL</a:t>
            </a:r>
          </a:p>
        </p:txBody>
      </p:sp>
      <p:sp>
        <p:nvSpPr>
          <p:cNvPr id="18" name="Rectangle 24"/>
          <p:cNvSpPr>
            <a:spLocks noChangeArrowheads="1"/>
          </p:cNvSpPr>
          <p:nvPr/>
        </p:nvSpPr>
        <p:spPr bwMode="auto">
          <a:xfrm>
            <a:off x="6553200" y="37338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19" name="Rectangle 25"/>
          <p:cNvSpPr>
            <a:spLocks noChangeArrowheads="1"/>
          </p:cNvSpPr>
          <p:nvPr/>
        </p:nvSpPr>
        <p:spPr bwMode="auto">
          <a:xfrm>
            <a:off x="6553200" y="39624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0</a:t>
            </a:r>
          </a:p>
        </p:txBody>
      </p:sp>
      <p:sp>
        <p:nvSpPr>
          <p:cNvPr id="20" name="Rectangle 26"/>
          <p:cNvSpPr>
            <a:spLocks noChangeArrowheads="1"/>
          </p:cNvSpPr>
          <p:nvPr/>
        </p:nvSpPr>
        <p:spPr bwMode="auto">
          <a:xfrm>
            <a:off x="6553200" y="4191000"/>
            <a:ext cx="381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900"/>
              <a:t>NIL</a:t>
            </a:r>
          </a:p>
        </p:txBody>
      </p:sp>
      <p:sp>
        <p:nvSpPr>
          <p:cNvPr id="21" name="Rectangle 27"/>
          <p:cNvSpPr>
            <a:spLocks noChangeArrowheads="1"/>
          </p:cNvSpPr>
          <p:nvPr/>
        </p:nvSpPr>
        <p:spPr bwMode="auto">
          <a:xfrm>
            <a:off x="6934200" y="4191000"/>
            <a:ext cx="381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a:t>NIL</a:t>
            </a:r>
          </a:p>
        </p:txBody>
      </p:sp>
      <p:sp>
        <p:nvSpPr>
          <p:cNvPr id="22" name="Rectangle 28"/>
          <p:cNvSpPr>
            <a:spLocks noChangeArrowheads="1"/>
          </p:cNvSpPr>
          <p:nvPr/>
        </p:nvSpPr>
        <p:spPr bwMode="auto">
          <a:xfrm>
            <a:off x="6553200" y="35052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1200"/>
          </a:p>
        </p:txBody>
      </p:sp>
      <p:sp>
        <p:nvSpPr>
          <p:cNvPr id="23" name="Text Box 29"/>
          <p:cNvSpPr txBox="1">
            <a:spLocks noChangeArrowheads="1"/>
          </p:cNvSpPr>
          <p:nvPr/>
        </p:nvSpPr>
        <p:spPr bwMode="auto">
          <a:xfrm>
            <a:off x="1143000" y="3886200"/>
            <a:ext cx="762000" cy="2746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a:t>
            </a:r>
          </a:p>
        </p:txBody>
      </p:sp>
      <p:sp>
        <p:nvSpPr>
          <p:cNvPr id="24" name="Line 30"/>
          <p:cNvSpPr>
            <a:spLocks noChangeShapeType="1"/>
          </p:cNvSpPr>
          <p:nvPr/>
        </p:nvSpPr>
        <p:spPr bwMode="auto">
          <a:xfrm>
            <a:off x="1752600" y="4038600"/>
            <a:ext cx="381000" cy="0"/>
          </a:xfrm>
          <a:prstGeom prst="line">
            <a:avLst/>
          </a:prstGeom>
          <a:noFill/>
          <a:ln w="952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25" name="Oval 31"/>
          <p:cNvSpPr>
            <a:spLocks noChangeArrowheads="1"/>
          </p:cNvSpPr>
          <p:nvPr/>
        </p:nvSpPr>
        <p:spPr bwMode="auto">
          <a:xfrm>
            <a:off x="2895600" y="3886200"/>
            <a:ext cx="304800" cy="304800"/>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26" name="Oval 32"/>
          <p:cNvSpPr>
            <a:spLocks noChangeArrowheads="1"/>
          </p:cNvSpPr>
          <p:nvPr/>
        </p:nvSpPr>
        <p:spPr bwMode="auto">
          <a:xfrm>
            <a:off x="2895600" y="4495800"/>
            <a:ext cx="304800" cy="304800"/>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27" name="Oval 33"/>
          <p:cNvSpPr>
            <a:spLocks noChangeArrowheads="1"/>
          </p:cNvSpPr>
          <p:nvPr/>
        </p:nvSpPr>
        <p:spPr bwMode="auto">
          <a:xfrm>
            <a:off x="2209800" y="4495800"/>
            <a:ext cx="304800" cy="304800"/>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10</a:t>
            </a:r>
          </a:p>
        </p:txBody>
      </p:sp>
      <p:sp>
        <p:nvSpPr>
          <p:cNvPr id="28" name="Oval 34"/>
          <p:cNvSpPr>
            <a:spLocks noChangeArrowheads="1"/>
          </p:cNvSpPr>
          <p:nvPr/>
        </p:nvSpPr>
        <p:spPr bwMode="auto">
          <a:xfrm>
            <a:off x="2209800" y="5105400"/>
            <a:ext cx="304800" cy="304800"/>
          </a:xfrm>
          <a:prstGeom prst="ellips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29" name="Line 35"/>
          <p:cNvSpPr>
            <a:spLocks noChangeShapeType="1"/>
          </p:cNvSpPr>
          <p:nvPr/>
        </p:nvSpPr>
        <p:spPr bwMode="auto">
          <a:xfrm>
            <a:off x="2362200" y="4800600"/>
            <a:ext cx="0" cy="304800"/>
          </a:xfrm>
          <a:prstGeom prst="lin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30" name="Line 36"/>
          <p:cNvSpPr>
            <a:spLocks noChangeShapeType="1"/>
          </p:cNvSpPr>
          <p:nvPr/>
        </p:nvSpPr>
        <p:spPr bwMode="auto">
          <a:xfrm>
            <a:off x="3048000" y="4191000"/>
            <a:ext cx="0" cy="304800"/>
          </a:xfrm>
          <a:prstGeom prst="lin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31" name="Line 37"/>
          <p:cNvSpPr>
            <a:spLocks noChangeShapeType="1"/>
          </p:cNvSpPr>
          <p:nvPr/>
        </p:nvSpPr>
        <p:spPr bwMode="auto">
          <a:xfrm flipV="1">
            <a:off x="2438400" y="4114800"/>
            <a:ext cx="457200" cy="381000"/>
          </a:xfrm>
          <a:prstGeom prst="line">
            <a:avLst/>
          </a:prstGeom>
          <a:ln w="28575">
            <a:headEnd/>
            <a:tailEnd/>
          </a:ln>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32" name="Line 38"/>
          <p:cNvSpPr>
            <a:spLocks noChangeShapeType="1"/>
          </p:cNvSpPr>
          <p:nvPr/>
        </p:nvSpPr>
        <p:spPr bwMode="auto">
          <a:xfrm>
            <a:off x="5334000" y="2971800"/>
            <a:ext cx="1219200" cy="0"/>
          </a:xfrm>
          <a:prstGeom prst="line">
            <a:avLst/>
          </a:prstGeom>
          <a:noFill/>
          <a:ln w="952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33" name="Rectangle 39"/>
          <p:cNvSpPr>
            <a:spLocks noChangeArrowheads="1"/>
          </p:cNvSpPr>
          <p:nvPr/>
        </p:nvSpPr>
        <p:spPr bwMode="auto">
          <a:xfrm>
            <a:off x="5181600" y="37338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34" name="Rectangle 40"/>
          <p:cNvSpPr>
            <a:spLocks noChangeArrowheads="1"/>
          </p:cNvSpPr>
          <p:nvPr/>
        </p:nvSpPr>
        <p:spPr bwMode="auto">
          <a:xfrm>
            <a:off x="5181600" y="39624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35" name="Rectangle 41"/>
          <p:cNvSpPr>
            <a:spLocks noChangeArrowheads="1"/>
          </p:cNvSpPr>
          <p:nvPr/>
        </p:nvSpPr>
        <p:spPr bwMode="auto">
          <a:xfrm>
            <a:off x="5181600" y="4191000"/>
            <a:ext cx="381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900"/>
          </a:p>
        </p:txBody>
      </p:sp>
      <p:sp>
        <p:nvSpPr>
          <p:cNvPr id="36" name="Rectangle 42"/>
          <p:cNvSpPr>
            <a:spLocks noChangeArrowheads="1"/>
          </p:cNvSpPr>
          <p:nvPr/>
        </p:nvSpPr>
        <p:spPr bwMode="auto">
          <a:xfrm>
            <a:off x="5562600" y="4191000"/>
            <a:ext cx="381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800"/>
          </a:p>
        </p:txBody>
      </p:sp>
      <p:sp>
        <p:nvSpPr>
          <p:cNvPr id="37" name="Rectangle 43"/>
          <p:cNvSpPr>
            <a:spLocks noChangeArrowheads="1"/>
          </p:cNvSpPr>
          <p:nvPr/>
        </p:nvSpPr>
        <p:spPr bwMode="auto">
          <a:xfrm>
            <a:off x="5181600" y="35052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1200"/>
          </a:p>
        </p:txBody>
      </p:sp>
      <p:sp>
        <p:nvSpPr>
          <p:cNvPr id="38" name="Rectangle 44"/>
          <p:cNvSpPr>
            <a:spLocks noChangeArrowheads="1"/>
          </p:cNvSpPr>
          <p:nvPr/>
        </p:nvSpPr>
        <p:spPr bwMode="auto">
          <a:xfrm>
            <a:off x="5181600" y="50292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39" name="Rectangle 45"/>
          <p:cNvSpPr>
            <a:spLocks noChangeArrowheads="1"/>
          </p:cNvSpPr>
          <p:nvPr/>
        </p:nvSpPr>
        <p:spPr bwMode="auto">
          <a:xfrm>
            <a:off x="5181600" y="52578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0</a:t>
            </a:r>
          </a:p>
        </p:txBody>
      </p:sp>
      <p:sp>
        <p:nvSpPr>
          <p:cNvPr id="40" name="Rectangle 46"/>
          <p:cNvSpPr>
            <a:spLocks noChangeArrowheads="1"/>
          </p:cNvSpPr>
          <p:nvPr/>
        </p:nvSpPr>
        <p:spPr bwMode="auto">
          <a:xfrm>
            <a:off x="5181600" y="5486400"/>
            <a:ext cx="381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900"/>
              <a:t>NIL</a:t>
            </a:r>
          </a:p>
        </p:txBody>
      </p:sp>
      <p:sp>
        <p:nvSpPr>
          <p:cNvPr id="41" name="Rectangle 47"/>
          <p:cNvSpPr>
            <a:spLocks noChangeArrowheads="1"/>
          </p:cNvSpPr>
          <p:nvPr/>
        </p:nvSpPr>
        <p:spPr bwMode="auto">
          <a:xfrm>
            <a:off x="5562600" y="5486400"/>
            <a:ext cx="381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a:t>NIL</a:t>
            </a:r>
          </a:p>
        </p:txBody>
      </p:sp>
      <p:sp>
        <p:nvSpPr>
          <p:cNvPr id="42" name="Rectangle 48"/>
          <p:cNvSpPr>
            <a:spLocks noChangeArrowheads="1"/>
          </p:cNvSpPr>
          <p:nvPr/>
        </p:nvSpPr>
        <p:spPr bwMode="auto">
          <a:xfrm>
            <a:off x="5181600" y="48006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1200"/>
          </a:p>
        </p:txBody>
      </p:sp>
      <p:sp>
        <p:nvSpPr>
          <p:cNvPr id="43" name="Line 49"/>
          <p:cNvSpPr>
            <a:spLocks noChangeShapeType="1"/>
          </p:cNvSpPr>
          <p:nvPr/>
        </p:nvSpPr>
        <p:spPr bwMode="auto">
          <a:xfrm flipV="1">
            <a:off x="5562600" y="4419600"/>
            <a:ext cx="0" cy="457200"/>
          </a:xfrm>
          <a:prstGeom prst="line">
            <a:avLst/>
          </a:prstGeom>
          <a:noFill/>
          <a:ln w="952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44" name="Line 50"/>
          <p:cNvSpPr>
            <a:spLocks noChangeShapeType="1"/>
          </p:cNvSpPr>
          <p:nvPr/>
        </p:nvSpPr>
        <p:spPr bwMode="auto">
          <a:xfrm>
            <a:off x="5334000" y="4343400"/>
            <a:ext cx="0" cy="457200"/>
          </a:xfrm>
          <a:prstGeom prst="line">
            <a:avLst/>
          </a:prstGeom>
          <a:noFill/>
          <a:ln w="952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45" name="Line 52"/>
          <p:cNvSpPr>
            <a:spLocks noChangeShapeType="1"/>
          </p:cNvSpPr>
          <p:nvPr/>
        </p:nvSpPr>
        <p:spPr bwMode="auto">
          <a:xfrm>
            <a:off x="5791200" y="4267200"/>
            <a:ext cx="762000" cy="0"/>
          </a:xfrm>
          <a:prstGeom prst="line">
            <a:avLst/>
          </a:prstGeom>
          <a:noFill/>
          <a:ln w="952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46" name="Line 53"/>
          <p:cNvSpPr>
            <a:spLocks noChangeShapeType="1"/>
          </p:cNvSpPr>
          <p:nvPr/>
        </p:nvSpPr>
        <p:spPr bwMode="auto">
          <a:xfrm flipV="1">
            <a:off x="6934200" y="3124200"/>
            <a:ext cx="0" cy="533400"/>
          </a:xfrm>
          <a:prstGeom prst="line">
            <a:avLst/>
          </a:prstGeom>
          <a:noFill/>
          <a:ln w="952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47" name="Line 54"/>
          <p:cNvSpPr>
            <a:spLocks noChangeShapeType="1"/>
          </p:cNvSpPr>
          <p:nvPr/>
        </p:nvSpPr>
        <p:spPr bwMode="auto">
          <a:xfrm flipV="1">
            <a:off x="5791200" y="3124200"/>
            <a:ext cx="838200" cy="457200"/>
          </a:xfrm>
          <a:prstGeom prst="line">
            <a:avLst/>
          </a:prstGeom>
          <a:noFill/>
          <a:ln w="952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48" name="Line 55"/>
          <p:cNvSpPr>
            <a:spLocks noChangeShapeType="1"/>
          </p:cNvSpPr>
          <p:nvPr/>
        </p:nvSpPr>
        <p:spPr bwMode="auto">
          <a:xfrm flipH="1">
            <a:off x="5715000" y="3048000"/>
            <a:ext cx="914400" cy="457200"/>
          </a:xfrm>
          <a:prstGeom prst="line">
            <a:avLst/>
          </a:prstGeom>
          <a:noFill/>
          <a:ln w="952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49" name="Text Box 56"/>
          <p:cNvSpPr txBox="1">
            <a:spLocks noChangeArrowheads="1"/>
          </p:cNvSpPr>
          <p:nvPr/>
        </p:nvSpPr>
        <p:spPr bwMode="auto">
          <a:xfrm>
            <a:off x="609600" y="1600200"/>
            <a:ext cx="685800" cy="36671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a)</a:t>
            </a:r>
          </a:p>
        </p:txBody>
      </p:sp>
      <p:sp>
        <p:nvSpPr>
          <p:cNvPr id="50" name="Text Box 57"/>
          <p:cNvSpPr txBox="1">
            <a:spLocks noChangeArrowheads="1"/>
          </p:cNvSpPr>
          <p:nvPr/>
        </p:nvSpPr>
        <p:spPr bwMode="auto">
          <a:xfrm>
            <a:off x="5257800" y="1600200"/>
            <a:ext cx="685800" cy="36671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endParaRPr lang="en-US" altLang="en-US"/>
          </a:p>
        </p:txBody>
      </p:sp>
      <p:sp>
        <p:nvSpPr>
          <p:cNvPr id="51" name="Text Box 58"/>
          <p:cNvSpPr txBox="1">
            <a:spLocks noChangeArrowheads="1"/>
          </p:cNvSpPr>
          <p:nvPr/>
        </p:nvSpPr>
        <p:spPr bwMode="auto">
          <a:xfrm>
            <a:off x="5257800" y="1676400"/>
            <a:ext cx="838200" cy="36671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c)</a:t>
            </a:r>
          </a:p>
        </p:txBody>
      </p:sp>
      <p:sp>
        <p:nvSpPr>
          <p:cNvPr id="52" name="Rectangle 59"/>
          <p:cNvSpPr>
            <a:spLocks noChangeArrowheads="1"/>
          </p:cNvSpPr>
          <p:nvPr/>
        </p:nvSpPr>
        <p:spPr bwMode="auto">
          <a:xfrm>
            <a:off x="1524000" y="18288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key</a:t>
            </a:r>
          </a:p>
        </p:txBody>
      </p:sp>
      <p:sp>
        <p:nvSpPr>
          <p:cNvPr id="53" name="Rectangle 60"/>
          <p:cNvSpPr>
            <a:spLocks noChangeArrowheads="1"/>
          </p:cNvSpPr>
          <p:nvPr/>
        </p:nvSpPr>
        <p:spPr bwMode="auto">
          <a:xfrm>
            <a:off x="1524000" y="20574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degree</a:t>
            </a:r>
          </a:p>
        </p:txBody>
      </p:sp>
      <p:sp>
        <p:nvSpPr>
          <p:cNvPr id="54" name="Rectangle 61"/>
          <p:cNvSpPr>
            <a:spLocks noChangeArrowheads="1"/>
          </p:cNvSpPr>
          <p:nvPr/>
        </p:nvSpPr>
        <p:spPr bwMode="auto">
          <a:xfrm>
            <a:off x="1524000" y="2286000"/>
            <a:ext cx="381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900"/>
              <a:t>child</a:t>
            </a:r>
          </a:p>
        </p:txBody>
      </p:sp>
      <p:sp>
        <p:nvSpPr>
          <p:cNvPr id="55" name="Rectangle 62"/>
          <p:cNvSpPr>
            <a:spLocks noChangeArrowheads="1"/>
          </p:cNvSpPr>
          <p:nvPr/>
        </p:nvSpPr>
        <p:spPr bwMode="auto">
          <a:xfrm>
            <a:off x="1905000" y="2286000"/>
            <a:ext cx="381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a:t>sibling</a:t>
            </a:r>
          </a:p>
        </p:txBody>
      </p:sp>
      <p:sp>
        <p:nvSpPr>
          <p:cNvPr id="56" name="Rectangle 63"/>
          <p:cNvSpPr>
            <a:spLocks noChangeArrowheads="1"/>
          </p:cNvSpPr>
          <p:nvPr/>
        </p:nvSpPr>
        <p:spPr bwMode="auto">
          <a:xfrm>
            <a:off x="1524000" y="1600200"/>
            <a:ext cx="762000" cy="2286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p</a:t>
            </a:r>
          </a:p>
        </p:txBody>
      </p:sp>
      <p:sp>
        <p:nvSpPr>
          <p:cNvPr id="57" name="Text Box 64"/>
          <p:cNvSpPr txBox="1">
            <a:spLocks noChangeArrowheads="1"/>
          </p:cNvSpPr>
          <p:nvPr/>
        </p:nvSpPr>
        <p:spPr bwMode="auto">
          <a:xfrm>
            <a:off x="685800" y="3429000"/>
            <a:ext cx="533400" cy="36671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b)</a:t>
            </a:r>
          </a:p>
        </p:txBody>
      </p:sp>
    </p:spTree>
    <p:extLst>
      <p:ext uri="{BB962C8B-B14F-4D97-AF65-F5344CB8AC3E}">
        <p14:creationId xmlns:p14="http://schemas.microsoft.com/office/powerpoint/2010/main" val="18093466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Binomial Heap Operations</a:t>
            </a:r>
            <a:endParaRPr lang="en-IN" dirty="0"/>
          </a:p>
        </p:txBody>
      </p:sp>
      <p:sp>
        <p:nvSpPr>
          <p:cNvPr id="3" name="Content Placeholder 2"/>
          <p:cNvSpPr>
            <a:spLocks noGrp="1"/>
          </p:cNvSpPr>
          <p:nvPr>
            <p:ph idx="1"/>
          </p:nvPr>
        </p:nvSpPr>
        <p:spPr/>
        <p:txBody>
          <a:bodyPr/>
          <a:lstStyle/>
          <a:p>
            <a:r>
              <a:rPr lang="en-US" altLang="en-US" dirty="0"/>
              <a:t>Create heap</a:t>
            </a:r>
          </a:p>
          <a:p>
            <a:r>
              <a:rPr lang="en-US" altLang="en-US" dirty="0"/>
              <a:t>Find minimum key</a:t>
            </a:r>
          </a:p>
          <a:p>
            <a:r>
              <a:rPr lang="en-US" altLang="en-US" dirty="0"/>
              <a:t>Union two binomial heap</a:t>
            </a:r>
          </a:p>
          <a:p>
            <a:r>
              <a:rPr lang="en-US" altLang="en-US" dirty="0"/>
              <a:t>Insert a node</a:t>
            </a:r>
          </a:p>
          <a:p>
            <a:r>
              <a:rPr lang="en-US" altLang="en-US" dirty="0"/>
              <a:t>Extract minimum node</a:t>
            </a:r>
          </a:p>
          <a:p>
            <a:r>
              <a:rPr lang="en-US" altLang="en-US" dirty="0"/>
              <a:t>Decrease a key</a:t>
            </a:r>
          </a:p>
          <a:p>
            <a:r>
              <a:rPr lang="en-US" altLang="en-US" dirty="0"/>
              <a:t>Delete a node</a:t>
            </a:r>
          </a:p>
          <a:p>
            <a:pPr marL="0" indent="0">
              <a:buNone/>
            </a:pPr>
            <a:endParaRPr lang="en-IN" dirty="0"/>
          </a:p>
        </p:txBody>
      </p:sp>
    </p:spTree>
    <p:extLst>
      <p:ext uri="{BB962C8B-B14F-4D97-AF65-F5344CB8AC3E}">
        <p14:creationId xmlns:p14="http://schemas.microsoft.com/office/powerpoint/2010/main" val="17733066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Create A New Binomial Heap</a:t>
            </a:r>
            <a:endParaRPr lang="en-IN" dirty="0"/>
          </a:p>
        </p:txBody>
      </p:sp>
      <p:sp>
        <p:nvSpPr>
          <p:cNvPr id="3" name="Content Placeholder 2"/>
          <p:cNvSpPr>
            <a:spLocks noGrp="1"/>
          </p:cNvSpPr>
          <p:nvPr>
            <p:ph idx="1"/>
          </p:nvPr>
        </p:nvSpPr>
        <p:spPr/>
        <p:txBody>
          <a:bodyPr/>
          <a:lstStyle/>
          <a:p>
            <a:r>
              <a:rPr lang="en-US" altLang="en-US" dirty="0"/>
              <a:t>The operation simply creates a new pointer and sets it to NIL.  </a:t>
            </a:r>
          </a:p>
          <a:p>
            <a:pPr>
              <a:buNone/>
            </a:pPr>
            <a:endParaRPr lang="en-US" altLang="en-US" dirty="0"/>
          </a:p>
          <a:p>
            <a:r>
              <a:rPr lang="en-US" altLang="en-US" dirty="0"/>
              <a:t>Pseudocode:</a:t>
            </a:r>
          </a:p>
          <a:p>
            <a:pPr lvl="1">
              <a:buNone/>
            </a:pPr>
            <a:r>
              <a:rPr lang="en-US" altLang="en-US" sz="2400" dirty="0"/>
              <a:t>	</a:t>
            </a:r>
            <a:r>
              <a:rPr lang="en-US" altLang="en-US" sz="2400" b="1" dirty="0">
                <a:solidFill>
                  <a:srgbClr val="C00000"/>
                </a:solidFill>
              </a:rPr>
              <a:t>Binomial-Heap-Create()</a:t>
            </a:r>
          </a:p>
          <a:p>
            <a:pPr lvl="1">
              <a:buNone/>
            </a:pPr>
            <a:r>
              <a:rPr lang="en-US" altLang="en-US" sz="2400" dirty="0"/>
              <a:t>	1   head[H] &lt;- NIL</a:t>
            </a:r>
          </a:p>
          <a:p>
            <a:pPr lvl="1">
              <a:buNone/>
            </a:pPr>
            <a:r>
              <a:rPr lang="en-US" altLang="en-US" sz="2400" dirty="0"/>
              <a:t>	2   return head[H]</a:t>
            </a:r>
          </a:p>
          <a:p>
            <a:pPr>
              <a:buNone/>
            </a:pPr>
            <a:endParaRPr lang="en-US" altLang="en-US" dirty="0"/>
          </a:p>
          <a:p>
            <a:r>
              <a:rPr lang="en-US" altLang="en-US" dirty="0"/>
              <a:t>Run time is </a:t>
            </a:r>
            <a:r>
              <a:rPr lang="en-US" altLang="en-US" b="1" dirty="0">
                <a:solidFill>
                  <a:srgbClr val="C00000"/>
                </a:solidFill>
              </a:rPr>
              <a:t>θ(1). </a:t>
            </a:r>
          </a:p>
          <a:p>
            <a:endParaRPr lang="en-IN" dirty="0"/>
          </a:p>
        </p:txBody>
      </p:sp>
    </p:spTree>
    <p:extLst>
      <p:ext uri="{BB962C8B-B14F-4D97-AF65-F5344CB8AC3E}">
        <p14:creationId xmlns:p14="http://schemas.microsoft.com/office/powerpoint/2010/main" val="3307696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Find Minimum Key</a:t>
            </a:r>
            <a:endParaRPr lang="en-IN" dirty="0"/>
          </a:p>
        </p:txBody>
      </p:sp>
      <p:sp>
        <p:nvSpPr>
          <p:cNvPr id="3" name="Content Placeholder 2"/>
          <p:cNvSpPr>
            <a:spLocks noGrp="1"/>
          </p:cNvSpPr>
          <p:nvPr>
            <p:ph idx="1"/>
          </p:nvPr>
        </p:nvSpPr>
        <p:spPr>
          <a:xfrm>
            <a:off x="-80572" y="861193"/>
            <a:ext cx="12343163" cy="5590565"/>
          </a:xfrm>
        </p:spPr>
        <p:txBody>
          <a:bodyPr/>
          <a:lstStyle/>
          <a:p>
            <a:pPr marL="609600" indent="-609600"/>
            <a:r>
              <a:rPr lang="en-US" altLang="en-US" sz="2000" dirty="0"/>
              <a:t>Since the binomial heap is a min-heap-order, the minimum key of each binomial tree must be at the root. This operation checks all the roots to find the minimum key.</a:t>
            </a:r>
          </a:p>
          <a:p>
            <a:pPr marL="609600" indent="-609600"/>
            <a:r>
              <a:rPr lang="en-US" altLang="en-US" sz="2000" dirty="0"/>
              <a:t>Pseudocode: this implementation assumes that there are no keys with value ∞ </a:t>
            </a:r>
          </a:p>
          <a:p>
            <a:pPr marL="0" indent="0">
              <a:buNone/>
            </a:pPr>
            <a:endParaRPr lang="en-US" altLang="en-US" sz="2000" dirty="0"/>
          </a:p>
          <a:p>
            <a:pPr marL="990600" lvl="1" indent="-533400">
              <a:buNone/>
            </a:pPr>
            <a:r>
              <a:rPr lang="en-US" altLang="en-US" dirty="0"/>
              <a:t>	</a:t>
            </a:r>
            <a:r>
              <a:rPr lang="en-US" altLang="en-US" b="1" dirty="0">
                <a:solidFill>
                  <a:srgbClr val="C00000"/>
                </a:solidFill>
              </a:rPr>
              <a:t>Binomial-Heap-Minimum(H)</a:t>
            </a:r>
          </a:p>
          <a:p>
            <a:pPr marL="990600" lvl="1" indent="-533400">
              <a:buNone/>
            </a:pPr>
            <a:r>
              <a:rPr lang="en-US" altLang="en-US" dirty="0"/>
              <a:t>		1   y &lt;- NIL</a:t>
            </a:r>
          </a:p>
          <a:p>
            <a:pPr marL="990600" lvl="1" indent="-533400">
              <a:buNone/>
            </a:pPr>
            <a:r>
              <a:rPr lang="en-US" altLang="en-US" dirty="0"/>
              <a:t>		2   x &lt;- head[H]</a:t>
            </a:r>
          </a:p>
          <a:p>
            <a:pPr marL="990600" lvl="1" indent="-533400">
              <a:buNone/>
            </a:pPr>
            <a:r>
              <a:rPr lang="en-US" altLang="en-US" dirty="0"/>
              <a:t>		3   min   &lt;- ∞ </a:t>
            </a:r>
          </a:p>
          <a:p>
            <a:pPr marL="990600" lvl="1" indent="-533400">
              <a:buNone/>
            </a:pPr>
            <a:r>
              <a:rPr lang="en-US" altLang="en-US" dirty="0"/>
              <a:t>		4   while x is not NIL</a:t>
            </a:r>
          </a:p>
          <a:p>
            <a:pPr marL="990600" lvl="1" indent="-533400">
              <a:buNone/>
            </a:pPr>
            <a:r>
              <a:rPr lang="en-US" altLang="en-US" dirty="0"/>
              <a:t>		5	do if key[x] &lt; min then </a:t>
            </a:r>
          </a:p>
          <a:p>
            <a:pPr marL="990600" lvl="1" indent="-533400">
              <a:buNone/>
            </a:pPr>
            <a:r>
              <a:rPr lang="en-US" altLang="en-US" dirty="0"/>
              <a:t>		6	     min &lt;- key[x]</a:t>
            </a:r>
          </a:p>
          <a:p>
            <a:pPr marL="990600" lvl="1" indent="-533400">
              <a:buNone/>
            </a:pPr>
            <a:r>
              <a:rPr lang="en-US" altLang="en-US" dirty="0"/>
              <a:t>		7	y &lt;- x</a:t>
            </a:r>
          </a:p>
          <a:p>
            <a:pPr marL="990600" lvl="1" indent="-533400">
              <a:buNone/>
            </a:pPr>
            <a:r>
              <a:rPr lang="en-US" altLang="en-US" dirty="0"/>
              <a:t>		8	x &lt;- sibling[x]</a:t>
            </a:r>
          </a:p>
          <a:p>
            <a:pPr marL="990600" lvl="1" indent="-533400">
              <a:buNone/>
            </a:pPr>
            <a:r>
              <a:rPr lang="en-US" altLang="en-US" dirty="0"/>
              <a:t>		9   return y</a:t>
            </a:r>
          </a:p>
          <a:p>
            <a:pPr marL="990600" lvl="1" indent="-533400">
              <a:buNone/>
            </a:pPr>
            <a:endParaRPr lang="en-US" altLang="en-US" dirty="0"/>
          </a:p>
          <a:p>
            <a:pPr marL="609600" indent="-609600"/>
            <a:r>
              <a:rPr lang="en-US" altLang="en-US" sz="2000" dirty="0"/>
              <a:t>Run time: The run time is in the order of O(log n) since the most number of roots in binomial heap is |_(log n)_| +1 </a:t>
            </a:r>
          </a:p>
          <a:p>
            <a:pPr marL="0" indent="0">
              <a:buNone/>
            </a:pPr>
            <a:endParaRPr lang="en-IN" dirty="0"/>
          </a:p>
        </p:txBody>
      </p:sp>
    </p:spTree>
    <p:extLst>
      <p:ext uri="{BB962C8B-B14F-4D97-AF65-F5344CB8AC3E}">
        <p14:creationId xmlns:p14="http://schemas.microsoft.com/office/powerpoint/2010/main" val="42002495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Find Minimum Key Example</a:t>
            </a:r>
            <a:endParaRPr lang="en-IN" dirty="0"/>
          </a:p>
        </p:txBody>
      </p:sp>
      <p:sp>
        <p:nvSpPr>
          <p:cNvPr id="4" name="Oval 4"/>
          <p:cNvSpPr>
            <a:spLocks noChangeArrowheads="1"/>
          </p:cNvSpPr>
          <p:nvPr/>
        </p:nvSpPr>
        <p:spPr bwMode="auto">
          <a:xfrm>
            <a:off x="2971800" y="1600200"/>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5" name="Oval 5"/>
          <p:cNvSpPr>
            <a:spLocks noChangeArrowheads="1"/>
          </p:cNvSpPr>
          <p:nvPr/>
        </p:nvSpPr>
        <p:spPr bwMode="auto">
          <a:xfrm>
            <a:off x="4114800" y="1600200"/>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6" name="Oval 6"/>
          <p:cNvSpPr>
            <a:spLocks noChangeArrowheads="1"/>
          </p:cNvSpPr>
          <p:nvPr/>
        </p:nvSpPr>
        <p:spPr bwMode="auto">
          <a:xfrm>
            <a:off x="4114800" y="2209800"/>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7" name="Oval 7"/>
          <p:cNvSpPr>
            <a:spLocks noChangeArrowheads="1"/>
          </p:cNvSpPr>
          <p:nvPr/>
        </p:nvSpPr>
        <p:spPr bwMode="auto">
          <a:xfrm>
            <a:off x="3429000" y="2209800"/>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8" name="Oval 8"/>
          <p:cNvSpPr>
            <a:spLocks noChangeArrowheads="1"/>
          </p:cNvSpPr>
          <p:nvPr/>
        </p:nvSpPr>
        <p:spPr bwMode="auto">
          <a:xfrm>
            <a:off x="3429000" y="2819400"/>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9" name="Line 9"/>
          <p:cNvSpPr>
            <a:spLocks noChangeShapeType="1"/>
          </p:cNvSpPr>
          <p:nvPr/>
        </p:nvSpPr>
        <p:spPr bwMode="auto">
          <a:xfrm>
            <a:off x="3581400" y="2514600"/>
            <a:ext cx="0" cy="3048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10" name="Line 10"/>
          <p:cNvSpPr>
            <a:spLocks noChangeShapeType="1"/>
          </p:cNvSpPr>
          <p:nvPr/>
        </p:nvSpPr>
        <p:spPr bwMode="auto">
          <a:xfrm>
            <a:off x="4267200" y="1905000"/>
            <a:ext cx="0" cy="3048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11" name="Line 11"/>
          <p:cNvSpPr>
            <a:spLocks noChangeShapeType="1"/>
          </p:cNvSpPr>
          <p:nvPr/>
        </p:nvSpPr>
        <p:spPr bwMode="auto">
          <a:xfrm flipV="1">
            <a:off x="3657600" y="1828800"/>
            <a:ext cx="457200" cy="3810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12" name="Line 12"/>
          <p:cNvSpPr>
            <a:spLocks noChangeShapeType="1"/>
          </p:cNvSpPr>
          <p:nvPr/>
        </p:nvSpPr>
        <p:spPr bwMode="auto">
          <a:xfrm>
            <a:off x="3276600" y="1752600"/>
            <a:ext cx="838200" cy="0"/>
          </a:xfrm>
          <a:prstGeom prst="line">
            <a:avLst/>
          </a:prstGeom>
          <a:ln>
            <a:headEnd/>
            <a:tailEnd type="triangle" w="med" len="me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13" name="Text Box 13"/>
          <p:cNvSpPr txBox="1">
            <a:spLocks noChangeArrowheads="1"/>
          </p:cNvSpPr>
          <p:nvPr/>
        </p:nvSpPr>
        <p:spPr bwMode="auto">
          <a:xfrm>
            <a:off x="1219200" y="1600200"/>
            <a:ext cx="762000" cy="274638"/>
          </a:xfrm>
          <a:prstGeom prst="rect">
            <a:avLst/>
          </a:prstGeom>
          <a:solidFill>
            <a:schemeClr val="bg1"/>
          </a:solidFill>
          <a:ln>
            <a:noFill/>
          </a:ln>
        </p:spPr>
        <p:style>
          <a:lnRef idx="1">
            <a:schemeClr val="accent5"/>
          </a:lnRef>
          <a:fillRef idx="3">
            <a:schemeClr val="accent5"/>
          </a:fillRef>
          <a:effectRef idx="2">
            <a:schemeClr val="accent5"/>
          </a:effectRef>
          <a:fontRef idx="minor">
            <a:schemeClr val="lt1"/>
          </a:fontRef>
        </p:style>
        <p:txBody>
          <a:bodyPr>
            <a:spAutoFit/>
          </a:bodyPr>
          <a:lstStyle>
            <a:defPPr>
              <a:defRPr lang="en-US"/>
            </a:defPPr>
            <a:lvl1pPr>
              <a:spcBef>
                <a:spcPct val="50000"/>
              </a:spcBef>
              <a:defRPr sz="1200">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t>head[H]</a:t>
            </a:r>
          </a:p>
        </p:txBody>
      </p:sp>
      <p:sp>
        <p:nvSpPr>
          <p:cNvPr id="14" name="Line 14"/>
          <p:cNvSpPr>
            <a:spLocks noChangeShapeType="1"/>
          </p:cNvSpPr>
          <p:nvPr/>
        </p:nvSpPr>
        <p:spPr bwMode="auto">
          <a:xfrm>
            <a:off x="1828800" y="1752600"/>
            <a:ext cx="381000" cy="0"/>
          </a:xfrm>
          <a:prstGeom prst="line">
            <a:avLst/>
          </a:prstGeom>
          <a:ln>
            <a:headEnd/>
            <a:tailEnd type="triangle" w="med" len="me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15" name="Oval 15"/>
          <p:cNvSpPr>
            <a:spLocks noChangeArrowheads="1"/>
          </p:cNvSpPr>
          <p:nvPr/>
        </p:nvSpPr>
        <p:spPr bwMode="auto">
          <a:xfrm>
            <a:off x="2971800" y="2209800"/>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7</a:t>
            </a:r>
          </a:p>
        </p:txBody>
      </p:sp>
      <p:sp>
        <p:nvSpPr>
          <p:cNvPr id="16" name="Line 31"/>
          <p:cNvSpPr>
            <a:spLocks noChangeShapeType="1"/>
          </p:cNvSpPr>
          <p:nvPr/>
        </p:nvSpPr>
        <p:spPr bwMode="auto">
          <a:xfrm>
            <a:off x="2514600" y="1752600"/>
            <a:ext cx="457200" cy="0"/>
          </a:xfrm>
          <a:prstGeom prst="line">
            <a:avLst/>
          </a:prstGeom>
          <a:ln>
            <a:headEnd/>
            <a:tailEnd type="triangle" w="med" len="me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17" name="Line 32"/>
          <p:cNvSpPr>
            <a:spLocks noChangeShapeType="1"/>
          </p:cNvSpPr>
          <p:nvPr/>
        </p:nvSpPr>
        <p:spPr bwMode="auto">
          <a:xfrm>
            <a:off x="3124200" y="1905000"/>
            <a:ext cx="0" cy="3048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18" name="Oval 33"/>
          <p:cNvSpPr>
            <a:spLocks noChangeArrowheads="1"/>
          </p:cNvSpPr>
          <p:nvPr/>
        </p:nvSpPr>
        <p:spPr bwMode="auto">
          <a:xfrm>
            <a:off x="2209800" y="1600200"/>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19" name="Oval 34"/>
          <p:cNvSpPr>
            <a:spLocks noChangeArrowheads="1"/>
          </p:cNvSpPr>
          <p:nvPr/>
        </p:nvSpPr>
        <p:spPr bwMode="auto">
          <a:xfrm>
            <a:off x="6553200" y="1600200"/>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20" name="Oval 35"/>
          <p:cNvSpPr>
            <a:spLocks noChangeArrowheads="1"/>
          </p:cNvSpPr>
          <p:nvPr/>
        </p:nvSpPr>
        <p:spPr bwMode="auto">
          <a:xfrm>
            <a:off x="7696200" y="1600200"/>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21" name="Oval 36"/>
          <p:cNvSpPr>
            <a:spLocks noChangeArrowheads="1"/>
          </p:cNvSpPr>
          <p:nvPr/>
        </p:nvSpPr>
        <p:spPr bwMode="auto">
          <a:xfrm>
            <a:off x="7696200" y="2209800"/>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22" name="Oval 37"/>
          <p:cNvSpPr>
            <a:spLocks noChangeArrowheads="1"/>
          </p:cNvSpPr>
          <p:nvPr/>
        </p:nvSpPr>
        <p:spPr bwMode="auto">
          <a:xfrm>
            <a:off x="7010400" y="2209800"/>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23" name="Oval 38"/>
          <p:cNvSpPr>
            <a:spLocks noChangeArrowheads="1"/>
          </p:cNvSpPr>
          <p:nvPr/>
        </p:nvSpPr>
        <p:spPr bwMode="auto">
          <a:xfrm>
            <a:off x="7010400" y="2819400"/>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24" name="Line 39"/>
          <p:cNvSpPr>
            <a:spLocks noChangeShapeType="1"/>
          </p:cNvSpPr>
          <p:nvPr/>
        </p:nvSpPr>
        <p:spPr bwMode="auto">
          <a:xfrm>
            <a:off x="7162800" y="2514600"/>
            <a:ext cx="0" cy="3048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25" name="Line 40"/>
          <p:cNvSpPr>
            <a:spLocks noChangeShapeType="1"/>
          </p:cNvSpPr>
          <p:nvPr/>
        </p:nvSpPr>
        <p:spPr bwMode="auto">
          <a:xfrm>
            <a:off x="7848600" y="1905000"/>
            <a:ext cx="0" cy="3048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26" name="Line 41"/>
          <p:cNvSpPr>
            <a:spLocks noChangeShapeType="1"/>
          </p:cNvSpPr>
          <p:nvPr/>
        </p:nvSpPr>
        <p:spPr bwMode="auto">
          <a:xfrm flipV="1">
            <a:off x="7239000" y="1828800"/>
            <a:ext cx="457200" cy="3810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27" name="Line 42"/>
          <p:cNvSpPr>
            <a:spLocks noChangeShapeType="1"/>
          </p:cNvSpPr>
          <p:nvPr/>
        </p:nvSpPr>
        <p:spPr bwMode="auto">
          <a:xfrm>
            <a:off x="6858000" y="1752600"/>
            <a:ext cx="838200" cy="0"/>
          </a:xfrm>
          <a:prstGeom prst="line">
            <a:avLst/>
          </a:prstGeom>
          <a:ln>
            <a:headEnd/>
            <a:tailEnd type="triangle" w="med" len="me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28" name="Text Box 43"/>
          <p:cNvSpPr txBox="1">
            <a:spLocks noChangeArrowheads="1"/>
          </p:cNvSpPr>
          <p:nvPr/>
        </p:nvSpPr>
        <p:spPr bwMode="auto">
          <a:xfrm>
            <a:off x="4800600" y="1600200"/>
            <a:ext cx="762000" cy="274638"/>
          </a:xfrm>
          <a:prstGeom prst="rect">
            <a:avLst/>
          </a:prstGeom>
          <a:solidFill>
            <a:schemeClr val="bg1"/>
          </a:solidFill>
          <a:ln>
            <a:noFill/>
          </a:ln>
        </p:spPr>
        <p:style>
          <a:lnRef idx="1">
            <a:schemeClr val="accent5"/>
          </a:lnRef>
          <a:fillRef idx="3">
            <a:schemeClr val="accent5"/>
          </a:fillRef>
          <a:effectRef idx="2">
            <a:schemeClr val="accent5"/>
          </a:effectRef>
          <a:fontRef idx="minor">
            <a:schemeClr val="lt1"/>
          </a:fontRef>
        </p:style>
        <p:txBody>
          <a:bodyPr>
            <a:spAutoFit/>
          </a:bodyPr>
          <a:lstStyle>
            <a:defPPr>
              <a:defRPr lang="en-US"/>
            </a:defPPr>
            <a:lvl1pPr>
              <a:spcBef>
                <a:spcPct val="50000"/>
              </a:spcBef>
              <a:defRPr sz="1200">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t>head[H]</a:t>
            </a:r>
          </a:p>
        </p:txBody>
      </p:sp>
      <p:sp>
        <p:nvSpPr>
          <p:cNvPr id="29" name="Line 44"/>
          <p:cNvSpPr>
            <a:spLocks noChangeShapeType="1"/>
          </p:cNvSpPr>
          <p:nvPr/>
        </p:nvSpPr>
        <p:spPr bwMode="auto">
          <a:xfrm>
            <a:off x="5410200" y="1752600"/>
            <a:ext cx="381000" cy="0"/>
          </a:xfrm>
          <a:prstGeom prst="line">
            <a:avLst/>
          </a:prstGeom>
          <a:ln>
            <a:headEnd/>
            <a:tailEnd type="triangle" w="med" len="me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30" name="Oval 45"/>
          <p:cNvSpPr>
            <a:spLocks noChangeArrowheads="1"/>
          </p:cNvSpPr>
          <p:nvPr/>
        </p:nvSpPr>
        <p:spPr bwMode="auto">
          <a:xfrm>
            <a:off x="6553200" y="2209800"/>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7</a:t>
            </a:r>
          </a:p>
        </p:txBody>
      </p:sp>
      <p:sp>
        <p:nvSpPr>
          <p:cNvPr id="31" name="Line 46"/>
          <p:cNvSpPr>
            <a:spLocks noChangeShapeType="1"/>
          </p:cNvSpPr>
          <p:nvPr/>
        </p:nvSpPr>
        <p:spPr bwMode="auto">
          <a:xfrm>
            <a:off x="6096000" y="1752600"/>
            <a:ext cx="457200" cy="0"/>
          </a:xfrm>
          <a:prstGeom prst="line">
            <a:avLst/>
          </a:prstGeom>
          <a:ln>
            <a:headEnd/>
            <a:tailEnd type="triangle" w="med" len="me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32" name="Line 47"/>
          <p:cNvSpPr>
            <a:spLocks noChangeShapeType="1"/>
          </p:cNvSpPr>
          <p:nvPr/>
        </p:nvSpPr>
        <p:spPr bwMode="auto">
          <a:xfrm>
            <a:off x="6705600" y="1905000"/>
            <a:ext cx="0" cy="3048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33" name="Oval 48"/>
          <p:cNvSpPr>
            <a:spLocks noChangeArrowheads="1"/>
          </p:cNvSpPr>
          <p:nvPr/>
        </p:nvSpPr>
        <p:spPr bwMode="auto">
          <a:xfrm>
            <a:off x="5791200" y="1600200"/>
            <a:ext cx="304800" cy="304800"/>
          </a:xfrm>
          <a:prstGeom prst="ellips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2</a:t>
            </a:r>
          </a:p>
        </p:txBody>
      </p:sp>
      <p:sp>
        <p:nvSpPr>
          <p:cNvPr id="34" name="Oval 49"/>
          <p:cNvSpPr>
            <a:spLocks noChangeArrowheads="1"/>
          </p:cNvSpPr>
          <p:nvPr/>
        </p:nvSpPr>
        <p:spPr bwMode="auto">
          <a:xfrm>
            <a:off x="2971800" y="4327301"/>
            <a:ext cx="304800" cy="304800"/>
          </a:xfrm>
          <a:prstGeom prst="ellips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5</a:t>
            </a:r>
          </a:p>
        </p:txBody>
      </p:sp>
      <p:sp>
        <p:nvSpPr>
          <p:cNvPr id="35" name="Oval 50"/>
          <p:cNvSpPr>
            <a:spLocks noChangeArrowheads="1"/>
          </p:cNvSpPr>
          <p:nvPr/>
        </p:nvSpPr>
        <p:spPr bwMode="auto">
          <a:xfrm>
            <a:off x="4114800" y="4327301"/>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36" name="Oval 51"/>
          <p:cNvSpPr>
            <a:spLocks noChangeArrowheads="1"/>
          </p:cNvSpPr>
          <p:nvPr/>
        </p:nvSpPr>
        <p:spPr bwMode="auto">
          <a:xfrm>
            <a:off x="4114800" y="4936901"/>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37" name="Oval 52"/>
          <p:cNvSpPr>
            <a:spLocks noChangeArrowheads="1"/>
          </p:cNvSpPr>
          <p:nvPr/>
        </p:nvSpPr>
        <p:spPr bwMode="auto">
          <a:xfrm>
            <a:off x="3429000" y="4936901"/>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38" name="Oval 53"/>
          <p:cNvSpPr>
            <a:spLocks noChangeArrowheads="1"/>
          </p:cNvSpPr>
          <p:nvPr/>
        </p:nvSpPr>
        <p:spPr bwMode="auto">
          <a:xfrm>
            <a:off x="3429000" y="5546501"/>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39" name="Line 54"/>
          <p:cNvSpPr>
            <a:spLocks noChangeShapeType="1"/>
          </p:cNvSpPr>
          <p:nvPr/>
        </p:nvSpPr>
        <p:spPr bwMode="auto">
          <a:xfrm>
            <a:off x="3581400" y="5241701"/>
            <a:ext cx="0" cy="3048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40" name="Line 55"/>
          <p:cNvSpPr>
            <a:spLocks noChangeShapeType="1"/>
          </p:cNvSpPr>
          <p:nvPr/>
        </p:nvSpPr>
        <p:spPr bwMode="auto">
          <a:xfrm>
            <a:off x="4267200" y="4632101"/>
            <a:ext cx="0" cy="3048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41" name="Line 56"/>
          <p:cNvSpPr>
            <a:spLocks noChangeShapeType="1"/>
          </p:cNvSpPr>
          <p:nvPr/>
        </p:nvSpPr>
        <p:spPr bwMode="auto">
          <a:xfrm flipV="1">
            <a:off x="3657600" y="4555901"/>
            <a:ext cx="457200" cy="3810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42" name="Line 57"/>
          <p:cNvSpPr>
            <a:spLocks noChangeShapeType="1"/>
          </p:cNvSpPr>
          <p:nvPr/>
        </p:nvSpPr>
        <p:spPr bwMode="auto">
          <a:xfrm>
            <a:off x="3276600" y="4479701"/>
            <a:ext cx="838200" cy="0"/>
          </a:xfrm>
          <a:prstGeom prst="line">
            <a:avLst/>
          </a:prstGeom>
          <a:ln>
            <a:headEnd/>
            <a:tailEnd type="triangle" w="med" len="me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43" name="Text Box 58"/>
          <p:cNvSpPr txBox="1">
            <a:spLocks noChangeArrowheads="1"/>
          </p:cNvSpPr>
          <p:nvPr/>
        </p:nvSpPr>
        <p:spPr bwMode="auto">
          <a:xfrm>
            <a:off x="1219200" y="4327301"/>
            <a:ext cx="762000" cy="274638"/>
          </a:xfrm>
          <a:prstGeom prst="rect">
            <a:avLst/>
          </a:prstGeom>
          <a:solidFill>
            <a:schemeClr val="bg1"/>
          </a:solidFill>
          <a:ln>
            <a:noFill/>
          </a:ln>
        </p:spPr>
        <p:style>
          <a:lnRef idx="1">
            <a:schemeClr val="accent5"/>
          </a:lnRef>
          <a:fillRef idx="3">
            <a:schemeClr val="accent5"/>
          </a:fillRef>
          <a:effectRef idx="2">
            <a:schemeClr val="accent5"/>
          </a:effectRef>
          <a:fontRef idx="minor">
            <a:schemeClr val="lt1"/>
          </a:fontRef>
        </p:style>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dirty="0"/>
              <a:t>head[H]</a:t>
            </a:r>
          </a:p>
        </p:txBody>
      </p:sp>
      <p:sp>
        <p:nvSpPr>
          <p:cNvPr id="44" name="Line 59"/>
          <p:cNvSpPr>
            <a:spLocks noChangeShapeType="1"/>
          </p:cNvSpPr>
          <p:nvPr/>
        </p:nvSpPr>
        <p:spPr bwMode="auto">
          <a:xfrm>
            <a:off x="1828800" y="4479701"/>
            <a:ext cx="381000" cy="0"/>
          </a:xfrm>
          <a:prstGeom prst="line">
            <a:avLst/>
          </a:prstGeom>
          <a:ln>
            <a:headEnd/>
            <a:tailEnd type="triangle" w="med" len="me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45" name="Oval 60"/>
          <p:cNvSpPr>
            <a:spLocks noChangeArrowheads="1"/>
          </p:cNvSpPr>
          <p:nvPr/>
        </p:nvSpPr>
        <p:spPr bwMode="auto">
          <a:xfrm>
            <a:off x="2971800" y="4936901"/>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7</a:t>
            </a:r>
          </a:p>
        </p:txBody>
      </p:sp>
      <p:sp>
        <p:nvSpPr>
          <p:cNvPr id="46" name="Line 61"/>
          <p:cNvSpPr>
            <a:spLocks noChangeShapeType="1"/>
          </p:cNvSpPr>
          <p:nvPr/>
        </p:nvSpPr>
        <p:spPr bwMode="auto">
          <a:xfrm>
            <a:off x="2514600" y="4479701"/>
            <a:ext cx="457200" cy="0"/>
          </a:xfrm>
          <a:prstGeom prst="line">
            <a:avLst/>
          </a:prstGeom>
          <a:ln>
            <a:headEnd/>
            <a:tailEnd type="triangle" w="med" len="me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47" name="Line 62"/>
          <p:cNvSpPr>
            <a:spLocks noChangeShapeType="1"/>
          </p:cNvSpPr>
          <p:nvPr/>
        </p:nvSpPr>
        <p:spPr bwMode="auto">
          <a:xfrm>
            <a:off x="3124200" y="4632101"/>
            <a:ext cx="0" cy="3048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48" name="Oval 63"/>
          <p:cNvSpPr>
            <a:spLocks noChangeArrowheads="1"/>
          </p:cNvSpPr>
          <p:nvPr/>
        </p:nvSpPr>
        <p:spPr bwMode="auto">
          <a:xfrm>
            <a:off x="2209800" y="4327301"/>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49" name="Oval 64"/>
          <p:cNvSpPr>
            <a:spLocks noChangeArrowheads="1"/>
          </p:cNvSpPr>
          <p:nvPr/>
        </p:nvSpPr>
        <p:spPr bwMode="auto">
          <a:xfrm>
            <a:off x="6477000" y="4327301"/>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50" name="Oval 65"/>
          <p:cNvSpPr>
            <a:spLocks noChangeArrowheads="1"/>
          </p:cNvSpPr>
          <p:nvPr/>
        </p:nvSpPr>
        <p:spPr bwMode="auto">
          <a:xfrm>
            <a:off x="7620000" y="4327301"/>
            <a:ext cx="304800" cy="304800"/>
          </a:xfrm>
          <a:prstGeom prst="ellips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51" name="Oval 66"/>
          <p:cNvSpPr>
            <a:spLocks noChangeArrowheads="1"/>
          </p:cNvSpPr>
          <p:nvPr/>
        </p:nvSpPr>
        <p:spPr bwMode="auto">
          <a:xfrm>
            <a:off x="7620000" y="4936901"/>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52" name="Oval 67"/>
          <p:cNvSpPr>
            <a:spLocks noChangeArrowheads="1"/>
          </p:cNvSpPr>
          <p:nvPr/>
        </p:nvSpPr>
        <p:spPr bwMode="auto">
          <a:xfrm>
            <a:off x="6934200" y="4936901"/>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53" name="Oval 68"/>
          <p:cNvSpPr>
            <a:spLocks noChangeArrowheads="1"/>
          </p:cNvSpPr>
          <p:nvPr/>
        </p:nvSpPr>
        <p:spPr bwMode="auto">
          <a:xfrm>
            <a:off x="6934200" y="5546501"/>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54" name="Line 69"/>
          <p:cNvSpPr>
            <a:spLocks noChangeShapeType="1"/>
          </p:cNvSpPr>
          <p:nvPr/>
        </p:nvSpPr>
        <p:spPr bwMode="auto">
          <a:xfrm>
            <a:off x="7086600" y="5241701"/>
            <a:ext cx="0" cy="3048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55" name="Line 70"/>
          <p:cNvSpPr>
            <a:spLocks noChangeShapeType="1"/>
          </p:cNvSpPr>
          <p:nvPr/>
        </p:nvSpPr>
        <p:spPr bwMode="auto">
          <a:xfrm>
            <a:off x="7772400" y="4632101"/>
            <a:ext cx="0" cy="3048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56" name="Line 71"/>
          <p:cNvSpPr>
            <a:spLocks noChangeShapeType="1"/>
          </p:cNvSpPr>
          <p:nvPr/>
        </p:nvSpPr>
        <p:spPr bwMode="auto">
          <a:xfrm flipV="1">
            <a:off x="7162800" y="4555901"/>
            <a:ext cx="457200" cy="3810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57" name="Line 72"/>
          <p:cNvSpPr>
            <a:spLocks noChangeShapeType="1"/>
          </p:cNvSpPr>
          <p:nvPr/>
        </p:nvSpPr>
        <p:spPr bwMode="auto">
          <a:xfrm>
            <a:off x="6781800" y="4479701"/>
            <a:ext cx="838200" cy="0"/>
          </a:xfrm>
          <a:prstGeom prst="line">
            <a:avLst/>
          </a:prstGeom>
          <a:ln>
            <a:headEnd/>
            <a:tailEnd type="triangle" w="med" len="me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58" name="Text Box 73"/>
          <p:cNvSpPr txBox="1">
            <a:spLocks noChangeArrowheads="1"/>
          </p:cNvSpPr>
          <p:nvPr/>
        </p:nvSpPr>
        <p:spPr bwMode="auto">
          <a:xfrm>
            <a:off x="4724400" y="4327301"/>
            <a:ext cx="762000" cy="274638"/>
          </a:xfrm>
          <a:prstGeom prst="rect">
            <a:avLst/>
          </a:prstGeom>
          <a:solidFill>
            <a:schemeClr val="bg1"/>
          </a:solidFill>
          <a:ln>
            <a:noFill/>
          </a:ln>
        </p:spPr>
        <p:style>
          <a:lnRef idx="1">
            <a:schemeClr val="accent5"/>
          </a:lnRef>
          <a:fillRef idx="3">
            <a:schemeClr val="accent5"/>
          </a:fillRef>
          <a:effectRef idx="2">
            <a:schemeClr val="accent5"/>
          </a:effectRef>
          <a:fontRef idx="minor">
            <a:schemeClr val="lt1"/>
          </a:fontRef>
        </p:style>
        <p:txBody>
          <a:bodyPr>
            <a:spAutoFit/>
          </a:bodyPr>
          <a:lstStyle>
            <a:defPPr>
              <a:defRPr lang="en-US"/>
            </a:defPPr>
            <a:lvl1pPr>
              <a:spcBef>
                <a:spcPct val="50000"/>
              </a:spcBef>
              <a:defRPr sz="1200">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t>head[H]</a:t>
            </a:r>
          </a:p>
        </p:txBody>
      </p:sp>
      <p:sp>
        <p:nvSpPr>
          <p:cNvPr id="59" name="Line 74"/>
          <p:cNvSpPr>
            <a:spLocks noChangeShapeType="1"/>
          </p:cNvSpPr>
          <p:nvPr/>
        </p:nvSpPr>
        <p:spPr bwMode="auto">
          <a:xfrm>
            <a:off x="5334000" y="4479701"/>
            <a:ext cx="381000" cy="0"/>
          </a:xfrm>
          <a:prstGeom prst="line">
            <a:avLst/>
          </a:prstGeom>
          <a:ln>
            <a:headEnd/>
            <a:tailEnd type="triangle" w="med" len="me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60" name="Oval 75"/>
          <p:cNvSpPr>
            <a:spLocks noChangeArrowheads="1"/>
          </p:cNvSpPr>
          <p:nvPr/>
        </p:nvSpPr>
        <p:spPr bwMode="auto">
          <a:xfrm>
            <a:off x="6477000" y="4936901"/>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7</a:t>
            </a:r>
          </a:p>
        </p:txBody>
      </p:sp>
      <p:sp>
        <p:nvSpPr>
          <p:cNvPr id="61" name="Line 76"/>
          <p:cNvSpPr>
            <a:spLocks noChangeShapeType="1"/>
          </p:cNvSpPr>
          <p:nvPr/>
        </p:nvSpPr>
        <p:spPr bwMode="auto">
          <a:xfrm>
            <a:off x="6019800" y="4479701"/>
            <a:ext cx="457200" cy="0"/>
          </a:xfrm>
          <a:prstGeom prst="line">
            <a:avLst/>
          </a:prstGeom>
          <a:ln>
            <a:headEnd/>
            <a:tailEnd type="triangle" w="med" len="me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62" name="Line 77"/>
          <p:cNvSpPr>
            <a:spLocks noChangeShapeType="1"/>
          </p:cNvSpPr>
          <p:nvPr/>
        </p:nvSpPr>
        <p:spPr bwMode="auto">
          <a:xfrm>
            <a:off x="6629400" y="4632101"/>
            <a:ext cx="0" cy="304800"/>
          </a:xfrm>
          <a:prstGeom prst="line">
            <a:avLst/>
          </a:prstGeom>
          <a:ln>
            <a:headEnd/>
            <a:tailEnd/>
          </a:ln>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63" name="Oval 78"/>
          <p:cNvSpPr>
            <a:spLocks noChangeArrowheads="1"/>
          </p:cNvSpPr>
          <p:nvPr/>
        </p:nvSpPr>
        <p:spPr bwMode="auto">
          <a:xfrm>
            <a:off x="5715000" y="4327301"/>
            <a:ext cx="304800" cy="3048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64" name="Text Box 96"/>
          <p:cNvSpPr txBox="1">
            <a:spLocks noChangeArrowheads="1"/>
          </p:cNvSpPr>
          <p:nvPr/>
        </p:nvSpPr>
        <p:spPr bwMode="auto">
          <a:xfrm>
            <a:off x="1371600" y="3730582"/>
            <a:ext cx="533400" cy="276999"/>
          </a:xfrm>
          <a:prstGeom prst="rect">
            <a:avLst/>
          </a:prstGeom>
          <a:solidFill>
            <a:schemeClr val="bg1"/>
          </a:solidFill>
          <a:ln>
            <a:noFill/>
          </a:ln>
        </p:spPr>
        <p:style>
          <a:lnRef idx="1">
            <a:schemeClr val="accent5"/>
          </a:lnRef>
          <a:fillRef idx="3">
            <a:schemeClr val="accent5"/>
          </a:fillRef>
          <a:effectRef idx="2">
            <a:schemeClr val="accent5"/>
          </a:effectRef>
          <a:fontRef idx="minor">
            <a:schemeClr val="lt1"/>
          </a:fontRef>
        </p:style>
        <p:txBody>
          <a:bodyPr>
            <a:spAutoFit/>
          </a:bodyPr>
          <a:lstStyle>
            <a:defPPr>
              <a:defRPr lang="en-US"/>
            </a:defPPr>
            <a:lvl1pPr>
              <a:spcBef>
                <a:spcPct val="50000"/>
              </a:spcBef>
              <a:defRPr sz="1200">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t>c)</a:t>
            </a:r>
          </a:p>
        </p:txBody>
      </p:sp>
      <p:sp>
        <p:nvSpPr>
          <p:cNvPr id="65" name="Text Box 97"/>
          <p:cNvSpPr txBox="1">
            <a:spLocks noChangeArrowheads="1"/>
          </p:cNvSpPr>
          <p:nvPr/>
        </p:nvSpPr>
        <p:spPr bwMode="auto">
          <a:xfrm>
            <a:off x="4800600" y="3794977"/>
            <a:ext cx="533400" cy="276999"/>
          </a:xfrm>
          <a:prstGeom prst="rect">
            <a:avLst/>
          </a:prstGeom>
          <a:solidFill>
            <a:schemeClr val="bg1"/>
          </a:solidFill>
          <a:ln>
            <a:noFill/>
          </a:ln>
        </p:spPr>
        <p:style>
          <a:lnRef idx="1">
            <a:schemeClr val="accent5"/>
          </a:lnRef>
          <a:fillRef idx="3">
            <a:schemeClr val="accent5"/>
          </a:fillRef>
          <a:effectRef idx="2">
            <a:schemeClr val="accent5"/>
          </a:effectRef>
          <a:fontRef idx="minor">
            <a:schemeClr val="lt1"/>
          </a:fontRef>
        </p:style>
        <p:txBody>
          <a:bodyPr>
            <a:spAutoFit/>
          </a:bodyPr>
          <a:lstStyle>
            <a:defPPr>
              <a:defRPr lang="en-US"/>
            </a:defPPr>
            <a:lvl1pPr>
              <a:spcBef>
                <a:spcPct val="50000"/>
              </a:spcBef>
              <a:defRPr sz="1200">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t>d)</a:t>
            </a:r>
          </a:p>
        </p:txBody>
      </p:sp>
      <p:sp>
        <p:nvSpPr>
          <p:cNvPr id="128" name="Text Box 96"/>
          <p:cNvSpPr txBox="1">
            <a:spLocks noChangeArrowheads="1"/>
          </p:cNvSpPr>
          <p:nvPr/>
        </p:nvSpPr>
        <p:spPr bwMode="auto">
          <a:xfrm>
            <a:off x="1387699" y="1143000"/>
            <a:ext cx="533400" cy="276999"/>
          </a:xfrm>
          <a:prstGeom prst="rect">
            <a:avLst/>
          </a:prstGeom>
          <a:solidFill>
            <a:schemeClr val="bg1"/>
          </a:solidFill>
          <a:ln>
            <a:noFill/>
          </a:ln>
        </p:spPr>
        <p:style>
          <a:lnRef idx="1">
            <a:schemeClr val="accent5"/>
          </a:lnRef>
          <a:fillRef idx="3">
            <a:schemeClr val="accent5"/>
          </a:fillRef>
          <a:effectRef idx="2">
            <a:schemeClr val="accent5"/>
          </a:effectRef>
          <a:fontRef idx="minor">
            <a:schemeClr val="lt1"/>
          </a:fontRef>
        </p:style>
        <p:txBody>
          <a:bodyPr>
            <a:spAutoFit/>
          </a:bodyPr>
          <a:lstStyle>
            <a:defPPr>
              <a:defRPr lang="en-US"/>
            </a:defPPr>
            <a:lvl1pPr>
              <a:spcBef>
                <a:spcPct val="50000"/>
              </a:spcBef>
              <a:defRPr sz="1200">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t>a)</a:t>
            </a:r>
          </a:p>
        </p:txBody>
      </p:sp>
      <p:sp>
        <p:nvSpPr>
          <p:cNvPr id="130" name="Text Box 96"/>
          <p:cNvSpPr txBox="1">
            <a:spLocks noChangeArrowheads="1"/>
          </p:cNvSpPr>
          <p:nvPr/>
        </p:nvSpPr>
        <p:spPr bwMode="auto">
          <a:xfrm>
            <a:off x="4798454" y="1156900"/>
            <a:ext cx="533400" cy="276999"/>
          </a:xfrm>
          <a:prstGeom prst="rect">
            <a:avLst/>
          </a:prstGeom>
          <a:solidFill>
            <a:schemeClr val="bg1"/>
          </a:solidFill>
          <a:ln>
            <a:noFill/>
          </a:ln>
        </p:spPr>
        <p:style>
          <a:lnRef idx="1">
            <a:schemeClr val="accent5"/>
          </a:lnRef>
          <a:fillRef idx="3">
            <a:schemeClr val="accent5"/>
          </a:fillRef>
          <a:effectRef idx="2">
            <a:schemeClr val="accent5"/>
          </a:effectRef>
          <a:fontRef idx="minor">
            <a:schemeClr val="lt1"/>
          </a:fontRef>
        </p:style>
        <p:txBody>
          <a:bodyPr>
            <a:spAutoFit/>
          </a:bodyPr>
          <a:lstStyle>
            <a:defPPr>
              <a:defRPr lang="en-US"/>
            </a:defPPr>
            <a:lvl1pPr>
              <a:spcBef>
                <a:spcPct val="50000"/>
              </a:spcBef>
              <a:defRPr sz="1200">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t>b)</a:t>
            </a:r>
          </a:p>
        </p:txBody>
      </p:sp>
    </p:spTree>
    <p:extLst>
      <p:ext uri="{BB962C8B-B14F-4D97-AF65-F5344CB8AC3E}">
        <p14:creationId xmlns:p14="http://schemas.microsoft.com/office/powerpoint/2010/main" val="3025737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500"/>
                                        <p:tgtEl>
                                          <p:spTgt spid="3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50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500"/>
                                        <p:tgtEl>
                                          <p:spTgt spid="3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30"/>
                                        </p:tgtEl>
                                        <p:attrNameLst>
                                          <p:attrName>style.visibility</p:attrName>
                                        </p:attrNameLst>
                                      </p:cBhvr>
                                      <p:to>
                                        <p:strVal val="visible"/>
                                      </p:to>
                                    </p:set>
                                    <p:animEffect transition="in" filter="fade">
                                      <p:cBhvr>
                                        <p:cTn id="52" dur="500"/>
                                        <p:tgtEl>
                                          <p:spTgt spid="1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500"/>
                                        <p:tgtEl>
                                          <p:spTgt spid="3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500"/>
                                        <p:tgtEl>
                                          <p:spTgt spid="3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fade">
                                      <p:cBhvr>
                                        <p:cTn id="63" dur="500"/>
                                        <p:tgtEl>
                                          <p:spTgt spid="3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fade">
                                      <p:cBhvr>
                                        <p:cTn id="66" dur="500"/>
                                        <p:tgtEl>
                                          <p:spTgt spid="3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fade">
                                      <p:cBhvr>
                                        <p:cTn id="69" dur="500"/>
                                        <p:tgtEl>
                                          <p:spTgt spid="3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fade">
                                      <p:cBhvr>
                                        <p:cTn id="72" dur="500"/>
                                        <p:tgtEl>
                                          <p:spTgt spid="3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500"/>
                                        <p:tgtEl>
                                          <p:spTgt spid="4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fade">
                                      <p:cBhvr>
                                        <p:cTn id="78" dur="500"/>
                                        <p:tgtEl>
                                          <p:spTgt spid="4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animEffect transition="in" filter="fade">
                                      <p:cBhvr>
                                        <p:cTn id="81" dur="500"/>
                                        <p:tgtEl>
                                          <p:spTgt spid="4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fade">
                                      <p:cBhvr>
                                        <p:cTn id="84" dur="500"/>
                                        <p:tgtEl>
                                          <p:spTgt spid="4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fade">
                                      <p:cBhvr>
                                        <p:cTn id="87" dur="500"/>
                                        <p:tgtEl>
                                          <p:spTgt spid="4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5"/>
                                        </p:tgtEl>
                                        <p:attrNameLst>
                                          <p:attrName>style.visibility</p:attrName>
                                        </p:attrNameLst>
                                      </p:cBhvr>
                                      <p:to>
                                        <p:strVal val="visible"/>
                                      </p:to>
                                    </p:set>
                                    <p:animEffect transition="in" filter="fade">
                                      <p:cBhvr>
                                        <p:cTn id="90" dur="500"/>
                                        <p:tgtEl>
                                          <p:spTgt spid="4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6"/>
                                        </p:tgtEl>
                                        <p:attrNameLst>
                                          <p:attrName>style.visibility</p:attrName>
                                        </p:attrNameLst>
                                      </p:cBhvr>
                                      <p:to>
                                        <p:strVal val="visible"/>
                                      </p:to>
                                    </p:set>
                                    <p:animEffect transition="in" filter="fade">
                                      <p:cBhvr>
                                        <p:cTn id="93" dur="500"/>
                                        <p:tgtEl>
                                          <p:spTgt spid="46"/>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7"/>
                                        </p:tgtEl>
                                        <p:attrNameLst>
                                          <p:attrName>style.visibility</p:attrName>
                                        </p:attrNameLst>
                                      </p:cBhvr>
                                      <p:to>
                                        <p:strVal val="visible"/>
                                      </p:to>
                                    </p:set>
                                    <p:animEffect transition="in" filter="fade">
                                      <p:cBhvr>
                                        <p:cTn id="96" dur="500"/>
                                        <p:tgtEl>
                                          <p:spTgt spid="47"/>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8"/>
                                        </p:tgtEl>
                                        <p:attrNameLst>
                                          <p:attrName>style.visibility</p:attrName>
                                        </p:attrNameLst>
                                      </p:cBhvr>
                                      <p:to>
                                        <p:strVal val="visible"/>
                                      </p:to>
                                    </p:set>
                                    <p:animEffect transition="in" filter="fade">
                                      <p:cBhvr>
                                        <p:cTn id="99" dur="500"/>
                                        <p:tgtEl>
                                          <p:spTgt spid="48"/>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64"/>
                                        </p:tgtEl>
                                        <p:attrNameLst>
                                          <p:attrName>style.visibility</p:attrName>
                                        </p:attrNameLst>
                                      </p:cBhvr>
                                      <p:to>
                                        <p:strVal val="visible"/>
                                      </p:to>
                                    </p:set>
                                    <p:animEffect transition="in" filter="fade">
                                      <p:cBhvr>
                                        <p:cTn id="102" dur="500"/>
                                        <p:tgtEl>
                                          <p:spTgt spid="64"/>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49"/>
                                        </p:tgtEl>
                                        <p:attrNameLst>
                                          <p:attrName>style.visibility</p:attrName>
                                        </p:attrNameLst>
                                      </p:cBhvr>
                                      <p:to>
                                        <p:strVal val="visible"/>
                                      </p:to>
                                    </p:set>
                                    <p:animEffect transition="in" filter="fade">
                                      <p:cBhvr>
                                        <p:cTn id="107" dur="500"/>
                                        <p:tgtEl>
                                          <p:spTgt spid="4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0"/>
                                        </p:tgtEl>
                                        <p:attrNameLst>
                                          <p:attrName>style.visibility</p:attrName>
                                        </p:attrNameLst>
                                      </p:cBhvr>
                                      <p:to>
                                        <p:strVal val="visible"/>
                                      </p:to>
                                    </p:set>
                                    <p:animEffect transition="in" filter="fade">
                                      <p:cBhvr>
                                        <p:cTn id="110" dur="500"/>
                                        <p:tgtEl>
                                          <p:spTgt spid="5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1"/>
                                        </p:tgtEl>
                                        <p:attrNameLst>
                                          <p:attrName>style.visibility</p:attrName>
                                        </p:attrNameLst>
                                      </p:cBhvr>
                                      <p:to>
                                        <p:strVal val="visible"/>
                                      </p:to>
                                    </p:set>
                                    <p:animEffect transition="in" filter="fade">
                                      <p:cBhvr>
                                        <p:cTn id="113" dur="500"/>
                                        <p:tgtEl>
                                          <p:spTgt spid="51"/>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2"/>
                                        </p:tgtEl>
                                        <p:attrNameLst>
                                          <p:attrName>style.visibility</p:attrName>
                                        </p:attrNameLst>
                                      </p:cBhvr>
                                      <p:to>
                                        <p:strVal val="visible"/>
                                      </p:to>
                                    </p:set>
                                    <p:animEffect transition="in" filter="fade">
                                      <p:cBhvr>
                                        <p:cTn id="116" dur="500"/>
                                        <p:tgtEl>
                                          <p:spTgt spid="52"/>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53"/>
                                        </p:tgtEl>
                                        <p:attrNameLst>
                                          <p:attrName>style.visibility</p:attrName>
                                        </p:attrNameLst>
                                      </p:cBhvr>
                                      <p:to>
                                        <p:strVal val="visible"/>
                                      </p:to>
                                    </p:set>
                                    <p:animEffect transition="in" filter="fade">
                                      <p:cBhvr>
                                        <p:cTn id="119" dur="500"/>
                                        <p:tgtEl>
                                          <p:spTgt spid="53"/>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4"/>
                                        </p:tgtEl>
                                        <p:attrNameLst>
                                          <p:attrName>style.visibility</p:attrName>
                                        </p:attrNameLst>
                                      </p:cBhvr>
                                      <p:to>
                                        <p:strVal val="visible"/>
                                      </p:to>
                                    </p:set>
                                    <p:animEffect transition="in" filter="fade">
                                      <p:cBhvr>
                                        <p:cTn id="122" dur="500"/>
                                        <p:tgtEl>
                                          <p:spTgt spid="54"/>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5"/>
                                        </p:tgtEl>
                                        <p:attrNameLst>
                                          <p:attrName>style.visibility</p:attrName>
                                        </p:attrNameLst>
                                      </p:cBhvr>
                                      <p:to>
                                        <p:strVal val="visible"/>
                                      </p:to>
                                    </p:set>
                                    <p:animEffect transition="in" filter="fade">
                                      <p:cBhvr>
                                        <p:cTn id="125" dur="500"/>
                                        <p:tgtEl>
                                          <p:spTgt spid="5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6"/>
                                        </p:tgtEl>
                                        <p:attrNameLst>
                                          <p:attrName>style.visibility</p:attrName>
                                        </p:attrNameLst>
                                      </p:cBhvr>
                                      <p:to>
                                        <p:strVal val="visible"/>
                                      </p:to>
                                    </p:set>
                                    <p:animEffect transition="in" filter="fade">
                                      <p:cBhvr>
                                        <p:cTn id="128" dur="500"/>
                                        <p:tgtEl>
                                          <p:spTgt spid="5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7"/>
                                        </p:tgtEl>
                                        <p:attrNameLst>
                                          <p:attrName>style.visibility</p:attrName>
                                        </p:attrNameLst>
                                      </p:cBhvr>
                                      <p:to>
                                        <p:strVal val="visible"/>
                                      </p:to>
                                    </p:set>
                                    <p:animEffect transition="in" filter="fade">
                                      <p:cBhvr>
                                        <p:cTn id="131" dur="500"/>
                                        <p:tgtEl>
                                          <p:spTgt spid="5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9"/>
                                        </p:tgtEl>
                                        <p:attrNameLst>
                                          <p:attrName>style.visibility</p:attrName>
                                        </p:attrNameLst>
                                      </p:cBhvr>
                                      <p:to>
                                        <p:strVal val="visible"/>
                                      </p:to>
                                    </p:set>
                                    <p:animEffect transition="in" filter="fade">
                                      <p:cBhvr>
                                        <p:cTn id="134" dur="500"/>
                                        <p:tgtEl>
                                          <p:spTgt spid="59"/>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60"/>
                                        </p:tgtEl>
                                        <p:attrNameLst>
                                          <p:attrName>style.visibility</p:attrName>
                                        </p:attrNameLst>
                                      </p:cBhvr>
                                      <p:to>
                                        <p:strVal val="visible"/>
                                      </p:to>
                                    </p:set>
                                    <p:animEffect transition="in" filter="fade">
                                      <p:cBhvr>
                                        <p:cTn id="137" dur="500"/>
                                        <p:tgtEl>
                                          <p:spTgt spid="60"/>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61"/>
                                        </p:tgtEl>
                                        <p:attrNameLst>
                                          <p:attrName>style.visibility</p:attrName>
                                        </p:attrNameLst>
                                      </p:cBhvr>
                                      <p:to>
                                        <p:strVal val="visible"/>
                                      </p:to>
                                    </p:set>
                                    <p:animEffect transition="in" filter="fade">
                                      <p:cBhvr>
                                        <p:cTn id="140" dur="500"/>
                                        <p:tgtEl>
                                          <p:spTgt spid="61"/>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62"/>
                                        </p:tgtEl>
                                        <p:attrNameLst>
                                          <p:attrName>style.visibility</p:attrName>
                                        </p:attrNameLst>
                                      </p:cBhvr>
                                      <p:to>
                                        <p:strVal val="visible"/>
                                      </p:to>
                                    </p:set>
                                    <p:animEffect transition="in" filter="fade">
                                      <p:cBhvr>
                                        <p:cTn id="143" dur="500"/>
                                        <p:tgtEl>
                                          <p:spTgt spid="62"/>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63"/>
                                        </p:tgtEl>
                                        <p:attrNameLst>
                                          <p:attrName>style.visibility</p:attrName>
                                        </p:attrNameLst>
                                      </p:cBhvr>
                                      <p:to>
                                        <p:strVal val="visible"/>
                                      </p:to>
                                    </p:set>
                                    <p:animEffect transition="in" filter="fade">
                                      <p:cBhvr>
                                        <p:cTn id="146" dur="500"/>
                                        <p:tgtEl>
                                          <p:spTgt spid="63"/>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65"/>
                                        </p:tgtEl>
                                        <p:attrNameLst>
                                          <p:attrName>style.visibility</p:attrName>
                                        </p:attrNameLst>
                                      </p:cBhvr>
                                      <p:to>
                                        <p:strVal val="visible"/>
                                      </p:to>
                                    </p:set>
                                    <p:animEffect transition="in" filter="fade">
                                      <p:cBhvr>
                                        <p:cTn id="149"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9" grpId="0" animBg="1"/>
      <p:bldP spid="60" grpId="0" animBg="1"/>
      <p:bldP spid="61" grpId="0" animBg="1"/>
      <p:bldP spid="62" grpId="0" animBg="1"/>
      <p:bldP spid="63" grpId="0" animBg="1"/>
      <p:bldP spid="64" grpId="0" animBg="1"/>
      <p:bldP spid="65" grpId="0" animBg="1"/>
      <p:bldP spid="13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Union Two Binomial Heaps</a:t>
            </a:r>
            <a:endParaRPr lang="en-IN" dirty="0"/>
          </a:p>
        </p:txBody>
      </p:sp>
      <p:sp>
        <p:nvSpPr>
          <p:cNvPr id="3" name="Content Placeholder 2"/>
          <p:cNvSpPr>
            <a:spLocks noGrp="1"/>
          </p:cNvSpPr>
          <p:nvPr>
            <p:ph idx="1"/>
          </p:nvPr>
        </p:nvSpPr>
        <p:spPr/>
        <p:txBody>
          <a:bodyPr/>
          <a:lstStyle/>
          <a:p>
            <a:pPr marL="0" indent="0">
              <a:buNone/>
            </a:pPr>
            <a:r>
              <a:rPr lang="en-US" altLang="en-US" sz="2000" dirty="0"/>
              <a:t>This operation consists of the following steps</a:t>
            </a:r>
          </a:p>
          <a:p>
            <a:pPr lvl="1"/>
            <a:r>
              <a:rPr lang="en-US" altLang="en-US" dirty="0"/>
              <a:t>Merge two binomial heaps.  The resulting heap has the roots in increasing order of degree</a:t>
            </a:r>
          </a:p>
          <a:p>
            <a:pPr lvl="1"/>
            <a:endParaRPr lang="en-US" altLang="en-US" dirty="0"/>
          </a:p>
          <a:p>
            <a:pPr lvl="1"/>
            <a:r>
              <a:rPr lang="en-US" altLang="en-US" dirty="0"/>
              <a:t>For each tree in the binomial heap H, if it has the same order with another tree, link the two trees together such that the resulting tree obeys min-heap-order.</a:t>
            </a:r>
          </a:p>
          <a:p>
            <a:endParaRPr lang="en-US" altLang="en-US" sz="1800" dirty="0">
              <a:solidFill>
                <a:srgbClr val="FF0000"/>
              </a:solidFill>
            </a:endParaRPr>
          </a:p>
          <a:p>
            <a:r>
              <a:rPr lang="en-US" altLang="en-US" sz="1800" dirty="0">
                <a:solidFill>
                  <a:srgbClr val="FF0000"/>
                </a:solidFill>
              </a:rPr>
              <a:t>Case1:</a:t>
            </a:r>
            <a:r>
              <a:rPr lang="en-US" altLang="en-US" sz="1800" dirty="0"/>
              <a:t> </a:t>
            </a:r>
            <a:r>
              <a:rPr lang="en-US" altLang="en-US" sz="1800" b="1" dirty="0"/>
              <a:t>degree[x] </a:t>
            </a:r>
            <a:r>
              <a:rPr lang="en-US" altLang="en-US" sz="1800" b="1" dirty="0">
                <a:cs typeface="Times New Roman" panose="02020603050405020304" pitchFamily="18" charset="0"/>
              </a:rPr>
              <a:t>≠ </a:t>
            </a:r>
            <a:r>
              <a:rPr lang="en-US" altLang="en-US" sz="1800" b="1" dirty="0"/>
              <a:t>degree[next-x]</a:t>
            </a:r>
            <a:r>
              <a:rPr lang="en-US" altLang="en-US" sz="1800" dirty="0"/>
              <a:t>. </a:t>
            </a:r>
          </a:p>
          <a:p>
            <a:pPr>
              <a:buNone/>
            </a:pPr>
            <a:r>
              <a:rPr lang="en-US" altLang="en-US" sz="1800" dirty="0"/>
              <a:t>		The pointer move one position further down to the list.</a:t>
            </a:r>
          </a:p>
          <a:p>
            <a:r>
              <a:rPr lang="en-US" altLang="en-US" sz="1800" dirty="0">
                <a:solidFill>
                  <a:srgbClr val="FF0000"/>
                </a:solidFill>
              </a:rPr>
              <a:t>Case2: </a:t>
            </a:r>
            <a:r>
              <a:rPr lang="en-US" altLang="en-US" sz="1800" b="1" dirty="0"/>
              <a:t>degree[x] </a:t>
            </a:r>
            <a:r>
              <a:rPr lang="en-US" altLang="en-US" sz="1800" b="1" dirty="0">
                <a:cs typeface="Times New Roman" panose="02020603050405020304" pitchFamily="18" charset="0"/>
              </a:rPr>
              <a:t>= </a:t>
            </a:r>
            <a:r>
              <a:rPr lang="en-US" altLang="en-US" sz="1800" b="1" dirty="0"/>
              <a:t>degree[next-x] = degree[sibling[next-x]]</a:t>
            </a:r>
            <a:r>
              <a:rPr lang="en-US" altLang="en-US" sz="1800" dirty="0"/>
              <a:t>. 	</a:t>
            </a:r>
          </a:p>
          <a:p>
            <a:pPr>
              <a:buNone/>
            </a:pPr>
            <a:r>
              <a:rPr lang="en-US" altLang="en-US" sz="1800" dirty="0"/>
              <a:t>			Again pointer move one position further down to the list, and next iteration executes either case 3 or case 4.</a:t>
            </a:r>
          </a:p>
          <a:p>
            <a:r>
              <a:rPr lang="en-US" altLang="en-US" sz="1800" dirty="0">
                <a:solidFill>
                  <a:srgbClr val="FF0000"/>
                </a:solidFill>
              </a:rPr>
              <a:t>Case3:</a:t>
            </a:r>
            <a:r>
              <a:rPr lang="en-US" altLang="en-US" sz="1800" dirty="0"/>
              <a:t> </a:t>
            </a:r>
            <a:r>
              <a:rPr lang="en-US" altLang="en-US" sz="1800" b="1" dirty="0"/>
              <a:t>degree[x] </a:t>
            </a:r>
            <a:r>
              <a:rPr lang="en-US" altLang="en-US" sz="1800" b="1" dirty="0">
                <a:cs typeface="Times New Roman" panose="02020603050405020304" pitchFamily="18" charset="0"/>
              </a:rPr>
              <a:t>= </a:t>
            </a:r>
            <a:r>
              <a:rPr lang="en-US" altLang="en-US" sz="1800" b="1" dirty="0"/>
              <a:t>degree[next-x] </a:t>
            </a:r>
            <a:r>
              <a:rPr lang="en-US" altLang="en-US" sz="1800" b="1" dirty="0">
                <a:cs typeface="Times New Roman" panose="02020603050405020304" pitchFamily="18" charset="0"/>
              </a:rPr>
              <a:t>≠ </a:t>
            </a:r>
            <a:r>
              <a:rPr lang="en-US" altLang="en-US" sz="1800" b="1" dirty="0"/>
              <a:t>degree[sibling[next-x]] and key[x] &lt;= key[next-x]</a:t>
            </a:r>
            <a:r>
              <a:rPr lang="en-US" altLang="en-US" sz="1800" dirty="0"/>
              <a:t>. </a:t>
            </a:r>
          </a:p>
          <a:p>
            <a:pPr>
              <a:buNone/>
            </a:pPr>
            <a:r>
              <a:rPr lang="en-US" altLang="en-US" sz="1800" dirty="0"/>
              <a:t>		We remove next-x from the root list and link to the x.</a:t>
            </a:r>
          </a:p>
          <a:p>
            <a:r>
              <a:rPr lang="en-US" altLang="en-US" sz="1800" dirty="0">
                <a:solidFill>
                  <a:srgbClr val="FF0000"/>
                </a:solidFill>
              </a:rPr>
              <a:t>Case4:</a:t>
            </a:r>
            <a:r>
              <a:rPr lang="en-US" altLang="en-US" sz="1800" dirty="0"/>
              <a:t> </a:t>
            </a:r>
            <a:r>
              <a:rPr lang="en-US" altLang="en-US" sz="1800" b="1" dirty="0"/>
              <a:t>degree[x] </a:t>
            </a:r>
            <a:r>
              <a:rPr lang="en-US" altLang="en-US" sz="1800" b="1" dirty="0">
                <a:cs typeface="Times New Roman" panose="02020603050405020304" pitchFamily="18" charset="0"/>
              </a:rPr>
              <a:t>= </a:t>
            </a:r>
            <a:r>
              <a:rPr lang="en-US" altLang="en-US" sz="1800" b="1" dirty="0"/>
              <a:t>degree[next-x] </a:t>
            </a:r>
            <a:r>
              <a:rPr lang="en-US" altLang="en-US" sz="1800" b="1" dirty="0">
                <a:cs typeface="Times New Roman" panose="02020603050405020304" pitchFamily="18" charset="0"/>
              </a:rPr>
              <a:t>≠ </a:t>
            </a:r>
            <a:r>
              <a:rPr lang="en-US" altLang="en-US" sz="1800" b="1" dirty="0"/>
              <a:t>degree[sibling[next-x]] and key[x] &gt;= key[next-x].</a:t>
            </a:r>
            <a:r>
              <a:rPr lang="en-US" altLang="en-US" sz="1800" dirty="0"/>
              <a:t> </a:t>
            </a:r>
          </a:p>
          <a:p>
            <a:pPr>
              <a:buNone/>
            </a:pPr>
            <a:r>
              <a:rPr lang="en-US" altLang="en-US" sz="1800" dirty="0"/>
              <a:t>	We remove x from the root list and link it to next-x.</a:t>
            </a:r>
          </a:p>
          <a:p>
            <a:endParaRPr lang="en-IN" dirty="0"/>
          </a:p>
        </p:txBody>
      </p:sp>
    </p:spTree>
    <p:extLst>
      <p:ext uri="{BB962C8B-B14F-4D97-AF65-F5344CB8AC3E}">
        <p14:creationId xmlns:p14="http://schemas.microsoft.com/office/powerpoint/2010/main" val="5855212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Union Two Binomial Heaps</a:t>
            </a:r>
            <a:endParaRPr lang="en-IN" dirty="0"/>
          </a:p>
        </p:txBody>
      </p:sp>
      <p:sp>
        <p:nvSpPr>
          <p:cNvPr id="4" name="Oval 4"/>
          <p:cNvSpPr>
            <a:spLocks noChangeArrowheads="1"/>
          </p:cNvSpPr>
          <p:nvPr/>
        </p:nvSpPr>
        <p:spPr bwMode="auto">
          <a:xfrm>
            <a:off x="4706155" y="1881389"/>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11</a:t>
            </a:r>
          </a:p>
        </p:txBody>
      </p:sp>
      <p:sp>
        <p:nvSpPr>
          <p:cNvPr id="5" name="Oval 5"/>
          <p:cNvSpPr>
            <a:spLocks noChangeArrowheads="1"/>
          </p:cNvSpPr>
          <p:nvPr/>
        </p:nvSpPr>
        <p:spPr bwMode="auto">
          <a:xfrm>
            <a:off x="5849155" y="1881389"/>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6" name="Oval 6"/>
          <p:cNvSpPr>
            <a:spLocks noChangeArrowheads="1"/>
          </p:cNvSpPr>
          <p:nvPr/>
        </p:nvSpPr>
        <p:spPr bwMode="auto">
          <a:xfrm>
            <a:off x="5849155" y="2490989"/>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7" name="Oval 7"/>
          <p:cNvSpPr>
            <a:spLocks noChangeArrowheads="1"/>
          </p:cNvSpPr>
          <p:nvPr/>
        </p:nvSpPr>
        <p:spPr bwMode="auto">
          <a:xfrm>
            <a:off x="5163355" y="2490989"/>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8" name="Oval 8"/>
          <p:cNvSpPr>
            <a:spLocks noChangeArrowheads="1"/>
          </p:cNvSpPr>
          <p:nvPr/>
        </p:nvSpPr>
        <p:spPr bwMode="auto">
          <a:xfrm>
            <a:off x="5163355" y="3100589"/>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9" name="Line 9"/>
          <p:cNvSpPr>
            <a:spLocks noChangeShapeType="1"/>
          </p:cNvSpPr>
          <p:nvPr/>
        </p:nvSpPr>
        <p:spPr bwMode="auto">
          <a:xfrm>
            <a:off x="5315755" y="2795789"/>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a:lstStyle/>
          <a:p>
            <a:endParaRPr lang="en-IN"/>
          </a:p>
        </p:txBody>
      </p:sp>
      <p:sp>
        <p:nvSpPr>
          <p:cNvPr id="10" name="Line 10"/>
          <p:cNvSpPr>
            <a:spLocks noChangeShapeType="1"/>
          </p:cNvSpPr>
          <p:nvPr/>
        </p:nvSpPr>
        <p:spPr bwMode="auto">
          <a:xfrm>
            <a:off x="6001555" y="2186189"/>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a:lstStyle/>
          <a:p>
            <a:endParaRPr lang="en-IN"/>
          </a:p>
        </p:txBody>
      </p:sp>
      <p:sp>
        <p:nvSpPr>
          <p:cNvPr id="11" name="Line 11"/>
          <p:cNvSpPr>
            <a:spLocks noChangeShapeType="1"/>
          </p:cNvSpPr>
          <p:nvPr/>
        </p:nvSpPr>
        <p:spPr bwMode="auto">
          <a:xfrm flipV="1">
            <a:off x="5391955" y="2109989"/>
            <a:ext cx="457200" cy="381000"/>
          </a:xfrm>
          <a:prstGeom prst="line">
            <a:avLst/>
          </a:prstGeom>
          <a:ln w="38100">
            <a:headEnd/>
            <a:tailEnd/>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a:lstStyle/>
          <a:p>
            <a:endParaRPr lang="en-IN"/>
          </a:p>
        </p:txBody>
      </p:sp>
      <p:sp>
        <p:nvSpPr>
          <p:cNvPr id="12" name="Line 12"/>
          <p:cNvSpPr>
            <a:spLocks noChangeShapeType="1"/>
          </p:cNvSpPr>
          <p:nvPr/>
        </p:nvSpPr>
        <p:spPr bwMode="auto">
          <a:xfrm>
            <a:off x="5010955" y="2033789"/>
            <a:ext cx="8382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a:lstStyle/>
          <a:p>
            <a:endParaRPr lang="en-IN"/>
          </a:p>
        </p:txBody>
      </p:sp>
      <p:sp>
        <p:nvSpPr>
          <p:cNvPr id="13" name="Text Box 13"/>
          <p:cNvSpPr txBox="1">
            <a:spLocks noChangeArrowheads="1"/>
          </p:cNvSpPr>
          <p:nvPr/>
        </p:nvSpPr>
        <p:spPr bwMode="auto">
          <a:xfrm>
            <a:off x="2648755" y="1881389"/>
            <a:ext cx="914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head[H1]</a:t>
            </a:r>
          </a:p>
        </p:txBody>
      </p:sp>
      <p:sp>
        <p:nvSpPr>
          <p:cNvPr id="14" name="Line 14"/>
          <p:cNvSpPr>
            <a:spLocks noChangeShapeType="1"/>
          </p:cNvSpPr>
          <p:nvPr/>
        </p:nvSpPr>
        <p:spPr bwMode="auto">
          <a:xfrm>
            <a:off x="3563155" y="2033789"/>
            <a:ext cx="3810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a:lstStyle/>
          <a:p>
            <a:endParaRPr lang="en-IN"/>
          </a:p>
        </p:txBody>
      </p:sp>
      <p:sp>
        <p:nvSpPr>
          <p:cNvPr id="15" name="Oval 15"/>
          <p:cNvSpPr>
            <a:spLocks noChangeArrowheads="1"/>
          </p:cNvSpPr>
          <p:nvPr/>
        </p:nvSpPr>
        <p:spPr bwMode="auto">
          <a:xfrm>
            <a:off x="4706155" y="2490989"/>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20</a:t>
            </a:r>
          </a:p>
        </p:txBody>
      </p:sp>
      <p:sp>
        <p:nvSpPr>
          <p:cNvPr id="16" name="Line 16"/>
          <p:cNvSpPr>
            <a:spLocks noChangeShapeType="1"/>
          </p:cNvSpPr>
          <p:nvPr/>
        </p:nvSpPr>
        <p:spPr bwMode="auto">
          <a:xfrm>
            <a:off x="4248955" y="2033789"/>
            <a:ext cx="4572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a:lstStyle/>
          <a:p>
            <a:endParaRPr lang="en-IN"/>
          </a:p>
        </p:txBody>
      </p:sp>
      <p:sp>
        <p:nvSpPr>
          <p:cNvPr id="17" name="Line 17"/>
          <p:cNvSpPr>
            <a:spLocks noChangeShapeType="1"/>
          </p:cNvSpPr>
          <p:nvPr/>
        </p:nvSpPr>
        <p:spPr bwMode="auto">
          <a:xfrm>
            <a:off x="4858555" y="2186189"/>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a:lstStyle/>
          <a:p>
            <a:endParaRPr lang="en-IN"/>
          </a:p>
        </p:txBody>
      </p:sp>
      <p:sp>
        <p:nvSpPr>
          <p:cNvPr id="18" name="Oval 18"/>
          <p:cNvSpPr>
            <a:spLocks noChangeArrowheads="1"/>
          </p:cNvSpPr>
          <p:nvPr/>
        </p:nvSpPr>
        <p:spPr bwMode="auto">
          <a:xfrm>
            <a:off x="3944155" y="1881389"/>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19" name="Oval 20"/>
          <p:cNvSpPr>
            <a:spLocks noChangeArrowheads="1"/>
          </p:cNvSpPr>
          <p:nvPr/>
        </p:nvSpPr>
        <p:spPr bwMode="auto">
          <a:xfrm>
            <a:off x="9561489" y="1957589"/>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4</a:t>
            </a:r>
          </a:p>
        </p:txBody>
      </p:sp>
      <p:sp>
        <p:nvSpPr>
          <p:cNvPr id="20" name="Text Box 29"/>
          <p:cNvSpPr txBox="1">
            <a:spLocks noChangeArrowheads="1"/>
          </p:cNvSpPr>
          <p:nvPr/>
        </p:nvSpPr>
        <p:spPr bwMode="auto">
          <a:xfrm>
            <a:off x="7580289" y="1957589"/>
            <a:ext cx="990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head[H2]</a:t>
            </a:r>
          </a:p>
        </p:txBody>
      </p:sp>
      <p:sp>
        <p:nvSpPr>
          <p:cNvPr id="21" name="Line 30"/>
          <p:cNvSpPr>
            <a:spLocks noChangeShapeType="1"/>
          </p:cNvSpPr>
          <p:nvPr/>
        </p:nvSpPr>
        <p:spPr bwMode="auto">
          <a:xfrm>
            <a:off x="8418489" y="2109989"/>
            <a:ext cx="3810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2" name="Oval 31"/>
          <p:cNvSpPr>
            <a:spLocks noChangeArrowheads="1"/>
          </p:cNvSpPr>
          <p:nvPr/>
        </p:nvSpPr>
        <p:spPr bwMode="auto">
          <a:xfrm>
            <a:off x="9561489" y="2567189"/>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9</a:t>
            </a:r>
          </a:p>
        </p:txBody>
      </p:sp>
      <p:sp>
        <p:nvSpPr>
          <p:cNvPr id="23" name="Line 32"/>
          <p:cNvSpPr>
            <a:spLocks noChangeShapeType="1"/>
          </p:cNvSpPr>
          <p:nvPr/>
        </p:nvSpPr>
        <p:spPr bwMode="auto">
          <a:xfrm>
            <a:off x="9104289" y="2109989"/>
            <a:ext cx="4572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4" name="Line 33"/>
          <p:cNvSpPr>
            <a:spLocks noChangeShapeType="1"/>
          </p:cNvSpPr>
          <p:nvPr/>
        </p:nvSpPr>
        <p:spPr bwMode="auto">
          <a:xfrm>
            <a:off x="9713889" y="2262389"/>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5" name="Oval 34"/>
          <p:cNvSpPr>
            <a:spLocks noChangeArrowheads="1"/>
          </p:cNvSpPr>
          <p:nvPr/>
        </p:nvSpPr>
        <p:spPr bwMode="auto">
          <a:xfrm>
            <a:off x="8799489" y="1957589"/>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3</a:t>
            </a:r>
          </a:p>
        </p:txBody>
      </p:sp>
      <p:sp>
        <p:nvSpPr>
          <p:cNvPr id="26" name="Text Box 35"/>
          <p:cNvSpPr txBox="1">
            <a:spLocks noChangeArrowheads="1"/>
          </p:cNvSpPr>
          <p:nvPr/>
        </p:nvSpPr>
        <p:spPr bwMode="auto">
          <a:xfrm>
            <a:off x="1886755" y="1957589"/>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a)</a:t>
            </a:r>
          </a:p>
        </p:txBody>
      </p:sp>
      <p:sp>
        <p:nvSpPr>
          <p:cNvPr id="27" name="Oval 36"/>
          <p:cNvSpPr>
            <a:spLocks noChangeArrowheads="1"/>
          </p:cNvSpPr>
          <p:nvPr/>
        </p:nvSpPr>
        <p:spPr bwMode="auto">
          <a:xfrm>
            <a:off x="5544355" y="4533363"/>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11</a:t>
            </a:r>
          </a:p>
        </p:txBody>
      </p:sp>
      <p:sp>
        <p:nvSpPr>
          <p:cNvPr id="28" name="Oval 37"/>
          <p:cNvSpPr>
            <a:spLocks noChangeArrowheads="1"/>
          </p:cNvSpPr>
          <p:nvPr/>
        </p:nvSpPr>
        <p:spPr bwMode="auto">
          <a:xfrm>
            <a:off x="7525555" y="4533363"/>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29" name="Oval 38"/>
          <p:cNvSpPr>
            <a:spLocks noChangeArrowheads="1"/>
          </p:cNvSpPr>
          <p:nvPr/>
        </p:nvSpPr>
        <p:spPr bwMode="auto">
          <a:xfrm>
            <a:off x="7525555" y="5142963"/>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30" name="Oval 39"/>
          <p:cNvSpPr>
            <a:spLocks noChangeArrowheads="1"/>
          </p:cNvSpPr>
          <p:nvPr/>
        </p:nvSpPr>
        <p:spPr bwMode="auto">
          <a:xfrm>
            <a:off x="6839755" y="5142963"/>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31" name="Oval 40"/>
          <p:cNvSpPr>
            <a:spLocks noChangeArrowheads="1"/>
          </p:cNvSpPr>
          <p:nvPr/>
        </p:nvSpPr>
        <p:spPr bwMode="auto">
          <a:xfrm>
            <a:off x="6839755" y="5752563"/>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32" name="Line 41"/>
          <p:cNvSpPr>
            <a:spLocks noChangeShapeType="1"/>
          </p:cNvSpPr>
          <p:nvPr/>
        </p:nvSpPr>
        <p:spPr bwMode="auto">
          <a:xfrm>
            <a:off x="6992155" y="5447763"/>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sp>
        <p:nvSpPr>
          <p:cNvPr id="33" name="Line 42"/>
          <p:cNvSpPr>
            <a:spLocks noChangeShapeType="1"/>
          </p:cNvSpPr>
          <p:nvPr/>
        </p:nvSpPr>
        <p:spPr bwMode="auto">
          <a:xfrm>
            <a:off x="7677955" y="4838163"/>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sp>
        <p:nvSpPr>
          <p:cNvPr id="34" name="Line 43"/>
          <p:cNvSpPr>
            <a:spLocks noChangeShapeType="1"/>
          </p:cNvSpPr>
          <p:nvPr/>
        </p:nvSpPr>
        <p:spPr bwMode="auto">
          <a:xfrm flipV="1">
            <a:off x="7068355" y="4761963"/>
            <a:ext cx="457200" cy="381000"/>
          </a:xfrm>
          <a:prstGeom prst="line">
            <a:avLst/>
          </a:prstGeom>
          <a:ln w="38100">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sp>
        <p:nvSpPr>
          <p:cNvPr id="35" name="Line 44"/>
          <p:cNvSpPr>
            <a:spLocks noChangeShapeType="1"/>
          </p:cNvSpPr>
          <p:nvPr/>
        </p:nvSpPr>
        <p:spPr bwMode="auto">
          <a:xfrm>
            <a:off x="6687355" y="4685763"/>
            <a:ext cx="8382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sp>
        <p:nvSpPr>
          <p:cNvPr id="36" name="Text Box 45"/>
          <p:cNvSpPr txBox="1">
            <a:spLocks noChangeArrowheads="1"/>
          </p:cNvSpPr>
          <p:nvPr/>
        </p:nvSpPr>
        <p:spPr bwMode="auto">
          <a:xfrm>
            <a:off x="2724955" y="4533363"/>
            <a:ext cx="914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head[H1]</a:t>
            </a:r>
          </a:p>
        </p:txBody>
      </p:sp>
      <p:sp>
        <p:nvSpPr>
          <p:cNvPr id="37" name="Line 46"/>
          <p:cNvSpPr>
            <a:spLocks noChangeShapeType="1"/>
          </p:cNvSpPr>
          <p:nvPr/>
        </p:nvSpPr>
        <p:spPr bwMode="auto">
          <a:xfrm>
            <a:off x="3639355" y="4685763"/>
            <a:ext cx="3810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sp>
        <p:nvSpPr>
          <p:cNvPr id="38" name="Oval 47"/>
          <p:cNvSpPr>
            <a:spLocks noChangeArrowheads="1"/>
          </p:cNvSpPr>
          <p:nvPr/>
        </p:nvSpPr>
        <p:spPr bwMode="auto">
          <a:xfrm>
            <a:off x="5544355" y="5142963"/>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20</a:t>
            </a:r>
          </a:p>
        </p:txBody>
      </p:sp>
      <p:sp>
        <p:nvSpPr>
          <p:cNvPr id="39" name="Line 48"/>
          <p:cNvSpPr>
            <a:spLocks noChangeShapeType="1"/>
          </p:cNvSpPr>
          <p:nvPr/>
        </p:nvSpPr>
        <p:spPr bwMode="auto">
          <a:xfrm>
            <a:off x="4325155" y="4685763"/>
            <a:ext cx="4572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sp>
        <p:nvSpPr>
          <p:cNvPr id="40" name="Line 49"/>
          <p:cNvSpPr>
            <a:spLocks noChangeShapeType="1"/>
          </p:cNvSpPr>
          <p:nvPr/>
        </p:nvSpPr>
        <p:spPr bwMode="auto">
          <a:xfrm>
            <a:off x="5696755" y="4838163"/>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sp>
        <p:nvSpPr>
          <p:cNvPr id="41" name="Oval 50"/>
          <p:cNvSpPr>
            <a:spLocks noChangeArrowheads="1"/>
          </p:cNvSpPr>
          <p:nvPr/>
        </p:nvSpPr>
        <p:spPr bwMode="auto">
          <a:xfrm>
            <a:off x="4020355" y="4533363"/>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42" name="Oval 51"/>
          <p:cNvSpPr>
            <a:spLocks noChangeArrowheads="1"/>
          </p:cNvSpPr>
          <p:nvPr/>
        </p:nvSpPr>
        <p:spPr bwMode="auto">
          <a:xfrm>
            <a:off x="4782355" y="4533363"/>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3</a:t>
            </a:r>
          </a:p>
        </p:txBody>
      </p:sp>
      <p:sp>
        <p:nvSpPr>
          <p:cNvPr id="43" name="Oval 52"/>
          <p:cNvSpPr>
            <a:spLocks noChangeArrowheads="1"/>
          </p:cNvSpPr>
          <p:nvPr/>
        </p:nvSpPr>
        <p:spPr bwMode="auto">
          <a:xfrm>
            <a:off x="6382555" y="4533363"/>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4</a:t>
            </a:r>
          </a:p>
        </p:txBody>
      </p:sp>
      <p:sp>
        <p:nvSpPr>
          <p:cNvPr id="44" name="Oval 53"/>
          <p:cNvSpPr>
            <a:spLocks noChangeArrowheads="1"/>
          </p:cNvSpPr>
          <p:nvPr/>
        </p:nvSpPr>
        <p:spPr bwMode="auto">
          <a:xfrm>
            <a:off x="6382555" y="5142963"/>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9</a:t>
            </a:r>
          </a:p>
        </p:txBody>
      </p:sp>
      <p:sp>
        <p:nvSpPr>
          <p:cNvPr id="45" name="Line 54"/>
          <p:cNvSpPr>
            <a:spLocks noChangeShapeType="1"/>
          </p:cNvSpPr>
          <p:nvPr/>
        </p:nvSpPr>
        <p:spPr bwMode="auto">
          <a:xfrm>
            <a:off x="5849155" y="4685763"/>
            <a:ext cx="5334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sp>
        <p:nvSpPr>
          <p:cNvPr id="46" name="Line 55"/>
          <p:cNvSpPr>
            <a:spLocks noChangeShapeType="1"/>
          </p:cNvSpPr>
          <p:nvPr/>
        </p:nvSpPr>
        <p:spPr bwMode="auto">
          <a:xfrm>
            <a:off x="6534955" y="4838163"/>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sp>
        <p:nvSpPr>
          <p:cNvPr id="47" name="Line 56"/>
          <p:cNvSpPr>
            <a:spLocks noChangeShapeType="1"/>
          </p:cNvSpPr>
          <p:nvPr/>
        </p:nvSpPr>
        <p:spPr bwMode="auto">
          <a:xfrm>
            <a:off x="5087155" y="4685763"/>
            <a:ext cx="4572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a:lstStyle/>
          <a:p>
            <a:endParaRPr lang="en-IN"/>
          </a:p>
        </p:txBody>
      </p:sp>
      <p:sp>
        <p:nvSpPr>
          <p:cNvPr id="48" name="Text Box 57"/>
          <p:cNvSpPr txBox="1">
            <a:spLocks noChangeArrowheads="1"/>
          </p:cNvSpPr>
          <p:nvPr/>
        </p:nvSpPr>
        <p:spPr bwMode="auto">
          <a:xfrm>
            <a:off x="1886755" y="4533363"/>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b)</a:t>
            </a:r>
          </a:p>
        </p:txBody>
      </p:sp>
    </p:spTree>
    <p:extLst>
      <p:ext uri="{BB962C8B-B14F-4D97-AF65-F5344CB8AC3E}">
        <p14:creationId xmlns:p14="http://schemas.microsoft.com/office/powerpoint/2010/main" val="15230019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Union Two Binomial Heaps</a:t>
            </a:r>
            <a:endParaRPr lang="en-IN" dirty="0"/>
          </a:p>
        </p:txBody>
      </p:sp>
      <p:sp>
        <p:nvSpPr>
          <p:cNvPr id="4" name="Oval 4"/>
          <p:cNvSpPr>
            <a:spLocks noChangeArrowheads="1"/>
          </p:cNvSpPr>
          <p:nvPr/>
        </p:nvSpPr>
        <p:spPr bwMode="auto">
          <a:xfrm>
            <a:off x="4009622" y="2127160"/>
            <a:ext cx="304800" cy="304800"/>
          </a:xfrm>
          <a:prstGeom prst="ellips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11</a:t>
            </a:r>
          </a:p>
        </p:txBody>
      </p:sp>
      <p:sp>
        <p:nvSpPr>
          <p:cNvPr id="5" name="Oval 5"/>
          <p:cNvSpPr>
            <a:spLocks noChangeArrowheads="1"/>
          </p:cNvSpPr>
          <p:nvPr/>
        </p:nvSpPr>
        <p:spPr bwMode="auto">
          <a:xfrm>
            <a:off x="5762222" y="1517560"/>
            <a:ext cx="304800" cy="304800"/>
          </a:xfrm>
          <a:prstGeom prst="ellips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6" name="Oval 6"/>
          <p:cNvSpPr>
            <a:spLocks noChangeArrowheads="1"/>
          </p:cNvSpPr>
          <p:nvPr/>
        </p:nvSpPr>
        <p:spPr bwMode="auto">
          <a:xfrm>
            <a:off x="5762222" y="2127160"/>
            <a:ext cx="304800" cy="304800"/>
          </a:xfrm>
          <a:prstGeom prst="ellips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7" name="Oval 7"/>
          <p:cNvSpPr>
            <a:spLocks noChangeArrowheads="1"/>
          </p:cNvSpPr>
          <p:nvPr/>
        </p:nvSpPr>
        <p:spPr bwMode="auto">
          <a:xfrm>
            <a:off x="5076422" y="2127160"/>
            <a:ext cx="304800" cy="304800"/>
          </a:xfrm>
          <a:prstGeom prst="ellips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8" name="Oval 8"/>
          <p:cNvSpPr>
            <a:spLocks noChangeArrowheads="1"/>
          </p:cNvSpPr>
          <p:nvPr/>
        </p:nvSpPr>
        <p:spPr bwMode="auto">
          <a:xfrm>
            <a:off x="5076422" y="2736760"/>
            <a:ext cx="304800" cy="304800"/>
          </a:xfrm>
          <a:prstGeom prst="ellips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9" name="Line 9"/>
          <p:cNvSpPr>
            <a:spLocks noChangeShapeType="1"/>
          </p:cNvSpPr>
          <p:nvPr/>
        </p:nvSpPr>
        <p:spPr bwMode="auto">
          <a:xfrm>
            <a:off x="5228822" y="2431960"/>
            <a:ext cx="0" cy="304800"/>
          </a:xfrm>
          <a:prstGeom prst="lin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10" name="Line 10"/>
          <p:cNvSpPr>
            <a:spLocks noChangeShapeType="1"/>
          </p:cNvSpPr>
          <p:nvPr/>
        </p:nvSpPr>
        <p:spPr bwMode="auto">
          <a:xfrm>
            <a:off x="5914622" y="1822360"/>
            <a:ext cx="0" cy="304800"/>
          </a:xfrm>
          <a:prstGeom prst="lin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11" name="Line 11"/>
          <p:cNvSpPr>
            <a:spLocks noChangeShapeType="1"/>
          </p:cNvSpPr>
          <p:nvPr/>
        </p:nvSpPr>
        <p:spPr bwMode="auto">
          <a:xfrm flipV="1">
            <a:off x="5305022" y="1746160"/>
            <a:ext cx="457200" cy="381000"/>
          </a:xfrm>
          <a:prstGeom prst="lin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12" name="Line 12"/>
          <p:cNvSpPr>
            <a:spLocks noChangeShapeType="1"/>
          </p:cNvSpPr>
          <p:nvPr/>
        </p:nvSpPr>
        <p:spPr bwMode="auto">
          <a:xfrm>
            <a:off x="4924022" y="1669960"/>
            <a:ext cx="838200" cy="0"/>
          </a:xfrm>
          <a:prstGeom prst="line">
            <a:avLst/>
          </a:prstGeom>
          <a:ln w="28575">
            <a:headEnd/>
            <a:tailEnd type="triangle" w="med" len="me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13" name="Text Box 13"/>
          <p:cNvSpPr txBox="1">
            <a:spLocks noChangeArrowheads="1"/>
          </p:cNvSpPr>
          <p:nvPr/>
        </p:nvSpPr>
        <p:spPr bwMode="auto">
          <a:xfrm>
            <a:off x="1876022" y="1517560"/>
            <a:ext cx="914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head[H1]</a:t>
            </a:r>
          </a:p>
        </p:txBody>
      </p:sp>
      <p:sp>
        <p:nvSpPr>
          <p:cNvPr id="14" name="Line 14"/>
          <p:cNvSpPr>
            <a:spLocks noChangeShapeType="1"/>
          </p:cNvSpPr>
          <p:nvPr/>
        </p:nvSpPr>
        <p:spPr bwMode="auto">
          <a:xfrm>
            <a:off x="2790422" y="166996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5" name="Oval 15"/>
          <p:cNvSpPr>
            <a:spLocks noChangeArrowheads="1"/>
          </p:cNvSpPr>
          <p:nvPr/>
        </p:nvSpPr>
        <p:spPr bwMode="auto">
          <a:xfrm>
            <a:off x="4009622" y="2736760"/>
            <a:ext cx="304800" cy="304800"/>
          </a:xfrm>
          <a:prstGeom prst="ellips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20</a:t>
            </a:r>
          </a:p>
        </p:txBody>
      </p:sp>
      <p:sp>
        <p:nvSpPr>
          <p:cNvPr id="16" name="Line 16"/>
          <p:cNvSpPr>
            <a:spLocks noChangeShapeType="1"/>
          </p:cNvSpPr>
          <p:nvPr/>
        </p:nvSpPr>
        <p:spPr bwMode="auto">
          <a:xfrm>
            <a:off x="3476222" y="1669960"/>
            <a:ext cx="1143000" cy="0"/>
          </a:xfrm>
          <a:prstGeom prst="line">
            <a:avLst/>
          </a:prstGeom>
          <a:ln w="28575">
            <a:headEnd/>
            <a:tailEnd type="triangle" w="med" len="me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17" name="Line 17"/>
          <p:cNvSpPr>
            <a:spLocks noChangeShapeType="1"/>
          </p:cNvSpPr>
          <p:nvPr/>
        </p:nvSpPr>
        <p:spPr bwMode="auto">
          <a:xfrm>
            <a:off x="4162022" y="2431960"/>
            <a:ext cx="0" cy="304800"/>
          </a:xfrm>
          <a:prstGeom prst="lin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18" name="Oval 18"/>
          <p:cNvSpPr>
            <a:spLocks noChangeArrowheads="1"/>
          </p:cNvSpPr>
          <p:nvPr/>
        </p:nvSpPr>
        <p:spPr bwMode="auto">
          <a:xfrm>
            <a:off x="3171422" y="1517560"/>
            <a:ext cx="304800" cy="304800"/>
          </a:xfrm>
          <a:prstGeom prst="ellips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19" name="Oval 19"/>
          <p:cNvSpPr>
            <a:spLocks noChangeArrowheads="1"/>
          </p:cNvSpPr>
          <p:nvPr/>
        </p:nvSpPr>
        <p:spPr bwMode="auto">
          <a:xfrm>
            <a:off x="3171422" y="2127160"/>
            <a:ext cx="304800" cy="304800"/>
          </a:xfrm>
          <a:prstGeom prst="ellips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3</a:t>
            </a:r>
          </a:p>
        </p:txBody>
      </p:sp>
      <p:sp>
        <p:nvSpPr>
          <p:cNvPr id="20" name="Oval 20"/>
          <p:cNvSpPr>
            <a:spLocks noChangeArrowheads="1"/>
          </p:cNvSpPr>
          <p:nvPr/>
        </p:nvSpPr>
        <p:spPr bwMode="auto">
          <a:xfrm>
            <a:off x="4619222" y="1517560"/>
            <a:ext cx="304800" cy="304800"/>
          </a:xfrm>
          <a:prstGeom prst="ellips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4</a:t>
            </a:r>
          </a:p>
        </p:txBody>
      </p:sp>
      <p:sp>
        <p:nvSpPr>
          <p:cNvPr id="21" name="Oval 21"/>
          <p:cNvSpPr>
            <a:spLocks noChangeArrowheads="1"/>
          </p:cNvSpPr>
          <p:nvPr/>
        </p:nvSpPr>
        <p:spPr bwMode="auto">
          <a:xfrm>
            <a:off x="4619222" y="2127160"/>
            <a:ext cx="304800" cy="304800"/>
          </a:xfrm>
          <a:prstGeom prst="ellips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9</a:t>
            </a:r>
          </a:p>
        </p:txBody>
      </p:sp>
      <p:sp>
        <p:nvSpPr>
          <p:cNvPr id="22" name="Line 23"/>
          <p:cNvSpPr>
            <a:spLocks noChangeShapeType="1"/>
          </p:cNvSpPr>
          <p:nvPr/>
        </p:nvSpPr>
        <p:spPr bwMode="auto">
          <a:xfrm>
            <a:off x="4771622" y="1822360"/>
            <a:ext cx="0" cy="304800"/>
          </a:xfrm>
          <a:prstGeom prst="lin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23" name="Line 25"/>
          <p:cNvSpPr>
            <a:spLocks noChangeShapeType="1"/>
          </p:cNvSpPr>
          <p:nvPr/>
        </p:nvSpPr>
        <p:spPr bwMode="auto">
          <a:xfrm flipV="1">
            <a:off x="4238222" y="1746160"/>
            <a:ext cx="381000" cy="381000"/>
          </a:xfrm>
          <a:prstGeom prst="lin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24" name="Line 31"/>
          <p:cNvSpPr>
            <a:spLocks noChangeShapeType="1"/>
          </p:cNvSpPr>
          <p:nvPr/>
        </p:nvSpPr>
        <p:spPr bwMode="auto">
          <a:xfrm>
            <a:off x="3323822" y="1822360"/>
            <a:ext cx="0" cy="304800"/>
          </a:xfrm>
          <a:prstGeom prst="line">
            <a:avLst/>
          </a:prstGeom>
          <a:ln w="28575">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25" name="Text Box 32"/>
          <p:cNvSpPr txBox="1">
            <a:spLocks noChangeArrowheads="1"/>
          </p:cNvSpPr>
          <p:nvPr/>
        </p:nvSpPr>
        <p:spPr bwMode="auto">
          <a:xfrm>
            <a:off x="1266422" y="1517560"/>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c)</a:t>
            </a:r>
          </a:p>
        </p:txBody>
      </p:sp>
      <p:sp>
        <p:nvSpPr>
          <p:cNvPr id="26" name="Oval 33"/>
          <p:cNvSpPr>
            <a:spLocks noChangeArrowheads="1"/>
          </p:cNvSpPr>
          <p:nvPr/>
        </p:nvSpPr>
        <p:spPr bwMode="auto">
          <a:xfrm>
            <a:off x="4085822" y="5054959"/>
            <a:ext cx="304800" cy="304800"/>
          </a:xfrm>
          <a:prstGeom prst="ellips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11</a:t>
            </a:r>
          </a:p>
        </p:txBody>
      </p:sp>
      <p:sp>
        <p:nvSpPr>
          <p:cNvPr id="27" name="Oval 34"/>
          <p:cNvSpPr>
            <a:spLocks noChangeArrowheads="1"/>
          </p:cNvSpPr>
          <p:nvPr/>
        </p:nvSpPr>
        <p:spPr bwMode="auto">
          <a:xfrm>
            <a:off x="5914622" y="3835759"/>
            <a:ext cx="304800" cy="304800"/>
          </a:xfrm>
          <a:prstGeom prst="ellips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28" name="Oval 35"/>
          <p:cNvSpPr>
            <a:spLocks noChangeArrowheads="1"/>
          </p:cNvSpPr>
          <p:nvPr/>
        </p:nvSpPr>
        <p:spPr bwMode="auto">
          <a:xfrm>
            <a:off x="5914622" y="4445359"/>
            <a:ext cx="304800" cy="304800"/>
          </a:xfrm>
          <a:prstGeom prst="ellips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29" name="Oval 36"/>
          <p:cNvSpPr>
            <a:spLocks noChangeArrowheads="1"/>
          </p:cNvSpPr>
          <p:nvPr/>
        </p:nvSpPr>
        <p:spPr bwMode="auto">
          <a:xfrm>
            <a:off x="5228822" y="4445359"/>
            <a:ext cx="304800" cy="304800"/>
          </a:xfrm>
          <a:prstGeom prst="ellips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30" name="Oval 37"/>
          <p:cNvSpPr>
            <a:spLocks noChangeArrowheads="1"/>
          </p:cNvSpPr>
          <p:nvPr/>
        </p:nvSpPr>
        <p:spPr bwMode="auto">
          <a:xfrm>
            <a:off x="5228822" y="5054959"/>
            <a:ext cx="304800" cy="304800"/>
          </a:xfrm>
          <a:prstGeom prst="ellips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31" name="Line 38"/>
          <p:cNvSpPr>
            <a:spLocks noChangeShapeType="1"/>
          </p:cNvSpPr>
          <p:nvPr/>
        </p:nvSpPr>
        <p:spPr bwMode="auto">
          <a:xfrm>
            <a:off x="5381222" y="4750159"/>
            <a:ext cx="0" cy="304800"/>
          </a:xfrm>
          <a:prstGeom prst="lin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32" name="Line 39"/>
          <p:cNvSpPr>
            <a:spLocks noChangeShapeType="1"/>
          </p:cNvSpPr>
          <p:nvPr/>
        </p:nvSpPr>
        <p:spPr bwMode="auto">
          <a:xfrm>
            <a:off x="6067022" y="4140559"/>
            <a:ext cx="0" cy="304800"/>
          </a:xfrm>
          <a:prstGeom prst="lin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33" name="Line 40"/>
          <p:cNvSpPr>
            <a:spLocks noChangeShapeType="1"/>
          </p:cNvSpPr>
          <p:nvPr/>
        </p:nvSpPr>
        <p:spPr bwMode="auto">
          <a:xfrm flipV="1">
            <a:off x="5457422" y="4064359"/>
            <a:ext cx="457200" cy="381000"/>
          </a:xfrm>
          <a:prstGeom prst="lin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34" name="Line 42"/>
          <p:cNvSpPr>
            <a:spLocks noChangeShapeType="1"/>
          </p:cNvSpPr>
          <p:nvPr/>
        </p:nvSpPr>
        <p:spPr bwMode="auto">
          <a:xfrm>
            <a:off x="2942822" y="3988159"/>
            <a:ext cx="381000" cy="0"/>
          </a:xfrm>
          <a:prstGeom prst="line">
            <a:avLst/>
          </a:prstGeom>
          <a:ln w="38100">
            <a:headEnd/>
            <a:tailEnd type="triangle" w="med" len="me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35" name="Oval 43"/>
          <p:cNvSpPr>
            <a:spLocks noChangeArrowheads="1"/>
          </p:cNvSpPr>
          <p:nvPr/>
        </p:nvSpPr>
        <p:spPr bwMode="auto">
          <a:xfrm>
            <a:off x="4085822" y="5664559"/>
            <a:ext cx="304800" cy="304800"/>
          </a:xfrm>
          <a:prstGeom prst="ellips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20</a:t>
            </a:r>
          </a:p>
        </p:txBody>
      </p:sp>
      <p:sp>
        <p:nvSpPr>
          <p:cNvPr id="36" name="Line 44"/>
          <p:cNvSpPr>
            <a:spLocks noChangeShapeType="1"/>
          </p:cNvSpPr>
          <p:nvPr/>
        </p:nvSpPr>
        <p:spPr bwMode="auto">
          <a:xfrm>
            <a:off x="3628622" y="3988159"/>
            <a:ext cx="2286000" cy="0"/>
          </a:xfrm>
          <a:prstGeom prst="line">
            <a:avLst/>
          </a:prstGeom>
          <a:ln w="38100">
            <a:headEnd/>
            <a:tailEnd type="triangle" w="med" len="me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37" name="Line 45"/>
          <p:cNvSpPr>
            <a:spLocks noChangeShapeType="1"/>
          </p:cNvSpPr>
          <p:nvPr/>
        </p:nvSpPr>
        <p:spPr bwMode="auto">
          <a:xfrm>
            <a:off x="4238222" y="5359759"/>
            <a:ext cx="0" cy="304800"/>
          </a:xfrm>
          <a:prstGeom prst="lin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38" name="Oval 46"/>
          <p:cNvSpPr>
            <a:spLocks noChangeArrowheads="1"/>
          </p:cNvSpPr>
          <p:nvPr/>
        </p:nvSpPr>
        <p:spPr bwMode="auto">
          <a:xfrm>
            <a:off x="3323822" y="3835759"/>
            <a:ext cx="304800" cy="304800"/>
          </a:xfrm>
          <a:prstGeom prst="ellips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39" name="Oval 47"/>
          <p:cNvSpPr>
            <a:spLocks noChangeArrowheads="1"/>
          </p:cNvSpPr>
          <p:nvPr/>
        </p:nvSpPr>
        <p:spPr bwMode="auto">
          <a:xfrm>
            <a:off x="3323822" y="4445359"/>
            <a:ext cx="304800" cy="304800"/>
          </a:xfrm>
          <a:prstGeom prst="ellips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3</a:t>
            </a:r>
          </a:p>
        </p:txBody>
      </p:sp>
      <p:sp>
        <p:nvSpPr>
          <p:cNvPr id="40" name="Oval 48"/>
          <p:cNvSpPr>
            <a:spLocks noChangeArrowheads="1"/>
          </p:cNvSpPr>
          <p:nvPr/>
        </p:nvSpPr>
        <p:spPr bwMode="auto">
          <a:xfrm>
            <a:off x="4695422" y="4445359"/>
            <a:ext cx="304800" cy="304800"/>
          </a:xfrm>
          <a:prstGeom prst="ellips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4</a:t>
            </a:r>
          </a:p>
        </p:txBody>
      </p:sp>
      <p:sp>
        <p:nvSpPr>
          <p:cNvPr id="41" name="Oval 49"/>
          <p:cNvSpPr>
            <a:spLocks noChangeArrowheads="1"/>
          </p:cNvSpPr>
          <p:nvPr/>
        </p:nvSpPr>
        <p:spPr bwMode="auto">
          <a:xfrm>
            <a:off x="4695422" y="5054959"/>
            <a:ext cx="304800" cy="304800"/>
          </a:xfrm>
          <a:prstGeom prst="ellips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9</a:t>
            </a:r>
          </a:p>
        </p:txBody>
      </p:sp>
      <p:sp>
        <p:nvSpPr>
          <p:cNvPr id="42" name="Line 50"/>
          <p:cNvSpPr>
            <a:spLocks noChangeShapeType="1"/>
          </p:cNvSpPr>
          <p:nvPr/>
        </p:nvSpPr>
        <p:spPr bwMode="auto">
          <a:xfrm>
            <a:off x="4847822" y="4750159"/>
            <a:ext cx="0" cy="304800"/>
          </a:xfrm>
          <a:prstGeom prst="lin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43" name="Line 51"/>
          <p:cNvSpPr>
            <a:spLocks noChangeShapeType="1"/>
          </p:cNvSpPr>
          <p:nvPr/>
        </p:nvSpPr>
        <p:spPr bwMode="auto">
          <a:xfrm flipV="1">
            <a:off x="4314422" y="4673959"/>
            <a:ext cx="381000" cy="381000"/>
          </a:xfrm>
          <a:prstGeom prst="lin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44" name="Line 52"/>
          <p:cNvSpPr>
            <a:spLocks noChangeShapeType="1"/>
          </p:cNvSpPr>
          <p:nvPr/>
        </p:nvSpPr>
        <p:spPr bwMode="auto">
          <a:xfrm>
            <a:off x="3476222" y="4140559"/>
            <a:ext cx="0" cy="304800"/>
          </a:xfrm>
          <a:prstGeom prst="lin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45" name="Line 53"/>
          <p:cNvSpPr>
            <a:spLocks noChangeShapeType="1"/>
          </p:cNvSpPr>
          <p:nvPr/>
        </p:nvSpPr>
        <p:spPr bwMode="auto">
          <a:xfrm flipV="1">
            <a:off x="4924022" y="4064359"/>
            <a:ext cx="990600" cy="381000"/>
          </a:xfrm>
          <a:prstGeom prst="line">
            <a:avLst/>
          </a:prstGeom>
          <a:ln w="38100">
            <a:headEnd/>
            <a:tailEnd/>
          </a:ln>
          <a:effectLst>
            <a:outerShdw blurRad="50800" dist="38100" dir="2700000" algn="tl"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a:lstStyle/>
          <a:p>
            <a:endParaRPr lang="en-IN"/>
          </a:p>
        </p:txBody>
      </p:sp>
      <p:sp>
        <p:nvSpPr>
          <p:cNvPr id="46" name="Text Box 54"/>
          <p:cNvSpPr txBox="1">
            <a:spLocks noChangeArrowheads="1"/>
          </p:cNvSpPr>
          <p:nvPr/>
        </p:nvSpPr>
        <p:spPr bwMode="auto">
          <a:xfrm>
            <a:off x="1952222" y="3835759"/>
            <a:ext cx="914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head[H1]</a:t>
            </a:r>
          </a:p>
        </p:txBody>
      </p:sp>
      <p:sp>
        <p:nvSpPr>
          <p:cNvPr id="47" name="Text Box 55"/>
          <p:cNvSpPr txBox="1">
            <a:spLocks noChangeArrowheads="1"/>
          </p:cNvSpPr>
          <p:nvPr/>
        </p:nvSpPr>
        <p:spPr bwMode="auto">
          <a:xfrm>
            <a:off x="1266422" y="3835759"/>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d)</a:t>
            </a:r>
          </a:p>
        </p:txBody>
      </p:sp>
    </p:spTree>
    <p:extLst>
      <p:ext uri="{BB962C8B-B14F-4D97-AF65-F5344CB8AC3E}">
        <p14:creationId xmlns:p14="http://schemas.microsoft.com/office/powerpoint/2010/main" val="30627832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Union two Binomial Heap</a:t>
            </a:r>
          </a:p>
        </p:txBody>
      </p:sp>
      <p:sp>
        <p:nvSpPr>
          <p:cNvPr id="3" name="Content Placeholder 2"/>
          <p:cNvSpPr>
            <a:spLocks noGrp="1"/>
          </p:cNvSpPr>
          <p:nvPr>
            <p:ph idx="1"/>
          </p:nvPr>
        </p:nvSpPr>
        <p:spPr/>
        <p:txBody>
          <a:bodyPr/>
          <a:lstStyle/>
          <a:p>
            <a:pPr marL="990600" lvl="1" indent="-533400">
              <a:lnSpc>
                <a:spcPct val="80000"/>
              </a:lnSpc>
              <a:buNone/>
            </a:pPr>
            <a:r>
              <a:rPr lang="en-US" altLang="en-US" sz="1400" b="1" dirty="0"/>
              <a:t>Binomial-Heap-Union(H1,H2)</a:t>
            </a:r>
          </a:p>
          <a:p>
            <a:pPr marL="990600" lvl="1" indent="-533400">
              <a:lnSpc>
                <a:spcPct val="80000"/>
              </a:lnSpc>
              <a:buFontTx/>
              <a:buAutoNum type="arabicPlain"/>
            </a:pPr>
            <a:r>
              <a:rPr lang="en-US" altLang="en-US" sz="1400" dirty="0"/>
              <a:t>H &lt;- Make-Binomial-Heap()</a:t>
            </a:r>
          </a:p>
          <a:p>
            <a:pPr marL="990600" lvl="1" indent="-533400">
              <a:lnSpc>
                <a:spcPct val="80000"/>
              </a:lnSpc>
              <a:buFontTx/>
              <a:buAutoNum type="arabicPlain"/>
            </a:pPr>
            <a:r>
              <a:rPr lang="en-US" altLang="en-US" sz="1400" dirty="0"/>
              <a:t>Head[H] &lt;-  Binomial-Merge(H1,H2)</a:t>
            </a:r>
          </a:p>
          <a:p>
            <a:pPr marL="990600" lvl="1" indent="-533400">
              <a:lnSpc>
                <a:spcPct val="80000"/>
              </a:lnSpc>
              <a:buFontTx/>
              <a:buAutoNum type="arabicPlain"/>
            </a:pPr>
            <a:r>
              <a:rPr lang="en-US" altLang="en-US" sz="1400" dirty="0"/>
              <a:t>Free the objects H1 and H2 but not the lists they point to</a:t>
            </a:r>
          </a:p>
          <a:p>
            <a:pPr marL="990600" lvl="1" indent="-533400">
              <a:lnSpc>
                <a:spcPct val="80000"/>
              </a:lnSpc>
              <a:buFontTx/>
              <a:buAutoNum type="arabicPlain"/>
            </a:pPr>
            <a:r>
              <a:rPr lang="en-US" altLang="en-US" sz="1400" dirty="0"/>
              <a:t>If head[H] = NIL</a:t>
            </a:r>
          </a:p>
          <a:p>
            <a:pPr marL="990600" lvl="1" indent="-533400">
              <a:lnSpc>
                <a:spcPct val="80000"/>
              </a:lnSpc>
              <a:buFontTx/>
              <a:buAutoNum type="arabicPlain"/>
            </a:pPr>
            <a:r>
              <a:rPr lang="en-US" altLang="en-US" sz="1400" dirty="0"/>
              <a:t>  then return H</a:t>
            </a:r>
          </a:p>
          <a:p>
            <a:pPr marL="990600" lvl="1" indent="-533400">
              <a:lnSpc>
                <a:spcPct val="80000"/>
              </a:lnSpc>
              <a:buFontTx/>
              <a:buAutoNum type="arabicPlain"/>
            </a:pPr>
            <a:r>
              <a:rPr lang="en-US" altLang="en-US" sz="1400" dirty="0" err="1"/>
              <a:t>Prev</a:t>
            </a:r>
            <a:r>
              <a:rPr lang="en-US" altLang="en-US" sz="1400" dirty="0"/>
              <a:t>-x &lt;-NIL</a:t>
            </a:r>
          </a:p>
          <a:p>
            <a:pPr marL="990600" lvl="1" indent="-533400">
              <a:lnSpc>
                <a:spcPct val="80000"/>
              </a:lnSpc>
              <a:buFontTx/>
              <a:buAutoNum type="arabicPlain"/>
            </a:pPr>
            <a:r>
              <a:rPr lang="en-US" altLang="en-US" sz="1400" dirty="0"/>
              <a:t>X &lt;- head[H]</a:t>
            </a:r>
          </a:p>
          <a:p>
            <a:pPr marL="990600" lvl="1" indent="-533400">
              <a:lnSpc>
                <a:spcPct val="80000"/>
              </a:lnSpc>
              <a:buFontTx/>
              <a:buAutoNum type="arabicPlain"/>
            </a:pPr>
            <a:r>
              <a:rPr lang="en-US" altLang="en-US" sz="1400" dirty="0"/>
              <a:t>Next-x &lt;- sibling[x]</a:t>
            </a:r>
          </a:p>
          <a:p>
            <a:pPr marL="990600" lvl="1" indent="-533400">
              <a:lnSpc>
                <a:spcPct val="80000"/>
              </a:lnSpc>
              <a:buFontTx/>
              <a:buAutoNum type="arabicPlain"/>
            </a:pPr>
            <a:r>
              <a:rPr lang="en-US" altLang="en-US" sz="1400" dirty="0"/>
              <a:t>while next-x not NIL</a:t>
            </a:r>
          </a:p>
          <a:p>
            <a:pPr marL="990600" lvl="1" indent="-533400">
              <a:lnSpc>
                <a:spcPct val="80000"/>
              </a:lnSpc>
              <a:buFontTx/>
              <a:buAutoNum type="arabicPlain"/>
            </a:pPr>
            <a:r>
              <a:rPr lang="en-US" altLang="en-US" sz="1400" dirty="0"/>
              <a:t>   do if(degree[x] not degree[next-x]) or</a:t>
            </a:r>
          </a:p>
          <a:p>
            <a:pPr marL="990600" lvl="1" indent="-533400">
              <a:lnSpc>
                <a:spcPct val="80000"/>
              </a:lnSpc>
              <a:buNone/>
            </a:pPr>
            <a:r>
              <a:rPr lang="en-US" altLang="en-US" sz="1400" dirty="0"/>
              <a:t>                   (sibling[next-x not NIL and degree[sibling[next-x]]=degree[x])</a:t>
            </a:r>
          </a:p>
          <a:p>
            <a:pPr marL="990600" lvl="1" indent="-533400">
              <a:lnSpc>
                <a:spcPct val="80000"/>
              </a:lnSpc>
              <a:buFontTx/>
              <a:buAutoNum type="arabicPlain" startAt="11"/>
            </a:pPr>
            <a:r>
              <a:rPr lang="en-US" altLang="en-US" sz="1400" dirty="0"/>
              <a:t>        then </a:t>
            </a:r>
            <a:r>
              <a:rPr lang="en-US" altLang="en-US" sz="1400" dirty="0" err="1"/>
              <a:t>prev</a:t>
            </a:r>
            <a:r>
              <a:rPr lang="en-US" altLang="en-US" sz="1400" dirty="0"/>
              <a:t>-x &lt;-x                                           </a:t>
            </a:r>
          </a:p>
          <a:p>
            <a:pPr marL="990600" lvl="1" indent="-533400">
              <a:lnSpc>
                <a:spcPct val="80000"/>
              </a:lnSpc>
              <a:buFontTx/>
              <a:buAutoNum type="arabicPlain" startAt="11"/>
            </a:pPr>
            <a:r>
              <a:rPr lang="en-US" altLang="en-US" sz="1400" dirty="0"/>
              <a:t>                x &lt;- next-x</a:t>
            </a:r>
          </a:p>
          <a:p>
            <a:pPr marL="990600" lvl="1" indent="-533400">
              <a:lnSpc>
                <a:spcPct val="80000"/>
              </a:lnSpc>
              <a:buFontTx/>
              <a:buAutoNum type="arabicPlain" startAt="11"/>
            </a:pPr>
            <a:r>
              <a:rPr lang="en-US" altLang="en-US" sz="1400" dirty="0"/>
              <a:t>        else if key[x] &lt;= key[next-x]</a:t>
            </a:r>
          </a:p>
          <a:p>
            <a:pPr marL="990600" lvl="1" indent="-533400">
              <a:lnSpc>
                <a:spcPct val="80000"/>
              </a:lnSpc>
              <a:buFontTx/>
              <a:buAutoNum type="arabicPlain" startAt="11"/>
            </a:pPr>
            <a:r>
              <a:rPr lang="en-US" altLang="en-US" sz="1400" dirty="0"/>
              <a:t>                then sibling[x] &lt;- sibling[next-x]</a:t>
            </a:r>
          </a:p>
          <a:p>
            <a:pPr marL="990600" lvl="1" indent="-533400">
              <a:lnSpc>
                <a:spcPct val="80000"/>
              </a:lnSpc>
              <a:buFontTx/>
              <a:buAutoNum type="arabicPlain" startAt="11"/>
            </a:pPr>
            <a:r>
              <a:rPr lang="en-US" altLang="en-US" sz="1400" dirty="0"/>
              <a:t>                        Binomial-Link(next-</a:t>
            </a:r>
            <a:r>
              <a:rPr lang="en-US" altLang="en-US" sz="1400" dirty="0" err="1"/>
              <a:t>x,x</a:t>
            </a:r>
            <a:r>
              <a:rPr lang="en-US" altLang="en-US" sz="1400" dirty="0"/>
              <a:t>)</a:t>
            </a:r>
          </a:p>
          <a:p>
            <a:pPr marL="990600" lvl="1" indent="-533400">
              <a:lnSpc>
                <a:spcPct val="80000"/>
              </a:lnSpc>
              <a:buFontTx/>
              <a:buAutoNum type="arabicPlain" startAt="11"/>
            </a:pPr>
            <a:r>
              <a:rPr lang="en-US" altLang="en-US" sz="1400" dirty="0"/>
              <a:t>                else if </a:t>
            </a:r>
            <a:r>
              <a:rPr lang="en-US" altLang="en-US" sz="1400" dirty="0" err="1"/>
              <a:t>prev</a:t>
            </a:r>
            <a:r>
              <a:rPr lang="en-US" altLang="en-US" sz="1400" dirty="0"/>
              <a:t>-x = NIL</a:t>
            </a:r>
          </a:p>
          <a:p>
            <a:pPr marL="990600" lvl="1" indent="-533400">
              <a:lnSpc>
                <a:spcPct val="80000"/>
              </a:lnSpc>
              <a:buFontTx/>
              <a:buAutoNum type="arabicPlain" startAt="11"/>
            </a:pPr>
            <a:r>
              <a:rPr lang="en-US" altLang="en-US" sz="1400" dirty="0"/>
              <a:t>                              then head[H] &lt;-next-x</a:t>
            </a:r>
          </a:p>
          <a:p>
            <a:pPr marL="990600" lvl="1" indent="-533400">
              <a:lnSpc>
                <a:spcPct val="80000"/>
              </a:lnSpc>
              <a:buFontTx/>
              <a:buAutoNum type="arabicPlain" startAt="11"/>
            </a:pPr>
            <a:r>
              <a:rPr lang="en-US" altLang="en-US" sz="1400" dirty="0"/>
              <a:t>                        else  sibling[</a:t>
            </a:r>
            <a:r>
              <a:rPr lang="en-US" altLang="en-US" sz="1400" dirty="0" err="1"/>
              <a:t>prev</a:t>
            </a:r>
            <a:r>
              <a:rPr lang="en-US" altLang="en-US" sz="1400" dirty="0"/>
              <a:t>-x] &lt;- next-x</a:t>
            </a:r>
          </a:p>
          <a:p>
            <a:pPr marL="990600" lvl="1" indent="-533400">
              <a:lnSpc>
                <a:spcPct val="80000"/>
              </a:lnSpc>
              <a:buFontTx/>
              <a:buAutoNum type="arabicPlain" startAt="11"/>
            </a:pPr>
            <a:r>
              <a:rPr lang="en-US" altLang="en-US" sz="1400" dirty="0"/>
              <a:t>                       Binomial-Link(</a:t>
            </a:r>
            <a:r>
              <a:rPr lang="en-US" altLang="en-US" sz="1400" dirty="0" err="1"/>
              <a:t>x,next</a:t>
            </a:r>
            <a:r>
              <a:rPr lang="en-US" altLang="en-US" sz="1400" dirty="0"/>
              <a:t>-x)</a:t>
            </a:r>
          </a:p>
          <a:p>
            <a:pPr marL="990600" lvl="1" indent="-533400">
              <a:lnSpc>
                <a:spcPct val="80000"/>
              </a:lnSpc>
              <a:buFontTx/>
              <a:buAutoNum type="arabicPlain" startAt="11"/>
            </a:pPr>
            <a:r>
              <a:rPr lang="en-US" altLang="en-US" sz="1400" dirty="0"/>
              <a:t>                       x &lt;- next-x</a:t>
            </a:r>
          </a:p>
          <a:p>
            <a:pPr marL="990600" lvl="1" indent="-533400">
              <a:lnSpc>
                <a:spcPct val="80000"/>
              </a:lnSpc>
              <a:buFontTx/>
              <a:buAutoNum type="arabicPlain" startAt="11"/>
            </a:pPr>
            <a:r>
              <a:rPr lang="en-US" altLang="en-US" sz="1400" dirty="0"/>
              <a:t>        next-x &lt;- sibling[x] </a:t>
            </a:r>
          </a:p>
          <a:p>
            <a:pPr marL="990600" lvl="1" indent="-533400">
              <a:lnSpc>
                <a:spcPct val="80000"/>
              </a:lnSpc>
              <a:buFontTx/>
              <a:buAutoNum type="arabicPlain" startAt="11"/>
            </a:pPr>
            <a:r>
              <a:rPr lang="en-US" altLang="en-US" sz="1400" dirty="0"/>
              <a:t>return H                                    </a:t>
            </a:r>
          </a:p>
          <a:p>
            <a:endParaRPr lang="en-IN" dirty="0"/>
          </a:p>
        </p:txBody>
      </p:sp>
    </p:spTree>
    <p:extLst>
      <p:ext uri="{BB962C8B-B14F-4D97-AF65-F5344CB8AC3E}">
        <p14:creationId xmlns:p14="http://schemas.microsoft.com/office/powerpoint/2010/main" val="38889022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Union Two Binomial Heaps</a:t>
            </a:r>
            <a:endParaRPr lang="en-IN" dirty="0"/>
          </a:p>
        </p:txBody>
      </p:sp>
      <p:sp>
        <p:nvSpPr>
          <p:cNvPr id="3" name="Content Placeholder 2"/>
          <p:cNvSpPr>
            <a:spLocks noGrp="1"/>
          </p:cNvSpPr>
          <p:nvPr>
            <p:ph idx="1"/>
          </p:nvPr>
        </p:nvSpPr>
        <p:spPr>
          <a:xfrm>
            <a:off x="131178" y="861193"/>
            <a:ext cx="11929641" cy="3177407"/>
          </a:xfrm>
        </p:spPr>
        <p:txBody>
          <a:bodyPr/>
          <a:lstStyle/>
          <a:p>
            <a:pPr marL="0" indent="0">
              <a:buNone/>
            </a:pPr>
            <a:r>
              <a:rPr lang="en-US" altLang="en-US" dirty="0"/>
              <a:t>Pseudocode:</a:t>
            </a:r>
          </a:p>
          <a:p>
            <a:pPr marL="990600" lvl="1" indent="-533400">
              <a:buNone/>
            </a:pPr>
            <a:r>
              <a:rPr lang="en-US" altLang="en-US" sz="1800" dirty="0"/>
              <a:t>Binomial-Link(</a:t>
            </a:r>
            <a:r>
              <a:rPr lang="en-US" altLang="en-US" sz="1800" dirty="0" err="1"/>
              <a:t>y,z</a:t>
            </a:r>
            <a:r>
              <a:rPr lang="en-US" altLang="en-US" sz="1800" dirty="0"/>
              <a:t>)</a:t>
            </a:r>
          </a:p>
          <a:p>
            <a:pPr marL="990600" lvl="1" indent="-533400">
              <a:buNone/>
            </a:pPr>
            <a:r>
              <a:rPr lang="en-US" altLang="en-US" sz="1800" dirty="0"/>
              <a:t>1   p[y] &lt;- z</a:t>
            </a:r>
          </a:p>
          <a:p>
            <a:pPr marL="990600" lvl="1" indent="-533400">
              <a:buNone/>
            </a:pPr>
            <a:r>
              <a:rPr lang="en-US" altLang="en-US" sz="1800" dirty="0"/>
              <a:t>2   sibling[y] &lt;- child[z]</a:t>
            </a:r>
          </a:p>
          <a:p>
            <a:pPr marL="990600" lvl="1" indent="-533400">
              <a:buNone/>
            </a:pPr>
            <a:r>
              <a:rPr lang="en-US" altLang="en-US" sz="1800" dirty="0"/>
              <a:t>3   child[z] &lt;- y</a:t>
            </a:r>
          </a:p>
          <a:p>
            <a:pPr marL="990600" lvl="1" indent="-533400">
              <a:buFontTx/>
              <a:buAutoNum type="arabicPlain" startAt="4"/>
            </a:pPr>
            <a:r>
              <a:rPr lang="en-US" altLang="en-US" sz="1800" dirty="0"/>
              <a:t>degree[z] &lt;- degree[z] + 1</a:t>
            </a:r>
          </a:p>
          <a:p>
            <a:pPr marL="609600" indent="-609600"/>
            <a:endParaRPr lang="en-US" altLang="en-US" sz="2000" dirty="0"/>
          </a:p>
          <a:p>
            <a:pPr marL="609600" indent="-609600"/>
            <a:r>
              <a:rPr lang="en-US" altLang="en-US" sz="2000" dirty="0"/>
              <a:t>Example: link node 5 to node 1</a:t>
            </a:r>
          </a:p>
          <a:p>
            <a:pPr marL="0" indent="0">
              <a:buNone/>
            </a:pPr>
            <a:endParaRPr lang="en-IN" dirty="0"/>
          </a:p>
        </p:txBody>
      </p:sp>
      <p:sp>
        <p:nvSpPr>
          <p:cNvPr id="4" name="Oval 28"/>
          <p:cNvSpPr>
            <a:spLocks noChangeArrowheads="1"/>
          </p:cNvSpPr>
          <p:nvPr/>
        </p:nvSpPr>
        <p:spPr bwMode="auto">
          <a:xfrm>
            <a:off x="4038600" y="49530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5" name="Oval 29"/>
          <p:cNvSpPr>
            <a:spLocks noChangeArrowheads="1"/>
          </p:cNvSpPr>
          <p:nvPr/>
        </p:nvSpPr>
        <p:spPr bwMode="auto">
          <a:xfrm>
            <a:off x="2667000" y="41910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6" name="Oval 30"/>
          <p:cNvSpPr>
            <a:spLocks noChangeArrowheads="1"/>
          </p:cNvSpPr>
          <p:nvPr/>
        </p:nvSpPr>
        <p:spPr bwMode="auto">
          <a:xfrm>
            <a:off x="2667000" y="48006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7" name="Oval 37"/>
          <p:cNvSpPr>
            <a:spLocks noChangeArrowheads="1"/>
          </p:cNvSpPr>
          <p:nvPr/>
        </p:nvSpPr>
        <p:spPr bwMode="auto">
          <a:xfrm>
            <a:off x="4038600" y="55626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7</a:t>
            </a:r>
          </a:p>
        </p:txBody>
      </p:sp>
      <p:sp>
        <p:nvSpPr>
          <p:cNvPr id="8" name="AutoShape 41"/>
          <p:cNvSpPr>
            <a:spLocks noChangeArrowheads="1"/>
          </p:cNvSpPr>
          <p:nvPr/>
        </p:nvSpPr>
        <p:spPr bwMode="auto">
          <a:xfrm>
            <a:off x="3657600" y="4572000"/>
            <a:ext cx="304800" cy="76200"/>
          </a:xfrm>
          <a:prstGeom prst="rightArrow">
            <a:avLst>
              <a:gd name="adj1" fmla="val 50000"/>
              <a:gd name="adj2" fmla="val 100000"/>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 name="Oval 42"/>
          <p:cNvSpPr>
            <a:spLocks noChangeArrowheads="1"/>
          </p:cNvSpPr>
          <p:nvPr/>
        </p:nvSpPr>
        <p:spPr bwMode="auto">
          <a:xfrm>
            <a:off x="4648200" y="43434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10" name="Oval 43"/>
          <p:cNvSpPr>
            <a:spLocks noChangeArrowheads="1"/>
          </p:cNvSpPr>
          <p:nvPr/>
        </p:nvSpPr>
        <p:spPr bwMode="auto">
          <a:xfrm>
            <a:off x="4648200" y="49530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11" name="Oval 46"/>
          <p:cNvSpPr>
            <a:spLocks noChangeArrowheads="1"/>
          </p:cNvSpPr>
          <p:nvPr/>
        </p:nvSpPr>
        <p:spPr bwMode="auto">
          <a:xfrm>
            <a:off x="1828800" y="41910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5</a:t>
            </a:r>
          </a:p>
        </p:txBody>
      </p:sp>
      <p:sp>
        <p:nvSpPr>
          <p:cNvPr id="12" name="Oval 47"/>
          <p:cNvSpPr>
            <a:spLocks noChangeArrowheads="1"/>
          </p:cNvSpPr>
          <p:nvPr/>
        </p:nvSpPr>
        <p:spPr bwMode="auto">
          <a:xfrm>
            <a:off x="1828800" y="48006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7</a:t>
            </a:r>
          </a:p>
        </p:txBody>
      </p:sp>
      <p:sp>
        <p:nvSpPr>
          <p:cNvPr id="13" name="Line 49"/>
          <p:cNvSpPr>
            <a:spLocks noChangeShapeType="1"/>
          </p:cNvSpPr>
          <p:nvPr/>
        </p:nvSpPr>
        <p:spPr bwMode="auto">
          <a:xfrm>
            <a:off x="2743200" y="44958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4" name="Line 50"/>
          <p:cNvSpPr>
            <a:spLocks noChangeShapeType="1"/>
          </p:cNvSpPr>
          <p:nvPr/>
        </p:nvSpPr>
        <p:spPr bwMode="auto">
          <a:xfrm flipV="1">
            <a:off x="2895600" y="44958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5" name="Line 51"/>
          <p:cNvSpPr>
            <a:spLocks noChangeShapeType="1"/>
          </p:cNvSpPr>
          <p:nvPr/>
        </p:nvSpPr>
        <p:spPr bwMode="auto">
          <a:xfrm flipV="1">
            <a:off x="2057400" y="44958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6" name="Line 52"/>
          <p:cNvSpPr>
            <a:spLocks noChangeShapeType="1"/>
          </p:cNvSpPr>
          <p:nvPr/>
        </p:nvSpPr>
        <p:spPr bwMode="auto">
          <a:xfrm>
            <a:off x="1905000" y="44958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7" name="Line 53"/>
          <p:cNvSpPr>
            <a:spLocks noChangeShapeType="1"/>
          </p:cNvSpPr>
          <p:nvPr/>
        </p:nvSpPr>
        <p:spPr bwMode="auto">
          <a:xfrm flipV="1">
            <a:off x="4343400" y="4648200"/>
            <a:ext cx="3810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8" name="Line 54"/>
          <p:cNvSpPr>
            <a:spLocks noChangeShapeType="1"/>
          </p:cNvSpPr>
          <p:nvPr/>
        </p:nvSpPr>
        <p:spPr bwMode="auto">
          <a:xfrm flipH="1">
            <a:off x="4191000" y="4495800"/>
            <a:ext cx="4572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9" name="Line 55"/>
          <p:cNvSpPr>
            <a:spLocks noChangeShapeType="1"/>
          </p:cNvSpPr>
          <p:nvPr/>
        </p:nvSpPr>
        <p:spPr bwMode="auto">
          <a:xfrm flipV="1">
            <a:off x="4800600" y="46482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 name="Line 56"/>
          <p:cNvSpPr>
            <a:spLocks noChangeShapeType="1"/>
          </p:cNvSpPr>
          <p:nvPr/>
        </p:nvSpPr>
        <p:spPr bwMode="auto">
          <a:xfrm>
            <a:off x="4343400" y="51816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1" name="Line 57"/>
          <p:cNvSpPr>
            <a:spLocks noChangeShapeType="1"/>
          </p:cNvSpPr>
          <p:nvPr/>
        </p:nvSpPr>
        <p:spPr bwMode="auto">
          <a:xfrm flipV="1">
            <a:off x="4267200" y="52578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2" name="Line 58"/>
          <p:cNvSpPr>
            <a:spLocks noChangeShapeType="1"/>
          </p:cNvSpPr>
          <p:nvPr/>
        </p:nvSpPr>
        <p:spPr bwMode="auto">
          <a:xfrm>
            <a:off x="4114800" y="52578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3" name="AutoShape 59"/>
          <p:cNvSpPr>
            <a:spLocks noChangeArrowheads="1"/>
          </p:cNvSpPr>
          <p:nvPr/>
        </p:nvSpPr>
        <p:spPr bwMode="auto">
          <a:xfrm>
            <a:off x="533400" y="5181600"/>
            <a:ext cx="762000" cy="381000"/>
          </a:xfrm>
          <a:prstGeom prst="wedgeRectCallout">
            <a:avLst>
              <a:gd name="adj1" fmla="val 125000"/>
              <a:gd name="adj2" fmla="val -19541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child</a:t>
            </a:r>
          </a:p>
        </p:txBody>
      </p:sp>
      <p:sp>
        <p:nvSpPr>
          <p:cNvPr id="24" name="AutoShape 60"/>
          <p:cNvSpPr>
            <a:spLocks noChangeArrowheads="1"/>
          </p:cNvSpPr>
          <p:nvPr/>
        </p:nvSpPr>
        <p:spPr bwMode="auto">
          <a:xfrm>
            <a:off x="2209800" y="5638800"/>
            <a:ext cx="1066800" cy="381000"/>
          </a:xfrm>
          <a:prstGeom prst="wedgeRectCallout">
            <a:avLst>
              <a:gd name="adj1" fmla="val -59671"/>
              <a:gd name="adj2" fmla="val -307083"/>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parent</a:t>
            </a:r>
          </a:p>
        </p:txBody>
      </p:sp>
      <p:sp>
        <p:nvSpPr>
          <p:cNvPr id="25" name="AutoShape 61"/>
          <p:cNvSpPr>
            <a:spLocks noChangeArrowheads="1"/>
          </p:cNvSpPr>
          <p:nvPr/>
        </p:nvSpPr>
        <p:spPr bwMode="auto">
          <a:xfrm>
            <a:off x="5105400" y="5562600"/>
            <a:ext cx="1066800" cy="381000"/>
          </a:xfrm>
          <a:prstGeom prst="wedgeRectCallout">
            <a:avLst>
              <a:gd name="adj1" fmla="val -107736"/>
              <a:gd name="adj2" fmla="val -13625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sibling</a:t>
            </a:r>
          </a:p>
        </p:txBody>
      </p:sp>
    </p:spTree>
    <p:extLst>
      <p:ext uri="{BB962C8B-B14F-4D97-AF65-F5344CB8AC3E}">
        <p14:creationId xmlns:p14="http://schemas.microsoft.com/office/powerpoint/2010/main" val="28426212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Union Two Binomial Heaps</a:t>
            </a:r>
            <a:endParaRPr lang="en-IN" dirty="0"/>
          </a:p>
        </p:txBody>
      </p:sp>
      <p:sp>
        <p:nvSpPr>
          <p:cNvPr id="3" name="Content Placeholder 2"/>
          <p:cNvSpPr>
            <a:spLocks noGrp="1"/>
          </p:cNvSpPr>
          <p:nvPr>
            <p:ph idx="1"/>
          </p:nvPr>
        </p:nvSpPr>
        <p:spPr/>
        <p:txBody>
          <a:bodyPr/>
          <a:lstStyle/>
          <a:p>
            <a:r>
              <a:rPr lang="en-GB" altLang="en-US" sz="2000" dirty="0"/>
              <a:t>Binomial-Heap-Merge(H1,H2)</a:t>
            </a:r>
          </a:p>
          <a:p>
            <a:pPr lvl="1">
              <a:buNone/>
            </a:pPr>
            <a:r>
              <a:rPr lang="en-GB" altLang="en-US" sz="1800" dirty="0"/>
              <a:t>P </a:t>
            </a:r>
            <a:r>
              <a:rPr lang="en-GB" altLang="en-US" sz="1800" dirty="0">
                <a:sym typeface="Symbol" panose="05050102010706020507" pitchFamily="18" charset="2"/>
              </a:rPr>
              <a:t></a:t>
            </a:r>
            <a:r>
              <a:rPr lang="en-GB" altLang="en-US" sz="1800" dirty="0"/>
              <a:t> Head[H];</a:t>
            </a:r>
          </a:p>
          <a:p>
            <a:pPr lvl="1">
              <a:buNone/>
            </a:pPr>
            <a:r>
              <a:rPr lang="en-GB" altLang="en-US" sz="1800" dirty="0"/>
              <a:t>P1 </a:t>
            </a:r>
            <a:r>
              <a:rPr lang="en-GB" altLang="en-US" sz="1800" dirty="0">
                <a:sym typeface="Symbol" panose="05050102010706020507" pitchFamily="18" charset="2"/>
              </a:rPr>
              <a:t></a:t>
            </a:r>
            <a:r>
              <a:rPr lang="en-GB" altLang="en-US" sz="1800" dirty="0"/>
              <a:t> Head[H1];</a:t>
            </a:r>
          </a:p>
          <a:p>
            <a:pPr lvl="1">
              <a:buNone/>
            </a:pPr>
            <a:r>
              <a:rPr lang="en-GB" altLang="en-US" sz="1800" dirty="0"/>
              <a:t>P2 </a:t>
            </a:r>
            <a:r>
              <a:rPr lang="en-GB" altLang="en-US" sz="1800" dirty="0">
                <a:sym typeface="Symbol" panose="05050102010706020507" pitchFamily="18" charset="2"/>
              </a:rPr>
              <a:t></a:t>
            </a:r>
            <a:r>
              <a:rPr lang="en-GB" altLang="en-US" sz="1800" dirty="0"/>
              <a:t> Head[H2]</a:t>
            </a:r>
          </a:p>
          <a:p>
            <a:pPr lvl="1">
              <a:buNone/>
            </a:pPr>
            <a:r>
              <a:rPr lang="en-GB" altLang="en-US" sz="1800" dirty="0"/>
              <a:t>	</a:t>
            </a:r>
            <a:r>
              <a:rPr lang="en-GB" altLang="en-US" sz="1800" b="1" dirty="0"/>
              <a:t>while</a:t>
            </a:r>
            <a:r>
              <a:rPr lang="en-GB" altLang="en-US" sz="1800" dirty="0"/>
              <a:t> P1 </a:t>
            </a:r>
            <a:r>
              <a:rPr lang="en-GB" altLang="en-US" sz="1800" dirty="0">
                <a:sym typeface="Symbol" panose="05050102010706020507" pitchFamily="18" charset="2"/>
              </a:rPr>
              <a:t>≠ NIL</a:t>
            </a:r>
            <a:r>
              <a:rPr lang="en-GB" altLang="en-US" sz="1800" dirty="0"/>
              <a:t> </a:t>
            </a:r>
            <a:r>
              <a:rPr lang="en-GB" altLang="en-US" sz="1800" b="1" dirty="0"/>
              <a:t>OR  </a:t>
            </a:r>
            <a:r>
              <a:rPr lang="en-GB" altLang="en-US" sz="1800" dirty="0"/>
              <a:t>P2 </a:t>
            </a:r>
            <a:r>
              <a:rPr lang="en-GB" altLang="en-US" sz="1800" dirty="0">
                <a:sym typeface="Symbol" panose="05050102010706020507" pitchFamily="18" charset="2"/>
              </a:rPr>
              <a:t>≠</a:t>
            </a:r>
            <a:r>
              <a:rPr lang="en-GB" altLang="en-US" sz="1800" dirty="0"/>
              <a:t> NIL </a:t>
            </a:r>
            <a:r>
              <a:rPr lang="en-GB" altLang="en-US" sz="1800" b="1" dirty="0"/>
              <a:t>do</a:t>
            </a:r>
          </a:p>
          <a:p>
            <a:pPr lvl="1">
              <a:buNone/>
            </a:pPr>
            <a:r>
              <a:rPr lang="en-GB" altLang="en-US" sz="1800" dirty="0"/>
              <a:t>		</a:t>
            </a:r>
            <a:r>
              <a:rPr lang="en-GB" altLang="en-US" sz="1800" b="1" dirty="0"/>
              <a:t>if</a:t>
            </a:r>
            <a:r>
              <a:rPr lang="en-GB" altLang="en-US" sz="1800" dirty="0"/>
              <a:t> degree[P1] &lt; degree[P2] </a:t>
            </a:r>
            <a:r>
              <a:rPr lang="en-GB" altLang="en-US" sz="1800" b="1" dirty="0"/>
              <a:t>then</a:t>
            </a:r>
          </a:p>
          <a:p>
            <a:pPr lvl="1">
              <a:buNone/>
            </a:pPr>
            <a:r>
              <a:rPr lang="en-GB" altLang="en-US" sz="1800" dirty="0"/>
              <a:t>		        sibling [P]</a:t>
            </a:r>
            <a:r>
              <a:rPr lang="en-GB" altLang="en-US" sz="1800" dirty="0">
                <a:sym typeface="Symbol" panose="05050102010706020507" pitchFamily="18" charset="2"/>
              </a:rPr>
              <a:t></a:t>
            </a:r>
            <a:r>
              <a:rPr lang="en-GB" altLang="en-US" sz="1800" dirty="0"/>
              <a:t> P1;</a:t>
            </a:r>
          </a:p>
          <a:p>
            <a:pPr lvl="1">
              <a:buNone/>
            </a:pPr>
            <a:r>
              <a:rPr lang="en-GB" altLang="en-US" sz="1800" dirty="0"/>
              <a:t>		        P1</a:t>
            </a:r>
            <a:r>
              <a:rPr lang="en-GB" altLang="en-US" sz="1800" b="1" dirty="0"/>
              <a:t> </a:t>
            </a:r>
            <a:r>
              <a:rPr lang="en-GB" altLang="en-US" sz="1800" dirty="0">
                <a:sym typeface="Symbol" panose="05050102010706020507" pitchFamily="18" charset="2"/>
              </a:rPr>
              <a:t></a:t>
            </a:r>
            <a:r>
              <a:rPr lang="en-GB" altLang="en-US" sz="1800" dirty="0"/>
              <a:t> sibling[P1]</a:t>
            </a:r>
          </a:p>
          <a:p>
            <a:pPr lvl="1">
              <a:buNone/>
            </a:pPr>
            <a:r>
              <a:rPr lang="en-GB" altLang="en-US" sz="1800" dirty="0"/>
              <a:t>		        P&lt;-sibling[p]	</a:t>
            </a:r>
          </a:p>
          <a:p>
            <a:pPr lvl="1">
              <a:buNone/>
            </a:pPr>
            <a:r>
              <a:rPr lang="en-GB" altLang="en-US" sz="1800" dirty="0"/>
              <a:t>		</a:t>
            </a:r>
            <a:r>
              <a:rPr lang="en-GB" altLang="en-US" sz="1800" b="1" dirty="0"/>
              <a:t>else</a:t>
            </a:r>
          </a:p>
          <a:p>
            <a:pPr lvl="1">
              <a:buNone/>
            </a:pPr>
            <a:r>
              <a:rPr lang="en-GB" altLang="en-US" sz="1800" b="1" dirty="0"/>
              <a:t>		        </a:t>
            </a:r>
            <a:r>
              <a:rPr lang="en-GB" altLang="en-US" sz="1800" dirty="0"/>
              <a:t>sibling[P] </a:t>
            </a:r>
            <a:r>
              <a:rPr lang="en-GB" altLang="en-US" sz="1800" dirty="0">
                <a:sym typeface="Symbol" panose="05050102010706020507" pitchFamily="18" charset="2"/>
              </a:rPr>
              <a:t></a:t>
            </a:r>
            <a:r>
              <a:rPr lang="en-GB" altLang="en-US" sz="1800" dirty="0"/>
              <a:t> P2; </a:t>
            </a:r>
          </a:p>
          <a:p>
            <a:pPr lvl="1">
              <a:buNone/>
            </a:pPr>
            <a:r>
              <a:rPr lang="en-GB" altLang="en-US" sz="1800" dirty="0"/>
              <a:t>		         P2</a:t>
            </a:r>
            <a:r>
              <a:rPr lang="en-GB" altLang="en-US" sz="1800" b="1" dirty="0"/>
              <a:t> </a:t>
            </a:r>
            <a:r>
              <a:rPr lang="en-GB" altLang="en-US" sz="1800" dirty="0">
                <a:sym typeface="Symbol" panose="05050102010706020507" pitchFamily="18" charset="2"/>
              </a:rPr>
              <a:t></a:t>
            </a:r>
            <a:r>
              <a:rPr lang="en-GB" altLang="en-US" sz="1800" dirty="0"/>
              <a:t> sibling[P2]</a:t>
            </a:r>
          </a:p>
          <a:p>
            <a:pPr lvl="1">
              <a:buNone/>
            </a:pPr>
            <a:r>
              <a:rPr lang="en-GB" altLang="en-US" sz="1800" dirty="0"/>
              <a:t>		         P&lt;-sibling[p]</a:t>
            </a:r>
            <a:r>
              <a:rPr lang="en-GB" altLang="en-US" sz="1600" dirty="0"/>
              <a:t>	</a:t>
            </a:r>
          </a:p>
          <a:p>
            <a:pPr lvl="1">
              <a:buNone/>
            </a:pPr>
            <a:endParaRPr lang="en-US" altLang="en-US" sz="1600" dirty="0"/>
          </a:p>
          <a:p>
            <a:pPr lvl="1">
              <a:buNone/>
            </a:pPr>
            <a:endParaRPr lang="en-US" altLang="en-US" sz="1600" dirty="0"/>
          </a:p>
          <a:p>
            <a:r>
              <a:rPr lang="en-US" altLang="en-US" sz="1800" dirty="0"/>
              <a:t>Run time: The running time is O (log n)</a:t>
            </a:r>
          </a:p>
          <a:p>
            <a:r>
              <a:rPr lang="en-US" altLang="en-US" sz="1800" dirty="0"/>
              <a:t>The total number of combined roots is at most |_logH1_| + |_logH2_| +2. Binomial-Heap-Merge is O (log n) + the while loop is O (log n).  Thus, the total time is O(log n). </a:t>
            </a:r>
          </a:p>
        </p:txBody>
      </p:sp>
    </p:spTree>
    <p:extLst>
      <p:ext uri="{BB962C8B-B14F-4D97-AF65-F5344CB8AC3E}">
        <p14:creationId xmlns:p14="http://schemas.microsoft.com/office/powerpoint/2010/main" val="23117785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Insert New Node</a:t>
            </a:r>
            <a:endParaRPr lang="en-IN" dirty="0"/>
          </a:p>
        </p:txBody>
      </p:sp>
      <p:sp>
        <p:nvSpPr>
          <p:cNvPr id="3" name="Content Placeholder 2"/>
          <p:cNvSpPr>
            <a:spLocks noGrp="1"/>
          </p:cNvSpPr>
          <p:nvPr>
            <p:ph idx="1"/>
          </p:nvPr>
        </p:nvSpPr>
        <p:spPr/>
        <p:txBody>
          <a:bodyPr/>
          <a:lstStyle/>
          <a:p>
            <a:pPr marL="0" indent="0">
              <a:buNone/>
            </a:pPr>
            <a:r>
              <a:rPr lang="en-US" altLang="en-US" dirty="0"/>
              <a:t>Create a new heap H’ and set head[H’] to the new node.</a:t>
            </a:r>
          </a:p>
          <a:p>
            <a:pPr marL="0" indent="0">
              <a:buNone/>
            </a:pPr>
            <a:r>
              <a:rPr lang="en-US" altLang="en-US" dirty="0"/>
              <a:t>Union the new heap H’ with the existing heap H.</a:t>
            </a:r>
          </a:p>
          <a:p>
            <a:pPr marL="609600" indent="-609600"/>
            <a:endParaRPr lang="en-US" altLang="en-US" dirty="0"/>
          </a:p>
          <a:p>
            <a:pPr marL="0" indent="0">
              <a:buNone/>
            </a:pPr>
            <a:r>
              <a:rPr lang="en-US" altLang="en-US" dirty="0"/>
              <a:t>Pseudocode:</a:t>
            </a:r>
          </a:p>
          <a:p>
            <a:pPr marL="990600" lvl="1" indent="-533400">
              <a:buNone/>
            </a:pPr>
            <a:r>
              <a:rPr lang="en-US" altLang="en-US" b="1" dirty="0">
                <a:solidFill>
                  <a:srgbClr val="C00000"/>
                </a:solidFill>
              </a:rPr>
              <a:t>Binomial-Heap-Insert(</a:t>
            </a:r>
            <a:r>
              <a:rPr lang="en-US" altLang="en-US" b="1" dirty="0" err="1">
                <a:solidFill>
                  <a:srgbClr val="C00000"/>
                </a:solidFill>
              </a:rPr>
              <a:t>H,x</a:t>
            </a:r>
            <a:r>
              <a:rPr lang="en-US" altLang="en-US" b="1" dirty="0">
                <a:solidFill>
                  <a:srgbClr val="C00000"/>
                </a:solidFill>
              </a:rPr>
              <a:t>)</a:t>
            </a:r>
          </a:p>
          <a:p>
            <a:pPr marL="990600" lvl="1" indent="-533400">
              <a:buFontTx/>
              <a:buAutoNum type="arabicPlain"/>
            </a:pPr>
            <a:r>
              <a:rPr lang="en-US" altLang="en-US" dirty="0"/>
              <a:t>H’ &lt;- Make-Binomial-Heap()</a:t>
            </a:r>
          </a:p>
          <a:p>
            <a:pPr marL="990600" lvl="1" indent="-533400">
              <a:buFontTx/>
              <a:buAutoNum type="arabicPlain"/>
            </a:pPr>
            <a:r>
              <a:rPr lang="en-US" altLang="en-US" dirty="0"/>
              <a:t>p[x] &lt;- NIL</a:t>
            </a:r>
          </a:p>
          <a:p>
            <a:pPr marL="990600" lvl="1" indent="-533400">
              <a:buFontTx/>
              <a:buAutoNum type="arabicPlain"/>
            </a:pPr>
            <a:r>
              <a:rPr lang="en-US" altLang="en-US" dirty="0"/>
              <a:t>child[x] &lt;- NIL</a:t>
            </a:r>
          </a:p>
          <a:p>
            <a:pPr marL="990600" lvl="1" indent="-533400">
              <a:buFontTx/>
              <a:buAutoNum type="arabicPlain"/>
            </a:pPr>
            <a:r>
              <a:rPr lang="en-US" altLang="en-US" dirty="0"/>
              <a:t>sibling[x] &lt;- NIL</a:t>
            </a:r>
          </a:p>
          <a:p>
            <a:pPr marL="990600" lvl="1" indent="-533400">
              <a:buFontTx/>
              <a:buAutoNum type="arabicPlain"/>
            </a:pPr>
            <a:r>
              <a:rPr lang="en-US" altLang="en-US" dirty="0"/>
              <a:t>degree[x] &lt;- 0</a:t>
            </a:r>
          </a:p>
          <a:p>
            <a:pPr marL="990600" lvl="1" indent="-533400">
              <a:buFontTx/>
              <a:buAutoNum type="arabicPlain"/>
            </a:pPr>
            <a:r>
              <a:rPr lang="en-US" altLang="en-US" dirty="0"/>
              <a:t>head[H’] &lt;- x</a:t>
            </a:r>
          </a:p>
          <a:p>
            <a:pPr marL="990600" lvl="1" indent="-533400">
              <a:buFontTx/>
              <a:buAutoNum type="arabicPlain"/>
            </a:pPr>
            <a:r>
              <a:rPr lang="en-US" altLang="en-US" dirty="0"/>
              <a:t>H &lt;- Binomial-Heap-Union(H,H’)</a:t>
            </a:r>
          </a:p>
          <a:p>
            <a:pPr marL="0" indent="0">
              <a:buNone/>
            </a:pPr>
            <a:r>
              <a:rPr lang="en-US" altLang="en-US" dirty="0"/>
              <a:t>Run time: O(log n)</a:t>
            </a:r>
          </a:p>
          <a:p>
            <a:pPr marL="0" indent="0">
              <a:buNone/>
            </a:pPr>
            <a:endParaRPr lang="en-IN" dirty="0"/>
          </a:p>
        </p:txBody>
      </p:sp>
    </p:spTree>
    <p:extLst>
      <p:ext uri="{BB962C8B-B14F-4D97-AF65-F5344CB8AC3E}">
        <p14:creationId xmlns:p14="http://schemas.microsoft.com/office/powerpoint/2010/main" val="40322640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Insert New Node Example</a:t>
            </a:r>
            <a:endParaRPr lang="en-IN" dirty="0"/>
          </a:p>
        </p:txBody>
      </p:sp>
      <p:sp>
        <p:nvSpPr>
          <p:cNvPr id="4" name="Oval 4"/>
          <p:cNvSpPr>
            <a:spLocks noChangeArrowheads="1"/>
          </p:cNvSpPr>
          <p:nvPr/>
        </p:nvSpPr>
        <p:spPr bwMode="auto">
          <a:xfrm>
            <a:off x="3894786" y="226560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5" name="Oval 5"/>
          <p:cNvSpPr>
            <a:spLocks noChangeArrowheads="1"/>
          </p:cNvSpPr>
          <p:nvPr/>
        </p:nvSpPr>
        <p:spPr bwMode="auto">
          <a:xfrm>
            <a:off x="3894786" y="287520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6" name="Oval 6"/>
          <p:cNvSpPr>
            <a:spLocks noChangeArrowheads="1"/>
          </p:cNvSpPr>
          <p:nvPr/>
        </p:nvSpPr>
        <p:spPr bwMode="auto">
          <a:xfrm>
            <a:off x="3208986" y="287520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7" name="Oval 7"/>
          <p:cNvSpPr>
            <a:spLocks noChangeArrowheads="1"/>
          </p:cNvSpPr>
          <p:nvPr/>
        </p:nvSpPr>
        <p:spPr bwMode="auto">
          <a:xfrm>
            <a:off x="3208986" y="348480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8" name="Line 8"/>
          <p:cNvSpPr>
            <a:spLocks noChangeShapeType="1"/>
          </p:cNvSpPr>
          <p:nvPr/>
        </p:nvSpPr>
        <p:spPr bwMode="auto">
          <a:xfrm>
            <a:off x="3361386" y="3180008"/>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9" name="Line 9"/>
          <p:cNvSpPr>
            <a:spLocks noChangeShapeType="1"/>
          </p:cNvSpPr>
          <p:nvPr/>
        </p:nvSpPr>
        <p:spPr bwMode="auto">
          <a:xfrm>
            <a:off x="4047186" y="2570408"/>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0" name="Line 10"/>
          <p:cNvSpPr>
            <a:spLocks noChangeShapeType="1"/>
          </p:cNvSpPr>
          <p:nvPr/>
        </p:nvSpPr>
        <p:spPr bwMode="auto">
          <a:xfrm flipV="1">
            <a:off x="3437586" y="2494208"/>
            <a:ext cx="457200" cy="3810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1" name="Oval 12"/>
          <p:cNvSpPr>
            <a:spLocks noChangeArrowheads="1"/>
          </p:cNvSpPr>
          <p:nvPr/>
        </p:nvSpPr>
        <p:spPr bwMode="auto">
          <a:xfrm>
            <a:off x="6942786" y="218940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12" name="Text Box 13"/>
          <p:cNvSpPr txBox="1">
            <a:spLocks noChangeArrowheads="1"/>
          </p:cNvSpPr>
          <p:nvPr/>
        </p:nvSpPr>
        <p:spPr bwMode="auto">
          <a:xfrm>
            <a:off x="5571186" y="2189408"/>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a:t>
            </a:r>
          </a:p>
        </p:txBody>
      </p:sp>
      <p:sp>
        <p:nvSpPr>
          <p:cNvPr id="13" name="Line 14"/>
          <p:cNvSpPr>
            <a:spLocks noChangeShapeType="1"/>
          </p:cNvSpPr>
          <p:nvPr/>
        </p:nvSpPr>
        <p:spPr bwMode="auto">
          <a:xfrm>
            <a:off x="6180786" y="2341808"/>
            <a:ext cx="7620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4" name="Text Box 15"/>
          <p:cNvSpPr txBox="1">
            <a:spLocks noChangeArrowheads="1"/>
          </p:cNvSpPr>
          <p:nvPr/>
        </p:nvSpPr>
        <p:spPr bwMode="auto">
          <a:xfrm>
            <a:off x="2523186" y="2265608"/>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a:t>
            </a:r>
          </a:p>
        </p:txBody>
      </p:sp>
      <p:sp>
        <p:nvSpPr>
          <p:cNvPr id="15" name="Line 16"/>
          <p:cNvSpPr>
            <a:spLocks noChangeShapeType="1"/>
          </p:cNvSpPr>
          <p:nvPr/>
        </p:nvSpPr>
        <p:spPr bwMode="auto">
          <a:xfrm>
            <a:off x="3132786" y="2418008"/>
            <a:ext cx="7620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6" name="Oval 17"/>
          <p:cNvSpPr>
            <a:spLocks noChangeArrowheads="1"/>
          </p:cNvSpPr>
          <p:nvPr/>
        </p:nvSpPr>
        <p:spPr bwMode="auto">
          <a:xfrm>
            <a:off x="3132786" y="127500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17" name="Text Box 18"/>
          <p:cNvSpPr txBox="1">
            <a:spLocks noChangeArrowheads="1"/>
          </p:cNvSpPr>
          <p:nvPr/>
        </p:nvSpPr>
        <p:spPr bwMode="auto">
          <a:xfrm>
            <a:off x="1456386" y="1198808"/>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New node:</a:t>
            </a:r>
          </a:p>
        </p:txBody>
      </p:sp>
      <p:sp>
        <p:nvSpPr>
          <p:cNvPr id="18" name="Oval 19"/>
          <p:cNvSpPr>
            <a:spLocks noChangeArrowheads="1"/>
          </p:cNvSpPr>
          <p:nvPr/>
        </p:nvSpPr>
        <p:spPr bwMode="auto">
          <a:xfrm>
            <a:off x="6180786" y="417060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19" name="Oval 20"/>
          <p:cNvSpPr>
            <a:spLocks noChangeArrowheads="1"/>
          </p:cNvSpPr>
          <p:nvPr/>
        </p:nvSpPr>
        <p:spPr bwMode="auto">
          <a:xfrm>
            <a:off x="6180786" y="478020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20" name="Oval 21"/>
          <p:cNvSpPr>
            <a:spLocks noChangeArrowheads="1"/>
          </p:cNvSpPr>
          <p:nvPr/>
        </p:nvSpPr>
        <p:spPr bwMode="auto">
          <a:xfrm>
            <a:off x="5494986" y="478020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21" name="Oval 22"/>
          <p:cNvSpPr>
            <a:spLocks noChangeArrowheads="1"/>
          </p:cNvSpPr>
          <p:nvPr/>
        </p:nvSpPr>
        <p:spPr bwMode="auto">
          <a:xfrm>
            <a:off x="5494986" y="538980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22" name="Line 23"/>
          <p:cNvSpPr>
            <a:spLocks noChangeShapeType="1"/>
          </p:cNvSpPr>
          <p:nvPr/>
        </p:nvSpPr>
        <p:spPr bwMode="auto">
          <a:xfrm>
            <a:off x="5647386" y="5085008"/>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3" name="Line 24"/>
          <p:cNvSpPr>
            <a:spLocks noChangeShapeType="1"/>
          </p:cNvSpPr>
          <p:nvPr/>
        </p:nvSpPr>
        <p:spPr bwMode="auto">
          <a:xfrm>
            <a:off x="6333186" y="4475408"/>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4" name="Line 25"/>
          <p:cNvSpPr>
            <a:spLocks noChangeShapeType="1"/>
          </p:cNvSpPr>
          <p:nvPr/>
        </p:nvSpPr>
        <p:spPr bwMode="auto">
          <a:xfrm flipV="1">
            <a:off x="5723586" y="4399208"/>
            <a:ext cx="457200" cy="3810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5" name="Text Box 26"/>
          <p:cNvSpPr txBox="1">
            <a:spLocks noChangeArrowheads="1"/>
          </p:cNvSpPr>
          <p:nvPr/>
        </p:nvSpPr>
        <p:spPr bwMode="auto">
          <a:xfrm>
            <a:off x="3513786" y="4170608"/>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a:t>
            </a:r>
          </a:p>
        </p:txBody>
      </p:sp>
      <p:sp>
        <p:nvSpPr>
          <p:cNvPr id="26" name="Line 27"/>
          <p:cNvSpPr>
            <a:spLocks noChangeShapeType="1"/>
          </p:cNvSpPr>
          <p:nvPr/>
        </p:nvSpPr>
        <p:spPr bwMode="auto">
          <a:xfrm>
            <a:off x="5418786" y="4323008"/>
            <a:ext cx="7620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7" name="Oval 28"/>
          <p:cNvSpPr>
            <a:spLocks noChangeArrowheads="1"/>
          </p:cNvSpPr>
          <p:nvPr/>
        </p:nvSpPr>
        <p:spPr bwMode="auto">
          <a:xfrm>
            <a:off x="5037786" y="417060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28" name="Line 29"/>
          <p:cNvSpPr>
            <a:spLocks noChangeShapeType="1"/>
          </p:cNvSpPr>
          <p:nvPr/>
        </p:nvSpPr>
        <p:spPr bwMode="auto">
          <a:xfrm>
            <a:off x="4275786" y="4323008"/>
            <a:ext cx="7620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Tree>
    <p:extLst>
      <p:ext uri="{BB962C8B-B14F-4D97-AF65-F5344CB8AC3E}">
        <p14:creationId xmlns:p14="http://schemas.microsoft.com/office/powerpoint/2010/main" val="4569210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0E3AC-D90C-4F5A-BA61-BD771A8DD2AB}"/>
              </a:ext>
            </a:extLst>
          </p:cNvPr>
          <p:cNvSpPr>
            <a:spLocks noGrp="1"/>
          </p:cNvSpPr>
          <p:nvPr>
            <p:ph type="title"/>
          </p:nvPr>
        </p:nvSpPr>
        <p:spPr/>
        <p:txBody>
          <a:bodyPr/>
          <a:lstStyle/>
          <a:p>
            <a:r>
              <a:rPr lang="en-IN"/>
              <a:t>Insert 4, 6, 3, 11, 9, 5, 14, 10, 21, 7, 13, 20, 2</a:t>
            </a:r>
          </a:p>
        </p:txBody>
      </p:sp>
      <p:sp>
        <p:nvSpPr>
          <p:cNvPr id="3" name="Content Placeholder 2">
            <a:extLst>
              <a:ext uri="{FF2B5EF4-FFF2-40B4-BE49-F238E27FC236}">
                <a16:creationId xmlns:a16="http://schemas.microsoft.com/office/drawing/2014/main" id="{934A62B5-CA7D-4B1A-A6B2-605253311C7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2468493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Extract Node With Minimum Key</a:t>
            </a:r>
            <a:endParaRPr lang="en-IN" dirty="0"/>
          </a:p>
        </p:txBody>
      </p:sp>
      <p:sp>
        <p:nvSpPr>
          <p:cNvPr id="3" name="Content Placeholder 2"/>
          <p:cNvSpPr>
            <a:spLocks noGrp="1"/>
          </p:cNvSpPr>
          <p:nvPr>
            <p:ph idx="1"/>
          </p:nvPr>
        </p:nvSpPr>
        <p:spPr/>
        <p:txBody>
          <a:bodyPr/>
          <a:lstStyle/>
          <a:p>
            <a:r>
              <a:rPr lang="en-US" altLang="en-US" sz="2000" dirty="0"/>
              <a:t>This operation is started by finding and removing the node x with minimum key from the binomial heap H.  Create a new binomial heap H’ and set to the list of x’s children in the reverse order.  Unite H and H’ to get the resulting binomial heap.</a:t>
            </a:r>
          </a:p>
          <a:p>
            <a:r>
              <a:rPr lang="en-US" altLang="en-US" sz="2000" dirty="0"/>
              <a:t>Pseudocode</a:t>
            </a:r>
          </a:p>
          <a:p>
            <a:pPr>
              <a:buNone/>
            </a:pPr>
            <a:r>
              <a:rPr lang="en-US" altLang="en-US" sz="2000" dirty="0"/>
              <a:t>		</a:t>
            </a:r>
            <a:r>
              <a:rPr lang="en-US" altLang="en-US" sz="2000" b="1" dirty="0"/>
              <a:t>Binomial-Heap-Extract-Min(H)</a:t>
            </a:r>
          </a:p>
          <a:p>
            <a:pPr>
              <a:buNone/>
            </a:pPr>
            <a:r>
              <a:rPr lang="en-US" altLang="en-US" sz="2000" dirty="0"/>
              <a:t>		1   find the root x with the minimum key in the root list of H, </a:t>
            </a:r>
          </a:p>
          <a:p>
            <a:pPr>
              <a:buNone/>
            </a:pPr>
            <a:r>
              <a:rPr lang="en-US" altLang="en-US" sz="2000" dirty="0"/>
              <a:t>			and remove x from the root list of H.</a:t>
            </a:r>
          </a:p>
          <a:p>
            <a:pPr>
              <a:buNone/>
            </a:pPr>
            <a:r>
              <a:rPr lang="en-US" altLang="en-US" sz="2000" dirty="0"/>
              <a:t>		2   H’ &lt;- Make-Binomial-Heap()</a:t>
            </a:r>
          </a:p>
          <a:p>
            <a:pPr>
              <a:buNone/>
            </a:pPr>
            <a:r>
              <a:rPr lang="en-US" altLang="en-US" sz="2000" dirty="0"/>
              <a:t>		3   reverse the order of the linked list of x’s children,</a:t>
            </a:r>
          </a:p>
          <a:p>
            <a:pPr>
              <a:buNone/>
            </a:pPr>
            <a:r>
              <a:rPr lang="en-US" altLang="en-US" sz="2000" dirty="0"/>
              <a:t>			and set head[H’] to point to the head of the resulting list.</a:t>
            </a:r>
          </a:p>
          <a:p>
            <a:pPr>
              <a:buNone/>
            </a:pPr>
            <a:r>
              <a:rPr lang="en-US" altLang="en-US" sz="2000" dirty="0"/>
              <a:t>		4   H &lt;- Binomial-Heap-Union(H,H’)</a:t>
            </a:r>
          </a:p>
          <a:p>
            <a:pPr>
              <a:buNone/>
            </a:pPr>
            <a:r>
              <a:rPr lang="en-US" altLang="en-US" sz="2000" dirty="0"/>
              <a:t>		5   Return x</a:t>
            </a:r>
          </a:p>
          <a:p>
            <a:r>
              <a:rPr lang="en-US" altLang="en-US" sz="2000" dirty="0"/>
              <a:t>Run time: O(log n)</a:t>
            </a:r>
          </a:p>
          <a:p>
            <a:pPr marL="0" indent="0">
              <a:buNone/>
            </a:pPr>
            <a:endParaRPr lang="en-IN" dirty="0"/>
          </a:p>
        </p:txBody>
      </p:sp>
    </p:spTree>
    <p:extLst>
      <p:ext uri="{BB962C8B-B14F-4D97-AF65-F5344CB8AC3E}">
        <p14:creationId xmlns:p14="http://schemas.microsoft.com/office/powerpoint/2010/main" val="4274324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Extract Minimum Key Example</a:t>
            </a:r>
            <a:endParaRPr lang="en-IN" dirty="0"/>
          </a:p>
        </p:txBody>
      </p:sp>
      <p:sp>
        <p:nvSpPr>
          <p:cNvPr id="4" name="Oval 4"/>
          <p:cNvSpPr>
            <a:spLocks noChangeArrowheads="1"/>
          </p:cNvSpPr>
          <p:nvPr/>
        </p:nvSpPr>
        <p:spPr bwMode="auto">
          <a:xfrm>
            <a:off x="3064099" y="11870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5" name="Oval 5"/>
          <p:cNvSpPr>
            <a:spLocks noChangeArrowheads="1"/>
          </p:cNvSpPr>
          <p:nvPr/>
        </p:nvSpPr>
        <p:spPr bwMode="auto">
          <a:xfrm>
            <a:off x="4588099" y="1187000"/>
            <a:ext cx="304800" cy="304800"/>
          </a:xfrm>
          <a:prstGeom prst="ellips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1</a:t>
            </a:r>
          </a:p>
        </p:txBody>
      </p:sp>
      <p:sp>
        <p:nvSpPr>
          <p:cNvPr id="6" name="Oval 6"/>
          <p:cNvSpPr>
            <a:spLocks noChangeArrowheads="1"/>
          </p:cNvSpPr>
          <p:nvPr/>
        </p:nvSpPr>
        <p:spPr bwMode="auto">
          <a:xfrm>
            <a:off x="4588099" y="17966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7" name="Oval 7"/>
          <p:cNvSpPr>
            <a:spLocks noChangeArrowheads="1"/>
          </p:cNvSpPr>
          <p:nvPr/>
        </p:nvSpPr>
        <p:spPr bwMode="auto">
          <a:xfrm>
            <a:off x="3902299" y="17966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8" name="Oval 8"/>
          <p:cNvSpPr>
            <a:spLocks noChangeArrowheads="1"/>
          </p:cNvSpPr>
          <p:nvPr/>
        </p:nvSpPr>
        <p:spPr bwMode="auto">
          <a:xfrm>
            <a:off x="3902299" y="24062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9" name="Line 9"/>
          <p:cNvSpPr>
            <a:spLocks noChangeShapeType="1"/>
          </p:cNvSpPr>
          <p:nvPr/>
        </p:nvSpPr>
        <p:spPr bwMode="auto">
          <a:xfrm>
            <a:off x="4054699" y="2101400"/>
            <a:ext cx="0" cy="304800"/>
          </a:xfrm>
          <a:prstGeom prst="lin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0" name="Line 10"/>
          <p:cNvSpPr>
            <a:spLocks noChangeShapeType="1"/>
          </p:cNvSpPr>
          <p:nvPr/>
        </p:nvSpPr>
        <p:spPr bwMode="auto">
          <a:xfrm>
            <a:off x="4740499" y="1491800"/>
            <a:ext cx="0" cy="304800"/>
          </a:xfrm>
          <a:prstGeom prst="lin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1" name="Line 11"/>
          <p:cNvSpPr>
            <a:spLocks noChangeShapeType="1"/>
          </p:cNvSpPr>
          <p:nvPr/>
        </p:nvSpPr>
        <p:spPr bwMode="auto">
          <a:xfrm flipV="1">
            <a:off x="4130899" y="1415600"/>
            <a:ext cx="457200" cy="381000"/>
          </a:xfrm>
          <a:prstGeom prst="lin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2" name="Line 12"/>
          <p:cNvSpPr>
            <a:spLocks noChangeShapeType="1"/>
          </p:cNvSpPr>
          <p:nvPr/>
        </p:nvSpPr>
        <p:spPr bwMode="auto">
          <a:xfrm>
            <a:off x="3368899" y="1339400"/>
            <a:ext cx="1219200" cy="0"/>
          </a:xfrm>
          <a:prstGeom prst="line">
            <a:avLst/>
          </a:prstGeom>
          <a:ln w="28575">
            <a:headEnd/>
            <a:tailEnd type="triangle" w="med" len="me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3" name="Text Box 13"/>
          <p:cNvSpPr txBox="1">
            <a:spLocks noChangeArrowheads="1"/>
          </p:cNvSpPr>
          <p:nvPr/>
        </p:nvSpPr>
        <p:spPr bwMode="auto">
          <a:xfrm>
            <a:off x="1670498" y="1202081"/>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dirty="0"/>
              <a:t>head[H]</a:t>
            </a:r>
          </a:p>
        </p:txBody>
      </p:sp>
      <p:sp>
        <p:nvSpPr>
          <p:cNvPr id="14" name="Line 14"/>
          <p:cNvSpPr>
            <a:spLocks noChangeShapeType="1"/>
          </p:cNvSpPr>
          <p:nvPr/>
        </p:nvSpPr>
        <p:spPr bwMode="auto">
          <a:xfrm>
            <a:off x="2302099" y="1339400"/>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5" name="Oval 16"/>
          <p:cNvSpPr>
            <a:spLocks noChangeArrowheads="1"/>
          </p:cNvSpPr>
          <p:nvPr/>
        </p:nvSpPr>
        <p:spPr bwMode="auto">
          <a:xfrm>
            <a:off x="3064099" y="17966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7</a:t>
            </a:r>
          </a:p>
        </p:txBody>
      </p:sp>
      <p:sp>
        <p:nvSpPr>
          <p:cNvPr id="16" name="Oval 17"/>
          <p:cNvSpPr>
            <a:spLocks noChangeArrowheads="1"/>
          </p:cNvSpPr>
          <p:nvPr/>
        </p:nvSpPr>
        <p:spPr bwMode="auto">
          <a:xfrm>
            <a:off x="6950299" y="12632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17" name="Oval 18"/>
          <p:cNvSpPr>
            <a:spLocks noChangeArrowheads="1"/>
          </p:cNvSpPr>
          <p:nvPr/>
        </p:nvSpPr>
        <p:spPr bwMode="auto">
          <a:xfrm>
            <a:off x="6950299" y="18728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18" name="Oval 19"/>
          <p:cNvSpPr>
            <a:spLocks noChangeArrowheads="1"/>
          </p:cNvSpPr>
          <p:nvPr/>
        </p:nvSpPr>
        <p:spPr bwMode="auto">
          <a:xfrm>
            <a:off x="6264499" y="18728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19" name="Oval 20"/>
          <p:cNvSpPr>
            <a:spLocks noChangeArrowheads="1"/>
          </p:cNvSpPr>
          <p:nvPr/>
        </p:nvSpPr>
        <p:spPr bwMode="auto">
          <a:xfrm>
            <a:off x="6264499" y="24824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20" name="Line 21"/>
          <p:cNvSpPr>
            <a:spLocks noChangeShapeType="1"/>
          </p:cNvSpPr>
          <p:nvPr/>
        </p:nvSpPr>
        <p:spPr bwMode="auto">
          <a:xfrm>
            <a:off x="6416899" y="2177600"/>
            <a:ext cx="0" cy="304800"/>
          </a:xfrm>
          <a:prstGeom prst="lin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1" name="Line 22"/>
          <p:cNvSpPr>
            <a:spLocks noChangeShapeType="1"/>
          </p:cNvSpPr>
          <p:nvPr/>
        </p:nvSpPr>
        <p:spPr bwMode="auto">
          <a:xfrm>
            <a:off x="7102699" y="1568000"/>
            <a:ext cx="0" cy="304800"/>
          </a:xfrm>
          <a:prstGeom prst="lin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2" name="Line 23"/>
          <p:cNvSpPr>
            <a:spLocks noChangeShapeType="1"/>
          </p:cNvSpPr>
          <p:nvPr/>
        </p:nvSpPr>
        <p:spPr bwMode="auto">
          <a:xfrm flipV="1">
            <a:off x="6493099" y="1491800"/>
            <a:ext cx="457200" cy="381000"/>
          </a:xfrm>
          <a:prstGeom prst="lin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3" name="Oval 24"/>
          <p:cNvSpPr>
            <a:spLocks noChangeArrowheads="1"/>
          </p:cNvSpPr>
          <p:nvPr/>
        </p:nvSpPr>
        <p:spPr bwMode="auto">
          <a:xfrm>
            <a:off x="5654899" y="19490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3</a:t>
            </a:r>
          </a:p>
        </p:txBody>
      </p:sp>
      <p:sp>
        <p:nvSpPr>
          <p:cNvPr id="24" name="Oval 25"/>
          <p:cNvSpPr>
            <a:spLocks noChangeArrowheads="1"/>
          </p:cNvSpPr>
          <p:nvPr/>
        </p:nvSpPr>
        <p:spPr bwMode="auto">
          <a:xfrm>
            <a:off x="5654899" y="25586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25" name="Oval 26"/>
          <p:cNvSpPr>
            <a:spLocks noChangeArrowheads="1"/>
          </p:cNvSpPr>
          <p:nvPr/>
        </p:nvSpPr>
        <p:spPr bwMode="auto">
          <a:xfrm>
            <a:off x="4969099" y="25586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26" name="Oval 27"/>
          <p:cNvSpPr>
            <a:spLocks noChangeArrowheads="1"/>
          </p:cNvSpPr>
          <p:nvPr/>
        </p:nvSpPr>
        <p:spPr bwMode="auto">
          <a:xfrm>
            <a:off x="4969099" y="3168200"/>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27" name="Line 28"/>
          <p:cNvSpPr>
            <a:spLocks noChangeShapeType="1"/>
          </p:cNvSpPr>
          <p:nvPr/>
        </p:nvSpPr>
        <p:spPr bwMode="auto">
          <a:xfrm>
            <a:off x="5121499" y="2863400"/>
            <a:ext cx="0" cy="304800"/>
          </a:xfrm>
          <a:prstGeom prst="lin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8" name="Line 29"/>
          <p:cNvSpPr>
            <a:spLocks noChangeShapeType="1"/>
          </p:cNvSpPr>
          <p:nvPr/>
        </p:nvSpPr>
        <p:spPr bwMode="auto">
          <a:xfrm>
            <a:off x="5807299" y="2253800"/>
            <a:ext cx="0" cy="304800"/>
          </a:xfrm>
          <a:prstGeom prst="lin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9" name="Line 30"/>
          <p:cNvSpPr>
            <a:spLocks noChangeShapeType="1"/>
          </p:cNvSpPr>
          <p:nvPr/>
        </p:nvSpPr>
        <p:spPr bwMode="auto">
          <a:xfrm flipV="1">
            <a:off x="5197699" y="2177600"/>
            <a:ext cx="457200" cy="381000"/>
          </a:xfrm>
          <a:prstGeom prst="lin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30" name="Line 31"/>
          <p:cNvSpPr>
            <a:spLocks noChangeShapeType="1"/>
          </p:cNvSpPr>
          <p:nvPr/>
        </p:nvSpPr>
        <p:spPr bwMode="auto">
          <a:xfrm flipV="1">
            <a:off x="5883499" y="1415600"/>
            <a:ext cx="1066800" cy="533400"/>
          </a:xfrm>
          <a:prstGeom prst="lin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31" name="Line 32"/>
          <p:cNvSpPr>
            <a:spLocks noChangeShapeType="1"/>
          </p:cNvSpPr>
          <p:nvPr/>
        </p:nvSpPr>
        <p:spPr bwMode="auto">
          <a:xfrm>
            <a:off x="4892899" y="1339400"/>
            <a:ext cx="2057400" cy="0"/>
          </a:xfrm>
          <a:prstGeom prst="line">
            <a:avLst/>
          </a:prstGeom>
          <a:ln w="28575">
            <a:headEnd/>
            <a:tailEnd type="triangle" w="med" len="me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32" name="Oval 33"/>
          <p:cNvSpPr>
            <a:spLocks noChangeArrowheads="1"/>
          </p:cNvSpPr>
          <p:nvPr/>
        </p:nvSpPr>
        <p:spPr bwMode="auto">
          <a:xfrm>
            <a:off x="3140299" y="398493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33" name="Oval 34"/>
          <p:cNvSpPr>
            <a:spLocks noChangeArrowheads="1"/>
          </p:cNvSpPr>
          <p:nvPr/>
        </p:nvSpPr>
        <p:spPr bwMode="auto">
          <a:xfrm>
            <a:off x="8093299" y="3984938"/>
            <a:ext cx="304800" cy="304800"/>
          </a:xfrm>
          <a:prstGeom prst="ellipse">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1</a:t>
            </a:r>
          </a:p>
        </p:txBody>
      </p:sp>
      <p:sp>
        <p:nvSpPr>
          <p:cNvPr id="34" name="Oval 35"/>
          <p:cNvSpPr>
            <a:spLocks noChangeArrowheads="1"/>
          </p:cNvSpPr>
          <p:nvPr/>
        </p:nvSpPr>
        <p:spPr bwMode="auto">
          <a:xfrm>
            <a:off x="8093299" y="459453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35" name="Oval 36"/>
          <p:cNvSpPr>
            <a:spLocks noChangeArrowheads="1"/>
          </p:cNvSpPr>
          <p:nvPr/>
        </p:nvSpPr>
        <p:spPr bwMode="auto">
          <a:xfrm>
            <a:off x="7407499" y="459453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36" name="Oval 37"/>
          <p:cNvSpPr>
            <a:spLocks noChangeArrowheads="1"/>
          </p:cNvSpPr>
          <p:nvPr/>
        </p:nvSpPr>
        <p:spPr bwMode="auto">
          <a:xfrm>
            <a:off x="7407499" y="520413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37" name="Line 38"/>
          <p:cNvSpPr>
            <a:spLocks noChangeShapeType="1"/>
          </p:cNvSpPr>
          <p:nvPr/>
        </p:nvSpPr>
        <p:spPr bwMode="auto">
          <a:xfrm>
            <a:off x="7559899" y="4899338"/>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38" name="Line 39"/>
          <p:cNvSpPr>
            <a:spLocks noChangeShapeType="1"/>
          </p:cNvSpPr>
          <p:nvPr/>
        </p:nvSpPr>
        <p:spPr bwMode="auto">
          <a:xfrm>
            <a:off x="8245699" y="4289738"/>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39" name="Line 40"/>
          <p:cNvSpPr>
            <a:spLocks noChangeShapeType="1"/>
          </p:cNvSpPr>
          <p:nvPr/>
        </p:nvSpPr>
        <p:spPr bwMode="auto">
          <a:xfrm flipV="1">
            <a:off x="7636099" y="4213538"/>
            <a:ext cx="457200" cy="3810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40" name="Line 41"/>
          <p:cNvSpPr>
            <a:spLocks noChangeShapeType="1"/>
          </p:cNvSpPr>
          <p:nvPr/>
        </p:nvSpPr>
        <p:spPr bwMode="auto">
          <a:xfrm>
            <a:off x="3445099" y="4137338"/>
            <a:ext cx="16002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41" name="Text Box 42"/>
          <p:cNvSpPr txBox="1">
            <a:spLocks noChangeArrowheads="1"/>
          </p:cNvSpPr>
          <p:nvPr/>
        </p:nvSpPr>
        <p:spPr bwMode="auto">
          <a:xfrm>
            <a:off x="1768699" y="3984938"/>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a:t>
            </a:r>
          </a:p>
        </p:txBody>
      </p:sp>
      <p:sp>
        <p:nvSpPr>
          <p:cNvPr id="42" name="Line 43"/>
          <p:cNvSpPr>
            <a:spLocks noChangeShapeType="1"/>
          </p:cNvSpPr>
          <p:nvPr/>
        </p:nvSpPr>
        <p:spPr bwMode="auto">
          <a:xfrm>
            <a:off x="2378299" y="4137338"/>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3" name="Oval 44"/>
          <p:cNvSpPr>
            <a:spLocks noChangeArrowheads="1"/>
          </p:cNvSpPr>
          <p:nvPr/>
        </p:nvSpPr>
        <p:spPr bwMode="auto">
          <a:xfrm>
            <a:off x="3140299" y="459453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7</a:t>
            </a:r>
          </a:p>
        </p:txBody>
      </p:sp>
      <p:sp>
        <p:nvSpPr>
          <p:cNvPr id="44" name="Oval 45"/>
          <p:cNvSpPr>
            <a:spLocks noChangeArrowheads="1"/>
          </p:cNvSpPr>
          <p:nvPr/>
        </p:nvSpPr>
        <p:spPr bwMode="auto">
          <a:xfrm>
            <a:off x="5045299" y="406113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45" name="Oval 46"/>
          <p:cNvSpPr>
            <a:spLocks noChangeArrowheads="1"/>
          </p:cNvSpPr>
          <p:nvPr/>
        </p:nvSpPr>
        <p:spPr bwMode="auto">
          <a:xfrm>
            <a:off x="5045299" y="467073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46" name="Oval 47"/>
          <p:cNvSpPr>
            <a:spLocks noChangeArrowheads="1"/>
          </p:cNvSpPr>
          <p:nvPr/>
        </p:nvSpPr>
        <p:spPr bwMode="auto">
          <a:xfrm>
            <a:off x="4359499" y="467073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47" name="Oval 48"/>
          <p:cNvSpPr>
            <a:spLocks noChangeArrowheads="1"/>
          </p:cNvSpPr>
          <p:nvPr/>
        </p:nvSpPr>
        <p:spPr bwMode="auto">
          <a:xfrm>
            <a:off x="4359499" y="528033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48" name="Line 49"/>
          <p:cNvSpPr>
            <a:spLocks noChangeShapeType="1"/>
          </p:cNvSpPr>
          <p:nvPr/>
        </p:nvSpPr>
        <p:spPr bwMode="auto">
          <a:xfrm>
            <a:off x="4511899" y="4975538"/>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49" name="Line 50"/>
          <p:cNvSpPr>
            <a:spLocks noChangeShapeType="1"/>
          </p:cNvSpPr>
          <p:nvPr/>
        </p:nvSpPr>
        <p:spPr bwMode="auto">
          <a:xfrm>
            <a:off x="5197699" y="4365938"/>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50" name="Line 51"/>
          <p:cNvSpPr>
            <a:spLocks noChangeShapeType="1"/>
          </p:cNvSpPr>
          <p:nvPr/>
        </p:nvSpPr>
        <p:spPr bwMode="auto">
          <a:xfrm flipV="1">
            <a:off x="4588099" y="4289738"/>
            <a:ext cx="457200" cy="3810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51" name="Oval 52"/>
          <p:cNvSpPr>
            <a:spLocks noChangeArrowheads="1"/>
          </p:cNvSpPr>
          <p:nvPr/>
        </p:nvSpPr>
        <p:spPr bwMode="auto">
          <a:xfrm>
            <a:off x="3749899" y="474693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3</a:t>
            </a:r>
          </a:p>
        </p:txBody>
      </p:sp>
      <p:sp>
        <p:nvSpPr>
          <p:cNvPr id="52" name="Oval 53"/>
          <p:cNvSpPr>
            <a:spLocks noChangeArrowheads="1"/>
          </p:cNvSpPr>
          <p:nvPr/>
        </p:nvSpPr>
        <p:spPr bwMode="auto">
          <a:xfrm>
            <a:off x="3749899" y="535653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53" name="Oval 54"/>
          <p:cNvSpPr>
            <a:spLocks noChangeArrowheads="1"/>
          </p:cNvSpPr>
          <p:nvPr/>
        </p:nvSpPr>
        <p:spPr bwMode="auto">
          <a:xfrm>
            <a:off x="3064099" y="535653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54" name="Oval 55"/>
          <p:cNvSpPr>
            <a:spLocks noChangeArrowheads="1"/>
          </p:cNvSpPr>
          <p:nvPr/>
        </p:nvSpPr>
        <p:spPr bwMode="auto">
          <a:xfrm>
            <a:off x="3064099" y="5966138"/>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55" name="Line 56"/>
          <p:cNvSpPr>
            <a:spLocks noChangeShapeType="1"/>
          </p:cNvSpPr>
          <p:nvPr/>
        </p:nvSpPr>
        <p:spPr bwMode="auto">
          <a:xfrm>
            <a:off x="3216499" y="5661338"/>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56" name="Line 57"/>
          <p:cNvSpPr>
            <a:spLocks noChangeShapeType="1"/>
          </p:cNvSpPr>
          <p:nvPr/>
        </p:nvSpPr>
        <p:spPr bwMode="auto">
          <a:xfrm>
            <a:off x="3902299" y="5051738"/>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57" name="Line 58"/>
          <p:cNvSpPr>
            <a:spLocks noChangeShapeType="1"/>
          </p:cNvSpPr>
          <p:nvPr/>
        </p:nvSpPr>
        <p:spPr bwMode="auto">
          <a:xfrm flipV="1">
            <a:off x="3292699" y="4975538"/>
            <a:ext cx="457200" cy="3810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58" name="Line 59"/>
          <p:cNvSpPr>
            <a:spLocks noChangeShapeType="1"/>
          </p:cNvSpPr>
          <p:nvPr/>
        </p:nvSpPr>
        <p:spPr bwMode="auto">
          <a:xfrm flipV="1">
            <a:off x="3978499" y="4213538"/>
            <a:ext cx="1066800" cy="5334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59" name="Line 61"/>
          <p:cNvSpPr>
            <a:spLocks noChangeShapeType="1"/>
          </p:cNvSpPr>
          <p:nvPr/>
        </p:nvSpPr>
        <p:spPr bwMode="auto">
          <a:xfrm>
            <a:off x="3292699" y="4289738"/>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60" name="Line 62"/>
          <p:cNvSpPr>
            <a:spLocks noChangeShapeType="1"/>
          </p:cNvSpPr>
          <p:nvPr/>
        </p:nvSpPr>
        <p:spPr bwMode="auto">
          <a:xfrm>
            <a:off x="3216499" y="1491800"/>
            <a:ext cx="0" cy="304800"/>
          </a:xfrm>
          <a:prstGeom prst="lin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Tree>
    <p:extLst>
      <p:ext uri="{BB962C8B-B14F-4D97-AF65-F5344CB8AC3E}">
        <p14:creationId xmlns:p14="http://schemas.microsoft.com/office/powerpoint/2010/main" val="3294021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Extract Minimum Key Example</a:t>
            </a:r>
            <a:endParaRPr lang="en-IN" dirty="0"/>
          </a:p>
        </p:txBody>
      </p:sp>
      <p:sp>
        <p:nvSpPr>
          <p:cNvPr id="4" name="Oval 4"/>
          <p:cNvSpPr>
            <a:spLocks noChangeArrowheads="1"/>
          </p:cNvSpPr>
          <p:nvPr/>
        </p:nvSpPr>
        <p:spPr bwMode="auto">
          <a:xfrm>
            <a:off x="2695977" y="1318297"/>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5" name="Oval 6"/>
          <p:cNvSpPr>
            <a:spLocks noChangeArrowheads="1"/>
          </p:cNvSpPr>
          <p:nvPr/>
        </p:nvSpPr>
        <p:spPr bwMode="auto">
          <a:xfrm>
            <a:off x="7191777" y="1350853"/>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6" name="Oval 7"/>
          <p:cNvSpPr>
            <a:spLocks noChangeArrowheads="1"/>
          </p:cNvSpPr>
          <p:nvPr/>
        </p:nvSpPr>
        <p:spPr bwMode="auto">
          <a:xfrm>
            <a:off x="8029977" y="1350853"/>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7" name="Oval 8"/>
          <p:cNvSpPr>
            <a:spLocks noChangeArrowheads="1"/>
          </p:cNvSpPr>
          <p:nvPr/>
        </p:nvSpPr>
        <p:spPr bwMode="auto">
          <a:xfrm>
            <a:off x="8029977" y="1960453"/>
            <a:ext cx="304800" cy="304800"/>
          </a:xfrm>
          <a:prstGeom prst="ellips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8" name="Line 9"/>
          <p:cNvSpPr>
            <a:spLocks noChangeShapeType="1"/>
          </p:cNvSpPr>
          <p:nvPr/>
        </p:nvSpPr>
        <p:spPr bwMode="auto">
          <a:xfrm>
            <a:off x="8182377" y="1655653"/>
            <a:ext cx="0" cy="304800"/>
          </a:xfrm>
          <a:prstGeom prst="line">
            <a:avLst/>
          </a:prstGeom>
          <a:ln w="28575">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9" name="Line 12"/>
          <p:cNvSpPr>
            <a:spLocks noChangeShapeType="1"/>
          </p:cNvSpPr>
          <p:nvPr/>
        </p:nvSpPr>
        <p:spPr bwMode="auto">
          <a:xfrm>
            <a:off x="3000777" y="1470697"/>
            <a:ext cx="16002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0" name="Text Box 13"/>
          <p:cNvSpPr txBox="1">
            <a:spLocks noChangeArrowheads="1"/>
          </p:cNvSpPr>
          <p:nvPr/>
        </p:nvSpPr>
        <p:spPr bwMode="auto">
          <a:xfrm>
            <a:off x="1324377" y="1318297"/>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a:t>
            </a:r>
          </a:p>
        </p:txBody>
      </p:sp>
      <p:sp>
        <p:nvSpPr>
          <p:cNvPr id="11" name="Line 14"/>
          <p:cNvSpPr>
            <a:spLocks noChangeShapeType="1"/>
          </p:cNvSpPr>
          <p:nvPr/>
        </p:nvSpPr>
        <p:spPr bwMode="auto">
          <a:xfrm>
            <a:off x="1933977" y="1470697"/>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2" name="Oval 15"/>
          <p:cNvSpPr>
            <a:spLocks noChangeArrowheads="1"/>
          </p:cNvSpPr>
          <p:nvPr/>
        </p:nvSpPr>
        <p:spPr bwMode="auto">
          <a:xfrm>
            <a:off x="2695977" y="1927897"/>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7</a:t>
            </a:r>
          </a:p>
        </p:txBody>
      </p:sp>
      <p:sp>
        <p:nvSpPr>
          <p:cNvPr id="13" name="Oval 16"/>
          <p:cNvSpPr>
            <a:spLocks noChangeArrowheads="1"/>
          </p:cNvSpPr>
          <p:nvPr/>
        </p:nvSpPr>
        <p:spPr bwMode="auto">
          <a:xfrm>
            <a:off x="4600977" y="1394497"/>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14" name="Oval 17"/>
          <p:cNvSpPr>
            <a:spLocks noChangeArrowheads="1"/>
          </p:cNvSpPr>
          <p:nvPr/>
        </p:nvSpPr>
        <p:spPr bwMode="auto">
          <a:xfrm>
            <a:off x="4600977" y="2004097"/>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15" name="Oval 18"/>
          <p:cNvSpPr>
            <a:spLocks noChangeArrowheads="1"/>
          </p:cNvSpPr>
          <p:nvPr/>
        </p:nvSpPr>
        <p:spPr bwMode="auto">
          <a:xfrm>
            <a:off x="3915177" y="2004097"/>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16" name="Oval 19"/>
          <p:cNvSpPr>
            <a:spLocks noChangeArrowheads="1"/>
          </p:cNvSpPr>
          <p:nvPr/>
        </p:nvSpPr>
        <p:spPr bwMode="auto">
          <a:xfrm>
            <a:off x="3915177" y="2613697"/>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17" name="Line 20"/>
          <p:cNvSpPr>
            <a:spLocks noChangeShapeType="1"/>
          </p:cNvSpPr>
          <p:nvPr/>
        </p:nvSpPr>
        <p:spPr bwMode="auto">
          <a:xfrm>
            <a:off x="4067577" y="2308897"/>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8" name="Line 21"/>
          <p:cNvSpPr>
            <a:spLocks noChangeShapeType="1"/>
          </p:cNvSpPr>
          <p:nvPr/>
        </p:nvSpPr>
        <p:spPr bwMode="auto">
          <a:xfrm>
            <a:off x="4753377" y="1699297"/>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19" name="Line 22"/>
          <p:cNvSpPr>
            <a:spLocks noChangeShapeType="1"/>
          </p:cNvSpPr>
          <p:nvPr/>
        </p:nvSpPr>
        <p:spPr bwMode="auto">
          <a:xfrm flipV="1">
            <a:off x="4143777" y="1623097"/>
            <a:ext cx="457200" cy="3810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0" name="Oval 23"/>
          <p:cNvSpPr>
            <a:spLocks noChangeArrowheads="1"/>
          </p:cNvSpPr>
          <p:nvPr/>
        </p:nvSpPr>
        <p:spPr bwMode="auto">
          <a:xfrm>
            <a:off x="3305577" y="2080297"/>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21" name="Oval 24"/>
          <p:cNvSpPr>
            <a:spLocks noChangeArrowheads="1"/>
          </p:cNvSpPr>
          <p:nvPr/>
        </p:nvSpPr>
        <p:spPr bwMode="auto">
          <a:xfrm>
            <a:off x="3305577" y="2689897"/>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22" name="Oval 25"/>
          <p:cNvSpPr>
            <a:spLocks noChangeArrowheads="1"/>
          </p:cNvSpPr>
          <p:nvPr/>
        </p:nvSpPr>
        <p:spPr bwMode="auto">
          <a:xfrm>
            <a:off x="2619777" y="2689897"/>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23" name="Oval 26"/>
          <p:cNvSpPr>
            <a:spLocks noChangeArrowheads="1"/>
          </p:cNvSpPr>
          <p:nvPr/>
        </p:nvSpPr>
        <p:spPr bwMode="auto">
          <a:xfrm>
            <a:off x="2619777" y="3299497"/>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24" name="Line 27"/>
          <p:cNvSpPr>
            <a:spLocks noChangeShapeType="1"/>
          </p:cNvSpPr>
          <p:nvPr/>
        </p:nvSpPr>
        <p:spPr bwMode="auto">
          <a:xfrm>
            <a:off x="2772177" y="2994697"/>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5" name="Line 28"/>
          <p:cNvSpPr>
            <a:spLocks noChangeShapeType="1"/>
          </p:cNvSpPr>
          <p:nvPr/>
        </p:nvSpPr>
        <p:spPr bwMode="auto">
          <a:xfrm>
            <a:off x="3457977" y="2385097"/>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6" name="Line 29"/>
          <p:cNvSpPr>
            <a:spLocks noChangeShapeType="1"/>
          </p:cNvSpPr>
          <p:nvPr/>
        </p:nvSpPr>
        <p:spPr bwMode="auto">
          <a:xfrm flipV="1">
            <a:off x="2848377" y="2308897"/>
            <a:ext cx="457200" cy="3810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7" name="Line 30"/>
          <p:cNvSpPr>
            <a:spLocks noChangeShapeType="1"/>
          </p:cNvSpPr>
          <p:nvPr/>
        </p:nvSpPr>
        <p:spPr bwMode="auto">
          <a:xfrm flipV="1">
            <a:off x="3534177" y="1546897"/>
            <a:ext cx="1066800" cy="5334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8" name="Line 31"/>
          <p:cNvSpPr>
            <a:spLocks noChangeShapeType="1"/>
          </p:cNvSpPr>
          <p:nvPr/>
        </p:nvSpPr>
        <p:spPr bwMode="auto">
          <a:xfrm>
            <a:off x="2848377" y="1623097"/>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29" name="Line 32"/>
          <p:cNvSpPr>
            <a:spLocks noChangeShapeType="1"/>
          </p:cNvSpPr>
          <p:nvPr/>
        </p:nvSpPr>
        <p:spPr bwMode="auto">
          <a:xfrm>
            <a:off x="7496577" y="1503253"/>
            <a:ext cx="533400" cy="0"/>
          </a:xfrm>
          <a:prstGeom prst="line">
            <a:avLst/>
          </a:prstGeom>
          <a:ln w="28575">
            <a:headEnd/>
            <a:tailEnd type="triangle" w="med" len="me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30" name="Text Box 33"/>
          <p:cNvSpPr txBox="1">
            <a:spLocks noChangeArrowheads="1"/>
          </p:cNvSpPr>
          <p:nvPr/>
        </p:nvSpPr>
        <p:spPr bwMode="auto">
          <a:xfrm>
            <a:off x="5820177" y="1350853"/>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a:t>
            </a:r>
          </a:p>
        </p:txBody>
      </p:sp>
      <p:sp>
        <p:nvSpPr>
          <p:cNvPr id="31" name="Line 34"/>
          <p:cNvSpPr>
            <a:spLocks noChangeShapeType="1"/>
          </p:cNvSpPr>
          <p:nvPr/>
        </p:nvSpPr>
        <p:spPr bwMode="auto">
          <a:xfrm>
            <a:off x="6429777" y="1503253"/>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2" name="Oval 35"/>
          <p:cNvSpPr>
            <a:spLocks noChangeArrowheads="1"/>
          </p:cNvSpPr>
          <p:nvPr/>
        </p:nvSpPr>
        <p:spPr bwMode="auto">
          <a:xfrm>
            <a:off x="5667777" y="3949522"/>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33" name="Line 36"/>
          <p:cNvSpPr>
            <a:spLocks noChangeShapeType="1"/>
          </p:cNvSpPr>
          <p:nvPr/>
        </p:nvSpPr>
        <p:spPr bwMode="auto">
          <a:xfrm>
            <a:off x="5972577" y="4101922"/>
            <a:ext cx="16002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34" name="Oval 37"/>
          <p:cNvSpPr>
            <a:spLocks noChangeArrowheads="1"/>
          </p:cNvSpPr>
          <p:nvPr/>
        </p:nvSpPr>
        <p:spPr bwMode="auto">
          <a:xfrm>
            <a:off x="5667777" y="4559122"/>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7</a:t>
            </a:r>
          </a:p>
        </p:txBody>
      </p:sp>
      <p:sp>
        <p:nvSpPr>
          <p:cNvPr id="35" name="Oval 38"/>
          <p:cNvSpPr>
            <a:spLocks noChangeArrowheads="1"/>
          </p:cNvSpPr>
          <p:nvPr/>
        </p:nvSpPr>
        <p:spPr bwMode="auto">
          <a:xfrm>
            <a:off x="7572777" y="4025722"/>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36" name="Oval 39"/>
          <p:cNvSpPr>
            <a:spLocks noChangeArrowheads="1"/>
          </p:cNvSpPr>
          <p:nvPr/>
        </p:nvSpPr>
        <p:spPr bwMode="auto">
          <a:xfrm>
            <a:off x="7572777" y="4635322"/>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37" name="Oval 40"/>
          <p:cNvSpPr>
            <a:spLocks noChangeArrowheads="1"/>
          </p:cNvSpPr>
          <p:nvPr/>
        </p:nvSpPr>
        <p:spPr bwMode="auto">
          <a:xfrm>
            <a:off x="6886977" y="4635322"/>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38" name="Oval 41"/>
          <p:cNvSpPr>
            <a:spLocks noChangeArrowheads="1"/>
          </p:cNvSpPr>
          <p:nvPr/>
        </p:nvSpPr>
        <p:spPr bwMode="auto">
          <a:xfrm>
            <a:off x="6886977" y="5244922"/>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39" name="Line 42"/>
          <p:cNvSpPr>
            <a:spLocks noChangeShapeType="1"/>
          </p:cNvSpPr>
          <p:nvPr/>
        </p:nvSpPr>
        <p:spPr bwMode="auto">
          <a:xfrm>
            <a:off x="7039377" y="4940122"/>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40" name="Line 43"/>
          <p:cNvSpPr>
            <a:spLocks noChangeShapeType="1"/>
          </p:cNvSpPr>
          <p:nvPr/>
        </p:nvSpPr>
        <p:spPr bwMode="auto">
          <a:xfrm>
            <a:off x="7725177" y="4330522"/>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41" name="Line 44"/>
          <p:cNvSpPr>
            <a:spLocks noChangeShapeType="1"/>
          </p:cNvSpPr>
          <p:nvPr/>
        </p:nvSpPr>
        <p:spPr bwMode="auto">
          <a:xfrm flipV="1">
            <a:off x="7115577" y="4254322"/>
            <a:ext cx="457200" cy="3810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42" name="Oval 45"/>
          <p:cNvSpPr>
            <a:spLocks noChangeArrowheads="1"/>
          </p:cNvSpPr>
          <p:nvPr/>
        </p:nvSpPr>
        <p:spPr bwMode="auto">
          <a:xfrm>
            <a:off x="6277377" y="4711522"/>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43" name="Oval 46"/>
          <p:cNvSpPr>
            <a:spLocks noChangeArrowheads="1"/>
          </p:cNvSpPr>
          <p:nvPr/>
        </p:nvSpPr>
        <p:spPr bwMode="auto">
          <a:xfrm>
            <a:off x="6277377" y="5321122"/>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44" name="Oval 47"/>
          <p:cNvSpPr>
            <a:spLocks noChangeArrowheads="1"/>
          </p:cNvSpPr>
          <p:nvPr/>
        </p:nvSpPr>
        <p:spPr bwMode="auto">
          <a:xfrm>
            <a:off x="5591577" y="5321122"/>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45" name="Oval 48"/>
          <p:cNvSpPr>
            <a:spLocks noChangeArrowheads="1"/>
          </p:cNvSpPr>
          <p:nvPr/>
        </p:nvSpPr>
        <p:spPr bwMode="auto">
          <a:xfrm>
            <a:off x="5591577" y="5930722"/>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46" name="Line 49"/>
          <p:cNvSpPr>
            <a:spLocks noChangeShapeType="1"/>
          </p:cNvSpPr>
          <p:nvPr/>
        </p:nvSpPr>
        <p:spPr bwMode="auto">
          <a:xfrm>
            <a:off x="5743977" y="5625922"/>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47" name="Line 50"/>
          <p:cNvSpPr>
            <a:spLocks noChangeShapeType="1"/>
          </p:cNvSpPr>
          <p:nvPr/>
        </p:nvSpPr>
        <p:spPr bwMode="auto">
          <a:xfrm>
            <a:off x="6429777" y="5016322"/>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48" name="Line 51"/>
          <p:cNvSpPr>
            <a:spLocks noChangeShapeType="1"/>
          </p:cNvSpPr>
          <p:nvPr/>
        </p:nvSpPr>
        <p:spPr bwMode="auto">
          <a:xfrm flipV="1">
            <a:off x="5820177" y="4940122"/>
            <a:ext cx="457200" cy="3810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49" name="Line 52"/>
          <p:cNvSpPr>
            <a:spLocks noChangeShapeType="1"/>
          </p:cNvSpPr>
          <p:nvPr/>
        </p:nvSpPr>
        <p:spPr bwMode="auto">
          <a:xfrm flipV="1">
            <a:off x="6505977" y="4178122"/>
            <a:ext cx="1066800" cy="5334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50" name="Line 53"/>
          <p:cNvSpPr>
            <a:spLocks noChangeShapeType="1"/>
          </p:cNvSpPr>
          <p:nvPr/>
        </p:nvSpPr>
        <p:spPr bwMode="auto">
          <a:xfrm>
            <a:off x="5820177" y="4254322"/>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51" name="Text Box 55"/>
          <p:cNvSpPr txBox="1">
            <a:spLocks noChangeArrowheads="1"/>
          </p:cNvSpPr>
          <p:nvPr/>
        </p:nvSpPr>
        <p:spPr bwMode="auto">
          <a:xfrm>
            <a:off x="3229377" y="3949522"/>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a:t>
            </a:r>
          </a:p>
        </p:txBody>
      </p:sp>
      <p:sp>
        <p:nvSpPr>
          <p:cNvPr id="52" name="Line 56"/>
          <p:cNvSpPr>
            <a:spLocks noChangeShapeType="1"/>
          </p:cNvSpPr>
          <p:nvPr/>
        </p:nvSpPr>
        <p:spPr bwMode="auto">
          <a:xfrm>
            <a:off x="4905777" y="4101922"/>
            <a:ext cx="762000" cy="0"/>
          </a:xfrm>
          <a:prstGeom prst="line">
            <a:avLst/>
          </a:prstGeom>
          <a:ln w="38100">
            <a:headEnd/>
            <a:tailEnd type="triangle" w="med" len="me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53" name="Oval 59"/>
          <p:cNvSpPr>
            <a:spLocks noChangeArrowheads="1"/>
          </p:cNvSpPr>
          <p:nvPr/>
        </p:nvSpPr>
        <p:spPr bwMode="auto">
          <a:xfrm>
            <a:off x="5134377" y="4559122"/>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54" name="Oval 60"/>
          <p:cNvSpPr>
            <a:spLocks noChangeArrowheads="1"/>
          </p:cNvSpPr>
          <p:nvPr/>
        </p:nvSpPr>
        <p:spPr bwMode="auto">
          <a:xfrm>
            <a:off x="5134377" y="5168722"/>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55" name="Line 61"/>
          <p:cNvSpPr>
            <a:spLocks noChangeShapeType="1"/>
          </p:cNvSpPr>
          <p:nvPr/>
        </p:nvSpPr>
        <p:spPr bwMode="auto">
          <a:xfrm>
            <a:off x="5286777" y="4863922"/>
            <a:ext cx="0" cy="3048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
        <p:nvSpPr>
          <p:cNvPr id="56" name="Oval 62"/>
          <p:cNvSpPr>
            <a:spLocks noChangeArrowheads="1"/>
          </p:cNvSpPr>
          <p:nvPr/>
        </p:nvSpPr>
        <p:spPr bwMode="auto">
          <a:xfrm>
            <a:off x="4600977" y="3949522"/>
            <a:ext cx="304800" cy="304800"/>
          </a:xfrm>
          <a:prstGeom prst="ellips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57" name="Line 64"/>
          <p:cNvSpPr>
            <a:spLocks noChangeShapeType="1"/>
          </p:cNvSpPr>
          <p:nvPr/>
        </p:nvSpPr>
        <p:spPr bwMode="auto">
          <a:xfrm>
            <a:off x="3838977" y="4101922"/>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58" name="Line 65"/>
          <p:cNvSpPr>
            <a:spLocks noChangeShapeType="1"/>
          </p:cNvSpPr>
          <p:nvPr/>
        </p:nvSpPr>
        <p:spPr bwMode="auto">
          <a:xfrm flipH="1">
            <a:off x="5362977" y="4178122"/>
            <a:ext cx="304800" cy="381000"/>
          </a:xfrm>
          <a:prstGeom prst="line">
            <a:avLst/>
          </a:prstGeom>
          <a:ln w="38100">
            <a:headEnd/>
            <a:tailEnd/>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a:lstStyle/>
          <a:p>
            <a:endParaRPr lang="en-IN"/>
          </a:p>
        </p:txBody>
      </p:sp>
    </p:spTree>
    <p:extLst>
      <p:ext uri="{BB962C8B-B14F-4D97-AF65-F5344CB8AC3E}">
        <p14:creationId xmlns:p14="http://schemas.microsoft.com/office/powerpoint/2010/main" val="16352345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Decreasing a key</a:t>
            </a:r>
            <a:endParaRPr lang="en-IN" dirty="0"/>
          </a:p>
        </p:txBody>
      </p:sp>
      <p:sp>
        <p:nvSpPr>
          <p:cNvPr id="3" name="Content Placeholder 2"/>
          <p:cNvSpPr>
            <a:spLocks noGrp="1"/>
          </p:cNvSpPr>
          <p:nvPr>
            <p:ph idx="1"/>
          </p:nvPr>
        </p:nvSpPr>
        <p:spPr/>
        <p:txBody>
          <a:bodyPr/>
          <a:lstStyle/>
          <a:p>
            <a:r>
              <a:rPr lang="en-US" altLang="en-US" sz="1800" dirty="0"/>
              <a:t>The current key is replaced with a new key.  To maintain the min-heap property, it is then compared to the key of the parent. If its parent’s key is greater then the key and data will be exchanged.  This process continues until the new key is greater than the parent’s key or the new key is in the root.</a:t>
            </a:r>
          </a:p>
          <a:p>
            <a:endParaRPr lang="en-US" altLang="en-US" sz="2000" dirty="0"/>
          </a:p>
          <a:p>
            <a:r>
              <a:rPr lang="en-US" altLang="en-US" sz="2000" dirty="0"/>
              <a:t>Pseudocode:</a:t>
            </a:r>
          </a:p>
          <a:p>
            <a:pPr lvl="1">
              <a:buNone/>
            </a:pPr>
            <a:r>
              <a:rPr lang="en-US" altLang="en-US" sz="1800" dirty="0"/>
              <a:t>	</a:t>
            </a:r>
            <a:r>
              <a:rPr lang="en-US" altLang="en-US" sz="1800" b="1" dirty="0">
                <a:solidFill>
                  <a:srgbClr val="C00000"/>
                </a:solidFill>
              </a:rPr>
              <a:t>Binomial-Heap-Decrease-Key(</a:t>
            </a:r>
            <a:r>
              <a:rPr lang="en-US" altLang="en-US" sz="1800" b="1" dirty="0" err="1">
                <a:solidFill>
                  <a:srgbClr val="C00000"/>
                </a:solidFill>
              </a:rPr>
              <a:t>H,x,k</a:t>
            </a:r>
            <a:r>
              <a:rPr lang="en-US" altLang="en-US" sz="1800" b="1" dirty="0">
                <a:solidFill>
                  <a:srgbClr val="C00000"/>
                </a:solidFill>
              </a:rPr>
              <a:t>)</a:t>
            </a:r>
          </a:p>
          <a:p>
            <a:pPr lvl="1">
              <a:buNone/>
            </a:pPr>
            <a:r>
              <a:rPr lang="en-US" altLang="en-US" sz="1800" dirty="0"/>
              <a:t>	1 if k &gt; key[x]</a:t>
            </a:r>
          </a:p>
          <a:p>
            <a:pPr lvl="1">
              <a:buNone/>
            </a:pPr>
            <a:r>
              <a:rPr lang="en-US" altLang="en-US" sz="1800" dirty="0"/>
              <a:t>	2      then error “new key is greater than current key”</a:t>
            </a:r>
          </a:p>
          <a:p>
            <a:pPr lvl="1">
              <a:buNone/>
            </a:pPr>
            <a:r>
              <a:rPr lang="en-US" altLang="en-US" sz="1800" dirty="0"/>
              <a:t>	3 key[x] &lt;-k</a:t>
            </a:r>
          </a:p>
          <a:p>
            <a:pPr lvl="1">
              <a:buNone/>
            </a:pPr>
            <a:r>
              <a:rPr lang="en-US" altLang="en-US" sz="1800" dirty="0"/>
              <a:t>	4 y &lt;-x</a:t>
            </a:r>
          </a:p>
          <a:p>
            <a:pPr lvl="1">
              <a:buNone/>
            </a:pPr>
            <a:r>
              <a:rPr lang="en-US" altLang="en-US" sz="1800" dirty="0"/>
              <a:t>	5 z &lt;-p[y]</a:t>
            </a:r>
          </a:p>
          <a:p>
            <a:pPr lvl="1">
              <a:buNone/>
            </a:pPr>
            <a:r>
              <a:rPr lang="en-US" altLang="en-US" sz="1800" dirty="0"/>
              <a:t>	6  while z not NIL and key[y] &lt; key[z]</a:t>
            </a:r>
          </a:p>
          <a:p>
            <a:pPr lvl="1">
              <a:buNone/>
            </a:pPr>
            <a:r>
              <a:rPr lang="en-US" altLang="en-US" sz="1800" dirty="0"/>
              <a:t>	7         do exchange key[y] &lt;-&gt; key[z]</a:t>
            </a:r>
          </a:p>
          <a:p>
            <a:pPr lvl="1">
              <a:buNone/>
            </a:pPr>
            <a:r>
              <a:rPr lang="en-US" altLang="en-US" sz="1800" dirty="0"/>
              <a:t>	8	             if y and z have satellite fields, exchange them, too.</a:t>
            </a:r>
          </a:p>
          <a:p>
            <a:pPr lvl="1">
              <a:buNone/>
            </a:pPr>
            <a:r>
              <a:rPr lang="en-US" altLang="en-US" sz="1800" dirty="0"/>
              <a:t>	9              y &lt;- z</a:t>
            </a:r>
          </a:p>
          <a:p>
            <a:pPr lvl="1">
              <a:buNone/>
            </a:pPr>
            <a:r>
              <a:rPr lang="en-US" altLang="en-US" sz="1800" dirty="0"/>
              <a:t>	10            z &lt;- p[y]</a:t>
            </a:r>
          </a:p>
          <a:p>
            <a:endParaRPr lang="en-IN" dirty="0"/>
          </a:p>
        </p:txBody>
      </p:sp>
    </p:spTree>
    <p:extLst>
      <p:ext uri="{BB962C8B-B14F-4D97-AF65-F5344CB8AC3E}">
        <p14:creationId xmlns:p14="http://schemas.microsoft.com/office/powerpoint/2010/main" val="19336298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Decreasing a key</a:t>
            </a:r>
            <a:endParaRPr lang="en-IN" dirty="0"/>
          </a:p>
        </p:txBody>
      </p:sp>
      <p:sp>
        <p:nvSpPr>
          <p:cNvPr id="3" name="Content Placeholder 2"/>
          <p:cNvSpPr>
            <a:spLocks noGrp="1"/>
          </p:cNvSpPr>
          <p:nvPr>
            <p:ph idx="1"/>
          </p:nvPr>
        </p:nvSpPr>
        <p:spPr>
          <a:xfrm>
            <a:off x="131178" y="861193"/>
            <a:ext cx="11929641" cy="877455"/>
          </a:xfrm>
        </p:spPr>
        <p:txBody>
          <a:bodyPr/>
          <a:lstStyle/>
          <a:p>
            <a:r>
              <a:rPr lang="en-US" altLang="en-US" dirty="0"/>
              <a:t>Execution time: This procedure takes O(log n) since the maximum depth of x is |_log n_|.</a:t>
            </a:r>
          </a:p>
          <a:p>
            <a:endParaRPr lang="en-IN" dirty="0"/>
          </a:p>
        </p:txBody>
      </p:sp>
      <p:sp>
        <p:nvSpPr>
          <p:cNvPr id="5" name="Oval 5"/>
          <p:cNvSpPr>
            <a:spLocks noChangeArrowheads="1"/>
          </p:cNvSpPr>
          <p:nvPr/>
        </p:nvSpPr>
        <p:spPr bwMode="auto">
          <a:xfrm>
            <a:off x="3166056" y="21754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6" name="Oval 6"/>
          <p:cNvSpPr>
            <a:spLocks noChangeArrowheads="1"/>
          </p:cNvSpPr>
          <p:nvPr/>
        </p:nvSpPr>
        <p:spPr bwMode="auto">
          <a:xfrm>
            <a:off x="4690056" y="21754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7" name="Oval 7"/>
          <p:cNvSpPr>
            <a:spLocks noChangeArrowheads="1"/>
          </p:cNvSpPr>
          <p:nvPr/>
        </p:nvSpPr>
        <p:spPr bwMode="auto">
          <a:xfrm>
            <a:off x="4690056" y="27850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8" name="Oval 8"/>
          <p:cNvSpPr>
            <a:spLocks noChangeArrowheads="1"/>
          </p:cNvSpPr>
          <p:nvPr/>
        </p:nvSpPr>
        <p:spPr bwMode="auto">
          <a:xfrm>
            <a:off x="4004256" y="27850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9" name="Oval 9"/>
          <p:cNvSpPr>
            <a:spLocks noChangeArrowheads="1"/>
          </p:cNvSpPr>
          <p:nvPr/>
        </p:nvSpPr>
        <p:spPr bwMode="auto">
          <a:xfrm>
            <a:off x="4004256" y="3394657"/>
            <a:ext cx="304800" cy="304800"/>
          </a:xfrm>
          <a:prstGeom prst="ellipse">
            <a:avLst/>
          </a:prstGeom>
          <a:solidFill>
            <a:schemeClr val="accent3"/>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10" name="Line 10"/>
          <p:cNvSpPr>
            <a:spLocks noChangeShapeType="1"/>
          </p:cNvSpPr>
          <p:nvPr/>
        </p:nvSpPr>
        <p:spPr bwMode="auto">
          <a:xfrm>
            <a:off x="4156656" y="3089857"/>
            <a:ext cx="0" cy="3048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11" name="Line 11"/>
          <p:cNvSpPr>
            <a:spLocks noChangeShapeType="1"/>
          </p:cNvSpPr>
          <p:nvPr/>
        </p:nvSpPr>
        <p:spPr bwMode="auto">
          <a:xfrm>
            <a:off x="4842456" y="2480257"/>
            <a:ext cx="0" cy="3048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12" name="Line 12"/>
          <p:cNvSpPr>
            <a:spLocks noChangeShapeType="1"/>
          </p:cNvSpPr>
          <p:nvPr/>
        </p:nvSpPr>
        <p:spPr bwMode="auto">
          <a:xfrm flipV="1">
            <a:off x="4232856" y="2404057"/>
            <a:ext cx="457200" cy="3810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13" name="Line 13"/>
          <p:cNvSpPr>
            <a:spLocks noChangeShapeType="1"/>
          </p:cNvSpPr>
          <p:nvPr/>
        </p:nvSpPr>
        <p:spPr bwMode="auto">
          <a:xfrm>
            <a:off x="3470856" y="2327857"/>
            <a:ext cx="12192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14" name="Text Box 14"/>
          <p:cNvSpPr txBox="1">
            <a:spLocks noChangeArrowheads="1"/>
          </p:cNvSpPr>
          <p:nvPr/>
        </p:nvSpPr>
        <p:spPr bwMode="auto">
          <a:xfrm>
            <a:off x="1794456" y="2175457"/>
            <a:ext cx="762000" cy="274638"/>
          </a:xfrm>
          <a:prstGeom prst="rect">
            <a:avLst/>
          </a:prstGeom>
          <a:noFill/>
          <a:ln w="28575">
            <a:noFill/>
          </a:ln>
          <a:effectLst>
            <a:outerShdw blurRad="50800" dist="38100" dir="2700000" algn="tl" rotWithShape="0">
              <a:prstClr val="black">
                <a:alpha val="40000"/>
              </a:prstClr>
            </a:outerShdw>
          </a:effec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dirty="0"/>
              <a:t>head[H]</a:t>
            </a:r>
          </a:p>
        </p:txBody>
      </p:sp>
      <p:sp>
        <p:nvSpPr>
          <p:cNvPr id="15" name="Line 15"/>
          <p:cNvSpPr>
            <a:spLocks noChangeShapeType="1"/>
          </p:cNvSpPr>
          <p:nvPr/>
        </p:nvSpPr>
        <p:spPr bwMode="auto">
          <a:xfrm>
            <a:off x="2404056" y="2327857"/>
            <a:ext cx="7620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16" name="Oval 16"/>
          <p:cNvSpPr>
            <a:spLocks noChangeArrowheads="1"/>
          </p:cNvSpPr>
          <p:nvPr/>
        </p:nvSpPr>
        <p:spPr bwMode="auto">
          <a:xfrm>
            <a:off x="6747456" y="22516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17" name="Oval 17"/>
          <p:cNvSpPr>
            <a:spLocks noChangeArrowheads="1"/>
          </p:cNvSpPr>
          <p:nvPr/>
        </p:nvSpPr>
        <p:spPr bwMode="auto">
          <a:xfrm>
            <a:off x="8271456" y="22516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18" name="Oval 18"/>
          <p:cNvSpPr>
            <a:spLocks noChangeArrowheads="1"/>
          </p:cNvSpPr>
          <p:nvPr/>
        </p:nvSpPr>
        <p:spPr bwMode="auto">
          <a:xfrm>
            <a:off x="8271456" y="28612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19" name="Oval 19"/>
          <p:cNvSpPr>
            <a:spLocks noChangeArrowheads="1"/>
          </p:cNvSpPr>
          <p:nvPr/>
        </p:nvSpPr>
        <p:spPr bwMode="auto">
          <a:xfrm>
            <a:off x="7585656" y="28612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20" name="Oval 20"/>
          <p:cNvSpPr>
            <a:spLocks noChangeArrowheads="1"/>
          </p:cNvSpPr>
          <p:nvPr/>
        </p:nvSpPr>
        <p:spPr bwMode="auto">
          <a:xfrm>
            <a:off x="7585656" y="3470857"/>
            <a:ext cx="304800" cy="304800"/>
          </a:xfrm>
          <a:prstGeom prst="ellipse">
            <a:avLst/>
          </a:prstGeom>
          <a:solidFill>
            <a:schemeClr val="accent3"/>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21" name="Line 21"/>
          <p:cNvSpPr>
            <a:spLocks noChangeShapeType="1"/>
          </p:cNvSpPr>
          <p:nvPr/>
        </p:nvSpPr>
        <p:spPr bwMode="auto">
          <a:xfrm>
            <a:off x="7738056" y="3166057"/>
            <a:ext cx="0" cy="3048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22" name="Line 22"/>
          <p:cNvSpPr>
            <a:spLocks noChangeShapeType="1"/>
          </p:cNvSpPr>
          <p:nvPr/>
        </p:nvSpPr>
        <p:spPr bwMode="auto">
          <a:xfrm>
            <a:off x="8423856" y="2556457"/>
            <a:ext cx="0" cy="3048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23" name="Line 23"/>
          <p:cNvSpPr>
            <a:spLocks noChangeShapeType="1"/>
          </p:cNvSpPr>
          <p:nvPr/>
        </p:nvSpPr>
        <p:spPr bwMode="auto">
          <a:xfrm flipV="1">
            <a:off x="7814256" y="2480257"/>
            <a:ext cx="457200" cy="3810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24" name="Line 24"/>
          <p:cNvSpPr>
            <a:spLocks noChangeShapeType="1"/>
          </p:cNvSpPr>
          <p:nvPr/>
        </p:nvSpPr>
        <p:spPr bwMode="auto">
          <a:xfrm>
            <a:off x="7052256" y="2404057"/>
            <a:ext cx="12192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25" name="Text Box 25"/>
          <p:cNvSpPr txBox="1">
            <a:spLocks noChangeArrowheads="1"/>
          </p:cNvSpPr>
          <p:nvPr/>
        </p:nvSpPr>
        <p:spPr bwMode="auto">
          <a:xfrm>
            <a:off x="5375856" y="2251657"/>
            <a:ext cx="762000" cy="274638"/>
          </a:xfrm>
          <a:prstGeom prst="rect">
            <a:avLst/>
          </a:prstGeom>
          <a:noFill/>
          <a:ln w="28575">
            <a:noFill/>
          </a:ln>
          <a:effectLst>
            <a:outerShdw blurRad="50800" dist="38100" dir="2700000" algn="tl" rotWithShape="0">
              <a:prstClr val="black">
                <a:alpha val="40000"/>
              </a:prstClr>
            </a:outerShdw>
          </a:effectLst>
        </p:spPr>
        <p:txBody>
          <a:bodyPr>
            <a:spAutoFit/>
          </a:bodyPr>
          <a:lstStyle>
            <a:defPPr>
              <a:defRPr lang="en-US"/>
            </a:defPPr>
            <a:lvl1pPr>
              <a:spcBef>
                <a:spcPct val="50000"/>
              </a:spcBef>
              <a:defRPr sz="1200">
                <a:latin typeface="Arial" panose="020B0604020202020204" pitchFamily="34" charset="0"/>
              </a:defRPr>
            </a:lvl1pPr>
            <a:lvl2pPr marL="742950" indent="-285750" eaLnBrk="0" hangingPunct="0">
              <a:defRPr>
                <a:latin typeface="Arial" panose="020B0604020202020204" pitchFamily="34" charset="0"/>
              </a:defRPr>
            </a:lvl2pPr>
            <a:lvl3pPr marL="1143000" indent="-228600" eaLnBrk="0" hangingPunct="0">
              <a:defRPr>
                <a:latin typeface="Arial" panose="020B0604020202020204" pitchFamily="34" charset="0"/>
              </a:defRPr>
            </a:lvl3pPr>
            <a:lvl4pPr marL="1600200" indent="-228600" eaLnBrk="0" hangingPunct="0">
              <a:defRPr>
                <a:latin typeface="Arial" panose="020B0604020202020204" pitchFamily="34" charset="0"/>
              </a:defRPr>
            </a:lvl4pPr>
            <a:lvl5pPr marL="2057400" indent="-228600" eaLnBrk="0" hangingPunct="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altLang="en-US" dirty="0"/>
              <a:t>head[H]</a:t>
            </a:r>
          </a:p>
        </p:txBody>
      </p:sp>
      <p:sp>
        <p:nvSpPr>
          <p:cNvPr id="26" name="Line 26"/>
          <p:cNvSpPr>
            <a:spLocks noChangeShapeType="1"/>
          </p:cNvSpPr>
          <p:nvPr/>
        </p:nvSpPr>
        <p:spPr bwMode="auto">
          <a:xfrm>
            <a:off x="5985456" y="2404057"/>
            <a:ext cx="7620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27" name="Oval 27"/>
          <p:cNvSpPr>
            <a:spLocks noChangeArrowheads="1"/>
          </p:cNvSpPr>
          <p:nvPr/>
        </p:nvSpPr>
        <p:spPr bwMode="auto">
          <a:xfrm>
            <a:off x="3166056" y="40804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28" name="Oval 28"/>
          <p:cNvSpPr>
            <a:spLocks noChangeArrowheads="1"/>
          </p:cNvSpPr>
          <p:nvPr/>
        </p:nvSpPr>
        <p:spPr bwMode="auto">
          <a:xfrm>
            <a:off x="4690056" y="40804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29" name="Oval 29"/>
          <p:cNvSpPr>
            <a:spLocks noChangeArrowheads="1"/>
          </p:cNvSpPr>
          <p:nvPr/>
        </p:nvSpPr>
        <p:spPr bwMode="auto">
          <a:xfrm>
            <a:off x="4690056" y="46900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30" name="Oval 30"/>
          <p:cNvSpPr>
            <a:spLocks noChangeArrowheads="1"/>
          </p:cNvSpPr>
          <p:nvPr/>
        </p:nvSpPr>
        <p:spPr bwMode="auto">
          <a:xfrm>
            <a:off x="4004256" y="4690057"/>
            <a:ext cx="304800" cy="304800"/>
          </a:xfrm>
          <a:prstGeom prst="ellipse">
            <a:avLst/>
          </a:prstGeom>
          <a:solidFill>
            <a:schemeClr val="accent3"/>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31" name="Oval 31"/>
          <p:cNvSpPr>
            <a:spLocks noChangeArrowheads="1"/>
          </p:cNvSpPr>
          <p:nvPr/>
        </p:nvSpPr>
        <p:spPr bwMode="auto">
          <a:xfrm>
            <a:off x="4004256" y="52996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32" name="Line 32"/>
          <p:cNvSpPr>
            <a:spLocks noChangeShapeType="1"/>
          </p:cNvSpPr>
          <p:nvPr/>
        </p:nvSpPr>
        <p:spPr bwMode="auto">
          <a:xfrm>
            <a:off x="4156656" y="4994857"/>
            <a:ext cx="0" cy="3048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33" name="Line 33"/>
          <p:cNvSpPr>
            <a:spLocks noChangeShapeType="1"/>
          </p:cNvSpPr>
          <p:nvPr/>
        </p:nvSpPr>
        <p:spPr bwMode="auto">
          <a:xfrm>
            <a:off x="4842456" y="4385257"/>
            <a:ext cx="0" cy="3048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34" name="Line 34"/>
          <p:cNvSpPr>
            <a:spLocks noChangeShapeType="1"/>
          </p:cNvSpPr>
          <p:nvPr/>
        </p:nvSpPr>
        <p:spPr bwMode="auto">
          <a:xfrm flipV="1">
            <a:off x="4232856" y="4309057"/>
            <a:ext cx="457200" cy="3810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35" name="Line 35"/>
          <p:cNvSpPr>
            <a:spLocks noChangeShapeType="1"/>
          </p:cNvSpPr>
          <p:nvPr/>
        </p:nvSpPr>
        <p:spPr bwMode="auto">
          <a:xfrm>
            <a:off x="3470856" y="4232857"/>
            <a:ext cx="12192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36" name="Text Box 36"/>
          <p:cNvSpPr txBox="1">
            <a:spLocks noChangeArrowheads="1"/>
          </p:cNvSpPr>
          <p:nvPr/>
        </p:nvSpPr>
        <p:spPr bwMode="auto">
          <a:xfrm>
            <a:off x="1794456" y="4080457"/>
            <a:ext cx="762000" cy="274638"/>
          </a:xfrm>
          <a:prstGeom prst="rect">
            <a:avLst/>
          </a:prstGeom>
          <a:noFill/>
          <a:ln w="28575">
            <a:noFill/>
          </a:ln>
          <a:effectLst>
            <a:outerShdw blurRad="50800" dist="38100" dir="2700000" algn="tl" rotWithShape="0">
              <a:prstClr val="black">
                <a:alpha val="40000"/>
              </a:prstClr>
            </a:outerShdw>
          </a:effectLst>
        </p:spPr>
        <p:txBody>
          <a:bodyPr>
            <a:spAutoFit/>
          </a:bodyPr>
          <a:lstStyle>
            <a:defPPr>
              <a:defRPr lang="en-US"/>
            </a:defPPr>
            <a:lvl1pPr>
              <a:spcBef>
                <a:spcPct val="50000"/>
              </a:spcBef>
              <a:defRPr sz="1200">
                <a:latin typeface="Arial" panose="020B0604020202020204" pitchFamily="34" charset="0"/>
              </a:defRPr>
            </a:lvl1pPr>
            <a:lvl2pPr marL="742950" indent="-285750" eaLnBrk="0" hangingPunct="0">
              <a:defRPr>
                <a:latin typeface="Arial" panose="020B0604020202020204" pitchFamily="34" charset="0"/>
              </a:defRPr>
            </a:lvl2pPr>
            <a:lvl3pPr marL="1143000" indent="-228600" eaLnBrk="0" hangingPunct="0">
              <a:defRPr>
                <a:latin typeface="Arial" panose="020B0604020202020204" pitchFamily="34" charset="0"/>
              </a:defRPr>
            </a:lvl3pPr>
            <a:lvl4pPr marL="1600200" indent="-228600" eaLnBrk="0" hangingPunct="0">
              <a:defRPr>
                <a:latin typeface="Arial" panose="020B0604020202020204" pitchFamily="34" charset="0"/>
              </a:defRPr>
            </a:lvl4pPr>
            <a:lvl5pPr marL="2057400" indent="-228600" eaLnBrk="0" hangingPunct="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altLang="en-US" dirty="0"/>
              <a:t>head[H]</a:t>
            </a:r>
          </a:p>
        </p:txBody>
      </p:sp>
      <p:sp>
        <p:nvSpPr>
          <p:cNvPr id="37" name="Line 37"/>
          <p:cNvSpPr>
            <a:spLocks noChangeShapeType="1"/>
          </p:cNvSpPr>
          <p:nvPr/>
        </p:nvSpPr>
        <p:spPr bwMode="auto">
          <a:xfrm>
            <a:off x="2404056" y="4232857"/>
            <a:ext cx="7620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38" name="Oval 38"/>
          <p:cNvSpPr>
            <a:spLocks noChangeArrowheads="1"/>
          </p:cNvSpPr>
          <p:nvPr/>
        </p:nvSpPr>
        <p:spPr bwMode="auto">
          <a:xfrm>
            <a:off x="6823656" y="41566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39" name="Oval 39"/>
          <p:cNvSpPr>
            <a:spLocks noChangeArrowheads="1"/>
          </p:cNvSpPr>
          <p:nvPr/>
        </p:nvSpPr>
        <p:spPr bwMode="auto">
          <a:xfrm>
            <a:off x="8347656" y="41566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a:t>
            </a:r>
          </a:p>
        </p:txBody>
      </p:sp>
      <p:sp>
        <p:nvSpPr>
          <p:cNvPr id="40" name="Oval 40"/>
          <p:cNvSpPr>
            <a:spLocks noChangeArrowheads="1"/>
          </p:cNvSpPr>
          <p:nvPr/>
        </p:nvSpPr>
        <p:spPr bwMode="auto">
          <a:xfrm>
            <a:off x="8347656" y="47662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41" name="Oval 41"/>
          <p:cNvSpPr>
            <a:spLocks noChangeArrowheads="1"/>
          </p:cNvSpPr>
          <p:nvPr/>
        </p:nvSpPr>
        <p:spPr bwMode="auto">
          <a:xfrm>
            <a:off x="7661856" y="47662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42" name="Oval 42"/>
          <p:cNvSpPr>
            <a:spLocks noChangeArrowheads="1"/>
          </p:cNvSpPr>
          <p:nvPr/>
        </p:nvSpPr>
        <p:spPr bwMode="auto">
          <a:xfrm>
            <a:off x="7661856" y="537585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10</a:t>
            </a:r>
          </a:p>
        </p:txBody>
      </p:sp>
      <p:sp>
        <p:nvSpPr>
          <p:cNvPr id="43" name="Line 43"/>
          <p:cNvSpPr>
            <a:spLocks noChangeShapeType="1"/>
          </p:cNvSpPr>
          <p:nvPr/>
        </p:nvSpPr>
        <p:spPr bwMode="auto">
          <a:xfrm>
            <a:off x="7814256" y="5071057"/>
            <a:ext cx="0" cy="3048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44" name="Line 44"/>
          <p:cNvSpPr>
            <a:spLocks noChangeShapeType="1"/>
          </p:cNvSpPr>
          <p:nvPr/>
        </p:nvSpPr>
        <p:spPr bwMode="auto">
          <a:xfrm>
            <a:off x="8500056" y="4461457"/>
            <a:ext cx="0" cy="3048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45" name="Line 45"/>
          <p:cNvSpPr>
            <a:spLocks noChangeShapeType="1"/>
          </p:cNvSpPr>
          <p:nvPr/>
        </p:nvSpPr>
        <p:spPr bwMode="auto">
          <a:xfrm flipV="1">
            <a:off x="7890456" y="4385257"/>
            <a:ext cx="457200" cy="3810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46" name="Line 46"/>
          <p:cNvSpPr>
            <a:spLocks noChangeShapeType="1"/>
          </p:cNvSpPr>
          <p:nvPr/>
        </p:nvSpPr>
        <p:spPr bwMode="auto">
          <a:xfrm>
            <a:off x="7128456" y="4309057"/>
            <a:ext cx="12192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47" name="Text Box 47"/>
          <p:cNvSpPr txBox="1">
            <a:spLocks noChangeArrowheads="1"/>
          </p:cNvSpPr>
          <p:nvPr/>
        </p:nvSpPr>
        <p:spPr bwMode="auto">
          <a:xfrm>
            <a:off x="5452056" y="4156657"/>
            <a:ext cx="762000" cy="274638"/>
          </a:xfrm>
          <a:prstGeom prst="rect">
            <a:avLst/>
          </a:prstGeom>
          <a:noFill/>
          <a:ln w="28575">
            <a:noFill/>
          </a:ln>
          <a:effectLst>
            <a:outerShdw blurRad="50800" dist="38100" dir="2700000" algn="tl" rotWithShape="0">
              <a:prstClr val="black">
                <a:alpha val="40000"/>
              </a:prstClr>
            </a:outerShdw>
          </a:effectLst>
        </p:spPr>
        <p:txBody>
          <a:bodyPr>
            <a:spAutoFit/>
          </a:bodyPr>
          <a:lstStyle>
            <a:defPPr>
              <a:defRPr lang="en-US"/>
            </a:defPPr>
            <a:lvl1pPr>
              <a:spcBef>
                <a:spcPct val="50000"/>
              </a:spcBef>
              <a:defRPr sz="1200">
                <a:latin typeface="Arial" panose="020B0604020202020204" pitchFamily="34" charset="0"/>
              </a:defRPr>
            </a:lvl1pPr>
            <a:lvl2pPr marL="742950" indent="-285750" eaLnBrk="0" hangingPunct="0">
              <a:defRPr>
                <a:latin typeface="Arial" panose="020B0604020202020204" pitchFamily="34" charset="0"/>
              </a:defRPr>
            </a:lvl2pPr>
            <a:lvl3pPr marL="1143000" indent="-228600" eaLnBrk="0" hangingPunct="0">
              <a:defRPr>
                <a:latin typeface="Arial" panose="020B0604020202020204" pitchFamily="34" charset="0"/>
              </a:defRPr>
            </a:lvl3pPr>
            <a:lvl4pPr marL="1600200" indent="-228600" eaLnBrk="0" hangingPunct="0">
              <a:defRPr>
                <a:latin typeface="Arial" panose="020B0604020202020204" pitchFamily="34" charset="0"/>
              </a:defRPr>
            </a:lvl4pPr>
            <a:lvl5pPr marL="2057400" indent="-228600" eaLnBrk="0" hangingPunct="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altLang="en-US" dirty="0"/>
              <a:t>head[H]</a:t>
            </a:r>
          </a:p>
        </p:txBody>
      </p:sp>
      <p:sp>
        <p:nvSpPr>
          <p:cNvPr id="48" name="Line 48"/>
          <p:cNvSpPr>
            <a:spLocks noChangeShapeType="1"/>
          </p:cNvSpPr>
          <p:nvPr/>
        </p:nvSpPr>
        <p:spPr bwMode="auto">
          <a:xfrm>
            <a:off x="6061656" y="4309057"/>
            <a:ext cx="7620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Tree>
    <p:extLst>
      <p:ext uri="{BB962C8B-B14F-4D97-AF65-F5344CB8AC3E}">
        <p14:creationId xmlns:p14="http://schemas.microsoft.com/office/powerpoint/2010/main" val="365094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500"/>
                                        <p:tgtEl>
                                          <p:spTgt spid="3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50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50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7"/>
                                        </p:tgtEl>
                                        <p:attrNameLst>
                                          <p:attrName>style.visibility</p:attrName>
                                        </p:attrNameLst>
                                      </p:cBhvr>
                                      <p:to>
                                        <p:strVal val="visible"/>
                                      </p:to>
                                    </p:set>
                                    <p:animEffect transition="in" filter="fade">
                                      <p:cBhvr>
                                        <p:cTn id="107" dur="500"/>
                                        <p:tgtEl>
                                          <p:spTgt spid="37"/>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500"/>
                                        <p:tgtEl>
                                          <p:spTgt spid="3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500"/>
                                        <p:tgtEl>
                                          <p:spTgt spid="39"/>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0"/>
                                        </p:tgtEl>
                                        <p:attrNameLst>
                                          <p:attrName>style.visibility</p:attrName>
                                        </p:attrNameLst>
                                      </p:cBhvr>
                                      <p:to>
                                        <p:strVal val="visible"/>
                                      </p:to>
                                    </p:set>
                                    <p:animEffect transition="in" filter="fade">
                                      <p:cBhvr>
                                        <p:cTn id="118" dur="500"/>
                                        <p:tgtEl>
                                          <p:spTgt spid="40"/>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1"/>
                                        </p:tgtEl>
                                        <p:attrNameLst>
                                          <p:attrName>style.visibility</p:attrName>
                                        </p:attrNameLst>
                                      </p:cBhvr>
                                      <p:to>
                                        <p:strVal val="visible"/>
                                      </p:to>
                                    </p:set>
                                    <p:animEffect transition="in" filter="fade">
                                      <p:cBhvr>
                                        <p:cTn id="121" dur="500"/>
                                        <p:tgtEl>
                                          <p:spTgt spid="41"/>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2"/>
                                        </p:tgtEl>
                                        <p:attrNameLst>
                                          <p:attrName>style.visibility</p:attrName>
                                        </p:attrNameLst>
                                      </p:cBhvr>
                                      <p:to>
                                        <p:strVal val="visible"/>
                                      </p:to>
                                    </p:set>
                                    <p:animEffect transition="in" filter="fade">
                                      <p:cBhvr>
                                        <p:cTn id="124" dur="500"/>
                                        <p:tgtEl>
                                          <p:spTgt spid="42"/>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3"/>
                                        </p:tgtEl>
                                        <p:attrNameLst>
                                          <p:attrName>style.visibility</p:attrName>
                                        </p:attrNameLst>
                                      </p:cBhvr>
                                      <p:to>
                                        <p:strVal val="visible"/>
                                      </p:to>
                                    </p:set>
                                    <p:animEffect transition="in" filter="fade">
                                      <p:cBhvr>
                                        <p:cTn id="127" dur="500"/>
                                        <p:tgtEl>
                                          <p:spTgt spid="43"/>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4"/>
                                        </p:tgtEl>
                                        <p:attrNameLst>
                                          <p:attrName>style.visibility</p:attrName>
                                        </p:attrNameLst>
                                      </p:cBhvr>
                                      <p:to>
                                        <p:strVal val="visible"/>
                                      </p:to>
                                    </p:set>
                                    <p:animEffect transition="in" filter="fade">
                                      <p:cBhvr>
                                        <p:cTn id="130" dur="500"/>
                                        <p:tgtEl>
                                          <p:spTgt spid="44"/>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5"/>
                                        </p:tgtEl>
                                        <p:attrNameLst>
                                          <p:attrName>style.visibility</p:attrName>
                                        </p:attrNameLst>
                                      </p:cBhvr>
                                      <p:to>
                                        <p:strVal val="visible"/>
                                      </p:to>
                                    </p:set>
                                    <p:animEffect transition="in" filter="fade">
                                      <p:cBhvr>
                                        <p:cTn id="133" dur="500"/>
                                        <p:tgtEl>
                                          <p:spTgt spid="45"/>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6"/>
                                        </p:tgtEl>
                                        <p:attrNameLst>
                                          <p:attrName>style.visibility</p:attrName>
                                        </p:attrNameLst>
                                      </p:cBhvr>
                                      <p:to>
                                        <p:strVal val="visible"/>
                                      </p:to>
                                    </p:set>
                                    <p:animEffect transition="in" filter="fade">
                                      <p:cBhvr>
                                        <p:cTn id="136" dur="500"/>
                                        <p:tgtEl>
                                          <p:spTgt spid="46"/>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8"/>
                                        </p:tgtEl>
                                        <p:attrNameLst>
                                          <p:attrName>style.visibility</p:attrName>
                                        </p:attrNameLst>
                                      </p:cBhvr>
                                      <p:to>
                                        <p:strVal val="visible"/>
                                      </p:to>
                                    </p:set>
                                    <p:animEffect transition="in" filter="fade">
                                      <p:cBhvr>
                                        <p:cTn id="139" dur="500"/>
                                        <p:tgtEl>
                                          <p:spTgt spid="48"/>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7"/>
                                        </p:tgtEl>
                                        <p:attrNameLst>
                                          <p:attrName>style.visibility</p:attrName>
                                        </p:attrNameLst>
                                      </p:cBhvr>
                                      <p:to>
                                        <p:strVal val="visible"/>
                                      </p:to>
                                    </p:set>
                                    <p:animEffect transition="in" filter="fade">
                                      <p:cBhvr>
                                        <p:cTn id="14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p:bldP spid="48"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Delete a Node</a:t>
            </a:r>
            <a:endParaRPr lang="en-IN" dirty="0"/>
          </a:p>
        </p:txBody>
      </p:sp>
      <p:sp>
        <p:nvSpPr>
          <p:cNvPr id="3" name="Content Placeholder 2"/>
          <p:cNvSpPr>
            <a:spLocks noGrp="1"/>
          </p:cNvSpPr>
          <p:nvPr>
            <p:ph idx="1"/>
          </p:nvPr>
        </p:nvSpPr>
        <p:spPr/>
        <p:txBody>
          <a:bodyPr/>
          <a:lstStyle/>
          <a:p>
            <a:r>
              <a:rPr lang="en-US" altLang="en-US" dirty="0"/>
              <a:t>With assumption that there is no node in H has a key of -∞.</a:t>
            </a:r>
          </a:p>
          <a:p>
            <a:r>
              <a:rPr lang="en-US" altLang="en-US" dirty="0"/>
              <a:t>The key of deleting node is first decreased to -∞.</a:t>
            </a:r>
          </a:p>
          <a:p>
            <a:r>
              <a:rPr lang="en-US" altLang="en-US" dirty="0"/>
              <a:t>This node is then deleted using extracting min procedure.</a:t>
            </a:r>
          </a:p>
          <a:p>
            <a:pPr marL="0" indent="0">
              <a:buNone/>
            </a:pPr>
            <a:r>
              <a:rPr lang="en-US" altLang="en-US" dirty="0"/>
              <a:t>Pseudocode</a:t>
            </a:r>
            <a:r>
              <a:rPr lang="en-US" altLang="en-US" dirty="0">
                <a:sym typeface="Wingdings" panose="05000000000000000000" pitchFamily="2" charset="2"/>
              </a:rPr>
              <a:t>: (from book)</a:t>
            </a:r>
            <a:endParaRPr lang="en-US" altLang="en-US" dirty="0"/>
          </a:p>
          <a:p>
            <a:pPr>
              <a:buNone/>
            </a:pPr>
            <a:r>
              <a:rPr lang="en-US" altLang="en-US" dirty="0"/>
              <a:t>	</a:t>
            </a:r>
            <a:r>
              <a:rPr lang="en-US" altLang="en-US" b="1" dirty="0">
                <a:solidFill>
                  <a:srgbClr val="C00000"/>
                </a:solidFill>
              </a:rPr>
              <a:t>Binomial-Heap-Delete(</a:t>
            </a:r>
            <a:r>
              <a:rPr lang="en-US" altLang="en-US" b="1" dirty="0" err="1">
                <a:solidFill>
                  <a:srgbClr val="C00000"/>
                </a:solidFill>
              </a:rPr>
              <a:t>H,x</a:t>
            </a:r>
            <a:r>
              <a:rPr lang="en-US" altLang="en-US" b="1" dirty="0">
                <a:solidFill>
                  <a:srgbClr val="C00000"/>
                </a:solidFill>
              </a:rPr>
              <a:t>)</a:t>
            </a:r>
          </a:p>
          <a:p>
            <a:pPr>
              <a:buNone/>
            </a:pPr>
            <a:r>
              <a:rPr lang="en-US" altLang="en-US" dirty="0"/>
              <a:t>		1 Binomial-Heap-Decrease-Key(</a:t>
            </a:r>
            <a:r>
              <a:rPr lang="en-US" altLang="en-US" dirty="0" err="1"/>
              <a:t>H,x</a:t>
            </a:r>
            <a:r>
              <a:rPr lang="en-US" altLang="en-US" dirty="0"/>
              <a:t>,-∞)</a:t>
            </a:r>
          </a:p>
          <a:p>
            <a:pPr>
              <a:buNone/>
            </a:pPr>
            <a:r>
              <a:rPr lang="en-US" altLang="en-US" dirty="0"/>
              <a:t>		2 Binomial-Heap-Extract-Min(H)</a:t>
            </a:r>
          </a:p>
          <a:p>
            <a:pPr>
              <a:buNone/>
            </a:pPr>
            <a:endParaRPr lang="en-US" altLang="en-US" dirty="0"/>
          </a:p>
          <a:p>
            <a:r>
              <a:rPr lang="en-US" altLang="en-US" dirty="0"/>
              <a:t>Run time: O(log n) since the run time of both Binomial-Heap-Decrease-Key and Binomial-Heap-Extract-Min procedures are in order of O(log n). </a:t>
            </a:r>
          </a:p>
          <a:p>
            <a:pPr marL="0" indent="0">
              <a:buNone/>
            </a:pPr>
            <a:endParaRPr lang="en-IN" dirty="0"/>
          </a:p>
        </p:txBody>
      </p:sp>
    </p:spTree>
    <p:extLst>
      <p:ext uri="{BB962C8B-B14F-4D97-AF65-F5344CB8AC3E}">
        <p14:creationId xmlns:p14="http://schemas.microsoft.com/office/powerpoint/2010/main" val="15439686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grpSp>
        <p:nvGrpSpPr>
          <p:cNvPr id="55" name="Group 20"/>
          <p:cNvGrpSpPr>
            <a:grpSpLocks/>
          </p:cNvGrpSpPr>
          <p:nvPr/>
        </p:nvGrpSpPr>
        <p:grpSpPr bwMode="auto">
          <a:xfrm>
            <a:off x="2045952" y="1692320"/>
            <a:ext cx="3378200" cy="1587500"/>
            <a:chOff x="656" y="1496"/>
            <a:chExt cx="2128" cy="1000"/>
          </a:xfrm>
          <a:solidFill>
            <a:schemeClr val="accent5"/>
          </a:solidFill>
          <a:effectLst>
            <a:outerShdw blurRad="50800" dist="38100" dir="2700000" algn="tl" rotWithShape="0">
              <a:prstClr val="black">
                <a:alpha val="40000"/>
              </a:prstClr>
            </a:outerShdw>
          </a:effectLst>
        </p:grpSpPr>
        <p:sp>
          <p:nvSpPr>
            <p:cNvPr id="56" name="Oval 4"/>
            <p:cNvSpPr>
              <a:spLocks noChangeArrowheads="1"/>
            </p:cNvSpPr>
            <p:nvPr/>
          </p:nvSpPr>
          <p:spPr bwMode="auto">
            <a:xfrm>
              <a:off x="1632" y="1536"/>
              <a:ext cx="192" cy="192"/>
            </a:xfrm>
            <a:prstGeom prst="ellipse">
              <a:avLst/>
            </a:prstGeom>
            <a:grp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57" name="Oval 9"/>
            <p:cNvSpPr>
              <a:spLocks noChangeArrowheads="1"/>
            </p:cNvSpPr>
            <p:nvPr/>
          </p:nvSpPr>
          <p:spPr bwMode="auto">
            <a:xfrm>
              <a:off x="2592" y="1536"/>
              <a:ext cx="192" cy="192"/>
            </a:xfrm>
            <a:prstGeom prst="ellipse">
              <a:avLst/>
            </a:prstGeom>
            <a:grp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58" name="Oval 11"/>
            <p:cNvSpPr>
              <a:spLocks noChangeArrowheads="1"/>
            </p:cNvSpPr>
            <p:nvPr/>
          </p:nvSpPr>
          <p:spPr bwMode="auto">
            <a:xfrm>
              <a:off x="2592" y="1920"/>
              <a:ext cx="192" cy="192"/>
            </a:xfrm>
            <a:prstGeom prst="ellipse">
              <a:avLst/>
            </a:prstGeom>
            <a:grp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59" name="Oval 12"/>
            <p:cNvSpPr>
              <a:spLocks noChangeArrowheads="1"/>
            </p:cNvSpPr>
            <p:nvPr/>
          </p:nvSpPr>
          <p:spPr bwMode="auto">
            <a:xfrm>
              <a:off x="2160" y="1920"/>
              <a:ext cx="192" cy="192"/>
            </a:xfrm>
            <a:prstGeom prst="ellipse">
              <a:avLst/>
            </a:prstGeom>
            <a:solidFill>
              <a:schemeClr val="accent3"/>
            </a:solid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10</a:t>
              </a:r>
            </a:p>
          </p:txBody>
        </p:sp>
        <p:sp>
          <p:nvSpPr>
            <p:cNvPr id="60" name="Oval 13"/>
            <p:cNvSpPr>
              <a:spLocks noChangeArrowheads="1"/>
            </p:cNvSpPr>
            <p:nvPr/>
          </p:nvSpPr>
          <p:spPr bwMode="auto">
            <a:xfrm>
              <a:off x="2160" y="2304"/>
              <a:ext cx="192" cy="192"/>
            </a:xfrm>
            <a:prstGeom prst="ellipse">
              <a:avLst/>
            </a:prstGeom>
            <a:grp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61" name="Line 14"/>
            <p:cNvSpPr>
              <a:spLocks noChangeShapeType="1"/>
            </p:cNvSpPr>
            <p:nvPr/>
          </p:nvSpPr>
          <p:spPr bwMode="auto">
            <a:xfrm>
              <a:off x="2256" y="2112"/>
              <a:ext cx="0" cy="192"/>
            </a:xfrm>
            <a:prstGeom prst="line">
              <a:avLst/>
            </a:prstGeom>
            <a:grpFill/>
            <a:ln w="28575">
              <a:solidFill>
                <a:schemeClr val="tx1"/>
              </a:solidFill>
              <a:round/>
              <a:headEnd/>
              <a:tailEnd/>
            </a:ln>
          </p:spPr>
          <p:txBody>
            <a:bodyPr/>
            <a:lstStyle/>
            <a:p>
              <a:endParaRPr lang="en-IN"/>
            </a:p>
          </p:txBody>
        </p:sp>
        <p:sp>
          <p:nvSpPr>
            <p:cNvPr id="62" name="Line 15"/>
            <p:cNvSpPr>
              <a:spLocks noChangeShapeType="1"/>
            </p:cNvSpPr>
            <p:nvPr/>
          </p:nvSpPr>
          <p:spPr bwMode="auto">
            <a:xfrm>
              <a:off x="2688" y="1728"/>
              <a:ext cx="0" cy="192"/>
            </a:xfrm>
            <a:prstGeom prst="line">
              <a:avLst/>
            </a:prstGeom>
            <a:grpFill/>
            <a:ln w="28575">
              <a:solidFill>
                <a:schemeClr val="tx1"/>
              </a:solidFill>
              <a:round/>
              <a:headEnd/>
              <a:tailEnd/>
            </a:ln>
          </p:spPr>
          <p:txBody>
            <a:bodyPr/>
            <a:lstStyle/>
            <a:p>
              <a:endParaRPr lang="en-IN"/>
            </a:p>
          </p:txBody>
        </p:sp>
        <p:sp>
          <p:nvSpPr>
            <p:cNvPr id="63" name="Line 16"/>
            <p:cNvSpPr>
              <a:spLocks noChangeShapeType="1"/>
            </p:cNvSpPr>
            <p:nvPr/>
          </p:nvSpPr>
          <p:spPr bwMode="auto">
            <a:xfrm flipV="1">
              <a:off x="2304" y="1680"/>
              <a:ext cx="288" cy="240"/>
            </a:xfrm>
            <a:prstGeom prst="line">
              <a:avLst/>
            </a:prstGeom>
            <a:grpFill/>
            <a:ln w="28575">
              <a:solidFill>
                <a:schemeClr val="tx1"/>
              </a:solidFill>
              <a:round/>
              <a:headEnd/>
              <a:tailEnd/>
            </a:ln>
          </p:spPr>
          <p:txBody>
            <a:bodyPr/>
            <a:lstStyle/>
            <a:p>
              <a:endParaRPr lang="en-IN"/>
            </a:p>
          </p:txBody>
        </p:sp>
        <p:sp>
          <p:nvSpPr>
            <p:cNvPr id="64" name="Line 17"/>
            <p:cNvSpPr>
              <a:spLocks noChangeShapeType="1"/>
            </p:cNvSpPr>
            <p:nvPr/>
          </p:nvSpPr>
          <p:spPr bwMode="auto">
            <a:xfrm>
              <a:off x="1824" y="1632"/>
              <a:ext cx="768" cy="0"/>
            </a:xfrm>
            <a:prstGeom prst="line">
              <a:avLst/>
            </a:prstGeom>
            <a:grpFill/>
            <a:ln w="28575">
              <a:solidFill>
                <a:schemeClr val="tx1"/>
              </a:solidFill>
              <a:round/>
              <a:headEnd/>
              <a:tailEnd type="triangle" w="med" len="med"/>
            </a:ln>
          </p:spPr>
          <p:txBody>
            <a:bodyPr/>
            <a:lstStyle/>
            <a:p>
              <a:endParaRPr lang="en-IN"/>
            </a:p>
          </p:txBody>
        </p:sp>
        <p:sp>
          <p:nvSpPr>
            <p:cNvPr id="65" name="Text Box 18"/>
            <p:cNvSpPr txBox="1">
              <a:spLocks noChangeArrowheads="1"/>
            </p:cNvSpPr>
            <p:nvPr/>
          </p:nvSpPr>
          <p:spPr bwMode="auto">
            <a:xfrm>
              <a:off x="656" y="1496"/>
              <a:ext cx="624" cy="233"/>
            </a:xfrm>
            <a:prstGeom prst="rect">
              <a:avLst/>
            </a:prstGeom>
            <a:noFill/>
            <a:ln w="28575">
              <a:noFill/>
            </a:ln>
            <a:effectLst>
              <a:outerShdw blurRad="50800" dist="38100" dir="2700000" algn="tl" rotWithShape="0">
                <a:prstClr val="black">
                  <a:alpha val="40000"/>
                </a:prstClr>
              </a:outerShdw>
            </a:effectLst>
          </p:spPr>
          <p:txBody>
            <a:bodyPr wrap="square">
              <a:spAutoFit/>
            </a:bodyPr>
            <a:lstStyle>
              <a:defPPr>
                <a:defRPr lang="en-US"/>
              </a:defPPr>
              <a:lvl1pPr>
                <a:spcBef>
                  <a:spcPct val="50000"/>
                </a:spcBef>
                <a:defRPr>
                  <a:latin typeface="Arial" panose="020B0604020202020204" pitchFamily="34" charset="0"/>
                </a:defRPr>
              </a:lvl1pPr>
              <a:lvl2pPr marL="742950" indent="-285750" eaLnBrk="0" hangingPunct="0">
                <a:defRPr>
                  <a:latin typeface="Arial" panose="020B0604020202020204" pitchFamily="34" charset="0"/>
                </a:defRPr>
              </a:lvl2pPr>
              <a:lvl3pPr marL="1143000" indent="-228600" eaLnBrk="0" hangingPunct="0">
                <a:defRPr>
                  <a:latin typeface="Arial" panose="020B0604020202020204" pitchFamily="34" charset="0"/>
                </a:defRPr>
              </a:lvl3pPr>
              <a:lvl4pPr marL="1600200" indent="-228600" eaLnBrk="0" hangingPunct="0">
                <a:defRPr>
                  <a:latin typeface="Arial" panose="020B0604020202020204" pitchFamily="34" charset="0"/>
                </a:defRPr>
              </a:lvl4pPr>
              <a:lvl5pPr marL="2057400" indent="-228600" eaLnBrk="0" hangingPunct="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altLang="en-US" sz="1400" dirty="0"/>
                <a:t>head[H</a:t>
              </a:r>
              <a:r>
                <a:rPr lang="en-US" altLang="en-US" dirty="0"/>
                <a:t>]</a:t>
              </a:r>
            </a:p>
          </p:txBody>
        </p:sp>
        <p:sp>
          <p:nvSpPr>
            <p:cNvPr id="66" name="Line 19"/>
            <p:cNvSpPr>
              <a:spLocks noChangeShapeType="1"/>
            </p:cNvSpPr>
            <p:nvPr/>
          </p:nvSpPr>
          <p:spPr bwMode="auto">
            <a:xfrm>
              <a:off x="1152" y="1632"/>
              <a:ext cx="480" cy="0"/>
            </a:xfrm>
            <a:prstGeom prst="line">
              <a:avLst/>
            </a:prstGeom>
            <a:grpFill/>
            <a:ln w="28575">
              <a:solidFill>
                <a:schemeClr val="tx1"/>
              </a:solidFill>
              <a:round/>
              <a:headEnd/>
              <a:tailEnd type="triangle" w="med" len="med"/>
            </a:ln>
          </p:spPr>
          <p:txBody>
            <a:bodyPr/>
            <a:lstStyle/>
            <a:p>
              <a:endParaRPr lang="en-IN"/>
            </a:p>
          </p:txBody>
        </p:sp>
      </p:grpSp>
      <p:grpSp>
        <p:nvGrpSpPr>
          <p:cNvPr id="67" name="Group 22"/>
          <p:cNvGrpSpPr>
            <a:grpSpLocks/>
          </p:cNvGrpSpPr>
          <p:nvPr/>
        </p:nvGrpSpPr>
        <p:grpSpPr bwMode="auto">
          <a:xfrm>
            <a:off x="5957552" y="1832020"/>
            <a:ext cx="3352800" cy="1524000"/>
            <a:chOff x="672" y="1536"/>
            <a:chExt cx="2112" cy="960"/>
          </a:xfrm>
          <a:solidFill>
            <a:schemeClr val="accent5"/>
          </a:solidFill>
          <a:effectLst>
            <a:outerShdw blurRad="50800" dist="38100" dir="2700000" algn="tl" rotWithShape="0">
              <a:prstClr val="black">
                <a:alpha val="40000"/>
              </a:prstClr>
            </a:outerShdw>
          </a:effectLst>
        </p:grpSpPr>
        <p:sp>
          <p:nvSpPr>
            <p:cNvPr id="68" name="Oval 23"/>
            <p:cNvSpPr>
              <a:spLocks noChangeArrowheads="1"/>
            </p:cNvSpPr>
            <p:nvPr/>
          </p:nvSpPr>
          <p:spPr bwMode="auto">
            <a:xfrm>
              <a:off x="1632" y="1536"/>
              <a:ext cx="192" cy="192"/>
            </a:xfrm>
            <a:prstGeom prst="ellipse">
              <a:avLst/>
            </a:prstGeom>
            <a:grp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69" name="Oval 24"/>
            <p:cNvSpPr>
              <a:spLocks noChangeArrowheads="1"/>
            </p:cNvSpPr>
            <p:nvPr/>
          </p:nvSpPr>
          <p:spPr bwMode="auto">
            <a:xfrm>
              <a:off x="2592" y="1536"/>
              <a:ext cx="192" cy="192"/>
            </a:xfrm>
            <a:prstGeom prst="ellipse">
              <a:avLst/>
            </a:prstGeom>
            <a:grp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70" name="Oval 25"/>
            <p:cNvSpPr>
              <a:spLocks noChangeArrowheads="1"/>
            </p:cNvSpPr>
            <p:nvPr/>
          </p:nvSpPr>
          <p:spPr bwMode="auto">
            <a:xfrm>
              <a:off x="2592" y="1920"/>
              <a:ext cx="192" cy="192"/>
            </a:xfrm>
            <a:prstGeom prst="ellipse">
              <a:avLst/>
            </a:prstGeom>
            <a:grp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71" name="Oval 26"/>
            <p:cNvSpPr>
              <a:spLocks noChangeArrowheads="1"/>
            </p:cNvSpPr>
            <p:nvPr/>
          </p:nvSpPr>
          <p:spPr bwMode="auto">
            <a:xfrm>
              <a:off x="2160" y="1920"/>
              <a:ext cx="192" cy="192"/>
            </a:xfrm>
            <a:prstGeom prst="ellipse">
              <a:avLst/>
            </a:prstGeom>
            <a:solidFill>
              <a:schemeClr val="accent3"/>
            </a:solid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a:t>
              </a:r>
              <a:r>
                <a:rPr lang="en-US" altLang="en-US" dirty="0"/>
                <a:t>∞</a:t>
              </a:r>
            </a:p>
          </p:txBody>
        </p:sp>
        <p:sp>
          <p:nvSpPr>
            <p:cNvPr id="72" name="Oval 27"/>
            <p:cNvSpPr>
              <a:spLocks noChangeArrowheads="1"/>
            </p:cNvSpPr>
            <p:nvPr/>
          </p:nvSpPr>
          <p:spPr bwMode="auto">
            <a:xfrm>
              <a:off x="2160" y="2304"/>
              <a:ext cx="192" cy="192"/>
            </a:xfrm>
            <a:prstGeom prst="ellipse">
              <a:avLst/>
            </a:prstGeom>
            <a:grp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73" name="Line 28"/>
            <p:cNvSpPr>
              <a:spLocks noChangeShapeType="1"/>
            </p:cNvSpPr>
            <p:nvPr/>
          </p:nvSpPr>
          <p:spPr bwMode="auto">
            <a:xfrm>
              <a:off x="2256" y="2112"/>
              <a:ext cx="0" cy="192"/>
            </a:xfrm>
            <a:prstGeom prst="line">
              <a:avLst/>
            </a:prstGeom>
            <a:grpFill/>
            <a:ln w="28575">
              <a:solidFill>
                <a:schemeClr val="tx1"/>
              </a:solidFill>
              <a:round/>
              <a:headEnd/>
              <a:tailEnd/>
            </a:ln>
          </p:spPr>
          <p:txBody>
            <a:bodyPr/>
            <a:lstStyle/>
            <a:p>
              <a:endParaRPr lang="en-IN"/>
            </a:p>
          </p:txBody>
        </p:sp>
        <p:sp>
          <p:nvSpPr>
            <p:cNvPr id="74" name="Line 29"/>
            <p:cNvSpPr>
              <a:spLocks noChangeShapeType="1"/>
            </p:cNvSpPr>
            <p:nvPr/>
          </p:nvSpPr>
          <p:spPr bwMode="auto">
            <a:xfrm>
              <a:off x="2688" y="1728"/>
              <a:ext cx="0" cy="192"/>
            </a:xfrm>
            <a:prstGeom prst="line">
              <a:avLst/>
            </a:prstGeom>
            <a:grpFill/>
            <a:ln w="28575">
              <a:solidFill>
                <a:schemeClr val="tx1"/>
              </a:solidFill>
              <a:round/>
              <a:headEnd/>
              <a:tailEnd/>
            </a:ln>
          </p:spPr>
          <p:txBody>
            <a:bodyPr/>
            <a:lstStyle/>
            <a:p>
              <a:endParaRPr lang="en-IN"/>
            </a:p>
          </p:txBody>
        </p:sp>
        <p:sp>
          <p:nvSpPr>
            <p:cNvPr id="75" name="Line 30"/>
            <p:cNvSpPr>
              <a:spLocks noChangeShapeType="1"/>
            </p:cNvSpPr>
            <p:nvPr/>
          </p:nvSpPr>
          <p:spPr bwMode="auto">
            <a:xfrm flipV="1">
              <a:off x="2304" y="1680"/>
              <a:ext cx="288" cy="240"/>
            </a:xfrm>
            <a:prstGeom prst="line">
              <a:avLst/>
            </a:prstGeom>
            <a:grpFill/>
            <a:ln w="28575">
              <a:solidFill>
                <a:schemeClr val="tx1"/>
              </a:solidFill>
              <a:round/>
              <a:headEnd/>
              <a:tailEnd/>
            </a:ln>
          </p:spPr>
          <p:txBody>
            <a:bodyPr/>
            <a:lstStyle/>
            <a:p>
              <a:endParaRPr lang="en-IN"/>
            </a:p>
          </p:txBody>
        </p:sp>
        <p:sp>
          <p:nvSpPr>
            <p:cNvPr id="76" name="Line 31"/>
            <p:cNvSpPr>
              <a:spLocks noChangeShapeType="1"/>
            </p:cNvSpPr>
            <p:nvPr/>
          </p:nvSpPr>
          <p:spPr bwMode="auto">
            <a:xfrm>
              <a:off x="1824" y="1632"/>
              <a:ext cx="768" cy="0"/>
            </a:xfrm>
            <a:prstGeom prst="line">
              <a:avLst/>
            </a:prstGeom>
            <a:grpFill/>
            <a:ln w="28575">
              <a:solidFill>
                <a:schemeClr val="tx1"/>
              </a:solidFill>
              <a:round/>
              <a:headEnd/>
              <a:tailEnd type="triangle" w="med" len="med"/>
            </a:ln>
          </p:spPr>
          <p:txBody>
            <a:bodyPr/>
            <a:lstStyle/>
            <a:p>
              <a:endParaRPr lang="en-IN"/>
            </a:p>
          </p:txBody>
        </p:sp>
        <p:sp>
          <p:nvSpPr>
            <p:cNvPr id="77" name="Text Box 32"/>
            <p:cNvSpPr txBox="1">
              <a:spLocks noChangeArrowheads="1"/>
            </p:cNvSpPr>
            <p:nvPr/>
          </p:nvSpPr>
          <p:spPr bwMode="auto">
            <a:xfrm>
              <a:off x="672" y="1536"/>
              <a:ext cx="576" cy="194"/>
            </a:xfrm>
            <a:prstGeom prst="rect">
              <a:avLst/>
            </a:prstGeom>
            <a:noFill/>
            <a:ln w="28575">
              <a:noFill/>
            </a:ln>
            <a:effectLst>
              <a:outerShdw blurRad="50800" dist="38100" dir="2700000" algn="tl" rotWithShape="0">
                <a:prstClr val="black">
                  <a:alpha val="40000"/>
                </a:prstClr>
              </a:outerShdw>
            </a:effectLst>
          </p:spPr>
          <p:txBody>
            <a:bodyPr wrap="square">
              <a:spAutoFit/>
            </a:bodyPr>
            <a:lstStyle>
              <a:defPPr>
                <a:defRPr lang="en-US"/>
              </a:defPPr>
              <a:lvl1pPr>
                <a:spcBef>
                  <a:spcPct val="50000"/>
                </a:spcBef>
                <a:defRPr sz="1400">
                  <a:latin typeface="Arial" panose="020B0604020202020204" pitchFamily="34" charset="0"/>
                </a:defRPr>
              </a:lvl1pPr>
              <a:lvl2pPr marL="742950" indent="-285750" eaLnBrk="0" hangingPunct="0">
                <a:defRPr>
                  <a:latin typeface="Arial" panose="020B0604020202020204" pitchFamily="34" charset="0"/>
                </a:defRPr>
              </a:lvl2pPr>
              <a:lvl3pPr marL="1143000" indent="-228600" eaLnBrk="0" hangingPunct="0">
                <a:defRPr>
                  <a:latin typeface="Arial" panose="020B0604020202020204" pitchFamily="34" charset="0"/>
                </a:defRPr>
              </a:lvl3pPr>
              <a:lvl4pPr marL="1600200" indent="-228600" eaLnBrk="0" hangingPunct="0">
                <a:defRPr>
                  <a:latin typeface="Arial" panose="020B0604020202020204" pitchFamily="34" charset="0"/>
                </a:defRPr>
              </a:lvl4pPr>
              <a:lvl5pPr marL="2057400" indent="-228600" eaLnBrk="0" hangingPunct="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altLang="en-US" dirty="0"/>
                <a:t>head[H]</a:t>
              </a:r>
            </a:p>
          </p:txBody>
        </p:sp>
        <p:sp>
          <p:nvSpPr>
            <p:cNvPr id="78" name="Line 33"/>
            <p:cNvSpPr>
              <a:spLocks noChangeShapeType="1"/>
            </p:cNvSpPr>
            <p:nvPr/>
          </p:nvSpPr>
          <p:spPr bwMode="auto">
            <a:xfrm>
              <a:off x="1152" y="1632"/>
              <a:ext cx="480" cy="0"/>
            </a:xfrm>
            <a:prstGeom prst="line">
              <a:avLst/>
            </a:prstGeom>
            <a:grpFill/>
            <a:ln w="28575">
              <a:solidFill>
                <a:schemeClr val="tx1"/>
              </a:solidFill>
              <a:round/>
              <a:headEnd/>
              <a:tailEnd type="triangle" w="med" len="med"/>
            </a:ln>
          </p:spPr>
          <p:txBody>
            <a:bodyPr/>
            <a:lstStyle/>
            <a:p>
              <a:endParaRPr lang="en-IN"/>
            </a:p>
          </p:txBody>
        </p:sp>
      </p:grpSp>
      <p:grpSp>
        <p:nvGrpSpPr>
          <p:cNvPr id="79" name="Group 34"/>
          <p:cNvGrpSpPr>
            <a:grpSpLocks/>
          </p:cNvGrpSpPr>
          <p:nvPr/>
        </p:nvGrpSpPr>
        <p:grpSpPr bwMode="auto">
          <a:xfrm>
            <a:off x="2045952" y="3889420"/>
            <a:ext cx="3378200" cy="1524000"/>
            <a:chOff x="656" y="1536"/>
            <a:chExt cx="2128" cy="960"/>
          </a:xfrm>
          <a:solidFill>
            <a:schemeClr val="accent5"/>
          </a:solidFill>
          <a:effectLst>
            <a:outerShdw blurRad="50800" dist="38100" dir="2700000" algn="tl" rotWithShape="0">
              <a:prstClr val="black">
                <a:alpha val="40000"/>
              </a:prstClr>
            </a:outerShdw>
          </a:effectLst>
        </p:grpSpPr>
        <p:sp>
          <p:nvSpPr>
            <p:cNvPr id="80" name="Oval 35"/>
            <p:cNvSpPr>
              <a:spLocks noChangeArrowheads="1"/>
            </p:cNvSpPr>
            <p:nvPr/>
          </p:nvSpPr>
          <p:spPr bwMode="auto">
            <a:xfrm>
              <a:off x="1632" y="1536"/>
              <a:ext cx="192" cy="192"/>
            </a:xfrm>
            <a:prstGeom prst="ellipse">
              <a:avLst/>
            </a:prstGeom>
            <a:grp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81" name="Oval 36"/>
            <p:cNvSpPr>
              <a:spLocks noChangeArrowheads="1"/>
            </p:cNvSpPr>
            <p:nvPr/>
          </p:nvSpPr>
          <p:spPr bwMode="auto">
            <a:xfrm>
              <a:off x="2592" y="1536"/>
              <a:ext cx="192" cy="192"/>
            </a:xfrm>
            <a:prstGeom prst="ellipse">
              <a:avLst/>
            </a:prstGeom>
            <a:solidFill>
              <a:schemeClr val="accent3"/>
            </a:solid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t>-∞</a:t>
              </a:r>
            </a:p>
          </p:txBody>
        </p:sp>
        <p:sp>
          <p:nvSpPr>
            <p:cNvPr id="82" name="Oval 37"/>
            <p:cNvSpPr>
              <a:spLocks noChangeArrowheads="1"/>
            </p:cNvSpPr>
            <p:nvPr/>
          </p:nvSpPr>
          <p:spPr bwMode="auto">
            <a:xfrm>
              <a:off x="2592" y="1920"/>
              <a:ext cx="192" cy="192"/>
            </a:xfrm>
            <a:prstGeom prst="ellipse">
              <a:avLst/>
            </a:prstGeom>
            <a:grp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83" name="Oval 38"/>
            <p:cNvSpPr>
              <a:spLocks noChangeArrowheads="1"/>
            </p:cNvSpPr>
            <p:nvPr/>
          </p:nvSpPr>
          <p:spPr bwMode="auto">
            <a:xfrm>
              <a:off x="2160" y="1920"/>
              <a:ext cx="192" cy="192"/>
            </a:xfrm>
            <a:prstGeom prst="ellipse">
              <a:avLst/>
            </a:prstGeom>
            <a:grp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84" name="Oval 39"/>
            <p:cNvSpPr>
              <a:spLocks noChangeArrowheads="1"/>
            </p:cNvSpPr>
            <p:nvPr/>
          </p:nvSpPr>
          <p:spPr bwMode="auto">
            <a:xfrm>
              <a:off x="2160" y="2304"/>
              <a:ext cx="192" cy="192"/>
            </a:xfrm>
            <a:prstGeom prst="ellipse">
              <a:avLst/>
            </a:prstGeom>
            <a:grp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85" name="Line 40"/>
            <p:cNvSpPr>
              <a:spLocks noChangeShapeType="1"/>
            </p:cNvSpPr>
            <p:nvPr/>
          </p:nvSpPr>
          <p:spPr bwMode="auto">
            <a:xfrm>
              <a:off x="2256" y="2112"/>
              <a:ext cx="0" cy="192"/>
            </a:xfrm>
            <a:prstGeom prst="line">
              <a:avLst/>
            </a:prstGeom>
            <a:grpFill/>
            <a:ln w="28575">
              <a:solidFill>
                <a:schemeClr val="tx1"/>
              </a:solidFill>
              <a:round/>
              <a:headEnd/>
              <a:tailEnd/>
            </a:ln>
          </p:spPr>
          <p:txBody>
            <a:bodyPr/>
            <a:lstStyle/>
            <a:p>
              <a:endParaRPr lang="en-IN"/>
            </a:p>
          </p:txBody>
        </p:sp>
        <p:sp>
          <p:nvSpPr>
            <p:cNvPr id="86" name="Line 41"/>
            <p:cNvSpPr>
              <a:spLocks noChangeShapeType="1"/>
            </p:cNvSpPr>
            <p:nvPr/>
          </p:nvSpPr>
          <p:spPr bwMode="auto">
            <a:xfrm>
              <a:off x="2688" y="1728"/>
              <a:ext cx="0" cy="192"/>
            </a:xfrm>
            <a:prstGeom prst="line">
              <a:avLst/>
            </a:prstGeom>
            <a:grpFill/>
            <a:ln w="28575">
              <a:solidFill>
                <a:schemeClr val="tx1"/>
              </a:solidFill>
              <a:round/>
              <a:headEnd/>
              <a:tailEnd/>
            </a:ln>
          </p:spPr>
          <p:txBody>
            <a:bodyPr/>
            <a:lstStyle/>
            <a:p>
              <a:endParaRPr lang="en-IN"/>
            </a:p>
          </p:txBody>
        </p:sp>
        <p:sp>
          <p:nvSpPr>
            <p:cNvPr id="87" name="Line 42"/>
            <p:cNvSpPr>
              <a:spLocks noChangeShapeType="1"/>
            </p:cNvSpPr>
            <p:nvPr/>
          </p:nvSpPr>
          <p:spPr bwMode="auto">
            <a:xfrm flipV="1">
              <a:off x="2304" y="1680"/>
              <a:ext cx="288" cy="240"/>
            </a:xfrm>
            <a:prstGeom prst="line">
              <a:avLst/>
            </a:prstGeom>
            <a:grpFill/>
            <a:ln w="28575">
              <a:solidFill>
                <a:schemeClr val="tx1"/>
              </a:solidFill>
              <a:round/>
              <a:headEnd/>
              <a:tailEnd/>
            </a:ln>
          </p:spPr>
          <p:txBody>
            <a:bodyPr/>
            <a:lstStyle/>
            <a:p>
              <a:endParaRPr lang="en-IN"/>
            </a:p>
          </p:txBody>
        </p:sp>
        <p:sp>
          <p:nvSpPr>
            <p:cNvPr id="88" name="Line 43"/>
            <p:cNvSpPr>
              <a:spLocks noChangeShapeType="1"/>
            </p:cNvSpPr>
            <p:nvPr/>
          </p:nvSpPr>
          <p:spPr bwMode="auto">
            <a:xfrm>
              <a:off x="1824" y="1632"/>
              <a:ext cx="768" cy="0"/>
            </a:xfrm>
            <a:prstGeom prst="line">
              <a:avLst/>
            </a:prstGeom>
            <a:grpFill/>
            <a:ln w="28575">
              <a:solidFill>
                <a:schemeClr val="tx1"/>
              </a:solidFill>
              <a:round/>
              <a:headEnd/>
              <a:tailEnd type="triangle" w="med" len="med"/>
            </a:ln>
          </p:spPr>
          <p:txBody>
            <a:bodyPr/>
            <a:lstStyle/>
            <a:p>
              <a:endParaRPr lang="en-IN"/>
            </a:p>
          </p:txBody>
        </p:sp>
        <p:sp>
          <p:nvSpPr>
            <p:cNvPr id="89" name="Text Box 44"/>
            <p:cNvSpPr txBox="1">
              <a:spLocks noChangeArrowheads="1"/>
            </p:cNvSpPr>
            <p:nvPr/>
          </p:nvSpPr>
          <p:spPr bwMode="auto">
            <a:xfrm>
              <a:off x="656" y="1536"/>
              <a:ext cx="592" cy="194"/>
            </a:xfrm>
            <a:prstGeom prst="rect">
              <a:avLst/>
            </a:prstGeom>
            <a:noFill/>
            <a:ln w="28575">
              <a:noFill/>
            </a:ln>
            <a:effectLst>
              <a:outerShdw blurRad="50800" dist="38100" dir="2700000" algn="tl" rotWithShape="0">
                <a:prstClr val="black">
                  <a:alpha val="40000"/>
                </a:prstClr>
              </a:outerShdw>
            </a:effectLst>
          </p:spPr>
          <p:txBody>
            <a:bodyPr wrap="square">
              <a:spAutoFit/>
            </a:bodyPr>
            <a:lstStyle>
              <a:defPPr>
                <a:defRPr lang="en-US"/>
              </a:defPPr>
              <a:lvl1pPr>
                <a:spcBef>
                  <a:spcPct val="50000"/>
                </a:spcBef>
                <a:defRPr sz="1400">
                  <a:latin typeface="Arial" panose="020B0604020202020204" pitchFamily="34" charset="0"/>
                </a:defRPr>
              </a:lvl1pPr>
              <a:lvl2pPr marL="742950" indent="-285750" eaLnBrk="0" hangingPunct="0">
                <a:defRPr>
                  <a:latin typeface="Arial" panose="020B0604020202020204" pitchFamily="34" charset="0"/>
                </a:defRPr>
              </a:lvl2pPr>
              <a:lvl3pPr marL="1143000" indent="-228600" eaLnBrk="0" hangingPunct="0">
                <a:defRPr>
                  <a:latin typeface="Arial" panose="020B0604020202020204" pitchFamily="34" charset="0"/>
                </a:defRPr>
              </a:lvl3pPr>
              <a:lvl4pPr marL="1600200" indent="-228600" eaLnBrk="0" hangingPunct="0">
                <a:defRPr>
                  <a:latin typeface="Arial" panose="020B0604020202020204" pitchFamily="34" charset="0"/>
                </a:defRPr>
              </a:lvl4pPr>
              <a:lvl5pPr marL="2057400" indent="-228600" eaLnBrk="0" hangingPunct="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altLang="en-US" dirty="0"/>
                <a:t>head[H]</a:t>
              </a:r>
            </a:p>
          </p:txBody>
        </p:sp>
        <p:sp>
          <p:nvSpPr>
            <p:cNvPr id="90" name="Line 45"/>
            <p:cNvSpPr>
              <a:spLocks noChangeShapeType="1"/>
            </p:cNvSpPr>
            <p:nvPr/>
          </p:nvSpPr>
          <p:spPr bwMode="auto">
            <a:xfrm>
              <a:off x="1152" y="1632"/>
              <a:ext cx="480" cy="0"/>
            </a:xfrm>
            <a:prstGeom prst="line">
              <a:avLst/>
            </a:prstGeom>
            <a:grpFill/>
            <a:ln w="28575">
              <a:solidFill>
                <a:schemeClr val="tx1"/>
              </a:solidFill>
              <a:round/>
              <a:headEnd/>
              <a:tailEnd type="triangle" w="med" len="med"/>
            </a:ln>
          </p:spPr>
          <p:txBody>
            <a:bodyPr/>
            <a:lstStyle/>
            <a:p>
              <a:endParaRPr lang="en-IN"/>
            </a:p>
          </p:txBody>
        </p:sp>
      </p:grpSp>
      <p:sp>
        <p:nvSpPr>
          <p:cNvPr id="91" name="Oval 47"/>
          <p:cNvSpPr>
            <a:spLocks noChangeArrowheads="1"/>
          </p:cNvSpPr>
          <p:nvPr/>
        </p:nvSpPr>
        <p:spPr bwMode="auto">
          <a:xfrm>
            <a:off x="7633952" y="3889420"/>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92" name="Oval 49"/>
          <p:cNvSpPr>
            <a:spLocks noChangeArrowheads="1"/>
          </p:cNvSpPr>
          <p:nvPr/>
        </p:nvSpPr>
        <p:spPr bwMode="auto">
          <a:xfrm>
            <a:off x="7786352" y="4575220"/>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12</a:t>
            </a:r>
          </a:p>
        </p:txBody>
      </p:sp>
      <p:sp>
        <p:nvSpPr>
          <p:cNvPr id="93" name="Oval 50"/>
          <p:cNvSpPr>
            <a:spLocks noChangeArrowheads="1"/>
          </p:cNvSpPr>
          <p:nvPr/>
        </p:nvSpPr>
        <p:spPr bwMode="auto">
          <a:xfrm>
            <a:off x="8472152" y="4575220"/>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94" name="Oval 51"/>
          <p:cNvSpPr>
            <a:spLocks noChangeArrowheads="1"/>
          </p:cNvSpPr>
          <p:nvPr/>
        </p:nvSpPr>
        <p:spPr bwMode="auto">
          <a:xfrm>
            <a:off x="8472152" y="5184820"/>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95" name="Line 52"/>
          <p:cNvSpPr>
            <a:spLocks noChangeShapeType="1"/>
          </p:cNvSpPr>
          <p:nvPr/>
        </p:nvSpPr>
        <p:spPr bwMode="auto">
          <a:xfrm>
            <a:off x="8624552" y="4880020"/>
            <a:ext cx="0" cy="3048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96" name="Line 55"/>
          <p:cNvSpPr>
            <a:spLocks noChangeShapeType="1"/>
          </p:cNvSpPr>
          <p:nvPr/>
        </p:nvSpPr>
        <p:spPr bwMode="auto">
          <a:xfrm>
            <a:off x="7252952" y="4727620"/>
            <a:ext cx="5334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97" name="Text Box 56"/>
          <p:cNvSpPr txBox="1">
            <a:spLocks noChangeArrowheads="1"/>
          </p:cNvSpPr>
          <p:nvPr/>
        </p:nvSpPr>
        <p:spPr bwMode="auto">
          <a:xfrm>
            <a:off x="6516710" y="3889420"/>
            <a:ext cx="888642" cy="307777"/>
          </a:xfrm>
          <a:prstGeom prst="rect">
            <a:avLst/>
          </a:prstGeom>
          <a:noFill/>
          <a:ln w="28575">
            <a:noFill/>
          </a:ln>
          <a:effectLst>
            <a:outerShdw blurRad="50800" dist="38100" dir="2700000" algn="tl" rotWithShape="0">
              <a:prstClr val="black">
                <a:alpha val="40000"/>
              </a:prstClr>
            </a:outerShdw>
          </a:effectLst>
        </p:spPr>
        <p:txBody>
          <a:bodyPr wrap="square">
            <a:spAutoFit/>
          </a:bodyPr>
          <a:lstStyle>
            <a:defPPr>
              <a:defRPr lang="en-US"/>
            </a:defPPr>
            <a:lvl1pPr>
              <a:spcBef>
                <a:spcPct val="50000"/>
              </a:spcBef>
              <a:defRPr sz="1400">
                <a:latin typeface="Arial" panose="020B0604020202020204" pitchFamily="34" charset="0"/>
              </a:defRPr>
            </a:lvl1pPr>
            <a:lvl2pPr marL="742950" indent="-285750" eaLnBrk="0" hangingPunct="0">
              <a:defRPr>
                <a:latin typeface="Arial" panose="020B0604020202020204" pitchFamily="34" charset="0"/>
              </a:defRPr>
            </a:lvl2pPr>
            <a:lvl3pPr marL="1143000" indent="-228600" eaLnBrk="0" hangingPunct="0">
              <a:defRPr>
                <a:latin typeface="Arial" panose="020B0604020202020204" pitchFamily="34" charset="0"/>
              </a:defRPr>
            </a:lvl3pPr>
            <a:lvl4pPr marL="1600200" indent="-228600" eaLnBrk="0" hangingPunct="0">
              <a:defRPr>
                <a:latin typeface="Arial" panose="020B0604020202020204" pitchFamily="34" charset="0"/>
              </a:defRPr>
            </a:lvl4pPr>
            <a:lvl5pPr marL="2057400" indent="-228600" eaLnBrk="0" hangingPunct="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altLang="en-US" dirty="0"/>
              <a:t>head[H]</a:t>
            </a:r>
          </a:p>
        </p:txBody>
      </p:sp>
      <p:sp>
        <p:nvSpPr>
          <p:cNvPr id="98" name="Line 57"/>
          <p:cNvSpPr>
            <a:spLocks noChangeShapeType="1"/>
          </p:cNvSpPr>
          <p:nvPr/>
        </p:nvSpPr>
        <p:spPr bwMode="auto">
          <a:xfrm>
            <a:off x="7252952" y="4041820"/>
            <a:ext cx="3810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99" name="Line 58"/>
          <p:cNvSpPr>
            <a:spLocks noChangeShapeType="1"/>
          </p:cNvSpPr>
          <p:nvPr/>
        </p:nvSpPr>
        <p:spPr bwMode="auto">
          <a:xfrm>
            <a:off x="8091152" y="4727620"/>
            <a:ext cx="3810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100" name="Text Box 59"/>
          <p:cNvSpPr txBox="1">
            <a:spLocks noChangeArrowheads="1"/>
          </p:cNvSpPr>
          <p:nvPr/>
        </p:nvSpPr>
        <p:spPr bwMode="auto">
          <a:xfrm>
            <a:off x="6477000" y="4575220"/>
            <a:ext cx="1018504" cy="307777"/>
          </a:xfrm>
          <a:prstGeom prst="rect">
            <a:avLst/>
          </a:prstGeom>
          <a:noFill/>
          <a:ln w="28575">
            <a:noFill/>
          </a:ln>
          <a:effectLst>
            <a:outerShdw blurRad="50800" dist="38100" dir="2700000" algn="tl" rotWithShape="0">
              <a:prstClr val="black">
                <a:alpha val="40000"/>
              </a:prstClr>
            </a:outerShdw>
          </a:effectLst>
        </p:spPr>
        <p:txBody>
          <a:bodyPr wrap="square">
            <a:spAutoFit/>
          </a:bodyPr>
          <a:lstStyle>
            <a:defPPr>
              <a:defRPr lang="en-US"/>
            </a:defPPr>
            <a:lvl1pPr>
              <a:spcBef>
                <a:spcPct val="50000"/>
              </a:spcBef>
              <a:defRPr sz="1400">
                <a:latin typeface="Arial" panose="020B0604020202020204" pitchFamily="34" charset="0"/>
              </a:defRPr>
            </a:lvl1pPr>
            <a:lvl2pPr marL="742950" indent="-285750" eaLnBrk="0" hangingPunct="0">
              <a:defRPr>
                <a:latin typeface="Arial" panose="020B0604020202020204" pitchFamily="34" charset="0"/>
              </a:defRPr>
            </a:lvl2pPr>
            <a:lvl3pPr marL="1143000" indent="-228600" eaLnBrk="0" hangingPunct="0">
              <a:defRPr>
                <a:latin typeface="Arial" panose="020B0604020202020204" pitchFamily="34" charset="0"/>
              </a:defRPr>
            </a:lvl3pPr>
            <a:lvl4pPr marL="1600200" indent="-228600" eaLnBrk="0" hangingPunct="0">
              <a:defRPr>
                <a:latin typeface="Arial" panose="020B0604020202020204" pitchFamily="34" charset="0"/>
              </a:defRPr>
            </a:lvl4pPr>
            <a:lvl5pPr marL="2057400" indent="-228600" eaLnBrk="0" hangingPunct="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altLang="en-US" dirty="0"/>
              <a:t>head[H’]</a:t>
            </a:r>
          </a:p>
        </p:txBody>
      </p:sp>
      <p:sp>
        <p:nvSpPr>
          <p:cNvPr id="101" name="Text Box 60"/>
          <p:cNvSpPr txBox="1">
            <a:spLocks noChangeArrowheads="1"/>
          </p:cNvSpPr>
          <p:nvPr/>
        </p:nvSpPr>
        <p:spPr bwMode="auto">
          <a:xfrm>
            <a:off x="3290552" y="1070020"/>
            <a:ext cx="609600" cy="307777"/>
          </a:xfrm>
          <a:prstGeom prst="rect">
            <a:avLst/>
          </a:prstGeom>
          <a:noFill/>
          <a:ln w="28575">
            <a:noFill/>
          </a:ln>
          <a:effectLst>
            <a:outerShdw blurRad="50800" dist="38100" dir="2700000" algn="tl" rotWithShape="0">
              <a:prstClr val="black">
                <a:alpha val="40000"/>
              </a:prstClr>
            </a:outerShdw>
          </a:effectLst>
        </p:spPr>
        <p:txBody>
          <a:bodyPr wrap="square">
            <a:spAutoFit/>
          </a:bodyPr>
          <a:lstStyle>
            <a:defPPr>
              <a:defRPr lang="en-US"/>
            </a:defPPr>
            <a:lvl1pPr>
              <a:spcBef>
                <a:spcPct val="50000"/>
              </a:spcBef>
              <a:defRPr sz="1400">
                <a:latin typeface="Arial" panose="020B0604020202020204" pitchFamily="34" charset="0"/>
              </a:defRPr>
            </a:lvl1pPr>
            <a:lvl2pPr marL="742950" indent="-285750" eaLnBrk="0" hangingPunct="0">
              <a:defRPr>
                <a:latin typeface="Arial" panose="020B0604020202020204" pitchFamily="34" charset="0"/>
              </a:defRPr>
            </a:lvl2pPr>
            <a:lvl3pPr marL="1143000" indent="-228600" eaLnBrk="0" hangingPunct="0">
              <a:defRPr>
                <a:latin typeface="Arial" panose="020B0604020202020204" pitchFamily="34" charset="0"/>
              </a:defRPr>
            </a:lvl3pPr>
            <a:lvl4pPr marL="1600200" indent="-228600" eaLnBrk="0" hangingPunct="0">
              <a:defRPr>
                <a:latin typeface="Arial" panose="020B0604020202020204" pitchFamily="34" charset="0"/>
              </a:defRPr>
            </a:lvl4pPr>
            <a:lvl5pPr marL="2057400" indent="-228600" eaLnBrk="0" hangingPunct="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altLang="en-US" dirty="0"/>
              <a:t>a)</a:t>
            </a:r>
          </a:p>
        </p:txBody>
      </p:sp>
      <p:sp>
        <p:nvSpPr>
          <p:cNvPr id="102" name="Text Box 61"/>
          <p:cNvSpPr txBox="1">
            <a:spLocks noChangeArrowheads="1"/>
          </p:cNvSpPr>
          <p:nvPr/>
        </p:nvSpPr>
        <p:spPr bwMode="auto">
          <a:xfrm>
            <a:off x="7481552" y="1146220"/>
            <a:ext cx="609600" cy="307777"/>
          </a:xfrm>
          <a:prstGeom prst="rect">
            <a:avLst/>
          </a:prstGeom>
          <a:noFill/>
          <a:ln w="28575">
            <a:noFill/>
          </a:ln>
          <a:effectLst>
            <a:outerShdw blurRad="50800" dist="38100" dir="2700000" algn="tl" rotWithShape="0">
              <a:prstClr val="black">
                <a:alpha val="40000"/>
              </a:prstClr>
            </a:outerShdw>
          </a:effectLst>
        </p:spPr>
        <p:txBody>
          <a:bodyPr wrap="square">
            <a:spAutoFit/>
          </a:bodyPr>
          <a:lstStyle>
            <a:defPPr>
              <a:defRPr lang="en-US"/>
            </a:defPPr>
            <a:lvl1pPr>
              <a:spcBef>
                <a:spcPct val="50000"/>
              </a:spcBef>
              <a:defRPr sz="1400">
                <a:latin typeface="Arial" panose="020B0604020202020204" pitchFamily="34" charset="0"/>
              </a:defRPr>
            </a:lvl1pPr>
            <a:lvl2pPr marL="742950" indent="-285750" eaLnBrk="0" hangingPunct="0">
              <a:defRPr>
                <a:latin typeface="Arial" panose="020B0604020202020204" pitchFamily="34" charset="0"/>
              </a:defRPr>
            </a:lvl2pPr>
            <a:lvl3pPr marL="1143000" indent="-228600" eaLnBrk="0" hangingPunct="0">
              <a:defRPr>
                <a:latin typeface="Arial" panose="020B0604020202020204" pitchFamily="34" charset="0"/>
              </a:defRPr>
            </a:lvl3pPr>
            <a:lvl4pPr marL="1600200" indent="-228600" eaLnBrk="0" hangingPunct="0">
              <a:defRPr>
                <a:latin typeface="Arial" panose="020B0604020202020204" pitchFamily="34" charset="0"/>
              </a:defRPr>
            </a:lvl4pPr>
            <a:lvl5pPr marL="2057400" indent="-228600" eaLnBrk="0" hangingPunct="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altLang="en-US"/>
              <a:t>b)</a:t>
            </a:r>
          </a:p>
        </p:txBody>
      </p:sp>
      <p:sp>
        <p:nvSpPr>
          <p:cNvPr id="103" name="Text Box 62"/>
          <p:cNvSpPr txBox="1">
            <a:spLocks noChangeArrowheads="1"/>
          </p:cNvSpPr>
          <p:nvPr/>
        </p:nvSpPr>
        <p:spPr bwMode="auto">
          <a:xfrm>
            <a:off x="3061952" y="3356020"/>
            <a:ext cx="609600" cy="307777"/>
          </a:xfrm>
          <a:prstGeom prst="rect">
            <a:avLst/>
          </a:prstGeom>
          <a:noFill/>
          <a:ln w="28575">
            <a:noFill/>
          </a:ln>
          <a:effectLst>
            <a:outerShdw blurRad="50800" dist="38100" dir="2700000" algn="tl" rotWithShape="0">
              <a:prstClr val="black">
                <a:alpha val="40000"/>
              </a:prstClr>
            </a:outerShdw>
          </a:effectLst>
        </p:spPr>
        <p:txBody>
          <a:bodyPr wrap="square">
            <a:spAutoFit/>
          </a:bodyPr>
          <a:lstStyle>
            <a:defPPr>
              <a:defRPr lang="en-US"/>
            </a:defPPr>
            <a:lvl1pPr>
              <a:spcBef>
                <a:spcPct val="50000"/>
              </a:spcBef>
              <a:defRPr sz="1400">
                <a:latin typeface="Arial" panose="020B0604020202020204" pitchFamily="34" charset="0"/>
              </a:defRPr>
            </a:lvl1pPr>
            <a:lvl2pPr marL="742950" indent="-285750" eaLnBrk="0" hangingPunct="0">
              <a:defRPr>
                <a:latin typeface="Arial" panose="020B0604020202020204" pitchFamily="34" charset="0"/>
              </a:defRPr>
            </a:lvl2pPr>
            <a:lvl3pPr marL="1143000" indent="-228600" eaLnBrk="0" hangingPunct="0">
              <a:defRPr>
                <a:latin typeface="Arial" panose="020B0604020202020204" pitchFamily="34" charset="0"/>
              </a:defRPr>
            </a:lvl3pPr>
            <a:lvl4pPr marL="1600200" indent="-228600" eaLnBrk="0" hangingPunct="0">
              <a:defRPr>
                <a:latin typeface="Arial" panose="020B0604020202020204" pitchFamily="34" charset="0"/>
              </a:defRPr>
            </a:lvl4pPr>
            <a:lvl5pPr marL="2057400" indent="-228600" eaLnBrk="0" hangingPunct="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altLang="en-US"/>
              <a:t>c)</a:t>
            </a:r>
          </a:p>
        </p:txBody>
      </p:sp>
      <p:sp>
        <p:nvSpPr>
          <p:cNvPr id="104" name="Text Box 63"/>
          <p:cNvSpPr txBox="1">
            <a:spLocks noChangeArrowheads="1"/>
          </p:cNvSpPr>
          <p:nvPr/>
        </p:nvSpPr>
        <p:spPr bwMode="auto">
          <a:xfrm>
            <a:off x="6719552" y="3432220"/>
            <a:ext cx="609600" cy="307777"/>
          </a:xfrm>
          <a:prstGeom prst="rect">
            <a:avLst/>
          </a:prstGeom>
          <a:noFill/>
          <a:ln w="28575">
            <a:noFill/>
          </a:ln>
          <a:effectLst>
            <a:outerShdw blurRad="50800" dist="38100" dir="2700000" algn="tl" rotWithShape="0">
              <a:prstClr val="black">
                <a:alpha val="40000"/>
              </a:prstClr>
            </a:outerShdw>
          </a:effectLst>
        </p:spPr>
        <p:txBody>
          <a:bodyPr wrap="square">
            <a:spAutoFit/>
          </a:bodyPr>
          <a:lstStyle>
            <a:defPPr>
              <a:defRPr lang="en-US"/>
            </a:defPPr>
            <a:lvl1pPr>
              <a:spcBef>
                <a:spcPct val="50000"/>
              </a:spcBef>
              <a:defRPr sz="1400">
                <a:latin typeface="Arial" panose="020B0604020202020204" pitchFamily="34" charset="0"/>
              </a:defRPr>
            </a:lvl1pPr>
            <a:lvl2pPr marL="742950" indent="-285750" eaLnBrk="0" hangingPunct="0">
              <a:defRPr>
                <a:latin typeface="Arial" panose="020B0604020202020204" pitchFamily="34" charset="0"/>
              </a:defRPr>
            </a:lvl2pPr>
            <a:lvl3pPr marL="1143000" indent="-228600" eaLnBrk="0" hangingPunct="0">
              <a:defRPr>
                <a:latin typeface="Arial" panose="020B0604020202020204" pitchFamily="34" charset="0"/>
              </a:defRPr>
            </a:lvl3pPr>
            <a:lvl4pPr marL="1600200" indent="-228600" eaLnBrk="0" hangingPunct="0">
              <a:defRPr>
                <a:latin typeface="Arial" panose="020B0604020202020204" pitchFamily="34" charset="0"/>
              </a:defRPr>
            </a:lvl4pPr>
            <a:lvl5pPr marL="2057400" indent="-228600" eaLnBrk="0" hangingPunct="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altLang="en-US"/>
              <a:t>d)</a:t>
            </a:r>
          </a:p>
        </p:txBody>
      </p:sp>
    </p:spTree>
    <p:extLst>
      <p:ext uri="{BB962C8B-B14F-4D97-AF65-F5344CB8AC3E}">
        <p14:creationId xmlns:p14="http://schemas.microsoft.com/office/powerpoint/2010/main" val="3164586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500"/>
                                        <p:tgtEl>
                                          <p:spTgt spid="10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7"/>
                                        </p:tgtEl>
                                        <p:attrNameLst>
                                          <p:attrName>style.visibility</p:attrName>
                                        </p:attrNameLst>
                                      </p:cBhvr>
                                      <p:to>
                                        <p:strVal val="visible"/>
                                      </p:to>
                                    </p:set>
                                    <p:animEffect transition="in" filter="fade">
                                      <p:cBhvr>
                                        <p:cTn id="15" dur="500"/>
                                        <p:tgtEl>
                                          <p:spTgt spid="6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2"/>
                                        </p:tgtEl>
                                        <p:attrNameLst>
                                          <p:attrName>style.visibility</p:attrName>
                                        </p:attrNameLst>
                                      </p:cBhvr>
                                      <p:to>
                                        <p:strVal val="visible"/>
                                      </p:to>
                                    </p:set>
                                    <p:animEffect transition="in" filter="fade">
                                      <p:cBhvr>
                                        <p:cTn id="18" dur="500"/>
                                        <p:tgtEl>
                                          <p:spTgt spid="10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9"/>
                                        </p:tgtEl>
                                        <p:attrNameLst>
                                          <p:attrName>style.visibility</p:attrName>
                                        </p:attrNameLst>
                                      </p:cBhvr>
                                      <p:to>
                                        <p:strVal val="visible"/>
                                      </p:to>
                                    </p:set>
                                    <p:animEffect transition="in" filter="fade">
                                      <p:cBhvr>
                                        <p:cTn id="23" dur="500"/>
                                        <p:tgtEl>
                                          <p:spTgt spid="7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3"/>
                                        </p:tgtEl>
                                        <p:attrNameLst>
                                          <p:attrName>style.visibility</p:attrName>
                                        </p:attrNameLst>
                                      </p:cBhvr>
                                      <p:to>
                                        <p:strVal val="visible"/>
                                      </p:to>
                                    </p:set>
                                    <p:animEffect transition="in" filter="fade">
                                      <p:cBhvr>
                                        <p:cTn id="26" dur="500"/>
                                        <p:tgtEl>
                                          <p:spTgt spid="10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1"/>
                                        </p:tgtEl>
                                        <p:attrNameLst>
                                          <p:attrName>style.visibility</p:attrName>
                                        </p:attrNameLst>
                                      </p:cBhvr>
                                      <p:to>
                                        <p:strVal val="visible"/>
                                      </p:to>
                                    </p:set>
                                    <p:animEffect transition="in" filter="fade">
                                      <p:cBhvr>
                                        <p:cTn id="31" dur="500"/>
                                        <p:tgtEl>
                                          <p:spTgt spid="9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2"/>
                                        </p:tgtEl>
                                        <p:attrNameLst>
                                          <p:attrName>style.visibility</p:attrName>
                                        </p:attrNameLst>
                                      </p:cBhvr>
                                      <p:to>
                                        <p:strVal val="visible"/>
                                      </p:to>
                                    </p:set>
                                    <p:animEffect transition="in" filter="fade">
                                      <p:cBhvr>
                                        <p:cTn id="34" dur="500"/>
                                        <p:tgtEl>
                                          <p:spTgt spid="9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3"/>
                                        </p:tgtEl>
                                        <p:attrNameLst>
                                          <p:attrName>style.visibility</p:attrName>
                                        </p:attrNameLst>
                                      </p:cBhvr>
                                      <p:to>
                                        <p:strVal val="visible"/>
                                      </p:to>
                                    </p:set>
                                    <p:animEffect transition="in" filter="fade">
                                      <p:cBhvr>
                                        <p:cTn id="37" dur="500"/>
                                        <p:tgtEl>
                                          <p:spTgt spid="9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4"/>
                                        </p:tgtEl>
                                        <p:attrNameLst>
                                          <p:attrName>style.visibility</p:attrName>
                                        </p:attrNameLst>
                                      </p:cBhvr>
                                      <p:to>
                                        <p:strVal val="visible"/>
                                      </p:to>
                                    </p:set>
                                    <p:animEffect transition="in" filter="fade">
                                      <p:cBhvr>
                                        <p:cTn id="40" dur="500"/>
                                        <p:tgtEl>
                                          <p:spTgt spid="9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5"/>
                                        </p:tgtEl>
                                        <p:attrNameLst>
                                          <p:attrName>style.visibility</p:attrName>
                                        </p:attrNameLst>
                                      </p:cBhvr>
                                      <p:to>
                                        <p:strVal val="visible"/>
                                      </p:to>
                                    </p:set>
                                    <p:animEffect transition="in" filter="fade">
                                      <p:cBhvr>
                                        <p:cTn id="43" dur="500"/>
                                        <p:tgtEl>
                                          <p:spTgt spid="9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6"/>
                                        </p:tgtEl>
                                        <p:attrNameLst>
                                          <p:attrName>style.visibility</p:attrName>
                                        </p:attrNameLst>
                                      </p:cBhvr>
                                      <p:to>
                                        <p:strVal val="visible"/>
                                      </p:to>
                                    </p:set>
                                    <p:animEffect transition="in" filter="fade">
                                      <p:cBhvr>
                                        <p:cTn id="46" dur="500"/>
                                        <p:tgtEl>
                                          <p:spTgt spid="9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97"/>
                                        </p:tgtEl>
                                        <p:attrNameLst>
                                          <p:attrName>style.visibility</p:attrName>
                                        </p:attrNameLst>
                                      </p:cBhvr>
                                      <p:to>
                                        <p:strVal val="visible"/>
                                      </p:to>
                                    </p:set>
                                    <p:animEffect transition="in" filter="fade">
                                      <p:cBhvr>
                                        <p:cTn id="49" dur="500"/>
                                        <p:tgtEl>
                                          <p:spTgt spid="9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98"/>
                                        </p:tgtEl>
                                        <p:attrNameLst>
                                          <p:attrName>style.visibility</p:attrName>
                                        </p:attrNameLst>
                                      </p:cBhvr>
                                      <p:to>
                                        <p:strVal val="visible"/>
                                      </p:to>
                                    </p:set>
                                    <p:animEffect transition="in" filter="fade">
                                      <p:cBhvr>
                                        <p:cTn id="52" dur="500"/>
                                        <p:tgtEl>
                                          <p:spTgt spid="9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99"/>
                                        </p:tgtEl>
                                        <p:attrNameLst>
                                          <p:attrName>style.visibility</p:attrName>
                                        </p:attrNameLst>
                                      </p:cBhvr>
                                      <p:to>
                                        <p:strVal val="visible"/>
                                      </p:to>
                                    </p:set>
                                    <p:animEffect transition="in" filter="fade">
                                      <p:cBhvr>
                                        <p:cTn id="55" dur="500"/>
                                        <p:tgtEl>
                                          <p:spTgt spid="9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00"/>
                                        </p:tgtEl>
                                        <p:attrNameLst>
                                          <p:attrName>style.visibility</p:attrName>
                                        </p:attrNameLst>
                                      </p:cBhvr>
                                      <p:to>
                                        <p:strVal val="visible"/>
                                      </p:to>
                                    </p:set>
                                    <p:animEffect transition="in" filter="fade">
                                      <p:cBhvr>
                                        <p:cTn id="58" dur="500"/>
                                        <p:tgtEl>
                                          <p:spTgt spid="10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04"/>
                                        </p:tgtEl>
                                        <p:attrNameLst>
                                          <p:attrName>style.visibility</p:attrName>
                                        </p:attrNameLst>
                                      </p:cBhvr>
                                      <p:to>
                                        <p:strVal val="visible"/>
                                      </p:to>
                                    </p:set>
                                    <p:animEffect transition="in" filter="fade">
                                      <p:cBhvr>
                                        <p:cTn id="61"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P spid="92" grpId="0" animBg="1"/>
      <p:bldP spid="93" grpId="0" animBg="1"/>
      <p:bldP spid="94" grpId="0" animBg="1"/>
      <p:bldP spid="95" grpId="0" animBg="1"/>
      <p:bldP spid="96" grpId="0" animBg="1"/>
      <p:bldP spid="97" grpId="0"/>
      <p:bldP spid="98" grpId="0" animBg="1"/>
      <p:bldP spid="99" grpId="0" animBg="1"/>
      <p:bldP spid="100" grpId="0"/>
      <p:bldP spid="101" grpId="0"/>
      <p:bldP spid="102" grpId="0"/>
      <p:bldP spid="103" grpId="0"/>
      <p:bldP spid="10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Oval 4"/>
          <p:cNvSpPr>
            <a:spLocks noChangeArrowheads="1"/>
          </p:cNvSpPr>
          <p:nvPr/>
        </p:nvSpPr>
        <p:spPr bwMode="auto">
          <a:xfrm>
            <a:off x="2799009" y="169428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5" name="Oval 5"/>
          <p:cNvSpPr>
            <a:spLocks noChangeArrowheads="1"/>
          </p:cNvSpPr>
          <p:nvPr/>
        </p:nvSpPr>
        <p:spPr bwMode="auto">
          <a:xfrm>
            <a:off x="3561009" y="169428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6" name="Oval 6"/>
          <p:cNvSpPr>
            <a:spLocks noChangeArrowheads="1"/>
          </p:cNvSpPr>
          <p:nvPr/>
        </p:nvSpPr>
        <p:spPr bwMode="auto">
          <a:xfrm>
            <a:off x="4246809" y="169428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7" name="Oval 7"/>
          <p:cNvSpPr>
            <a:spLocks noChangeArrowheads="1"/>
          </p:cNvSpPr>
          <p:nvPr/>
        </p:nvSpPr>
        <p:spPr bwMode="auto">
          <a:xfrm>
            <a:off x="4246809" y="2303887"/>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8" name="Line 8"/>
          <p:cNvSpPr>
            <a:spLocks noChangeShapeType="1"/>
          </p:cNvSpPr>
          <p:nvPr/>
        </p:nvSpPr>
        <p:spPr bwMode="auto">
          <a:xfrm>
            <a:off x="4399209" y="1999087"/>
            <a:ext cx="0" cy="3048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9" name="Line 9"/>
          <p:cNvSpPr>
            <a:spLocks noChangeShapeType="1"/>
          </p:cNvSpPr>
          <p:nvPr/>
        </p:nvSpPr>
        <p:spPr bwMode="auto">
          <a:xfrm>
            <a:off x="3103809" y="1846687"/>
            <a:ext cx="4572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10" name="Text Box 10"/>
          <p:cNvSpPr txBox="1">
            <a:spLocks noChangeArrowheads="1"/>
          </p:cNvSpPr>
          <p:nvPr/>
        </p:nvSpPr>
        <p:spPr bwMode="auto">
          <a:xfrm>
            <a:off x="1808409" y="1694287"/>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a:t>
            </a:r>
          </a:p>
        </p:txBody>
      </p:sp>
      <p:sp>
        <p:nvSpPr>
          <p:cNvPr id="11" name="Line 11"/>
          <p:cNvSpPr>
            <a:spLocks noChangeShapeType="1"/>
          </p:cNvSpPr>
          <p:nvPr/>
        </p:nvSpPr>
        <p:spPr bwMode="auto">
          <a:xfrm>
            <a:off x="2418009" y="1846687"/>
            <a:ext cx="3810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12" name="Line 12"/>
          <p:cNvSpPr>
            <a:spLocks noChangeShapeType="1"/>
          </p:cNvSpPr>
          <p:nvPr/>
        </p:nvSpPr>
        <p:spPr bwMode="auto">
          <a:xfrm>
            <a:off x="3865809" y="1846687"/>
            <a:ext cx="3810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13" name="Oval 14"/>
          <p:cNvSpPr>
            <a:spLocks noChangeArrowheads="1"/>
          </p:cNvSpPr>
          <p:nvPr/>
        </p:nvSpPr>
        <p:spPr bwMode="auto">
          <a:xfrm>
            <a:off x="7754155" y="1757250"/>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14" name="Oval 15"/>
          <p:cNvSpPr>
            <a:spLocks noChangeArrowheads="1"/>
          </p:cNvSpPr>
          <p:nvPr/>
        </p:nvSpPr>
        <p:spPr bwMode="auto">
          <a:xfrm>
            <a:off x="7754155" y="2366850"/>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15" name="Oval 16"/>
          <p:cNvSpPr>
            <a:spLocks noChangeArrowheads="1"/>
          </p:cNvSpPr>
          <p:nvPr/>
        </p:nvSpPr>
        <p:spPr bwMode="auto">
          <a:xfrm>
            <a:off x="8516155" y="1757250"/>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16" name="Oval 17"/>
          <p:cNvSpPr>
            <a:spLocks noChangeArrowheads="1"/>
          </p:cNvSpPr>
          <p:nvPr/>
        </p:nvSpPr>
        <p:spPr bwMode="auto">
          <a:xfrm>
            <a:off x="8516155" y="2366850"/>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17" name="Line 18"/>
          <p:cNvSpPr>
            <a:spLocks noChangeShapeType="1"/>
          </p:cNvSpPr>
          <p:nvPr/>
        </p:nvSpPr>
        <p:spPr bwMode="auto">
          <a:xfrm>
            <a:off x="8668555" y="2062050"/>
            <a:ext cx="0" cy="3048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18" name="Line 19"/>
          <p:cNvSpPr>
            <a:spLocks noChangeShapeType="1"/>
          </p:cNvSpPr>
          <p:nvPr/>
        </p:nvSpPr>
        <p:spPr bwMode="auto">
          <a:xfrm>
            <a:off x="8058955" y="1909650"/>
            <a:ext cx="4572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19" name="Text Box 20"/>
          <p:cNvSpPr txBox="1">
            <a:spLocks noChangeArrowheads="1"/>
          </p:cNvSpPr>
          <p:nvPr/>
        </p:nvSpPr>
        <p:spPr bwMode="auto">
          <a:xfrm>
            <a:off x="6763555" y="1757250"/>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a:t>
            </a:r>
          </a:p>
        </p:txBody>
      </p:sp>
      <p:sp>
        <p:nvSpPr>
          <p:cNvPr id="20" name="Line 21"/>
          <p:cNvSpPr>
            <a:spLocks noChangeShapeType="1"/>
          </p:cNvSpPr>
          <p:nvPr/>
        </p:nvSpPr>
        <p:spPr bwMode="auto">
          <a:xfrm>
            <a:off x="7373155" y="1909650"/>
            <a:ext cx="3810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21" name="Line 23"/>
          <p:cNvSpPr>
            <a:spLocks noChangeShapeType="1"/>
          </p:cNvSpPr>
          <p:nvPr/>
        </p:nvSpPr>
        <p:spPr bwMode="auto">
          <a:xfrm>
            <a:off x="7906555" y="2062050"/>
            <a:ext cx="0" cy="3048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22" name="Oval 24"/>
          <p:cNvSpPr>
            <a:spLocks noChangeArrowheads="1"/>
          </p:cNvSpPr>
          <p:nvPr/>
        </p:nvSpPr>
        <p:spPr bwMode="auto">
          <a:xfrm>
            <a:off x="3637209" y="4958366"/>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5</a:t>
            </a:r>
          </a:p>
        </p:txBody>
      </p:sp>
      <p:sp>
        <p:nvSpPr>
          <p:cNvPr id="23" name="Oval 25"/>
          <p:cNvSpPr>
            <a:spLocks noChangeArrowheads="1"/>
          </p:cNvSpPr>
          <p:nvPr/>
        </p:nvSpPr>
        <p:spPr bwMode="auto">
          <a:xfrm>
            <a:off x="3637209" y="5567966"/>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12</a:t>
            </a:r>
          </a:p>
        </p:txBody>
      </p:sp>
      <p:sp>
        <p:nvSpPr>
          <p:cNvPr id="24" name="Oval 26"/>
          <p:cNvSpPr>
            <a:spLocks noChangeArrowheads="1"/>
          </p:cNvSpPr>
          <p:nvPr/>
        </p:nvSpPr>
        <p:spPr bwMode="auto">
          <a:xfrm>
            <a:off x="4246809" y="4348766"/>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2</a:t>
            </a:r>
          </a:p>
        </p:txBody>
      </p:sp>
      <p:sp>
        <p:nvSpPr>
          <p:cNvPr id="25" name="Oval 27"/>
          <p:cNvSpPr>
            <a:spLocks noChangeArrowheads="1"/>
          </p:cNvSpPr>
          <p:nvPr/>
        </p:nvSpPr>
        <p:spPr bwMode="auto">
          <a:xfrm>
            <a:off x="4246809" y="4958366"/>
            <a:ext cx="304800" cy="304800"/>
          </a:xfrm>
          <a:prstGeom prst="ellipse">
            <a:avLst/>
          </a:prstGeom>
          <a:solidFill>
            <a:schemeClr val="accent5"/>
          </a:solidFill>
          <a:ln w="28575">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t>15</a:t>
            </a:r>
          </a:p>
        </p:txBody>
      </p:sp>
      <p:sp>
        <p:nvSpPr>
          <p:cNvPr id="26" name="Line 28"/>
          <p:cNvSpPr>
            <a:spLocks noChangeShapeType="1"/>
          </p:cNvSpPr>
          <p:nvPr/>
        </p:nvSpPr>
        <p:spPr bwMode="auto">
          <a:xfrm>
            <a:off x="4399209" y="4653566"/>
            <a:ext cx="0" cy="3048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27" name="Text Box 30"/>
          <p:cNvSpPr txBox="1">
            <a:spLocks noChangeArrowheads="1"/>
          </p:cNvSpPr>
          <p:nvPr/>
        </p:nvSpPr>
        <p:spPr bwMode="auto">
          <a:xfrm>
            <a:off x="2494209" y="434876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a:t>head[H]</a:t>
            </a:r>
          </a:p>
        </p:txBody>
      </p:sp>
      <p:sp>
        <p:nvSpPr>
          <p:cNvPr id="28" name="Line 31"/>
          <p:cNvSpPr>
            <a:spLocks noChangeShapeType="1"/>
          </p:cNvSpPr>
          <p:nvPr/>
        </p:nvSpPr>
        <p:spPr bwMode="auto">
          <a:xfrm>
            <a:off x="3103809" y="4501166"/>
            <a:ext cx="1143000" cy="0"/>
          </a:xfrm>
          <a:prstGeom prst="line">
            <a:avLst/>
          </a:prstGeom>
          <a:noFill/>
          <a:ln w="28575">
            <a:solidFill>
              <a:schemeClr val="tx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29" name="Line 32"/>
          <p:cNvSpPr>
            <a:spLocks noChangeShapeType="1"/>
          </p:cNvSpPr>
          <p:nvPr/>
        </p:nvSpPr>
        <p:spPr bwMode="auto">
          <a:xfrm>
            <a:off x="3789609" y="5263166"/>
            <a:ext cx="0" cy="3048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30" name="Line 33"/>
          <p:cNvSpPr>
            <a:spLocks noChangeShapeType="1"/>
          </p:cNvSpPr>
          <p:nvPr/>
        </p:nvSpPr>
        <p:spPr bwMode="auto">
          <a:xfrm flipV="1">
            <a:off x="3865809" y="4577366"/>
            <a:ext cx="381000" cy="381000"/>
          </a:xfrm>
          <a:prstGeom prst="line">
            <a:avLst/>
          </a:prstGeom>
          <a:noFill/>
          <a:ln w="28575">
            <a:solidFill>
              <a:schemeClr val="tx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a:lstStyle/>
          <a:p>
            <a:endParaRPr lang="en-IN"/>
          </a:p>
        </p:txBody>
      </p:sp>
      <p:sp>
        <p:nvSpPr>
          <p:cNvPr id="31" name="Text Box 34"/>
          <p:cNvSpPr txBox="1">
            <a:spLocks noChangeArrowheads="1"/>
          </p:cNvSpPr>
          <p:nvPr/>
        </p:nvSpPr>
        <p:spPr bwMode="auto">
          <a:xfrm>
            <a:off x="3180009" y="1160887"/>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e)</a:t>
            </a:r>
          </a:p>
        </p:txBody>
      </p:sp>
      <p:sp>
        <p:nvSpPr>
          <p:cNvPr id="32" name="Text Box 35"/>
          <p:cNvSpPr txBox="1">
            <a:spLocks noChangeArrowheads="1"/>
          </p:cNvSpPr>
          <p:nvPr/>
        </p:nvSpPr>
        <p:spPr bwMode="auto">
          <a:xfrm>
            <a:off x="7601755" y="1223850"/>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f)</a:t>
            </a:r>
          </a:p>
        </p:txBody>
      </p:sp>
      <p:sp>
        <p:nvSpPr>
          <p:cNvPr id="33" name="Text Box 36"/>
          <p:cNvSpPr txBox="1">
            <a:spLocks noChangeArrowheads="1"/>
          </p:cNvSpPr>
          <p:nvPr/>
        </p:nvSpPr>
        <p:spPr bwMode="auto">
          <a:xfrm>
            <a:off x="3180009" y="3662966"/>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g)</a:t>
            </a:r>
          </a:p>
        </p:txBody>
      </p:sp>
    </p:spTree>
    <p:extLst>
      <p:ext uri="{BB962C8B-B14F-4D97-AF65-F5344CB8AC3E}">
        <p14:creationId xmlns:p14="http://schemas.microsoft.com/office/powerpoint/2010/main" val="3581380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500"/>
                                        <p:tgtEl>
                                          <p:spTgt spid="3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500"/>
                                        <p:tgtEl>
                                          <p:spTgt spid="2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500"/>
                                        <p:tgtEl>
                                          <p:spTgt spid="2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500"/>
                                        <p:tgtEl>
                                          <p:spTgt spid="2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500"/>
                                        <p:tgtEl>
                                          <p:spTgt spid="2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500"/>
                                        <p:tgtEl>
                                          <p:spTgt spid="2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500"/>
                                        <p:tgtEl>
                                          <p:spTgt spid="2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500"/>
                                        <p:tgtEl>
                                          <p:spTgt spid="3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p:bldP spid="11" grpId="0" animBg="1"/>
      <p:bldP spid="12" grpId="0" animBg="1"/>
      <p:bldP spid="13" grpId="0" animBg="1"/>
      <p:bldP spid="14" grpId="0" animBg="1"/>
      <p:bldP spid="15" grpId="0" animBg="1"/>
      <p:bldP spid="16" grpId="0" animBg="1"/>
      <p:bldP spid="17" grpId="0" animBg="1"/>
      <p:bldP spid="18" grpId="0" animBg="1"/>
      <p:bldP spid="19" grpId="0"/>
      <p:bldP spid="20" grpId="0" animBg="1"/>
      <p:bldP spid="21" grpId="0" animBg="1"/>
      <p:bldP spid="22" grpId="0" animBg="1"/>
      <p:bldP spid="23" grpId="0" animBg="1"/>
      <p:bldP spid="24" grpId="0" animBg="1"/>
      <p:bldP spid="25" grpId="0" animBg="1"/>
      <p:bldP spid="26" grpId="0" animBg="1"/>
      <p:bldP spid="27" grpId="0"/>
      <p:bldP spid="28" grpId="0" animBg="1"/>
      <p:bldP spid="29" grpId="0" animBg="1"/>
      <p:bldP spid="30" grpId="0" animBg="1"/>
      <p:bldP spid="31" grpId="0"/>
      <p:bldP spid="32" grpId="0"/>
      <p:bldP spid="3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Compare With Binary Heap</a:t>
            </a:r>
            <a:endParaRPr lang="en-IN" dirty="0"/>
          </a:p>
        </p:txBody>
      </p:sp>
      <p:graphicFrame>
        <p:nvGraphicFramePr>
          <p:cNvPr id="4" name="Group 42"/>
          <p:cNvGraphicFramePr>
            <a:graphicFrameLocks noGrp="1"/>
          </p:cNvGraphicFramePr>
          <p:nvPr>
            <p:ph idx="1"/>
            <p:extLst>
              <p:ext uri="{D42A27DB-BD31-4B8C-83A1-F6EECF244321}">
                <p14:modId xmlns:p14="http://schemas.microsoft.com/office/powerpoint/2010/main" val="223433056"/>
              </p:ext>
            </p:extLst>
          </p:nvPr>
        </p:nvGraphicFramePr>
        <p:xfrm>
          <a:off x="1981200" y="1123681"/>
          <a:ext cx="8229600" cy="4525964"/>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rgbClr val="C00000"/>
                          </a:solidFill>
                          <a:effectLst/>
                          <a:latin typeface="+mj-lt"/>
                        </a:rPr>
                        <a:t>Procedure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C00000"/>
                          </a:solidFill>
                          <a:effectLst/>
                          <a:latin typeface="+mj-lt"/>
                        </a:rPr>
                        <a:t>Binomial Heap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rgbClr val="C00000"/>
                          </a:solidFill>
                          <a:effectLst/>
                          <a:latin typeface="+mj-lt"/>
                        </a:rPr>
                        <a:t>Binary Heap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Make-Heap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O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O (1)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mj-lt"/>
                        </a:rPr>
                        <a:t>Insert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O (log 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O (log 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Minimum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O (log 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O (1)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mj-lt"/>
                        </a:rPr>
                        <a:t>Extract-Min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O (log 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O (log 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mj-lt"/>
                        </a:rPr>
                        <a:t>Union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mj-lt"/>
                        </a:rPr>
                        <a:t>O (log 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O (n)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mj-lt"/>
                        </a:rPr>
                        <a:t>Decrease-Key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O (log 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O (log 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Delete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O (log 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O (log 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4774483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C7DC5-B06A-46FE-9FDB-06DB09738432}"/>
              </a:ext>
            </a:extLst>
          </p:cNvPr>
          <p:cNvSpPr>
            <a:spLocks noGrp="1"/>
          </p:cNvSpPr>
          <p:nvPr>
            <p:ph type="title"/>
          </p:nvPr>
        </p:nvSpPr>
        <p:spPr/>
        <p:txBody>
          <a:bodyPr/>
          <a:lstStyle/>
          <a:p>
            <a:r>
              <a:rPr lang="en-IN" dirty="0"/>
              <a:t>Fibonacci Heap</a:t>
            </a:r>
          </a:p>
        </p:txBody>
      </p:sp>
      <p:sp>
        <p:nvSpPr>
          <p:cNvPr id="3" name="Content Placeholder 2">
            <a:extLst>
              <a:ext uri="{FF2B5EF4-FFF2-40B4-BE49-F238E27FC236}">
                <a16:creationId xmlns:a16="http://schemas.microsoft.com/office/drawing/2014/main" id="{A2C39E0A-9DAA-45AB-A77D-6501320659E3}"/>
              </a:ext>
            </a:extLst>
          </p:cNvPr>
          <p:cNvSpPr>
            <a:spLocks noGrp="1"/>
          </p:cNvSpPr>
          <p:nvPr>
            <p:ph idx="1"/>
          </p:nvPr>
        </p:nvSpPr>
        <p:spPr/>
        <p:txBody>
          <a:bodyPr/>
          <a:lstStyle/>
          <a:p>
            <a:pPr marL="0" indent="0">
              <a:buNone/>
            </a:pPr>
            <a:r>
              <a:rPr lang="en-US" dirty="0"/>
              <a:t>Heaps are mainly used for implementing priority queue. We have discussed below heaps:</a:t>
            </a:r>
          </a:p>
          <a:p>
            <a:r>
              <a:rPr lang="en-US" dirty="0"/>
              <a:t>Binary Heap </a:t>
            </a:r>
          </a:p>
          <a:p>
            <a:r>
              <a:rPr lang="en-US" dirty="0"/>
              <a:t>Binomial Heap </a:t>
            </a:r>
          </a:p>
          <a:p>
            <a:r>
              <a:rPr lang="en-US" dirty="0"/>
              <a:t>In terms of Time Complexity, Fibonacci Heap </a:t>
            </a:r>
            <a:r>
              <a:rPr lang="en-US" dirty="0">
                <a:solidFill>
                  <a:srgbClr val="C00000"/>
                </a:solidFill>
              </a:rPr>
              <a:t>beats</a:t>
            </a:r>
            <a:r>
              <a:rPr lang="en-US" dirty="0"/>
              <a:t> both </a:t>
            </a:r>
            <a:r>
              <a:rPr lang="en-US" dirty="0">
                <a:solidFill>
                  <a:srgbClr val="C00000"/>
                </a:solidFill>
              </a:rPr>
              <a:t>Binary and Binomial Heaps. </a:t>
            </a:r>
          </a:p>
          <a:p>
            <a:endParaRPr lang="en-US" dirty="0"/>
          </a:p>
          <a:p>
            <a:pPr marL="0" indent="0">
              <a:buNone/>
            </a:pPr>
            <a:r>
              <a:rPr lang="en-IN" sz="2000" dirty="0"/>
              <a:t>1) Find Min:           </a:t>
            </a:r>
            <a:r>
              <a:rPr lang="el-GR" sz="2000" dirty="0"/>
              <a:t>Θ(1)     </a:t>
            </a:r>
            <a:r>
              <a:rPr lang="en-IN" sz="2000" dirty="0"/>
              <a:t>   </a:t>
            </a:r>
            <a:r>
              <a:rPr lang="el-GR" sz="2000" dirty="0"/>
              <a:t>[</a:t>
            </a:r>
            <a:r>
              <a:rPr lang="en-IN" sz="2000" dirty="0"/>
              <a:t>Same as both Binary and Binomial]</a:t>
            </a:r>
          </a:p>
          <a:p>
            <a:pPr marL="0" indent="0">
              <a:buNone/>
            </a:pPr>
            <a:r>
              <a:rPr lang="en-IN" sz="2000" dirty="0"/>
              <a:t>2) Delete Min:       O(Log n) [</a:t>
            </a:r>
            <a:r>
              <a:rPr lang="el-GR" sz="2000" dirty="0"/>
              <a:t>Θ(</a:t>
            </a:r>
            <a:r>
              <a:rPr lang="en-IN" sz="2000" dirty="0"/>
              <a:t>Log n) in both Binary and Binomial]</a:t>
            </a:r>
          </a:p>
          <a:p>
            <a:pPr marL="0" indent="0">
              <a:buNone/>
            </a:pPr>
            <a:r>
              <a:rPr lang="en-IN" sz="2000" dirty="0"/>
              <a:t>3) Insert:                </a:t>
            </a:r>
            <a:r>
              <a:rPr lang="el-GR" sz="2000" dirty="0"/>
              <a:t>Θ(1)    </a:t>
            </a:r>
            <a:r>
              <a:rPr lang="en-IN" sz="2000" dirty="0"/>
              <a:t>   </a:t>
            </a:r>
            <a:r>
              <a:rPr lang="el-GR" sz="2000" dirty="0"/>
              <a:t> [Θ(</a:t>
            </a:r>
            <a:r>
              <a:rPr lang="en-IN" sz="2000" dirty="0"/>
              <a:t>Log n) in Binary and </a:t>
            </a:r>
            <a:r>
              <a:rPr lang="el-GR" sz="2000" dirty="0"/>
              <a:t>Θ(1) </a:t>
            </a:r>
            <a:r>
              <a:rPr lang="en-IN" sz="2000" dirty="0"/>
              <a:t>in Binomial]</a:t>
            </a:r>
          </a:p>
          <a:p>
            <a:pPr marL="0" indent="0">
              <a:buNone/>
            </a:pPr>
            <a:r>
              <a:rPr lang="en-IN" sz="2000" dirty="0"/>
              <a:t>4) Decrease-Key:  </a:t>
            </a:r>
            <a:r>
              <a:rPr lang="el-GR" sz="2000" dirty="0"/>
              <a:t>Θ(1)    </a:t>
            </a:r>
            <a:r>
              <a:rPr lang="en-IN" sz="2000" dirty="0"/>
              <a:t>   </a:t>
            </a:r>
            <a:r>
              <a:rPr lang="el-GR" sz="2000" dirty="0"/>
              <a:t> [Θ(</a:t>
            </a:r>
            <a:r>
              <a:rPr lang="en-IN" sz="2000" dirty="0"/>
              <a:t>Log n) in both Binary and Binomial]</a:t>
            </a:r>
          </a:p>
          <a:p>
            <a:pPr marL="0" indent="0">
              <a:buNone/>
            </a:pPr>
            <a:r>
              <a:rPr lang="en-IN" sz="2000" dirty="0"/>
              <a:t>5) Merge:               </a:t>
            </a:r>
            <a:r>
              <a:rPr lang="el-GR" sz="2000" dirty="0"/>
              <a:t>Θ(1)    </a:t>
            </a:r>
            <a:r>
              <a:rPr lang="en-IN" sz="2000" dirty="0"/>
              <a:t>   </a:t>
            </a:r>
            <a:r>
              <a:rPr lang="el-GR" sz="2000" dirty="0"/>
              <a:t> [Θ(</a:t>
            </a:r>
            <a:r>
              <a:rPr lang="en-IN" sz="2000" dirty="0"/>
              <a:t>m Log n) or </a:t>
            </a:r>
            <a:r>
              <a:rPr lang="el-GR" sz="2000" dirty="0"/>
              <a:t>Θ(</a:t>
            </a:r>
            <a:r>
              <a:rPr lang="en-IN" sz="2000" dirty="0" err="1"/>
              <a:t>m+n</a:t>
            </a:r>
            <a:r>
              <a:rPr lang="en-IN" sz="2000" dirty="0"/>
              <a:t>) in Binary and </a:t>
            </a:r>
            <a:r>
              <a:rPr lang="el-GR" sz="2000" dirty="0"/>
              <a:t>Θ(</a:t>
            </a:r>
            <a:r>
              <a:rPr lang="en-IN" sz="2000" dirty="0"/>
              <a:t>Log n) in Binomial]</a:t>
            </a:r>
          </a:p>
        </p:txBody>
      </p:sp>
    </p:spTree>
    <p:extLst>
      <p:ext uri="{BB962C8B-B14F-4D97-AF65-F5344CB8AC3E}">
        <p14:creationId xmlns:p14="http://schemas.microsoft.com/office/powerpoint/2010/main" val="23120559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19A26-F00C-4C39-A50B-A33360DCE465}"/>
              </a:ext>
            </a:extLst>
          </p:cNvPr>
          <p:cNvSpPr>
            <a:spLocks noGrp="1"/>
          </p:cNvSpPr>
          <p:nvPr>
            <p:ph type="title"/>
          </p:nvPr>
        </p:nvSpPr>
        <p:spPr/>
        <p:txBody>
          <a:bodyPr/>
          <a:lstStyle/>
          <a:p>
            <a:r>
              <a:rPr lang="en-US" dirty="0"/>
              <a:t>Priority Queues Performance Cost Summary</a:t>
            </a:r>
            <a:endParaRPr lang="en-IN" dirty="0"/>
          </a:p>
        </p:txBody>
      </p:sp>
      <p:sp>
        <p:nvSpPr>
          <p:cNvPr id="3" name="Content Placeholder 2">
            <a:extLst>
              <a:ext uri="{FF2B5EF4-FFF2-40B4-BE49-F238E27FC236}">
                <a16:creationId xmlns:a16="http://schemas.microsoft.com/office/drawing/2014/main" id="{4F618BCE-91CC-4029-833A-7897482319E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C8DABF8-25FB-49B4-BC80-D0CA149B04C6}"/>
              </a:ext>
            </a:extLst>
          </p:cNvPr>
          <p:cNvPicPr>
            <a:picLocks noChangeAspect="1"/>
          </p:cNvPicPr>
          <p:nvPr/>
        </p:nvPicPr>
        <p:blipFill>
          <a:blip r:embed="rId2"/>
          <a:stretch>
            <a:fillRect/>
          </a:stretch>
        </p:blipFill>
        <p:spPr>
          <a:xfrm>
            <a:off x="1510204" y="1314405"/>
            <a:ext cx="8116259" cy="4441501"/>
          </a:xfrm>
          <a:prstGeom prst="rect">
            <a:avLst/>
          </a:prstGeom>
        </p:spPr>
      </p:pic>
    </p:spTree>
    <p:extLst>
      <p:ext uri="{BB962C8B-B14F-4D97-AF65-F5344CB8AC3E}">
        <p14:creationId xmlns:p14="http://schemas.microsoft.com/office/powerpoint/2010/main" val="40694812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71175-92B1-49EF-B00B-26F261BD131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5260ACF-1404-49DE-BF70-DA2FF84CD5CB}"/>
              </a:ext>
            </a:extLst>
          </p:cNvPr>
          <p:cNvSpPr>
            <a:spLocks noGrp="1"/>
          </p:cNvSpPr>
          <p:nvPr>
            <p:ph idx="1"/>
          </p:nvPr>
        </p:nvSpPr>
        <p:spPr/>
        <p:txBody>
          <a:bodyPr/>
          <a:lstStyle/>
          <a:p>
            <a:r>
              <a:rPr lang="en-US" dirty="0">
                <a:solidFill>
                  <a:srgbClr val="C00000"/>
                </a:solidFill>
              </a:rPr>
              <a:t>Original motivation</a:t>
            </a:r>
            <a:r>
              <a:rPr lang="en-US" dirty="0"/>
              <a:t>: improve Dijkstra's shortest path algorithm from O(E log V ) to O(E + V log V ).</a:t>
            </a:r>
          </a:p>
          <a:p>
            <a:endParaRPr lang="en-US" dirty="0"/>
          </a:p>
          <a:p>
            <a:r>
              <a:rPr lang="en-US" dirty="0"/>
              <a:t>Basic idea.</a:t>
            </a:r>
          </a:p>
          <a:p>
            <a:pPr lvl="1"/>
            <a:r>
              <a:rPr lang="en-US" dirty="0"/>
              <a:t> Similar to binomial heaps, but less rigid structure.</a:t>
            </a:r>
          </a:p>
          <a:p>
            <a:pPr lvl="1"/>
            <a:r>
              <a:rPr lang="en-US" dirty="0"/>
              <a:t> </a:t>
            </a:r>
            <a:r>
              <a:rPr lang="en-US" dirty="0">
                <a:solidFill>
                  <a:srgbClr val="C00000"/>
                </a:solidFill>
              </a:rPr>
              <a:t>Binomial heap: </a:t>
            </a:r>
            <a:r>
              <a:rPr lang="en-US" dirty="0"/>
              <a:t>eagerly consolidate trees after each insert.</a:t>
            </a:r>
          </a:p>
          <a:p>
            <a:pPr lvl="1"/>
            <a:r>
              <a:rPr lang="en-US" dirty="0"/>
              <a:t> </a:t>
            </a:r>
            <a:r>
              <a:rPr lang="en-US" dirty="0">
                <a:solidFill>
                  <a:srgbClr val="C00000"/>
                </a:solidFill>
              </a:rPr>
              <a:t>Fibonacci heap: </a:t>
            </a:r>
            <a:r>
              <a:rPr lang="en-US" dirty="0"/>
              <a:t>lazily defer consolidation until next delete-min.</a:t>
            </a:r>
          </a:p>
          <a:p>
            <a:pPr marL="457200" lvl="1" indent="0">
              <a:buNone/>
            </a:pPr>
            <a:endParaRPr lang="en-US" dirty="0"/>
          </a:p>
          <a:p>
            <a:r>
              <a:rPr lang="en-US" dirty="0"/>
              <a:t>Fibonacci Heap is a </a:t>
            </a:r>
            <a:r>
              <a:rPr lang="en-US" dirty="0">
                <a:solidFill>
                  <a:srgbClr val="C00000"/>
                </a:solidFill>
              </a:rPr>
              <a:t>collection of trees </a:t>
            </a:r>
            <a:r>
              <a:rPr lang="en-US" dirty="0"/>
              <a:t>with min-heap or max-heap property. In Fibonacci Heap, trees can have any shape even all trees can be single nodes (This is unlike Binomial Heap where every tree has to be Binomial Tree). </a:t>
            </a:r>
            <a:endParaRPr lang="en-IN" dirty="0"/>
          </a:p>
        </p:txBody>
      </p:sp>
    </p:spTree>
    <p:extLst>
      <p:ext uri="{BB962C8B-B14F-4D97-AF65-F5344CB8AC3E}">
        <p14:creationId xmlns:p14="http://schemas.microsoft.com/office/powerpoint/2010/main" val="39491042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E6CE6-78EC-4A70-ACE5-E25051498FF3}"/>
              </a:ext>
            </a:extLst>
          </p:cNvPr>
          <p:cNvSpPr>
            <a:spLocks noGrp="1"/>
          </p:cNvSpPr>
          <p:nvPr>
            <p:ph type="title"/>
          </p:nvPr>
        </p:nvSpPr>
        <p:spPr/>
        <p:txBody>
          <a:bodyPr/>
          <a:lstStyle/>
          <a:p>
            <a:r>
              <a:rPr lang="en-IN" dirty="0"/>
              <a:t>Fibonacci Heaps: Structure</a:t>
            </a:r>
          </a:p>
        </p:txBody>
      </p:sp>
      <p:sp>
        <p:nvSpPr>
          <p:cNvPr id="3" name="Content Placeholder 2">
            <a:extLst>
              <a:ext uri="{FF2B5EF4-FFF2-40B4-BE49-F238E27FC236}">
                <a16:creationId xmlns:a16="http://schemas.microsoft.com/office/drawing/2014/main" id="{FCD95E37-00D1-408B-9B3B-FCFFDD6F86BD}"/>
              </a:ext>
            </a:extLst>
          </p:cNvPr>
          <p:cNvSpPr>
            <a:spLocks noGrp="1"/>
          </p:cNvSpPr>
          <p:nvPr>
            <p:ph idx="1"/>
          </p:nvPr>
        </p:nvSpPr>
        <p:spPr/>
        <p:txBody>
          <a:bodyPr/>
          <a:lstStyle/>
          <a:p>
            <a:pPr marL="0" indent="0">
              <a:buNone/>
            </a:pPr>
            <a:r>
              <a:rPr lang="en-US" dirty="0"/>
              <a:t>Fibonacci heap. </a:t>
            </a:r>
          </a:p>
          <a:p>
            <a:pPr lvl="1"/>
            <a:r>
              <a:rPr lang="en-US" dirty="0">
                <a:solidFill>
                  <a:srgbClr val="C00000"/>
                </a:solidFill>
              </a:rPr>
              <a:t>Set of heap-ordered trees. (each parent larger than its children)</a:t>
            </a:r>
          </a:p>
          <a:p>
            <a:pPr lvl="1"/>
            <a:r>
              <a:rPr lang="en-US" dirty="0">
                <a:solidFill>
                  <a:schemeClr val="bg1">
                    <a:lumMod val="75000"/>
                  </a:schemeClr>
                </a:solidFill>
              </a:rPr>
              <a:t>Maintain pointer to minimum element. </a:t>
            </a:r>
          </a:p>
          <a:p>
            <a:pPr lvl="1"/>
            <a:r>
              <a:rPr lang="en-US" dirty="0">
                <a:solidFill>
                  <a:schemeClr val="bg1">
                    <a:lumMod val="75000"/>
                  </a:schemeClr>
                </a:solidFill>
              </a:rPr>
              <a:t>Set of marked nodes</a:t>
            </a:r>
            <a:endParaRPr lang="en-IN" dirty="0">
              <a:solidFill>
                <a:schemeClr val="bg1">
                  <a:lumMod val="75000"/>
                </a:schemeClr>
              </a:solidFill>
            </a:endParaRPr>
          </a:p>
        </p:txBody>
      </p:sp>
      <p:pic>
        <p:nvPicPr>
          <p:cNvPr id="5" name="Picture 4">
            <a:extLst>
              <a:ext uri="{FF2B5EF4-FFF2-40B4-BE49-F238E27FC236}">
                <a16:creationId xmlns:a16="http://schemas.microsoft.com/office/drawing/2014/main" id="{4C5B8A39-2379-4645-A148-7E3129A9F72C}"/>
              </a:ext>
            </a:extLst>
          </p:cNvPr>
          <p:cNvPicPr>
            <a:picLocks noChangeAspect="1"/>
          </p:cNvPicPr>
          <p:nvPr/>
        </p:nvPicPr>
        <p:blipFill>
          <a:blip r:embed="rId2"/>
          <a:stretch>
            <a:fillRect/>
          </a:stretch>
        </p:blipFill>
        <p:spPr>
          <a:xfrm>
            <a:off x="2124905" y="2793386"/>
            <a:ext cx="7681375" cy="2779641"/>
          </a:xfrm>
          <a:prstGeom prst="rect">
            <a:avLst/>
          </a:prstGeom>
        </p:spPr>
      </p:pic>
    </p:spTree>
    <p:extLst>
      <p:ext uri="{BB962C8B-B14F-4D97-AF65-F5344CB8AC3E}">
        <p14:creationId xmlns:p14="http://schemas.microsoft.com/office/powerpoint/2010/main" val="18432028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ED6CE-9D05-461D-A151-6E538D1E852C}"/>
              </a:ext>
            </a:extLst>
          </p:cNvPr>
          <p:cNvSpPr>
            <a:spLocks noGrp="1"/>
          </p:cNvSpPr>
          <p:nvPr>
            <p:ph type="title"/>
          </p:nvPr>
        </p:nvSpPr>
        <p:spPr/>
        <p:txBody>
          <a:bodyPr/>
          <a:lstStyle/>
          <a:p>
            <a:r>
              <a:rPr lang="en-US" dirty="0"/>
              <a:t>Memory Representation of the Nodes in a Fibonacci Heap</a:t>
            </a:r>
            <a:endParaRPr lang="en-IN" dirty="0"/>
          </a:p>
        </p:txBody>
      </p:sp>
      <p:sp>
        <p:nvSpPr>
          <p:cNvPr id="3" name="Content Placeholder 2">
            <a:extLst>
              <a:ext uri="{FF2B5EF4-FFF2-40B4-BE49-F238E27FC236}">
                <a16:creationId xmlns:a16="http://schemas.microsoft.com/office/drawing/2014/main" id="{1A10EFE4-A9F9-4F3A-B90E-C4E2C62FC048}"/>
              </a:ext>
            </a:extLst>
          </p:cNvPr>
          <p:cNvSpPr>
            <a:spLocks noGrp="1"/>
          </p:cNvSpPr>
          <p:nvPr>
            <p:ph idx="1"/>
          </p:nvPr>
        </p:nvSpPr>
        <p:spPr/>
        <p:txBody>
          <a:bodyPr/>
          <a:lstStyle/>
          <a:p>
            <a:r>
              <a:rPr lang="en-US" dirty="0"/>
              <a:t>The roots of all the trees are </a:t>
            </a:r>
            <a:r>
              <a:rPr lang="en-US" dirty="0">
                <a:solidFill>
                  <a:srgbClr val="C00000"/>
                </a:solidFill>
              </a:rPr>
              <a:t>linked together for faster access</a:t>
            </a:r>
            <a:r>
              <a:rPr lang="en-US" dirty="0"/>
              <a:t>. The child nodes of a parent node are connected to each other through a </a:t>
            </a:r>
            <a:r>
              <a:rPr lang="en-US" dirty="0">
                <a:solidFill>
                  <a:srgbClr val="C00000"/>
                </a:solidFill>
              </a:rPr>
              <a:t>circular doubly linked </a:t>
            </a:r>
            <a:r>
              <a:rPr lang="en-US" dirty="0"/>
              <a:t>list as shown below.</a:t>
            </a:r>
          </a:p>
          <a:p>
            <a:r>
              <a:rPr lang="en-US" dirty="0"/>
              <a:t>In Fibonacci heap, each tree of degree n has </a:t>
            </a:r>
            <a:r>
              <a:rPr lang="en-US" dirty="0" err="1"/>
              <a:t>atleast</a:t>
            </a:r>
            <a:r>
              <a:rPr lang="en-US" dirty="0"/>
              <a:t> </a:t>
            </a:r>
            <a:r>
              <a:rPr lang="en-US" dirty="0">
                <a:solidFill>
                  <a:srgbClr val="C00000"/>
                </a:solidFill>
              </a:rPr>
              <a:t>F</a:t>
            </a:r>
            <a:r>
              <a:rPr lang="en-US" baseline="-25000" dirty="0">
                <a:solidFill>
                  <a:srgbClr val="C00000"/>
                </a:solidFill>
              </a:rPr>
              <a:t>n+2</a:t>
            </a:r>
            <a:r>
              <a:rPr lang="en-US" dirty="0">
                <a:solidFill>
                  <a:srgbClr val="C00000"/>
                </a:solidFill>
              </a:rPr>
              <a:t> </a:t>
            </a:r>
            <a:r>
              <a:rPr lang="en-US" dirty="0"/>
              <a:t>nodes in it.{}</a:t>
            </a:r>
            <a:endParaRPr lang="en-US" baseline="-25000" dirty="0"/>
          </a:p>
          <a:p>
            <a:r>
              <a:rPr lang="en-US" dirty="0"/>
              <a:t>There are two main advantages of using a circular doubly linked list.</a:t>
            </a:r>
          </a:p>
          <a:p>
            <a:pPr marL="887412" lvl="1" indent="-342900"/>
            <a:r>
              <a:rPr lang="en-US" dirty="0"/>
              <a:t>Deleting a node from the tree takes O(1) time.</a:t>
            </a:r>
          </a:p>
          <a:p>
            <a:pPr marL="887412" lvl="1" indent="-342900"/>
            <a:r>
              <a:rPr lang="en-US" dirty="0"/>
              <a:t>The concatenation of two such lists takes O(1) time.</a:t>
            </a:r>
            <a:endParaRPr lang="en-IN" dirty="0"/>
          </a:p>
        </p:txBody>
      </p:sp>
      <p:pic>
        <p:nvPicPr>
          <p:cNvPr id="2050" name="Picture 2" descr="Fibonacci Heap Structure">
            <a:extLst>
              <a:ext uri="{FF2B5EF4-FFF2-40B4-BE49-F238E27FC236}">
                <a16:creationId xmlns:a16="http://schemas.microsoft.com/office/drawing/2014/main" id="{B09C2FCB-8B37-4541-9D74-6237ABF653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630" y="3429000"/>
            <a:ext cx="7557067" cy="322356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59">
            <a:extLst>
              <a:ext uri="{FF2B5EF4-FFF2-40B4-BE49-F238E27FC236}">
                <a16:creationId xmlns:a16="http://schemas.microsoft.com/office/drawing/2014/main" id="{647D2DD9-33EF-4148-998B-CBD77A20DFD5}"/>
              </a:ext>
            </a:extLst>
          </p:cNvPr>
          <p:cNvSpPr>
            <a:spLocks noChangeArrowheads="1"/>
          </p:cNvSpPr>
          <p:nvPr/>
        </p:nvSpPr>
        <p:spPr bwMode="auto">
          <a:xfrm>
            <a:off x="8624236" y="3465096"/>
            <a:ext cx="1323498" cy="30801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dirty="0"/>
              <a:t>key</a:t>
            </a:r>
          </a:p>
        </p:txBody>
      </p:sp>
      <p:sp>
        <p:nvSpPr>
          <p:cNvPr id="11" name="Rectangle 60">
            <a:extLst>
              <a:ext uri="{FF2B5EF4-FFF2-40B4-BE49-F238E27FC236}">
                <a16:creationId xmlns:a16="http://schemas.microsoft.com/office/drawing/2014/main" id="{2419100C-D2B4-4B17-A932-9639398B6AA2}"/>
              </a:ext>
            </a:extLst>
          </p:cNvPr>
          <p:cNvSpPr>
            <a:spLocks noChangeArrowheads="1"/>
          </p:cNvSpPr>
          <p:nvPr/>
        </p:nvSpPr>
        <p:spPr bwMode="auto">
          <a:xfrm>
            <a:off x="8624236" y="3774047"/>
            <a:ext cx="1323498" cy="335004"/>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dirty="0"/>
              <a:t>degree</a:t>
            </a:r>
          </a:p>
        </p:txBody>
      </p:sp>
      <p:sp>
        <p:nvSpPr>
          <p:cNvPr id="12" name="Rectangle 61">
            <a:extLst>
              <a:ext uri="{FF2B5EF4-FFF2-40B4-BE49-F238E27FC236}">
                <a16:creationId xmlns:a16="http://schemas.microsoft.com/office/drawing/2014/main" id="{1A5F3E03-BFB9-43B5-BFAA-74EE0699F76C}"/>
              </a:ext>
            </a:extLst>
          </p:cNvPr>
          <p:cNvSpPr>
            <a:spLocks noChangeArrowheads="1"/>
          </p:cNvSpPr>
          <p:nvPr/>
        </p:nvSpPr>
        <p:spPr bwMode="auto">
          <a:xfrm>
            <a:off x="8633861" y="4108380"/>
            <a:ext cx="654518" cy="338491"/>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L-sibling</a:t>
            </a:r>
          </a:p>
        </p:txBody>
      </p:sp>
      <p:sp>
        <p:nvSpPr>
          <p:cNvPr id="13" name="Rectangle 62">
            <a:extLst>
              <a:ext uri="{FF2B5EF4-FFF2-40B4-BE49-F238E27FC236}">
                <a16:creationId xmlns:a16="http://schemas.microsoft.com/office/drawing/2014/main" id="{5AF7D65A-6B86-4A4D-A770-4CFF0FBEAEEF}"/>
              </a:ext>
            </a:extLst>
          </p:cNvPr>
          <p:cNvSpPr>
            <a:spLocks noChangeArrowheads="1"/>
          </p:cNvSpPr>
          <p:nvPr/>
        </p:nvSpPr>
        <p:spPr bwMode="auto">
          <a:xfrm>
            <a:off x="9288379" y="4100363"/>
            <a:ext cx="664143" cy="346514"/>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t>R-sibling</a:t>
            </a:r>
            <a:endParaRPr lang="en-US" altLang="en-US" sz="1000" dirty="0"/>
          </a:p>
        </p:txBody>
      </p:sp>
      <p:sp>
        <p:nvSpPr>
          <p:cNvPr id="14" name="Rectangle 63">
            <a:extLst>
              <a:ext uri="{FF2B5EF4-FFF2-40B4-BE49-F238E27FC236}">
                <a16:creationId xmlns:a16="http://schemas.microsoft.com/office/drawing/2014/main" id="{CE753BA8-8695-4D42-87B1-D8A291FA8665}"/>
              </a:ext>
            </a:extLst>
          </p:cNvPr>
          <p:cNvSpPr>
            <a:spLocks noChangeArrowheads="1"/>
          </p:cNvSpPr>
          <p:nvPr/>
        </p:nvSpPr>
        <p:spPr bwMode="auto">
          <a:xfrm>
            <a:off x="8624236" y="3157086"/>
            <a:ext cx="1323498" cy="30801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dirty="0"/>
              <a:t>p</a:t>
            </a:r>
          </a:p>
        </p:txBody>
      </p:sp>
      <p:sp>
        <p:nvSpPr>
          <p:cNvPr id="20" name="Rectangle 63">
            <a:extLst>
              <a:ext uri="{FF2B5EF4-FFF2-40B4-BE49-F238E27FC236}">
                <a16:creationId xmlns:a16="http://schemas.microsoft.com/office/drawing/2014/main" id="{B3D1A0B3-4FE6-4227-9686-8387BCC06239}"/>
              </a:ext>
            </a:extLst>
          </p:cNvPr>
          <p:cNvSpPr>
            <a:spLocks noChangeArrowheads="1"/>
          </p:cNvSpPr>
          <p:nvPr/>
        </p:nvSpPr>
        <p:spPr bwMode="auto">
          <a:xfrm>
            <a:off x="8633861" y="4453949"/>
            <a:ext cx="1323498" cy="319244"/>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dirty="0"/>
              <a:t>mark</a:t>
            </a:r>
          </a:p>
        </p:txBody>
      </p:sp>
      <p:sp>
        <p:nvSpPr>
          <p:cNvPr id="21" name="Rectangle 63">
            <a:extLst>
              <a:ext uri="{FF2B5EF4-FFF2-40B4-BE49-F238E27FC236}">
                <a16:creationId xmlns:a16="http://schemas.microsoft.com/office/drawing/2014/main" id="{08112C52-F2D3-4F44-9D56-B8C34D31AE6C}"/>
              </a:ext>
            </a:extLst>
          </p:cNvPr>
          <p:cNvSpPr>
            <a:spLocks noChangeArrowheads="1"/>
          </p:cNvSpPr>
          <p:nvPr/>
        </p:nvSpPr>
        <p:spPr bwMode="auto">
          <a:xfrm>
            <a:off x="8624236" y="4770642"/>
            <a:ext cx="1323498" cy="319244"/>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dirty="0"/>
              <a:t>Any child</a:t>
            </a:r>
          </a:p>
        </p:txBody>
      </p:sp>
      <p:sp>
        <p:nvSpPr>
          <p:cNvPr id="4" name="TextBox 3">
            <a:extLst>
              <a:ext uri="{FF2B5EF4-FFF2-40B4-BE49-F238E27FC236}">
                <a16:creationId xmlns:a16="http://schemas.microsoft.com/office/drawing/2014/main" id="{B8463C1D-A490-48A4-AC0D-CD358B2A696A}"/>
              </a:ext>
            </a:extLst>
          </p:cNvPr>
          <p:cNvSpPr txBox="1"/>
          <p:nvPr/>
        </p:nvSpPr>
        <p:spPr>
          <a:xfrm>
            <a:off x="7916471" y="5486400"/>
            <a:ext cx="3655168" cy="646331"/>
          </a:xfrm>
          <a:prstGeom prst="rect">
            <a:avLst/>
          </a:prstGeom>
          <a:noFill/>
        </p:spPr>
        <p:txBody>
          <a:bodyPr wrap="none" rtlCol="0">
            <a:spAutoFit/>
          </a:bodyPr>
          <a:lstStyle/>
          <a:p>
            <a:r>
              <a:rPr lang="en-IN" dirty="0"/>
              <a:t>Mark(18) = 1 (lost one of its children)</a:t>
            </a:r>
          </a:p>
          <a:p>
            <a:r>
              <a:rPr lang="en-IN" dirty="0"/>
              <a:t>Mark(38) = 0 (lost no </a:t>
            </a:r>
            <a:r>
              <a:rPr lang="en-IN" dirty="0" err="1"/>
              <a:t>chilld</a:t>
            </a:r>
            <a:r>
              <a:rPr lang="en-IN" dirty="0"/>
              <a:t>)</a:t>
            </a:r>
          </a:p>
        </p:txBody>
      </p:sp>
    </p:spTree>
    <p:extLst>
      <p:ext uri="{BB962C8B-B14F-4D97-AF65-F5344CB8AC3E}">
        <p14:creationId xmlns:p14="http://schemas.microsoft.com/office/powerpoint/2010/main" val="35900292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E6CE6-78EC-4A70-ACE5-E25051498FF3}"/>
              </a:ext>
            </a:extLst>
          </p:cNvPr>
          <p:cNvSpPr>
            <a:spLocks noGrp="1"/>
          </p:cNvSpPr>
          <p:nvPr>
            <p:ph type="title"/>
          </p:nvPr>
        </p:nvSpPr>
        <p:spPr/>
        <p:txBody>
          <a:bodyPr/>
          <a:lstStyle/>
          <a:p>
            <a:r>
              <a:rPr lang="en-IN" dirty="0"/>
              <a:t>Fibonacci Heaps: Structure</a:t>
            </a:r>
          </a:p>
        </p:txBody>
      </p:sp>
      <p:sp>
        <p:nvSpPr>
          <p:cNvPr id="3" name="Content Placeholder 2">
            <a:extLst>
              <a:ext uri="{FF2B5EF4-FFF2-40B4-BE49-F238E27FC236}">
                <a16:creationId xmlns:a16="http://schemas.microsoft.com/office/drawing/2014/main" id="{FCD95E37-00D1-408B-9B3B-FCFFDD6F86BD}"/>
              </a:ext>
            </a:extLst>
          </p:cNvPr>
          <p:cNvSpPr>
            <a:spLocks noGrp="1"/>
          </p:cNvSpPr>
          <p:nvPr>
            <p:ph idx="1"/>
          </p:nvPr>
        </p:nvSpPr>
        <p:spPr/>
        <p:txBody>
          <a:bodyPr/>
          <a:lstStyle/>
          <a:p>
            <a:pPr marL="0" indent="0">
              <a:buNone/>
            </a:pPr>
            <a:r>
              <a:rPr lang="en-US" dirty="0"/>
              <a:t>Fibonacci heap. </a:t>
            </a:r>
          </a:p>
          <a:p>
            <a:pPr lvl="1"/>
            <a:r>
              <a:rPr lang="en-US" dirty="0">
                <a:solidFill>
                  <a:schemeClr val="bg1">
                    <a:lumMod val="75000"/>
                  </a:schemeClr>
                </a:solidFill>
              </a:rPr>
              <a:t>Set of heap-ordered trees. (each parent larger than its children)</a:t>
            </a:r>
          </a:p>
          <a:p>
            <a:pPr lvl="1"/>
            <a:r>
              <a:rPr lang="en-US" dirty="0">
                <a:solidFill>
                  <a:srgbClr val="C00000"/>
                </a:solidFill>
              </a:rPr>
              <a:t>Maintain pointer to minimum element. </a:t>
            </a:r>
            <a:r>
              <a:rPr lang="en-US" sz="1600" dirty="0">
                <a:solidFill>
                  <a:srgbClr val="C00000"/>
                </a:solidFill>
              </a:rPr>
              <a:t>(find-min takes O(1) time)</a:t>
            </a:r>
          </a:p>
          <a:p>
            <a:pPr lvl="1"/>
            <a:r>
              <a:rPr lang="en-US" dirty="0">
                <a:solidFill>
                  <a:schemeClr val="bg1">
                    <a:lumMod val="75000"/>
                  </a:schemeClr>
                </a:solidFill>
              </a:rPr>
              <a:t>Set of marked nodes</a:t>
            </a:r>
            <a:endParaRPr lang="en-IN" dirty="0">
              <a:solidFill>
                <a:schemeClr val="bg1">
                  <a:lumMod val="75000"/>
                </a:schemeClr>
              </a:solidFill>
            </a:endParaRPr>
          </a:p>
        </p:txBody>
      </p:sp>
      <p:pic>
        <p:nvPicPr>
          <p:cNvPr id="6" name="Picture 5">
            <a:extLst>
              <a:ext uri="{FF2B5EF4-FFF2-40B4-BE49-F238E27FC236}">
                <a16:creationId xmlns:a16="http://schemas.microsoft.com/office/drawing/2014/main" id="{B40C9035-CF49-4CFC-BC29-7EE23A8044A1}"/>
              </a:ext>
            </a:extLst>
          </p:cNvPr>
          <p:cNvPicPr>
            <a:picLocks noChangeAspect="1"/>
          </p:cNvPicPr>
          <p:nvPr/>
        </p:nvPicPr>
        <p:blipFill>
          <a:blip r:embed="rId2"/>
          <a:stretch>
            <a:fillRect/>
          </a:stretch>
        </p:blipFill>
        <p:spPr>
          <a:xfrm>
            <a:off x="2026633" y="2857289"/>
            <a:ext cx="7563135" cy="2773490"/>
          </a:xfrm>
          <a:prstGeom prst="rect">
            <a:avLst/>
          </a:prstGeom>
        </p:spPr>
      </p:pic>
    </p:spTree>
    <p:extLst>
      <p:ext uri="{BB962C8B-B14F-4D97-AF65-F5344CB8AC3E}">
        <p14:creationId xmlns:p14="http://schemas.microsoft.com/office/powerpoint/2010/main" val="28741360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E6CE6-78EC-4A70-ACE5-E25051498FF3}"/>
              </a:ext>
            </a:extLst>
          </p:cNvPr>
          <p:cNvSpPr>
            <a:spLocks noGrp="1"/>
          </p:cNvSpPr>
          <p:nvPr>
            <p:ph type="title"/>
          </p:nvPr>
        </p:nvSpPr>
        <p:spPr/>
        <p:txBody>
          <a:bodyPr/>
          <a:lstStyle/>
          <a:p>
            <a:r>
              <a:rPr lang="en-IN" dirty="0"/>
              <a:t>Fibonacci Heaps: Structure</a:t>
            </a:r>
          </a:p>
        </p:txBody>
      </p:sp>
      <p:sp>
        <p:nvSpPr>
          <p:cNvPr id="3" name="Content Placeholder 2">
            <a:extLst>
              <a:ext uri="{FF2B5EF4-FFF2-40B4-BE49-F238E27FC236}">
                <a16:creationId xmlns:a16="http://schemas.microsoft.com/office/drawing/2014/main" id="{FCD95E37-00D1-408B-9B3B-FCFFDD6F86BD}"/>
              </a:ext>
            </a:extLst>
          </p:cNvPr>
          <p:cNvSpPr>
            <a:spLocks noGrp="1"/>
          </p:cNvSpPr>
          <p:nvPr>
            <p:ph idx="1"/>
          </p:nvPr>
        </p:nvSpPr>
        <p:spPr/>
        <p:txBody>
          <a:bodyPr/>
          <a:lstStyle/>
          <a:p>
            <a:pPr marL="0" indent="0">
              <a:buNone/>
            </a:pPr>
            <a:r>
              <a:rPr lang="en-US" dirty="0"/>
              <a:t>Fibonacci heap. </a:t>
            </a:r>
          </a:p>
          <a:p>
            <a:pPr lvl="1"/>
            <a:r>
              <a:rPr lang="en-US" dirty="0">
                <a:solidFill>
                  <a:schemeClr val="bg1">
                    <a:lumMod val="75000"/>
                  </a:schemeClr>
                </a:solidFill>
              </a:rPr>
              <a:t>Set of heap-ordered trees. (each parent larger than its children)</a:t>
            </a:r>
          </a:p>
          <a:p>
            <a:pPr lvl="1"/>
            <a:r>
              <a:rPr lang="en-US" dirty="0">
                <a:solidFill>
                  <a:schemeClr val="bg1">
                    <a:lumMod val="75000"/>
                  </a:schemeClr>
                </a:solidFill>
              </a:rPr>
              <a:t>Maintain pointer to minimum element. </a:t>
            </a:r>
          </a:p>
          <a:p>
            <a:pPr lvl="1"/>
            <a:r>
              <a:rPr lang="en-US" dirty="0">
                <a:solidFill>
                  <a:srgbClr val="C00000"/>
                </a:solidFill>
              </a:rPr>
              <a:t>Set of marked nodes</a:t>
            </a:r>
            <a:endParaRPr lang="en-IN" dirty="0">
              <a:solidFill>
                <a:srgbClr val="C00000"/>
              </a:solidFill>
            </a:endParaRPr>
          </a:p>
        </p:txBody>
      </p:sp>
      <p:pic>
        <p:nvPicPr>
          <p:cNvPr id="5" name="Picture 4">
            <a:extLst>
              <a:ext uri="{FF2B5EF4-FFF2-40B4-BE49-F238E27FC236}">
                <a16:creationId xmlns:a16="http://schemas.microsoft.com/office/drawing/2014/main" id="{67BEE5DD-AE62-43FF-ACD7-95C9F78FC7AE}"/>
              </a:ext>
            </a:extLst>
          </p:cNvPr>
          <p:cNvPicPr>
            <a:picLocks noChangeAspect="1"/>
          </p:cNvPicPr>
          <p:nvPr/>
        </p:nvPicPr>
        <p:blipFill>
          <a:blip r:embed="rId2"/>
          <a:stretch>
            <a:fillRect/>
          </a:stretch>
        </p:blipFill>
        <p:spPr>
          <a:xfrm>
            <a:off x="2087359" y="2677383"/>
            <a:ext cx="7601818" cy="2741639"/>
          </a:xfrm>
          <a:prstGeom prst="rect">
            <a:avLst/>
          </a:prstGeom>
        </p:spPr>
      </p:pic>
    </p:spTree>
    <p:extLst>
      <p:ext uri="{BB962C8B-B14F-4D97-AF65-F5344CB8AC3E}">
        <p14:creationId xmlns:p14="http://schemas.microsoft.com/office/powerpoint/2010/main" val="30099716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26A50-4FA1-4C3C-BBFA-0C22E10D4BC4}"/>
              </a:ext>
            </a:extLst>
          </p:cNvPr>
          <p:cNvSpPr>
            <a:spLocks noGrp="1"/>
          </p:cNvSpPr>
          <p:nvPr>
            <p:ph type="title"/>
          </p:nvPr>
        </p:nvSpPr>
        <p:spPr/>
        <p:txBody>
          <a:bodyPr/>
          <a:lstStyle/>
          <a:p>
            <a:r>
              <a:rPr lang="en-IN" dirty="0"/>
              <a:t>Fibonacci heap: Notations</a:t>
            </a:r>
          </a:p>
        </p:txBody>
      </p:sp>
      <p:sp>
        <p:nvSpPr>
          <p:cNvPr id="3" name="Content Placeholder 2">
            <a:extLst>
              <a:ext uri="{FF2B5EF4-FFF2-40B4-BE49-F238E27FC236}">
                <a16:creationId xmlns:a16="http://schemas.microsoft.com/office/drawing/2014/main" id="{BD0CF472-7275-499E-8D8B-7D9064C0928B}"/>
              </a:ext>
            </a:extLst>
          </p:cNvPr>
          <p:cNvSpPr>
            <a:spLocks noGrp="1"/>
          </p:cNvSpPr>
          <p:nvPr>
            <p:ph idx="1"/>
          </p:nvPr>
        </p:nvSpPr>
        <p:spPr/>
        <p:txBody>
          <a:bodyPr/>
          <a:lstStyle/>
          <a:p>
            <a:r>
              <a:rPr lang="en-US" dirty="0"/>
              <a:t>Notation.</a:t>
            </a:r>
          </a:p>
          <a:p>
            <a:pPr lvl="1"/>
            <a:r>
              <a:rPr lang="en-US" dirty="0"/>
              <a:t>n = number of nodes in heap.</a:t>
            </a:r>
          </a:p>
          <a:p>
            <a:pPr lvl="1"/>
            <a:r>
              <a:rPr lang="en-US" dirty="0"/>
              <a:t>rank(x) </a:t>
            </a:r>
            <a:r>
              <a:rPr lang="en-US"/>
              <a:t>or degree(x) </a:t>
            </a:r>
            <a:r>
              <a:rPr lang="en-US" dirty="0"/>
              <a:t>= number of children of node x.</a:t>
            </a:r>
          </a:p>
          <a:p>
            <a:pPr lvl="1"/>
            <a:r>
              <a:rPr lang="en-US" dirty="0"/>
              <a:t>rank(H) = max rank of any node in heap H.</a:t>
            </a:r>
          </a:p>
          <a:p>
            <a:pPr lvl="1"/>
            <a:r>
              <a:rPr lang="en-US" dirty="0"/>
              <a:t>trees(H) = number of trees in heap H.</a:t>
            </a:r>
          </a:p>
          <a:p>
            <a:pPr lvl="1"/>
            <a:r>
              <a:rPr lang="en-US" dirty="0"/>
              <a:t>marks(H) = number of marked nodes in heap H</a:t>
            </a:r>
            <a:endParaRPr lang="en-IN" dirty="0"/>
          </a:p>
        </p:txBody>
      </p:sp>
      <p:pic>
        <p:nvPicPr>
          <p:cNvPr id="5" name="Picture 4">
            <a:extLst>
              <a:ext uri="{FF2B5EF4-FFF2-40B4-BE49-F238E27FC236}">
                <a16:creationId xmlns:a16="http://schemas.microsoft.com/office/drawing/2014/main" id="{EC813EDA-FF2F-403F-A983-3475D40F4439}"/>
              </a:ext>
            </a:extLst>
          </p:cNvPr>
          <p:cNvPicPr>
            <a:picLocks noChangeAspect="1"/>
          </p:cNvPicPr>
          <p:nvPr/>
        </p:nvPicPr>
        <p:blipFill>
          <a:blip r:embed="rId2"/>
          <a:stretch>
            <a:fillRect/>
          </a:stretch>
        </p:blipFill>
        <p:spPr>
          <a:xfrm>
            <a:off x="1824203" y="3347577"/>
            <a:ext cx="8032060" cy="2783715"/>
          </a:xfrm>
          <a:prstGeom prst="rect">
            <a:avLst/>
          </a:prstGeom>
        </p:spPr>
      </p:pic>
    </p:spTree>
    <p:extLst>
      <p:ext uri="{BB962C8B-B14F-4D97-AF65-F5344CB8AC3E}">
        <p14:creationId xmlns:p14="http://schemas.microsoft.com/office/powerpoint/2010/main" val="34441666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F75EA-14EE-45E7-870A-5EAF09C76110}"/>
              </a:ext>
            </a:extLst>
          </p:cNvPr>
          <p:cNvSpPr>
            <a:spLocks noGrp="1"/>
          </p:cNvSpPr>
          <p:nvPr>
            <p:ph type="title"/>
          </p:nvPr>
        </p:nvSpPr>
        <p:spPr/>
        <p:txBody>
          <a:bodyPr/>
          <a:lstStyle/>
          <a:p>
            <a:r>
              <a:rPr lang="en-IN" dirty="0"/>
              <a:t>Fibonacci heap operation</a:t>
            </a:r>
          </a:p>
        </p:txBody>
      </p:sp>
      <p:sp>
        <p:nvSpPr>
          <p:cNvPr id="3" name="Content Placeholder 2">
            <a:extLst>
              <a:ext uri="{FF2B5EF4-FFF2-40B4-BE49-F238E27FC236}">
                <a16:creationId xmlns:a16="http://schemas.microsoft.com/office/drawing/2014/main" id="{3FAEAC32-CFA9-419D-861B-1495448F0E03}"/>
              </a:ext>
            </a:extLst>
          </p:cNvPr>
          <p:cNvSpPr>
            <a:spLocks noGrp="1"/>
          </p:cNvSpPr>
          <p:nvPr>
            <p:ph idx="1"/>
          </p:nvPr>
        </p:nvSpPr>
        <p:spPr>
          <a:xfrm>
            <a:off x="131179" y="861193"/>
            <a:ext cx="11929641" cy="5590565"/>
          </a:xfrm>
        </p:spPr>
        <p:txBody>
          <a:bodyPr/>
          <a:lstStyle/>
          <a:p>
            <a:r>
              <a:rPr lang="en-IN" dirty="0"/>
              <a:t>Insert</a:t>
            </a:r>
          </a:p>
          <a:p>
            <a:r>
              <a:rPr lang="en-IN" dirty="0"/>
              <a:t>Link</a:t>
            </a:r>
          </a:p>
          <a:p>
            <a:r>
              <a:rPr lang="en-IN" dirty="0"/>
              <a:t>Delete min</a:t>
            </a:r>
          </a:p>
          <a:p>
            <a:r>
              <a:rPr lang="en-IN" dirty="0"/>
              <a:t>Decrease Key</a:t>
            </a:r>
          </a:p>
          <a:p>
            <a:r>
              <a:rPr lang="en-IN" dirty="0"/>
              <a:t>Union </a:t>
            </a:r>
          </a:p>
          <a:p>
            <a:r>
              <a:rPr lang="en-IN" dirty="0"/>
              <a:t>Delete</a:t>
            </a:r>
          </a:p>
          <a:p>
            <a:endParaRPr lang="en-IN" dirty="0"/>
          </a:p>
          <a:p>
            <a:endParaRPr lang="en-IN" dirty="0"/>
          </a:p>
          <a:p>
            <a:endParaRPr lang="en-IN" dirty="0"/>
          </a:p>
        </p:txBody>
      </p:sp>
    </p:spTree>
    <p:extLst>
      <p:ext uri="{BB962C8B-B14F-4D97-AF65-F5344CB8AC3E}">
        <p14:creationId xmlns:p14="http://schemas.microsoft.com/office/powerpoint/2010/main" val="9750313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1E7E7-F74C-4283-905A-12AB68A430EC}"/>
              </a:ext>
            </a:extLst>
          </p:cNvPr>
          <p:cNvSpPr>
            <a:spLocks noGrp="1"/>
          </p:cNvSpPr>
          <p:nvPr>
            <p:ph type="title"/>
          </p:nvPr>
        </p:nvSpPr>
        <p:spPr/>
        <p:txBody>
          <a:bodyPr/>
          <a:lstStyle/>
          <a:p>
            <a:r>
              <a:rPr lang="en-IN" dirty="0"/>
              <a:t>1. Fibonacci Heaps: Insert</a:t>
            </a:r>
          </a:p>
        </p:txBody>
      </p:sp>
      <p:sp>
        <p:nvSpPr>
          <p:cNvPr id="3" name="Content Placeholder 2">
            <a:extLst>
              <a:ext uri="{FF2B5EF4-FFF2-40B4-BE49-F238E27FC236}">
                <a16:creationId xmlns:a16="http://schemas.microsoft.com/office/drawing/2014/main" id="{81E9905B-B6E1-495D-A776-3FD8B3DD80F2}"/>
              </a:ext>
            </a:extLst>
          </p:cNvPr>
          <p:cNvSpPr>
            <a:spLocks noGrp="1"/>
          </p:cNvSpPr>
          <p:nvPr>
            <p:ph idx="1"/>
          </p:nvPr>
        </p:nvSpPr>
        <p:spPr/>
        <p:txBody>
          <a:bodyPr/>
          <a:lstStyle/>
          <a:p>
            <a:r>
              <a:rPr lang="en-US" dirty="0"/>
              <a:t>Insert.</a:t>
            </a:r>
          </a:p>
          <a:p>
            <a:pPr lvl="1"/>
            <a:r>
              <a:rPr lang="en-US" dirty="0">
                <a:solidFill>
                  <a:srgbClr val="C00000"/>
                </a:solidFill>
              </a:rPr>
              <a:t>Create a new singleton tree.</a:t>
            </a:r>
          </a:p>
          <a:p>
            <a:pPr lvl="1"/>
            <a:r>
              <a:rPr lang="en-US" dirty="0">
                <a:solidFill>
                  <a:schemeClr val="bg1">
                    <a:lumMod val="75000"/>
                  </a:schemeClr>
                </a:solidFill>
              </a:rPr>
              <a:t>Add to root list(left child of min[h]); update min pointer (if necessary).</a:t>
            </a:r>
            <a:endParaRPr lang="en-IN" dirty="0">
              <a:solidFill>
                <a:schemeClr val="bg1">
                  <a:lumMod val="75000"/>
                </a:schemeClr>
              </a:solidFill>
            </a:endParaRPr>
          </a:p>
        </p:txBody>
      </p:sp>
      <p:pic>
        <p:nvPicPr>
          <p:cNvPr id="5" name="Picture 4">
            <a:extLst>
              <a:ext uri="{FF2B5EF4-FFF2-40B4-BE49-F238E27FC236}">
                <a16:creationId xmlns:a16="http://schemas.microsoft.com/office/drawing/2014/main" id="{FC1A4AB7-EFE6-4B32-BCF2-DF5189902F70}"/>
              </a:ext>
            </a:extLst>
          </p:cNvPr>
          <p:cNvPicPr>
            <a:picLocks noChangeAspect="1"/>
          </p:cNvPicPr>
          <p:nvPr/>
        </p:nvPicPr>
        <p:blipFill>
          <a:blip r:embed="rId2"/>
          <a:stretch>
            <a:fillRect/>
          </a:stretch>
        </p:blipFill>
        <p:spPr>
          <a:xfrm>
            <a:off x="2147566" y="2339121"/>
            <a:ext cx="7896864" cy="3455555"/>
          </a:xfrm>
          <a:prstGeom prst="rect">
            <a:avLst/>
          </a:prstGeom>
        </p:spPr>
      </p:pic>
    </p:spTree>
    <p:extLst>
      <p:ext uri="{BB962C8B-B14F-4D97-AF65-F5344CB8AC3E}">
        <p14:creationId xmlns:p14="http://schemas.microsoft.com/office/powerpoint/2010/main" val="199355745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1E7E7-F74C-4283-905A-12AB68A430EC}"/>
              </a:ext>
            </a:extLst>
          </p:cNvPr>
          <p:cNvSpPr>
            <a:spLocks noGrp="1"/>
          </p:cNvSpPr>
          <p:nvPr>
            <p:ph type="title"/>
          </p:nvPr>
        </p:nvSpPr>
        <p:spPr/>
        <p:txBody>
          <a:bodyPr/>
          <a:lstStyle/>
          <a:p>
            <a:r>
              <a:rPr lang="en-IN" dirty="0"/>
              <a:t>Insert =&gt; O(1)</a:t>
            </a:r>
          </a:p>
        </p:txBody>
      </p:sp>
      <p:sp>
        <p:nvSpPr>
          <p:cNvPr id="3" name="Content Placeholder 2">
            <a:extLst>
              <a:ext uri="{FF2B5EF4-FFF2-40B4-BE49-F238E27FC236}">
                <a16:creationId xmlns:a16="http://schemas.microsoft.com/office/drawing/2014/main" id="{81E9905B-B6E1-495D-A776-3FD8B3DD80F2}"/>
              </a:ext>
            </a:extLst>
          </p:cNvPr>
          <p:cNvSpPr>
            <a:spLocks noGrp="1"/>
          </p:cNvSpPr>
          <p:nvPr>
            <p:ph idx="1"/>
          </p:nvPr>
        </p:nvSpPr>
        <p:spPr/>
        <p:txBody>
          <a:bodyPr/>
          <a:lstStyle/>
          <a:p>
            <a:r>
              <a:rPr lang="en-US" dirty="0"/>
              <a:t>Insert.</a:t>
            </a:r>
          </a:p>
          <a:p>
            <a:pPr lvl="1"/>
            <a:r>
              <a:rPr lang="en-US" dirty="0">
                <a:solidFill>
                  <a:schemeClr val="bg1">
                    <a:lumMod val="75000"/>
                  </a:schemeClr>
                </a:solidFill>
              </a:rPr>
              <a:t>Create a new singleton tree.</a:t>
            </a:r>
          </a:p>
          <a:p>
            <a:pPr lvl="1"/>
            <a:r>
              <a:rPr lang="en-US" dirty="0">
                <a:solidFill>
                  <a:srgbClr val="C00000"/>
                </a:solidFill>
              </a:rPr>
              <a:t>Add to root list</a:t>
            </a:r>
            <a:r>
              <a:rPr lang="en-US" dirty="0">
                <a:solidFill>
                  <a:schemeClr val="bg1">
                    <a:lumMod val="75000"/>
                  </a:schemeClr>
                </a:solidFill>
              </a:rPr>
              <a:t> </a:t>
            </a:r>
            <a:r>
              <a:rPr lang="en-US" dirty="0">
                <a:solidFill>
                  <a:srgbClr val="C00000"/>
                </a:solidFill>
              </a:rPr>
              <a:t>(left child of min[h]); update min pointer (if necessary).</a:t>
            </a:r>
            <a:endParaRPr lang="en-IN" dirty="0">
              <a:solidFill>
                <a:srgbClr val="C00000"/>
              </a:solidFill>
            </a:endParaRPr>
          </a:p>
        </p:txBody>
      </p:sp>
      <p:pic>
        <p:nvPicPr>
          <p:cNvPr id="5" name="Picture 4">
            <a:extLst>
              <a:ext uri="{FF2B5EF4-FFF2-40B4-BE49-F238E27FC236}">
                <a16:creationId xmlns:a16="http://schemas.microsoft.com/office/drawing/2014/main" id="{42BB881D-6AE8-4829-B72F-7920BE239B06}"/>
              </a:ext>
            </a:extLst>
          </p:cNvPr>
          <p:cNvPicPr>
            <a:picLocks noChangeAspect="1"/>
          </p:cNvPicPr>
          <p:nvPr/>
        </p:nvPicPr>
        <p:blipFill>
          <a:blip r:embed="rId2"/>
          <a:stretch>
            <a:fillRect/>
          </a:stretch>
        </p:blipFill>
        <p:spPr>
          <a:xfrm>
            <a:off x="2074971" y="2329694"/>
            <a:ext cx="8042058" cy="3522465"/>
          </a:xfrm>
          <a:prstGeom prst="rect">
            <a:avLst/>
          </a:prstGeom>
        </p:spPr>
      </p:pic>
    </p:spTree>
    <p:extLst>
      <p:ext uri="{BB962C8B-B14F-4D97-AF65-F5344CB8AC3E}">
        <p14:creationId xmlns:p14="http://schemas.microsoft.com/office/powerpoint/2010/main" val="28459958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CF38B-5480-479D-B87B-33DD0458DBA6}"/>
              </a:ext>
            </a:extLst>
          </p:cNvPr>
          <p:cNvSpPr>
            <a:spLocks noGrp="1"/>
          </p:cNvSpPr>
          <p:nvPr>
            <p:ph type="title"/>
          </p:nvPr>
        </p:nvSpPr>
        <p:spPr/>
        <p:txBody>
          <a:bodyPr/>
          <a:lstStyle/>
          <a:p>
            <a:r>
              <a:rPr lang="en-IN" dirty="0"/>
              <a:t>2. Fibonacci Heap: Linking Operation </a:t>
            </a:r>
          </a:p>
        </p:txBody>
      </p:sp>
      <p:sp>
        <p:nvSpPr>
          <p:cNvPr id="3" name="Content Placeholder 2">
            <a:extLst>
              <a:ext uri="{FF2B5EF4-FFF2-40B4-BE49-F238E27FC236}">
                <a16:creationId xmlns:a16="http://schemas.microsoft.com/office/drawing/2014/main" id="{7F4D08F4-516A-41B2-9810-40D03D8456CB}"/>
              </a:ext>
            </a:extLst>
          </p:cNvPr>
          <p:cNvSpPr>
            <a:spLocks noGrp="1"/>
          </p:cNvSpPr>
          <p:nvPr>
            <p:ph idx="1"/>
          </p:nvPr>
        </p:nvSpPr>
        <p:spPr/>
        <p:txBody>
          <a:bodyPr/>
          <a:lstStyle/>
          <a:p>
            <a:pPr marL="0" indent="0">
              <a:buNone/>
            </a:pPr>
            <a:r>
              <a:rPr lang="en-US" dirty="0"/>
              <a:t>Linking operation: Make larger root be a child of smaller root.</a:t>
            </a:r>
            <a:endParaRPr lang="en-IN" dirty="0"/>
          </a:p>
        </p:txBody>
      </p:sp>
      <p:pic>
        <p:nvPicPr>
          <p:cNvPr id="5" name="Picture 4">
            <a:extLst>
              <a:ext uri="{FF2B5EF4-FFF2-40B4-BE49-F238E27FC236}">
                <a16:creationId xmlns:a16="http://schemas.microsoft.com/office/drawing/2014/main" id="{1B0EBB2F-8BB9-4F88-9642-76C4C6CFCB64}"/>
              </a:ext>
            </a:extLst>
          </p:cNvPr>
          <p:cNvPicPr>
            <a:picLocks noChangeAspect="1"/>
          </p:cNvPicPr>
          <p:nvPr/>
        </p:nvPicPr>
        <p:blipFill>
          <a:blip r:embed="rId2"/>
          <a:stretch>
            <a:fillRect/>
          </a:stretch>
        </p:blipFill>
        <p:spPr>
          <a:xfrm>
            <a:off x="1779239" y="2059988"/>
            <a:ext cx="8633521" cy="3638168"/>
          </a:xfrm>
          <a:prstGeom prst="rect">
            <a:avLst/>
          </a:prstGeom>
        </p:spPr>
      </p:pic>
    </p:spTree>
    <p:extLst>
      <p:ext uri="{BB962C8B-B14F-4D97-AF65-F5344CB8AC3E}">
        <p14:creationId xmlns:p14="http://schemas.microsoft.com/office/powerpoint/2010/main" val="25828158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D1328-3899-41BB-9310-599C46227919}"/>
              </a:ext>
            </a:extLst>
          </p:cNvPr>
          <p:cNvSpPr>
            <a:spLocks noGrp="1"/>
          </p:cNvSpPr>
          <p:nvPr>
            <p:ph type="title"/>
          </p:nvPr>
        </p:nvSpPr>
        <p:spPr/>
        <p:txBody>
          <a:bodyPr/>
          <a:lstStyle/>
          <a:p>
            <a:r>
              <a:rPr lang="en-IN" dirty="0"/>
              <a:t>3. Fibonacci Heaps: Delete Min</a:t>
            </a:r>
          </a:p>
        </p:txBody>
      </p:sp>
      <p:sp>
        <p:nvSpPr>
          <p:cNvPr id="3" name="Content Placeholder 2">
            <a:extLst>
              <a:ext uri="{FF2B5EF4-FFF2-40B4-BE49-F238E27FC236}">
                <a16:creationId xmlns:a16="http://schemas.microsoft.com/office/drawing/2014/main" id="{193038E0-B5D4-466D-916D-943082C3D2C3}"/>
              </a:ext>
            </a:extLst>
          </p:cNvPr>
          <p:cNvSpPr>
            <a:spLocks noGrp="1"/>
          </p:cNvSpPr>
          <p:nvPr>
            <p:ph idx="1"/>
          </p:nvPr>
        </p:nvSpPr>
        <p:spPr/>
        <p:txBody>
          <a:bodyPr/>
          <a:lstStyle/>
          <a:p>
            <a:pPr marL="0" indent="0">
              <a:buNone/>
            </a:pPr>
            <a:r>
              <a:rPr lang="en-US" dirty="0"/>
              <a:t>Delete min.</a:t>
            </a:r>
          </a:p>
          <a:p>
            <a:pPr lvl="1"/>
            <a:r>
              <a:rPr lang="en-US" dirty="0">
                <a:solidFill>
                  <a:srgbClr val="C00000"/>
                </a:solidFill>
              </a:rPr>
              <a:t>Delete min; meld its children into root list; update min.</a:t>
            </a:r>
          </a:p>
          <a:p>
            <a:pPr lvl="1"/>
            <a:r>
              <a:rPr lang="en-US" dirty="0">
                <a:solidFill>
                  <a:schemeClr val="bg1">
                    <a:lumMod val="75000"/>
                  </a:schemeClr>
                </a:solidFill>
              </a:rPr>
              <a:t>Consolidate trees so that no two roots have same rank.</a:t>
            </a:r>
            <a:endParaRPr lang="en-IN" dirty="0">
              <a:solidFill>
                <a:schemeClr val="bg1">
                  <a:lumMod val="75000"/>
                </a:schemeClr>
              </a:solidFill>
            </a:endParaRPr>
          </a:p>
        </p:txBody>
      </p:sp>
      <p:pic>
        <p:nvPicPr>
          <p:cNvPr id="5" name="Picture 4">
            <a:extLst>
              <a:ext uri="{FF2B5EF4-FFF2-40B4-BE49-F238E27FC236}">
                <a16:creationId xmlns:a16="http://schemas.microsoft.com/office/drawing/2014/main" id="{437F4186-D425-47F2-B20A-B384DE6A9C3A}"/>
              </a:ext>
            </a:extLst>
          </p:cNvPr>
          <p:cNvPicPr>
            <a:picLocks noChangeAspect="1"/>
          </p:cNvPicPr>
          <p:nvPr/>
        </p:nvPicPr>
        <p:blipFill>
          <a:blip r:embed="rId2"/>
          <a:stretch>
            <a:fillRect/>
          </a:stretch>
        </p:blipFill>
        <p:spPr>
          <a:xfrm>
            <a:off x="2681760" y="2220522"/>
            <a:ext cx="6828479" cy="3188876"/>
          </a:xfrm>
          <a:prstGeom prst="rect">
            <a:avLst/>
          </a:prstGeom>
        </p:spPr>
      </p:pic>
    </p:spTree>
    <p:extLst>
      <p:ext uri="{BB962C8B-B14F-4D97-AF65-F5344CB8AC3E}">
        <p14:creationId xmlns:p14="http://schemas.microsoft.com/office/powerpoint/2010/main" val="15703405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D1328-3899-41BB-9310-599C46227919}"/>
              </a:ext>
            </a:extLst>
          </p:cNvPr>
          <p:cNvSpPr>
            <a:spLocks noGrp="1"/>
          </p:cNvSpPr>
          <p:nvPr>
            <p:ph type="title"/>
          </p:nvPr>
        </p:nvSpPr>
        <p:spPr/>
        <p:txBody>
          <a:bodyPr/>
          <a:lstStyle/>
          <a:p>
            <a:r>
              <a:rPr lang="en-IN" dirty="0"/>
              <a:t>Delete Min</a:t>
            </a:r>
          </a:p>
        </p:txBody>
      </p:sp>
      <p:sp>
        <p:nvSpPr>
          <p:cNvPr id="3" name="Content Placeholder 2">
            <a:extLst>
              <a:ext uri="{FF2B5EF4-FFF2-40B4-BE49-F238E27FC236}">
                <a16:creationId xmlns:a16="http://schemas.microsoft.com/office/drawing/2014/main" id="{193038E0-B5D4-466D-916D-943082C3D2C3}"/>
              </a:ext>
            </a:extLst>
          </p:cNvPr>
          <p:cNvSpPr>
            <a:spLocks noGrp="1"/>
          </p:cNvSpPr>
          <p:nvPr>
            <p:ph idx="1"/>
          </p:nvPr>
        </p:nvSpPr>
        <p:spPr>
          <a:xfrm>
            <a:off x="131178" y="711201"/>
            <a:ext cx="11929641" cy="5740557"/>
          </a:xfrm>
        </p:spPr>
        <p:txBody>
          <a:bodyPr/>
          <a:lstStyle/>
          <a:p>
            <a:pPr marL="0" indent="0">
              <a:buNone/>
            </a:pPr>
            <a:r>
              <a:rPr lang="en-US" dirty="0"/>
              <a:t>Delete min.</a:t>
            </a:r>
          </a:p>
          <a:p>
            <a:pPr lvl="1"/>
            <a:r>
              <a:rPr lang="en-US" dirty="0">
                <a:solidFill>
                  <a:srgbClr val="C00000"/>
                </a:solidFill>
              </a:rPr>
              <a:t>Delete min; meld its children into root list; update min.</a:t>
            </a:r>
          </a:p>
          <a:p>
            <a:pPr lvl="1"/>
            <a:r>
              <a:rPr lang="en-US" dirty="0">
                <a:solidFill>
                  <a:schemeClr val="bg1">
                    <a:lumMod val="75000"/>
                  </a:schemeClr>
                </a:solidFill>
              </a:rPr>
              <a:t>Consolidate trees so that no two roots have same rank.</a:t>
            </a:r>
            <a:endParaRPr lang="en-IN" dirty="0">
              <a:solidFill>
                <a:schemeClr val="bg1">
                  <a:lumMod val="75000"/>
                </a:schemeClr>
              </a:solidFill>
            </a:endParaRPr>
          </a:p>
        </p:txBody>
      </p:sp>
      <p:pic>
        <p:nvPicPr>
          <p:cNvPr id="5" name="Picture 4">
            <a:extLst>
              <a:ext uri="{FF2B5EF4-FFF2-40B4-BE49-F238E27FC236}">
                <a16:creationId xmlns:a16="http://schemas.microsoft.com/office/drawing/2014/main" id="{2AB75374-29B8-4841-AFE1-49DC177CB2DC}"/>
              </a:ext>
            </a:extLst>
          </p:cNvPr>
          <p:cNvPicPr>
            <a:picLocks noChangeAspect="1"/>
          </p:cNvPicPr>
          <p:nvPr/>
        </p:nvPicPr>
        <p:blipFill>
          <a:blip r:embed="rId2"/>
          <a:stretch>
            <a:fillRect/>
          </a:stretch>
        </p:blipFill>
        <p:spPr>
          <a:xfrm>
            <a:off x="1929442" y="2407178"/>
            <a:ext cx="8333111" cy="2674961"/>
          </a:xfrm>
          <a:prstGeom prst="rect">
            <a:avLst/>
          </a:prstGeom>
        </p:spPr>
      </p:pic>
    </p:spTree>
    <p:extLst>
      <p:ext uri="{BB962C8B-B14F-4D97-AF65-F5344CB8AC3E}">
        <p14:creationId xmlns:p14="http://schemas.microsoft.com/office/powerpoint/2010/main" val="380028333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D1328-3899-41BB-9310-599C46227919}"/>
              </a:ext>
            </a:extLst>
          </p:cNvPr>
          <p:cNvSpPr>
            <a:spLocks noGrp="1"/>
          </p:cNvSpPr>
          <p:nvPr>
            <p:ph type="title"/>
          </p:nvPr>
        </p:nvSpPr>
        <p:spPr/>
        <p:txBody>
          <a:bodyPr/>
          <a:lstStyle/>
          <a:p>
            <a:r>
              <a:rPr lang="en-IN" dirty="0"/>
              <a:t>Delete Min</a:t>
            </a:r>
          </a:p>
        </p:txBody>
      </p:sp>
      <p:sp>
        <p:nvSpPr>
          <p:cNvPr id="3" name="Content Placeholder 2">
            <a:extLst>
              <a:ext uri="{FF2B5EF4-FFF2-40B4-BE49-F238E27FC236}">
                <a16:creationId xmlns:a16="http://schemas.microsoft.com/office/drawing/2014/main" id="{193038E0-B5D4-466D-916D-943082C3D2C3}"/>
              </a:ext>
            </a:extLst>
          </p:cNvPr>
          <p:cNvSpPr>
            <a:spLocks noGrp="1"/>
          </p:cNvSpPr>
          <p:nvPr>
            <p:ph idx="1"/>
          </p:nvPr>
        </p:nvSpPr>
        <p:spPr>
          <a:xfrm>
            <a:off x="131178" y="711201"/>
            <a:ext cx="11929641" cy="5740557"/>
          </a:xfrm>
        </p:spPr>
        <p:txBody>
          <a:bodyPr/>
          <a:lstStyle/>
          <a:p>
            <a:pPr marL="0" indent="0">
              <a:buNone/>
            </a:pPr>
            <a:r>
              <a:rPr lang="en-US" dirty="0"/>
              <a:t>Delete min.</a:t>
            </a:r>
          </a:p>
          <a:p>
            <a:pPr lvl="1"/>
            <a:r>
              <a:rPr lang="en-US" dirty="0">
                <a:solidFill>
                  <a:schemeClr val="bg1">
                    <a:lumMod val="75000"/>
                  </a:schemeClr>
                </a:solidFill>
              </a:rPr>
              <a:t>Delete min; meld its children into root list; update min.</a:t>
            </a:r>
          </a:p>
          <a:p>
            <a:pPr lvl="1"/>
            <a:r>
              <a:rPr lang="en-US" dirty="0">
                <a:solidFill>
                  <a:srgbClr val="C00000"/>
                </a:solidFill>
              </a:rPr>
              <a:t>Consolidate trees so that no two roots have same rank.</a:t>
            </a:r>
            <a:endParaRPr lang="en-IN" dirty="0">
              <a:solidFill>
                <a:srgbClr val="C00000"/>
              </a:solidFill>
            </a:endParaRPr>
          </a:p>
        </p:txBody>
      </p:sp>
      <p:pic>
        <p:nvPicPr>
          <p:cNvPr id="5" name="Picture 4">
            <a:extLst>
              <a:ext uri="{FF2B5EF4-FFF2-40B4-BE49-F238E27FC236}">
                <a16:creationId xmlns:a16="http://schemas.microsoft.com/office/drawing/2014/main" id="{B8A098DD-5E90-4807-BA6E-BDCA2E8FBE82}"/>
              </a:ext>
            </a:extLst>
          </p:cNvPr>
          <p:cNvPicPr>
            <a:picLocks noChangeAspect="1"/>
          </p:cNvPicPr>
          <p:nvPr/>
        </p:nvPicPr>
        <p:blipFill>
          <a:blip r:embed="rId2"/>
          <a:stretch>
            <a:fillRect/>
          </a:stretch>
        </p:blipFill>
        <p:spPr>
          <a:xfrm>
            <a:off x="1890562" y="2933691"/>
            <a:ext cx="8410871" cy="2822216"/>
          </a:xfrm>
          <a:prstGeom prst="rect">
            <a:avLst/>
          </a:prstGeom>
        </p:spPr>
      </p:pic>
      <p:pic>
        <p:nvPicPr>
          <p:cNvPr id="7" name="Picture 6">
            <a:extLst>
              <a:ext uri="{FF2B5EF4-FFF2-40B4-BE49-F238E27FC236}">
                <a16:creationId xmlns:a16="http://schemas.microsoft.com/office/drawing/2014/main" id="{50FFB29E-4399-4864-A2B4-059B1CB5E2D5}"/>
              </a:ext>
            </a:extLst>
          </p:cNvPr>
          <p:cNvPicPr>
            <a:picLocks noChangeAspect="1"/>
          </p:cNvPicPr>
          <p:nvPr/>
        </p:nvPicPr>
        <p:blipFill>
          <a:blip r:embed="rId3"/>
          <a:stretch>
            <a:fillRect/>
          </a:stretch>
        </p:blipFill>
        <p:spPr>
          <a:xfrm>
            <a:off x="1890562" y="1801072"/>
            <a:ext cx="8501667" cy="3848957"/>
          </a:xfrm>
          <a:prstGeom prst="rect">
            <a:avLst/>
          </a:prstGeom>
        </p:spPr>
      </p:pic>
      <p:pic>
        <p:nvPicPr>
          <p:cNvPr id="9" name="Picture 8">
            <a:extLst>
              <a:ext uri="{FF2B5EF4-FFF2-40B4-BE49-F238E27FC236}">
                <a16:creationId xmlns:a16="http://schemas.microsoft.com/office/drawing/2014/main" id="{F167186B-F652-48B4-B925-9143556E74F6}"/>
              </a:ext>
            </a:extLst>
          </p:cNvPr>
          <p:cNvPicPr>
            <a:picLocks noChangeAspect="1"/>
          </p:cNvPicPr>
          <p:nvPr/>
        </p:nvPicPr>
        <p:blipFill>
          <a:blip r:embed="rId4"/>
          <a:stretch>
            <a:fillRect/>
          </a:stretch>
        </p:blipFill>
        <p:spPr>
          <a:xfrm>
            <a:off x="1964906" y="1801072"/>
            <a:ext cx="8467705" cy="3848957"/>
          </a:xfrm>
          <a:prstGeom prst="rect">
            <a:avLst/>
          </a:prstGeom>
        </p:spPr>
      </p:pic>
      <p:pic>
        <p:nvPicPr>
          <p:cNvPr id="11" name="Picture 10">
            <a:extLst>
              <a:ext uri="{FF2B5EF4-FFF2-40B4-BE49-F238E27FC236}">
                <a16:creationId xmlns:a16="http://schemas.microsoft.com/office/drawing/2014/main" id="{21AA4992-B934-41A9-B948-15E0F101130E}"/>
              </a:ext>
            </a:extLst>
          </p:cNvPr>
          <p:cNvPicPr>
            <a:picLocks noChangeAspect="1"/>
          </p:cNvPicPr>
          <p:nvPr/>
        </p:nvPicPr>
        <p:blipFill>
          <a:blip r:embed="rId5"/>
          <a:stretch>
            <a:fillRect/>
          </a:stretch>
        </p:blipFill>
        <p:spPr>
          <a:xfrm>
            <a:off x="1915734" y="1801072"/>
            <a:ext cx="8516877" cy="3942360"/>
          </a:xfrm>
          <a:prstGeom prst="rect">
            <a:avLst/>
          </a:prstGeom>
        </p:spPr>
      </p:pic>
      <p:pic>
        <p:nvPicPr>
          <p:cNvPr id="13" name="Picture 12">
            <a:extLst>
              <a:ext uri="{FF2B5EF4-FFF2-40B4-BE49-F238E27FC236}">
                <a16:creationId xmlns:a16="http://schemas.microsoft.com/office/drawing/2014/main" id="{2723862B-D86F-46CC-AB3F-44A25F32BF07}"/>
              </a:ext>
            </a:extLst>
          </p:cNvPr>
          <p:cNvPicPr>
            <a:picLocks noChangeAspect="1"/>
          </p:cNvPicPr>
          <p:nvPr/>
        </p:nvPicPr>
        <p:blipFill>
          <a:blip r:embed="rId6"/>
          <a:stretch>
            <a:fillRect/>
          </a:stretch>
        </p:blipFill>
        <p:spPr>
          <a:xfrm>
            <a:off x="1952554" y="1801072"/>
            <a:ext cx="8369070" cy="4207094"/>
          </a:xfrm>
          <a:prstGeom prst="rect">
            <a:avLst/>
          </a:prstGeom>
        </p:spPr>
      </p:pic>
      <p:pic>
        <p:nvPicPr>
          <p:cNvPr id="15" name="Picture 14">
            <a:extLst>
              <a:ext uri="{FF2B5EF4-FFF2-40B4-BE49-F238E27FC236}">
                <a16:creationId xmlns:a16="http://schemas.microsoft.com/office/drawing/2014/main" id="{45023E2A-2FE7-467F-8AC3-3D7A83085797}"/>
              </a:ext>
            </a:extLst>
          </p:cNvPr>
          <p:cNvPicPr>
            <a:picLocks noChangeAspect="1"/>
          </p:cNvPicPr>
          <p:nvPr/>
        </p:nvPicPr>
        <p:blipFill>
          <a:blip r:embed="rId7"/>
          <a:stretch>
            <a:fillRect/>
          </a:stretch>
        </p:blipFill>
        <p:spPr>
          <a:xfrm>
            <a:off x="1784553" y="1830309"/>
            <a:ext cx="8594482" cy="4297240"/>
          </a:xfrm>
          <a:prstGeom prst="rect">
            <a:avLst/>
          </a:prstGeom>
        </p:spPr>
      </p:pic>
      <p:pic>
        <p:nvPicPr>
          <p:cNvPr id="19" name="Picture 18">
            <a:extLst>
              <a:ext uri="{FF2B5EF4-FFF2-40B4-BE49-F238E27FC236}">
                <a16:creationId xmlns:a16="http://schemas.microsoft.com/office/drawing/2014/main" id="{04C95849-9E35-4FDD-ABC1-9D0CCF34B2DE}"/>
              </a:ext>
            </a:extLst>
          </p:cNvPr>
          <p:cNvPicPr>
            <a:picLocks noChangeAspect="1"/>
          </p:cNvPicPr>
          <p:nvPr/>
        </p:nvPicPr>
        <p:blipFill>
          <a:blip r:embed="rId8"/>
          <a:stretch>
            <a:fillRect/>
          </a:stretch>
        </p:blipFill>
        <p:spPr>
          <a:xfrm>
            <a:off x="2232141" y="1801072"/>
            <a:ext cx="8262462" cy="4374245"/>
          </a:xfrm>
          <a:prstGeom prst="rect">
            <a:avLst/>
          </a:prstGeom>
        </p:spPr>
      </p:pic>
      <p:pic>
        <p:nvPicPr>
          <p:cNvPr id="21" name="Picture 20">
            <a:extLst>
              <a:ext uri="{FF2B5EF4-FFF2-40B4-BE49-F238E27FC236}">
                <a16:creationId xmlns:a16="http://schemas.microsoft.com/office/drawing/2014/main" id="{F03EC3AC-2ECB-4521-8FE6-59350EE42C83}"/>
              </a:ext>
            </a:extLst>
          </p:cNvPr>
          <p:cNvPicPr>
            <a:picLocks noChangeAspect="1"/>
          </p:cNvPicPr>
          <p:nvPr/>
        </p:nvPicPr>
        <p:blipFill>
          <a:blip r:embed="rId9"/>
          <a:stretch>
            <a:fillRect/>
          </a:stretch>
        </p:blipFill>
        <p:spPr>
          <a:xfrm>
            <a:off x="2315624" y="1732249"/>
            <a:ext cx="8207783" cy="4786884"/>
          </a:xfrm>
          <a:prstGeom prst="rect">
            <a:avLst/>
          </a:prstGeom>
        </p:spPr>
      </p:pic>
      <p:pic>
        <p:nvPicPr>
          <p:cNvPr id="23" name="Picture 22">
            <a:extLst>
              <a:ext uri="{FF2B5EF4-FFF2-40B4-BE49-F238E27FC236}">
                <a16:creationId xmlns:a16="http://schemas.microsoft.com/office/drawing/2014/main" id="{1F9327B6-DD65-47D9-BABE-428FF6751D12}"/>
              </a:ext>
            </a:extLst>
          </p:cNvPr>
          <p:cNvPicPr>
            <a:picLocks noChangeAspect="1"/>
          </p:cNvPicPr>
          <p:nvPr/>
        </p:nvPicPr>
        <p:blipFill>
          <a:blip r:embed="rId10"/>
          <a:stretch>
            <a:fillRect/>
          </a:stretch>
        </p:blipFill>
        <p:spPr>
          <a:xfrm>
            <a:off x="2093422" y="1791447"/>
            <a:ext cx="8520649" cy="4786883"/>
          </a:xfrm>
          <a:prstGeom prst="rect">
            <a:avLst/>
          </a:prstGeom>
        </p:spPr>
      </p:pic>
      <p:pic>
        <p:nvPicPr>
          <p:cNvPr id="25" name="Picture 24">
            <a:extLst>
              <a:ext uri="{FF2B5EF4-FFF2-40B4-BE49-F238E27FC236}">
                <a16:creationId xmlns:a16="http://schemas.microsoft.com/office/drawing/2014/main" id="{EC00EE16-BB54-435B-9168-77C41806E758}"/>
              </a:ext>
            </a:extLst>
          </p:cNvPr>
          <p:cNvPicPr>
            <a:picLocks noChangeAspect="1"/>
          </p:cNvPicPr>
          <p:nvPr/>
        </p:nvPicPr>
        <p:blipFill>
          <a:blip r:embed="rId11"/>
          <a:stretch>
            <a:fillRect/>
          </a:stretch>
        </p:blipFill>
        <p:spPr>
          <a:xfrm>
            <a:off x="3216323" y="1763500"/>
            <a:ext cx="7150633" cy="4747456"/>
          </a:xfrm>
          <a:prstGeom prst="rect">
            <a:avLst/>
          </a:prstGeom>
        </p:spPr>
      </p:pic>
      <p:pic>
        <p:nvPicPr>
          <p:cNvPr id="27" name="Picture 26">
            <a:extLst>
              <a:ext uri="{FF2B5EF4-FFF2-40B4-BE49-F238E27FC236}">
                <a16:creationId xmlns:a16="http://schemas.microsoft.com/office/drawing/2014/main" id="{3ACC4409-B077-4D30-A25D-F73794027B5A}"/>
              </a:ext>
            </a:extLst>
          </p:cNvPr>
          <p:cNvPicPr>
            <a:picLocks noChangeAspect="1"/>
          </p:cNvPicPr>
          <p:nvPr/>
        </p:nvPicPr>
        <p:blipFill>
          <a:blip r:embed="rId12"/>
          <a:stretch>
            <a:fillRect/>
          </a:stretch>
        </p:blipFill>
        <p:spPr>
          <a:xfrm>
            <a:off x="3129832" y="1812969"/>
            <a:ext cx="7611648" cy="4743838"/>
          </a:xfrm>
          <a:prstGeom prst="rect">
            <a:avLst/>
          </a:prstGeom>
        </p:spPr>
      </p:pic>
      <p:pic>
        <p:nvPicPr>
          <p:cNvPr id="29" name="Picture 28">
            <a:extLst>
              <a:ext uri="{FF2B5EF4-FFF2-40B4-BE49-F238E27FC236}">
                <a16:creationId xmlns:a16="http://schemas.microsoft.com/office/drawing/2014/main" id="{DA2DA24D-58B6-4A19-A66F-D4A1B0676C40}"/>
              </a:ext>
            </a:extLst>
          </p:cNvPr>
          <p:cNvPicPr>
            <a:picLocks noChangeAspect="1"/>
          </p:cNvPicPr>
          <p:nvPr/>
        </p:nvPicPr>
        <p:blipFill>
          <a:blip r:embed="rId13"/>
          <a:stretch>
            <a:fillRect/>
          </a:stretch>
        </p:blipFill>
        <p:spPr>
          <a:xfrm>
            <a:off x="2521596" y="1679739"/>
            <a:ext cx="7947835" cy="4891904"/>
          </a:xfrm>
          <a:prstGeom prst="rect">
            <a:avLst/>
          </a:prstGeom>
        </p:spPr>
      </p:pic>
      <p:pic>
        <p:nvPicPr>
          <p:cNvPr id="31" name="Picture 30">
            <a:extLst>
              <a:ext uri="{FF2B5EF4-FFF2-40B4-BE49-F238E27FC236}">
                <a16:creationId xmlns:a16="http://schemas.microsoft.com/office/drawing/2014/main" id="{84EE0F3B-493B-4EF8-9A69-904EA47A901B}"/>
              </a:ext>
            </a:extLst>
          </p:cNvPr>
          <p:cNvPicPr>
            <a:picLocks noChangeAspect="1"/>
          </p:cNvPicPr>
          <p:nvPr/>
        </p:nvPicPr>
        <p:blipFill>
          <a:blip r:embed="rId14"/>
          <a:stretch>
            <a:fillRect/>
          </a:stretch>
        </p:blipFill>
        <p:spPr>
          <a:xfrm>
            <a:off x="2314550" y="1709674"/>
            <a:ext cx="8211169" cy="4911928"/>
          </a:xfrm>
          <a:prstGeom prst="rect">
            <a:avLst/>
          </a:prstGeom>
        </p:spPr>
      </p:pic>
      <p:pic>
        <p:nvPicPr>
          <p:cNvPr id="33" name="Picture 32">
            <a:extLst>
              <a:ext uri="{FF2B5EF4-FFF2-40B4-BE49-F238E27FC236}">
                <a16:creationId xmlns:a16="http://schemas.microsoft.com/office/drawing/2014/main" id="{F145E8B9-882C-43CA-88DD-B43B00B156DD}"/>
              </a:ext>
            </a:extLst>
          </p:cNvPr>
          <p:cNvPicPr>
            <a:picLocks noChangeAspect="1"/>
          </p:cNvPicPr>
          <p:nvPr/>
        </p:nvPicPr>
        <p:blipFill>
          <a:blip r:embed="rId15"/>
          <a:stretch>
            <a:fillRect/>
          </a:stretch>
        </p:blipFill>
        <p:spPr>
          <a:xfrm>
            <a:off x="1433217" y="1810697"/>
            <a:ext cx="9407743" cy="4779409"/>
          </a:xfrm>
          <a:prstGeom prst="rect">
            <a:avLst/>
          </a:prstGeom>
        </p:spPr>
      </p:pic>
    </p:spTree>
    <p:extLst>
      <p:ext uri="{BB962C8B-B14F-4D97-AF65-F5344CB8AC3E}">
        <p14:creationId xmlns:p14="http://schemas.microsoft.com/office/powerpoint/2010/main" val="4152801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500"/>
                                        <p:tgtEl>
                                          <p:spTgt spid="27"/>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500"/>
                                        <p:tgtEl>
                                          <p:spTgt spid="31"/>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2F97C-DBFA-48EF-9512-57EAFB74FBD6}"/>
              </a:ext>
            </a:extLst>
          </p:cNvPr>
          <p:cNvSpPr>
            <a:spLocks noGrp="1"/>
          </p:cNvSpPr>
          <p:nvPr>
            <p:ph type="title"/>
          </p:nvPr>
        </p:nvSpPr>
        <p:spPr/>
        <p:txBody>
          <a:bodyPr/>
          <a:lstStyle/>
          <a:p>
            <a:r>
              <a:rPr lang="en-IN" dirty="0"/>
              <a:t>4. Fibonacci Heaps: Decrease Key</a:t>
            </a:r>
          </a:p>
        </p:txBody>
      </p:sp>
      <p:sp>
        <p:nvSpPr>
          <p:cNvPr id="3" name="Content Placeholder 2">
            <a:extLst>
              <a:ext uri="{FF2B5EF4-FFF2-40B4-BE49-F238E27FC236}">
                <a16:creationId xmlns:a16="http://schemas.microsoft.com/office/drawing/2014/main" id="{5F399A49-A61D-4A14-8FBD-B086C7287B6D}"/>
              </a:ext>
            </a:extLst>
          </p:cNvPr>
          <p:cNvSpPr>
            <a:spLocks noGrp="1"/>
          </p:cNvSpPr>
          <p:nvPr>
            <p:ph idx="1"/>
          </p:nvPr>
        </p:nvSpPr>
        <p:spPr/>
        <p:txBody>
          <a:bodyPr/>
          <a:lstStyle/>
          <a:p>
            <a:r>
              <a:rPr lang="en-US" dirty="0"/>
              <a:t>Intuition for deceasing the key of node x. </a:t>
            </a:r>
          </a:p>
          <a:p>
            <a:pPr lvl="1"/>
            <a:r>
              <a:rPr lang="en-US" dirty="0"/>
              <a:t>If heap-order is not violated, just decrease the key of x. </a:t>
            </a:r>
          </a:p>
          <a:p>
            <a:pPr lvl="1"/>
            <a:r>
              <a:rPr lang="en-US" dirty="0"/>
              <a:t>Otherwise, cut tree rooted at x and meld into root list. </a:t>
            </a:r>
          </a:p>
          <a:p>
            <a:pPr lvl="1"/>
            <a:r>
              <a:rPr lang="en-US" dirty="0"/>
              <a:t>To keep trees flat: as soon as a node has its second child cut, cut it off and meld into root list (and unmark it).</a:t>
            </a:r>
            <a:endParaRPr lang="en-IN" dirty="0"/>
          </a:p>
        </p:txBody>
      </p:sp>
      <p:pic>
        <p:nvPicPr>
          <p:cNvPr id="5" name="Picture 4">
            <a:extLst>
              <a:ext uri="{FF2B5EF4-FFF2-40B4-BE49-F238E27FC236}">
                <a16:creationId xmlns:a16="http://schemas.microsoft.com/office/drawing/2014/main" id="{DDF42119-D85D-4FBC-B243-F4630D1BE830}"/>
              </a:ext>
            </a:extLst>
          </p:cNvPr>
          <p:cNvPicPr>
            <a:picLocks noChangeAspect="1"/>
          </p:cNvPicPr>
          <p:nvPr/>
        </p:nvPicPr>
        <p:blipFill>
          <a:blip r:embed="rId2"/>
          <a:stretch>
            <a:fillRect/>
          </a:stretch>
        </p:blipFill>
        <p:spPr>
          <a:xfrm>
            <a:off x="2842385" y="2373475"/>
            <a:ext cx="6657750" cy="3623332"/>
          </a:xfrm>
          <a:prstGeom prst="rect">
            <a:avLst/>
          </a:prstGeom>
        </p:spPr>
      </p:pic>
    </p:spTree>
    <p:extLst>
      <p:ext uri="{BB962C8B-B14F-4D97-AF65-F5344CB8AC3E}">
        <p14:creationId xmlns:p14="http://schemas.microsoft.com/office/powerpoint/2010/main" val="2617147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B10D0-4C0B-4F32-A760-C306BBCCFFF7}"/>
              </a:ext>
            </a:extLst>
          </p:cNvPr>
          <p:cNvSpPr>
            <a:spLocks noGrp="1"/>
          </p:cNvSpPr>
          <p:nvPr>
            <p:ph type="title"/>
          </p:nvPr>
        </p:nvSpPr>
        <p:spPr/>
        <p:txBody>
          <a:bodyPr/>
          <a:lstStyle/>
          <a:p>
            <a:r>
              <a:rPr lang="en-IN" dirty="0"/>
              <a:t>Decrease Key</a:t>
            </a:r>
          </a:p>
        </p:txBody>
      </p:sp>
      <p:sp>
        <p:nvSpPr>
          <p:cNvPr id="3" name="Content Placeholder 2">
            <a:extLst>
              <a:ext uri="{FF2B5EF4-FFF2-40B4-BE49-F238E27FC236}">
                <a16:creationId xmlns:a16="http://schemas.microsoft.com/office/drawing/2014/main" id="{33243E07-F144-4DC1-A5A8-86ACAD81FFF6}"/>
              </a:ext>
            </a:extLst>
          </p:cNvPr>
          <p:cNvSpPr>
            <a:spLocks noGrp="1"/>
          </p:cNvSpPr>
          <p:nvPr>
            <p:ph idx="1"/>
          </p:nvPr>
        </p:nvSpPr>
        <p:spPr/>
        <p:txBody>
          <a:bodyPr/>
          <a:lstStyle/>
          <a:p>
            <a:pPr marL="0" indent="0">
              <a:buNone/>
            </a:pPr>
            <a:r>
              <a:rPr lang="en-US" dirty="0"/>
              <a:t>Case 1. [heap order not violated] </a:t>
            </a:r>
          </a:p>
          <a:p>
            <a:pPr marL="887412" lvl="1" indent="-342900"/>
            <a:r>
              <a:rPr lang="en-US" dirty="0">
                <a:solidFill>
                  <a:srgbClr val="C00000"/>
                </a:solidFill>
              </a:rPr>
              <a:t>Decrease key of x. </a:t>
            </a:r>
          </a:p>
          <a:p>
            <a:pPr marL="887412" lvl="1" indent="-342900"/>
            <a:r>
              <a:rPr lang="en-US" dirty="0">
                <a:solidFill>
                  <a:srgbClr val="C00000"/>
                </a:solidFill>
              </a:rPr>
              <a:t>Change heap min pointer (if necessary).</a:t>
            </a:r>
            <a:endParaRPr lang="en-IN" dirty="0">
              <a:solidFill>
                <a:srgbClr val="C00000"/>
              </a:solidFill>
            </a:endParaRPr>
          </a:p>
        </p:txBody>
      </p:sp>
      <p:pic>
        <p:nvPicPr>
          <p:cNvPr id="5" name="Picture 4">
            <a:extLst>
              <a:ext uri="{FF2B5EF4-FFF2-40B4-BE49-F238E27FC236}">
                <a16:creationId xmlns:a16="http://schemas.microsoft.com/office/drawing/2014/main" id="{7BB802D0-DD20-456D-9EBC-1E1557B83208}"/>
              </a:ext>
            </a:extLst>
          </p:cNvPr>
          <p:cNvPicPr>
            <a:picLocks noChangeAspect="1"/>
          </p:cNvPicPr>
          <p:nvPr/>
        </p:nvPicPr>
        <p:blipFill>
          <a:blip r:embed="rId2"/>
          <a:stretch>
            <a:fillRect/>
          </a:stretch>
        </p:blipFill>
        <p:spPr>
          <a:xfrm>
            <a:off x="3064468" y="1852603"/>
            <a:ext cx="6063064" cy="3662671"/>
          </a:xfrm>
          <a:prstGeom prst="rect">
            <a:avLst/>
          </a:prstGeom>
        </p:spPr>
      </p:pic>
    </p:spTree>
    <p:extLst>
      <p:ext uri="{BB962C8B-B14F-4D97-AF65-F5344CB8AC3E}">
        <p14:creationId xmlns:p14="http://schemas.microsoft.com/office/powerpoint/2010/main" val="7034349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B10D0-4C0B-4F32-A760-C306BBCCFFF7}"/>
              </a:ext>
            </a:extLst>
          </p:cNvPr>
          <p:cNvSpPr>
            <a:spLocks noGrp="1"/>
          </p:cNvSpPr>
          <p:nvPr>
            <p:ph type="title"/>
          </p:nvPr>
        </p:nvSpPr>
        <p:spPr/>
        <p:txBody>
          <a:bodyPr/>
          <a:lstStyle/>
          <a:p>
            <a:r>
              <a:rPr lang="en-IN" dirty="0"/>
              <a:t>Decrease Key</a:t>
            </a:r>
          </a:p>
        </p:txBody>
      </p:sp>
      <p:sp>
        <p:nvSpPr>
          <p:cNvPr id="3" name="Content Placeholder 2">
            <a:extLst>
              <a:ext uri="{FF2B5EF4-FFF2-40B4-BE49-F238E27FC236}">
                <a16:creationId xmlns:a16="http://schemas.microsoft.com/office/drawing/2014/main" id="{33243E07-F144-4DC1-A5A8-86ACAD81FFF6}"/>
              </a:ext>
            </a:extLst>
          </p:cNvPr>
          <p:cNvSpPr>
            <a:spLocks noGrp="1"/>
          </p:cNvSpPr>
          <p:nvPr>
            <p:ph idx="1"/>
          </p:nvPr>
        </p:nvSpPr>
        <p:spPr/>
        <p:txBody>
          <a:bodyPr/>
          <a:lstStyle/>
          <a:p>
            <a:pPr marL="0" indent="0">
              <a:buNone/>
            </a:pPr>
            <a:r>
              <a:rPr lang="en-US" dirty="0"/>
              <a:t>Case 2a. [heap order violated]</a:t>
            </a:r>
          </a:p>
          <a:p>
            <a:pPr lvl="1"/>
            <a:r>
              <a:rPr lang="en-US" dirty="0">
                <a:solidFill>
                  <a:srgbClr val="C00000"/>
                </a:solidFill>
              </a:rPr>
              <a:t>Decrease key of x.</a:t>
            </a:r>
          </a:p>
          <a:p>
            <a:pPr lvl="1"/>
            <a:r>
              <a:rPr lang="en-US" dirty="0"/>
              <a:t>Cut tree rooted at x, meld into root list, and unmark.</a:t>
            </a:r>
          </a:p>
          <a:p>
            <a:pPr lvl="1"/>
            <a:r>
              <a:rPr lang="en-US" dirty="0"/>
              <a:t>If parent p of x is unmarked (hasn't yet lost a child), mark it;</a:t>
            </a:r>
          </a:p>
          <a:p>
            <a:pPr lvl="1"/>
            <a:r>
              <a:rPr lang="en-US" dirty="0"/>
              <a:t>Otherwise, cut p, meld into root list, and unmark (and do so recursively for all ancestors that lose a second child)</a:t>
            </a:r>
            <a:endParaRPr lang="en-IN" dirty="0"/>
          </a:p>
        </p:txBody>
      </p:sp>
      <p:pic>
        <p:nvPicPr>
          <p:cNvPr id="5" name="Picture 4">
            <a:extLst>
              <a:ext uri="{FF2B5EF4-FFF2-40B4-BE49-F238E27FC236}">
                <a16:creationId xmlns:a16="http://schemas.microsoft.com/office/drawing/2014/main" id="{6F969672-36B1-4ADE-8A6D-44A5B22186DA}"/>
              </a:ext>
            </a:extLst>
          </p:cNvPr>
          <p:cNvPicPr>
            <a:picLocks noChangeAspect="1"/>
          </p:cNvPicPr>
          <p:nvPr/>
        </p:nvPicPr>
        <p:blipFill>
          <a:blip r:embed="rId2"/>
          <a:stretch>
            <a:fillRect/>
          </a:stretch>
        </p:blipFill>
        <p:spPr>
          <a:xfrm>
            <a:off x="3146208" y="2819885"/>
            <a:ext cx="5899584" cy="2984149"/>
          </a:xfrm>
          <a:prstGeom prst="rect">
            <a:avLst/>
          </a:prstGeom>
        </p:spPr>
      </p:pic>
    </p:spTree>
    <p:extLst>
      <p:ext uri="{BB962C8B-B14F-4D97-AF65-F5344CB8AC3E}">
        <p14:creationId xmlns:p14="http://schemas.microsoft.com/office/powerpoint/2010/main" val="85727021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B10D0-4C0B-4F32-A760-C306BBCCFFF7}"/>
              </a:ext>
            </a:extLst>
          </p:cNvPr>
          <p:cNvSpPr>
            <a:spLocks noGrp="1"/>
          </p:cNvSpPr>
          <p:nvPr>
            <p:ph type="title"/>
          </p:nvPr>
        </p:nvSpPr>
        <p:spPr/>
        <p:txBody>
          <a:bodyPr/>
          <a:lstStyle/>
          <a:p>
            <a:r>
              <a:rPr lang="en-IN" dirty="0"/>
              <a:t>Decrease Key</a:t>
            </a:r>
          </a:p>
        </p:txBody>
      </p:sp>
      <p:sp>
        <p:nvSpPr>
          <p:cNvPr id="3" name="Content Placeholder 2">
            <a:extLst>
              <a:ext uri="{FF2B5EF4-FFF2-40B4-BE49-F238E27FC236}">
                <a16:creationId xmlns:a16="http://schemas.microsoft.com/office/drawing/2014/main" id="{33243E07-F144-4DC1-A5A8-86ACAD81FFF6}"/>
              </a:ext>
            </a:extLst>
          </p:cNvPr>
          <p:cNvSpPr>
            <a:spLocks noGrp="1"/>
          </p:cNvSpPr>
          <p:nvPr>
            <p:ph idx="1"/>
          </p:nvPr>
        </p:nvSpPr>
        <p:spPr/>
        <p:txBody>
          <a:bodyPr/>
          <a:lstStyle/>
          <a:p>
            <a:pPr marL="0" indent="0">
              <a:buNone/>
            </a:pPr>
            <a:r>
              <a:rPr lang="en-US" dirty="0"/>
              <a:t>Case 2a. [heap order violated]</a:t>
            </a:r>
          </a:p>
          <a:p>
            <a:pPr lvl="1"/>
            <a:r>
              <a:rPr lang="en-US" dirty="0"/>
              <a:t>Decrease key of x.</a:t>
            </a:r>
          </a:p>
          <a:p>
            <a:pPr lvl="1"/>
            <a:r>
              <a:rPr lang="en-US" dirty="0">
                <a:solidFill>
                  <a:srgbClr val="C00000"/>
                </a:solidFill>
              </a:rPr>
              <a:t>Cut tree rooted at x, meld into root list, and unmark.</a:t>
            </a:r>
          </a:p>
          <a:p>
            <a:pPr lvl="1"/>
            <a:r>
              <a:rPr lang="en-US" dirty="0"/>
              <a:t>If parent p of x is unmarked (hasn't yet lost a child), mark it;</a:t>
            </a:r>
          </a:p>
          <a:p>
            <a:pPr lvl="1"/>
            <a:r>
              <a:rPr lang="en-US" dirty="0"/>
              <a:t>Otherwise, cut p, meld into root list, and unmark (and do so recursively for all ancestors that lose a second child)</a:t>
            </a:r>
            <a:endParaRPr lang="en-IN" dirty="0"/>
          </a:p>
        </p:txBody>
      </p:sp>
      <p:pic>
        <p:nvPicPr>
          <p:cNvPr id="6" name="Picture 5">
            <a:extLst>
              <a:ext uri="{FF2B5EF4-FFF2-40B4-BE49-F238E27FC236}">
                <a16:creationId xmlns:a16="http://schemas.microsoft.com/office/drawing/2014/main" id="{6F7A45DE-FFF7-476A-9FF5-1E3FDA71A0AE}"/>
              </a:ext>
            </a:extLst>
          </p:cNvPr>
          <p:cNvPicPr>
            <a:picLocks noChangeAspect="1"/>
          </p:cNvPicPr>
          <p:nvPr/>
        </p:nvPicPr>
        <p:blipFill>
          <a:blip r:embed="rId2"/>
          <a:stretch>
            <a:fillRect/>
          </a:stretch>
        </p:blipFill>
        <p:spPr>
          <a:xfrm>
            <a:off x="3071096" y="3027013"/>
            <a:ext cx="5841898" cy="2969794"/>
          </a:xfrm>
          <a:prstGeom prst="rect">
            <a:avLst/>
          </a:prstGeom>
        </p:spPr>
      </p:pic>
      <p:pic>
        <p:nvPicPr>
          <p:cNvPr id="8" name="Picture 7">
            <a:extLst>
              <a:ext uri="{FF2B5EF4-FFF2-40B4-BE49-F238E27FC236}">
                <a16:creationId xmlns:a16="http://schemas.microsoft.com/office/drawing/2014/main" id="{4E597244-5AA0-4EE4-A44F-EF44F6DBD590}"/>
              </a:ext>
            </a:extLst>
          </p:cNvPr>
          <p:cNvPicPr>
            <a:picLocks noChangeAspect="1"/>
          </p:cNvPicPr>
          <p:nvPr/>
        </p:nvPicPr>
        <p:blipFill>
          <a:blip r:embed="rId3"/>
          <a:stretch>
            <a:fillRect/>
          </a:stretch>
        </p:blipFill>
        <p:spPr>
          <a:xfrm>
            <a:off x="1938907" y="2723838"/>
            <a:ext cx="7555188" cy="3435150"/>
          </a:xfrm>
          <a:prstGeom prst="rect">
            <a:avLst/>
          </a:prstGeom>
        </p:spPr>
      </p:pic>
    </p:spTree>
    <p:extLst>
      <p:ext uri="{BB962C8B-B14F-4D97-AF65-F5344CB8AC3E}">
        <p14:creationId xmlns:p14="http://schemas.microsoft.com/office/powerpoint/2010/main" val="3551709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B10D0-4C0B-4F32-A760-C306BBCCFFF7}"/>
              </a:ext>
            </a:extLst>
          </p:cNvPr>
          <p:cNvSpPr>
            <a:spLocks noGrp="1"/>
          </p:cNvSpPr>
          <p:nvPr>
            <p:ph type="title"/>
          </p:nvPr>
        </p:nvSpPr>
        <p:spPr/>
        <p:txBody>
          <a:bodyPr/>
          <a:lstStyle/>
          <a:p>
            <a:r>
              <a:rPr lang="en-IN" dirty="0"/>
              <a:t>Decrease Key</a:t>
            </a:r>
          </a:p>
        </p:txBody>
      </p:sp>
      <p:sp>
        <p:nvSpPr>
          <p:cNvPr id="3" name="Content Placeholder 2">
            <a:extLst>
              <a:ext uri="{FF2B5EF4-FFF2-40B4-BE49-F238E27FC236}">
                <a16:creationId xmlns:a16="http://schemas.microsoft.com/office/drawing/2014/main" id="{33243E07-F144-4DC1-A5A8-86ACAD81FFF6}"/>
              </a:ext>
            </a:extLst>
          </p:cNvPr>
          <p:cNvSpPr>
            <a:spLocks noGrp="1"/>
          </p:cNvSpPr>
          <p:nvPr>
            <p:ph idx="1"/>
          </p:nvPr>
        </p:nvSpPr>
        <p:spPr/>
        <p:txBody>
          <a:bodyPr/>
          <a:lstStyle/>
          <a:p>
            <a:pPr marL="0" indent="0">
              <a:buNone/>
            </a:pPr>
            <a:r>
              <a:rPr lang="en-US" dirty="0"/>
              <a:t>Case 2a. [heap order violated]</a:t>
            </a:r>
          </a:p>
          <a:p>
            <a:pPr lvl="1"/>
            <a:r>
              <a:rPr lang="en-US" dirty="0"/>
              <a:t>Decrease key of x.</a:t>
            </a:r>
          </a:p>
          <a:p>
            <a:pPr lvl="1"/>
            <a:r>
              <a:rPr lang="en-US" dirty="0"/>
              <a:t>Cut tree rooted at x, meld into root list, and unmark.</a:t>
            </a:r>
          </a:p>
          <a:p>
            <a:pPr lvl="1"/>
            <a:r>
              <a:rPr lang="en-US" dirty="0">
                <a:solidFill>
                  <a:srgbClr val="C00000"/>
                </a:solidFill>
              </a:rPr>
              <a:t>If parent p of x is unmarked (hasn't yet lost a child), mark it;</a:t>
            </a:r>
          </a:p>
          <a:p>
            <a:pPr lvl="1"/>
            <a:r>
              <a:rPr lang="en-US" dirty="0"/>
              <a:t>Otherwise, cut p, meld into root list, and unmark (and do so recursively for all ancestors that lose a second child)</a:t>
            </a:r>
            <a:endParaRPr lang="en-IN" dirty="0"/>
          </a:p>
        </p:txBody>
      </p:sp>
      <p:pic>
        <p:nvPicPr>
          <p:cNvPr id="5" name="Picture 4">
            <a:extLst>
              <a:ext uri="{FF2B5EF4-FFF2-40B4-BE49-F238E27FC236}">
                <a16:creationId xmlns:a16="http://schemas.microsoft.com/office/drawing/2014/main" id="{FDE9BCA8-FA4E-4255-BF84-BEF56CCC7331}"/>
              </a:ext>
            </a:extLst>
          </p:cNvPr>
          <p:cNvPicPr>
            <a:picLocks noChangeAspect="1"/>
          </p:cNvPicPr>
          <p:nvPr/>
        </p:nvPicPr>
        <p:blipFill>
          <a:blip r:embed="rId2"/>
          <a:stretch>
            <a:fillRect/>
          </a:stretch>
        </p:blipFill>
        <p:spPr>
          <a:xfrm>
            <a:off x="2390456" y="2593120"/>
            <a:ext cx="7411084" cy="3403687"/>
          </a:xfrm>
          <a:prstGeom prst="rect">
            <a:avLst/>
          </a:prstGeom>
        </p:spPr>
      </p:pic>
    </p:spTree>
    <p:extLst>
      <p:ext uri="{BB962C8B-B14F-4D97-AF65-F5344CB8AC3E}">
        <p14:creationId xmlns:p14="http://schemas.microsoft.com/office/powerpoint/2010/main" val="8553358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69171-45CF-4A1F-88D4-4D8A89A16044}"/>
              </a:ext>
            </a:extLst>
          </p:cNvPr>
          <p:cNvSpPr>
            <a:spLocks noGrp="1"/>
          </p:cNvSpPr>
          <p:nvPr>
            <p:ph type="title"/>
          </p:nvPr>
        </p:nvSpPr>
        <p:spPr/>
        <p:txBody>
          <a:bodyPr/>
          <a:lstStyle/>
          <a:p>
            <a:r>
              <a:rPr lang="en-IN" dirty="0"/>
              <a:t>Decrease Key</a:t>
            </a:r>
          </a:p>
        </p:txBody>
      </p:sp>
      <p:sp>
        <p:nvSpPr>
          <p:cNvPr id="3" name="Content Placeholder 2">
            <a:extLst>
              <a:ext uri="{FF2B5EF4-FFF2-40B4-BE49-F238E27FC236}">
                <a16:creationId xmlns:a16="http://schemas.microsoft.com/office/drawing/2014/main" id="{68C53C43-9801-43C2-9FA6-5931FBB7E0F3}"/>
              </a:ext>
            </a:extLst>
          </p:cNvPr>
          <p:cNvSpPr>
            <a:spLocks noGrp="1"/>
          </p:cNvSpPr>
          <p:nvPr>
            <p:ph idx="1"/>
          </p:nvPr>
        </p:nvSpPr>
        <p:spPr/>
        <p:txBody>
          <a:bodyPr/>
          <a:lstStyle/>
          <a:p>
            <a:pPr marL="0" indent="0">
              <a:buNone/>
            </a:pPr>
            <a:r>
              <a:rPr lang="en-US" dirty="0"/>
              <a:t>Case 2b. [heap order violated] </a:t>
            </a:r>
          </a:p>
          <a:p>
            <a:pPr lvl="1"/>
            <a:r>
              <a:rPr lang="en-US" dirty="0">
                <a:solidFill>
                  <a:srgbClr val="C00000"/>
                </a:solidFill>
              </a:rPr>
              <a:t>Decrease key of x. </a:t>
            </a:r>
          </a:p>
          <a:p>
            <a:pPr lvl="1"/>
            <a:r>
              <a:rPr lang="en-US" dirty="0"/>
              <a:t>Cut tree rooted at x, meld into root list, and unmark.</a:t>
            </a:r>
          </a:p>
          <a:p>
            <a:pPr lvl="1"/>
            <a:r>
              <a:rPr lang="en-US" dirty="0"/>
              <a:t>If parent p of x is unmarked (hasn't yet lost a child), mark it; Otherwise, cut p, meld into root list, and unmark (and do so recursively for all ancestors that lose a second child).</a:t>
            </a:r>
            <a:endParaRPr lang="en-IN" dirty="0"/>
          </a:p>
        </p:txBody>
      </p:sp>
      <p:pic>
        <p:nvPicPr>
          <p:cNvPr id="5" name="Picture 4">
            <a:extLst>
              <a:ext uri="{FF2B5EF4-FFF2-40B4-BE49-F238E27FC236}">
                <a16:creationId xmlns:a16="http://schemas.microsoft.com/office/drawing/2014/main" id="{D3277F96-161B-466B-813E-2E0F7B439A55}"/>
              </a:ext>
            </a:extLst>
          </p:cNvPr>
          <p:cNvPicPr>
            <a:picLocks noChangeAspect="1"/>
          </p:cNvPicPr>
          <p:nvPr/>
        </p:nvPicPr>
        <p:blipFill>
          <a:blip r:embed="rId2"/>
          <a:stretch>
            <a:fillRect/>
          </a:stretch>
        </p:blipFill>
        <p:spPr>
          <a:xfrm>
            <a:off x="2130153" y="2657451"/>
            <a:ext cx="7527434" cy="3435339"/>
          </a:xfrm>
          <a:prstGeom prst="rect">
            <a:avLst/>
          </a:prstGeom>
        </p:spPr>
      </p:pic>
    </p:spTree>
    <p:extLst>
      <p:ext uri="{BB962C8B-B14F-4D97-AF65-F5344CB8AC3E}">
        <p14:creationId xmlns:p14="http://schemas.microsoft.com/office/powerpoint/2010/main" val="406605180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69171-45CF-4A1F-88D4-4D8A89A16044}"/>
              </a:ext>
            </a:extLst>
          </p:cNvPr>
          <p:cNvSpPr>
            <a:spLocks noGrp="1"/>
          </p:cNvSpPr>
          <p:nvPr>
            <p:ph type="title"/>
          </p:nvPr>
        </p:nvSpPr>
        <p:spPr/>
        <p:txBody>
          <a:bodyPr/>
          <a:lstStyle/>
          <a:p>
            <a:r>
              <a:rPr lang="en-IN" dirty="0"/>
              <a:t>Decrease Key</a:t>
            </a:r>
          </a:p>
        </p:txBody>
      </p:sp>
      <p:sp>
        <p:nvSpPr>
          <p:cNvPr id="3" name="Content Placeholder 2">
            <a:extLst>
              <a:ext uri="{FF2B5EF4-FFF2-40B4-BE49-F238E27FC236}">
                <a16:creationId xmlns:a16="http://schemas.microsoft.com/office/drawing/2014/main" id="{68C53C43-9801-43C2-9FA6-5931FBB7E0F3}"/>
              </a:ext>
            </a:extLst>
          </p:cNvPr>
          <p:cNvSpPr>
            <a:spLocks noGrp="1"/>
          </p:cNvSpPr>
          <p:nvPr>
            <p:ph idx="1"/>
          </p:nvPr>
        </p:nvSpPr>
        <p:spPr/>
        <p:txBody>
          <a:bodyPr/>
          <a:lstStyle/>
          <a:p>
            <a:pPr marL="0" indent="0">
              <a:buNone/>
            </a:pPr>
            <a:r>
              <a:rPr lang="en-US" dirty="0"/>
              <a:t>Case 2b. [heap order violated] </a:t>
            </a:r>
          </a:p>
          <a:p>
            <a:pPr lvl="1"/>
            <a:r>
              <a:rPr lang="en-US" dirty="0"/>
              <a:t>Decrease key of x. </a:t>
            </a:r>
          </a:p>
          <a:p>
            <a:pPr lvl="1"/>
            <a:r>
              <a:rPr lang="en-US" dirty="0">
                <a:solidFill>
                  <a:srgbClr val="C00000"/>
                </a:solidFill>
              </a:rPr>
              <a:t>Cut tree rooted at x, meld into root list, and unmark.</a:t>
            </a:r>
          </a:p>
          <a:p>
            <a:pPr lvl="1"/>
            <a:r>
              <a:rPr lang="en-US" dirty="0"/>
              <a:t>If parent p of x is unmarked (hasn't yet lost a child), mark it; Otherwise, cut p, meld into root list, and unmark (and do so recursively for all ancestors that lose a second child).</a:t>
            </a:r>
            <a:endParaRPr lang="en-IN" dirty="0"/>
          </a:p>
        </p:txBody>
      </p:sp>
      <p:pic>
        <p:nvPicPr>
          <p:cNvPr id="6" name="Picture 5">
            <a:extLst>
              <a:ext uri="{FF2B5EF4-FFF2-40B4-BE49-F238E27FC236}">
                <a16:creationId xmlns:a16="http://schemas.microsoft.com/office/drawing/2014/main" id="{B54B15F9-642D-4477-928C-1CBCB75103BF}"/>
              </a:ext>
            </a:extLst>
          </p:cNvPr>
          <p:cNvPicPr>
            <a:picLocks noChangeAspect="1"/>
          </p:cNvPicPr>
          <p:nvPr/>
        </p:nvPicPr>
        <p:blipFill>
          <a:blip r:embed="rId2"/>
          <a:stretch>
            <a:fillRect/>
          </a:stretch>
        </p:blipFill>
        <p:spPr>
          <a:xfrm>
            <a:off x="2237390" y="2752806"/>
            <a:ext cx="7260409" cy="3205230"/>
          </a:xfrm>
          <a:prstGeom prst="rect">
            <a:avLst/>
          </a:prstGeom>
        </p:spPr>
      </p:pic>
    </p:spTree>
    <p:extLst>
      <p:ext uri="{BB962C8B-B14F-4D97-AF65-F5344CB8AC3E}">
        <p14:creationId xmlns:p14="http://schemas.microsoft.com/office/powerpoint/2010/main" val="32927201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69171-45CF-4A1F-88D4-4D8A89A16044}"/>
              </a:ext>
            </a:extLst>
          </p:cNvPr>
          <p:cNvSpPr>
            <a:spLocks noGrp="1"/>
          </p:cNvSpPr>
          <p:nvPr>
            <p:ph type="title"/>
          </p:nvPr>
        </p:nvSpPr>
        <p:spPr/>
        <p:txBody>
          <a:bodyPr/>
          <a:lstStyle/>
          <a:p>
            <a:r>
              <a:rPr lang="en-IN" dirty="0"/>
              <a:t>Decrease Key</a:t>
            </a:r>
          </a:p>
        </p:txBody>
      </p:sp>
      <p:sp>
        <p:nvSpPr>
          <p:cNvPr id="3" name="Content Placeholder 2">
            <a:extLst>
              <a:ext uri="{FF2B5EF4-FFF2-40B4-BE49-F238E27FC236}">
                <a16:creationId xmlns:a16="http://schemas.microsoft.com/office/drawing/2014/main" id="{68C53C43-9801-43C2-9FA6-5931FBB7E0F3}"/>
              </a:ext>
            </a:extLst>
          </p:cNvPr>
          <p:cNvSpPr>
            <a:spLocks noGrp="1"/>
          </p:cNvSpPr>
          <p:nvPr>
            <p:ph idx="1"/>
          </p:nvPr>
        </p:nvSpPr>
        <p:spPr/>
        <p:txBody>
          <a:bodyPr/>
          <a:lstStyle/>
          <a:p>
            <a:pPr marL="0" indent="0">
              <a:buNone/>
            </a:pPr>
            <a:r>
              <a:rPr lang="en-US" dirty="0"/>
              <a:t>Case 2b. [heap order violated] </a:t>
            </a:r>
          </a:p>
          <a:p>
            <a:pPr lvl="1"/>
            <a:r>
              <a:rPr lang="en-US" dirty="0"/>
              <a:t>Decrease key of x. </a:t>
            </a:r>
          </a:p>
          <a:p>
            <a:pPr lvl="1"/>
            <a:r>
              <a:rPr lang="en-US" dirty="0"/>
              <a:t>Cut tree rooted at x, meld into root list, and unmark.</a:t>
            </a:r>
          </a:p>
          <a:p>
            <a:pPr lvl="1"/>
            <a:r>
              <a:rPr lang="en-US" dirty="0"/>
              <a:t>If parent p of x is unmarked (hasn't yet lost a child), mark it; </a:t>
            </a:r>
            <a:r>
              <a:rPr lang="en-US" dirty="0">
                <a:solidFill>
                  <a:srgbClr val="C00000"/>
                </a:solidFill>
              </a:rPr>
              <a:t>Otherwise, cut p, meld into root list, and unmark (and do so recursively for all ancestors that lose a second child).</a:t>
            </a:r>
            <a:endParaRPr lang="en-IN" dirty="0">
              <a:solidFill>
                <a:srgbClr val="C00000"/>
              </a:solidFill>
            </a:endParaRPr>
          </a:p>
        </p:txBody>
      </p:sp>
      <p:pic>
        <p:nvPicPr>
          <p:cNvPr id="5" name="Picture 4">
            <a:extLst>
              <a:ext uri="{FF2B5EF4-FFF2-40B4-BE49-F238E27FC236}">
                <a16:creationId xmlns:a16="http://schemas.microsoft.com/office/drawing/2014/main" id="{7E430DBC-BAE9-46A3-AC15-0E1FD40D976B}"/>
              </a:ext>
            </a:extLst>
          </p:cNvPr>
          <p:cNvPicPr>
            <a:picLocks noChangeAspect="1"/>
          </p:cNvPicPr>
          <p:nvPr/>
        </p:nvPicPr>
        <p:blipFill>
          <a:blip r:embed="rId2"/>
          <a:stretch>
            <a:fillRect/>
          </a:stretch>
        </p:blipFill>
        <p:spPr>
          <a:xfrm>
            <a:off x="2396760" y="2743282"/>
            <a:ext cx="7398479" cy="3339885"/>
          </a:xfrm>
          <a:prstGeom prst="rect">
            <a:avLst/>
          </a:prstGeom>
        </p:spPr>
      </p:pic>
      <p:pic>
        <p:nvPicPr>
          <p:cNvPr id="8" name="Picture 7">
            <a:extLst>
              <a:ext uri="{FF2B5EF4-FFF2-40B4-BE49-F238E27FC236}">
                <a16:creationId xmlns:a16="http://schemas.microsoft.com/office/drawing/2014/main" id="{EC386F0B-5145-4FE8-B331-64A90882DA6F}"/>
              </a:ext>
            </a:extLst>
          </p:cNvPr>
          <p:cNvPicPr>
            <a:picLocks noChangeAspect="1"/>
          </p:cNvPicPr>
          <p:nvPr/>
        </p:nvPicPr>
        <p:blipFill>
          <a:blip r:embed="rId3"/>
          <a:stretch>
            <a:fillRect/>
          </a:stretch>
        </p:blipFill>
        <p:spPr>
          <a:xfrm>
            <a:off x="1669697" y="2667251"/>
            <a:ext cx="8212167" cy="3457150"/>
          </a:xfrm>
          <a:prstGeom prst="rect">
            <a:avLst/>
          </a:prstGeom>
        </p:spPr>
      </p:pic>
      <p:pic>
        <p:nvPicPr>
          <p:cNvPr id="10" name="Picture 9">
            <a:extLst>
              <a:ext uri="{FF2B5EF4-FFF2-40B4-BE49-F238E27FC236}">
                <a16:creationId xmlns:a16="http://schemas.microsoft.com/office/drawing/2014/main" id="{B396ECD4-1C3F-4DC9-BFCA-3DF4E8957BCD}"/>
              </a:ext>
            </a:extLst>
          </p:cNvPr>
          <p:cNvPicPr>
            <a:picLocks noChangeAspect="1"/>
          </p:cNvPicPr>
          <p:nvPr/>
        </p:nvPicPr>
        <p:blipFill>
          <a:blip r:embed="rId4"/>
          <a:stretch>
            <a:fillRect/>
          </a:stretch>
        </p:blipFill>
        <p:spPr>
          <a:xfrm>
            <a:off x="1669697" y="2679071"/>
            <a:ext cx="8350200" cy="3433509"/>
          </a:xfrm>
          <a:prstGeom prst="rect">
            <a:avLst/>
          </a:prstGeom>
        </p:spPr>
      </p:pic>
      <p:pic>
        <p:nvPicPr>
          <p:cNvPr id="14" name="Picture 13">
            <a:extLst>
              <a:ext uri="{FF2B5EF4-FFF2-40B4-BE49-F238E27FC236}">
                <a16:creationId xmlns:a16="http://schemas.microsoft.com/office/drawing/2014/main" id="{BFD7B130-9FA5-47C1-8138-C82B8FA67A43}"/>
              </a:ext>
            </a:extLst>
          </p:cNvPr>
          <p:cNvPicPr>
            <a:picLocks noChangeAspect="1"/>
          </p:cNvPicPr>
          <p:nvPr/>
        </p:nvPicPr>
        <p:blipFill>
          <a:blip r:embed="rId5"/>
          <a:stretch>
            <a:fillRect/>
          </a:stretch>
        </p:blipFill>
        <p:spPr>
          <a:xfrm>
            <a:off x="1706879" y="2613041"/>
            <a:ext cx="8493481" cy="3600366"/>
          </a:xfrm>
          <a:prstGeom prst="rect">
            <a:avLst/>
          </a:prstGeom>
        </p:spPr>
      </p:pic>
    </p:spTree>
    <p:extLst>
      <p:ext uri="{BB962C8B-B14F-4D97-AF65-F5344CB8AC3E}">
        <p14:creationId xmlns:p14="http://schemas.microsoft.com/office/powerpoint/2010/main" val="2797126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861A0-47FD-4D83-966A-DB18D03256C8}"/>
              </a:ext>
            </a:extLst>
          </p:cNvPr>
          <p:cNvSpPr>
            <a:spLocks noGrp="1"/>
          </p:cNvSpPr>
          <p:nvPr>
            <p:ph type="title"/>
          </p:nvPr>
        </p:nvSpPr>
        <p:spPr/>
        <p:txBody>
          <a:bodyPr/>
          <a:lstStyle/>
          <a:p>
            <a:r>
              <a:rPr lang="en-IN" dirty="0"/>
              <a:t>5. Fibonacci Heaps: Union</a:t>
            </a:r>
          </a:p>
        </p:txBody>
      </p:sp>
      <p:sp>
        <p:nvSpPr>
          <p:cNvPr id="3" name="Content Placeholder 2">
            <a:extLst>
              <a:ext uri="{FF2B5EF4-FFF2-40B4-BE49-F238E27FC236}">
                <a16:creationId xmlns:a16="http://schemas.microsoft.com/office/drawing/2014/main" id="{C6587F70-9733-4B5B-88E5-8FFA7E366C4E}"/>
              </a:ext>
            </a:extLst>
          </p:cNvPr>
          <p:cNvSpPr>
            <a:spLocks noGrp="1"/>
          </p:cNvSpPr>
          <p:nvPr>
            <p:ph idx="1"/>
          </p:nvPr>
        </p:nvSpPr>
        <p:spPr/>
        <p:txBody>
          <a:bodyPr/>
          <a:lstStyle/>
          <a:p>
            <a:r>
              <a:rPr lang="en-US" dirty="0"/>
              <a:t>Union Combine two Fibonacci heaps.</a:t>
            </a:r>
            <a:endParaRPr lang="en-IN" dirty="0"/>
          </a:p>
        </p:txBody>
      </p:sp>
      <p:pic>
        <p:nvPicPr>
          <p:cNvPr id="5" name="Picture 4">
            <a:extLst>
              <a:ext uri="{FF2B5EF4-FFF2-40B4-BE49-F238E27FC236}">
                <a16:creationId xmlns:a16="http://schemas.microsoft.com/office/drawing/2014/main" id="{19FB0E35-ADD8-4BFD-8E2A-75CC1E95D42E}"/>
              </a:ext>
            </a:extLst>
          </p:cNvPr>
          <p:cNvPicPr>
            <a:picLocks noChangeAspect="1"/>
          </p:cNvPicPr>
          <p:nvPr/>
        </p:nvPicPr>
        <p:blipFill>
          <a:blip r:embed="rId2"/>
          <a:stretch>
            <a:fillRect/>
          </a:stretch>
        </p:blipFill>
        <p:spPr>
          <a:xfrm>
            <a:off x="1851186" y="1445013"/>
            <a:ext cx="8643624" cy="2824596"/>
          </a:xfrm>
          <a:prstGeom prst="rect">
            <a:avLst/>
          </a:prstGeom>
        </p:spPr>
      </p:pic>
      <p:pic>
        <p:nvPicPr>
          <p:cNvPr id="7" name="Picture 6">
            <a:extLst>
              <a:ext uri="{FF2B5EF4-FFF2-40B4-BE49-F238E27FC236}">
                <a16:creationId xmlns:a16="http://schemas.microsoft.com/office/drawing/2014/main" id="{89270EDD-568A-4BE2-AE25-12B15548ACCD}"/>
              </a:ext>
            </a:extLst>
          </p:cNvPr>
          <p:cNvPicPr>
            <a:picLocks noChangeAspect="1"/>
          </p:cNvPicPr>
          <p:nvPr/>
        </p:nvPicPr>
        <p:blipFill>
          <a:blip r:embed="rId3"/>
          <a:stretch>
            <a:fillRect/>
          </a:stretch>
        </p:blipFill>
        <p:spPr>
          <a:xfrm>
            <a:off x="2701398" y="1366898"/>
            <a:ext cx="7835503" cy="2906719"/>
          </a:xfrm>
          <a:prstGeom prst="rect">
            <a:avLst/>
          </a:prstGeom>
        </p:spPr>
      </p:pic>
    </p:spTree>
    <p:extLst>
      <p:ext uri="{BB962C8B-B14F-4D97-AF65-F5344CB8AC3E}">
        <p14:creationId xmlns:p14="http://schemas.microsoft.com/office/powerpoint/2010/main" val="2161551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AB651-05EB-4F0C-B8E8-F07C8E41AD61}"/>
              </a:ext>
            </a:extLst>
          </p:cNvPr>
          <p:cNvSpPr>
            <a:spLocks noGrp="1"/>
          </p:cNvSpPr>
          <p:nvPr>
            <p:ph type="title"/>
          </p:nvPr>
        </p:nvSpPr>
        <p:spPr/>
        <p:txBody>
          <a:bodyPr/>
          <a:lstStyle/>
          <a:p>
            <a:r>
              <a:rPr lang="en-IN" dirty="0"/>
              <a:t>6. Fibonacci Heaps: Delete</a:t>
            </a:r>
          </a:p>
        </p:txBody>
      </p:sp>
      <p:sp>
        <p:nvSpPr>
          <p:cNvPr id="3" name="Content Placeholder 2">
            <a:extLst>
              <a:ext uri="{FF2B5EF4-FFF2-40B4-BE49-F238E27FC236}">
                <a16:creationId xmlns:a16="http://schemas.microsoft.com/office/drawing/2014/main" id="{8E091DCF-71F2-4BDD-983E-4CB827B46A98}"/>
              </a:ext>
            </a:extLst>
          </p:cNvPr>
          <p:cNvSpPr>
            <a:spLocks noGrp="1"/>
          </p:cNvSpPr>
          <p:nvPr>
            <p:ph idx="1"/>
          </p:nvPr>
        </p:nvSpPr>
        <p:spPr/>
        <p:txBody>
          <a:bodyPr/>
          <a:lstStyle/>
          <a:p>
            <a:pPr marL="0" indent="0">
              <a:buNone/>
            </a:pPr>
            <a:r>
              <a:rPr lang="en-US" dirty="0"/>
              <a:t>Delete node x. </a:t>
            </a:r>
          </a:p>
          <a:p>
            <a:r>
              <a:rPr lang="en-US" dirty="0"/>
              <a:t>decrease-key of x to </a:t>
            </a:r>
            <a:r>
              <a:rPr lang="en-IN" sz="3600" dirty="0">
                <a:solidFill>
                  <a:srgbClr val="1A0DAB"/>
                </a:solidFill>
                <a:latin typeface="arial" panose="020B0604020202020204" pitchFamily="34" charset="0"/>
              </a:rPr>
              <a:t>∞</a:t>
            </a:r>
            <a:r>
              <a:rPr lang="en-US" sz="3600" dirty="0"/>
              <a:t> </a:t>
            </a:r>
          </a:p>
          <a:p>
            <a:r>
              <a:rPr lang="en-US" dirty="0"/>
              <a:t>delete-min element in heap.</a:t>
            </a:r>
            <a:endParaRPr lang="en-IN" dirty="0"/>
          </a:p>
        </p:txBody>
      </p:sp>
    </p:spTree>
    <p:extLst>
      <p:ext uri="{BB962C8B-B14F-4D97-AF65-F5344CB8AC3E}">
        <p14:creationId xmlns:p14="http://schemas.microsoft.com/office/powerpoint/2010/main" val="315707729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4ECF5-F539-4F95-BCD8-89CE0C0E6AAA}"/>
              </a:ext>
            </a:extLst>
          </p:cNvPr>
          <p:cNvSpPr>
            <a:spLocks noGrp="1"/>
          </p:cNvSpPr>
          <p:nvPr>
            <p:ph type="title"/>
          </p:nvPr>
        </p:nvSpPr>
        <p:spPr/>
        <p:txBody>
          <a:bodyPr/>
          <a:lstStyle/>
          <a:p>
            <a:r>
              <a:rPr lang="en-IN" dirty="0"/>
              <a:t>Disjoint set data structure</a:t>
            </a:r>
          </a:p>
        </p:txBody>
      </p:sp>
      <p:sp>
        <p:nvSpPr>
          <p:cNvPr id="3" name="Content Placeholder 2">
            <a:extLst>
              <a:ext uri="{FF2B5EF4-FFF2-40B4-BE49-F238E27FC236}">
                <a16:creationId xmlns:a16="http://schemas.microsoft.com/office/drawing/2014/main" id="{E72F5838-C3A2-4FC9-9C0D-3B73863394E0}"/>
              </a:ext>
            </a:extLst>
          </p:cNvPr>
          <p:cNvSpPr>
            <a:spLocks noGrp="1"/>
          </p:cNvSpPr>
          <p:nvPr>
            <p:ph idx="1"/>
          </p:nvPr>
        </p:nvSpPr>
        <p:spPr/>
        <p:txBody>
          <a:bodyPr/>
          <a:lstStyle/>
          <a:p>
            <a:r>
              <a:rPr lang="en-US" dirty="0"/>
              <a:t>What is a Disjoint set data structure?</a:t>
            </a:r>
          </a:p>
          <a:p>
            <a:pPr lvl="1"/>
            <a:r>
              <a:rPr lang="en-US" dirty="0"/>
              <a:t>Two sets are called disjoint sets if they don’t have any element in common, the </a:t>
            </a:r>
            <a:r>
              <a:rPr lang="en-US" dirty="0">
                <a:solidFill>
                  <a:srgbClr val="C00000"/>
                </a:solidFill>
              </a:rPr>
              <a:t>intersection of sets is a null </a:t>
            </a:r>
            <a:r>
              <a:rPr lang="en-US" dirty="0"/>
              <a:t>set</a:t>
            </a:r>
          </a:p>
          <a:p>
            <a:pPr marL="457200" lvl="1" indent="0">
              <a:buNone/>
            </a:pPr>
            <a:endParaRPr lang="en-US" dirty="0"/>
          </a:p>
        </p:txBody>
      </p:sp>
    </p:spTree>
    <p:extLst>
      <p:ext uri="{BB962C8B-B14F-4D97-AF65-F5344CB8AC3E}">
        <p14:creationId xmlns:p14="http://schemas.microsoft.com/office/powerpoint/2010/main" val="97782248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3912A-900D-4C81-8AEB-B90078A7494C}"/>
              </a:ext>
            </a:extLst>
          </p:cNvPr>
          <p:cNvSpPr>
            <a:spLocks noGrp="1"/>
          </p:cNvSpPr>
          <p:nvPr>
            <p:ph type="title"/>
          </p:nvPr>
        </p:nvSpPr>
        <p:spPr/>
        <p:txBody>
          <a:bodyPr/>
          <a:lstStyle/>
          <a:p>
            <a:r>
              <a:rPr lang="en-IN" dirty="0"/>
              <a:t>Disjoint set data structure</a:t>
            </a:r>
          </a:p>
        </p:txBody>
      </p:sp>
      <p:sp>
        <p:nvSpPr>
          <p:cNvPr id="3" name="Content Placeholder 2">
            <a:extLst>
              <a:ext uri="{FF2B5EF4-FFF2-40B4-BE49-F238E27FC236}">
                <a16:creationId xmlns:a16="http://schemas.microsoft.com/office/drawing/2014/main" id="{726F881F-CE64-425C-A304-F883F8137930}"/>
              </a:ext>
            </a:extLst>
          </p:cNvPr>
          <p:cNvSpPr>
            <a:spLocks noGrp="1"/>
          </p:cNvSpPr>
          <p:nvPr>
            <p:ph idx="1"/>
          </p:nvPr>
        </p:nvSpPr>
        <p:spPr>
          <a:xfrm>
            <a:off x="262359" y="2345731"/>
            <a:ext cx="11929641" cy="3535303"/>
          </a:xfrm>
        </p:spPr>
        <p:txBody>
          <a:bodyPr/>
          <a:lstStyle/>
          <a:p>
            <a:pPr marL="0" indent="0">
              <a:buNone/>
            </a:pPr>
            <a:r>
              <a:rPr lang="en-US" sz="2000" b="1" dirty="0">
                <a:latin typeface="Cambria" panose="02040503050406030204" pitchFamily="18" charset="0"/>
                <a:ea typeface="Cambria" panose="02040503050406030204" pitchFamily="18" charset="0"/>
              </a:rPr>
              <a:t>We are given 10 individuals say, a, b, c, d, e, f, g, h, </a:t>
            </a:r>
            <a:r>
              <a:rPr lang="en-US" sz="2000" b="1" dirty="0" err="1">
                <a:latin typeface="Cambria" panose="02040503050406030204" pitchFamily="18" charset="0"/>
                <a:ea typeface="Cambria" panose="02040503050406030204" pitchFamily="18" charset="0"/>
              </a:rPr>
              <a:t>i</a:t>
            </a:r>
            <a:r>
              <a:rPr lang="en-US" sz="2000" b="1" dirty="0">
                <a:latin typeface="Cambria" panose="02040503050406030204" pitchFamily="18" charset="0"/>
                <a:ea typeface="Cambria" panose="02040503050406030204" pitchFamily="18" charset="0"/>
              </a:rPr>
              <a:t>, j</a:t>
            </a:r>
          </a:p>
          <a:p>
            <a:pPr marL="0" indent="0">
              <a:buNone/>
            </a:pPr>
            <a:r>
              <a:rPr lang="en-US" sz="1800" dirty="0">
                <a:latin typeface="Cambria" panose="02040503050406030204" pitchFamily="18" charset="0"/>
                <a:ea typeface="Cambria" panose="02040503050406030204" pitchFamily="18" charset="0"/>
              </a:rPr>
              <a:t>Following are relationships to be added:</a:t>
            </a:r>
          </a:p>
          <a:p>
            <a:r>
              <a:rPr lang="en-US" sz="1800" dirty="0">
                <a:latin typeface="Cambria" panose="02040503050406030204" pitchFamily="18" charset="0"/>
                <a:ea typeface="Cambria" panose="02040503050406030204" pitchFamily="18" charset="0"/>
              </a:rPr>
              <a:t>a &lt;-&gt; b  , b &lt;-&gt; d , c &lt;-&gt; f,  c &lt;-&gt; I,  j &lt;-&gt; e,  g &lt;-&gt; j</a:t>
            </a:r>
          </a:p>
          <a:p>
            <a:endParaRPr lang="en-US" sz="1800" dirty="0">
              <a:latin typeface="Cambria" panose="02040503050406030204" pitchFamily="18" charset="0"/>
              <a:ea typeface="Cambria" panose="02040503050406030204" pitchFamily="18" charset="0"/>
            </a:endParaRPr>
          </a:p>
          <a:p>
            <a:pPr marL="0" indent="0">
              <a:buNone/>
            </a:pPr>
            <a:r>
              <a:rPr lang="en-US" sz="1800" dirty="0">
                <a:latin typeface="Cambria" panose="02040503050406030204" pitchFamily="18" charset="0"/>
                <a:ea typeface="Cambria" panose="02040503050406030204" pitchFamily="18" charset="0"/>
              </a:rPr>
              <a:t>Given queries like whether a is a friend of d or not. We basically need to create following 4 groups and maintain a quickly accessible connection among group items:</a:t>
            </a:r>
          </a:p>
          <a:p>
            <a:r>
              <a:rPr lang="en-US" sz="1800" dirty="0">
                <a:latin typeface="Cambria" panose="02040503050406030204" pitchFamily="18" charset="0"/>
                <a:ea typeface="Cambria" panose="02040503050406030204" pitchFamily="18" charset="0"/>
              </a:rPr>
              <a:t>G1 = {a, b, d}</a:t>
            </a:r>
          </a:p>
          <a:p>
            <a:r>
              <a:rPr lang="en-US" sz="1800" dirty="0">
                <a:latin typeface="Cambria" panose="02040503050406030204" pitchFamily="18" charset="0"/>
                <a:ea typeface="Cambria" panose="02040503050406030204" pitchFamily="18" charset="0"/>
              </a:rPr>
              <a:t>G2 = {c, f, </a:t>
            </a:r>
            <a:r>
              <a:rPr lang="en-US" sz="1800" dirty="0" err="1">
                <a:latin typeface="Cambria" panose="02040503050406030204" pitchFamily="18" charset="0"/>
                <a:ea typeface="Cambria" panose="02040503050406030204" pitchFamily="18" charset="0"/>
              </a:rPr>
              <a:t>i</a:t>
            </a:r>
            <a:r>
              <a:rPr lang="en-US" sz="1800" dirty="0">
                <a:latin typeface="Cambria" panose="02040503050406030204" pitchFamily="18" charset="0"/>
                <a:ea typeface="Cambria" panose="02040503050406030204" pitchFamily="18" charset="0"/>
              </a:rPr>
              <a:t>}</a:t>
            </a:r>
          </a:p>
          <a:p>
            <a:r>
              <a:rPr lang="en-US" sz="1800" dirty="0">
                <a:latin typeface="Cambria" panose="02040503050406030204" pitchFamily="18" charset="0"/>
                <a:ea typeface="Cambria" panose="02040503050406030204" pitchFamily="18" charset="0"/>
              </a:rPr>
              <a:t>G3 = {e, g, j}</a:t>
            </a:r>
          </a:p>
          <a:p>
            <a:r>
              <a:rPr lang="en-US" sz="1800" dirty="0">
                <a:latin typeface="Cambria" panose="02040503050406030204" pitchFamily="18" charset="0"/>
                <a:ea typeface="Cambria" panose="02040503050406030204" pitchFamily="18" charset="0"/>
              </a:rPr>
              <a:t>G4 = {h}</a:t>
            </a:r>
            <a:endParaRPr lang="en-IN"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FCF18CAF-FCE9-4754-A8E4-EB342A91B493}"/>
              </a:ext>
            </a:extLst>
          </p:cNvPr>
          <p:cNvSpPr txBox="1"/>
          <p:nvPr/>
        </p:nvSpPr>
        <p:spPr>
          <a:xfrm>
            <a:off x="-221381" y="711201"/>
            <a:ext cx="12282199" cy="1323439"/>
          </a:xfrm>
          <a:prstGeom prst="rect">
            <a:avLst/>
          </a:prstGeom>
          <a:noFill/>
        </p:spPr>
        <p:txBody>
          <a:bodyPr wrap="square">
            <a:spAutoFit/>
          </a:bodyPr>
          <a:lstStyle/>
          <a:p>
            <a:pPr marL="457200" lvl="1" indent="0">
              <a:buNone/>
            </a:pPr>
            <a:r>
              <a:rPr lang="en-US" sz="2000" dirty="0">
                <a:latin typeface="Cambria" panose="02040503050406030204" pitchFamily="18" charset="0"/>
                <a:ea typeface="Cambria" panose="02040503050406030204" pitchFamily="18" charset="0"/>
              </a:rPr>
              <a:t>Consider a situation with a number of persons and the following tasks to be performed on them:</a:t>
            </a:r>
          </a:p>
          <a:p>
            <a:pPr marL="742950" lvl="1"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Add a new friendship relation, i.e. a person x becomes the friend of another person y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adding new element to a set.</a:t>
            </a:r>
          </a:p>
          <a:p>
            <a:pPr marL="742950" lvl="1"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Find whether individual x is a friend of individual y (direct or indirect friend)</a:t>
            </a:r>
          </a:p>
        </p:txBody>
      </p:sp>
    </p:spTree>
    <p:extLst>
      <p:ext uri="{BB962C8B-B14F-4D97-AF65-F5344CB8AC3E}">
        <p14:creationId xmlns:p14="http://schemas.microsoft.com/office/powerpoint/2010/main" val="2802531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5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fade">
                                      <p:cBhvr>
                                        <p:cTn id="23" dur="500"/>
                                        <p:tgtEl>
                                          <p:spTgt spid="3">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500"/>
                                        <p:tgtEl>
                                          <p:spTgt spid="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5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500"/>
                                        <p:tgtEl>
                                          <p:spTgt spid="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500"/>
                                        <p:tgtEl>
                                          <p:spTgt spid="3">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fade">
                                      <p:cBhvr>
                                        <p:cTn id="48" dur="500"/>
                                        <p:tgtEl>
                                          <p:spTgt spid="3">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fade">
                                      <p:cBhvr>
                                        <p:cTn id="5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CE4A2-7EAE-4DF0-AEE6-E5A57F879D1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FC774FD-D9B8-4BE3-A1A9-2077661D52E2}"/>
              </a:ext>
            </a:extLst>
          </p:cNvPr>
          <p:cNvSpPr>
            <a:spLocks noGrp="1"/>
          </p:cNvSpPr>
          <p:nvPr>
            <p:ph idx="1"/>
          </p:nvPr>
        </p:nvSpPr>
        <p:spPr/>
        <p:txBody>
          <a:bodyPr/>
          <a:lstStyle/>
          <a:p>
            <a:r>
              <a:rPr lang="en-US" dirty="0">
                <a:solidFill>
                  <a:srgbClr val="C00000"/>
                </a:solidFill>
                <a:latin typeface="Cambria" panose="02040503050406030204" pitchFamily="18" charset="0"/>
                <a:ea typeface="Cambria" panose="02040503050406030204" pitchFamily="18" charset="0"/>
              </a:rPr>
              <a:t>Find whether x and y belong to the same group or not, i.e. to find if x and y are direct/indirect friends.</a:t>
            </a:r>
          </a:p>
          <a:p>
            <a:endParaRPr lang="en-US" dirty="0">
              <a:solidFill>
                <a:srgbClr val="C00000"/>
              </a:solidFill>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Partitioning the individuals into different sets according to the groups in which they fall. This method is known as a </a:t>
            </a:r>
            <a:r>
              <a:rPr lang="en-US" dirty="0">
                <a:solidFill>
                  <a:srgbClr val="C00000"/>
                </a:solidFill>
                <a:latin typeface="Cambria" panose="02040503050406030204" pitchFamily="18" charset="0"/>
                <a:ea typeface="Cambria" panose="02040503050406030204" pitchFamily="18" charset="0"/>
              </a:rPr>
              <a:t>Disjoint set Union </a:t>
            </a:r>
            <a:r>
              <a:rPr lang="en-US" dirty="0">
                <a:latin typeface="Cambria" panose="02040503050406030204" pitchFamily="18" charset="0"/>
                <a:ea typeface="Cambria" panose="02040503050406030204" pitchFamily="18" charset="0"/>
              </a:rPr>
              <a:t>which maintains a collection of Disjoint sets and each set is represented by one of its members.</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To answer the above question two key points to be considered are:</a:t>
            </a:r>
          </a:p>
          <a:p>
            <a:pPr lvl="1"/>
            <a:r>
              <a:rPr lang="en-US" dirty="0">
                <a:latin typeface="Cambria" panose="02040503050406030204" pitchFamily="18" charset="0"/>
                <a:ea typeface="Cambria" panose="02040503050406030204" pitchFamily="18" charset="0"/>
              </a:rPr>
              <a:t>How to Resolve sets? Initially, all elements belong to different sets. After working on the given relations, we select a member as a representative. There can be many ways to select a representative, a simple one is to select with the biggest index.</a:t>
            </a:r>
          </a:p>
          <a:p>
            <a:pPr lvl="1"/>
            <a:r>
              <a:rPr lang="en-US" dirty="0">
                <a:latin typeface="Cambria" panose="02040503050406030204" pitchFamily="18" charset="0"/>
                <a:ea typeface="Cambria" panose="02040503050406030204" pitchFamily="18" charset="0"/>
              </a:rPr>
              <a:t>Check if 2 persons are in the same group? If representatives of two individuals are the same, then they’ll become friends.</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19146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72D5B-54F1-417C-B7E8-C2B01CEDC32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D962A3B-394A-434E-9717-4F916885207C}"/>
              </a:ext>
            </a:extLst>
          </p:cNvPr>
          <p:cNvSpPr>
            <a:spLocks noGrp="1"/>
          </p:cNvSpPr>
          <p:nvPr>
            <p:ph idx="1"/>
          </p:nvPr>
        </p:nvSpPr>
        <p:spPr/>
        <p:txBody>
          <a:bodyPr/>
          <a:lstStyle/>
          <a:p>
            <a:pPr marL="0" indent="0">
              <a:buNone/>
            </a:pPr>
            <a:r>
              <a:rPr lang="en-US" dirty="0">
                <a:latin typeface="Cambria" panose="02040503050406030204" pitchFamily="18" charset="0"/>
                <a:ea typeface="Cambria" panose="02040503050406030204" pitchFamily="18" charset="0"/>
              </a:rPr>
              <a:t>A disjoint–set is a data structure that keeps track of a set of elements partitioned into several disjoint (non-overlapping) subsets.  Operations on Disjoint set are:</a:t>
            </a:r>
          </a:p>
          <a:p>
            <a:endParaRPr lang="en-US" dirty="0">
              <a:latin typeface="Cambria" panose="02040503050406030204" pitchFamily="18" charset="0"/>
              <a:ea typeface="Cambria" panose="02040503050406030204" pitchFamily="18" charset="0"/>
            </a:endParaRPr>
          </a:p>
          <a:p>
            <a:r>
              <a:rPr lang="en-US" b="1" dirty="0">
                <a:solidFill>
                  <a:srgbClr val="C00000"/>
                </a:solidFill>
                <a:latin typeface="Cambria" panose="02040503050406030204" pitchFamily="18" charset="0"/>
                <a:ea typeface="Cambria" panose="02040503050406030204" pitchFamily="18" charset="0"/>
              </a:rPr>
              <a:t>Find: </a:t>
            </a:r>
            <a:r>
              <a:rPr lang="en-US" dirty="0">
                <a:latin typeface="Cambria" panose="02040503050406030204" pitchFamily="18" charset="0"/>
                <a:ea typeface="Cambria" panose="02040503050406030204" pitchFamily="18" charset="0"/>
              </a:rPr>
              <a:t>It determines in which subset a particular element is in and returns the representative of that particular set. An item from this set typically acts as a “representative” of the set.</a:t>
            </a:r>
          </a:p>
          <a:p>
            <a:endParaRPr lang="en-US" dirty="0">
              <a:latin typeface="Cambria" panose="02040503050406030204" pitchFamily="18" charset="0"/>
              <a:ea typeface="Cambria" panose="02040503050406030204" pitchFamily="18" charset="0"/>
            </a:endParaRPr>
          </a:p>
          <a:p>
            <a:r>
              <a:rPr lang="en-US" b="1" dirty="0">
                <a:solidFill>
                  <a:srgbClr val="C00000"/>
                </a:solidFill>
                <a:latin typeface="Cambria" panose="02040503050406030204" pitchFamily="18" charset="0"/>
                <a:ea typeface="Cambria" panose="02040503050406030204" pitchFamily="18" charset="0"/>
              </a:rPr>
              <a:t>Union: </a:t>
            </a:r>
            <a:r>
              <a:rPr lang="en-US" dirty="0">
                <a:latin typeface="Cambria" panose="02040503050406030204" pitchFamily="18" charset="0"/>
                <a:ea typeface="Cambria" panose="02040503050406030204" pitchFamily="18" charset="0"/>
              </a:rPr>
              <a:t>It merges two different subsets into a single subset, and the representative of one set becomes representative of another.</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The disjoint–set also supports one other important operation called </a:t>
            </a:r>
            <a:r>
              <a:rPr lang="en-US" b="1" dirty="0" err="1">
                <a:solidFill>
                  <a:srgbClr val="C00000"/>
                </a:solidFill>
                <a:latin typeface="Cambria" panose="02040503050406030204" pitchFamily="18" charset="0"/>
                <a:ea typeface="Cambria" panose="02040503050406030204" pitchFamily="18" charset="0"/>
              </a:rPr>
              <a:t>MakeSet</a:t>
            </a:r>
            <a:r>
              <a:rPr lang="en-US" dirty="0">
                <a:latin typeface="Cambria" panose="02040503050406030204" pitchFamily="18" charset="0"/>
                <a:ea typeface="Cambria" panose="02040503050406030204" pitchFamily="18" charset="0"/>
              </a:rPr>
              <a:t>, which creates a set containing only a given element in it.</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01103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E80A3-D7A7-439B-8B1B-00558B0CDDF0}"/>
              </a:ext>
            </a:extLst>
          </p:cNvPr>
          <p:cNvSpPr>
            <a:spLocks noGrp="1"/>
          </p:cNvSpPr>
          <p:nvPr>
            <p:ph type="title"/>
          </p:nvPr>
        </p:nvSpPr>
        <p:spPr/>
        <p:txBody>
          <a:bodyPr/>
          <a:lstStyle/>
          <a:p>
            <a:r>
              <a:rPr lang="en-US" dirty="0"/>
              <a:t>How to Implement Disjoint Sets?</a:t>
            </a:r>
            <a:endParaRPr lang="en-IN" dirty="0"/>
          </a:p>
        </p:txBody>
      </p:sp>
      <p:sp>
        <p:nvSpPr>
          <p:cNvPr id="3" name="Content Placeholder 2">
            <a:extLst>
              <a:ext uri="{FF2B5EF4-FFF2-40B4-BE49-F238E27FC236}">
                <a16:creationId xmlns:a16="http://schemas.microsoft.com/office/drawing/2014/main" id="{1D6A0C05-8981-4F86-8BD6-8F465432D070}"/>
              </a:ext>
            </a:extLst>
          </p:cNvPr>
          <p:cNvSpPr>
            <a:spLocks noGrp="1"/>
          </p:cNvSpPr>
          <p:nvPr>
            <p:ph idx="1"/>
          </p:nvPr>
        </p:nvSpPr>
        <p:spPr/>
        <p:txBody>
          <a:bodyPr/>
          <a:lstStyle/>
          <a:p>
            <a:r>
              <a:rPr lang="en-US" dirty="0">
                <a:latin typeface="Cambria" panose="02040503050406030204" pitchFamily="18" charset="0"/>
                <a:ea typeface="Cambria" panose="02040503050406030204" pitchFamily="18" charset="0"/>
              </a:rPr>
              <a:t>Disjoint–set forests are data structures where each set is represented by a tree data in which each node holds a </a:t>
            </a:r>
            <a:r>
              <a:rPr lang="en-US" dirty="0">
                <a:solidFill>
                  <a:srgbClr val="C00000"/>
                </a:solidFill>
                <a:latin typeface="Cambria" panose="02040503050406030204" pitchFamily="18" charset="0"/>
                <a:ea typeface="Cambria" panose="02040503050406030204" pitchFamily="18" charset="0"/>
              </a:rPr>
              <a:t>reference to its parent </a:t>
            </a:r>
            <a:r>
              <a:rPr lang="en-US" dirty="0">
                <a:latin typeface="Cambria" panose="02040503050406030204" pitchFamily="18" charset="0"/>
                <a:ea typeface="Cambria" panose="02040503050406030204" pitchFamily="18" charset="0"/>
              </a:rPr>
              <a:t>and the </a:t>
            </a:r>
            <a:r>
              <a:rPr lang="en-US" dirty="0">
                <a:solidFill>
                  <a:srgbClr val="C00000"/>
                </a:solidFill>
                <a:latin typeface="Cambria" panose="02040503050406030204" pitchFamily="18" charset="0"/>
                <a:ea typeface="Cambria" panose="02040503050406030204" pitchFamily="18" charset="0"/>
              </a:rPr>
              <a:t>representative of each set is the root</a:t>
            </a:r>
            <a:r>
              <a:rPr lang="en-US" dirty="0">
                <a:latin typeface="Cambria" panose="02040503050406030204" pitchFamily="18" charset="0"/>
                <a:ea typeface="Cambria" panose="02040503050406030204" pitchFamily="18" charset="0"/>
              </a:rPr>
              <a:t> of that set’s tree.</a:t>
            </a:r>
          </a:p>
          <a:p>
            <a:pPr lvl="1"/>
            <a:r>
              <a:rPr lang="en-US" dirty="0">
                <a:latin typeface="Cambria" panose="02040503050406030204" pitchFamily="18" charset="0"/>
                <a:ea typeface="Cambria" panose="02040503050406030204" pitchFamily="18" charset="0"/>
              </a:rPr>
              <a:t>Find follows parent nodes until it reaches the root.</a:t>
            </a:r>
          </a:p>
          <a:p>
            <a:pPr lvl="1"/>
            <a:r>
              <a:rPr lang="en-US" dirty="0">
                <a:latin typeface="Cambria" panose="02040503050406030204" pitchFamily="18" charset="0"/>
                <a:ea typeface="Cambria" panose="02040503050406030204" pitchFamily="18" charset="0"/>
              </a:rPr>
              <a:t>Union combines two trees into one by attaching one tree’s root into the root of the other.</a:t>
            </a:r>
          </a:p>
          <a:p>
            <a:pPr lvl="1"/>
            <a:endParaRPr lang="en-US" dirty="0"/>
          </a:p>
        </p:txBody>
      </p:sp>
    </p:spTree>
    <p:extLst>
      <p:ext uri="{BB962C8B-B14F-4D97-AF65-F5344CB8AC3E}">
        <p14:creationId xmlns:p14="http://schemas.microsoft.com/office/powerpoint/2010/main" val="2399375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5DE2B-3D67-4580-8793-B540A33489F3}"/>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143E13A1-14DD-4225-B7E0-2373BA3812F6}"/>
              </a:ext>
            </a:extLst>
          </p:cNvPr>
          <p:cNvSpPr>
            <a:spLocks noGrp="1"/>
          </p:cNvSpPr>
          <p:nvPr>
            <p:ph idx="1"/>
          </p:nvPr>
        </p:nvSpPr>
        <p:spPr/>
        <p:txBody>
          <a:bodyPr/>
          <a:lstStyle/>
          <a:p>
            <a:pPr marL="457200" lvl="1" indent="0">
              <a:buNone/>
            </a:pPr>
            <a:r>
              <a:rPr lang="en-US" dirty="0">
                <a:latin typeface="Cambria Math" panose="02040503050406030204" pitchFamily="18" charset="0"/>
                <a:ea typeface="Cambria Math" panose="02040503050406030204" pitchFamily="18" charset="0"/>
              </a:rPr>
              <a:t>For example, consider five disjoint sets S1, S2, S3, S4, and S5 represented by a tree. Each set initially contains only one element each, so their parent pointer points to itself or NULL.</a:t>
            </a:r>
          </a:p>
          <a:p>
            <a:pPr lvl="1"/>
            <a:endParaRPr lang="en-US" dirty="0">
              <a:latin typeface="Cambria Math" panose="02040503050406030204" pitchFamily="18" charset="0"/>
              <a:ea typeface="Cambria Math" panose="02040503050406030204" pitchFamily="18" charset="0"/>
            </a:endParaRPr>
          </a:p>
          <a:p>
            <a:pPr lvl="1"/>
            <a:r>
              <a:rPr lang="en-US" dirty="0">
                <a:latin typeface="Cambria Math" panose="02040503050406030204" pitchFamily="18" charset="0"/>
                <a:ea typeface="Cambria Math" panose="02040503050406030204" pitchFamily="18" charset="0"/>
              </a:rPr>
              <a:t>S1 = {1}, S2 ={2}, S3 = {3}, S4 ={4} and S5 = {5}</a:t>
            </a:r>
          </a:p>
          <a:p>
            <a:pPr lvl="1"/>
            <a:endParaRPr lang="en-US" dirty="0">
              <a:latin typeface="Cambria Math" panose="02040503050406030204" pitchFamily="18" charset="0"/>
              <a:ea typeface="Cambria Math" panose="02040503050406030204" pitchFamily="18" charset="0"/>
            </a:endParaRPr>
          </a:p>
          <a:p>
            <a:pPr lvl="1"/>
            <a:r>
              <a:rPr lang="en-US" dirty="0">
                <a:latin typeface="Cambria Math" panose="02040503050406030204" pitchFamily="18" charset="0"/>
                <a:ea typeface="Cambria Math" panose="02040503050406030204" pitchFamily="18" charset="0"/>
              </a:rPr>
              <a:t>The </a:t>
            </a:r>
            <a:r>
              <a:rPr lang="en-US" dirty="0">
                <a:solidFill>
                  <a:srgbClr val="C00000"/>
                </a:solidFill>
                <a:latin typeface="Cambria Math" panose="02040503050406030204" pitchFamily="18" charset="0"/>
                <a:ea typeface="Cambria Math" panose="02040503050406030204" pitchFamily="18" charset="0"/>
              </a:rPr>
              <a:t>Find</a:t>
            </a:r>
            <a:r>
              <a:rPr lang="en-US" dirty="0">
                <a:latin typeface="Cambria Math" panose="02040503050406030204" pitchFamily="18" charset="0"/>
                <a:ea typeface="Cambria Math" panose="02040503050406030204" pitchFamily="18" charset="0"/>
              </a:rPr>
              <a:t> operation on element </a:t>
            </a:r>
            <a:r>
              <a:rPr lang="en-US" dirty="0" err="1">
                <a:latin typeface="Cambria Math" panose="02040503050406030204" pitchFamily="18" charset="0"/>
                <a:ea typeface="Cambria Math" panose="02040503050406030204" pitchFamily="18" charset="0"/>
              </a:rPr>
              <a:t>i</a:t>
            </a:r>
            <a:r>
              <a:rPr lang="en-US" dirty="0">
                <a:latin typeface="Cambria Math" panose="02040503050406030204" pitchFamily="18" charset="0"/>
                <a:ea typeface="Cambria Math" panose="02040503050406030204" pitchFamily="18" charset="0"/>
              </a:rPr>
              <a:t> will return representative of </a:t>
            </a:r>
            <a:r>
              <a:rPr lang="en-US" dirty="0">
                <a:solidFill>
                  <a:srgbClr val="C00000"/>
                </a:solidFill>
                <a:latin typeface="Cambria Math" panose="02040503050406030204" pitchFamily="18" charset="0"/>
                <a:ea typeface="Cambria Math" panose="02040503050406030204" pitchFamily="18" charset="0"/>
              </a:rPr>
              <a:t>S</a:t>
            </a:r>
            <a:r>
              <a:rPr lang="en-US" baseline="30000" dirty="0">
                <a:solidFill>
                  <a:srgbClr val="C00000"/>
                </a:solidFill>
                <a:latin typeface="Cambria Math" panose="02040503050406030204" pitchFamily="18" charset="0"/>
                <a:ea typeface="Cambria Math" panose="02040503050406030204" pitchFamily="18" charset="0"/>
              </a:rPr>
              <a:t>i</a:t>
            </a:r>
            <a:r>
              <a:rPr lang="en-US" dirty="0">
                <a:latin typeface="Cambria Math" panose="02040503050406030204" pitchFamily="18" charset="0"/>
                <a:ea typeface="Cambria Math" panose="02040503050406030204" pitchFamily="18" charset="0"/>
              </a:rPr>
              <a:t>, where 1 &lt;= </a:t>
            </a:r>
            <a:r>
              <a:rPr lang="en-US" dirty="0" err="1">
                <a:latin typeface="Cambria Math" panose="02040503050406030204" pitchFamily="18" charset="0"/>
                <a:ea typeface="Cambria Math" panose="02040503050406030204" pitchFamily="18" charset="0"/>
              </a:rPr>
              <a:t>i</a:t>
            </a:r>
            <a:r>
              <a:rPr lang="en-US" dirty="0">
                <a:latin typeface="Cambria Math" panose="02040503050406030204" pitchFamily="18" charset="0"/>
                <a:ea typeface="Cambria Math" panose="02040503050406030204" pitchFamily="18" charset="0"/>
              </a:rPr>
              <a:t> &lt;= 5, i.e., Find(</a:t>
            </a:r>
            <a:r>
              <a:rPr lang="en-US" dirty="0" err="1">
                <a:latin typeface="Cambria Math" panose="02040503050406030204" pitchFamily="18" charset="0"/>
                <a:ea typeface="Cambria Math" panose="02040503050406030204" pitchFamily="18" charset="0"/>
              </a:rPr>
              <a:t>i</a:t>
            </a:r>
            <a:r>
              <a:rPr lang="en-US" dirty="0">
                <a:latin typeface="Cambria Math" panose="02040503050406030204" pitchFamily="18" charset="0"/>
                <a:ea typeface="Cambria Math" panose="02040503050406030204" pitchFamily="18" charset="0"/>
              </a:rPr>
              <a:t>) = </a:t>
            </a:r>
            <a:r>
              <a:rPr lang="en-US" dirty="0" err="1">
                <a:latin typeface="Cambria Math" panose="02040503050406030204" pitchFamily="18" charset="0"/>
                <a:ea typeface="Cambria Math" panose="02040503050406030204" pitchFamily="18" charset="0"/>
              </a:rPr>
              <a:t>i</a:t>
            </a:r>
            <a:r>
              <a:rPr lang="en-US" dirty="0">
                <a:latin typeface="Cambria Math" panose="02040503050406030204" pitchFamily="18" charset="0"/>
                <a:ea typeface="Cambria Math" panose="02040503050406030204" pitchFamily="18" charset="0"/>
              </a:rPr>
              <a:t>.</a:t>
            </a:r>
            <a:endParaRPr lang="en-IN" dirty="0">
              <a:latin typeface="Cambria Math" panose="02040503050406030204" pitchFamily="18" charset="0"/>
              <a:ea typeface="Cambria Math" panose="02040503050406030204" pitchFamily="18" charset="0"/>
            </a:endParaRPr>
          </a:p>
          <a:p>
            <a:endParaRPr lang="en-IN" dirty="0"/>
          </a:p>
        </p:txBody>
      </p:sp>
      <p:pic>
        <p:nvPicPr>
          <p:cNvPr id="5" name="Picture 4">
            <a:extLst>
              <a:ext uri="{FF2B5EF4-FFF2-40B4-BE49-F238E27FC236}">
                <a16:creationId xmlns:a16="http://schemas.microsoft.com/office/drawing/2014/main" id="{613427AD-CE49-4C0F-AE22-88B020093C58}"/>
              </a:ext>
            </a:extLst>
          </p:cNvPr>
          <p:cNvPicPr>
            <a:picLocks noChangeAspect="1"/>
          </p:cNvPicPr>
          <p:nvPr/>
        </p:nvPicPr>
        <p:blipFill>
          <a:blip r:embed="rId2"/>
          <a:stretch>
            <a:fillRect/>
          </a:stretch>
        </p:blipFill>
        <p:spPr>
          <a:xfrm>
            <a:off x="3943802" y="3429000"/>
            <a:ext cx="3187864" cy="2616334"/>
          </a:xfrm>
          <a:prstGeom prst="rect">
            <a:avLst/>
          </a:prstGeom>
        </p:spPr>
      </p:pic>
    </p:spTree>
    <p:extLst>
      <p:ext uri="{BB962C8B-B14F-4D97-AF65-F5344CB8AC3E}">
        <p14:creationId xmlns:p14="http://schemas.microsoft.com/office/powerpoint/2010/main" val="2781828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314D9-EEF9-470E-A968-4F5DB121320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AE6BEB6-7A50-4D40-A645-11369A77492A}"/>
              </a:ext>
            </a:extLst>
          </p:cNvPr>
          <p:cNvSpPr>
            <a:spLocks noGrp="1"/>
          </p:cNvSpPr>
          <p:nvPr>
            <p:ph idx="1"/>
          </p:nvPr>
        </p:nvSpPr>
        <p:spPr/>
        <p:txBody>
          <a:bodyPr/>
          <a:lstStyle/>
          <a:p>
            <a:r>
              <a:rPr lang="en-US" sz="2000" dirty="0">
                <a:latin typeface="Cambria Math" panose="02040503050406030204" pitchFamily="18" charset="0"/>
                <a:ea typeface="Cambria Math" panose="02040503050406030204" pitchFamily="18" charset="0"/>
              </a:rPr>
              <a:t>If we do Union (S3, S4), S3 and S4 will be merged into one disjoint set, S3. Now,</a:t>
            </a:r>
          </a:p>
          <a:p>
            <a:endParaRPr lang="en-US" sz="2000" dirty="0">
              <a:latin typeface="Cambria Math" panose="02040503050406030204" pitchFamily="18" charset="0"/>
              <a:ea typeface="Cambria Math" panose="02040503050406030204" pitchFamily="18" charset="0"/>
            </a:endParaRPr>
          </a:p>
          <a:p>
            <a:r>
              <a:rPr lang="en-US" sz="2000" dirty="0">
                <a:latin typeface="Cambria Math" panose="02040503050406030204" pitchFamily="18" charset="0"/>
                <a:ea typeface="Cambria Math" panose="02040503050406030204" pitchFamily="18" charset="0"/>
              </a:rPr>
              <a:t>S1 = {1}, S2 ={2}, S3 = {3, 4} and S5 = {5}.</a:t>
            </a:r>
          </a:p>
          <a:p>
            <a:endParaRPr lang="en-US" sz="2000" dirty="0">
              <a:latin typeface="Cambria Math" panose="02040503050406030204" pitchFamily="18" charset="0"/>
              <a:ea typeface="Cambria Math" panose="02040503050406030204" pitchFamily="18" charset="0"/>
            </a:endParaRPr>
          </a:p>
          <a:p>
            <a:r>
              <a:rPr lang="en-US" sz="2000" dirty="0">
                <a:latin typeface="Cambria Math" panose="02040503050406030204" pitchFamily="18" charset="0"/>
                <a:ea typeface="Cambria Math" panose="02040503050406030204" pitchFamily="18" charset="0"/>
              </a:rPr>
              <a:t>Find(4) will return representative of set S3, i.e., Find(4) = 3</a:t>
            </a:r>
            <a:endParaRPr lang="en-IN" sz="2000" dirty="0">
              <a:latin typeface="Cambria Math" panose="02040503050406030204" pitchFamily="18" charset="0"/>
              <a:ea typeface="Cambria Math" panose="02040503050406030204" pitchFamily="18" charset="0"/>
            </a:endParaRPr>
          </a:p>
        </p:txBody>
      </p:sp>
      <p:pic>
        <p:nvPicPr>
          <p:cNvPr id="5" name="Picture 4">
            <a:extLst>
              <a:ext uri="{FF2B5EF4-FFF2-40B4-BE49-F238E27FC236}">
                <a16:creationId xmlns:a16="http://schemas.microsoft.com/office/drawing/2014/main" id="{57778F61-990B-43FC-AA46-182F6B0B5B97}"/>
              </a:ext>
            </a:extLst>
          </p:cNvPr>
          <p:cNvPicPr>
            <a:picLocks noChangeAspect="1"/>
          </p:cNvPicPr>
          <p:nvPr/>
        </p:nvPicPr>
        <p:blipFill>
          <a:blip r:embed="rId2"/>
          <a:stretch>
            <a:fillRect/>
          </a:stretch>
        </p:blipFill>
        <p:spPr>
          <a:xfrm>
            <a:off x="4000575" y="3176337"/>
            <a:ext cx="3868795" cy="3275421"/>
          </a:xfrm>
          <a:prstGeom prst="rect">
            <a:avLst/>
          </a:prstGeom>
        </p:spPr>
      </p:pic>
    </p:spTree>
    <p:extLst>
      <p:ext uri="{BB962C8B-B14F-4D97-AF65-F5344CB8AC3E}">
        <p14:creationId xmlns:p14="http://schemas.microsoft.com/office/powerpoint/2010/main" val="3668760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C3148-28BA-47A8-9E07-F2549AFA093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0884953-4B3B-48E2-A099-125CE49E6762}"/>
              </a:ext>
            </a:extLst>
          </p:cNvPr>
          <p:cNvSpPr>
            <a:spLocks noGrp="1"/>
          </p:cNvSpPr>
          <p:nvPr>
            <p:ph idx="1"/>
          </p:nvPr>
        </p:nvSpPr>
        <p:spPr/>
        <p:txBody>
          <a:bodyPr/>
          <a:lstStyle/>
          <a:p>
            <a:r>
              <a:rPr lang="en-US" sz="2000" dirty="0">
                <a:latin typeface="Cambria Math" panose="02040503050406030204" pitchFamily="18" charset="0"/>
                <a:ea typeface="Cambria Math" panose="02040503050406030204" pitchFamily="18" charset="0"/>
              </a:rPr>
              <a:t>If we do Union (S1, S2), S1 and S2 will be merged into one disjoint set, S1. Now,</a:t>
            </a:r>
          </a:p>
          <a:p>
            <a:endParaRPr lang="en-US" sz="2000" dirty="0">
              <a:latin typeface="Cambria Math" panose="02040503050406030204" pitchFamily="18" charset="0"/>
              <a:ea typeface="Cambria Math" panose="02040503050406030204" pitchFamily="18" charset="0"/>
            </a:endParaRPr>
          </a:p>
          <a:p>
            <a:r>
              <a:rPr lang="en-US" sz="2000" dirty="0">
                <a:latin typeface="Cambria Math" panose="02040503050406030204" pitchFamily="18" charset="0"/>
                <a:ea typeface="Cambria Math" panose="02040503050406030204" pitchFamily="18" charset="0"/>
              </a:rPr>
              <a:t>S1 = {1, 2}, S3 = {3, 4} and S5 = {5}.</a:t>
            </a:r>
          </a:p>
          <a:p>
            <a:endParaRPr lang="en-US" sz="2000" dirty="0">
              <a:latin typeface="Cambria Math" panose="02040503050406030204" pitchFamily="18" charset="0"/>
              <a:ea typeface="Cambria Math" panose="02040503050406030204" pitchFamily="18" charset="0"/>
            </a:endParaRPr>
          </a:p>
          <a:p>
            <a:r>
              <a:rPr lang="en-US" sz="2000" dirty="0">
                <a:latin typeface="Cambria Math" panose="02040503050406030204" pitchFamily="18" charset="0"/>
                <a:ea typeface="Cambria Math" panose="02040503050406030204" pitchFamily="18" charset="0"/>
              </a:rPr>
              <a:t>Find(2) or Find(1) will return the representative of set S1, i.e., Find(2) = Find(1) = 1</a:t>
            </a:r>
            <a:endParaRPr lang="en-IN" sz="2000" dirty="0">
              <a:latin typeface="Cambria Math" panose="02040503050406030204" pitchFamily="18" charset="0"/>
              <a:ea typeface="Cambria Math" panose="02040503050406030204" pitchFamily="18" charset="0"/>
            </a:endParaRPr>
          </a:p>
        </p:txBody>
      </p:sp>
      <p:pic>
        <p:nvPicPr>
          <p:cNvPr id="5" name="Picture 4">
            <a:extLst>
              <a:ext uri="{FF2B5EF4-FFF2-40B4-BE49-F238E27FC236}">
                <a16:creationId xmlns:a16="http://schemas.microsoft.com/office/drawing/2014/main" id="{E8262E0C-D43E-4F89-8085-ECAF3D6DAFF1}"/>
              </a:ext>
            </a:extLst>
          </p:cNvPr>
          <p:cNvPicPr>
            <a:picLocks noChangeAspect="1"/>
          </p:cNvPicPr>
          <p:nvPr/>
        </p:nvPicPr>
        <p:blipFill>
          <a:blip r:embed="rId2"/>
          <a:stretch>
            <a:fillRect/>
          </a:stretch>
        </p:blipFill>
        <p:spPr>
          <a:xfrm>
            <a:off x="3926884" y="3349592"/>
            <a:ext cx="3383611" cy="2934837"/>
          </a:xfrm>
          <a:prstGeom prst="rect">
            <a:avLst/>
          </a:prstGeom>
        </p:spPr>
      </p:pic>
    </p:spTree>
    <p:extLst>
      <p:ext uri="{BB962C8B-B14F-4D97-AF65-F5344CB8AC3E}">
        <p14:creationId xmlns:p14="http://schemas.microsoft.com/office/powerpoint/2010/main" val="3026931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964CB-164A-4EFD-BBDB-355CC061161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2511613-8A43-4DCC-9F41-B84D93EFBCA9}"/>
              </a:ext>
            </a:extLst>
          </p:cNvPr>
          <p:cNvSpPr>
            <a:spLocks noGrp="1"/>
          </p:cNvSpPr>
          <p:nvPr>
            <p:ph idx="1"/>
          </p:nvPr>
        </p:nvSpPr>
        <p:spPr/>
        <p:txBody>
          <a:bodyPr/>
          <a:lstStyle/>
          <a:p>
            <a:r>
              <a:rPr lang="en-US" sz="2000" dirty="0">
                <a:latin typeface="Cambria Math" panose="02040503050406030204" pitchFamily="18" charset="0"/>
                <a:ea typeface="Cambria Math" panose="02040503050406030204" pitchFamily="18" charset="0"/>
              </a:rPr>
              <a:t>If we do Union (S3, S1), S3 and S1 will be merged into one disjoint set, S3. Now,</a:t>
            </a:r>
          </a:p>
          <a:p>
            <a:endParaRPr lang="en-US" sz="2000" dirty="0">
              <a:latin typeface="Cambria Math" panose="02040503050406030204" pitchFamily="18" charset="0"/>
              <a:ea typeface="Cambria Math" panose="02040503050406030204" pitchFamily="18" charset="0"/>
            </a:endParaRPr>
          </a:p>
          <a:p>
            <a:r>
              <a:rPr lang="en-US" sz="2000" dirty="0">
                <a:latin typeface="Cambria Math" panose="02040503050406030204" pitchFamily="18" charset="0"/>
                <a:ea typeface="Cambria Math" panose="02040503050406030204" pitchFamily="18" charset="0"/>
              </a:rPr>
              <a:t>S3 = {1, 2, 3, 4} and S5 = {5}.</a:t>
            </a:r>
            <a:endParaRPr lang="en-IN" sz="2000" dirty="0">
              <a:latin typeface="Cambria Math" panose="02040503050406030204" pitchFamily="18" charset="0"/>
              <a:ea typeface="Cambria Math" panose="02040503050406030204" pitchFamily="18" charset="0"/>
            </a:endParaRPr>
          </a:p>
        </p:txBody>
      </p:sp>
      <p:pic>
        <p:nvPicPr>
          <p:cNvPr id="5" name="Picture 4">
            <a:extLst>
              <a:ext uri="{FF2B5EF4-FFF2-40B4-BE49-F238E27FC236}">
                <a16:creationId xmlns:a16="http://schemas.microsoft.com/office/drawing/2014/main" id="{819328F6-79AD-46E0-86FA-CD65540014C2}"/>
              </a:ext>
            </a:extLst>
          </p:cNvPr>
          <p:cNvPicPr>
            <a:picLocks noChangeAspect="1"/>
          </p:cNvPicPr>
          <p:nvPr/>
        </p:nvPicPr>
        <p:blipFill>
          <a:blip r:embed="rId2"/>
          <a:stretch>
            <a:fillRect/>
          </a:stretch>
        </p:blipFill>
        <p:spPr>
          <a:xfrm>
            <a:off x="3586970" y="2515469"/>
            <a:ext cx="3930361" cy="3366546"/>
          </a:xfrm>
          <a:prstGeom prst="rect">
            <a:avLst/>
          </a:prstGeom>
        </p:spPr>
      </p:pic>
    </p:spTree>
    <p:extLst>
      <p:ext uri="{BB962C8B-B14F-4D97-AF65-F5344CB8AC3E}">
        <p14:creationId xmlns:p14="http://schemas.microsoft.com/office/powerpoint/2010/main" val="515960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F74E0-023D-41CF-B179-364493EE664C}"/>
              </a:ext>
            </a:extLst>
          </p:cNvPr>
          <p:cNvSpPr>
            <a:spLocks noGrp="1"/>
          </p:cNvSpPr>
          <p:nvPr>
            <p:ph type="title"/>
          </p:nvPr>
        </p:nvSpPr>
        <p:spPr/>
        <p:txBody>
          <a:bodyPr/>
          <a:lstStyle/>
          <a:p>
            <a:r>
              <a:rPr lang="en-IN" dirty="0"/>
              <a:t>Implementation</a:t>
            </a:r>
          </a:p>
        </p:txBody>
      </p:sp>
      <p:pic>
        <p:nvPicPr>
          <p:cNvPr id="5" name="Content Placeholder 4">
            <a:extLst>
              <a:ext uri="{FF2B5EF4-FFF2-40B4-BE49-F238E27FC236}">
                <a16:creationId xmlns:a16="http://schemas.microsoft.com/office/drawing/2014/main" id="{A3FAECC7-0FD2-40BB-ABE4-7BA4E1B72C61}"/>
              </a:ext>
            </a:extLst>
          </p:cNvPr>
          <p:cNvPicPr>
            <a:picLocks noGrp="1" noChangeAspect="1"/>
          </p:cNvPicPr>
          <p:nvPr>
            <p:ph idx="1"/>
          </p:nvPr>
        </p:nvPicPr>
        <p:blipFill>
          <a:blip r:embed="rId2"/>
          <a:stretch>
            <a:fillRect/>
          </a:stretch>
        </p:blipFill>
        <p:spPr>
          <a:xfrm>
            <a:off x="194437" y="878769"/>
            <a:ext cx="6823441" cy="5570157"/>
          </a:xfrm>
        </p:spPr>
      </p:pic>
    </p:spTree>
    <p:extLst>
      <p:ext uri="{BB962C8B-B14F-4D97-AF65-F5344CB8AC3E}">
        <p14:creationId xmlns:p14="http://schemas.microsoft.com/office/powerpoint/2010/main" val="268397411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31241-64BA-411D-A42B-E687574CD556}"/>
              </a:ext>
            </a:extLst>
          </p:cNvPr>
          <p:cNvSpPr>
            <a:spLocks noGrp="1"/>
          </p:cNvSpPr>
          <p:nvPr>
            <p:ph type="title"/>
          </p:nvPr>
        </p:nvSpPr>
        <p:spPr/>
        <p:txBody>
          <a:bodyPr/>
          <a:lstStyle/>
          <a:p>
            <a:r>
              <a:rPr lang="en-US" dirty="0"/>
              <a:t>Complexity analysis</a:t>
            </a:r>
            <a:endParaRPr lang="en-IN" dirty="0"/>
          </a:p>
        </p:txBody>
      </p:sp>
      <p:sp>
        <p:nvSpPr>
          <p:cNvPr id="3" name="Content Placeholder 2">
            <a:extLst>
              <a:ext uri="{FF2B5EF4-FFF2-40B4-BE49-F238E27FC236}">
                <a16:creationId xmlns:a16="http://schemas.microsoft.com/office/drawing/2014/main" id="{6E39FE30-7FA5-4644-8DEB-6553757695CE}"/>
              </a:ext>
            </a:extLst>
          </p:cNvPr>
          <p:cNvSpPr>
            <a:spLocks noGrp="1"/>
          </p:cNvSpPr>
          <p:nvPr>
            <p:ph idx="1"/>
          </p:nvPr>
        </p:nvSpPr>
        <p:spPr/>
        <p:txBody>
          <a:bodyPr/>
          <a:lstStyle/>
          <a:p>
            <a:r>
              <a:rPr lang="en-US" dirty="0">
                <a:solidFill>
                  <a:srgbClr val="FF0000"/>
                </a:solidFill>
              </a:rPr>
              <a:t>Find</a:t>
            </a:r>
            <a:r>
              <a:rPr lang="en-US" dirty="0"/>
              <a:t> – The time complexity of the Find operation is  O(n) in the worst case (consider the case when all the elements are in the same set and we need to find the parent of a given element then we may need to make n recursive calls).</a:t>
            </a:r>
          </a:p>
          <a:p>
            <a:r>
              <a:rPr lang="en-US" dirty="0">
                <a:solidFill>
                  <a:srgbClr val="FF0000"/>
                </a:solidFill>
              </a:rPr>
              <a:t>Union</a:t>
            </a:r>
            <a:r>
              <a:rPr lang="en-US" dirty="0"/>
              <a:t> - For the union query (say Union(u, v)) we need to find the parents of u and v making its time complexity O(n).</a:t>
            </a:r>
          </a:p>
          <a:p>
            <a:endParaRPr lang="en-US" dirty="0"/>
          </a:p>
          <a:p>
            <a:r>
              <a:rPr lang="en-US" dirty="0"/>
              <a:t>This approach is not much efficient, so to get the full-fledged advantage of Disjoint Set Union we will look for some minor modifications that can make our code efficient.</a:t>
            </a:r>
            <a:endParaRPr lang="en-IN" dirty="0"/>
          </a:p>
        </p:txBody>
      </p:sp>
    </p:spTree>
    <p:extLst>
      <p:ext uri="{BB962C8B-B14F-4D97-AF65-F5344CB8AC3E}">
        <p14:creationId xmlns:p14="http://schemas.microsoft.com/office/powerpoint/2010/main" val="19691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D44AF-DEE5-4EF7-97A4-5FC447E536F6}"/>
              </a:ext>
            </a:extLst>
          </p:cNvPr>
          <p:cNvSpPr>
            <a:spLocks noGrp="1"/>
          </p:cNvSpPr>
          <p:nvPr>
            <p:ph type="title"/>
          </p:nvPr>
        </p:nvSpPr>
        <p:spPr/>
        <p:txBody>
          <a:bodyPr/>
          <a:lstStyle/>
          <a:p>
            <a:r>
              <a:rPr lang="en-IN" dirty="0"/>
              <a:t>Optimization-1: Path compression</a:t>
            </a:r>
          </a:p>
        </p:txBody>
      </p:sp>
      <p:sp>
        <p:nvSpPr>
          <p:cNvPr id="3" name="Content Placeholder 2">
            <a:extLst>
              <a:ext uri="{FF2B5EF4-FFF2-40B4-BE49-F238E27FC236}">
                <a16:creationId xmlns:a16="http://schemas.microsoft.com/office/drawing/2014/main" id="{02038C76-4FEC-47E6-AAE5-BC95CCE5C50D}"/>
              </a:ext>
            </a:extLst>
          </p:cNvPr>
          <p:cNvSpPr>
            <a:spLocks noGrp="1"/>
          </p:cNvSpPr>
          <p:nvPr>
            <p:ph idx="1"/>
          </p:nvPr>
        </p:nvSpPr>
        <p:spPr/>
        <p:txBody>
          <a:bodyPr/>
          <a:lstStyle/>
          <a:p>
            <a:r>
              <a:rPr lang="en-US" dirty="0"/>
              <a:t>Let u be a node and p be its parent. When we are finding parent of u recursively, we are also finding parent of all those intermediate nodes which we visit in the path u → p.</a:t>
            </a:r>
          </a:p>
          <a:p>
            <a:r>
              <a:rPr lang="en-US" dirty="0"/>
              <a:t>The trick here is to shorten the path to the parent of all those intermediate nodes by directly connecting them to the leader of the set.</a:t>
            </a:r>
            <a:endParaRPr lang="en-IN" dirty="0"/>
          </a:p>
        </p:txBody>
      </p:sp>
      <p:pic>
        <p:nvPicPr>
          <p:cNvPr id="5" name="Picture 4">
            <a:extLst>
              <a:ext uri="{FF2B5EF4-FFF2-40B4-BE49-F238E27FC236}">
                <a16:creationId xmlns:a16="http://schemas.microsoft.com/office/drawing/2014/main" id="{D4822EC8-0161-4008-975E-0928BA453F85}"/>
              </a:ext>
            </a:extLst>
          </p:cNvPr>
          <p:cNvPicPr>
            <a:picLocks noChangeAspect="1"/>
          </p:cNvPicPr>
          <p:nvPr/>
        </p:nvPicPr>
        <p:blipFill>
          <a:blip r:embed="rId2"/>
          <a:stretch>
            <a:fillRect/>
          </a:stretch>
        </p:blipFill>
        <p:spPr>
          <a:xfrm>
            <a:off x="5772753" y="2402228"/>
            <a:ext cx="6288066" cy="3728601"/>
          </a:xfrm>
          <a:prstGeom prst="rect">
            <a:avLst/>
          </a:prstGeom>
        </p:spPr>
      </p:pic>
      <p:sp>
        <p:nvSpPr>
          <p:cNvPr id="7" name="TextBox 6">
            <a:extLst>
              <a:ext uri="{FF2B5EF4-FFF2-40B4-BE49-F238E27FC236}">
                <a16:creationId xmlns:a16="http://schemas.microsoft.com/office/drawing/2014/main" id="{5815A06D-5BF8-44F8-A3AC-D98AB12F0BBE}"/>
              </a:ext>
            </a:extLst>
          </p:cNvPr>
          <p:cNvSpPr txBox="1"/>
          <p:nvPr/>
        </p:nvSpPr>
        <p:spPr>
          <a:xfrm>
            <a:off x="0" y="3199680"/>
            <a:ext cx="6746242" cy="1200329"/>
          </a:xfrm>
          <a:prstGeom prst="rect">
            <a:avLst/>
          </a:prstGeom>
          <a:noFill/>
        </p:spPr>
        <p:txBody>
          <a:bodyPr wrap="square">
            <a:spAutoFit/>
          </a:bodyPr>
          <a:lstStyle/>
          <a:p>
            <a:r>
              <a:rPr lang="en-US" sz="2400" b="0" i="0" dirty="0">
                <a:solidFill>
                  <a:srgbClr val="FF0000"/>
                </a:solidFill>
                <a:effectLst/>
                <a:latin typeface="__Source_Sans_Pro_fea366"/>
              </a:rPr>
              <a:t>You can see that in the process of finding the parent of node </a:t>
            </a:r>
            <a:r>
              <a:rPr lang="en-US" sz="2400" b="0" i="1" dirty="0">
                <a:solidFill>
                  <a:srgbClr val="FF0000"/>
                </a:solidFill>
                <a:effectLst/>
                <a:latin typeface="__Source_Sans_Pro_fea366"/>
              </a:rPr>
              <a:t>8</a:t>
            </a:r>
            <a:r>
              <a:rPr lang="en-US" sz="2400" b="0" i="0" dirty="0">
                <a:solidFill>
                  <a:srgbClr val="FF0000"/>
                </a:solidFill>
                <a:effectLst/>
                <a:latin typeface="__Source_Sans_Pro_fea366"/>
              </a:rPr>
              <a:t> we have attached all the intermediate nodes to </a:t>
            </a:r>
            <a:r>
              <a:rPr lang="en-US" sz="2400" b="0" i="1" dirty="0">
                <a:solidFill>
                  <a:srgbClr val="FF0000"/>
                </a:solidFill>
                <a:effectLst/>
                <a:latin typeface="__Source_Sans_Pro_fea366"/>
              </a:rPr>
              <a:t>1</a:t>
            </a:r>
            <a:r>
              <a:rPr lang="en-US" sz="2400" b="0" i="0" dirty="0">
                <a:solidFill>
                  <a:srgbClr val="FF0000"/>
                </a:solidFill>
                <a:effectLst/>
                <a:latin typeface="__Source_Sans_Pro_fea366"/>
              </a:rPr>
              <a:t>.</a:t>
            </a:r>
            <a:endParaRPr lang="en-IN" sz="2400" dirty="0">
              <a:solidFill>
                <a:srgbClr val="FF0000"/>
              </a:solidFill>
            </a:endParaRPr>
          </a:p>
        </p:txBody>
      </p:sp>
    </p:spTree>
    <p:extLst>
      <p:ext uri="{BB962C8B-B14F-4D97-AF65-F5344CB8AC3E}">
        <p14:creationId xmlns:p14="http://schemas.microsoft.com/office/powerpoint/2010/main" val="3506461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F9E9A-8591-4B52-A2CD-6127CEAFE14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2CDDBA-9508-4805-B921-BA0385B3FD57}"/>
              </a:ext>
            </a:extLst>
          </p:cNvPr>
          <p:cNvSpPr>
            <a:spLocks noGrp="1"/>
          </p:cNvSpPr>
          <p:nvPr>
            <p:ph idx="1"/>
          </p:nvPr>
        </p:nvSpPr>
        <p:spPr/>
        <p:txBody>
          <a:bodyPr/>
          <a:lstStyle/>
          <a:p>
            <a:r>
              <a:rPr lang="en-US" dirty="0"/>
              <a:t>To achieve this, we just need to modify our find function a bit and that minor modification is - During the recursive call of finding parent of parent[u] we will also pass the result to parent[u] (please refer to the last line of underlying pseudocode for better understanding)</a:t>
            </a:r>
          </a:p>
          <a:p>
            <a:endParaRPr lang="en-US" b="0" i="0" dirty="0">
              <a:solidFill>
                <a:srgbClr val="61738E"/>
              </a:solidFill>
              <a:effectLst/>
              <a:latin typeface="__Source_Sans_Pro_fea366"/>
            </a:endParaRPr>
          </a:p>
          <a:p>
            <a:endParaRPr lang="en-US" dirty="0">
              <a:solidFill>
                <a:srgbClr val="61738E"/>
              </a:solidFill>
              <a:latin typeface="__Source_Sans_Pro_fea366"/>
            </a:endParaRPr>
          </a:p>
          <a:p>
            <a:endParaRPr lang="en-US" b="0" i="0" dirty="0">
              <a:solidFill>
                <a:srgbClr val="61738E"/>
              </a:solidFill>
              <a:effectLst/>
              <a:latin typeface="__Source_Sans_Pro_fea366"/>
            </a:endParaRPr>
          </a:p>
          <a:p>
            <a:endParaRPr lang="en-US" dirty="0">
              <a:solidFill>
                <a:srgbClr val="61738E"/>
              </a:solidFill>
              <a:latin typeface="__Source_Sans_Pro_fea366"/>
            </a:endParaRPr>
          </a:p>
          <a:p>
            <a:endParaRPr lang="en-US" b="0" i="0" dirty="0">
              <a:solidFill>
                <a:srgbClr val="61738E"/>
              </a:solidFill>
              <a:effectLst/>
              <a:latin typeface="__Source_Sans_Pro_fea366"/>
            </a:endParaRPr>
          </a:p>
          <a:p>
            <a:r>
              <a:rPr lang="en-US" dirty="0"/>
              <a:t>This is firstly finding the root of the set and in the process of stack unwinding, we are attaching all the intermediate nodes to their representative. Yes by modifying that line we reduced the time complexity from O(n) to O(log(n))</a:t>
            </a:r>
            <a:endParaRPr lang="en-IN" dirty="0"/>
          </a:p>
        </p:txBody>
      </p:sp>
      <p:sp>
        <p:nvSpPr>
          <p:cNvPr id="5" name="Rectangle 2">
            <a:extLst>
              <a:ext uri="{FF2B5EF4-FFF2-40B4-BE49-F238E27FC236}">
                <a16:creationId xmlns:a16="http://schemas.microsoft.com/office/drawing/2014/main" id="{A45BC425-833F-48B1-BFBF-6DEEC29E04E1}"/>
              </a:ext>
            </a:extLst>
          </p:cNvPr>
          <p:cNvSpPr>
            <a:spLocks noChangeArrowheads="1"/>
          </p:cNvSpPr>
          <p:nvPr/>
        </p:nvSpPr>
        <p:spPr bwMode="auto">
          <a:xfrm>
            <a:off x="494095" y="2499844"/>
            <a:ext cx="5823284" cy="1323439"/>
          </a:xfrm>
          <a:prstGeom prst="rect">
            <a:avLst/>
          </a:prstGeom>
          <a:solidFill>
            <a:schemeClr val="bg1">
              <a:lumMod val="8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ourier New" panose="02070309020205020404" pitchFamily="49" charset="0"/>
              </a:rPr>
              <a:t>Find(u):</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ourier New" panose="02070309020205020404" pitchFamily="49" charset="0"/>
              </a:rPr>
              <a:t>    If(parent[u]==u):</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ourier New" panose="02070309020205020404" pitchFamily="49" charset="0"/>
              </a:rPr>
              <a:t>        return u</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ourier New" panose="02070309020205020404" pitchFamily="49" charset="0"/>
              </a:rPr>
              <a:t>    </a:t>
            </a:r>
            <a:r>
              <a:rPr kumimoji="0" lang="en-US" altLang="en-US" sz="2000" b="1" i="0" u="none" strike="noStrike" cap="none" normalizeH="0" baseline="0" dirty="0">
                <a:ln>
                  <a:noFill/>
                </a:ln>
                <a:solidFill>
                  <a:srgbClr val="C00000"/>
                </a:solidFill>
                <a:effectLst/>
                <a:latin typeface="Courier New" panose="02070309020205020404" pitchFamily="49" charset="0"/>
              </a:rPr>
              <a:t>return parent[u]=Find(parent[u])</a:t>
            </a:r>
          </a:p>
        </p:txBody>
      </p:sp>
    </p:spTree>
    <p:extLst>
      <p:ext uri="{BB962C8B-B14F-4D97-AF65-F5344CB8AC3E}">
        <p14:creationId xmlns:p14="http://schemas.microsoft.com/office/powerpoint/2010/main" val="327990847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83BD4-2A0B-40F9-B8C3-2C177F625FD4}"/>
              </a:ext>
            </a:extLst>
          </p:cNvPr>
          <p:cNvSpPr>
            <a:spLocks noGrp="1"/>
          </p:cNvSpPr>
          <p:nvPr>
            <p:ph type="title"/>
          </p:nvPr>
        </p:nvSpPr>
        <p:spPr/>
        <p:txBody>
          <a:bodyPr/>
          <a:lstStyle/>
          <a:p>
            <a:r>
              <a:rPr lang="en-IN" dirty="0"/>
              <a:t>Optimization-2: Union by size</a:t>
            </a:r>
          </a:p>
        </p:txBody>
      </p:sp>
      <p:sp>
        <p:nvSpPr>
          <p:cNvPr id="3" name="Content Placeholder 2">
            <a:extLst>
              <a:ext uri="{FF2B5EF4-FFF2-40B4-BE49-F238E27FC236}">
                <a16:creationId xmlns:a16="http://schemas.microsoft.com/office/drawing/2014/main" id="{5BD9D0DE-970C-464B-B21A-FD83AD6FF144}"/>
              </a:ext>
            </a:extLst>
          </p:cNvPr>
          <p:cNvSpPr>
            <a:spLocks noGrp="1"/>
          </p:cNvSpPr>
          <p:nvPr>
            <p:ph idx="1"/>
          </p:nvPr>
        </p:nvSpPr>
        <p:spPr/>
        <p:txBody>
          <a:bodyPr/>
          <a:lstStyle/>
          <a:p>
            <a:r>
              <a:rPr lang="en-US" dirty="0"/>
              <a:t>In this optimization we will change the </a:t>
            </a:r>
            <a:r>
              <a:rPr lang="en-US" dirty="0" err="1"/>
              <a:t>union_set</a:t>
            </a:r>
            <a:r>
              <a:rPr lang="en-US" dirty="0"/>
              <a:t> operation. To be precise, we will change which tree gets attached to the other one. In the naive implementation the second tree always got attached to the first one. In practice that can lead to trees containing chains of length  O(n) . </a:t>
            </a:r>
            <a:endParaRPr lang="en-IN" dirty="0"/>
          </a:p>
        </p:txBody>
      </p:sp>
      <p:pic>
        <p:nvPicPr>
          <p:cNvPr id="5" name="Picture 4">
            <a:extLst>
              <a:ext uri="{FF2B5EF4-FFF2-40B4-BE49-F238E27FC236}">
                <a16:creationId xmlns:a16="http://schemas.microsoft.com/office/drawing/2014/main" id="{E501F234-9E8B-422E-B21D-F4BC1016B18A}"/>
              </a:ext>
            </a:extLst>
          </p:cNvPr>
          <p:cNvPicPr>
            <a:picLocks noChangeAspect="1"/>
          </p:cNvPicPr>
          <p:nvPr/>
        </p:nvPicPr>
        <p:blipFill>
          <a:blip r:embed="rId2"/>
          <a:stretch>
            <a:fillRect/>
          </a:stretch>
        </p:blipFill>
        <p:spPr>
          <a:xfrm>
            <a:off x="0" y="2271563"/>
            <a:ext cx="6339226" cy="4445691"/>
          </a:xfrm>
          <a:prstGeom prst="rect">
            <a:avLst/>
          </a:prstGeom>
        </p:spPr>
      </p:pic>
      <p:sp>
        <p:nvSpPr>
          <p:cNvPr id="7" name="TextBox 6">
            <a:extLst>
              <a:ext uri="{FF2B5EF4-FFF2-40B4-BE49-F238E27FC236}">
                <a16:creationId xmlns:a16="http://schemas.microsoft.com/office/drawing/2014/main" id="{16762538-4A22-4874-A0AE-C5F6BADF0317}"/>
              </a:ext>
            </a:extLst>
          </p:cNvPr>
          <p:cNvSpPr txBox="1"/>
          <p:nvPr/>
        </p:nvSpPr>
        <p:spPr>
          <a:xfrm>
            <a:off x="6470404" y="2271563"/>
            <a:ext cx="5436047" cy="923330"/>
          </a:xfrm>
          <a:prstGeom prst="rect">
            <a:avLst/>
          </a:prstGeom>
          <a:noFill/>
        </p:spPr>
        <p:txBody>
          <a:bodyPr wrap="square">
            <a:spAutoFit/>
          </a:bodyPr>
          <a:lstStyle/>
          <a:p>
            <a:r>
              <a:rPr lang="en-US" dirty="0"/>
              <a:t>With this optimization we will avoid this by choosing very carefully which tree gets attached.</a:t>
            </a:r>
          </a:p>
          <a:p>
            <a:r>
              <a:rPr lang="en-US" dirty="0"/>
              <a:t>Time complexity: O(</a:t>
            </a:r>
            <a:r>
              <a:rPr lang="en-US" dirty="0" err="1"/>
              <a:t>logn</a:t>
            </a:r>
            <a:r>
              <a:rPr lang="en-US" dirty="0"/>
              <a:t>)</a:t>
            </a:r>
            <a:endParaRPr lang="en-IN" dirty="0"/>
          </a:p>
        </p:txBody>
      </p:sp>
    </p:spTree>
    <p:extLst>
      <p:ext uri="{BB962C8B-B14F-4D97-AF65-F5344CB8AC3E}">
        <p14:creationId xmlns:p14="http://schemas.microsoft.com/office/powerpoint/2010/main" val="88035864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87D81-07B5-4246-A916-68541B1B790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FA294B5-7BFF-4D15-A60E-21C1E670886E}"/>
              </a:ext>
            </a:extLst>
          </p:cNvPr>
          <p:cNvSpPr>
            <a:spLocks noGrp="1"/>
          </p:cNvSpPr>
          <p:nvPr>
            <p:ph idx="1"/>
          </p:nvPr>
        </p:nvSpPr>
        <p:spPr/>
        <p:txBody>
          <a:bodyPr/>
          <a:lstStyle/>
          <a:p>
            <a:r>
              <a:rPr lang="en-US" dirty="0"/>
              <a:t> if we combine both optimizations - </a:t>
            </a:r>
            <a:r>
              <a:rPr lang="en-US" dirty="0">
                <a:solidFill>
                  <a:srgbClr val="C00000"/>
                </a:solidFill>
              </a:rPr>
              <a:t>path compression</a:t>
            </a:r>
            <a:r>
              <a:rPr lang="en-US" dirty="0"/>
              <a:t> with </a:t>
            </a:r>
            <a:r>
              <a:rPr lang="en-US" dirty="0">
                <a:solidFill>
                  <a:srgbClr val="C00000"/>
                </a:solidFill>
              </a:rPr>
              <a:t>union by size </a:t>
            </a:r>
            <a:r>
              <a:rPr lang="en-US" dirty="0"/>
              <a:t>- we will reach nearly constant time queries. It turns out, that the final amortized time complexity is  </a:t>
            </a:r>
            <a:r>
              <a:rPr lang="en-US" dirty="0">
                <a:solidFill>
                  <a:srgbClr val="C00000"/>
                </a:solidFill>
              </a:rPr>
              <a:t>O(</a:t>
            </a:r>
            <a:r>
              <a:rPr lang="el-GR" dirty="0">
                <a:solidFill>
                  <a:srgbClr val="C00000"/>
                </a:solidFill>
                <a:latin typeface="Calibri" panose="020F0502020204030204" pitchFamily="34" charset="0"/>
                <a:cs typeface="Calibri" panose="020F0502020204030204" pitchFamily="34" charset="0"/>
              </a:rPr>
              <a:t>α</a:t>
            </a:r>
            <a:r>
              <a:rPr lang="en-US" dirty="0">
                <a:solidFill>
                  <a:srgbClr val="C00000"/>
                </a:solidFill>
              </a:rPr>
              <a:t>(n)) </a:t>
            </a:r>
            <a:r>
              <a:rPr lang="en-US" dirty="0"/>
              <a:t>, where </a:t>
            </a:r>
            <a:r>
              <a:rPr lang="en-US" dirty="0">
                <a:solidFill>
                  <a:srgbClr val="C00000"/>
                </a:solidFill>
              </a:rPr>
              <a:t> </a:t>
            </a:r>
            <a:r>
              <a:rPr lang="el-GR" dirty="0">
                <a:solidFill>
                  <a:srgbClr val="C00000"/>
                </a:solidFill>
                <a:latin typeface="Calibri" panose="020F0502020204030204" pitchFamily="34" charset="0"/>
                <a:cs typeface="Calibri" panose="020F0502020204030204" pitchFamily="34" charset="0"/>
              </a:rPr>
              <a:t>α</a:t>
            </a:r>
            <a:r>
              <a:rPr lang="en-US" dirty="0">
                <a:solidFill>
                  <a:srgbClr val="C00000"/>
                </a:solidFill>
              </a:rPr>
              <a:t>(n)  </a:t>
            </a:r>
            <a:r>
              <a:rPr lang="en-US" dirty="0"/>
              <a:t>is the inverse Ackermann function, which grows very slowly. In fact it grows so slowly, that it doesn't exceed  4  for all reasonable  n (approximately  n &lt; 10</a:t>
            </a:r>
            <a:r>
              <a:rPr lang="en-US" baseline="30000" dirty="0"/>
              <a:t>600</a:t>
            </a:r>
            <a:r>
              <a:rPr lang="en-US" dirty="0"/>
              <a:t> ).</a:t>
            </a:r>
          </a:p>
          <a:p>
            <a:endParaRPr lang="en-US" dirty="0"/>
          </a:p>
          <a:p>
            <a:r>
              <a:rPr lang="en-US" dirty="0"/>
              <a:t>Amortized complexity is the total time per operation, evaluated over a sequence of multiple operations. The idea is to guarantee the total time of the entire sequence, while allowing single operations to be much slower then the amortized time. E.g. in our case a single call might take  log n  in the worst case, but if we do  m  such calls back to back we will end up with an average time of  </a:t>
            </a:r>
            <a:r>
              <a:rPr lang="el-GR" dirty="0">
                <a:latin typeface="Calibri" panose="020F0502020204030204" pitchFamily="34" charset="0"/>
                <a:cs typeface="Calibri" panose="020F0502020204030204" pitchFamily="34" charset="0"/>
              </a:rPr>
              <a:t> </a:t>
            </a:r>
            <a:r>
              <a:rPr lang="el-GR" dirty="0">
                <a:solidFill>
                  <a:srgbClr val="C00000"/>
                </a:solidFill>
                <a:latin typeface="Calibri" panose="020F0502020204030204" pitchFamily="34" charset="0"/>
                <a:cs typeface="Calibri" panose="020F0502020204030204" pitchFamily="34" charset="0"/>
              </a:rPr>
              <a:t>α</a:t>
            </a:r>
            <a:r>
              <a:rPr lang="en-US" dirty="0">
                <a:solidFill>
                  <a:srgbClr val="C00000"/>
                </a:solidFill>
              </a:rPr>
              <a:t>(n)  </a:t>
            </a:r>
          </a:p>
        </p:txBody>
      </p:sp>
    </p:spTree>
    <p:extLst>
      <p:ext uri="{BB962C8B-B14F-4D97-AF65-F5344CB8AC3E}">
        <p14:creationId xmlns:p14="http://schemas.microsoft.com/office/powerpoint/2010/main" val="703966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B2971-0B07-4A32-A12F-7335B8FEE888}"/>
              </a:ext>
            </a:extLst>
          </p:cNvPr>
          <p:cNvSpPr>
            <a:spLocks noGrp="1"/>
          </p:cNvSpPr>
          <p:nvPr>
            <p:ph type="title"/>
          </p:nvPr>
        </p:nvSpPr>
        <p:spPr/>
        <p:txBody>
          <a:bodyPr>
            <a:normAutofit/>
          </a:bodyPr>
          <a:lstStyle/>
          <a:p>
            <a:r>
              <a:rPr lang="en-IN" dirty="0"/>
              <a:t>Applications of Disjoint Set</a:t>
            </a:r>
          </a:p>
        </p:txBody>
      </p:sp>
      <p:sp>
        <p:nvSpPr>
          <p:cNvPr id="3" name="Content Placeholder 2">
            <a:extLst>
              <a:ext uri="{FF2B5EF4-FFF2-40B4-BE49-F238E27FC236}">
                <a16:creationId xmlns:a16="http://schemas.microsoft.com/office/drawing/2014/main" id="{A5189362-1D3C-4E7C-9B87-346B675C340C}"/>
              </a:ext>
            </a:extLst>
          </p:cNvPr>
          <p:cNvSpPr>
            <a:spLocks noGrp="1"/>
          </p:cNvSpPr>
          <p:nvPr>
            <p:ph idx="1"/>
          </p:nvPr>
        </p:nvSpPr>
        <p:spPr/>
        <p:txBody>
          <a:bodyPr/>
          <a:lstStyle/>
          <a:p>
            <a:r>
              <a:rPr lang="en-US" dirty="0"/>
              <a:t>It is used to find Cycle in a graph as in Kruskal's algorithm, DSUs are used.</a:t>
            </a:r>
          </a:p>
          <a:p>
            <a:r>
              <a:rPr lang="en-US" dirty="0"/>
              <a:t>Checking for connected components in a graph.</a:t>
            </a:r>
          </a:p>
          <a:p>
            <a:r>
              <a:rPr lang="en-US" dirty="0"/>
              <a:t>Searching for connected components in an image.</a:t>
            </a:r>
            <a:endParaRPr lang="en-IN" dirty="0"/>
          </a:p>
        </p:txBody>
      </p:sp>
    </p:spTree>
    <p:extLst>
      <p:ext uri="{BB962C8B-B14F-4D97-AF65-F5344CB8AC3E}">
        <p14:creationId xmlns:p14="http://schemas.microsoft.com/office/powerpoint/2010/main" val="259780582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14E2F-6DF1-44D1-BF65-F199D17663B5}"/>
              </a:ext>
            </a:extLst>
          </p:cNvPr>
          <p:cNvSpPr>
            <a:spLocks noGrp="1"/>
          </p:cNvSpPr>
          <p:nvPr>
            <p:ph type="title"/>
          </p:nvPr>
        </p:nvSpPr>
        <p:spPr/>
        <p:txBody>
          <a:bodyPr/>
          <a:lstStyle/>
          <a:p>
            <a:r>
              <a:rPr lang="en-IN" dirty="0"/>
              <a:t>Median-of-median finding Algorithm</a:t>
            </a:r>
          </a:p>
        </p:txBody>
      </p:sp>
      <p:sp>
        <p:nvSpPr>
          <p:cNvPr id="3" name="Content Placeholder 2">
            <a:extLst>
              <a:ext uri="{FF2B5EF4-FFF2-40B4-BE49-F238E27FC236}">
                <a16:creationId xmlns:a16="http://schemas.microsoft.com/office/drawing/2014/main" id="{95811F2A-5C0F-44C8-B768-AAE369B16126}"/>
              </a:ext>
            </a:extLst>
          </p:cNvPr>
          <p:cNvSpPr>
            <a:spLocks noGrp="1"/>
          </p:cNvSpPr>
          <p:nvPr>
            <p:ph idx="1"/>
          </p:nvPr>
        </p:nvSpPr>
        <p:spPr/>
        <p:txBody>
          <a:bodyPr/>
          <a:lstStyle/>
          <a:p>
            <a:r>
              <a:rPr lang="en-US" b="1" dirty="0">
                <a:latin typeface="Cambria" panose="02040503050406030204" pitchFamily="18" charset="0"/>
                <a:ea typeface="Cambria" panose="02040503050406030204" pitchFamily="18" charset="0"/>
              </a:rPr>
              <a:t>Median-finding</a:t>
            </a:r>
            <a:r>
              <a:rPr lang="en-US" dirty="0">
                <a:latin typeface="Cambria" panose="02040503050406030204" pitchFamily="18" charset="0"/>
                <a:ea typeface="Cambria" panose="02040503050406030204" pitchFamily="18" charset="0"/>
              </a:rPr>
              <a:t> algorithms (also called linear-time selection algorithms) use a divide and conquer strategy to efficiently compute the </a:t>
            </a:r>
            <a:r>
              <a:rPr lang="en-US" b="1" dirty="0" err="1">
                <a:solidFill>
                  <a:srgbClr val="C00000"/>
                </a:solidFill>
                <a:latin typeface="Cambria" panose="02040503050406030204" pitchFamily="18" charset="0"/>
                <a:ea typeface="Cambria" panose="02040503050406030204" pitchFamily="18" charset="0"/>
              </a:rPr>
              <a:t>i</a:t>
            </a:r>
            <a:r>
              <a:rPr lang="en-US" b="1" baseline="30000" dirty="0" err="1">
                <a:solidFill>
                  <a:srgbClr val="C00000"/>
                </a:solidFill>
                <a:latin typeface="Cambria" panose="02040503050406030204" pitchFamily="18" charset="0"/>
                <a:ea typeface="Cambria" panose="02040503050406030204" pitchFamily="18" charset="0"/>
              </a:rPr>
              <a:t>th</a:t>
            </a:r>
            <a:r>
              <a:rPr lang="en-US" dirty="0">
                <a:latin typeface="Cambria" panose="02040503050406030204" pitchFamily="18" charset="0"/>
                <a:ea typeface="Cambria" panose="02040503050406030204" pitchFamily="18" charset="0"/>
              </a:rPr>
              <a:t> smallest number in an unsorted list of size n, where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 is an integer </a:t>
            </a:r>
            <a:r>
              <a:rPr lang="en-US" b="1" dirty="0">
                <a:solidFill>
                  <a:srgbClr val="C00000"/>
                </a:solidFill>
                <a:latin typeface="Cambria" panose="02040503050406030204" pitchFamily="18" charset="0"/>
                <a:ea typeface="Cambria" panose="02040503050406030204" pitchFamily="18" charset="0"/>
              </a:rPr>
              <a:t>between 1 and n.</a:t>
            </a:r>
          </a:p>
          <a:p>
            <a:endParaRPr lang="en-US" b="1" dirty="0">
              <a:solidFill>
                <a:srgbClr val="C00000"/>
              </a:solidFill>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Given an array A = [1,...,n] of </a:t>
            </a:r>
            <a:r>
              <a:rPr lang="en-US" b="1" dirty="0">
                <a:latin typeface="Cambria" panose="02040503050406030204" pitchFamily="18" charset="0"/>
                <a:ea typeface="Cambria" panose="02040503050406030204" pitchFamily="18" charset="0"/>
              </a:rPr>
              <a:t>n </a:t>
            </a:r>
            <a:r>
              <a:rPr lang="en-US" dirty="0">
                <a:latin typeface="Cambria" panose="02040503050406030204" pitchFamily="18" charset="0"/>
                <a:ea typeface="Cambria" panose="02040503050406030204" pitchFamily="18" charset="0"/>
              </a:rPr>
              <a:t>numbers and an index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 where 1 ≤ </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 ≤ n, find the </a:t>
            </a:r>
            <a:r>
              <a:rPr lang="en-US" dirty="0" err="1">
                <a:latin typeface="Cambria" panose="02040503050406030204" pitchFamily="18" charset="0"/>
                <a:ea typeface="Cambria" panose="02040503050406030204" pitchFamily="18" charset="0"/>
              </a:rPr>
              <a:t>i</a:t>
            </a:r>
            <a:r>
              <a:rPr lang="en-US" baseline="30000" dirty="0" err="1">
                <a:latin typeface="Cambria" panose="02040503050406030204" pitchFamily="18" charset="0"/>
                <a:ea typeface="Cambria" panose="02040503050406030204" pitchFamily="18" charset="0"/>
              </a:rPr>
              <a:t>th</a:t>
            </a:r>
            <a:r>
              <a:rPr lang="en-US" dirty="0">
                <a:latin typeface="Cambria" panose="02040503050406030204" pitchFamily="18" charset="0"/>
                <a:ea typeface="Cambria" panose="02040503050406030204" pitchFamily="18" charset="0"/>
              </a:rPr>
              <a:t>  smallest element of A. {n/2</a:t>
            </a:r>
            <a:r>
              <a:rPr lang="en-US" baseline="30000" dirty="0">
                <a:latin typeface="Cambria" panose="02040503050406030204" pitchFamily="18" charset="0"/>
                <a:ea typeface="Cambria" panose="02040503050406030204" pitchFamily="18" charset="0"/>
              </a:rPr>
              <a:t>th</a:t>
            </a:r>
            <a:r>
              <a:rPr lang="en-US" dirty="0">
                <a:latin typeface="Cambria" panose="02040503050406030204" pitchFamily="18" charset="0"/>
                <a:ea typeface="Cambria" panose="02040503050406030204" pitchFamily="18" charset="0"/>
              </a:rPr>
              <a:t> element}.</a:t>
            </a:r>
          </a:p>
          <a:p>
            <a:endParaRPr lang="en-US" dirty="0">
              <a:latin typeface="Cambria" panose="02040503050406030204" pitchFamily="18" charset="0"/>
              <a:ea typeface="Cambria" panose="02040503050406030204" pitchFamily="18" charset="0"/>
            </a:endParaRPr>
          </a:p>
          <a:p>
            <a:r>
              <a:rPr lang="en-US" b="1" dirty="0">
                <a:latin typeface="Cambria" panose="02040503050406030204" pitchFamily="18" charset="0"/>
                <a:ea typeface="Cambria" panose="02040503050406030204" pitchFamily="18" charset="0"/>
              </a:rPr>
              <a:t>Solution1: </a:t>
            </a:r>
            <a:r>
              <a:rPr lang="en-US" dirty="0">
                <a:latin typeface="Cambria" panose="02040503050406030204" pitchFamily="18" charset="0"/>
                <a:ea typeface="Cambria" panose="02040503050406030204" pitchFamily="18" charset="0"/>
              </a:rPr>
              <a:t>This problem can certainly be solved using a sorting algorithm to sort a list of numbers and return the value of n/2</a:t>
            </a:r>
            <a:r>
              <a:rPr lang="en-US" baseline="30000" dirty="0">
                <a:latin typeface="Cambria" panose="02040503050406030204" pitchFamily="18" charset="0"/>
                <a:ea typeface="Cambria" panose="02040503050406030204" pitchFamily="18" charset="0"/>
              </a:rPr>
              <a:t>th</a:t>
            </a:r>
            <a:r>
              <a:rPr lang="en-US" dirty="0">
                <a:latin typeface="Cambria" panose="02040503050406030204" pitchFamily="18" charset="0"/>
                <a:ea typeface="Cambria" panose="02040503050406030204" pitchFamily="18" charset="0"/>
              </a:rPr>
              <a:t> index. But naïve approach will take </a:t>
            </a:r>
            <a:r>
              <a:rPr lang="en-US" dirty="0">
                <a:solidFill>
                  <a:srgbClr val="C00000"/>
                </a:solidFill>
                <a:latin typeface="Cambria" panose="02040503050406030204" pitchFamily="18" charset="0"/>
                <a:ea typeface="Cambria" panose="02040503050406030204" pitchFamily="18" charset="0"/>
              </a:rPr>
              <a:t>O(n log n) </a:t>
            </a:r>
            <a:r>
              <a:rPr lang="en-US" dirty="0">
                <a:latin typeface="Cambria" panose="02040503050406030204" pitchFamily="18" charset="0"/>
                <a:ea typeface="Cambria" panose="02040503050406030204" pitchFamily="18" charset="0"/>
              </a:rPr>
              <a:t>to sort the array first and get the median.</a:t>
            </a:r>
          </a:p>
          <a:p>
            <a:endParaRPr lang="en-US" dirty="0">
              <a:latin typeface="Cambria" panose="02040503050406030204" pitchFamily="18" charset="0"/>
              <a:ea typeface="Cambria" panose="02040503050406030204" pitchFamily="18" charset="0"/>
            </a:endParaRPr>
          </a:p>
          <a:p>
            <a:r>
              <a:rPr lang="en-US" b="1" dirty="0">
                <a:latin typeface="Cambria" panose="02040503050406030204" pitchFamily="18" charset="0"/>
                <a:ea typeface="Cambria" panose="02040503050406030204" pitchFamily="18" charset="0"/>
              </a:rPr>
              <a:t>Solution2: </a:t>
            </a:r>
            <a:r>
              <a:rPr lang="en-US" dirty="0">
                <a:latin typeface="Cambria" panose="02040503050406030204" pitchFamily="18" charset="0"/>
                <a:ea typeface="Cambria" panose="02040503050406030204" pitchFamily="18" charset="0"/>
              </a:rPr>
              <a:t>Another solution to solve the problem in </a:t>
            </a:r>
            <a:r>
              <a:rPr lang="en-US" b="1" dirty="0">
                <a:latin typeface="Cambria" panose="02040503050406030204" pitchFamily="18" charset="0"/>
                <a:ea typeface="Cambria" panose="02040503050406030204" pitchFamily="18" charset="0"/>
              </a:rPr>
              <a:t>O(n) </a:t>
            </a:r>
            <a:r>
              <a:rPr lang="en-US" dirty="0">
                <a:latin typeface="Cambria" panose="02040503050406030204" pitchFamily="18" charset="0"/>
                <a:ea typeface="Cambria" panose="02040503050406030204" pitchFamily="18" charset="0"/>
              </a:rPr>
              <a:t>time, which is based on Quick sort algorithm.</a:t>
            </a:r>
          </a:p>
        </p:txBody>
      </p:sp>
    </p:spTree>
    <p:extLst>
      <p:ext uri="{BB962C8B-B14F-4D97-AF65-F5344CB8AC3E}">
        <p14:creationId xmlns:p14="http://schemas.microsoft.com/office/powerpoint/2010/main" val="242672786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EF8A3-23F2-408B-ACB3-3B40227B0B0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23ACDDF-41FC-470D-A086-E91BD4620DED}"/>
              </a:ext>
            </a:extLst>
          </p:cNvPr>
          <p:cNvSpPr>
            <a:spLocks noGrp="1"/>
          </p:cNvSpPr>
          <p:nvPr>
            <p:ph idx="1"/>
          </p:nvPr>
        </p:nvSpPr>
        <p:spPr/>
        <p:txBody>
          <a:bodyPr/>
          <a:lstStyle/>
          <a:p>
            <a:r>
              <a:rPr lang="en-IN" dirty="0"/>
              <a:t>1. </a:t>
            </a:r>
            <a:r>
              <a:rPr lang="en-IN" b="1" dirty="0">
                <a:latin typeface="Cambria" panose="02040503050406030204" pitchFamily="18" charset="0"/>
                <a:ea typeface="Cambria" panose="02040503050406030204" pitchFamily="18" charset="0"/>
              </a:rPr>
              <a:t>Choose a pivot</a:t>
            </a:r>
          </a:p>
          <a:p>
            <a:pPr lvl="1"/>
            <a:r>
              <a:rPr lang="en-IN" sz="2400" dirty="0">
                <a:latin typeface="Cambria" panose="02040503050406030204" pitchFamily="18" charset="0"/>
                <a:ea typeface="Cambria" panose="02040503050406030204" pitchFamily="18" charset="0"/>
              </a:rPr>
              <a:t>Re-arrange smaller number in the left and greater number in the right to the pivot element</a:t>
            </a:r>
          </a:p>
          <a:p>
            <a:pPr lvl="1"/>
            <a:r>
              <a:rPr lang="en-IN" sz="2400" dirty="0">
                <a:latin typeface="Cambria" panose="02040503050406030204" pitchFamily="18" charset="0"/>
                <a:ea typeface="Cambria" panose="02040503050406030204" pitchFamily="18" charset="0"/>
              </a:rPr>
              <a:t>Check if the pivot index if median</a:t>
            </a:r>
          </a:p>
          <a:p>
            <a:pPr lvl="1"/>
            <a:r>
              <a:rPr lang="en-IN" sz="2400" dirty="0">
                <a:latin typeface="Cambria" panose="02040503050406030204" pitchFamily="18" charset="0"/>
                <a:ea typeface="Cambria" panose="02040503050406030204" pitchFamily="18" charset="0"/>
              </a:rPr>
              <a:t>If pivot index is less than median index, recursively search for the median in the right sub array.</a:t>
            </a:r>
          </a:p>
          <a:p>
            <a:pPr lvl="1"/>
            <a:r>
              <a:rPr lang="en-IN" sz="2400" dirty="0">
                <a:latin typeface="Cambria" panose="02040503050406030204" pitchFamily="18" charset="0"/>
                <a:ea typeface="Cambria" panose="02040503050406030204" pitchFamily="18" charset="0"/>
              </a:rPr>
              <a:t>If pivot index is greater than median index, recursively search for the median in the left sub array.</a:t>
            </a:r>
          </a:p>
          <a:p>
            <a:r>
              <a:rPr lang="en-IN" dirty="0">
                <a:latin typeface="Cambria" panose="02040503050406030204" pitchFamily="18" charset="0"/>
                <a:ea typeface="Cambria" panose="02040503050406030204" pitchFamily="18" charset="0"/>
              </a:rPr>
              <a:t>In </a:t>
            </a:r>
            <a:r>
              <a:rPr lang="en-IN" b="1" dirty="0">
                <a:latin typeface="Cambria" panose="02040503050406030204" pitchFamily="18" charset="0"/>
                <a:ea typeface="Cambria" panose="02040503050406030204" pitchFamily="18" charset="0"/>
              </a:rPr>
              <a:t>worst case </a:t>
            </a:r>
            <a:r>
              <a:rPr lang="en-IN" dirty="0">
                <a:latin typeface="Cambria" panose="02040503050406030204" pitchFamily="18" charset="0"/>
                <a:ea typeface="Cambria" panose="02040503050406030204" pitchFamily="18" charset="0"/>
              </a:rPr>
              <a:t>the pivot divides the array in 1 and n-1 element, which eventually forms a chain and takes </a:t>
            </a:r>
            <a:r>
              <a:rPr lang="en-IN" b="1" dirty="0">
                <a:latin typeface="Cambria" panose="02040503050406030204" pitchFamily="18" charset="0"/>
                <a:ea typeface="Cambria" panose="02040503050406030204" pitchFamily="18" charset="0"/>
              </a:rPr>
              <a:t>O(n</a:t>
            </a:r>
            <a:r>
              <a:rPr lang="en-IN" b="1" baseline="30000" dirty="0">
                <a:latin typeface="Cambria" panose="02040503050406030204" pitchFamily="18" charset="0"/>
                <a:ea typeface="Cambria" panose="02040503050406030204" pitchFamily="18" charset="0"/>
              </a:rPr>
              <a:t>2</a:t>
            </a:r>
            <a:r>
              <a:rPr lang="en-IN" b="1"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355979451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1774E-D9EF-41E6-92B9-26C91DC6086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1C4834C-F5CC-4FE6-9AAF-58BD26FC260A}"/>
              </a:ext>
            </a:extLst>
          </p:cNvPr>
          <p:cNvSpPr>
            <a:spLocks noGrp="1"/>
          </p:cNvSpPr>
          <p:nvPr>
            <p:ph idx="1"/>
          </p:nvPr>
        </p:nvSpPr>
        <p:spPr/>
        <p:txBody>
          <a:bodyPr/>
          <a:lstStyle/>
          <a:p>
            <a:r>
              <a:rPr lang="en-IN" dirty="0"/>
              <a:t>Median-of-median ( A, </a:t>
            </a:r>
            <a:r>
              <a:rPr lang="en-IN" dirty="0" err="1"/>
              <a:t>i</a:t>
            </a:r>
            <a:r>
              <a:rPr lang="en-IN" dirty="0"/>
              <a:t> )</a:t>
            </a:r>
          </a:p>
          <a:p>
            <a:pPr lvl="1"/>
            <a:r>
              <a:rPr lang="en-US" dirty="0">
                <a:latin typeface="Cambria" panose="02040503050406030204" pitchFamily="18" charset="0"/>
                <a:ea typeface="Cambria" panose="02040503050406030204" pitchFamily="18" charset="0"/>
              </a:rPr>
              <a:t>Divide the list into </a:t>
            </a:r>
            <a:r>
              <a:rPr lang="en-US" dirty="0" err="1">
                <a:latin typeface="Cambria" panose="02040503050406030204" pitchFamily="18" charset="0"/>
                <a:ea typeface="Cambria" panose="02040503050406030204" pitchFamily="18" charset="0"/>
              </a:rPr>
              <a:t>sublists</a:t>
            </a:r>
            <a:r>
              <a:rPr lang="en-US" dirty="0">
                <a:latin typeface="Cambria" panose="02040503050406030204" pitchFamily="18" charset="0"/>
                <a:ea typeface="Cambria" panose="02040503050406030204" pitchFamily="18" charset="0"/>
              </a:rPr>
              <a:t> each of length five </a:t>
            </a:r>
            <a:r>
              <a:rPr lang="en-US" sz="1400" dirty="0">
                <a:latin typeface="Cambria" panose="02040503050406030204" pitchFamily="18" charset="0"/>
                <a:ea typeface="Cambria" panose="02040503050406030204" pitchFamily="18" charset="0"/>
              </a:rPr>
              <a:t>(if there are fewer than five elements available for the last list, that is fine)</a:t>
            </a:r>
          </a:p>
          <a:p>
            <a:pPr lvl="1"/>
            <a:r>
              <a:rPr lang="en-US" dirty="0">
                <a:latin typeface="Cambria" panose="02040503050406030204" pitchFamily="18" charset="0"/>
                <a:ea typeface="Cambria" panose="02040503050406030204" pitchFamily="18" charset="0"/>
              </a:rPr>
              <a:t>Sort each </a:t>
            </a:r>
            <a:r>
              <a:rPr lang="en-US" dirty="0" err="1">
                <a:latin typeface="Cambria" panose="02040503050406030204" pitchFamily="18" charset="0"/>
                <a:ea typeface="Cambria" panose="02040503050406030204" pitchFamily="18" charset="0"/>
              </a:rPr>
              <a:t>sublist</a:t>
            </a:r>
            <a:r>
              <a:rPr lang="en-US" dirty="0">
                <a:latin typeface="Cambria" panose="02040503050406030204" pitchFamily="18" charset="0"/>
                <a:ea typeface="Cambria" panose="02040503050406030204" pitchFamily="18" charset="0"/>
              </a:rPr>
              <a:t> and determine the median.</a:t>
            </a:r>
            <a:r>
              <a:rPr lang="en-US" sz="1400" dirty="0">
                <a:latin typeface="Cambria" panose="02040503050406030204" pitchFamily="18" charset="0"/>
                <a:ea typeface="Cambria" panose="02040503050406030204" pitchFamily="18" charset="0"/>
              </a:rPr>
              <a:t>(Sorting very small lists takes linear time since these </a:t>
            </a:r>
            <a:r>
              <a:rPr lang="en-US" sz="1400" dirty="0" err="1">
                <a:latin typeface="Cambria" panose="02040503050406030204" pitchFamily="18" charset="0"/>
                <a:ea typeface="Cambria" panose="02040503050406030204" pitchFamily="18" charset="0"/>
              </a:rPr>
              <a:t>sublists</a:t>
            </a:r>
            <a:r>
              <a:rPr lang="en-US" sz="1400" dirty="0">
                <a:latin typeface="Cambria" panose="02040503050406030204" pitchFamily="18" charset="0"/>
                <a:ea typeface="Cambria" panose="02040503050406030204" pitchFamily="18" charset="0"/>
              </a:rPr>
              <a:t> have five elements, and this takes O(n) time.)</a:t>
            </a:r>
          </a:p>
          <a:p>
            <a:pPr lvl="1"/>
            <a:r>
              <a:rPr lang="en-US" dirty="0">
                <a:latin typeface="Cambria" panose="02040503050406030204" pitchFamily="18" charset="0"/>
                <a:ea typeface="Cambria" panose="02040503050406030204" pitchFamily="18" charset="0"/>
              </a:rPr>
              <a:t>Use the median-of-median algorithm to recursively determine the median of the set of all the medians</a:t>
            </a:r>
          </a:p>
          <a:p>
            <a:pPr lvl="1"/>
            <a:r>
              <a:rPr lang="en-US" dirty="0">
                <a:latin typeface="Cambria" panose="02040503050406030204" pitchFamily="18" charset="0"/>
                <a:ea typeface="Cambria" panose="02040503050406030204" pitchFamily="18" charset="0"/>
              </a:rPr>
              <a:t>Use this median as the pivot element, x. The pivot is an approximate median of the whole list and then each recursive step approximate the correct true median</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6455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D8248-6390-4FE0-AF84-3407FD8BBC04}"/>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68674BBF-33B2-499A-B498-BE7AD8D15FE1}"/>
              </a:ext>
            </a:extLst>
          </p:cNvPr>
          <p:cNvSpPr>
            <a:spLocks noGrp="1"/>
          </p:cNvSpPr>
          <p:nvPr>
            <p:ph idx="1"/>
          </p:nvPr>
        </p:nvSpPr>
        <p:spPr/>
        <p:txBody>
          <a:bodyPr/>
          <a:lstStyle/>
          <a:p>
            <a:pPr marL="0" indent="0">
              <a:buNone/>
            </a:pPr>
            <a:r>
              <a:rPr lang="en-IN" b="0" i="1" dirty="0">
                <a:solidFill>
                  <a:srgbClr val="161616"/>
                </a:solidFill>
                <a:effectLst/>
                <a:latin typeface="KaTeX_Math"/>
              </a:rPr>
              <a:t>A</a:t>
            </a:r>
            <a:r>
              <a:rPr lang="en-IN" b="0" i="0" dirty="0">
                <a:solidFill>
                  <a:srgbClr val="161616"/>
                </a:solidFill>
                <a:effectLst/>
                <a:latin typeface="KaTeX_Main"/>
              </a:rPr>
              <a:t>=[25, 21, 98, 100, 76, 22, 43, 60, 89, 87]</a:t>
            </a:r>
          </a:p>
          <a:p>
            <a:pPr algn="l"/>
            <a:r>
              <a:rPr lang="en-US" b="0" i="0" dirty="0">
                <a:solidFill>
                  <a:srgbClr val="161616"/>
                </a:solidFill>
                <a:effectLst/>
                <a:latin typeface="Soleil"/>
              </a:rPr>
              <a:t>First, we break the list into lists of five elements:</a:t>
            </a:r>
          </a:p>
          <a:p>
            <a:pPr algn="l"/>
            <a:r>
              <a:rPr lang="en-US" b="0" i="0" dirty="0">
                <a:solidFill>
                  <a:srgbClr val="161616"/>
                </a:solidFill>
                <a:effectLst/>
                <a:latin typeface="KaTeX_Main"/>
              </a:rPr>
              <a:t>A</a:t>
            </a:r>
            <a:r>
              <a:rPr lang="en-US" b="0" i="0" baseline="-25000" dirty="0">
                <a:solidFill>
                  <a:srgbClr val="161616"/>
                </a:solidFill>
                <a:effectLst/>
                <a:latin typeface="KaTeX_Main"/>
              </a:rPr>
              <a:t>1</a:t>
            </a:r>
            <a:r>
              <a:rPr lang="en-US" b="0" i="0" dirty="0">
                <a:solidFill>
                  <a:srgbClr val="161616"/>
                </a:solidFill>
                <a:effectLst/>
                <a:latin typeface="KaTeX_Main"/>
              </a:rPr>
              <a:t> = [25,21,98,100,76] and A</a:t>
            </a:r>
            <a:r>
              <a:rPr lang="en-US" b="0" i="0" baseline="-25000" dirty="0">
                <a:solidFill>
                  <a:srgbClr val="161616"/>
                </a:solidFill>
                <a:effectLst/>
                <a:latin typeface="KaTeX_Main"/>
              </a:rPr>
              <a:t>2</a:t>
            </a:r>
            <a:r>
              <a:rPr lang="en-US" b="0" i="0" dirty="0">
                <a:solidFill>
                  <a:srgbClr val="161616"/>
                </a:solidFill>
                <a:effectLst/>
                <a:latin typeface="KaTeX_Main"/>
              </a:rPr>
              <a:t>=[22,43,60,89,87]</a:t>
            </a:r>
            <a:endParaRPr lang="en-US" b="0" i="0" dirty="0">
              <a:solidFill>
                <a:srgbClr val="161616"/>
              </a:solidFill>
              <a:effectLst/>
              <a:latin typeface="Soleil"/>
            </a:endParaRPr>
          </a:p>
          <a:p>
            <a:pPr algn="l"/>
            <a:r>
              <a:rPr lang="en-US" b="0" i="0" dirty="0">
                <a:solidFill>
                  <a:srgbClr val="161616"/>
                </a:solidFill>
                <a:effectLst/>
                <a:latin typeface="Soleil"/>
              </a:rPr>
              <a:t>Sort each list:</a:t>
            </a:r>
          </a:p>
          <a:p>
            <a:pPr algn="l"/>
            <a:r>
              <a:rPr lang="en-US" b="0" i="0" dirty="0">
                <a:solidFill>
                  <a:srgbClr val="161616"/>
                </a:solidFill>
                <a:effectLst/>
                <a:latin typeface="KaTeX_Main"/>
              </a:rPr>
              <a:t>A</a:t>
            </a:r>
            <a:r>
              <a:rPr lang="en-US" b="0" i="0" baseline="-25000" dirty="0">
                <a:solidFill>
                  <a:srgbClr val="161616"/>
                </a:solidFill>
                <a:effectLst/>
                <a:latin typeface="KaTeX_Main"/>
              </a:rPr>
              <a:t>1 </a:t>
            </a:r>
            <a:r>
              <a:rPr lang="en-US" b="0" i="0" dirty="0">
                <a:solidFill>
                  <a:srgbClr val="161616"/>
                </a:solidFill>
                <a:effectLst/>
                <a:latin typeface="KaTeX_Main"/>
              </a:rPr>
              <a:t>= [21,25,76,98,100 ] and A</a:t>
            </a:r>
            <a:r>
              <a:rPr lang="en-US" b="0" i="0" baseline="-25000" dirty="0">
                <a:solidFill>
                  <a:srgbClr val="161616"/>
                </a:solidFill>
                <a:effectLst/>
                <a:latin typeface="KaTeX_Main"/>
              </a:rPr>
              <a:t>2</a:t>
            </a:r>
            <a:r>
              <a:rPr lang="en-US" b="0" i="0" dirty="0">
                <a:solidFill>
                  <a:srgbClr val="161616"/>
                </a:solidFill>
                <a:effectLst/>
                <a:latin typeface="KaTeX_Main"/>
              </a:rPr>
              <a:t> = [22,43,60,87,89]</a:t>
            </a:r>
            <a:endParaRPr lang="en-US" b="0" i="0" dirty="0">
              <a:solidFill>
                <a:srgbClr val="161616"/>
              </a:solidFill>
              <a:effectLst/>
              <a:latin typeface="Soleil"/>
            </a:endParaRPr>
          </a:p>
          <a:p>
            <a:pPr algn="l"/>
            <a:r>
              <a:rPr lang="en-US" b="0" i="0" dirty="0">
                <a:solidFill>
                  <a:srgbClr val="161616"/>
                </a:solidFill>
                <a:effectLst/>
                <a:latin typeface="Soleil"/>
              </a:rPr>
              <a:t>Then, get the median out of each list and put them in a list of medians, </a:t>
            </a:r>
            <a:r>
              <a:rPr lang="en-US" b="0" i="0" dirty="0">
                <a:solidFill>
                  <a:srgbClr val="161616"/>
                </a:solidFill>
                <a:effectLst/>
                <a:latin typeface="KaTeX_Main"/>
              </a:rPr>
              <a:t>M: = [76, 60]</a:t>
            </a:r>
          </a:p>
          <a:p>
            <a:pPr algn="l"/>
            <a:r>
              <a:rPr lang="en-US" b="0" i="0" dirty="0">
                <a:solidFill>
                  <a:srgbClr val="161616"/>
                </a:solidFill>
                <a:effectLst/>
                <a:latin typeface="Soleil"/>
              </a:rPr>
              <a:t>Sort this: </a:t>
            </a:r>
            <a:r>
              <a:rPr lang="en-US" b="0" i="0" dirty="0">
                <a:solidFill>
                  <a:srgbClr val="161616"/>
                </a:solidFill>
                <a:effectLst/>
                <a:latin typeface="KaTeX_Main"/>
              </a:rPr>
              <a:t>M = [60,76], pick median 2/2=1 =&gt; M[1]=76</a:t>
            </a:r>
          </a:p>
          <a:p>
            <a:pPr algn="l"/>
            <a:r>
              <a:rPr lang="en-US" b="0" i="0" dirty="0">
                <a:solidFill>
                  <a:srgbClr val="161616"/>
                </a:solidFill>
                <a:effectLst/>
                <a:latin typeface="Soleil"/>
              </a:rPr>
              <a:t>Use this as the pivot element and put all elements in A that are less than 76 to the left and all elements greater than 76 to the right:</a:t>
            </a:r>
          </a:p>
          <a:p>
            <a:pPr algn="l"/>
            <a:endParaRPr lang="en-US" b="0" i="0" dirty="0">
              <a:solidFill>
                <a:srgbClr val="161616"/>
              </a:solidFill>
              <a:effectLst/>
              <a:latin typeface="Soleil"/>
            </a:endParaRPr>
          </a:p>
          <a:p>
            <a:pPr algn="l"/>
            <a:r>
              <a:rPr lang="en-US" b="0" i="0" dirty="0">
                <a:solidFill>
                  <a:srgbClr val="161616"/>
                </a:solidFill>
                <a:effectLst/>
                <a:latin typeface="Soleil"/>
              </a:rPr>
              <a:t>A = [25,22,43,60,21,76,100,89,87,98].</a:t>
            </a:r>
          </a:p>
          <a:p>
            <a:pPr algn="l"/>
            <a:r>
              <a:rPr lang="en-US" b="0" i="0" dirty="0">
                <a:solidFill>
                  <a:srgbClr val="161616"/>
                </a:solidFill>
                <a:effectLst/>
                <a:latin typeface="Soleil"/>
              </a:rPr>
              <a:t>Find the index of 76, which is 5</a:t>
            </a:r>
            <a:r>
              <a:rPr lang="en-US" dirty="0">
                <a:solidFill>
                  <a:srgbClr val="161616"/>
                </a:solidFill>
                <a:latin typeface="Soleil"/>
              </a:rPr>
              <a:t>, median =&gt;76</a:t>
            </a:r>
            <a:endParaRPr lang="en-US" b="0" i="0" dirty="0">
              <a:solidFill>
                <a:srgbClr val="161616"/>
              </a:solidFill>
              <a:effectLst/>
              <a:latin typeface="Soleil"/>
            </a:endParaRPr>
          </a:p>
          <a:p>
            <a:pPr marL="0" indent="0">
              <a:buNone/>
            </a:pPr>
            <a:endParaRPr lang="en-IN" dirty="0"/>
          </a:p>
        </p:txBody>
      </p:sp>
    </p:spTree>
    <p:extLst>
      <p:ext uri="{BB962C8B-B14F-4D97-AF65-F5344CB8AC3E}">
        <p14:creationId xmlns:p14="http://schemas.microsoft.com/office/powerpoint/2010/main" val="364981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1850" y="1709738"/>
            <a:ext cx="10515600" cy="2852737"/>
          </a:xfrm>
        </p:spPr>
        <p:txBody>
          <a:bodyPr/>
          <a:lstStyle/>
          <a:p>
            <a:r>
              <a:rPr lang="en-US" dirty="0"/>
              <a:t>Thank You!</a:t>
            </a:r>
          </a:p>
        </p:txBody>
      </p:sp>
      <p:sp>
        <p:nvSpPr>
          <p:cNvPr id="3" name="Text Placeholder 2"/>
          <p:cNvSpPr>
            <a:spLocks noGrp="1"/>
          </p:cNvSpPr>
          <p:nvPr>
            <p:ph type="body" idx="4294967295"/>
          </p:nvPr>
        </p:nvSpPr>
        <p:spPr>
          <a:xfrm>
            <a:off x="831850" y="4589463"/>
            <a:ext cx="10515600" cy="1500187"/>
          </a:xfrm>
        </p:spPr>
        <p:txBody>
          <a:bodyPr/>
          <a:lstStyle/>
          <a:p>
            <a:endParaRPr lang="en-US"/>
          </a:p>
        </p:txBody>
      </p:sp>
    </p:spTree>
    <p:extLst>
      <p:ext uri="{BB962C8B-B14F-4D97-AF65-F5344CB8AC3E}">
        <p14:creationId xmlns:p14="http://schemas.microsoft.com/office/powerpoint/2010/main" val="2306051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13225</TotalTime>
  <Words>8622</Words>
  <Application>Microsoft Office PowerPoint</Application>
  <PresentationFormat>Widescreen</PresentationFormat>
  <Paragraphs>1712</Paragraphs>
  <Slides>116</Slides>
  <Notes>0</Notes>
  <HiddenSlides>1</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116</vt:i4>
      </vt:variant>
    </vt:vector>
  </HeadingPairs>
  <TitlesOfParts>
    <vt:vector size="131" baseType="lpstr">
      <vt:lpstr>Roboto Condensed</vt:lpstr>
      <vt:lpstr>Wingdings 3</vt:lpstr>
      <vt:lpstr>KaTeX_Main</vt:lpstr>
      <vt:lpstr>KaTeX_Math</vt:lpstr>
      <vt:lpstr>__Source_Sans_Pro_fea366</vt:lpstr>
      <vt:lpstr>Cambria</vt:lpstr>
      <vt:lpstr>Consolas</vt:lpstr>
      <vt:lpstr>Soleil</vt:lpstr>
      <vt:lpstr>Wingdings</vt:lpstr>
      <vt:lpstr>Courier New</vt:lpstr>
      <vt:lpstr>Calibri</vt:lpstr>
      <vt:lpstr>arial</vt:lpstr>
      <vt:lpstr>arial</vt:lpstr>
      <vt:lpstr>Cambria Math</vt:lpstr>
      <vt:lpstr>Office Theme</vt:lpstr>
      <vt:lpstr>PowerPoint Presentation</vt:lpstr>
      <vt:lpstr>Definition </vt:lpstr>
      <vt:lpstr>Properties of Red-Black Trees</vt:lpstr>
      <vt:lpstr>Red-Black Trees vs AVL Tree</vt:lpstr>
      <vt:lpstr>Operation: Insertion</vt:lpstr>
      <vt:lpstr>Example: Insertion</vt:lpstr>
      <vt:lpstr>Example: Insertion</vt:lpstr>
      <vt:lpstr>Example</vt:lpstr>
      <vt:lpstr>Deletion operation</vt:lpstr>
      <vt:lpstr>Deletion…continue </vt:lpstr>
      <vt:lpstr>Deletion…continue </vt:lpstr>
      <vt:lpstr>PowerPoint Presentation</vt:lpstr>
      <vt:lpstr>PowerPoint Presentation</vt:lpstr>
      <vt:lpstr>Exercise </vt:lpstr>
      <vt:lpstr>PowerPoint Presentation</vt:lpstr>
      <vt:lpstr>Heap &amp; Heap Sort Algorithm</vt:lpstr>
      <vt:lpstr>Introduction </vt:lpstr>
      <vt:lpstr>Array Representation of Heap</vt:lpstr>
      <vt:lpstr>Array Representation of Heap</vt:lpstr>
      <vt:lpstr>Types of Heap</vt:lpstr>
      <vt:lpstr>Introduction to Heap Sort</vt:lpstr>
      <vt:lpstr>Heap Sort – Example 1</vt:lpstr>
      <vt:lpstr>Heap Sort – Example 1</vt:lpstr>
      <vt:lpstr>Heap Sort – Example 1</vt:lpstr>
      <vt:lpstr>Heap Sort – Example 1</vt:lpstr>
      <vt:lpstr>Heap Sort – Example 1</vt:lpstr>
      <vt:lpstr>Heap Sort – Example 1</vt:lpstr>
      <vt:lpstr>Heap Sort – Example 1</vt:lpstr>
      <vt:lpstr>Heap Sort – Example 1</vt:lpstr>
      <vt:lpstr>Heap Sort – Example 1</vt:lpstr>
      <vt:lpstr>Heap Sort – Example 2</vt:lpstr>
      <vt:lpstr>Heap Sort – Example 2</vt:lpstr>
      <vt:lpstr>Heap Sort – Example 2</vt:lpstr>
      <vt:lpstr>Heap Sort – Example 2</vt:lpstr>
      <vt:lpstr>Heap Sort – Example 2</vt:lpstr>
      <vt:lpstr>Exercises </vt:lpstr>
      <vt:lpstr>Heap Sort – Algorithm </vt:lpstr>
      <vt:lpstr>Heap Sort – Algorithm </vt:lpstr>
      <vt:lpstr>Heap Sort – Algorithm </vt:lpstr>
      <vt:lpstr>Heap Sort – Algorithm </vt:lpstr>
      <vt:lpstr>Heap Sort – Algorithm </vt:lpstr>
      <vt:lpstr>Heap Sort Algorithm – Analysis </vt:lpstr>
      <vt:lpstr>Binomial Heap </vt:lpstr>
      <vt:lpstr>Binomial Tree</vt:lpstr>
      <vt:lpstr> Binomial Tree Example</vt:lpstr>
      <vt:lpstr>Binomial Heap Properties</vt:lpstr>
      <vt:lpstr>Binomial Heap Implementation</vt:lpstr>
      <vt:lpstr>Binomial Heap Implementation</vt:lpstr>
      <vt:lpstr>Binomial Heap Operations</vt:lpstr>
      <vt:lpstr>Create A New Binomial Heap</vt:lpstr>
      <vt:lpstr>Find Minimum Key</vt:lpstr>
      <vt:lpstr>Find Minimum Key Example</vt:lpstr>
      <vt:lpstr>Union Two Binomial Heaps</vt:lpstr>
      <vt:lpstr>Union Two Binomial Heaps</vt:lpstr>
      <vt:lpstr>Union Two Binomial Heaps</vt:lpstr>
      <vt:lpstr>Union two Binomial Heap</vt:lpstr>
      <vt:lpstr>Union Two Binomial Heaps</vt:lpstr>
      <vt:lpstr>Union Two Binomial Heaps</vt:lpstr>
      <vt:lpstr>Insert New Node</vt:lpstr>
      <vt:lpstr>Insert New Node Example</vt:lpstr>
      <vt:lpstr>Insert 4, 6, 3, 11, 9, 5, 14, 10, 21, 7, 13, 20, 2</vt:lpstr>
      <vt:lpstr>Extract Node With Minimum Key</vt:lpstr>
      <vt:lpstr>Extract Minimum Key Example</vt:lpstr>
      <vt:lpstr>Extract Minimum Key Example</vt:lpstr>
      <vt:lpstr>Decreasing a key</vt:lpstr>
      <vt:lpstr>Decreasing a key</vt:lpstr>
      <vt:lpstr>Delete a Node</vt:lpstr>
      <vt:lpstr>Example</vt:lpstr>
      <vt:lpstr>PowerPoint Presentation</vt:lpstr>
      <vt:lpstr>Compare With Binary Heap</vt:lpstr>
      <vt:lpstr>Fibonacci Heap</vt:lpstr>
      <vt:lpstr>Priority Queues Performance Cost Summary</vt:lpstr>
      <vt:lpstr>PowerPoint Presentation</vt:lpstr>
      <vt:lpstr>Fibonacci Heaps: Structure</vt:lpstr>
      <vt:lpstr>Memory Representation of the Nodes in a Fibonacci Heap</vt:lpstr>
      <vt:lpstr>Fibonacci Heaps: Structure</vt:lpstr>
      <vt:lpstr>Fibonacci Heaps: Structure</vt:lpstr>
      <vt:lpstr>Fibonacci heap: Notations</vt:lpstr>
      <vt:lpstr>Fibonacci heap operation</vt:lpstr>
      <vt:lpstr>1. Fibonacci Heaps: Insert</vt:lpstr>
      <vt:lpstr>Insert =&gt; O(1)</vt:lpstr>
      <vt:lpstr>2. Fibonacci Heap: Linking Operation </vt:lpstr>
      <vt:lpstr>3. Fibonacci Heaps: Delete Min</vt:lpstr>
      <vt:lpstr>Delete Min</vt:lpstr>
      <vt:lpstr>Delete Min</vt:lpstr>
      <vt:lpstr>4. Fibonacci Heaps: Decrease Key</vt:lpstr>
      <vt:lpstr>Decrease Key</vt:lpstr>
      <vt:lpstr>Decrease Key</vt:lpstr>
      <vt:lpstr>Decrease Key</vt:lpstr>
      <vt:lpstr>Decrease Key</vt:lpstr>
      <vt:lpstr>Decrease Key</vt:lpstr>
      <vt:lpstr>Decrease Key</vt:lpstr>
      <vt:lpstr>Decrease Key</vt:lpstr>
      <vt:lpstr>5. Fibonacci Heaps: Union</vt:lpstr>
      <vt:lpstr>6. Fibonacci Heaps: Delete</vt:lpstr>
      <vt:lpstr>Disjoint set data structure</vt:lpstr>
      <vt:lpstr>Disjoint set data structure</vt:lpstr>
      <vt:lpstr>PowerPoint Presentation</vt:lpstr>
      <vt:lpstr>PowerPoint Presentation</vt:lpstr>
      <vt:lpstr>How to Implement Disjoint Sets?</vt:lpstr>
      <vt:lpstr>Example</vt:lpstr>
      <vt:lpstr>PowerPoint Presentation</vt:lpstr>
      <vt:lpstr>PowerPoint Presentation</vt:lpstr>
      <vt:lpstr>PowerPoint Presentation</vt:lpstr>
      <vt:lpstr>Implementation</vt:lpstr>
      <vt:lpstr>Complexity analysis</vt:lpstr>
      <vt:lpstr>Optimization-1: Path compression</vt:lpstr>
      <vt:lpstr>PowerPoint Presentation</vt:lpstr>
      <vt:lpstr>Optimization-2: Union by size</vt:lpstr>
      <vt:lpstr>PowerPoint Presentation</vt:lpstr>
      <vt:lpstr>Applications of Disjoint Set</vt:lpstr>
      <vt:lpstr>Median-of-median finding Algorithm</vt:lpstr>
      <vt:lpstr>PowerPoint Presentation</vt:lpstr>
      <vt:lpstr>PowerPoint Presentation</vt:lpstr>
      <vt:lpstr>Example: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CSE-30</cp:lastModifiedBy>
  <cp:revision>620</cp:revision>
  <dcterms:created xsi:type="dcterms:W3CDTF">2020-05-01T05:09:15Z</dcterms:created>
  <dcterms:modified xsi:type="dcterms:W3CDTF">2024-08-22T19:05:28Z</dcterms:modified>
</cp:coreProperties>
</file>