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7" r:id="rId2"/>
    <p:sldId id="364" r:id="rId3"/>
    <p:sldId id="365" r:id="rId4"/>
    <p:sldId id="366" r:id="rId5"/>
    <p:sldId id="368" r:id="rId6"/>
    <p:sldId id="488" r:id="rId7"/>
    <p:sldId id="398" r:id="rId8"/>
    <p:sldId id="395" r:id="rId9"/>
    <p:sldId id="396" r:id="rId10"/>
    <p:sldId id="490" r:id="rId11"/>
    <p:sldId id="491" r:id="rId12"/>
    <p:sldId id="399" r:id="rId13"/>
    <p:sldId id="400" r:id="rId14"/>
    <p:sldId id="369" r:id="rId15"/>
    <p:sldId id="370" r:id="rId16"/>
    <p:sldId id="373" r:id="rId17"/>
    <p:sldId id="372" r:id="rId18"/>
    <p:sldId id="374" r:id="rId19"/>
    <p:sldId id="375" r:id="rId20"/>
    <p:sldId id="392" r:id="rId21"/>
    <p:sldId id="377" r:id="rId22"/>
    <p:sldId id="378" r:id="rId23"/>
    <p:sldId id="379" r:id="rId24"/>
    <p:sldId id="381" r:id="rId25"/>
    <p:sldId id="382" r:id="rId26"/>
    <p:sldId id="383" r:id="rId27"/>
    <p:sldId id="406" r:id="rId28"/>
    <p:sldId id="407" r:id="rId29"/>
    <p:sldId id="384" r:id="rId30"/>
    <p:sldId id="380" r:id="rId31"/>
    <p:sldId id="385" r:id="rId32"/>
    <p:sldId id="386" r:id="rId33"/>
    <p:sldId id="387" r:id="rId34"/>
    <p:sldId id="388" r:id="rId35"/>
    <p:sldId id="486" r:id="rId36"/>
    <p:sldId id="487" r:id="rId37"/>
    <p:sldId id="469" r:id="rId38"/>
  </p:sldIdLst>
  <p:sldSz cx="12192000" cy="6858000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mbria" panose="02040503050406030204" pitchFamily="18" charset="0"/>
      <p:regular r:id="rId44"/>
      <p:bold r:id="rId45"/>
      <p:italic r:id="rId46"/>
      <p:boldItalic r:id="rId47"/>
    </p:embeddedFont>
    <p:embeddedFont>
      <p:font typeface="Cambria Math" panose="02040503050406030204" pitchFamily="18" charset="0"/>
      <p:regular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Lucida Console" panose="020B0609040504020204" pitchFamily="49" charset="0"/>
      <p:regular r:id="rId53"/>
    </p:embeddedFont>
    <p:embeddedFont>
      <p:font typeface="MS Gothic" panose="020B0609070205080204" pitchFamily="49" charset="-128"/>
      <p:regular r:id="rId54"/>
    </p:embeddedFont>
    <p:embeddedFont>
      <p:font typeface="Roboto Condensed" pitchFamily="2" charset="0"/>
      <p:regular r:id="rId55"/>
      <p:bold r:id="rId56"/>
      <p:italic r:id="rId57"/>
      <p:boldItalic r:id="rId58"/>
    </p:embeddedFont>
    <p:embeddedFont>
      <p:font typeface="Wingdings 3" panose="05040102010807070707" pitchFamily="18" charset="2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FBD9EB"/>
    <a:srgbClr val="ED524F"/>
    <a:srgbClr val="A71160"/>
    <a:srgbClr val="890E4F"/>
    <a:srgbClr val="FCE0EE"/>
    <a:srgbClr val="FDEDF5"/>
    <a:srgbClr val="F9C3DF"/>
    <a:srgbClr val="F599C9"/>
    <a:srgbClr val="F2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4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85617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2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6000"/>
              <a:buFont typeface="Roboto Condensed"/>
              <a:buNone/>
              <a:defRPr sz="6000" b="1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0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0.png"/><Relationship Id="rId7" Type="http://schemas.openxmlformats.org/officeDocument/2006/relationships/image" Target="../media/image61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0.png"/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1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0.png"/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0.png"/><Relationship Id="rId4" Type="http://schemas.openxmlformats.org/officeDocument/2006/relationships/image" Target="../media/image14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3" Type="http://schemas.openxmlformats.org/officeDocument/2006/relationships/image" Target="../media/image1480.png"/><Relationship Id="rId7" Type="http://schemas.openxmlformats.org/officeDocument/2006/relationships/image" Target="../media/image1520.png"/><Relationship Id="rId2" Type="http://schemas.openxmlformats.org/officeDocument/2006/relationships/image" Target="../media/image1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0.png"/><Relationship Id="rId5" Type="http://schemas.openxmlformats.org/officeDocument/2006/relationships/image" Target="../media/image1500.png"/><Relationship Id="rId10" Type="http://schemas.openxmlformats.org/officeDocument/2006/relationships/image" Target="../media/image1550.png"/><Relationship Id="rId4" Type="http://schemas.openxmlformats.org/officeDocument/2006/relationships/image" Target="../media/image1490.png"/><Relationship Id="rId9" Type="http://schemas.openxmlformats.org/officeDocument/2006/relationships/image" Target="../media/image15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3" Type="http://schemas.openxmlformats.org/officeDocument/2006/relationships/image" Target="../media/image1570.png"/><Relationship Id="rId7" Type="http://schemas.openxmlformats.org/officeDocument/2006/relationships/image" Target="../media/image1610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5" Type="http://schemas.openxmlformats.org/officeDocument/2006/relationships/image" Target="../media/image1590.png"/><Relationship Id="rId10" Type="http://schemas.openxmlformats.org/officeDocument/2006/relationships/image" Target="../media/image1640.png"/><Relationship Id="rId4" Type="http://schemas.openxmlformats.org/officeDocument/2006/relationships/image" Target="../media/image1580.png"/><Relationship Id="rId9" Type="http://schemas.openxmlformats.org/officeDocument/2006/relationships/image" Target="../media/image16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0.png"/><Relationship Id="rId3" Type="http://schemas.openxmlformats.org/officeDocument/2006/relationships/image" Target="../media/image1660.png"/><Relationship Id="rId7" Type="http://schemas.openxmlformats.org/officeDocument/2006/relationships/image" Target="../media/image1700.png"/><Relationship Id="rId2" Type="http://schemas.openxmlformats.org/officeDocument/2006/relationships/image" Target="../media/image16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10.png"/><Relationship Id="rId10" Type="http://schemas.openxmlformats.org/officeDocument/2006/relationships/image" Target="../media/image1690.png"/><Relationship Id="rId4" Type="http://schemas.openxmlformats.org/officeDocument/2006/relationships/image" Target="../media/image1670.png"/><Relationship Id="rId9" Type="http://schemas.openxmlformats.org/officeDocument/2006/relationships/image" Target="../media/image1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2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6000"/>
              <a:buFont typeface="Roboto Condensed"/>
              <a:buNone/>
            </a:pPr>
            <a:r>
              <a:rPr lang="en-US" dirty="0"/>
              <a:t>Analyzing Control Statements</a:t>
            </a:r>
            <a:endParaRPr dirty="0"/>
          </a:p>
        </p:txBody>
      </p:sp>
      <p:sp>
        <p:nvSpPr>
          <p:cNvPr id="88" name="Google Shape;88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	: </a:t>
            </a:r>
            <a:r>
              <a:rPr lang="en-US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A[n], array of n integers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	: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Sum of all numbers in array A</a:t>
            </a:r>
          </a:p>
          <a:p>
            <a:pPr marL="0" indent="0">
              <a:buNone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Sum(</a:t>
            </a:r>
            <a:r>
              <a:rPr lang="en-IN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A[], </a:t>
            </a:r>
            <a:r>
              <a:rPr lang="en-IN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n)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544512" lvl="1" indent="0">
              <a:buNone/>
            </a:pP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s=0;</a:t>
            </a:r>
          </a:p>
          <a:p>
            <a:pPr marL="544512" lvl="1" indent="0">
              <a:buNone/>
            </a:pP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 for (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=0; 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&lt;n; 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++)</a:t>
            </a:r>
          </a:p>
          <a:p>
            <a:pPr marL="1335087" lvl="3" indent="0">
              <a:buNone/>
            </a:pP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 s = s + A[</a:t>
            </a:r>
            <a:r>
              <a:rPr lang="en-IN" sz="2400" b="1" dirty="0" err="1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 marL="544512" lvl="1" indent="0">
              <a:buNone/>
            </a:pPr>
            <a:r>
              <a:rPr lang="en-IN" sz="2400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  return s;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9C3DF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002172" y="3100954"/>
            <a:ext cx="1463040" cy="330219"/>
          </a:xfrm>
          <a:prstGeom prst="round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66648" y="3648193"/>
            <a:ext cx="533400" cy="533400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98099" y="3483185"/>
            <a:ext cx="640080" cy="379085"/>
          </a:xfrm>
          <a:prstGeom prst="round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111924" y="4315093"/>
            <a:ext cx="1676399" cy="327671"/>
          </a:xfrm>
          <a:prstGeom prst="round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850460" y="3896011"/>
            <a:ext cx="2254829" cy="365285"/>
          </a:xfrm>
          <a:prstGeom prst="round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94714" y="3048000"/>
            <a:ext cx="822960" cy="533400"/>
          </a:xfrm>
          <a:prstGeom prst="roundRect">
            <a:avLst/>
          </a:prstGeom>
          <a:noFill/>
          <a:ln>
            <a:solidFill>
              <a:srgbClr val="ED52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n+1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4018" y="3457120"/>
            <a:ext cx="3931920" cy="457200"/>
          </a:xfrm>
          <a:prstGeom prst="roundRect">
            <a:avLst/>
          </a:prstGeom>
          <a:noFill/>
          <a:ln w="9525">
            <a:solidFill>
              <a:srgbClr val="ED52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Elbow Connector 25"/>
          <p:cNvCxnSpPr>
            <a:stCxn id="19" idx="1"/>
            <a:endCxn id="20" idx="0"/>
          </p:cNvCxnSpPr>
          <p:nvPr/>
        </p:nvCxnSpPr>
        <p:spPr>
          <a:xfrm rot="10800000" flipV="1">
            <a:off x="433348" y="3266063"/>
            <a:ext cx="568824" cy="382129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2" idx="1"/>
            <a:endCxn id="20" idx="4"/>
          </p:cNvCxnSpPr>
          <p:nvPr/>
        </p:nvCxnSpPr>
        <p:spPr>
          <a:xfrm rot="10800000">
            <a:off x="433348" y="4181593"/>
            <a:ext cx="678576" cy="297336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21" idx="2"/>
            <a:endCxn id="20" idx="6"/>
          </p:cNvCxnSpPr>
          <p:nvPr/>
        </p:nvCxnSpPr>
        <p:spPr>
          <a:xfrm rot="5400000">
            <a:off x="1782783" y="2779536"/>
            <a:ext cx="52623" cy="2218091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25" idx="0"/>
            <a:endCxn id="24" idx="1"/>
          </p:cNvCxnSpPr>
          <p:nvPr/>
        </p:nvCxnSpPr>
        <p:spPr>
          <a:xfrm rot="5400000" flipH="1" flipV="1">
            <a:off x="4256136" y="2118542"/>
            <a:ext cx="142420" cy="2534736"/>
          </a:xfrm>
          <a:prstGeom prst="bentConnector2">
            <a:avLst/>
          </a:prstGeom>
          <a:ln>
            <a:solidFill>
              <a:srgbClr val="ED52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23" idx="3"/>
            <a:endCxn id="31" idx="0"/>
          </p:cNvCxnSpPr>
          <p:nvPr/>
        </p:nvCxnSpPr>
        <p:spPr>
          <a:xfrm>
            <a:off x="4105289" y="4078654"/>
            <a:ext cx="701230" cy="443015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539819" y="4521669"/>
            <a:ext cx="533400" cy="533400"/>
          </a:xfrm>
          <a:prstGeom prst="ellipse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8660" y="5472953"/>
            <a:ext cx="4545105" cy="83099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Total time taken = n+1+n+2 = 2n+3</a:t>
            </a:r>
          </a:p>
          <a:p>
            <a:r>
              <a:rPr lang="en-US" sz="2400" dirty="0">
                <a:solidFill>
                  <a:schemeClr val="bg1"/>
                </a:solidFill>
              </a:rPr>
              <a:t>Time Complexity f(n) 	= 2n+3</a:t>
            </a:r>
          </a:p>
        </p:txBody>
      </p:sp>
    </p:spTree>
    <p:extLst>
      <p:ext uri="{BB962C8B-B14F-4D97-AF65-F5344CB8AC3E}">
        <p14:creationId xmlns:p14="http://schemas.microsoft.com/office/powerpoint/2010/main" val="316543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altLang="en-US" dirty="0"/>
                  <a:t>The time complexity of the algorithm is :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altLang="en-US" b="1" i="1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1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GB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en-US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altLang="en-US" b="1" dirty="0">
                  <a:solidFill>
                    <a:srgbClr val="A71160"/>
                  </a:solidFill>
                </a:endParaRPr>
              </a:p>
              <a:p>
                <a:r>
                  <a:rPr lang="en-US" dirty="0"/>
                  <a:t>Estimated running time for different values of </a:t>
                </a:r>
                <a:r>
                  <a:rPr lang="en-US" b="1" dirty="0">
                    <a:solidFill>
                      <a:srgbClr val="A71160"/>
                    </a:solidFill>
                  </a:rPr>
                  <a:t>𝑛 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 𝑛 grows, the number of steps grow </a:t>
                </a:r>
                <a:r>
                  <a:rPr lang="en-US" dirty="0">
                    <a:solidFill>
                      <a:srgbClr val="A71160"/>
                    </a:solidFill>
                  </a:rPr>
                  <a:t>in linear proportion to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A71160"/>
                    </a:solidFill>
                  </a:rPr>
                  <a:t>𝑛</a:t>
                </a:r>
                <a:r>
                  <a:rPr lang="en-US" dirty="0"/>
                  <a:t> for the given algorithm Sum.</a:t>
                </a:r>
              </a:p>
              <a:p>
                <a:r>
                  <a:rPr lang="en-US" dirty="0"/>
                  <a:t>The dominating term in the function of time complexity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rgbClr val="A71160"/>
                    </a:solidFill>
                  </a:rPr>
                  <a:t>: </a:t>
                </a:r>
                <a:r>
                  <a:rPr lang="en-US" sz="2200" dirty="0"/>
                  <a:t>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gets large, the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200" dirty="0"/>
                  <a:t> becomes insignificant.</a:t>
                </a:r>
              </a:p>
              <a:p>
                <a:r>
                  <a:rPr lang="en-GB" altLang="en-US" sz="2200" b="1" dirty="0">
                    <a:solidFill>
                      <a:srgbClr val="A71160"/>
                    </a:solidFill>
                    <a:cs typeface="Times New Roman" panose="02020603050405020304" pitchFamily="18" charset="0"/>
                  </a:rPr>
                  <a:t>The time is linear in proportion to </a:t>
                </a:r>
                <a14:m>
                  <m:oMath xmlns:m="http://schemas.openxmlformats.org/officeDocument/2006/math">
                    <m:r>
                      <a:rPr lang="en-GB" altLang="en-US" sz="2200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GB" altLang="en-US" sz="2200" b="1" dirty="0">
                    <a:solidFill>
                      <a:srgbClr val="A71160"/>
                    </a:solidFill>
                    <a:cs typeface="Times New Roman" panose="02020603050405020304" pitchFamily="18" charset="0"/>
                  </a:rPr>
                  <a:t>.</a:t>
                </a:r>
                <a:endParaRPr lang="en-US" sz="2200" b="1" dirty="0">
                  <a:solidFill>
                    <a:srgbClr val="A7116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114795" y="2026027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5" y="2026027"/>
                <a:ext cx="14478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562595" y="2026027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5" y="2026027"/>
                <a:ext cx="1641764" cy="457200"/>
              </a:xfrm>
              <a:prstGeom prst="rect">
                <a:avLst/>
              </a:prstGeom>
              <a:blipFill>
                <a:blip r:embed="rId4"/>
                <a:stretch>
                  <a:fillRect b="-16883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14795" y="2559427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5" y="2559427"/>
                <a:ext cx="14478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62595" y="2559427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5" y="2559427"/>
                <a:ext cx="1641764" cy="457200"/>
              </a:xfrm>
              <a:prstGeom prst="rect">
                <a:avLst/>
              </a:prstGeom>
              <a:blipFill>
                <a:blip r:embed="rId6"/>
                <a:stretch>
                  <a:fillRect b="-16883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14795" y="3092827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5" y="3092827"/>
                <a:ext cx="14478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562595" y="3092827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2,003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5" y="3092827"/>
                <a:ext cx="1641764" cy="457200"/>
              </a:xfrm>
              <a:prstGeom prst="rect">
                <a:avLst/>
              </a:prstGeom>
              <a:blipFill>
                <a:blip r:embed="rId8"/>
                <a:stretch>
                  <a:fillRect b="-16883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14795" y="3626227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en-US" sz="2000" b="1" i="0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000" b="1" i="0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𝟏𝟎𝟎𝟎𝟎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5" y="3626227"/>
                <a:ext cx="14478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562595" y="3626227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20,003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595" y="3626227"/>
                <a:ext cx="1641764" cy="457200"/>
              </a:xfrm>
              <a:prstGeom prst="rect">
                <a:avLst/>
              </a:prstGeom>
              <a:blipFill>
                <a:blip r:embed="rId10"/>
                <a:stretch>
                  <a:fillRect r="-735" b="-16883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6934194" y="894794"/>
            <a:ext cx="365760" cy="36576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2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Control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68" y="868680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1: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4468" y="1334202"/>
                <a:ext cx="5029200" cy="156113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b="0" dirty="0">
                  <a:solidFill>
                    <a:srgbClr val="0070C0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Statement is executed once only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So, 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 execution time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some constant </a:t>
                </a:r>
                <a14:m>
                  <m:oMath xmlns:m="http://schemas.openxmlformats.org/officeDocument/2006/math">
                    <m:r>
                      <a:rPr lang="en-US" sz="2400" b="1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sz="2400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        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1334202"/>
                <a:ext cx="5029200" cy="1561133"/>
              </a:xfrm>
              <a:prstGeom prst="rect">
                <a:avLst/>
              </a:prstGeom>
              <a:blipFill>
                <a:blip r:embed="rId2"/>
                <a:stretch>
                  <a:fillRect l="-1576" r="-1939" b="-8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ular Callout 12"/>
              <p:cNvSpPr/>
              <p:nvPr/>
            </p:nvSpPr>
            <p:spPr>
              <a:xfrm>
                <a:off x="4074458" y="4491318"/>
                <a:ext cx="1322275" cy="484094"/>
              </a:xfrm>
              <a:prstGeom prst="wedgeRoundRectCallout">
                <a:avLst>
                  <a:gd name="adj1" fmla="val -72423"/>
                  <a:gd name="adj2" fmla="val -51289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0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3" name="Rounded Rectangular Callou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458" y="4491318"/>
                <a:ext cx="1322275" cy="484094"/>
              </a:xfrm>
              <a:prstGeom prst="wedgeRoundRectCallout">
                <a:avLst>
                  <a:gd name="adj1" fmla="val -72423"/>
                  <a:gd name="adj2" fmla="val -51289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ular Callout 13"/>
              <p:cNvSpPr/>
              <p:nvPr/>
            </p:nvSpPr>
            <p:spPr>
              <a:xfrm>
                <a:off x="4196490" y="3879669"/>
                <a:ext cx="1799360" cy="461665"/>
              </a:xfrm>
              <a:prstGeom prst="wedgeRoundRectCallout">
                <a:avLst>
                  <a:gd name="adj1" fmla="val -59254"/>
                  <a:gd name="adj2" fmla="val 11654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b="1" i="0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" name="Rounded Rectangular Callou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490" y="3879669"/>
                <a:ext cx="1799360" cy="461665"/>
              </a:xfrm>
              <a:prstGeom prst="wedgeRoundRectCallout">
                <a:avLst>
                  <a:gd name="adj1" fmla="val -59254"/>
                  <a:gd name="adj2" fmla="val 11654"/>
                  <a:gd name="adj3" fmla="val 16667"/>
                </a:avLst>
              </a:prstGeom>
              <a:blipFill>
                <a:blip r:embed="rId4"/>
                <a:stretch>
                  <a:fillRect b="-2597"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512691" y="3900652"/>
                <a:ext cx="1474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400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691" y="3900652"/>
                <a:ext cx="147464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78897" y="4491976"/>
                <a:ext cx="1039291" cy="463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897" y="4491976"/>
                <a:ext cx="1039291" cy="463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4468" y="3882330"/>
                <a:ext cx="50292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err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Total time is denoted as, 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 i="1" dirty="0">
                  <a:solidFill>
                    <a:schemeClr val="tx1"/>
                  </a:solidFill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3882330"/>
                <a:ext cx="5029200" cy="2308324"/>
              </a:xfrm>
              <a:prstGeom prst="rect">
                <a:avLst/>
              </a:prstGeom>
              <a:blipFill>
                <a:blip r:embed="rId7"/>
                <a:stretch>
                  <a:fillRect l="-1576" b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711112" y="1414130"/>
                <a:ext cx="5029200" cy="497193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err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Analysis </a:t>
                </a:r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=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/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= 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sz="22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200" i="1" dirty="0" err="1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200" dirty="0"/>
              </a:p>
              <a:p>
                <a:pPr marL="0"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dirty="0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 dirty="0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lvl="1" algn="ctr"/>
                <a:endParaRPr lang="en-US" sz="2200" dirty="0"/>
              </a:p>
              <a:p>
                <a:pPr marL="342900" lvl="1" indent="-342900" algn="just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342900" lvl="1" indent="-342900" algn="just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112" y="1414130"/>
                <a:ext cx="5029200" cy="4971939"/>
              </a:xfrm>
              <a:prstGeom prst="rect">
                <a:avLst/>
              </a:prstGeom>
              <a:blipFill>
                <a:blip r:embed="rId8"/>
                <a:stretch>
                  <a:fillRect l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ular Callout 26"/>
              <p:cNvSpPr/>
              <p:nvPr/>
            </p:nvSpPr>
            <p:spPr>
              <a:xfrm>
                <a:off x="9747628" y="1328132"/>
                <a:ext cx="1645920" cy="381000"/>
              </a:xfrm>
              <a:prstGeom prst="wedgeRoundRectCallout">
                <a:avLst>
                  <a:gd name="adj1" fmla="val -62856"/>
                  <a:gd name="adj2" fmla="val 38342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2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2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7" name="Rounded Rectangular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628" y="1328132"/>
                <a:ext cx="1645920" cy="381000"/>
              </a:xfrm>
              <a:prstGeom prst="wedgeRoundRectCallout">
                <a:avLst>
                  <a:gd name="adj1" fmla="val -62856"/>
                  <a:gd name="adj2" fmla="val 38342"/>
                  <a:gd name="adj3" fmla="val 16667"/>
                </a:avLst>
              </a:prstGeom>
              <a:blipFill>
                <a:blip r:embed="rId9"/>
                <a:stretch>
                  <a:fillRect b="-9375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ular Callout 27"/>
              <p:cNvSpPr/>
              <p:nvPr/>
            </p:nvSpPr>
            <p:spPr>
              <a:xfrm>
                <a:off x="10386940" y="1819317"/>
                <a:ext cx="1778166" cy="381000"/>
              </a:xfrm>
              <a:prstGeom prst="wedgeRoundRectCallout">
                <a:avLst>
                  <a:gd name="adj1" fmla="val -58278"/>
                  <a:gd name="adj2" fmla="val -1661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2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2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m:rPr>
                          <m:nor/>
                        </m:rPr>
                        <a:rPr lang="en-US" sz="2200" b="1" dirty="0">
                          <a:solidFill>
                            <a:srgbClr val="A71160"/>
                          </a:solidFill>
                        </a:rPr>
                        <m:t> </m:t>
                      </m:r>
                    </m:oMath>
                  </m:oMathPara>
                </a14:m>
                <a:endParaRPr lang="en-US" sz="22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8" name="Rounded Rectangular Callou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6940" y="1819317"/>
                <a:ext cx="1778166" cy="381000"/>
              </a:xfrm>
              <a:prstGeom prst="wedgeRoundRectCallout">
                <a:avLst>
                  <a:gd name="adj1" fmla="val -58278"/>
                  <a:gd name="adj2" fmla="val -1661"/>
                  <a:gd name="adj3" fmla="val 16667"/>
                </a:avLst>
              </a:prstGeom>
              <a:blipFill>
                <a:blip r:embed="rId10"/>
                <a:stretch>
                  <a:fillRect b="-7692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/>
              <p:cNvSpPr/>
              <p:nvPr/>
            </p:nvSpPr>
            <p:spPr>
              <a:xfrm>
                <a:off x="10179856" y="2318952"/>
                <a:ext cx="1485900" cy="381000"/>
              </a:xfrm>
              <a:prstGeom prst="wedgeRoundRectCallout">
                <a:avLst>
                  <a:gd name="adj1" fmla="val -69443"/>
                  <a:gd name="adj2" fmla="val -23523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2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2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2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9" name="Rounded Rectangular Callou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856" y="2318952"/>
                <a:ext cx="1485900" cy="381000"/>
              </a:xfrm>
              <a:prstGeom prst="wedgeRoundRectCallout">
                <a:avLst>
                  <a:gd name="adj1" fmla="val -69443"/>
                  <a:gd name="adj2" fmla="val -23523"/>
                  <a:gd name="adj3" fmla="val 16667"/>
                </a:avLst>
              </a:prstGeom>
              <a:blipFill>
                <a:blip r:embed="rId11"/>
                <a:stretch>
                  <a:fillRect b="-7692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1737360" y="1267097"/>
            <a:ext cx="3657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ular Callout 32"/>
              <p:cNvSpPr/>
              <p:nvPr/>
            </p:nvSpPr>
            <p:spPr>
              <a:xfrm>
                <a:off x="3918855" y="1358537"/>
                <a:ext cx="457200" cy="365760"/>
              </a:xfrm>
              <a:prstGeom prst="wedgeRoundRectCallout">
                <a:avLst>
                  <a:gd name="adj1" fmla="val -81349"/>
                  <a:gd name="adj2" fmla="val 11887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33" name="Rounded Rectangular Callout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5" y="1358537"/>
                <a:ext cx="457200" cy="365760"/>
              </a:xfrm>
              <a:prstGeom prst="wedgeRoundRectCallout">
                <a:avLst>
                  <a:gd name="adj1" fmla="val -81349"/>
                  <a:gd name="adj2" fmla="val 11887"/>
                  <a:gd name="adj3" fmla="val 16667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374468" y="3359336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2:</a:t>
            </a:r>
            <a:endParaRPr lang="en-US" sz="2000" b="1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680752" y="3757753"/>
            <a:ext cx="3657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66427" y="868680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3:</a:t>
            </a:r>
            <a:endParaRPr lang="en-US" sz="2000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8029319" y="1267097"/>
            <a:ext cx="3657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6150212" y="882567"/>
            <a:ext cx="100584" cy="5531399"/>
            <a:chOff x="4406940" y="815332"/>
            <a:chExt cx="100584" cy="5531399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4457031" y="860331"/>
              <a:ext cx="0" cy="5486400"/>
            </a:xfrm>
            <a:prstGeom prst="line">
              <a:avLst/>
            </a:prstGeom>
            <a:solidFill>
              <a:srgbClr val="F19D19"/>
            </a:solidFill>
            <a:ln w="28575">
              <a:solidFill>
                <a:srgbClr val="F19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4406940" y="815332"/>
              <a:ext cx="100584" cy="91440"/>
            </a:xfrm>
            <a:prstGeom prst="ellipse">
              <a:avLst/>
            </a:prstGeom>
            <a:solidFill>
              <a:srgbClr val="F19D19"/>
            </a:solidFill>
            <a:ln>
              <a:solidFill>
                <a:srgbClr val="F19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Oval 40"/>
          <p:cNvSpPr/>
          <p:nvPr/>
        </p:nvSpPr>
        <p:spPr>
          <a:xfrm>
            <a:off x="8848164" y="4254917"/>
            <a:ext cx="457200" cy="45720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3457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15" grpId="0"/>
      <p:bldP spid="16" grpId="0"/>
      <p:bldP spid="17" grpId="0"/>
      <p:bldP spid="20" grpId="0" animBg="1"/>
      <p:bldP spid="27" grpId="0" animBg="1"/>
      <p:bldP spid="28" grpId="0" animBg="1"/>
      <p:bldP spid="29" grpId="0" animBg="1"/>
      <p:bldP spid="33" grpId="0" animBg="1"/>
      <p:bldP spid="34" grpId="0" animBg="1"/>
      <p:bldP spid="36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Analyzing Control Statements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4468" y="1265928"/>
                <a:ext cx="4846320" cy="228600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" pitchFamily="18" charset="0"/>
                </a:endParaRPr>
              </a:p>
              <a:p>
                <a:pPr marL="914400"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1265928"/>
                <a:ext cx="4846320" cy="2286000"/>
              </a:xfrm>
              <a:prstGeom prst="rect">
                <a:avLst/>
              </a:prstGeom>
              <a:blipFill>
                <a:blip r:embed="rId2"/>
                <a:stretch>
                  <a:fillRect l="-62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4468" y="4262063"/>
                <a:ext cx="4846320" cy="228600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2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" pitchFamily="18" charset="0"/>
                </a:endParaRPr>
              </a:p>
              <a:p>
                <a:pPr marL="914400"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2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4262063"/>
                <a:ext cx="4846320" cy="2286000"/>
              </a:xfrm>
              <a:prstGeom prst="rect">
                <a:avLst/>
              </a:prstGeom>
              <a:blipFill>
                <a:blip r:embed="rId3"/>
                <a:stretch>
                  <a:fillRect l="-62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35039" y="1239801"/>
                <a:ext cx="5852160" cy="393192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" pitchFamily="18" charset="0"/>
                </a:endParaRPr>
              </a:p>
              <a:p>
                <a:pPr marL="914400" lvl="3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0"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N" sz="2200" dirty="0" err="1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printf</a:t>
                </a:r>
                <a:r>
                  <a:rPr lang="en-IN" sz="2200" dirty="0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(“sum is now %d”,</a:t>
                </a:r>
                <a14:m>
                  <m:oMath xmlns:m="http://schemas.openxmlformats.org/officeDocument/2006/math">
                    <m:r>
                      <a:rPr lang="en-IN" sz="2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𝒔𝒖𝒎</m:t>
                    </m:r>
                  </m:oMath>
                </a14:m>
                <a:r>
                  <a:rPr lang="en-IN" sz="2200" dirty="0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39" y="1239801"/>
                <a:ext cx="5852160" cy="3931920"/>
              </a:xfrm>
              <a:prstGeom prst="rect">
                <a:avLst/>
              </a:prstGeom>
              <a:blipFill>
                <a:blip r:embed="rId4"/>
                <a:stretch>
                  <a:fillRect l="-124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017803" y="868680"/>
            <a:ext cx="137160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6:</a:t>
            </a:r>
            <a:endParaRPr lang="en-US" sz="20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6083114" y="1292054"/>
            <a:ext cx="4199656" cy="1188720"/>
          </a:xfrm>
          <a:prstGeom prst="roundRect">
            <a:avLst/>
          </a:prstGeom>
          <a:noFill/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083114" y="2539053"/>
            <a:ext cx="4199656" cy="731520"/>
          </a:xfrm>
          <a:prstGeom prst="roundRect">
            <a:avLst/>
          </a:prstGeom>
          <a:noFill/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083114" y="3328851"/>
            <a:ext cx="4297680" cy="457200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787517" y="4339447"/>
                <a:ext cx="4294952" cy="8309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algn="ctr"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2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sz="22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2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2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517" y="4339447"/>
                <a:ext cx="4294952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74468" y="868680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4: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791788" y="3044949"/>
                <a:ext cx="2011680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788" y="3044949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74468" y="3868782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5: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791788" y="6023383"/>
                <a:ext cx="2011680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788" y="6023383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ular Callout 24"/>
              <p:cNvSpPr/>
              <p:nvPr/>
            </p:nvSpPr>
            <p:spPr>
              <a:xfrm>
                <a:off x="10519950" y="1645920"/>
                <a:ext cx="914400" cy="365760"/>
              </a:xfrm>
              <a:prstGeom prst="wedgeRoundRectCallout">
                <a:avLst>
                  <a:gd name="adj1" fmla="val -74206"/>
                  <a:gd name="adj2" fmla="val -9540"/>
                  <a:gd name="adj3" fmla="val 16667"/>
                </a:avLst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A711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5" name="Rounded Rectangular Callou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950" y="1645920"/>
                <a:ext cx="914400" cy="365760"/>
              </a:xfrm>
              <a:prstGeom prst="wedgeRoundRectCallout">
                <a:avLst>
                  <a:gd name="adj1" fmla="val -74206"/>
                  <a:gd name="adj2" fmla="val -9540"/>
                  <a:gd name="adj3" fmla="val 16667"/>
                </a:avLst>
              </a:prstGeom>
              <a:blipFill>
                <a:blip r:embed="rId8"/>
                <a:stretch>
                  <a:fillRect b="-4839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ular Callout 25"/>
              <p:cNvSpPr/>
              <p:nvPr/>
            </p:nvSpPr>
            <p:spPr>
              <a:xfrm>
                <a:off x="10519948" y="2536371"/>
                <a:ext cx="914402" cy="365760"/>
              </a:xfrm>
              <a:prstGeom prst="wedgeRoundRectCallout">
                <a:avLst>
                  <a:gd name="adj1" fmla="val -75634"/>
                  <a:gd name="adj2" fmla="val 4745"/>
                  <a:gd name="adj3" fmla="val 16667"/>
                </a:avLst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6" name="Rounded 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948" y="2536371"/>
                <a:ext cx="914402" cy="365760"/>
              </a:xfrm>
              <a:prstGeom prst="wedgeRoundRectCallout">
                <a:avLst>
                  <a:gd name="adj1" fmla="val -75634"/>
                  <a:gd name="adj2" fmla="val 4745"/>
                  <a:gd name="adj3" fmla="val 16667"/>
                </a:avLst>
              </a:prstGeom>
              <a:blipFill>
                <a:blip r:embed="rId9"/>
                <a:stretch>
                  <a:fillRect b="-8065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ular Callout 27"/>
              <p:cNvSpPr/>
              <p:nvPr/>
            </p:nvSpPr>
            <p:spPr>
              <a:xfrm>
                <a:off x="10519948" y="3426823"/>
                <a:ext cx="914402" cy="365760"/>
              </a:xfrm>
              <a:prstGeom prst="wedgeRoundRectCallout">
                <a:avLst>
                  <a:gd name="adj1" fmla="val -64206"/>
                  <a:gd name="adj2" fmla="val -16683"/>
                  <a:gd name="adj3" fmla="val 16667"/>
                </a:avLst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8" name="Rounded Rectangular Callou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948" y="3426823"/>
                <a:ext cx="914402" cy="365760"/>
              </a:xfrm>
              <a:prstGeom prst="wedgeRoundRectCallout">
                <a:avLst>
                  <a:gd name="adj1" fmla="val -64206"/>
                  <a:gd name="adj2" fmla="val -16683"/>
                  <a:gd name="adj3" fmla="val 16667"/>
                </a:avLst>
              </a:prstGeom>
              <a:blipFill>
                <a:blip r:embed="rId10"/>
                <a:stretch>
                  <a:fillRect b="-806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07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Analyzing Control Statements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4468" y="1265928"/>
                <a:ext cx="4846320" cy="1785104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1265928"/>
                <a:ext cx="4846320" cy="1785104"/>
              </a:xfrm>
              <a:prstGeom prst="rect">
                <a:avLst/>
              </a:prstGeom>
              <a:blipFill>
                <a:blip r:embed="rId2"/>
                <a:stretch>
                  <a:fillRect l="-62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4468" y="4262063"/>
                <a:ext cx="4846320" cy="144655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1, 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4262063"/>
                <a:ext cx="4846320" cy="1446550"/>
              </a:xfrm>
              <a:prstGeom prst="rect">
                <a:avLst/>
              </a:prstGeom>
              <a:blipFill>
                <a:blip r:embed="rId3"/>
                <a:stretch>
                  <a:fillRect l="-62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017803" y="868680"/>
            <a:ext cx="1371600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9:</a:t>
            </a:r>
            <a:endParaRPr 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74468" y="868680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7: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443789" y="3044949"/>
                <a:ext cx="2359679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IN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𝒍𝒐𝒈𝒏</m:t>
                      </m:r>
                      <m:r>
                        <a:rPr lang="en-IN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789" y="3044949"/>
                <a:ext cx="2359679" cy="502920"/>
              </a:xfrm>
              <a:prstGeom prst="rect">
                <a:avLst/>
              </a:prstGeom>
              <a:blipFill>
                <a:blip r:embed="rId4"/>
                <a:stretch>
                  <a:fillRect l="-257" b="-1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74468" y="3868782"/>
            <a:ext cx="1363981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8: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443789" y="6023383"/>
                <a:ext cx="2359679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789" y="6023383"/>
                <a:ext cx="2359679" cy="502920"/>
              </a:xfrm>
              <a:prstGeom prst="rect">
                <a:avLst/>
              </a:prstGeom>
              <a:blipFill>
                <a:blip r:embed="rId5"/>
                <a:stretch>
                  <a:fillRect l="-257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28A00F-D003-4646-B909-C50516C37E22}"/>
                  </a:ext>
                </a:extLst>
              </p:cNvPr>
              <p:cNvSpPr txBox="1"/>
              <p:nvPr/>
            </p:nvSpPr>
            <p:spPr>
              <a:xfrm>
                <a:off x="6017803" y="1265928"/>
                <a:ext cx="4846320" cy="144655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𝑝𝑜𝑤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1371600" lvl="4"/>
                <a:endParaRPr lang="en-IN" sz="2200" b="1" dirty="0">
                  <a:solidFill>
                    <a:srgbClr val="0070C0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28A00F-D003-4646-B909-C50516C37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803" y="1265928"/>
                <a:ext cx="4846320" cy="1446550"/>
              </a:xfrm>
              <a:prstGeom prst="rect">
                <a:avLst/>
              </a:prstGeom>
              <a:blipFill>
                <a:blip r:embed="rId6"/>
                <a:stretch>
                  <a:fillRect l="-627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6A10F-E1F8-4DBD-A791-302CF4E5054C}"/>
                  </a:ext>
                </a:extLst>
              </p:cNvPr>
              <p:cNvSpPr/>
              <p:nvPr/>
            </p:nvSpPr>
            <p:spPr>
              <a:xfrm>
                <a:off x="7019027" y="2926080"/>
                <a:ext cx="2843872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𝒍𝒐𝒈𝒍𝒐𝒈𝒏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6A10F-E1F8-4DBD-A791-302CF4E50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027" y="2926080"/>
                <a:ext cx="2843872" cy="502920"/>
              </a:xfrm>
              <a:prstGeom prst="rect">
                <a:avLst/>
              </a:prstGeom>
              <a:blipFill>
                <a:blip r:embed="rId7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633FD18-611E-4844-A929-FA92CC989E02}"/>
              </a:ext>
            </a:extLst>
          </p:cNvPr>
          <p:cNvSpPr txBox="1"/>
          <p:nvPr/>
        </p:nvSpPr>
        <p:spPr>
          <a:xfrm>
            <a:off x="6122077" y="3966413"/>
            <a:ext cx="1443379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/>
              <a:t>Example 10: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C4CDBB0-BB8F-445D-8C25-87A9E6624E19}"/>
                  </a:ext>
                </a:extLst>
              </p:cNvPr>
              <p:cNvSpPr txBox="1"/>
              <p:nvPr/>
            </p:nvSpPr>
            <p:spPr>
              <a:xfrm>
                <a:off x="6122078" y="4382911"/>
                <a:ext cx="4846320" cy="144655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𝑓𝑢𝑛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2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200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200" dirty="0">
                  <a:solidFill>
                    <a:srgbClr val="0070C0"/>
                  </a:solidFill>
                  <a:latin typeface="Consolas" pitchFamily="49" charset="0"/>
                </a:endParaRPr>
              </a:p>
              <a:p>
                <a:pPr marL="1371600" lvl="4"/>
                <a:r>
                  <a:rPr lang="en-IN" sz="1100" b="1" dirty="0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(where f(n) is any sqrt or </a:t>
                </a:r>
                <a:r>
                  <a:rPr lang="en-IN" sz="1100" b="1" dirty="0" err="1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cuberoot</a:t>
                </a:r>
                <a:r>
                  <a:rPr lang="en-IN" sz="1100" b="1" dirty="0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 function</a:t>
                </a:r>
                <a:r>
                  <a:rPr lang="en-IN" sz="1000" b="1" dirty="0">
                    <a:solidFill>
                      <a:srgbClr val="0070C0"/>
                    </a:solidFill>
                    <a:latin typeface="Consolas" pitchFamily="49" charset="0"/>
                    <a:cs typeface="Consolas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C4CDBB0-BB8F-445D-8C25-87A9E6624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078" y="4382911"/>
                <a:ext cx="4846320" cy="1446550"/>
              </a:xfrm>
              <a:prstGeom prst="rect">
                <a:avLst/>
              </a:prstGeom>
              <a:blipFill>
                <a:blip r:embed="rId8"/>
                <a:stretch>
                  <a:fillRect l="-627" b="-1674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B122430-6BCC-4699-8EB4-BA364719FAAD}"/>
                  </a:ext>
                </a:extLst>
              </p:cNvPr>
              <p:cNvSpPr/>
              <p:nvPr/>
            </p:nvSpPr>
            <p:spPr>
              <a:xfrm>
                <a:off x="7123302" y="6023813"/>
                <a:ext cx="2843872" cy="50292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𝒍𝒐𝒈𝒍𝒐𝒈𝒏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B122430-6BCC-4699-8EB4-BA364719FA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302" y="6023813"/>
                <a:ext cx="2843872" cy="502920"/>
              </a:xfrm>
              <a:prstGeom prst="rect">
                <a:avLst/>
              </a:prstGeom>
              <a:blipFill>
                <a:blip r:embed="rId9"/>
                <a:stretch>
                  <a:fillRect l="-214" b="-11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0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18" grpId="0" animBg="1"/>
      <p:bldP spid="20" grpId="0" animBg="1"/>
      <p:bldP spid="27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BF74-6FF6-4F1E-B0C2-5B825418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42D38-FBC8-4394-9C0D-D946A8295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931" y="1079010"/>
            <a:ext cx="7413582" cy="451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D449-315C-4BCF-86E4-CFB002CE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A473-E18C-4248-881B-B41218F9F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int fun(int x) 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{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     if(x &lt; 1)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            return;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     fun(x - 1);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     </a:t>
            </a:r>
            <a:r>
              <a:rPr lang="en-IN" sz="2400" dirty="0" err="1">
                <a:latin typeface="Lucida Console" panose="020B0609040504020204" pitchFamily="49" charset="0"/>
              </a:rPr>
              <a:t>printf</a:t>
            </a:r>
            <a:r>
              <a:rPr lang="en-IN" sz="2400" dirty="0">
                <a:latin typeface="Lucida Console" panose="020B0609040504020204" pitchFamily="49" charset="0"/>
              </a:rPr>
              <a:t>("%d ",x);   </a:t>
            </a:r>
          </a:p>
          <a:p>
            <a:pPr marL="0" indent="0" algn="just">
              <a:buNone/>
            </a:pPr>
            <a:r>
              <a:rPr lang="en-IN" sz="2400" dirty="0">
                <a:latin typeface="Lucida Console" panose="020B0609040504020204" pitchFamily="49" charset="0"/>
              </a:rPr>
              <a:t> }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E109-55E2-4745-9808-37F393B9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624" y="965906"/>
            <a:ext cx="5758859" cy="360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2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72A6-24CF-4522-B225-E755A1D2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01AE-7CE3-4AAD-AB58-DC1E34E5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961" y="977744"/>
            <a:ext cx="4731328" cy="5739397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int fun(int n)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if (n &lt; = 1) // base case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    return 1;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else    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    return n + fun(n-1);    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}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95FA5-1419-4429-AADC-0C72BD7AD40B}"/>
              </a:ext>
            </a:extLst>
          </p:cNvPr>
          <p:cNvSpPr txBox="1"/>
          <p:nvPr/>
        </p:nvSpPr>
        <p:spPr>
          <a:xfrm>
            <a:off x="5734049" y="977744"/>
            <a:ext cx="874395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int fun(int n)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</a:t>
            </a:r>
            <a:r>
              <a:rPr lang="en-IN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// wrong base case (it may cause stack overflow).</a:t>
            </a:r>
            <a:endParaRPr lang="en-IN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if (n == 100) 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    return 1;</a:t>
            </a:r>
          </a:p>
          <a:p>
            <a:pPr marL="0" indent="0">
              <a:buNone/>
            </a:pPr>
            <a:endParaRPr lang="en-IN" sz="20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else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    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        return n + fun(n-1);</a:t>
            </a:r>
          </a:p>
          <a:p>
            <a:pPr marL="0" indent="0">
              <a:buNone/>
            </a:pPr>
            <a:r>
              <a:rPr lang="en-IN" sz="2000" dirty="0">
                <a:latin typeface="Lucida Console" panose="020B0609040504020204" pitchFamily="49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18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to find factorial using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Factorial of n</a:t>
            </a:r>
          </a:p>
          <a:p>
            <a:pPr>
              <a:buClr>
                <a:schemeClr val="tx1"/>
              </a:buClr>
            </a:pPr>
            <a:r>
              <a:rPr lang="en-US" dirty="0"/>
              <a:t>Factorial of any number n is denoted as n! and is equal to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n! </a:t>
            </a:r>
            <a:r>
              <a:rPr lang="en-US" dirty="0"/>
              <a:t>= 1 x 2 x 3 x ... x (n – 2) x (n – 1) x n</a:t>
            </a:r>
          </a:p>
          <a:p>
            <a:pPr>
              <a:buClr>
                <a:schemeClr val="tx1"/>
              </a:buClr>
            </a:pPr>
            <a:r>
              <a:rPr lang="en-US" dirty="0"/>
              <a:t>Factorial of 3: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               3! </a:t>
            </a:r>
            <a:r>
              <a:rPr lang="en-US" dirty="0"/>
              <a:t>= 1 x 2 x 3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dirty="0"/>
              <a:t>                   = 6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1FD2DF-2578-406A-AC01-42245033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163" y="3078666"/>
            <a:ext cx="44968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factorial(int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n)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{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int </a:t>
            </a:r>
            <a:r>
              <a:rPr lang="en-US" altLang="en-US" b="1" dirty="0">
                <a:latin typeface="Lucida Console" panose="020B0609040504020204" pitchFamily="49" charset="0"/>
              </a:rPr>
              <a:t>fact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= 1,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Lucida Console" panose="020B060904050402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= 2;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&lt;= n;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++)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fact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=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fact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Lucida Console" panose="020B060904050402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fact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}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95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00" y="838196"/>
            <a:ext cx="11520000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1: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Start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2: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Read number n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3: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Call factorial(n)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4: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Print factorial f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5: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Stop</a:t>
            </a:r>
          </a:p>
          <a:p>
            <a:endParaRPr lang="en-US" sz="2400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factorial(n)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1: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If n==1 then return 1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2: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Else 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   f=n*factorial(n-1)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Step 3: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return f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6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00" y="838196"/>
            <a:ext cx="11520000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int fun(int n)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   if (n &lt; = 1) // base case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       return 1;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   else    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       return n * fun(n-1);    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922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076F-8218-473A-93A2-BCAE112E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6"/>
            <a:ext cx="12192000" cy="711200"/>
          </a:xfrm>
        </p:spPr>
        <p:txBody>
          <a:bodyPr/>
          <a:lstStyle/>
          <a:p>
            <a:r>
              <a:rPr lang="en-IN" dirty="0"/>
              <a:t>Examples: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7930EAE-C5BE-4C29-A954-60113F2AD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419" y="876299"/>
            <a:ext cx="2634456" cy="4128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7376D0-7820-4B9C-A376-D09B16A6F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715" y="911697"/>
            <a:ext cx="3334266" cy="2604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8F27A2-6212-4694-A3FA-E01B5F3E9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40" y="4421580"/>
            <a:ext cx="6926060" cy="187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9DB674-AA93-4D7B-9063-1F761578F792}"/>
              </a:ext>
            </a:extLst>
          </p:cNvPr>
          <p:cNvSpPr/>
          <p:nvPr/>
        </p:nvSpPr>
        <p:spPr>
          <a:xfrm>
            <a:off x="281491" y="5170252"/>
            <a:ext cx="2020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Output: 0 1 2 0 3 0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8C5066-085B-4725-B11B-AA12AE2BDB86}"/>
              </a:ext>
            </a:extLst>
          </p:cNvPr>
          <p:cNvSpPr/>
          <p:nvPr/>
        </p:nvSpPr>
        <p:spPr>
          <a:xfrm>
            <a:off x="5421715" y="3531975"/>
            <a:ext cx="1247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Output: 199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41816-12ED-42B0-ABE0-D7D05ECE58F0}"/>
              </a:ext>
            </a:extLst>
          </p:cNvPr>
          <p:cNvSpPr/>
          <p:nvPr/>
        </p:nvSpPr>
        <p:spPr>
          <a:xfrm>
            <a:off x="8755981" y="5354918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Output: 13</a:t>
            </a:r>
          </a:p>
        </p:txBody>
      </p:sp>
    </p:spTree>
    <p:extLst>
      <p:ext uri="{BB962C8B-B14F-4D97-AF65-F5344CB8AC3E}">
        <p14:creationId xmlns:p14="http://schemas.microsoft.com/office/powerpoint/2010/main" val="262362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Sorting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en-US" dirty="0"/>
              <a:t>Bubble Sort, Selection Sort,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777879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is any process of arranging items systematically or arranging items in a sequence ordered by some criterion.</a:t>
            </a:r>
          </a:p>
          <a:p>
            <a:r>
              <a:rPr lang="en-US" dirty="0"/>
              <a:t>Applications of Sorting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Phone Bill: the calls made are date wise sorted.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Bank statement or Credit card Bill: transactions made are date wise sorted.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Filling forms online: “select country” drop down box will have the name of countries sorted in Alphabetical order.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Online shopping: the items can be sorted price wise, date wise or relevance wise.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Files or folders on your desktop are sorted date wise.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01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– Example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24436"/>
              </p:ext>
            </p:extLst>
          </p:nvPr>
        </p:nvGraphicFramePr>
        <p:xfrm>
          <a:off x="4029892" y="16002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28444" y="1066800"/>
            <a:ext cx="5717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 the following array in Ascending order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96292" y="22860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96292" y="22860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2124892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4892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4892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4892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4892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4175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4175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4175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4175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4175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3458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3458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3458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3458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3458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5267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5267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5267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5267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5267" y="4343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8" name="Freeform 27"/>
          <p:cNvSpPr/>
          <p:nvPr/>
        </p:nvSpPr>
        <p:spPr>
          <a:xfrm>
            <a:off x="2648056" y="2975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124892" y="2819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4892" y="3200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0401" y="292477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2" name="Freeform 31"/>
          <p:cNvSpPr/>
          <p:nvPr/>
        </p:nvSpPr>
        <p:spPr>
          <a:xfrm>
            <a:off x="5296858" y="373166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461771" y="366939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3458" y="3581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63458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36" name="Freeform 35"/>
          <p:cNvSpPr/>
          <p:nvPr/>
        </p:nvSpPr>
        <p:spPr>
          <a:xfrm>
            <a:off x="6830242" y="4118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980000" y="405213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5267" y="39624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5267" y="43434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0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8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554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2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5327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27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27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27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27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74285" y="3692769"/>
            <a:ext cx="103327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043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4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4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43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43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832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8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8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8322" y="2590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832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4679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4679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4679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4679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4679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6" name="Freeform 25"/>
          <p:cNvSpPr/>
          <p:nvPr/>
        </p:nvSpPr>
        <p:spPr>
          <a:xfrm>
            <a:off x="3450052" y="2009975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614965" y="1947707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0432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04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0" name="Freeform 29"/>
          <p:cNvSpPr/>
          <p:nvPr/>
        </p:nvSpPr>
        <p:spPr>
          <a:xfrm>
            <a:off x="4979913" y="2380851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144826" y="231858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8322" y="2209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8322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8671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3 :</a:t>
            </a:r>
            <a:endParaRPr lang="en-US" b="1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5738963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890819" y="1444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90819" y="1825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90819" y="2206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90819" y="2587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90819" y="2968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100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41002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1002" y="2209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41002" y="2590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1002" y="2971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6" name="Freeform 45"/>
          <p:cNvSpPr/>
          <p:nvPr/>
        </p:nvSpPr>
        <p:spPr>
          <a:xfrm>
            <a:off x="6968989" y="161301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7133902" y="155074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24679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24679" y="1828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0" name="Freeform 49"/>
          <p:cNvSpPr/>
          <p:nvPr/>
        </p:nvSpPr>
        <p:spPr>
          <a:xfrm>
            <a:off x="8433905" y="1945533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598818" y="1883265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0819" y="18258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90819" y="22068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8730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4 :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9323714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574402" y="1605528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0739315" y="1543260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41002" y="1447800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41002" y="1828800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26" y="5350599"/>
                <a:ext cx="3994857" cy="984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94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56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0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8" grpId="0" animBg="1"/>
      <p:bldP spid="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buNone/>
            </a:pP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Bubble_Sort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i ← 1 to n-1 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j ← 1 to n-i </a:t>
            </a:r>
            <a:r>
              <a:rPr lang="pt-BR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if  A[j] &gt; A[j+1] then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swap(A[j], A[j+1])</a:t>
            </a:r>
          </a:p>
          <a:p>
            <a:pPr marL="0" indent="0">
              <a:buNone/>
            </a:pPr>
            <a:endParaRPr lang="en-IN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07778" y="3980329"/>
            <a:ext cx="3478175" cy="1573306"/>
          </a:xfrm>
          <a:prstGeom prst="rect">
            <a:avLst/>
          </a:prstGeom>
          <a:solidFill>
            <a:srgbClr val="424242"/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temp ← A[j]</a:t>
            </a:r>
          </a:p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A[j] ← A[j+1]</a:t>
            </a:r>
          </a:p>
          <a:p>
            <a:r>
              <a:rPr lang="en-IN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A[j+1] ← temp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6187" y="3146613"/>
            <a:ext cx="6382872" cy="2339788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878541" y="3585883"/>
            <a:ext cx="4421332" cy="1652944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4894729" y="2601559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729" y="2601559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blipFill>
                <a:blip r:embed="rId2"/>
                <a:stretch>
                  <a:fillRect l="-86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5516221" y="4136334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21" y="4136334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3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It is a simple sorting algorithm that works by </a:t>
                </a:r>
                <a:r>
                  <a:rPr lang="en-US" dirty="0">
                    <a:solidFill>
                      <a:srgbClr val="A71160"/>
                    </a:solidFill>
                  </a:rPr>
                  <a:t>comparing each pair of adjacent items </a:t>
                </a:r>
                <a:r>
                  <a:rPr lang="en-US" dirty="0"/>
                  <a:t>and swapping them if they are in the wrong order.</a:t>
                </a:r>
              </a:p>
              <a:p>
                <a:r>
                  <a:rPr lang="en-US" dirty="0"/>
                  <a:t>The pass through the list is repeated </a:t>
                </a:r>
                <a:r>
                  <a:rPr lang="en-US" dirty="0">
                    <a:solidFill>
                      <a:srgbClr val="A71160"/>
                    </a:solidFill>
                  </a:rPr>
                  <a:t>until no swaps are needed</a:t>
                </a:r>
                <a:r>
                  <a:rPr lang="en-US" dirty="0"/>
                  <a:t>, which indicates that the list is sorted.</a:t>
                </a:r>
              </a:p>
              <a:p>
                <a:r>
                  <a:rPr lang="en-US" dirty="0"/>
                  <a:t>As it only uses comparisons to operate on elements, it is a </a:t>
                </a:r>
                <a:r>
                  <a:rPr lang="en-US" dirty="0">
                    <a:solidFill>
                      <a:srgbClr val="A71160"/>
                    </a:solidFill>
                  </a:rPr>
                  <a:t>comparison sort.</a:t>
                </a:r>
              </a:p>
              <a:p>
                <a:r>
                  <a:rPr lang="en-US" dirty="0"/>
                  <a:t>Although the algorithm is simple, it is </a:t>
                </a:r>
                <a:r>
                  <a:rPr lang="en-US" dirty="0">
                    <a:solidFill>
                      <a:srgbClr val="A71160"/>
                    </a:solidFill>
                  </a:rPr>
                  <a:t>too slow </a:t>
                </a:r>
                <a:r>
                  <a:rPr lang="en-US" dirty="0"/>
                  <a:t>for practical use.</a:t>
                </a:r>
              </a:p>
              <a:p>
                <a:r>
                  <a:rPr lang="en-US" dirty="0"/>
                  <a:t>The time complexity of bubble sort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78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Algorithm – Best Case Analysis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Bubble_Sort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flag=1;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for i ← 1 to n-1 do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for j ← 1 to n-i </a:t>
            </a:r>
            <a:r>
              <a:rPr lang="pt-BR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  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if  A[j] &gt; A[j+1] then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	flag = 0;</a:t>
            </a:r>
          </a:p>
          <a:p>
            <a:pPr marL="0" indent="0">
              <a:buNone/>
            </a:pPr>
            <a:r>
              <a:rPr lang="en-IN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 			</a:t>
            </a:r>
            <a:r>
              <a:rPr lang="en-IN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swap(A[j],A[j+1])</a:t>
            </a:r>
          </a:p>
          <a:p>
            <a:pPr marL="0" indent="-87312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if(flag == 1)</a:t>
            </a:r>
          </a:p>
          <a:p>
            <a:pPr marL="581025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sz="2400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cout</a:t>
            </a: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&lt;&lt;"already sorted"&lt;&lt;</a:t>
            </a:r>
            <a:r>
              <a:rPr lang="en-US" sz="2400" b="1" dirty="0" err="1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endl</a:t>
            </a:r>
            <a:endParaRPr lang="en-US" sz="2400" b="1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581025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CE0EE"/>
                </a:solidFill>
                <a:latin typeface="Consolas" pitchFamily="49" charset="0"/>
                <a:cs typeface="Consolas" pitchFamily="49" charset="0"/>
              </a:rPr>
              <a:t>		break; </a:t>
            </a:r>
            <a:endParaRPr lang="en-IN" sz="2400" b="1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IN" b="1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FCE0EE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447692" y="1011469"/>
            <a:ext cx="920445" cy="36933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Pass 1 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76292" y="2306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76292" y="2687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76292" y="3068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76292" y="1543474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76292" y="1925869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96821" y="1011469"/>
            <a:ext cx="817853" cy="369332"/>
          </a:xfrm>
          <a:prstGeom prst="rect">
            <a:avLst/>
          </a:prstGeom>
          <a:noFill/>
          <a:ln w="28575">
            <a:solidFill>
              <a:srgbClr val="ED524F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45231" y="3570700"/>
            <a:ext cx="2377440" cy="4572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496821" y="1532544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1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96821" y="1912949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88649" y="2295541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3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88649" y="2689009"/>
            <a:ext cx="817853" cy="369332"/>
          </a:xfrm>
          <a:prstGeom prst="rect">
            <a:avLst/>
          </a:prstGeom>
          <a:noFill/>
          <a:ln w="12700">
            <a:solidFill>
              <a:srgbClr val="ED524F"/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IN" b="1" dirty="0">
                <a:solidFill>
                  <a:srgbClr val="ED524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4</a:t>
            </a:r>
            <a:endParaRPr lang="en-US" b="1" dirty="0">
              <a:solidFill>
                <a:srgbClr val="ED524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261566" y="3616234"/>
                <a:ext cx="2644140" cy="830997"/>
              </a:xfrm>
              <a:prstGeom prst="rect">
                <a:avLst/>
              </a:prstGeom>
              <a:noFill/>
              <a:ln>
                <a:solidFill>
                  <a:srgbClr val="FDEDF5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ea typeface="Cambria Math" panose="02040503050406030204" pitchFamily="18" charset="0"/>
                  </a:rPr>
                  <a:t>Best case time complexity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566" y="3616234"/>
                <a:ext cx="2644140" cy="830997"/>
              </a:xfrm>
              <a:prstGeom prst="rect">
                <a:avLst/>
              </a:prstGeom>
              <a:blipFill>
                <a:blip r:embed="rId2"/>
                <a:stretch>
                  <a:fillRect t="-4317" b="-15108"/>
                </a:stretch>
              </a:blipFill>
              <a:ln>
                <a:solidFill>
                  <a:srgbClr val="FDEDF5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018214" y="5839096"/>
            <a:ext cx="1066800" cy="4572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ular Callout 23"/>
          <p:cNvSpPr/>
          <p:nvPr/>
        </p:nvSpPr>
        <p:spPr>
          <a:xfrm>
            <a:off x="4752705" y="2486484"/>
            <a:ext cx="1981200" cy="903328"/>
          </a:xfrm>
          <a:prstGeom prst="wedgeRoundRectCallout">
            <a:avLst>
              <a:gd name="adj1" fmla="val -36599"/>
              <a:gd name="adj2" fmla="val 74735"/>
              <a:gd name="adj3" fmla="val 16667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sz="2000" dirty="0">
                <a:solidFill>
                  <a:schemeClr val="accent5"/>
                </a:solidFill>
              </a:rPr>
              <a:t>ondition never becomes true</a:t>
            </a:r>
          </a:p>
        </p:txBody>
      </p:sp>
      <p:cxnSp>
        <p:nvCxnSpPr>
          <p:cNvPr id="25" name="Elbow Connector 24"/>
          <p:cNvCxnSpPr>
            <a:endCxn id="23" idx="1"/>
          </p:cNvCxnSpPr>
          <p:nvPr/>
        </p:nvCxnSpPr>
        <p:spPr>
          <a:xfrm rot="16200000" flipH="1">
            <a:off x="1316468" y="5365950"/>
            <a:ext cx="708982" cy="694509"/>
          </a:xfrm>
          <a:prstGeom prst="bentConnector2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13021 0.1951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0" y="9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33820"/>
              </p:ext>
            </p:extLst>
          </p:nvPr>
        </p:nvGraphicFramePr>
        <p:xfrm>
          <a:off x="4070046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533400" y="2286000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3400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6943"/>
              </p:ext>
            </p:extLst>
          </p:nvPr>
        </p:nvGraphicFramePr>
        <p:xfrm>
          <a:off x="651928" y="3032760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35076" y="2571095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575039"/>
              </p:ext>
            </p:extLst>
          </p:nvPr>
        </p:nvGraphicFramePr>
        <p:xfrm>
          <a:off x="651928" y="3566160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33400" y="42026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3400" y="42026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3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31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65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99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33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54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697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31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365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99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3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6846" y="4339479"/>
            <a:ext cx="5930537" cy="1754326"/>
          </a:xfrm>
          <a:prstGeom prst="rect">
            <a:avLst/>
          </a:prstGeom>
          <a:solidFill>
            <a:srgbClr val="FCE0EE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 err="1"/>
              <a:t>Minj</a:t>
            </a:r>
            <a:r>
              <a:rPr lang="en-US" dirty="0"/>
              <a:t> denotes the current index and </a:t>
            </a:r>
            <a:r>
              <a:rPr lang="en-US" b="1" dirty="0"/>
              <a:t>Minx</a:t>
            </a:r>
            <a:r>
              <a:rPr lang="en-US" dirty="0"/>
              <a:t> is the value stored at current index.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/>
              <a:t>So, </a:t>
            </a:r>
            <a:r>
              <a:rPr lang="en-US" b="1" dirty="0" err="1"/>
              <a:t>Minj</a:t>
            </a:r>
            <a:r>
              <a:rPr lang="en-US" b="1" dirty="0"/>
              <a:t> = 1, Minx = 5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Assume that currently </a:t>
            </a:r>
            <a:r>
              <a:rPr lang="en-US" b="1" dirty="0"/>
              <a:t>Minx</a:t>
            </a:r>
            <a:r>
              <a:rPr lang="en-US" dirty="0"/>
              <a:t> is the smallest value.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Now find the smallest value from the remaining entire Unsorted array.</a:t>
            </a:r>
          </a:p>
        </p:txBody>
      </p:sp>
      <p:sp>
        <p:nvSpPr>
          <p:cNvPr id="30" name="Freeform 29"/>
          <p:cNvSpPr/>
          <p:nvPr/>
        </p:nvSpPr>
        <p:spPr>
          <a:xfrm rot="10800000" flipV="1">
            <a:off x="1289637" y="4915377"/>
            <a:ext cx="3734440" cy="178355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289637" y="4572000"/>
            <a:ext cx="37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(elements 2 to 8)</a:t>
            </a:r>
          </a:p>
        </p:txBody>
      </p:sp>
      <p:sp>
        <p:nvSpPr>
          <p:cNvPr id="32" name="Freeform 31"/>
          <p:cNvSpPr/>
          <p:nvPr/>
        </p:nvSpPr>
        <p:spPr>
          <a:xfrm>
            <a:off x="1018674" y="5867400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385429" y="6096000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2144" y="6061167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4, value = -5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618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4381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525782" y="1979455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9182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1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35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69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3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37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118" y="1979455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2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9182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1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35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69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3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7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118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Freeform 20"/>
          <p:cNvSpPr/>
          <p:nvPr/>
        </p:nvSpPr>
        <p:spPr>
          <a:xfrm>
            <a:off x="1592582" y="1793329"/>
            <a:ext cx="3207937" cy="14665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484294" y="144040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(elements 3 to 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834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Minj</a:t>
            </a:r>
            <a:r>
              <a:rPr lang="en-US" b="1" dirty="0"/>
              <a:t> = 2, Minx =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507" y="3059668"/>
            <a:ext cx="6343404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 Swapping as min value is already at right place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9182" y="1979455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525782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9182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1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335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69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3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337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1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2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9182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01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35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669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3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37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118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5" name="Freeform 44"/>
          <p:cNvSpPr/>
          <p:nvPr/>
        </p:nvSpPr>
        <p:spPr>
          <a:xfrm>
            <a:off x="2133518" y="4560141"/>
            <a:ext cx="2667001" cy="10147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516382" y="3874341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4 to 8)</a:t>
            </a:r>
          </a:p>
        </p:txBody>
      </p:sp>
      <p:sp>
        <p:nvSpPr>
          <p:cNvPr id="49" name="Freeform 48"/>
          <p:cNvSpPr/>
          <p:nvPr/>
        </p:nvSpPr>
        <p:spPr>
          <a:xfrm>
            <a:off x="1848771" y="5574268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215526" y="5802868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00118" y="47536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318" y="47536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21834" y="3847488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Minj</a:t>
            </a:r>
            <a:r>
              <a:rPr lang="en-US" b="1" dirty="0"/>
              <a:t> = 3, Minx = 12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1834" y="2521133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2, value =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4855031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6, value = 2</a:t>
            </a:r>
          </a:p>
        </p:txBody>
      </p:sp>
    </p:spTree>
    <p:extLst>
      <p:ext uri="{BB962C8B-B14F-4D97-AF65-F5344CB8AC3E}">
        <p14:creationId xmlns:p14="http://schemas.microsoft.com/office/powerpoint/2010/main" val="302126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/>
      <p:bldP spid="49" grpId="0" animBg="1"/>
      <p:bldP spid="50" grpId="0"/>
      <p:bldP spid="51" grpId="0" animBg="1"/>
      <p:bldP spid="52" grpId="0" animBg="1"/>
      <p:bldP spid="54" grpId="0" animBg="1"/>
      <p:bldP spid="55" grpId="0" animBg="1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2181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5581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6517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99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3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67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01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3517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181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5581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65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99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674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67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01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3517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4" name="Freeform 23"/>
          <p:cNvSpPr/>
          <p:nvPr/>
        </p:nvSpPr>
        <p:spPr>
          <a:xfrm>
            <a:off x="2793316" y="2033873"/>
            <a:ext cx="2133601" cy="12424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2181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5581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265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599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33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67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601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3517" y="5210837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181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5581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265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99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933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267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601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93517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3" name="Freeform 42"/>
          <p:cNvSpPr/>
          <p:nvPr/>
        </p:nvSpPr>
        <p:spPr>
          <a:xfrm>
            <a:off x="3326716" y="5017341"/>
            <a:ext cx="1600201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3058307" y="5943057"/>
            <a:ext cx="533400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874100" y="617165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70654" y="13480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5 to 8)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59917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4881" y="43036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6 to 8)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93317" y="5210837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26717" y="5210837"/>
            <a:ext cx="5334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891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Minj</a:t>
            </a:r>
            <a:r>
              <a:rPr lang="en-US" b="1" dirty="0"/>
              <a:t> = 4, Minx = 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507" y="3059668"/>
            <a:ext cx="6343404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 Swapping as min value is already at right place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3847488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Minj</a:t>
            </a:r>
            <a:r>
              <a:rPr lang="en-US" b="1" dirty="0"/>
              <a:t> = 5, Minx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15891" y="2534195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4, value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1834" y="4924698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6, value = 12</a:t>
            </a:r>
          </a:p>
        </p:txBody>
      </p:sp>
    </p:spTree>
    <p:extLst>
      <p:ext uri="{BB962C8B-B14F-4D97-AF65-F5344CB8AC3E}">
        <p14:creationId xmlns:p14="http://schemas.microsoft.com/office/powerpoint/2010/main" val="133185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81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2" grpId="0" animBg="1"/>
      <p:bldP spid="43" grpId="0" animBg="1"/>
      <p:bldP spid="46" grpId="0" animBg="1"/>
      <p:bldP spid="47" grpId="0"/>
      <p:bldP spid="48" grpId="0"/>
      <p:bldP spid="50" grpId="0" animBg="1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85432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85432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6412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9812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07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41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75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09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43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7748" y="22273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412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9812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07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41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75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09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43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7748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4" name="Freeform 23"/>
          <p:cNvSpPr/>
          <p:nvPr/>
        </p:nvSpPr>
        <p:spPr>
          <a:xfrm>
            <a:off x="3864348" y="2033873"/>
            <a:ext cx="1066801" cy="164513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3600258" y="29834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431886" y="32120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0948" y="22273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64348" y="2227369"/>
            <a:ext cx="533400" cy="381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4871" y="1375875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(elements 7 to 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412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9812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7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641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75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09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64348" y="50467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7748" y="5046769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6412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9812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07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641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975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09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643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7748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" name="Freeform 47"/>
          <p:cNvSpPr/>
          <p:nvPr/>
        </p:nvSpPr>
        <p:spPr>
          <a:xfrm>
            <a:off x="4397749" y="4853273"/>
            <a:ext cx="533400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4126264" y="58028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33012" y="60314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643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97748" y="5046769"/>
            <a:ext cx="533400" cy="381000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50816" y="4177959"/>
            <a:ext cx="169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A71160"/>
                </a:solidFill>
              </a:rPr>
              <a:t>(element 8)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1834" y="148746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Now </a:t>
            </a:r>
            <a:r>
              <a:rPr lang="en-US" b="1" dirty="0" err="1"/>
              <a:t>Minj</a:t>
            </a:r>
            <a:r>
              <a:rPr lang="en-US" b="1" dirty="0"/>
              <a:t> = 6, Minx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1834" y="4147936"/>
            <a:ext cx="3618999" cy="923330"/>
          </a:xfrm>
          <a:prstGeom prst="rect">
            <a:avLst/>
          </a:prstGeom>
          <a:solidFill>
            <a:srgbClr val="FCE0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Minj</a:t>
            </a:r>
            <a:r>
              <a:rPr lang="en-US" b="1" dirty="0"/>
              <a:t> = 7, Minx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Find min value from remaining unsorted  array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1834" y="2547261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7, value =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1834" y="5212084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A71160"/>
                </a:solidFill>
              </a:rPr>
              <a:t>Index = 8, value =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2891" y="5995851"/>
            <a:ext cx="393192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890E4F"/>
                </a:solidFill>
              </a:rPr>
              <a:t>The entire array is sorted now.</a:t>
            </a:r>
          </a:p>
        </p:txBody>
      </p:sp>
    </p:spTree>
    <p:extLst>
      <p:ext uri="{BB962C8B-B14F-4D97-AF65-F5344CB8AC3E}">
        <p14:creationId xmlns:p14="http://schemas.microsoft.com/office/powerpoint/2010/main" val="11544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90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10"/>
                            </p:stCondLst>
                            <p:childTnLst>
                              <p:par>
                                <p:cTn id="93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10"/>
                            </p:stCondLst>
                            <p:childTnLst>
                              <p:par>
                                <p:cTn id="182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51" grpId="0" animBg="1"/>
      <p:bldP spid="52" grpId="0"/>
      <p:bldP spid="53" grpId="0" animBg="1"/>
      <p:bldP spid="54" grpId="0" animBg="1"/>
      <p:bldP spid="55" grpId="0"/>
      <p:bldP spid="56" grpId="0" animBg="1"/>
      <p:bldP spid="57" grpId="0" animBg="1"/>
      <p:bldP spid="58" grpId="0" animBg="1"/>
      <p:bldP spid="59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Selection sort divides the array or list into two parts, 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/>
                  <a:t>The sorted part at the left end 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/>
                  <a:t>and the unsorted part at the right end. </a:t>
                </a:r>
              </a:p>
              <a:p>
                <a:r>
                  <a:rPr lang="en-US" dirty="0"/>
                  <a:t>Initially, the sorted part is empty and the unsorted part is the entire list.</a:t>
                </a:r>
              </a:p>
              <a:p>
                <a:r>
                  <a:rPr lang="en-US" dirty="0"/>
                  <a:t>The smallest element is selected from the unsorted array and swapped with the leftmost element, and that element becomes a part of the sorted array.</a:t>
                </a:r>
              </a:p>
              <a:p>
                <a:r>
                  <a:rPr lang="en-US" dirty="0"/>
                  <a:t>Then it finds the second smallest element and exchanges it with the element in the second leftmost position.</a:t>
                </a:r>
              </a:p>
              <a:p>
                <a:r>
                  <a:rPr lang="en-US" dirty="0"/>
                  <a:t>This process continues until the entire array is sorted.</a:t>
                </a:r>
              </a:p>
              <a:p>
                <a:r>
                  <a:rPr lang="en-US" dirty="0"/>
                  <a:t>The time complexity of selection sort is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A711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755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1 to n-1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← i + 1 to n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then</a:t>
            </a:r>
          </a:p>
          <a:p>
            <a:pPr marL="2743200" lvl="6" indent="0">
              <a:spcBef>
                <a:spcPts val="600"/>
              </a:spcBef>
              <a:buNone/>
            </a:pP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j;</a:t>
            </a:r>
          </a:p>
          <a:p>
            <a:pPr marL="2743200" lvl="6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minx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A[j];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minx;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441322" y="2911481"/>
            <a:ext cx="6382872" cy="326725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701501" y="4121461"/>
            <a:ext cx="3749040" cy="118872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5534809" y="2366427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809" y="2366427"/>
                <a:ext cx="762000" cy="4572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blipFill>
                <a:blip r:embed="rId2"/>
                <a:stretch>
                  <a:fillRect l="-8661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5659912" y="4384529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912" y="4384529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54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894803"/>
            <a:ext cx="5181600" cy="3093154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000" b="1" dirty="0" err="1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 minx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 + 1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; 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4114800"/>
            <a:ext cx="10972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05303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93639"/>
              </p:ext>
            </p:extLst>
          </p:nvPr>
        </p:nvGraphicFramePr>
        <p:xfrm>
          <a:off x="110163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95800" y="4161291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Sort in Ascending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633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633" y="2152447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1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59633" y="2622742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45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059633" y="309031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028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304799" y="1293039"/>
            <a:ext cx="3108960" cy="381680"/>
          </a:xfrm>
          <a:prstGeom prst="roundRect">
            <a:avLst/>
          </a:prstGeom>
          <a:noFill/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52534"/>
              </p:ext>
            </p:extLst>
          </p:nvPr>
        </p:nvGraphicFramePr>
        <p:xfrm>
          <a:off x="1101635" y="5291751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101635" y="4839788"/>
            <a:ext cx="762000" cy="4572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313" y="2066341"/>
            <a:ext cx="3000103" cy="370709"/>
          </a:xfrm>
          <a:prstGeom prst="round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219200" y="2463175"/>
            <a:ext cx="4191000" cy="74811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016035" y="48350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32481" y="2617984"/>
            <a:ext cx="548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481" y="2118787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0202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481" y="2617984"/>
            <a:ext cx="54864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633" y="3624888"/>
            <a:ext cx="1783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A[j] =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412" y="3634602"/>
            <a:ext cx="5378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4218" y="2622677"/>
            <a:ext cx="1184366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 Change</a:t>
            </a:r>
          </a:p>
        </p:txBody>
      </p:sp>
    </p:spTree>
    <p:extLst>
      <p:ext uri="{BB962C8B-B14F-4D97-AF65-F5344CB8AC3E}">
        <p14:creationId xmlns:p14="http://schemas.microsoft.com/office/powerpoint/2010/main" val="256122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0.04141 0.052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07407E-6 L 0.06185 0.00069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4" grpId="1" animBg="1"/>
      <p:bldP spid="14" grpId="2" animBg="1"/>
      <p:bldP spid="16" grpId="0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/>
      <p:bldP spid="24" grpId="0" animBg="1"/>
      <p:bldP spid="25" grpId="0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–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894803"/>
            <a:ext cx="5181600" cy="3093154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000" b="1" dirty="0" err="1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000" b="1" dirty="0">
                <a:solidFill>
                  <a:srgbClr val="A7116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0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 minx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sz="20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 + 1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to </a:t>
            </a:r>
            <a:r>
              <a:rPr lang="pt-B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; 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0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4114800"/>
            <a:ext cx="10972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05303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19044"/>
              </p:ext>
            </p:extLst>
          </p:nvPr>
        </p:nvGraphicFramePr>
        <p:xfrm>
          <a:off x="110163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95800" y="4161291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Sort in Ascending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633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A711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633" y="2152447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2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59633" y="2622742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34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059633" y="309031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028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688459"/>
              </p:ext>
            </p:extLst>
          </p:nvPr>
        </p:nvGraphicFramePr>
        <p:xfrm>
          <a:off x="1101635" y="5291751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101635" y="4839788"/>
            <a:ext cx="762000" cy="4572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935" y="2024743"/>
            <a:ext cx="4293327" cy="1186542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544389" y="48350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32482" y="2631046"/>
            <a:ext cx="548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482" y="2144913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7950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481" y="2631046"/>
            <a:ext cx="54864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633" y="3624888"/>
            <a:ext cx="1783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A[j] =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7286" y="3634602"/>
            <a:ext cx="5378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356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1658983" y="3135086"/>
            <a:ext cx="32004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10762" y="3090316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126" y="2153620"/>
            <a:ext cx="3657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347862"/>
              </p:ext>
            </p:extLst>
          </p:nvPr>
        </p:nvGraphicFramePr>
        <p:xfrm>
          <a:off x="7685185" y="48397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354381"/>
              </p:ext>
            </p:extLst>
          </p:nvPr>
        </p:nvGraphicFramePr>
        <p:xfrm>
          <a:off x="7685185" y="5265626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10733185" y="4845013"/>
            <a:ext cx="749808" cy="438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5185" y="4848932"/>
            <a:ext cx="762000" cy="448056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5" name="Freeform 34"/>
          <p:cNvSpPr/>
          <p:nvPr/>
        </p:nvSpPr>
        <p:spPr>
          <a:xfrm>
            <a:off x="8495381" y="4648938"/>
            <a:ext cx="2976289" cy="14282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9261539" y="4239668"/>
            <a:ext cx="157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Unsorted Array</a:t>
            </a:r>
          </a:p>
        </p:txBody>
      </p:sp>
      <p:sp>
        <p:nvSpPr>
          <p:cNvPr id="37" name="Freeform 36"/>
          <p:cNvSpPr/>
          <p:nvPr/>
        </p:nvSpPr>
        <p:spPr>
          <a:xfrm>
            <a:off x="1489166" y="5574267"/>
            <a:ext cx="3043645" cy="27789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2424531" y="5855120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Swap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9205"/>
              </p:ext>
            </p:extLst>
          </p:nvPr>
        </p:nvGraphicFramePr>
        <p:xfrm>
          <a:off x="4364658" y="6035792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4364658" y="6035792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2254" y="6035792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0658" y="6033560"/>
            <a:ext cx="79952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0658" y="6032939"/>
            <a:ext cx="817140" cy="46290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0509" y="6034650"/>
            <a:ext cx="758952" cy="459485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4057" y="6035792"/>
            <a:ext cx="758952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9850" y="6033558"/>
            <a:ext cx="762000" cy="45720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435" y="3220823"/>
            <a:ext cx="2516776" cy="74811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06223 0.00069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4" grpId="0" animBg="1"/>
      <p:bldP spid="25" grpId="0"/>
      <p:bldP spid="26" grpId="0" animBg="1"/>
      <p:bldP spid="28" grpId="0"/>
      <p:bldP spid="29" grpId="0"/>
      <p:bldP spid="30" grpId="0" animBg="1"/>
      <p:bldP spid="33" grpId="0" animBg="1"/>
      <p:bldP spid="34" grpId="0" animBg="1"/>
      <p:bldP spid="35" grpId="0" animBg="1"/>
      <p:bldP spid="36" grpId="0"/>
      <p:bldP spid="37" grpId="0" animBg="1"/>
      <p:bldP spid="38" grpId="0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3" grpId="0" animBg="1"/>
      <p:bldP spid="4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54232"/>
              </p:ext>
            </p:extLst>
          </p:nvPr>
        </p:nvGraphicFramePr>
        <p:xfrm>
          <a:off x="2580881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38353" y="22860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8353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05749"/>
              </p:ext>
            </p:extLst>
          </p:nvPr>
        </p:nvGraphicFramePr>
        <p:xfrm>
          <a:off x="1056881" y="2976264"/>
          <a:ext cx="5215472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029" y="2514600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82252"/>
              </p:ext>
            </p:extLst>
          </p:nvPr>
        </p:nvGraphicFramePr>
        <p:xfrm>
          <a:off x="1056881" y="3509665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938353" y="40386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8353" y="40386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89476" y="4632992"/>
                <a:ext cx="142058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476" y="4632992"/>
                <a:ext cx="14205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166953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0353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12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46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80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14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48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8289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78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22412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1180016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7746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33080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8414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3748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908289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87290" y="5018748"/>
                <a:ext cx="3631475" cy="12003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4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A71160"/>
                    </a:solidFill>
                  </a:rPr>
                  <a:t> </a:t>
                </a:r>
                <a:r>
                  <a:rPr lang="en-US" sz="24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4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290" y="5018748"/>
                <a:ext cx="3631475" cy="1200329"/>
              </a:xfrm>
              <a:prstGeom prst="rect">
                <a:avLst/>
              </a:prstGeom>
              <a:blipFill>
                <a:blip r:embed="rId3"/>
                <a:stretch>
                  <a:fillRect l="-2689" t="-4061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1431162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chemeClr val="accent5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53473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453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537276" y="4632992"/>
                <a:ext cx="218040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276" y="4632992"/>
                <a:ext cx="2180404" cy="369332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166953" y="5002324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9990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95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29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63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3953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7353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6516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2" name="Oval 41"/>
          <p:cNvSpPr/>
          <p:nvPr/>
        </p:nvSpPr>
        <p:spPr>
          <a:xfrm>
            <a:off x="1243153" y="5006789"/>
            <a:ext cx="375237" cy="408803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1159310" y="4501172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10" y="4501172"/>
                <a:ext cx="533400" cy="381000"/>
              </a:xfrm>
              <a:prstGeom prst="rect">
                <a:avLst/>
              </a:prstGeom>
              <a:blipFill>
                <a:blip r:embed="rId5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/>
          <p:cNvSpPr/>
          <p:nvPr/>
        </p:nvSpPr>
        <p:spPr>
          <a:xfrm>
            <a:off x="6780992" y="4622940"/>
            <a:ext cx="643226" cy="38943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6780992" y="4953000"/>
            <a:ext cx="64322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75661" y="4948646"/>
            <a:ext cx="533400" cy="56385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7042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1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04258 -0.00023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3" grpId="0" animBg="1"/>
      <p:bldP spid="34" grpId="0"/>
      <p:bldP spid="34" grpId="1"/>
      <p:bldP spid="35" grpId="0"/>
      <p:bldP spid="35" grpId="1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2" grpId="1" animBg="1"/>
      <p:bldP spid="44" grpId="0"/>
      <p:bldP spid="44" grpId="1"/>
      <p:bldP spid="45" grpId="0" animBg="1"/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593068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276346" y="3988521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3988521"/>
                <a:ext cx="158690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270170" y="4372438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170" y="4372438"/>
                <a:ext cx="3775167" cy="1015663"/>
              </a:xfrm>
              <a:prstGeom prst="rect">
                <a:avLst/>
              </a:prstGeom>
              <a:blipFill>
                <a:blip r:embed="rId3"/>
                <a:stretch>
                  <a:fillRect l="-1777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926983" y="3988521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983" y="3988521"/>
                <a:ext cx="2133600" cy="369332"/>
              </a:xfrm>
              <a:prstGeom prst="rect">
                <a:avLst/>
              </a:prstGeom>
              <a:blipFill>
                <a:blip r:embed="rId4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289770" y="1603735"/>
                <a:ext cx="1558439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770" y="1603735"/>
                <a:ext cx="15584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blipFill>
                <a:blip r:embed="rId6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/>
          <p:cNvSpPr/>
          <p:nvPr/>
        </p:nvSpPr>
        <p:spPr>
          <a:xfrm>
            <a:off x="11147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81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89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224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558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892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226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56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55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98" name="Rectangle 97"/>
          <p:cNvSpPr/>
          <p:nvPr/>
        </p:nvSpPr>
        <p:spPr>
          <a:xfrm>
            <a:off x="2189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99" name="Rectangle 98"/>
          <p:cNvSpPr/>
          <p:nvPr/>
        </p:nvSpPr>
        <p:spPr>
          <a:xfrm>
            <a:off x="1114701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0" name="Rectangle 99"/>
          <p:cNvSpPr/>
          <p:nvPr/>
        </p:nvSpPr>
        <p:spPr>
          <a:xfrm>
            <a:off x="27224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1" name="Rectangle 100"/>
          <p:cNvSpPr/>
          <p:nvPr/>
        </p:nvSpPr>
        <p:spPr>
          <a:xfrm>
            <a:off x="32558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2" name="Rectangle 101"/>
          <p:cNvSpPr/>
          <p:nvPr/>
        </p:nvSpPr>
        <p:spPr>
          <a:xfrm>
            <a:off x="37892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3" name="Rectangle 102"/>
          <p:cNvSpPr/>
          <p:nvPr/>
        </p:nvSpPr>
        <p:spPr>
          <a:xfrm>
            <a:off x="4322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4" name="Rectangle 103"/>
          <p:cNvSpPr/>
          <p:nvPr/>
        </p:nvSpPr>
        <p:spPr>
          <a:xfrm>
            <a:off x="4856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5" name="TextBox 104"/>
          <p:cNvSpPr txBox="1"/>
          <p:nvPr/>
        </p:nvSpPr>
        <p:spPr>
          <a:xfrm>
            <a:off x="1114701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538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87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206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540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817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151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54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147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481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89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224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558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892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3226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56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55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2" name="Rectangle 121"/>
          <p:cNvSpPr/>
          <p:nvPr/>
        </p:nvSpPr>
        <p:spPr>
          <a:xfrm>
            <a:off x="2189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3" name="Rectangle 122"/>
          <p:cNvSpPr/>
          <p:nvPr/>
        </p:nvSpPr>
        <p:spPr>
          <a:xfrm>
            <a:off x="1114701" y="1908444"/>
            <a:ext cx="533400" cy="56385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27224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5" name="Rectangle 124"/>
          <p:cNvSpPr/>
          <p:nvPr/>
        </p:nvSpPr>
        <p:spPr>
          <a:xfrm>
            <a:off x="32558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6" name="Rectangle 125"/>
          <p:cNvSpPr/>
          <p:nvPr/>
        </p:nvSpPr>
        <p:spPr>
          <a:xfrm>
            <a:off x="37892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7" name="Rectangle 126"/>
          <p:cNvSpPr/>
          <p:nvPr/>
        </p:nvSpPr>
        <p:spPr>
          <a:xfrm>
            <a:off x="4322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8" name="Rectangle 127"/>
          <p:cNvSpPr/>
          <p:nvPr/>
        </p:nvSpPr>
        <p:spPr>
          <a:xfrm>
            <a:off x="4856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1101221" y="3135868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No Shift will take place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27764" y="1970830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538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87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206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540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817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151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54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138" name="Oval 137"/>
          <p:cNvSpPr/>
          <p:nvPr/>
        </p:nvSpPr>
        <p:spPr>
          <a:xfrm>
            <a:off x="1700619" y="196418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2244403" y="5002720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697704" y="5010233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1114229" y="4998816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-5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89836" y="3988521"/>
            <a:ext cx="819186" cy="389435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7012583" y="4330332"/>
            <a:ext cx="824901" cy="291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 144"/>
              <p:cNvSpPr/>
              <p:nvPr/>
            </p:nvSpPr>
            <p:spPr>
              <a:xfrm>
                <a:off x="2206303" y="452548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5" name="Rectangle 1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303" y="4525486"/>
                <a:ext cx="533400" cy="381000"/>
              </a:xfrm>
              <a:prstGeom prst="rect">
                <a:avLst/>
              </a:prstGeom>
              <a:blipFill>
                <a:blip r:embed="rId8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/>
              <p:cNvSpPr/>
              <p:nvPr/>
            </p:nvSpPr>
            <p:spPr>
              <a:xfrm>
                <a:off x="1662519" y="1432649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6" name="Rectangle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19" y="1432649"/>
                <a:ext cx="533400" cy="381000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Straight Connector 146"/>
          <p:cNvCxnSpPr/>
          <p:nvPr/>
        </p:nvCxnSpPr>
        <p:spPr>
          <a:xfrm>
            <a:off x="7051770" y="1933878"/>
            <a:ext cx="66858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Rectangle 147"/>
              <p:cNvSpPr/>
              <p:nvPr/>
            </p:nvSpPr>
            <p:spPr>
              <a:xfrm>
                <a:off x="1127178" y="450700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148" name="Rectangle 1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78" y="4507006"/>
                <a:ext cx="533400" cy="381000"/>
              </a:xfrm>
              <a:prstGeom prst="rect">
                <a:avLst/>
              </a:prstGeom>
              <a:blipFill>
                <a:blip r:embed="rId10"/>
                <a:stretch>
                  <a:fillRect b="-126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Freeform 148"/>
          <p:cNvSpPr/>
          <p:nvPr/>
        </p:nvSpPr>
        <p:spPr>
          <a:xfrm>
            <a:off x="2485051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2207362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951651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1673962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1378910" y="5737411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/>
          <p:cNvSpPr txBox="1"/>
          <p:nvPr/>
        </p:nvSpPr>
        <p:spPr>
          <a:xfrm>
            <a:off x="1101221" y="58790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9" name="Oval 78"/>
          <p:cNvSpPr/>
          <p:nvPr/>
        </p:nvSpPr>
        <p:spPr>
          <a:xfrm>
            <a:off x="1144710" y="4992816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5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2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7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4427 0.00023 " pathEditMode="relative" rAng="0" ptsTypes="AA">
                                      <p:cBhvr>
                                        <p:cTn id="26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000"/>
                            </p:stCondLst>
                            <p:childTnLst>
                              <p:par>
                                <p:cTn id="2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04218 0.00185 " pathEditMode="relative" rAng="0" ptsTypes="AA">
                                      <p:cBhvr>
                                        <p:cTn id="272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" y="93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3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4375 -7.40741E-7 " pathEditMode="relative" rAng="0" ptsTypes="AA">
                                      <p:cBhvr>
                                        <p:cTn id="296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3" y="93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5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04427 0.0007 " pathEditMode="relative" rAng="0" ptsTypes="AA">
                                      <p:cBhvr>
                                        <p:cTn id="328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"/>
                            </p:stCondLst>
                            <p:childTnLst>
                              <p:par>
                                <p:cTn id="3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2" grpId="1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/>
      <p:bldP spid="105" grpId="1"/>
      <p:bldP spid="106" grpId="0"/>
      <p:bldP spid="106" grpId="1"/>
      <p:bldP spid="107" grpId="0"/>
      <p:bldP spid="107" grpId="1"/>
      <p:bldP spid="108" grpId="0"/>
      <p:bldP spid="108" grpId="1"/>
      <p:bldP spid="109" grpId="0"/>
      <p:bldP spid="110" grpId="0"/>
      <p:bldP spid="111" grpId="0"/>
      <p:bldP spid="112" grpId="0"/>
      <p:bldP spid="113" grpId="0" animBg="1"/>
      <p:bldP spid="114" grpId="0" animBg="1"/>
      <p:bldP spid="115" grpId="0" animBg="1"/>
      <p:bldP spid="115" grpId="1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2" grpId="0"/>
      <p:bldP spid="143" grpId="0" animBg="1"/>
      <p:bldP spid="145" grpId="0" animBg="1"/>
      <p:bldP spid="145" grpId="1" animBg="1"/>
      <p:bldP spid="145" grpId="2" animBg="1"/>
      <p:bldP spid="146" grpId="0" animBg="1"/>
      <p:bldP spid="146" grpId="1" animBg="1"/>
      <p:bldP spid="148" grpId="0" animBg="1"/>
      <p:bldP spid="149" grpId="0" animBg="1"/>
      <p:bldP spid="149" grpId="1" animBg="1"/>
      <p:bldP spid="150" grpId="0"/>
      <p:bldP spid="150" grpId="1"/>
      <p:bldP spid="151" grpId="0" animBg="1"/>
      <p:bldP spid="151" grpId="1" animBg="1"/>
      <p:bldP spid="152" grpId="0"/>
      <p:bldP spid="152" grpId="1"/>
      <p:bldP spid="153" grpId="0" animBg="1"/>
      <p:bldP spid="153" grpId="1" animBg="1"/>
      <p:bldP spid="154" grpId="0"/>
      <p:bldP spid="154" grpId="1"/>
      <p:bldP spid="79" grpId="0" animBg="1"/>
      <p:bldP spid="7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2268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5668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66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00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34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68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02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3604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32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23066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1232268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8400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33734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9068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4402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973604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Freeform 28"/>
          <p:cNvSpPr/>
          <p:nvPr/>
        </p:nvSpPr>
        <p:spPr>
          <a:xfrm>
            <a:off x="3583678" y="5844988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213468" y="6027840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2268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14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8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82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1631" y="5006789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9268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2668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183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2268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65668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66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400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34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068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402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73604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732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8" name="Rectangle 47"/>
          <p:cNvSpPr/>
          <p:nvPr/>
        </p:nvSpPr>
        <p:spPr>
          <a:xfrm>
            <a:off x="23066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9" name="Rectangle 48"/>
          <p:cNvSpPr/>
          <p:nvPr/>
        </p:nvSpPr>
        <p:spPr>
          <a:xfrm>
            <a:off x="1232268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28400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33734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39068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44402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973604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1227471" y="3052369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No Shift will take place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2268" y="1957768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14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8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82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16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99268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32668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1831" y="1962233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4" name="Oval 63"/>
          <p:cNvSpPr/>
          <p:nvPr/>
        </p:nvSpPr>
        <p:spPr>
          <a:xfrm>
            <a:off x="2882968" y="1951121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410617" y="5010233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890510" y="5000955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337168" y="5007232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/>
          <p:cNvSpPr/>
          <p:nvPr/>
        </p:nvSpPr>
        <p:spPr>
          <a:xfrm>
            <a:off x="7043061" y="4003460"/>
            <a:ext cx="716472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814185" y="5011684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2319668" y="5006788"/>
            <a:ext cx="5276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7029999" y="4310268"/>
            <a:ext cx="71647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2832468" y="1461828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468" y="1461828"/>
                <a:ext cx="533400" cy="381000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/>
          <p:cNvCxnSpPr/>
          <p:nvPr/>
        </p:nvCxnSpPr>
        <p:spPr>
          <a:xfrm>
            <a:off x="6990810" y="1920814"/>
            <a:ext cx="7792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3373404" y="4472102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404" y="4472102"/>
                <a:ext cx="5334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2306604" y="4442937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04" y="4442937"/>
                <a:ext cx="533400" cy="381000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Freeform 75"/>
          <p:cNvSpPr/>
          <p:nvPr/>
        </p:nvSpPr>
        <p:spPr>
          <a:xfrm>
            <a:off x="3076139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2705929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8" name="Freeform 77"/>
          <p:cNvSpPr/>
          <p:nvPr/>
        </p:nvSpPr>
        <p:spPr>
          <a:xfrm>
            <a:off x="2542739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172529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525782" y="3736761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25782" y="3736761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cxnSp>
        <p:nvCxnSpPr>
          <p:cNvPr id="84" name="Straight Connector 83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289409" y="3975459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3975459"/>
                <a:ext cx="15869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322423" y="4450816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4450816"/>
                <a:ext cx="3775167" cy="1015663"/>
              </a:xfrm>
              <a:prstGeom prst="rect">
                <a:avLst/>
              </a:prstGeom>
              <a:blipFill>
                <a:blip r:embed="rId6"/>
                <a:stretch>
                  <a:fillRect l="-1616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7903033" y="3975459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33" y="3975459"/>
                <a:ext cx="2133600" cy="369332"/>
              </a:xfrm>
              <a:prstGeom prst="rect">
                <a:avLst/>
              </a:prstGeom>
              <a:blipFill>
                <a:blip r:embed="rId7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1987652"/>
                <a:ext cx="3762103" cy="1015663"/>
              </a:xfrm>
              <a:prstGeom prst="rect">
                <a:avLst/>
              </a:prstGeom>
              <a:blipFill>
                <a:blip r:embed="rId9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05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62 0.00023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000"/>
                            </p:stCondLst>
                            <p:childTnLst>
                              <p:par>
                                <p:cTn id="26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11111E-6 L -0.03933 0.00208 " pathEditMode="relative" rAng="0" ptsTypes="AA">
                                      <p:cBhvr>
                                        <p:cTn id="27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000"/>
                            </p:stCondLst>
                            <p:childTnLst>
                              <p:par>
                                <p:cTn id="2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75 -7.40741E-7 " pathEditMode="relative" rAng="0" ptsTypes="AA">
                                      <p:cBhvr>
                                        <p:cTn id="29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00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0.04375 4.44444E-6 " pathEditMode="relative" rAng="0" ptsTypes="AA">
                                      <p:cBhvr>
                                        <p:cTn id="32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44444E-6 L -0.04232 0.00278 " pathEditMode="relative" rAng="0" ptsTypes="AA">
                                      <p:cBhvr>
                                        <p:cTn id="33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/>
      <p:bldP spid="30" grpId="1"/>
      <p:bldP spid="31" grpId="0"/>
      <p:bldP spid="32" grpId="0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  <p:bldP spid="69" grpId="1" animBg="1"/>
      <p:bldP spid="70" grpId="0"/>
      <p:bldP spid="72" grpId="0" animBg="1"/>
      <p:bldP spid="72" grpId="1" animBg="1"/>
      <p:bldP spid="74" grpId="0" animBg="1"/>
      <p:bldP spid="74" grpId="2" animBg="1"/>
      <p:bldP spid="74" grpId="3" animBg="1"/>
      <p:bldP spid="75" grpId="0" animBg="1"/>
      <p:bldP spid="75" grpId="2" animBg="1"/>
      <p:bldP spid="75" grpId="3" animBg="1"/>
      <p:bldP spid="76" grpId="0" animBg="1"/>
      <p:bldP spid="76" grpId="1" animBg="1"/>
      <p:bldP spid="77" grpId="0"/>
      <p:bldP spid="77" grpId="1"/>
      <p:bldP spid="78" grpId="0" animBg="1"/>
      <p:bldP spid="78" grpId="1" animBg="1"/>
      <p:bldP spid="79" grpId="0"/>
      <p:bldP spid="79" grpId="1"/>
      <p:bldP spid="81" grpId="0" animBg="1"/>
      <p:bldP spid="83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Example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693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25782" y="3736761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5782" y="3736761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91693" y="1250462"/>
            <a:ext cx="11064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147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8101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9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24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58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92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6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6037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2189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114701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27224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2558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37892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3226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4856037" y="4953000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0" name="Freeform 29"/>
          <p:cNvSpPr/>
          <p:nvPr/>
        </p:nvSpPr>
        <p:spPr>
          <a:xfrm>
            <a:off x="4552665" y="5836435"/>
            <a:ext cx="553891" cy="1711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176517" y="6087071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4701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38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7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06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40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17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101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4264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47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8101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89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224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558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92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226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56037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5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9" name="Rectangle 48"/>
          <p:cNvSpPr/>
          <p:nvPr/>
        </p:nvSpPr>
        <p:spPr>
          <a:xfrm>
            <a:off x="2189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1114701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27224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32558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37892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3226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Rectangle 54"/>
          <p:cNvSpPr/>
          <p:nvPr/>
        </p:nvSpPr>
        <p:spPr>
          <a:xfrm>
            <a:off x="4856037" y="1908444"/>
            <a:ext cx="533400" cy="5638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114701" y="195776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38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7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206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40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7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101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4264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4" name="Oval 63"/>
          <p:cNvSpPr/>
          <p:nvPr/>
        </p:nvSpPr>
        <p:spPr>
          <a:xfrm>
            <a:off x="3827337" y="1957409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4354087" y="5000955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000900" y="4038775"/>
            <a:ext cx="805673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830739" y="4991100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>
            <a:off x="7020121" y="4323987"/>
            <a:ext cx="7315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293050" y="1957409"/>
            <a:ext cx="457200" cy="468868"/>
          </a:xfrm>
          <a:prstGeom prst="ellips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6980929" y="1640560"/>
            <a:ext cx="830057" cy="331232"/>
          </a:xfrm>
          <a:prstGeom prst="roundRect">
            <a:avLst/>
          </a:prstGeom>
          <a:solidFill>
            <a:srgbClr val="ED524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4038509" y="2838508"/>
            <a:ext cx="581392" cy="1814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3687867" y="3058477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A71160"/>
                </a:solidFill>
              </a:rPr>
              <a:t>Shift down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06526" y="1959429"/>
            <a:ext cx="4911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75" name="TextBox 74"/>
          <p:cNvSpPr txBox="1"/>
          <p:nvPr/>
        </p:nvSpPr>
        <p:spPr>
          <a:xfrm flipH="1">
            <a:off x="4323805" y="4990014"/>
            <a:ext cx="494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3838617" y="1437010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17" y="1437010"/>
                <a:ext cx="533400" cy="381000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4391301" y="449255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301" y="4492556"/>
                <a:ext cx="5334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/>
          <p:cNvCxnSpPr/>
          <p:nvPr/>
        </p:nvCxnSpPr>
        <p:spPr>
          <a:xfrm>
            <a:off x="6990810" y="1920814"/>
            <a:ext cx="7792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6276346" y="4437753"/>
                <a:ext cx="3775167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4437753"/>
                <a:ext cx="3775167" cy="1015663"/>
              </a:xfrm>
              <a:prstGeom prst="rect">
                <a:avLst/>
              </a:prstGeom>
              <a:blipFill>
                <a:blip r:embed="rId4"/>
                <a:stretch>
                  <a:fillRect l="-1777" t="-3593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09" y="1603735"/>
                <a:ext cx="15584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322423" y="2026841"/>
                <a:ext cx="3762103" cy="1015663"/>
              </a:xfrm>
              <a:prstGeom prst="rect">
                <a:avLst/>
              </a:prstGeom>
              <a:solidFill>
                <a:srgbClr val="FCE0EE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A71160"/>
                    </a:solidFill>
                  </a:rPr>
                  <a:t> </a:t>
                </a:r>
                <a:r>
                  <a:rPr lang="en-US" sz="2000" dirty="0">
                    <a:solidFill>
                      <a:srgbClr val="A711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23" y="2026841"/>
                <a:ext cx="3762103" cy="1015663"/>
              </a:xfrm>
              <a:prstGeom prst="rect">
                <a:avLst/>
              </a:prstGeom>
              <a:blipFill>
                <a:blip r:embed="rId8"/>
                <a:stretch>
                  <a:fillRect l="-1621" t="-2994"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ounded Rectangle 77"/>
          <p:cNvSpPr/>
          <p:nvPr/>
        </p:nvSpPr>
        <p:spPr>
          <a:xfrm>
            <a:off x="7149205" y="2048739"/>
            <a:ext cx="941056" cy="357663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70" y="1603735"/>
                <a:ext cx="2180749" cy="369332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ounded Rectangle 78"/>
          <p:cNvSpPr/>
          <p:nvPr/>
        </p:nvSpPr>
        <p:spPr>
          <a:xfrm>
            <a:off x="7110021" y="4454435"/>
            <a:ext cx="941056" cy="357663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276346" y="4001584"/>
                <a:ext cx="1586901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46" y="4001584"/>
                <a:ext cx="15869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7903033" y="4001584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033" y="4001584"/>
                <a:ext cx="2133600" cy="369332"/>
              </a:xfrm>
              <a:prstGeom prst="rect">
                <a:avLst/>
              </a:prstGeom>
              <a:blipFill>
                <a:blip r:embed="rId11"/>
                <a:stretch>
                  <a:fillRect l="-284" b="-1111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ounded Rectangle 83"/>
          <p:cNvSpPr/>
          <p:nvPr/>
        </p:nvSpPr>
        <p:spPr>
          <a:xfrm>
            <a:off x="5564777" y="6008914"/>
            <a:ext cx="3931920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890E4F"/>
                </a:solidFill>
              </a:rPr>
              <a:t>The entire array is sorted now.</a:t>
            </a:r>
          </a:p>
        </p:txBody>
      </p:sp>
    </p:spTree>
    <p:extLst>
      <p:ext uri="{BB962C8B-B14F-4D97-AF65-F5344CB8AC3E}">
        <p14:creationId xmlns:p14="http://schemas.microsoft.com/office/powerpoint/2010/main" val="84966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07407E-6 L 0.04531 0.00023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48148E-6 L -0.04427 0.00092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09090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000"/>
                            </p:stCondLst>
                            <p:childTnLst>
                              <p:par>
                                <p:cTn id="27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3000"/>
                            </p:stCondLst>
                            <p:childTnLst>
                              <p:par>
                                <p:cTn id="2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59259E-6 L 0.04453 0.00208 " pathEditMode="relative" rAng="0" ptsTypes="AA">
                                      <p:cBhvr>
                                        <p:cTn id="31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-0.04883 0.00278 " pathEditMode="relative" rAng="0" ptsTypes="AA">
                                      <p:cBhvr>
                                        <p:cTn id="31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000"/>
                            </p:stCondLst>
                            <p:childTnLst>
                              <p:par>
                                <p:cTn id="3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1" grpId="0"/>
      <p:bldP spid="31" grpId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8" grpId="1"/>
      <p:bldP spid="39" grpId="0"/>
      <p:bldP spid="39" grpId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/>
      <p:bldP spid="61" grpId="0"/>
      <p:bldP spid="61" grpId="1"/>
      <p:bldP spid="62" grpId="0"/>
      <p:bldP spid="62" grpId="1"/>
      <p:bldP spid="63" grpId="0"/>
      <p:bldP spid="64" grpId="0" animBg="1"/>
      <p:bldP spid="64" grpId="1" animBg="1"/>
      <p:bldP spid="65" grpId="0" animBg="1"/>
      <p:bldP spid="65" grpId="1" animBg="1"/>
      <p:bldP spid="66" grpId="0" animBg="1"/>
      <p:bldP spid="67" grpId="0" animBg="1"/>
      <p:bldP spid="67" grpId="1" animBg="1"/>
      <p:bldP spid="70" grpId="0" animBg="1"/>
      <p:bldP spid="70" grpId="1" animBg="1"/>
      <p:bldP spid="71" grpId="0" animBg="1"/>
      <p:bldP spid="72" grpId="0" animBg="1"/>
      <p:bldP spid="72" grpId="1" animBg="1"/>
      <p:bldP spid="73" grpId="0"/>
      <p:bldP spid="73" grpId="1"/>
      <p:bldP spid="74" grpId="0"/>
      <p:bldP spid="75" grpId="0"/>
      <p:bldP spid="76" grpId="0" animBg="1"/>
      <p:bldP spid="76" grpId="2" animBg="1"/>
      <p:bldP spid="76" grpId="3" animBg="1"/>
      <p:bldP spid="77" grpId="0" animBg="1"/>
      <p:bldP spid="77" grpId="1" animBg="1"/>
      <p:bldP spid="90" grpId="0" animBg="1"/>
      <p:bldP spid="81" grpId="0" animBg="1"/>
      <p:bldP spid="82" grpId="0" animBg="1"/>
      <p:bldP spid="78" grpId="0" animBg="1"/>
      <p:bldP spid="83" grpId="0" animBg="1"/>
      <p:bldP spid="79" grpId="0" animBg="1"/>
      <p:bldP spid="87" grpId="0" animBg="1"/>
      <p:bldP spid="89" grpId="0" animBg="1"/>
      <p:bldP spid="8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Algorithm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2 to n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j];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x;</a:t>
            </a: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323757" y="2898417"/>
            <a:ext cx="5828849" cy="26517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737359" y="4121461"/>
            <a:ext cx="2890221" cy="8229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ular Callout 33"/>
              <p:cNvSpPr/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4" name="Rounded Rectangular Callou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4836952" y="4266963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ED524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ED524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p>
                              <m:r>
                                <a:rPr lang="en-US" sz="2400" b="1" i="0" smtClean="0">
                                  <a:solidFill>
                                    <a:srgbClr val="ED524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ED524F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952" y="4266963"/>
                <a:ext cx="914400" cy="457200"/>
              </a:xfrm>
              <a:prstGeom prst="wedgeRoundRectCallout">
                <a:avLst>
                  <a:gd name="adj1" fmla="val -71901"/>
                  <a:gd name="adj2" fmla="val -15165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24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Algorithm – Best Case Analysis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0369" y="863444"/>
            <a:ext cx="11929641" cy="5590565"/>
          </a:xfrm>
          <a:solidFill>
            <a:srgbClr val="424242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 marL="0" indent="0">
              <a:spcBef>
                <a:spcPts val="600"/>
              </a:spcBef>
              <a:buNone/>
            </a:pP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← 2 to n </a:t>
            </a:r>
            <a:r>
              <a:rPr lang="pt-BR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do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j];</a:t>
            </a:r>
          </a:p>
          <a:p>
            <a:pPr marL="1828800" lvl="4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solidFill>
                  <a:srgbClr val="FBD9EB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solidFill>
                  <a:srgbClr val="FBD9EB"/>
                </a:solidFill>
                <a:latin typeface="Consolas" pitchFamily="49" charset="0"/>
                <a:cs typeface="Consolas" pitchFamily="49" charset="0"/>
              </a:rPr>
              <a:t> x;</a:t>
            </a:r>
            <a:endParaRPr lang="en-IN" b="1" dirty="0">
              <a:solidFill>
                <a:srgbClr val="FBD9EB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323757" y="2898417"/>
            <a:ext cx="5828849" cy="2651760"/>
          </a:xfrm>
          <a:prstGeom prst="round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2142309" y="3690386"/>
            <a:ext cx="1397726" cy="411350"/>
          </a:xfrm>
          <a:prstGeom prst="roundRect">
            <a:avLst/>
          </a:prstGeom>
          <a:noFill/>
          <a:ln w="28575">
            <a:solidFill>
              <a:srgbClr val="ED52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67176" y="2267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67176" y="264868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7176" y="302968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67176" y="1505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67176" y="1886680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4052" y="1881083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x=23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0706" y="2266588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T[j]=23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0706" y="2652093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T[j]=34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0706" y="3037597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T[j]=45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8025" y="1881083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8025" y="2266588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53939" y="2652093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=4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53939" y="3037597"/>
            <a:ext cx="607859" cy="36576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30935" y="1001486"/>
            <a:ext cx="920445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Pass 1 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0706" y="1881083"/>
            <a:ext cx="118872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T[j]=12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64052" y="2266588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x=34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64052" y="2652093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x=45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64052" y="3037597"/>
            <a:ext cx="914400" cy="365760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CE0E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x=59</a:t>
            </a:r>
            <a:endParaRPr lang="en-US" sz="2000" dirty="0">
              <a:solidFill>
                <a:srgbClr val="FCE0E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ular Callout 25"/>
              <p:cNvSpPr/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Rounded Rectangular Callou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330" y="2666872"/>
                <a:ext cx="762000" cy="457200"/>
              </a:xfrm>
              <a:prstGeom prst="wedgeRoundRectCallout">
                <a:avLst>
                  <a:gd name="adj1" fmla="val -73975"/>
                  <a:gd name="adj2" fmla="val 34885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63842" y="3662344"/>
                <a:ext cx="4088675" cy="1986506"/>
              </a:xfrm>
              <a:prstGeom prst="rect">
                <a:avLst/>
              </a:prstGeom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pPr algn="just"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BD9EB"/>
                    </a:solidFill>
                  </a:rPr>
                  <a:t>The best case time complexity of Insertion sort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sz="2400" i="1" dirty="0">
                  <a:solidFill>
                    <a:srgbClr val="FBD9EB"/>
                  </a:solidFill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BD9EB"/>
                    </a:solidFill>
                  </a:rPr>
                  <a:t>The average and worst case time complexity </a:t>
                </a:r>
                <a:r>
                  <a:rPr lang="en-US" sz="2400">
                    <a:solidFill>
                      <a:srgbClr val="FBD9EB"/>
                    </a:solidFill>
                  </a:rPr>
                  <a:t>of Insertion </a:t>
                </a:r>
                <a:r>
                  <a:rPr lang="en-US" sz="2400" dirty="0">
                    <a:solidFill>
                      <a:srgbClr val="FBD9EB"/>
                    </a:solidFill>
                  </a:rPr>
                  <a:t>sort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>
                                <a:solidFill>
                                  <a:srgbClr val="92D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2" y="3662344"/>
                <a:ext cx="4088675" cy="1986506"/>
              </a:xfrm>
              <a:prstGeom prst="rect">
                <a:avLst/>
              </a:prstGeom>
              <a:blipFill>
                <a:blip r:embed="rId3"/>
                <a:stretch>
                  <a:fillRect l="-2080" t="-1829" r="-2080" b="-4878"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69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524F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Insertion Sort(alternate)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433" y="1047376"/>
            <a:ext cx="7239000" cy="3638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5652" y="5136341"/>
                <a:ext cx="9074523" cy="435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000" b="1" dirty="0"/>
                  <a:t>Total time </a:t>
                </a:r>
                <a:r>
                  <a:rPr lang="pt-BR" sz="2000" dirty="0"/>
                  <a:t>= n(c1 +c2+c3+c7)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pt-BR" sz="2000" dirty="0"/>
                          <m:t>t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j</m:t>
                        </m:r>
                        <m:r>
                          <m:rPr>
                            <m:nor/>
                          </m:rPr>
                          <a:rPr lang="pt-BR" sz="2000" dirty="0"/>
                          <m:t> (</m:t>
                        </m:r>
                        <m:r>
                          <m:rPr>
                            <m:nor/>
                          </m:rPr>
                          <a:rPr lang="pt-BR" sz="2000" dirty="0"/>
                          <m:t>c</m:t>
                        </m:r>
                        <m:r>
                          <m:rPr>
                            <m:nor/>
                          </m:rPr>
                          <a:rPr lang="pt-BR" sz="2000" dirty="0"/>
                          <m:t>4+</m:t>
                        </m:r>
                        <m:r>
                          <m:rPr>
                            <m:nor/>
                          </m:rPr>
                          <a:rPr lang="pt-BR" sz="2000" dirty="0"/>
                          <m:t>c</m:t>
                        </m:r>
                        <m:r>
                          <m:rPr>
                            <m:nor/>
                          </m:rPr>
                          <a:rPr lang="pt-BR" sz="2000" dirty="0"/>
                          <m:t>5+</m:t>
                        </m:r>
                        <m:r>
                          <m:rPr>
                            <m:nor/>
                          </m:rPr>
                          <a:rPr lang="pt-BR" sz="2000" dirty="0"/>
                          <m:t>c</m:t>
                        </m:r>
                        <m:r>
                          <m:rPr>
                            <m:nor/>
                          </m:rPr>
                          <a:rPr lang="pt-BR" sz="2000" dirty="0"/>
                          <m:t>6)</m:t>
                        </m:r>
                      </m:e>
                    </m:nary>
                  </m:oMath>
                </a14:m>
                <a:r>
                  <a:rPr lang="pt-BR" sz="2000" dirty="0"/>
                  <a:t>– (c2+c3+c5+c6+c7 )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52" y="5136341"/>
                <a:ext cx="9074523" cy="435889"/>
              </a:xfrm>
              <a:prstGeom prst="rect">
                <a:avLst/>
              </a:prstGeom>
              <a:blipFill rotWithShape="0">
                <a:blip r:embed="rId3"/>
                <a:stretch>
                  <a:fillRect l="-739" t="-112676" b="-163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7879175" y="1402086"/>
            <a:ext cx="35221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 Best case: elements already sorted; </a:t>
            </a:r>
          </a:p>
          <a:p>
            <a:r>
              <a:rPr lang="en-US" dirty="0" err="1"/>
              <a:t>tj</a:t>
            </a:r>
            <a:r>
              <a:rPr lang="en-US" dirty="0"/>
              <a:t>=1, running time = f(n)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79175" y="2416136"/>
            <a:ext cx="40887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Worst case: elements are sorted in inverse </a:t>
            </a:r>
          </a:p>
          <a:p>
            <a:r>
              <a:rPr lang="en-US" dirty="0"/>
              <a:t>order; </a:t>
            </a:r>
            <a:r>
              <a:rPr lang="en-US" dirty="0" err="1"/>
              <a:t>tj</a:t>
            </a:r>
            <a:r>
              <a:rPr lang="en-US" dirty="0"/>
              <a:t>=j, running time = f(n 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79175" y="3384020"/>
            <a:ext cx="395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Average case: </a:t>
            </a:r>
            <a:r>
              <a:rPr lang="en-US" dirty="0" err="1"/>
              <a:t>tj</a:t>
            </a:r>
            <a:r>
              <a:rPr lang="en-US" dirty="0"/>
              <a:t>=j/2, running time = f(n 2)</a:t>
            </a:r>
          </a:p>
        </p:txBody>
      </p:sp>
    </p:spTree>
    <p:extLst>
      <p:ext uri="{BB962C8B-B14F-4D97-AF65-F5344CB8AC3E}">
        <p14:creationId xmlns:p14="http://schemas.microsoft.com/office/powerpoint/2010/main" val="370461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1697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697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697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697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697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1391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1791391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1791391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1791391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1791391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3406700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0" name="Rectangle 29"/>
          <p:cNvSpPr/>
          <p:nvPr/>
        </p:nvSpPr>
        <p:spPr>
          <a:xfrm>
            <a:off x="3406700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1" name="Rectangle 30"/>
          <p:cNvSpPr/>
          <p:nvPr/>
        </p:nvSpPr>
        <p:spPr>
          <a:xfrm>
            <a:off x="3406700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2" name="Rectangle 31"/>
          <p:cNvSpPr/>
          <p:nvPr/>
        </p:nvSpPr>
        <p:spPr>
          <a:xfrm>
            <a:off x="3406700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3" name="Rectangle 32"/>
          <p:cNvSpPr/>
          <p:nvPr/>
        </p:nvSpPr>
        <p:spPr>
          <a:xfrm>
            <a:off x="3406700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4" name="Rectangle 33"/>
          <p:cNvSpPr/>
          <p:nvPr/>
        </p:nvSpPr>
        <p:spPr>
          <a:xfrm>
            <a:off x="5022009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5022009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6" name="Rectangle 35"/>
          <p:cNvSpPr/>
          <p:nvPr/>
        </p:nvSpPr>
        <p:spPr>
          <a:xfrm>
            <a:off x="5022009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5022009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5022009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9" name="Rectangle 38"/>
          <p:cNvSpPr/>
          <p:nvPr/>
        </p:nvSpPr>
        <p:spPr>
          <a:xfrm>
            <a:off x="6843338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0" name="Rectangle 39"/>
          <p:cNvSpPr/>
          <p:nvPr/>
        </p:nvSpPr>
        <p:spPr>
          <a:xfrm>
            <a:off x="6843338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6843338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2" name="Rectangle 41"/>
          <p:cNvSpPr/>
          <p:nvPr/>
        </p:nvSpPr>
        <p:spPr>
          <a:xfrm>
            <a:off x="6843338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3" name="Rectangle 42"/>
          <p:cNvSpPr/>
          <p:nvPr/>
        </p:nvSpPr>
        <p:spPr>
          <a:xfrm>
            <a:off x="6843338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4" name="Rectangle 43"/>
          <p:cNvSpPr/>
          <p:nvPr/>
        </p:nvSpPr>
        <p:spPr>
          <a:xfrm>
            <a:off x="8794968" y="878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5" name="Rectangle 44"/>
          <p:cNvSpPr/>
          <p:nvPr/>
        </p:nvSpPr>
        <p:spPr>
          <a:xfrm>
            <a:off x="8794968" y="1259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6" name="Rectangle 45"/>
          <p:cNvSpPr/>
          <p:nvPr/>
        </p:nvSpPr>
        <p:spPr>
          <a:xfrm>
            <a:off x="8794968" y="1640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7" name="Rectangle 46"/>
          <p:cNvSpPr/>
          <p:nvPr/>
        </p:nvSpPr>
        <p:spPr>
          <a:xfrm>
            <a:off x="8794968" y="2021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48" name="Rectangle 47"/>
          <p:cNvSpPr/>
          <p:nvPr/>
        </p:nvSpPr>
        <p:spPr>
          <a:xfrm>
            <a:off x="8794968" y="2402273"/>
            <a:ext cx="5334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738251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5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8462</TotalTime>
  <Words>3364</Words>
  <Application>Microsoft Office PowerPoint</Application>
  <PresentationFormat>Widescreen</PresentationFormat>
  <Paragraphs>930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Wingdings</vt:lpstr>
      <vt:lpstr>Calibri</vt:lpstr>
      <vt:lpstr>Cambria</vt:lpstr>
      <vt:lpstr>Roboto Condensed</vt:lpstr>
      <vt:lpstr>MS Gothic</vt:lpstr>
      <vt:lpstr>Consolas</vt:lpstr>
      <vt:lpstr>Arial</vt:lpstr>
      <vt:lpstr>Cambria Math</vt:lpstr>
      <vt:lpstr>Lucida Console</vt:lpstr>
      <vt:lpstr>Wingdings 3</vt:lpstr>
      <vt:lpstr>Office Theme</vt:lpstr>
      <vt:lpstr>Analyzing Control Statements</vt:lpstr>
      <vt:lpstr>For Loop</vt:lpstr>
      <vt:lpstr>Running Time of Algorithm</vt:lpstr>
      <vt:lpstr>Analyzing Control Statements</vt:lpstr>
      <vt:lpstr>Analyzing Control Statements</vt:lpstr>
      <vt:lpstr>Analyzing Control Statements</vt:lpstr>
      <vt:lpstr>Recursion</vt:lpstr>
      <vt:lpstr>Example:</vt:lpstr>
      <vt:lpstr>Example:</vt:lpstr>
      <vt:lpstr>Algorithm to find factorial using recursion</vt:lpstr>
      <vt:lpstr>Algorithm: FACTORIAL</vt:lpstr>
      <vt:lpstr>FACTORIAL</vt:lpstr>
      <vt:lpstr>Examples:</vt:lpstr>
      <vt:lpstr>Sorting Algorithms</vt:lpstr>
      <vt:lpstr>Introduction </vt:lpstr>
      <vt:lpstr>Bubble Sort – Example </vt:lpstr>
      <vt:lpstr>Bubble Sort – Example </vt:lpstr>
      <vt:lpstr>Bubble Sort - Algorithm</vt:lpstr>
      <vt:lpstr>Bubble Sort </vt:lpstr>
      <vt:lpstr>Bubble Sort Algorithm – Best Case Analysis</vt:lpstr>
      <vt:lpstr>Selection Sort – Example 1 </vt:lpstr>
      <vt:lpstr>Selection Sort – Example 1 </vt:lpstr>
      <vt:lpstr>Selection Sort – Example 1 </vt:lpstr>
      <vt:lpstr>Selection Sort – Example 1 </vt:lpstr>
      <vt:lpstr>Selection Sort</vt:lpstr>
      <vt:lpstr>Selection Sort - Algorithm</vt:lpstr>
      <vt:lpstr>Selection Sort – Example 2</vt:lpstr>
      <vt:lpstr>Selection Sort – Example 2</vt:lpstr>
      <vt:lpstr>Insertion Sort – Example </vt:lpstr>
      <vt:lpstr>Insertion Sort – Example </vt:lpstr>
      <vt:lpstr>Insertion Sort – Example </vt:lpstr>
      <vt:lpstr>Insertion Sort – Example </vt:lpstr>
      <vt:lpstr>Insertion Sort - Algorithm</vt:lpstr>
      <vt:lpstr>Insertion Sort Algorithm – Best Case Analysis</vt:lpstr>
      <vt:lpstr>Analysis of Insertion Sort(alternate)</vt:lpstr>
      <vt:lpstr>Comparison counting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CSE-30</cp:lastModifiedBy>
  <cp:revision>522</cp:revision>
  <dcterms:created xsi:type="dcterms:W3CDTF">2020-05-01T05:09:15Z</dcterms:created>
  <dcterms:modified xsi:type="dcterms:W3CDTF">2024-07-15T10:35:24Z</dcterms:modified>
</cp:coreProperties>
</file>