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2"/>
  </p:notesMasterIdLst>
  <p:handoutMasterIdLst>
    <p:handoutMasterId r:id="rId103"/>
  </p:handoutMasterIdLst>
  <p:sldIdLst>
    <p:sldId id="324" r:id="rId2"/>
    <p:sldId id="288" r:id="rId3"/>
    <p:sldId id="423" r:id="rId4"/>
    <p:sldId id="517" r:id="rId5"/>
    <p:sldId id="509" r:id="rId6"/>
    <p:sldId id="429" r:id="rId7"/>
    <p:sldId id="424" r:id="rId8"/>
    <p:sldId id="425" r:id="rId9"/>
    <p:sldId id="426" r:id="rId10"/>
    <p:sldId id="427" r:id="rId11"/>
    <p:sldId id="456" r:id="rId12"/>
    <p:sldId id="502" r:id="rId13"/>
    <p:sldId id="501" r:id="rId14"/>
    <p:sldId id="457" r:id="rId15"/>
    <p:sldId id="458" r:id="rId16"/>
    <p:sldId id="459" r:id="rId17"/>
    <p:sldId id="460" r:id="rId18"/>
    <p:sldId id="461" r:id="rId19"/>
    <p:sldId id="462" r:id="rId20"/>
    <p:sldId id="463" r:id="rId21"/>
    <p:sldId id="464" r:id="rId22"/>
    <p:sldId id="465" r:id="rId23"/>
    <p:sldId id="466" r:id="rId24"/>
    <p:sldId id="505" r:id="rId25"/>
    <p:sldId id="467" r:id="rId26"/>
    <p:sldId id="518" r:id="rId27"/>
    <p:sldId id="519" r:id="rId28"/>
    <p:sldId id="468" r:id="rId29"/>
    <p:sldId id="520" r:id="rId30"/>
    <p:sldId id="469" r:id="rId31"/>
    <p:sldId id="521" r:id="rId32"/>
    <p:sldId id="473" r:id="rId33"/>
    <p:sldId id="522" r:id="rId34"/>
    <p:sldId id="523" r:id="rId35"/>
    <p:sldId id="474" r:id="rId36"/>
    <p:sldId id="475" r:id="rId37"/>
    <p:sldId id="477" r:id="rId38"/>
    <p:sldId id="478" r:id="rId39"/>
    <p:sldId id="479" r:id="rId40"/>
    <p:sldId id="480" r:id="rId41"/>
    <p:sldId id="524" r:id="rId42"/>
    <p:sldId id="481" r:id="rId43"/>
    <p:sldId id="525" r:id="rId44"/>
    <p:sldId id="503" r:id="rId45"/>
    <p:sldId id="482" r:id="rId46"/>
    <p:sldId id="483" r:id="rId47"/>
    <p:sldId id="484" r:id="rId48"/>
    <p:sldId id="485" r:id="rId49"/>
    <p:sldId id="493" r:id="rId50"/>
    <p:sldId id="494" r:id="rId51"/>
    <p:sldId id="495" r:id="rId52"/>
    <p:sldId id="496" r:id="rId53"/>
    <p:sldId id="497" r:id="rId54"/>
    <p:sldId id="498" r:id="rId55"/>
    <p:sldId id="492" r:id="rId56"/>
    <p:sldId id="526" r:id="rId57"/>
    <p:sldId id="476" r:id="rId58"/>
    <p:sldId id="506" r:id="rId59"/>
    <p:sldId id="507" r:id="rId60"/>
    <p:sldId id="508" r:id="rId61"/>
    <p:sldId id="527" r:id="rId62"/>
    <p:sldId id="428" r:id="rId63"/>
    <p:sldId id="528" r:id="rId64"/>
    <p:sldId id="530" r:id="rId65"/>
    <p:sldId id="529" r:id="rId66"/>
    <p:sldId id="430" r:id="rId67"/>
    <p:sldId id="431" r:id="rId68"/>
    <p:sldId id="432" r:id="rId69"/>
    <p:sldId id="422" r:id="rId70"/>
    <p:sldId id="435" r:id="rId71"/>
    <p:sldId id="436" r:id="rId72"/>
    <p:sldId id="437" r:id="rId73"/>
    <p:sldId id="499" r:id="rId74"/>
    <p:sldId id="531" r:id="rId75"/>
    <p:sldId id="438" r:id="rId76"/>
    <p:sldId id="439" r:id="rId77"/>
    <p:sldId id="441" r:id="rId78"/>
    <p:sldId id="440" r:id="rId79"/>
    <p:sldId id="442" r:id="rId80"/>
    <p:sldId id="446" r:id="rId81"/>
    <p:sldId id="447" r:id="rId82"/>
    <p:sldId id="532" r:id="rId83"/>
    <p:sldId id="448" r:id="rId84"/>
    <p:sldId id="510" r:id="rId85"/>
    <p:sldId id="449" r:id="rId86"/>
    <p:sldId id="450" r:id="rId87"/>
    <p:sldId id="472" r:id="rId88"/>
    <p:sldId id="452" r:id="rId89"/>
    <p:sldId id="471" r:id="rId90"/>
    <p:sldId id="453" r:id="rId91"/>
    <p:sldId id="455" r:id="rId92"/>
    <p:sldId id="511" r:id="rId93"/>
    <p:sldId id="512" r:id="rId94"/>
    <p:sldId id="533" r:id="rId95"/>
    <p:sldId id="513" r:id="rId96"/>
    <p:sldId id="514" r:id="rId97"/>
    <p:sldId id="515" r:id="rId98"/>
    <p:sldId id="534" r:id="rId99"/>
    <p:sldId id="516" r:id="rId100"/>
    <p:sldId id="421" r:id="rId101"/>
  </p:sldIdLst>
  <p:sldSz cx="12192000" cy="6858000"/>
  <p:notesSz cx="6858000" cy="9144000"/>
  <p:embeddedFontLst>
    <p:embeddedFont>
      <p:font typeface="Arial Narrow" panose="020B0606020202030204" pitchFamily="34" charset="0"/>
      <p:regular r:id="rId104"/>
      <p:bold r:id="rId105"/>
      <p:italic r:id="rId106"/>
      <p:boldItalic r:id="rId107"/>
    </p:embeddedFont>
    <p:embeddedFont>
      <p:font typeface="Bahnschrift" panose="020B0502040204020203" pitchFamily="34" charset="0"/>
      <p:regular r:id="rId108"/>
      <p:bold r:id="rId109"/>
    </p:embeddedFont>
    <p:embeddedFont>
      <p:font typeface="Calibri" panose="020F0502020204030204" pitchFamily="34" charset="0"/>
      <p:regular r:id="rId110"/>
      <p:bold r:id="rId111"/>
      <p:italic r:id="rId112"/>
      <p:boldItalic r:id="rId113"/>
    </p:embeddedFont>
    <p:embeddedFont>
      <p:font typeface="Cambria Math" panose="02040503050406030204" pitchFamily="18" charset="0"/>
      <p:regular r:id="rId114"/>
    </p:embeddedFont>
    <p:embeddedFont>
      <p:font typeface="Consolas" panose="020B0609020204030204" pitchFamily="49" charset="0"/>
      <p:regular r:id="rId115"/>
      <p:bold r:id="rId116"/>
      <p:italic r:id="rId117"/>
      <p:boldItalic r:id="rId118"/>
    </p:embeddedFont>
    <p:embeddedFont>
      <p:font typeface="Roboto Condensed" pitchFamily="2" charset="0"/>
      <p:regular r:id="rId119"/>
      <p:bold r:id="rId120"/>
      <p:italic r:id="rId121"/>
      <p:boldItalic r:id="rId122"/>
    </p:embeddedFont>
    <p:embeddedFont>
      <p:font typeface="Roboto Condensed Light" panose="02000000000000000000" pitchFamily="2" charset="0"/>
      <p:regular r:id="rId123"/>
      <p:italic r:id="rId124"/>
    </p:embeddedFont>
    <p:embeddedFont>
      <p:font typeface="Wingdings 3" panose="05040102010807070707" pitchFamily="18" charset="2"/>
      <p:regular r:id="rId1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1457"/>
    <a:srgbClr val="F9C5D7"/>
    <a:srgbClr val="424242"/>
    <a:srgbClr val="F19D19"/>
    <a:srgbClr val="8BC145"/>
    <a:srgbClr val="F6E7E6"/>
    <a:srgbClr val="F48CAF"/>
    <a:srgbClr val="B5E61D"/>
    <a:srgbClr val="B84742"/>
    <a:srgbClr val="00BB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39" d="100"/>
          <a:sy n="39" d="100"/>
        </p:scale>
        <p:origin x="856" y="32"/>
      </p:cViewPr>
      <p:guideLst/>
    </p:cSldViewPr>
  </p:slideViewPr>
  <p:notesTextViewPr>
    <p:cViewPr>
      <p:scale>
        <a:sx n="1" d="1"/>
        <a:sy n="1" d="1"/>
      </p:scale>
      <p:origin x="0" y="0"/>
    </p:cViewPr>
  </p:notesTextViewPr>
  <p:notesViewPr>
    <p:cSldViewPr snapToGrid="0">
      <p:cViewPr varScale="1">
        <p:scale>
          <a:sx n="54" d="100"/>
          <a:sy n="54" d="100"/>
        </p:scale>
        <p:origin x="2820" y="78"/>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font" Target="fonts/font14.fntdata"/><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9.fntdata"/><Relationship Id="rId16" Type="http://schemas.openxmlformats.org/officeDocument/2006/relationships/slide" Target="slides/slide15.xml"/><Relationship Id="rId107" Type="http://schemas.openxmlformats.org/officeDocument/2006/relationships/font" Target="fonts/font4.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123" Type="http://schemas.openxmlformats.org/officeDocument/2006/relationships/font" Target="fonts/font20.fntdata"/><Relationship Id="rId128"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font" Target="fonts/font10.fntdata"/><Relationship Id="rId118" Type="http://schemas.openxmlformats.org/officeDocument/2006/relationships/font" Target="fonts/font15.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handoutMaster" Target="handoutMasters/handoutMaster1.xml"/><Relationship Id="rId108" Type="http://schemas.openxmlformats.org/officeDocument/2006/relationships/font" Target="fonts/font5.fntdata"/><Relationship Id="rId124" Type="http://schemas.openxmlformats.org/officeDocument/2006/relationships/font" Target="fonts/font21.fntdata"/><Relationship Id="rId129"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font" Target="fonts/font11.fntdata"/><Relationship Id="rId119" Type="http://schemas.openxmlformats.org/officeDocument/2006/relationships/font" Target="fonts/font16.fntdata"/><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6.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font" Target="fonts/font1.fntdata"/><Relationship Id="rId120" Type="http://schemas.openxmlformats.org/officeDocument/2006/relationships/font" Target="fonts/font17.fntdata"/><Relationship Id="rId125" Type="http://schemas.openxmlformats.org/officeDocument/2006/relationships/font" Target="fonts/font22.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7.fntdata"/><Relationship Id="rId115" Type="http://schemas.openxmlformats.org/officeDocument/2006/relationships/font" Target="fonts/font12.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font" Target="fonts/font2.fntdata"/><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font" Target="fonts/font18.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8.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font" Target="fonts/font3.fntdata"/><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E2921DC-3109-4569-9FE5-3F5BA0747F75}" type="datetimeFigureOut">
              <a:rPr lang="en-US" smtClean="0"/>
              <a:t>10/13/2023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9E4867-9854-45D8-A58B-AED9F0BB4DCA}" type="slidenum">
              <a:rPr lang="en-US" smtClean="0"/>
              <a:t>‹#›</a:t>
            </a:fld>
            <a:endParaRPr lang="en-US"/>
          </a:p>
        </p:txBody>
      </p:sp>
    </p:spTree>
    <p:extLst>
      <p:ext uri="{BB962C8B-B14F-4D97-AF65-F5344CB8AC3E}">
        <p14:creationId xmlns:p14="http://schemas.microsoft.com/office/powerpoint/2010/main" val="38757690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10/13/2023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599" y="6604000"/>
            <a:ext cx="4270513"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Greedy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Algorithms</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srcRect t="86739" r="1768" b="3535"/>
          <a:stretch/>
        </p:blipFill>
        <p:spPr>
          <a:xfrm>
            <a:off x="0" y="0"/>
            <a:ext cx="12192000" cy="711201"/>
          </a:xfrm>
          <a:prstGeom prst="rect">
            <a:avLst/>
          </a:prstGeom>
          <a:solidFill>
            <a:srgbClr val="DFDFDF">
              <a:alpha val="49804"/>
            </a:srgbClr>
          </a:solidFill>
          <a:ln>
            <a:noFill/>
          </a:ln>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DFDFDF">
              <a:alpha val="49804"/>
            </a:srgbClr>
          </a:solidFill>
          <a:ln>
            <a:noFill/>
          </a:ln>
        </p:spPr>
        <p:txBody>
          <a:bodyPr vert="horz" lIns="216000" tIns="108000" rIns="216000" bIns="108000" rtlCol="0" anchor="ctr">
            <a:normAutofit/>
          </a:bodyPr>
          <a:lstStyle>
            <a:lvl1pPr>
              <a:defRPr lang="en-US" sz="3400" b="1" dirty="0">
                <a:solidFill>
                  <a:schemeClr val="tx1">
                    <a:lumMod val="90000"/>
                    <a:lumOff val="10000"/>
                  </a:schemeClr>
                </a:solidFill>
                <a:effectLst/>
              </a:defRPr>
            </a:lvl1pPr>
          </a:lstStyle>
          <a:p>
            <a:pPr lvl="0"/>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33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283765"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Greedy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Algorithms</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solidFill>
            <a:srgbClr val="F48CAF"/>
          </a:solid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0"/>
            <a:ext cx="12192000" cy="711200"/>
          </a:xfrm>
          <a:solidFill>
            <a:srgbClr val="DFDFDF">
              <a:alpha val="49804"/>
            </a:srgbClr>
          </a:solidFill>
          <a:ln>
            <a:noFill/>
          </a:ln>
        </p:spPr>
        <p:txBody>
          <a:bodyPr vert="horz" lIns="216000" tIns="108000" rIns="216000" bIns="108000" rtlCol="0" anchor="ctr">
            <a:normAutofit/>
          </a:bodyPr>
          <a:lstStyle>
            <a:lvl1pPr>
              <a:defRPr lang="en-US" sz="3400" b="1" dirty="0">
                <a:solidFill>
                  <a:schemeClr val="tx1">
                    <a:lumMod val="90000"/>
                    <a:lumOff val="10000"/>
                  </a:schemeClr>
                </a:solidFill>
                <a:effectLst/>
              </a:defRPr>
            </a:lvl1pPr>
          </a:lstStyle>
          <a:p>
            <a:pPr lvl="0"/>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46519" cy="5739429"/>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solidFill>
            <a:srgbClr val="DFDFDF">
              <a:alpha val="49804"/>
            </a:srgbClr>
          </a:solidFill>
          <a:ln>
            <a:noFill/>
          </a:ln>
        </p:spPr>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761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4038600" y="6604000"/>
            <a:ext cx="4297018"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Greedy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Algorithms</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DFDFDF">
              <a:alpha val="49804"/>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01600" y="863444"/>
            <a:ext cx="11959221" cy="5739430"/>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862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10000">
                      <a:srgbClr val="890E4F"/>
                    </a:gs>
                    <a:gs pos="100000">
                      <a:srgbClr val="D81A60"/>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Tree>
    <p:extLst>
      <p:ext uri="{BB962C8B-B14F-4D97-AF65-F5344CB8AC3E}">
        <p14:creationId xmlns:p14="http://schemas.microsoft.com/office/powerpoint/2010/main" val="2001692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599" y="6604000"/>
            <a:ext cx="4383505"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Greedy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Algorithms</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972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599" y="6604000"/>
            <a:ext cx="4399547"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Greedy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Algorithms</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6247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4038599" y="6604000"/>
            <a:ext cx="433537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Greedy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Algorithms</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3314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pic>
        <p:nvPicPr>
          <p:cNvPr id="2"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a:alphaModFix/>
          </a:blip>
          <a:srcRect t="86739" r="1768" b="3535"/>
          <a:stretch/>
        </p:blipFill>
        <p:spPr>
          <a:xfrm rot="16200000">
            <a:off x="-3073398" y="3073398"/>
            <a:ext cx="6858000" cy="711201"/>
          </a:xfrm>
          <a:prstGeom prst="rect">
            <a:avLst/>
          </a:prstGeom>
          <a:solidFill>
            <a:srgbClr val="F48CAF"/>
          </a:solidFill>
          <a:ln>
            <a:noFill/>
          </a:ln>
          <a:effectLst/>
        </p:spPr>
      </p:pic>
      <p:sp>
        <p:nvSpPr>
          <p:cNvPr id="3" name="Title 1">
            <a:extLst>
              <a:ext uri="{FF2B5EF4-FFF2-40B4-BE49-F238E27FC236}">
                <a16:creationId xmlns:a16="http://schemas.microsoft.com/office/drawing/2014/main" id="{D5CD07E8-CBAA-45BA-85CF-1233D4AA86C9}"/>
              </a:ext>
            </a:extLst>
          </p:cNvPr>
          <p:cNvSpPr>
            <a:spLocks noGrp="1"/>
          </p:cNvSpPr>
          <p:nvPr>
            <p:ph type="title"/>
          </p:nvPr>
        </p:nvSpPr>
        <p:spPr>
          <a:xfrm rot="16200000">
            <a:off x="-3073400" y="3073400"/>
            <a:ext cx="6858000" cy="711200"/>
          </a:xfrm>
          <a:solidFill>
            <a:srgbClr val="DFDFDF">
              <a:alpha val="49804"/>
            </a:srgbClr>
          </a:solidFill>
          <a:ln>
            <a:noFill/>
          </a:ln>
        </p:spPr>
        <p:txBody>
          <a:bodyPr vert="horz" lIns="216000" tIns="108000" rIns="216000" bIns="108000" rtlCol="0" anchor="ctr">
            <a:normAutofit/>
          </a:bodyPr>
          <a:lstStyle>
            <a:lvl1pPr>
              <a:defRPr lang="en-US" sz="3400" b="1" dirty="0">
                <a:solidFill>
                  <a:schemeClr val="tx1">
                    <a:lumMod val="90000"/>
                    <a:lumOff val="10000"/>
                  </a:schemeClr>
                </a:solidFill>
                <a:effectLst/>
              </a:defRPr>
            </a:lvl1pPr>
          </a:lstStyle>
          <a:p>
            <a:pPr lvl="0"/>
            <a:r>
              <a:rPr lang="en-US" dirty="0"/>
              <a:t>Click to edit Master title style</a:t>
            </a:r>
          </a:p>
        </p:txBody>
      </p:sp>
    </p:spTree>
    <p:extLst>
      <p:ext uri="{BB962C8B-B14F-4D97-AF65-F5344CB8AC3E}">
        <p14:creationId xmlns:p14="http://schemas.microsoft.com/office/powerpoint/2010/main" val="3312311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CD21B45-1703-4330-B544-825BD8F37AF2}" type="datetimeFigureOut">
              <a:rPr lang="en-US" smtClean="0"/>
              <a:t>10/13/2023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41F3C7-36DD-4595-AA08-2525D86280BD}" type="slidenum">
              <a:rPr lang="en-US" smtClean="0"/>
              <a:t>‹#›</a:t>
            </a:fld>
            <a:endParaRPr lang="en-US"/>
          </a:p>
        </p:txBody>
      </p:sp>
    </p:spTree>
    <p:extLst>
      <p:ext uri="{BB962C8B-B14F-4D97-AF65-F5344CB8AC3E}">
        <p14:creationId xmlns:p14="http://schemas.microsoft.com/office/powerpoint/2010/main" val="913113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5" name="Picture 4"/>
          <p:cNvPicPr>
            <a:picLocks noChangeAspect="1"/>
          </p:cNvPicPr>
          <p:nvPr userDrawn="1"/>
        </p:nvPicPr>
        <p:blipFill>
          <a:blip r:embed="rId2"/>
          <a:stretch>
            <a:fillRect/>
          </a:stretch>
        </p:blipFill>
        <p:spPr>
          <a:xfrm>
            <a:off x="8565204" y="2657799"/>
            <a:ext cx="2103120" cy="2086689"/>
          </a:xfrm>
          <a:prstGeom prst="rect">
            <a:avLst/>
          </a:prstGeom>
        </p:spPr>
      </p:pic>
    </p:spTree>
    <p:extLst>
      <p:ext uri="{BB962C8B-B14F-4D97-AF65-F5344CB8AC3E}">
        <p14:creationId xmlns:p14="http://schemas.microsoft.com/office/powerpoint/2010/main" val="11705025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extLst>
      <p:ext uri="{BB962C8B-B14F-4D97-AF65-F5344CB8AC3E}">
        <p14:creationId xmlns:p14="http://schemas.microsoft.com/office/powerpoint/2010/main" val="350413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2036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10/13/2023</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70" r:id="rId1"/>
    <p:sldLayoutId id="2147483687" r:id="rId2"/>
    <p:sldLayoutId id="2147483688" r:id="rId3"/>
    <p:sldLayoutId id="2147483671" r:id="rId4"/>
    <p:sldLayoutId id="2147483672" r:id="rId5"/>
    <p:sldLayoutId id="2147483689" r:id="rId6"/>
    <p:sldLayoutId id="2147483690" r:id="rId7"/>
    <p:sldLayoutId id="2147483673" r:id="rId8"/>
    <p:sldLayoutId id="2147483694" r:id="rId9"/>
    <p:sldLayoutId id="2147483686" r:id="rId10"/>
    <p:sldLayoutId id="2147483693" r:id="rId11"/>
    <p:sldLayoutId id="214748369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29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39.png"/></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7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8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6.png"/><Relationship Id="rId7" Type="http://schemas.openxmlformats.org/officeDocument/2006/relationships/image" Target="../media/image33.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700F155-879E-4253-A2D1-B37B688D171B}"/>
              </a:ext>
            </a:extLst>
          </p:cNvPr>
          <p:cNvSpPr>
            <a:spLocks noGrp="1"/>
          </p:cNvSpPr>
          <p:nvPr>
            <p:ph type="ctrTitle"/>
          </p:nvPr>
        </p:nvSpPr>
        <p:spPr>
          <a:xfrm>
            <a:off x="623884" y="2369713"/>
            <a:ext cx="7035300" cy="669702"/>
          </a:xfrm>
        </p:spPr>
        <p:txBody>
          <a:bodyPr/>
          <a:lstStyle/>
          <a:p>
            <a:br>
              <a:rPr lang="en-US" sz="5400" b="0" dirty="0"/>
            </a:br>
            <a:r>
              <a:rPr lang="en-US" sz="5400" b="0" dirty="0"/>
              <a:t>Greedy </a:t>
            </a:r>
            <a:r>
              <a:rPr lang="en-US" sz="5400" dirty="0"/>
              <a:t>Algorithms</a:t>
            </a:r>
          </a:p>
        </p:txBody>
      </p:sp>
      <p:sp>
        <p:nvSpPr>
          <p:cNvPr id="4" name="TextBox 3">
            <a:extLst>
              <a:ext uri="{FF2B5EF4-FFF2-40B4-BE49-F238E27FC236}">
                <a16:creationId xmlns:a16="http://schemas.microsoft.com/office/drawing/2014/main" id="{6ED140DB-1ABF-452B-9BFB-074F5D8DFBD9}"/>
              </a:ext>
            </a:extLst>
          </p:cNvPr>
          <p:cNvSpPr txBox="1"/>
          <p:nvPr/>
        </p:nvSpPr>
        <p:spPr>
          <a:xfrm>
            <a:off x="103471" y="6500079"/>
            <a:ext cx="6097604" cy="276999"/>
          </a:xfrm>
          <a:prstGeom prst="rect">
            <a:avLst/>
          </a:prstGeom>
          <a:noFill/>
        </p:spPr>
        <p:txBody>
          <a:bodyPr wrap="square">
            <a:spAutoFit/>
          </a:bodyPr>
          <a:lstStyle/>
          <a:p>
            <a:pPr marL="0" indent="0">
              <a:buNone/>
            </a:pPr>
            <a:r>
              <a:rPr lang="en-US" sz="1200" dirty="0"/>
              <a:t>Source: Internet, reference books, NPTEL</a:t>
            </a:r>
          </a:p>
        </p:txBody>
      </p:sp>
    </p:spTree>
    <p:extLst>
      <p:ext uri="{BB962C8B-B14F-4D97-AF65-F5344CB8AC3E}">
        <p14:creationId xmlns:p14="http://schemas.microsoft.com/office/powerpoint/2010/main" val="1535329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p:cNvCxnSpPr>
          <p:nvPr/>
        </p:nvCxnSpPr>
        <p:spPr>
          <a:xfrm>
            <a:off x="1191446" y="-17287"/>
            <a:ext cx="0" cy="54864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534989"/>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a:stCxn id="6" idx="4"/>
          </p:cNvCxnSpPr>
          <p:nvPr/>
        </p:nvCxnSpPr>
        <p:spPr>
          <a:xfrm>
            <a:off x="1191446" y="1009551"/>
            <a:ext cx="0" cy="502920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512751" y="530001"/>
            <a:ext cx="8767718" cy="4124206"/>
          </a:xfrm>
          <a:prstGeom prst="rect">
            <a:avLst/>
          </a:prstGeom>
          <a:noFill/>
        </p:spPr>
        <p:txBody>
          <a:bodyPr wrap="square" rtlCol="0">
            <a:spAutoFit/>
          </a:bodyPr>
          <a:lstStyle/>
          <a:p>
            <a:r>
              <a:rPr lang="en-US" sz="2400" b="1" dirty="0">
                <a:solidFill>
                  <a:srgbClr val="AD1457"/>
                </a:solidFill>
              </a:rPr>
              <a:t>Outline</a:t>
            </a:r>
          </a:p>
          <a:p>
            <a:pPr marL="800100" lvl="1" indent="-342900">
              <a:spcBef>
                <a:spcPts val="1200"/>
              </a:spcBef>
              <a:buClr>
                <a:srgbClr val="424242"/>
              </a:buClr>
              <a:buFont typeface="Wingdings" panose="05000000000000000000" pitchFamily="2" charset="2"/>
              <a:buChar char="§"/>
            </a:pPr>
            <a:r>
              <a:rPr lang="en-US" sz="2400" dirty="0">
                <a:solidFill>
                  <a:srgbClr val="424242"/>
                </a:solidFill>
              </a:rPr>
              <a:t>General Characteristics of greedy algorithms</a:t>
            </a:r>
          </a:p>
          <a:p>
            <a:pPr marL="800100" lvl="1" indent="-342900">
              <a:spcBef>
                <a:spcPts val="1200"/>
              </a:spcBef>
              <a:buClr>
                <a:srgbClr val="424242"/>
              </a:buClr>
              <a:buFont typeface="Wingdings" panose="05000000000000000000" pitchFamily="2" charset="2"/>
              <a:buChar char="§"/>
            </a:pPr>
            <a:r>
              <a:rPr lang="en-US" sz="2400" dirty="0">
                <a:solidFill>
                  <a:srgbClr val="424242"/>
                </a:solidFill>
              </a:rPr>
              <a:t>Elements of Greedy Strategy</a:t>
            </a:r>
          </a:p>
          <a:p>
            <a:pPr marL="800100" lvl="1" indent="-342900">
              <a:spcBef>
                <a:spcPts val="1200"/>
              </a:spcBef>
              <a:buClr>
                <a:srgbClr val="424242"/>
              </a:buClr>
              <a:buFont typeface="Wingdings" panose="05000000000000000000" pitchFamily="2" charset="2"/>
              <a:buChar char="§"/>
            </a:pPr>
            <a:r>
              <a:rPr lang="en-US" sz="2400" dirty="0">
                <a:solidFill>
                  <a:srgbClr val="424242"/>
                </a:solidFill>
              </a:rPr>
              <a:t>Make change Problem</a:t>
            </a:r>
          </a:p>
          <a:p>
            <a:pPr marL="800100" lvl="1" indent="-342900">
              <a:spcBef>
                <a:spcPts val="1200"/>
              </a:spcBef>
              <a:buClr>
                <a:srgbClr val="424242"/>
              </a:buClr>
              <a:buFont typeface="Wingdings" panose="05000000000000000000" pitchFamily="2" charset="2"/>
              <a:buChar char="§"/>
            </a:pPr>
            <a:r>
              <a:rPr lang="en-US" sz="2400" dirty="0">
                <a:solidFill>
                  <a:srgbClr val="424242"/>
                </a:solidFill>
              </a:rPr>
              <a:t>Minimum Spanning trees (</a:t>
            </a:r>
            <a:r>
              <a:rPr lang="en-US" sz="2400" dirty="0" err="1">
                <a:solidFill>
                  <a:srgbClr val="424242"/>
                </a:solidFill>
              </a:rPr>
              <a:t>Kruskal’s</a:t>
            </a:r>
            <a:r>
              <a:rPr lang="en-US" sz="2400" dirty="0">
                <a:solidFill>
                  <a:srgbClr val="424242"/>
                </a:solidFill>
              </a:rPr>
              <a:t> algorithm, Prim’s algorithm)</a:t>
            </a:r>
          </a:p>
          <a:p>
            <a:pPr marL="800100" lvl="1" indent="-342900">
              <a:spcBef>
                <a:spcPts val="1200"/>
              </a:spcBef>
              <a:buClr>
                <a:srgbClr val="424242"/>
              </a:buClr>
              <a:buFont typeface="Wingdings" panose="05000000000000000000" pitchFamily="2" charset="2"/>
              <a:buChar char="§"/>
            </a:pPr>
            <a:r>
              <a:rPr lang="en-US" sz="2400" dirty="0">
                <a:solidFill>
                  <a:srgbClr val="424242"/>
                </a:solidFill>
              </a:rPr>
              <a:t>The Knapsack Problem</a:t>
            </a:r>
          </a:p>
          <a:p>
            <a:pPr marL="800100" lvl="1" indent="-342900">
              <a:spcBef>
                <a:spcPts val="1200"/>
              </a:spcBef>
              <a:buClr>
                <a:srgbClr val="424242"/>
              </a:buClr>
              <a:buFont typeface="Wingdings" panose="05000000000000000000" pitchFamily="2" charset="2"/>
              <a:buChar char="§"/>
            </a:pPr>
            <a:r>
              <a:rPr lang="en-US" sz="2400" dirty="0">
                <a:solidFill>
                  <a:srgbClr val="424242"/>
                </a:solidFill>
              </a:rPr>
              <a:t>Job Scheduling Problem</a:t>
            </a:r>
          </a:p>
          <a:p>
            <a:pPr marL="800100" lvl="1" indent="-342900">
              <a:spcBef>
                <a:spcPts val="1200"/>
              </a:spcBef>
              <a:buClr>
                <a:srgbClr val="424242"/>
              </a:buClr>
              <a:buFont typeface="Wingdings" panose="05000000000000000000" pitchFamily="2" charset="2"/>
              <a:buChar char="§"/>
            </a:pPr>
            <a:r>
              <a:rPr lang="en-US" sz="2400" dirty="0">
                <a:solidFill>
                  <a:srgbClr val="424242"/>
                </a:solidFill>
              </a:rPr>
              <a:t>Huffman code</a:t>
            </a:r>
          </a:p>
        </p:txBody>
      </p:sp>
    </p:spTree>
    <p:extLst>
      <p:ext uri="{BB962C8B-B14F-4D97-AF65-F5344CB8AC3E}">
        <p14:creationId xmlns:p14="http://schemas.microsoft.com/office/powerpoint/2010/main" val="2724533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1500"/>
                            </p:stCondLst>
                            <p:childTnLst>
                              <p:par>
                                <p:cTn id="25" presetID="10" presetClass="entr" presetSubtype="0" fill="hold" nodeType="afterEffect">
                                  <p:stCondLst>
                                    <p:cond delay="0"/>
                                  </p:stCondLst>
                                  <p:childTnLst>
                                    <p:set>
                                      <p:cBhvr>
                                        <p:cTn id="26" dur="1" fill="hold">
                                          <p:stCondLst>
                                            <p:cond delay="0"/>
                                          </p:stCondLst>
                                        </p:cTn>
                                        <p:tgtEl>
                                          <p:spTgt spid="9">
                                            <p:txEl>
                                              <p:pRg st="1" end="1"/>
                                            </p:txEl>
                                          </p:spTgt>
                                        </p:tgtEl>
                                        <p:attrNameLst>
                                          <p:attrName>style.visibility</p:attrName>
                                        </p:attrNameLst>
                                      </p:cBhvr>
                                      <p:to>
                                        <p:strVal val="visible"/>
                                      </p:to>
                                    </p:set>
                                    <p:animEffect transition="in" filter="fade">
                                      <p:cBhvr>
                                        <p:cTn id="27" dur="500"/>
                                        <p:tgtEl>
                                          <p:spTgt spid="9">
                                            <p:txEl>
                                              <p:pRg st="1" end="1"/>
                                            </p:txEl>
                                          </p:spTgt>
                                        </p:tgtEl>
                                      </p:cBhvr>
                                    </p:animEffect>
                                  </p:childTnLst>
                                </p:cTn>
                              </p:par>
                            </p:childTnLst>
                          </p:cTn>
                        </p:par>
                        <p:par>
                          <p:cTn id="28" fill="hold">
                            <p:stCondLst>
                              <p:cond delay="2000"/>
                            </p:stCondLst>
                            <p:childTnLst>
                              <p:par>
                                <p:cTn id="29" presetID="10" presetClass="entr" presetSubtype="0" fill="hold" nodeType="afterEffect">
                                  <p:stCondLst>
                                    <p:cond delay="0"/>
                                  </p:stCondLst>
                                  <p:childTnLst>
                                    <p:set>
                                      <p:cBhvr>
                                        <p:cTn id="30" dur="1" fill="hold">
                                          <p:stCondLst>
                                            <p:cond delay="0"/>
                                          </p:stCondLst>
                                        </p:cTn>
                                        <p:tgtEl>
                                          <p:spTgt spid="9">
                                            <p:txEl>
                                              <p:pRg st="2" end="2"/>
                                            </p:txEl>
                                          </p:spTgt>
                                        </p:tgtEl>
                                        <p:attrNameLst>
                                          <p:attrName>style.visibility</p:attrName>
                                        </p:attrNameLst>
                                      </p:cBhvr>
                                      <p:to>
                                        <p:strVal val="visible"/>
                                      </p:to>
                                    </p:set>
                                    <p:animEffect transition="in" filter="fade">
                                      <p:cBhvr>
                                        <p:cTn id="31" dur="500"/>
                                        <p:tgtEl>
                                          <p:spTgt spid="9">
                                            <p:txEl>
                                              <p:pRg st="2" end="2"/>
                                            </p:txEl>
                                          </p:spTgt>
                                        </p:tgtEl>
                                      </p:cBhvr>
                                    </p:animEffect>
                                  </p:childTnLst>
                                </p:cTn>
                              </p:par>
                            </p:childTnLst>
                          </p:cTn>
                        </p:par>
                        <p:par>
                          <p:cTn id="32" fill="hold">
                            <p:stCondLst>
                              <p:cond delay="2500"/>
                            </p:stCondLst>
                            <p:childTnLst>
                              <p:par>
                                <p:cTn id="33" presetID="10" presetClass="entr" presetSubtype="0" fill="hold" nodeType="afterEffect">
                                  <p:stCondLst>
                                    <p:cond delay="0"/>
                                  </p:stCondLst>
                                  <p:childTnLst>
                                    <p:set>
                                      <p:cBhvr>
                                        <p:cTn id="34" dur="1" fill="hold">
                                          <p:stCondLst>
                                            <p:cond delay="0"/>
                                          </p:stCondLst>
                                        </p:cTn>
                                        <p:tgtEl>
                                          <p:spTgt spid="9">
                                            <p:txEl>
                                              <p:pRg st="3" end="3"/>
                                            </p:txEl>
                                          </p:spTgt>
                                        </p:tgtEl>
                                        <p:attrNameLst>
                                          <p:attrName>style.visibility</p:attrName>
                                        </p:attrNameLst>
                                      </p:cBhvr>
                                      <p:to>
                                        <p:strVal val="visible"/>
                                      </p:to>
                                    </p:set>
                                    <p:animEffect transition="in" filter="fade">
                                      <p:cBhvr>
                                        <p:cTn id="35" dur="500"/>
                                        <p:tgtEl>
                                          <p:spTgt spid="9">
                                            <p:txEl>
                                              <p:pRg st="3" end="3"/>
                                            </p:txEl>
                                          </p:spTgt>
                                        </p:tgtEl>
                                      </p:cBhvr>
                                    </p:animEffect>
                                  </p:childTnLst>
                                </p:cTn>
                              </p:par>
                            </p:childTnLst>
                          </p:cTn>
                        </p:par>
                        <p:par>
                          <p:cTn id="36" fill="hold">
                            <p:stCondLst>
                              <p:cond delay="3000"/>
                            </p:stCondLst>
                            <p:childTnLst>
                              <p:par>
                                <p:cTn id="37" presetID="10" presetClass="entr" presetSubtype="0" fill="hold" nodeType="afterEffect">
                                  <p:stCondLst>
                                    <p:cond delay="0"/>
                                  </p:stCondLst>
                                  <p:childTnLst>
                                    <p:set>
                                      <p:cBhvr>
                                        <p:cTn id="38" dur="1" fill="hold">
                                          <p:stCondLst>
                                            <p:cond delay="0"/>
                                          </p:stCondLst>
                                        </p:cTn>
                                        <p:tgtEl>
                                          <p:spTgt spid="9">
                                            <p:txEl>
                                              <p:pRg st="4" end="4"/>
                                            </p:txEl>
                                          </p:spTgt>
                                        </p:tgtEl>
                                        <p:attrNameLst>
                                          <p:attrName>style.visibility</p:attrName>
                                        </p:attrNameLst>
                                      </p:cBhvr>
                                      <p:to>
                                        <p:strVal val="visible"/>
                                      </p:to>
                                    </p:set>
                                    <p:animEffect transition="in" filter="fade">
                                      <p:cBhvr>
                                        <p:cTn id="39" dur="500"/>
                                        <p:tgtEl>
                                          <p:spTgt spid="9">
                                            <p:txEl>
                                              <p:pRg st="4" end="4"/>
                                            </p:txEl>
                                          </p:spTgt>
                                        </p:tgtEl>
                                      </p:cBhvr>
                                    </p:animEffect>
                                  </p:childTnLst>
                                </p:cTn>
                              </p:par>
                            </p:childTnLst>
                          </p:cTn>
                        </p:par>
                        <p:par>
                          <p:cTn id="40" fill="hold">
                            <p:stCondLst>
                              <p:cond delay="3500"/>
                            </p:stCondLst>
                            <p:childTnLst>
                              <p:par>
                                <p:cTn id="41" presetID="10" presetClass="entr" presetSubtype="0" fill="hold" nodeType="afterEffect">
                                  <p:stCondLst>
                                    <p:cond delay="0"/>
                                  </p:stCondLst>
                                  <p:childTnLst>
                                    <p:set>
                                      <p:cBhvr>
                                        <p:cTn id="42" dur="1" fill="hold">
                                          <p:stCondLst>
                                            <p:cond delay="0"/>
                                          </p:stCondLst>
                                        </p:cTn>
                                        <p:tgtEl>
                                          <p:spTgt spid="9">
                                            <p:txEl>
                                              <p:pRg st="5" end="5"/>
                                            </p:txEl>
                                          </p:spTgt>
                                        </p:tgtEl>
                                        <p:attrNameLst>
                                          <p:attrName>style.visibility</p:attrName>
                                        </p:attrNameLst>
                                      </p:cBhvr>
                                      <p:to>
                                        <p:strVal val="visible"/>
                                      </p:to>
                                    </p:set>
                                    <p:animEffect transition="in" filter="fade">
                                      <p:cBhvr>
                                        <p:cTn id="43" dur="500"/>
                                        <p:tgtEl>
                                          <p:spTgt spid="9">
                                            <p:txEl>
                                              <p:pRg st="5" end="5"/>
                                            </p:txEl>
                                          </p:spTgt>
                                        </p:tgtEl>
                                      </p:cBhvr>
                                    </p:animEffect>
                                  </p:childTnLst>
                                </p:cTn>
                              </p:par>
                            </p:childTnLst>
                          </p:cTn>
                        </p:par>
                        <p:par>
                          <p:cTn id="44" fill="hold">
                            <p:stCondLst>
                              <p:cond delay="4000"/>
                            </p:stCondLst>
                            <p:childTnLst>
                              <p:par>
                                <p:cTn id="45" presetID="10" presetClass="entr" presetSubtype="0" fill="hold" nodeType="afterEffect">
                                  <p:stCondLst>
                                    <p:cond delay="0"/>
                                  </p:stCondLst>
                                  <p:childTnLst>
                                    <p:set>
                                      <p:cBhvr>
                                        <p:cTn id="46" dur="1" fill="hold">
                                          <p:stCondLst>
                                            <p:cond delay="0"/>
                                          </p:stCondLst>
                                        </p:cTn>
                                        <p:tgtEl>
                                          <p:spTgt spid="9">
                                            <p:txEl>
                                              <p:pRg st="6" end="6"/>
                                            </p:txEl>
                                          </p:spTgt>
                                        </p:tgtEl>
                                        <p:attrNameLst>
                                          <p:attrName>style.visibility</p:attrName>
                                        </p:attrNameLst>
                                      </p:cBhvr>
                                      <p:to>
                                        <p:strVal val="visible"/>
                                      </p:to>
                                    </p:set>
                                    <p:animEffect transition="in" filter="fade">
                                      <p:cBhvr>
                                        <p:cTn id="47" dur="500"/>
                                        <p:tgtEl>
                                          <p:spTgt spid="9">
                                            <p:txEl>
                                              <p:pRg st="6" end="6"/>
                                            </p:txEl>
                                          </p:spTgt>
                                        </p:tgtEl>
                                      </p:cBhvr>
                                    </p:animEffect>
                                  </p:childTnLst>
                                </p:cTn>
                              </p:par>
                            </p:childTnLst>
                          </p:cTn>
                        </p:par>
                        <p:par>
                          <p:cTn id="48" fill="hold">
                            <p:stCondLst>
                              <p:cond delay="4500"/>
                            </p:stCondLst>
                            <p:childTnLst>
                              <p:par>
                                <p:cTn id="49" presetID="10" presetClass="entr" presetSubtype="0" fill="hold" nodeType="afterEffect">
                                  <p:stCondLst>
                                    <p:cond delay="0"/>
                                  </p:stCondLst>
                                  <p:childTnLst>
                                    <p:set>
                                      <p:cBhvr>
                                        <p:cTn id="50" dur="1" fill="hold">
                                          <p:stCondLst>
                                            <p:cond delay="0"/>
                                          </p:stCondLst>
                                        </p:cTn>
                                        <p:tgtEl>
                                          <p:spTgt spid="9">
                                            <p:txEl>
                                              <p:pRg st="7" end="7"/>
                                            </p:txEl>
                                          </p:spTgt>
                                        </p:tgtEl>
                                        <p:attrNameLst>
                                          <p:attrName>style.visibility</p:attrName>
                                        </p:attrNameLst>
                                      </p:cBhvr>
                                      <p:to>
                                        <p:strVal val="visible"/>
                                      </p:to>
                                    </p:set>
                                    <p:animEffect transition="in" filter="fade">
                                      <p:cBhvr>
                                        <p:cTn id="51" dur="5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Characteristics of Greedy Algorithms</a:t>
            </a:r>
            <a:endParaRPr lang="en-US" dirty="0"/>
          </a:p>
        </p:txBody>
      </p:sp>
      <p:sp>
        <p:nvSpPr>
          <p:cNvPr id="3" name="Content Placeholder 2"/>
          <p:cNvSpPr>
            <a:spLocks noGrp="1"/>
          </p:cNvSpPr>
          <p:nvPr>
            <p:ph idx="1"/>
          </p:nvPr>
        </p:nvSpPr>
        <p:spPr/>
        <p:txBody>
          <a:bodyPr/>
          <a:lstStyle/>
          <a:p>
            <a:pPr marL="0" indent="0">
              <a:buNone/>
            </a:pPr>
            <a:r>
              <a:rPr lang="en-IN" b="1" dirty="0">
                <a:solidFill>
                  <a:srgbClr val="AD1457"/>
                </a:solidFill>
              </a:rPr>
              <a:t>Greedy : always makes the choice that seems to be the best at that moment</a:t>
            </a:r>
            <a:endParaRPr lang="en-US" b="1" dirty="0">
              <a:solidFill>
                <a:srgbClr val="AD1457"/>
              </a:solidFill>
            </a:endParaRPr>
          </a:p>
          <a:p>
            <a:r>
              <a:rPr lang="en-US" dirty="0"/>
              <a:t>Greedy algorithms are </a:t>
            </a:r>
            <a:r>
              <a:rPr lang="en-US" dirty="0">
                <a:solidFill>
                  <a:srgbClr val="0070C0"/>
                </a:solidFill>
              </a:rPr>
              <a:t>characterized</a:t>
            </a:r>
            <a:r>
              <a:rPr lang="en-US" dirty="0"/>
              <a:t> by the following features.</a:t>
            </a:r>
          </a:p>
          <a:p>
            <a:pPr marL="914400" lvl="1" indent="-457200">
              <a:buFont typeface="+mj-lt"/>
              <a:buAutoNum type="arabicPeriod"/>
            </a:pPr>
            <a:r>
              <a:rPr lang="en-US" dirty="0"/>
              <a:t>Greedy approach forms a set or list of </a:t>
            </a:r>
            <a:r>
              <a:rPr lang="en-US" dirty="0">
                <a:solidFill>
                  <a:srgbClr val="AD1457"/>
                </a:solidFill>
              </a:rPr>
              <a:t>candidates 𝑪</a:t>
            </a:r>
            <a:r>
              <a:rPr lang="en-US" dirty="0"/>
              <a:t>.</a:t>
            </a:r>
          </a:p>
          <a:p>
            <a:pPr marL="914400" lvl="1" indent="-457200">
              <a:buFont typeface="+mj-lt"/>
              <a:buAutoNum type="arabicPeriod"/>
            </a:pPr>
            <a:r>
              <a:rPr lang="en-US" dirty="0"/>
              <a:t>Once a candidate is selected in the solution, </a:t>
            </a:r>
            <a:r>
              <a:rPr lang="en-US" dirty="0">
                <a:solidFill>
                  <a:srgbClr val="AD1457"/>
                </a:solidFill>
              </a:rPr>
              <a:t>it is there forever</a:t>
            </a:r>
            <a:r>
              <a:rPr lang="en-US" dirty="0"/>
              <a:t>: once a candidate is excluded from the solution, </a:t>
            </a:r>
            <a:r>
              <a:rPr lang="en-US" dirty="0">
                <a:solidFill>
                  <a:srgbClr val="AD1457"/>
                </a:solidFill>
              </a:rPr>
              <a:t>it is never reconsidered</a:t>
            </a:r>
            <a:r>
              <a:rPr lang="en-US" dirty="0"/>
              <a:t>.</a:t>
            </a:r>
          </a:p>
          <a:p>
            <a:pPr marL="914400" lvl="1" indent="-457200">
              <a:buFont typeface="+mj-lt"/>
              <a:buAutoNum type="arabicPeriod"/>
            </a:pPr>
            <a:r>
              <a:rPr lang="en-US" dirty="0"/>
              <a:t>To construct the solution in an optimal way, Greedy Algorithm maintains </a:t>
            </a:r>
            <a:r>
              <a:rPr lang="en-US" dirty="0">
                <a:solidFill>
                  <a:srgbClr val="AD1457"/>
                </a:solidFill>
              </a:rPr>
              <a:t>two sets</a:t>
            </a:r>
            <a:r>
              <a:rPr lang="en-US" dirty="0"/>
              <a:t>. </a:t>
            </a:r>
          </a:p>
          <a:p>
            <a:pPr marL="914400" lvl="1" indent="-457200">
              <a:buFont typeface="+mj-lt"/>
              <a:buAutoNum type="arabicPeriod"/>
            </a:pPr>
            <a:r>
              <a:rPr lang="en-US" dirty="0"/>
              <a:t>One set contains candidates that have already been </a:t>
            </a:r>
            <a:r>
              <a:rPr lang="en-US" dirty="0">
                <a:solidFill>
                  <a:srgbClr val="AD1457"/>
                </a:solidFill>
              </a:rPr>
              <a:t>considered and chosen</a:t>
            </a:r>
            <a:r>
              <a:rPr lang="en-US" dirty="0"/>
              <a:t>, while the other set contains candidates that have been </a:t>
            </a:r>
            <a:r>
              <a:rPr lang="en-US" dirty="0">
                <a:solidFill>
                  <a:srgbClr val="AD1457"/>
                </a:solidFill>
              </a:rPr>
              <a:t>considered but rejected</a:t>
            </a:r>
            <a:r>
              <a:rPr lang="en-US" dirty="0"/>
              <a:t>.</a:t>
            </a:r>
          </a:p>
          <a:p>
            <a:endParaRPr lang="en-US" dirty="0"/>
          </a:p>
          <a:p>
            <a:r>
              <a:rPr lang="en-US" dirty="0"/>
              <a:t>The greedy algorithm consists of </a:t>
            </a:r>
            <a:r>
              <a:rPr lang="en-US" dirty="0">
                <a:solidFill>
                  <a:srgbClr val="0070C0"/>
                </a:solidFill>
              </a:rPr>
              <a:t>four functions</a:t>
            </a:r>
            <a:r>
              <a:rPr lang="en-US" dirty="0"/>
              <a:t>.</a:t>
            </a:r>
          </a:p>
          <a:p>
            <a:pPr marL="971550" lvl="1" indent="-514350">
              <a:buFont typeface="+mj-lt"/>
              <a:buAutoNum type="romanLcPeriod"/>
            </a:pPr>
            <a:r>
              <a:rPr lang="en-US" b="1" dirty="0"/>
              <a:t>Selection Function</a:t>
            </a:r>
            <a:r>
              <a:rPr lang="en-US" dirty="0"/>
              <a:t>:- The selection function tells which of the candidates is the most promising. </a:t>
            </a:r>
          </a:p>
          <a:p>
            <a:pPr marL="971550" lvl="1" indent="-514350">
              <a:buFont typeface="+mj-lt"/>
              <a:buAutoNum type="romanLcPeriod"/>
            </a:pPr>
            <a:r>
              <a:rPr lang="en-US" b="1" dirty="0"/>
              <a:t>Feasible Function</a:t>
            </a:r>
            <a:r>
              <a:rPr lang="en-US" dirty="0"/>
              <a:t>:- A function that checks the feasibility of the candidate.</a:t>
            </a:r>
            <a:r>
              <a:rPr lang="en-US" sz="1200" dirty="0"/>
              <a:t>(Used to determine whether a candidate can be used to contribute to the solution) </a:t>
            </a:r>
            <a:endParaRPr lang="en-US" dirty="0"/>
          </a:p>
          <a:p>
            <a:pPr marL="971550" lvl="1" indent="-514350">
              <a:buFont typeface="+mj-lt"/>
              <a:buAutoNum type="romanLcPeriod"/>
            </a:pPr>
            <a:r>
              <a:rPr lang="en-US" b="1" dirty="0"/>
              <a:t>Objective Function</a:t>
            </a:r>
            <a:r>
              <a:rPr lang="en-US" dirty="0"/>
              <a:t>:- An objective function, used to assign a value to a solution or a partial solution</a:t>
            </a:r>
          </a:p>
          <a:p>
            <a:pPr marL="971550" lvl="1" indent="-514350">
              <a:buFont typeface="+mj-lt"/>
              <a:buAutoNum type="romanLcPeriod"/>
            </a:pPr>
            <a:r>
              <a:rPr lang="en-US" b="1" dirty="0"/>
              <a:t>Solution Function</a:t>
            </a:r>
            <a:r>
              <a:rPr lang="en-US" dirty="0"/>
              <a:t>:- A function that checks whether a complete solution has been reached.</a:t>
            </a:r>
          </a:p>
          <a:p>
            <a:pPr marL="457200" lvl="1" indent="0">
              <a:buNone/>
            </a:pPr>
            <a:endParaRPr lang="en-US" dirty="0"/>
          </a:p>
          <a:p>
            <a:pPr marL="914400" lvl="1" indent="-457200">
              <a:buFont typeface="+mj-lt"/>
              <a:buAutoNum type="romanLcPeriod"/>
            </a:pPr>
            <a:endParaRPr lang="en-US" dirty="0"/>
          </a:p>
        </p:txBody>
      </p:sp>
    </p:spTree>
    <p:extLst>
      <p:ext uri="{BB962C8B-B14F-4D97-AF65-F5344CB8AC3E}">
        <p14:creationId xmlns:p14="http://schemas.microsoft.com/office/powerpoint/2010/main" val="213394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500"/>
                                        <p:tgtEl>
                                          <p:spTgt spid="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fade">
                                      <p:cBhvr>
                                        <p:cTn id="57"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0695A-FBF8-42BC-8FE6-A8E6C66364F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31DDA0F-0D73-4AEA-8C78-F75BE7355A2E}"/>
              </a:ext>
            </a:extLst>
          </p:cNvPr>
          <p:cNvSpPr>
            <a:spLocks noGrp="1"/>
          </p:cNvSpPr>
          <p:nvPr>
            <p:ph idx="1"/>
          </p:nvPr>
        </p:nvSpPr>
        <p:spPr/>
        <p:txBody>
          <a:bodyPr/>
          <a:lstStyle/>
          <a:p>
            <a:pPr marL="0" indent="0">
              <a:buNone/>
            </a:pPr>
            <a:r>
              <a:rPr lang="en-IN" dirty="0"/>
              <a:t>Some common algorithms and protocols that use a greedy approach are:</a:t>
            </a:r>
          </a:p>
          <a:p>
            <a:r>
              <a:rPr lang="en-IN" dirty="0"/>
              <a:t>Prim-</a:t>
            </a:r>
            <a:r>
              <a:rPr lang="en-IN" dirty="0" err="1"/>
              <a:t>Jarnik's</a:t>
            </a:r>
            <a:r>
              <a:rPr lang="en-IN" dirty="0"/>
              <a:t> and Kruskal's Minimal Spanning Tree (MST) algorithms</a:t>
            </a:r>
          </a:p>
          <a:p>
            <a:r>
              <a:rPr lang="en-IN" dirty="0" err="1"/>
              <a:t>Djikstra's</a:t>
            </a:r>
            <a:r>
              <a:rPr lang="en-IN" dirty="0"/>
              <a:t> Shortest Path algorithm</a:t>
            </a:r>
          </a:p>
          <a:p>
            <a:r>
              <a:rPr lang="en-IN" dirty="0"/>
              <a:t>Activity selection problem</a:t>
            </a:r>
          </a:p>
          <a:p>
            <a:r>
              <a:rPr lang="en-IN" dirty="0"/>
              <a:t>Huffman Coding (used for lossless data compression)</a:t>
            </a:r>
          </a:p>
          <a:p>
            <a:r>
              <a:rPr lang="en-IN" dirty="0"/>
              <a:t>Open-Shortest-Path-First routing protocol (it uses </a:t>
            </a:r>
            <a:r>
              <a:rPr lang="en-IN" dirty="0" err="1"/>
              <a:t>Djikstra's</a:t>
            </a:r>
            <a:r>
              <a:rPr lang="en-IN" dirty="0"/>
              <a:t> algorithm)</a:t>
            </a:r>
          </a:p>
          <a:p>
            <a:r>
              <a:rPr lang="en-US" dirty="0"/>
              <a:t>Graph - Map Coloring</a:t>
            </a:r>
          </a:p>
          <a:p>
            <a:r>
              <a:rPr lang="en-US" dirty="0"/>
              <a:t>Knapsack Problem</a:t>
            </a:r>
          </a:p>
          <a:p>
            <a:r>
              <a:rPr lang="en-US" dirty="0"/>
              <a:t>Job Scheduling Problem</a:t>
            </a:r>
            <a:endParaRPr lang="en-IN" dirty="0"/>
          </a:p>
        </p:txBody>
      </p:sp>
    </p:spTree>
    <p:extLst>
      <p:ext uri="{BB962C8B-B14F-4D97-AF65-F5344CB8AC3E}">
        <p14:creationId xmlns:p14="http://schemas.microsoft.com/office/powerpoint/2010/main" val="1632234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055F2-2682-4CF6-A6E8-88F644154DB3}"/>
              </a:ext>
            </a:extLst>
          </p:cNvPr>
          <p:cNvSpPr>
            <a:spLocks noGrp="1"/>
          </p:cNvSpPr>
          <p:nvPr>
            <p:ph type="title"/>
          </p:nvPr>
        </p:nvSpPr>
        <p:spPr/>
        <p:txBody>
          <a:bodyPr/>
          <a:lstStyle/>
          <a:p>
            <a:r>
              <a:rPr lang="en-US" dirty="0"/>
              <a:t>Pseudo code of Greedy Algorithm</a:t>
            </a:r>
            <a:endParaRPr lang="en-IN" dirty="0"/>
          </a:p>
        </p:txBody>
      </p:sp>
      <p:sp>
        <p:nvSpPr>
          <p:cNvPr id="3" name="Content Placeholder 2">
            <a:extLst>
              <a:ext uri="{FF2B5EF4-FFF2-40B4-BE49-F238E27FC236}">
                <a16:creationId xmlns:a16="http://schemas.microsoft.com/office/drawing/2014/main" id="{853ED5A9-7BF5-45AB-AA4A-0B7BEEB05611}"/>
              </a:ext>
            </a:extLst>
          </p:cNvPr>
          <p:cNvSpPr>
            <a:spLocks noGrp="1"/>
          </p:cNvSpPr>
          <p:nvPr>
            <p:ph idx="1"/>
          </p:nvPr>
        </p:nvSpPr>
        <p:spPr>
          <a:xfrm>
            <a:off x="122740" y="711200"/>
            <a:ext cx="11946519" cy="5739429"/>
          </a:xfrm>
        </p:spPr>
        <p:txBody>
          <a:bodyPr/>
          <a:lstStyle/>
          <a:p>
            <a:pPr marL="0" indent="0">
              <a:buNone/>
            </a:pPr>
            <a:r>
              <a:rPr lang="en-US" dirty="0">
                <a:latin typeface="Cambria Math" panose="02040503050406030204" pitchFamily="18" charset="0"/>
                <a:ea typeface="Cambria Math" panose="02040503050406030204" pitchFamily="18" charset="0"/>
              </a:rPr>
              <a:t>Algorithm Greedy (a, n)  </a:t>
            </a:r>
          </a:p>
          <a:p>
            <a:pPr marL="0" indent="0">
              <a:buNone/>
            </a:pPr>
            <a:r>
              <a:rPr lang="en-US" dirty="0">
                <a:latin typeface="Cambria Math" panose="02040503050406030204" pitchFamily="18" charset="0"/>
                <a:ea typeface="Cambria Math" panose="02040503050406030204" pitchFamily="18" charset="0"/>
              </a:rPr>
              <a:t>{  </a:t>
            </a:r>
          </a:p>
          <a:p>
            <a:pPr marL="0" indent="0">
              <a:buNone/>
            </a:pPr>
            <a:r>
              <a:rPr lang="en-US" dirty="0">
                <a:latin typeface="Cambria Math" panose="02040503050406030204" pitchFamily="18" charset="0"/>
                <a:ea typeface="Cambria Math" panose="02040503050406030204" pitchFamily="18" charset="0"/>
              </a:rPr>
              <a:t>      Solution : = 0;  </a:t>
            </a:r>
          </a:p>
          <a:p>
            <a:pPr marL="0" indent="0">
              <a:buNone/>
            </a:pPr>
            <a:r>
              <a:rPr lang="en-US" dirty="0">
                <a:latin typeface="Cambria Math" panose="02040503050406030204" pitchFamily="18" charset="0"/>
                <a:ea typeface="Cambria Math" panose="02040503050406030204" pitchFamily="18" charset="0"/>
              </a:rPr>
              <a:t>      for </a:t>
            </a:r>
            <a:r>
              <a:rPr lang="en-US" dirty="0" err="1">
                <a:latin typeface="Cambria Math" panose="02040503050406030204" pitchFamily="18" charset="0"/>
                <a:ea typeface="Cambria Math" panose="02040503050406030204" pitchFamily="18" charset="0"/>
              </a:rPr>
              <a:t>i</a:t>
            </a:r>
            <a:r>
              <a:rPr lang="en-US" dirty="0">
                <a:latin typeface="Cambria Math" panose="02040503050406030204" pitchFamily="18" charset="0"/>
                <a:ea typeface="Cambria Math" panose="02040503050406030204" pitchFamily="18" charset="0"/>
              </a:rPr>
              <a:t> = 0 to n do  </a:t>
            </a:r>
          </a:p>
          <a:p>
            <a:pPr marL="0" indent="0">
              <a:buNone/>
            </a:pPr>
            <a:r>
              <a:rPr lang="en-US" dirty="0">
                <a:latin typeface="Cambria Math" panose="02040503050406030204" pitchFamily="18" charset="0"/>
                <a:ea typeface="Cambria Math" panose="02040503050406030204" pitchFamily="18" charset="0"/>
              </a:rPr>
              <a:t>          {  </a:t>
            </a:r>
          </a:p>
          <a:p>
            <a:pPr marL="0" indent="0">
              <a:buNone/>
            </a:pPr>
            <a:r>
              <a:rPr lang="en-US" dirty="0">
                <a:latin typeface="Cambria Math" panose="02040503050406030204" pitchFamily="18" charset="0"/>
                <a:ea typeface="Cambria Math" panose="02040503050406030204" pitchFamily="18" charset="0"/>
              </a:rPr>
              <a:t>                x: = select(a);  </a:t>
            </a:r>
          </a:p>
          <a:p>
            <a:pPr marL="0" indent="0">
              <a:buNone/>
            </a:pPr>
            <a:r>
              <a:rPr lang="en-US" dirty="0">
                <a:latin typeface="Cambria Math" panose="02040503050406030204" pitchFamily="18" charset="0"/>
                <a:ea typeface="Cambria Math" panose="02040503050406030204" pitchFamily="18" charset="0"/>
              </a:rPr>
              <a:t>                if feasible(solution, x)  </a:t>
            </a:r>
          </a:p>
          <a:p>
            <a:pPr marL="0" indent="0">
              <a:buNone/>
            </a:pPr>
            <a:r>
              <a:rPr lang="en-US" dirty="0">
                <a:latin typeface="Cambria Math" panose="02040503050406030204" pitchFamily="18" charset="0"/>
                <a:ea typeface="Cambria Math" panose="02040503050406030204" pitchFamily="18" charset="0"/>
              </a:rPr>
              <a:t>                       {  </a:t>
            </a:r>
          </a:p>
          <a:p>
            <a:pPr marL="0" indent="0">
              <a:buNone/>
            </a:pPr>
            <a:r>
              <a:rPr lang="en-US" dirty="0">
                <a:latin typeface="Cambria Math" panose="02040503050406030204" pitchFamily="18" charset="0"/>
                <a:ea typeface="Cambria Math" panose="02040503050406030204" pitchFamily="18" charset="0"/>
              </a:rPr>
              <a:t>                             Solution: = union(solution , x)  </a:t>
            </a:r>
          </a:p>
          <a:p>
            <a:pPr marL="0" indent="0">
              <a:buNone/>
            </a:pPr>
            <a:r>
              <a:rPr lang="en-US" dirty="0">
                <a:latin typeface="Cambria Math" panose="02040503050406030204" pitchFamily="18" charset="0"/>
                <a:ea typeface="Cambria Math" panose="02040503050406030204" pitchFamily="18" charset="0"/>
              </a:rPr>
              <a:t>                       }  </a:t>
            </a:r>
          </a:p>
          <a:p>
            <a:pPr marL="0" indent="0">
              <a:buNone/>
            </a:pPr>
            <a:r>
              <a:rPr lang="en-US" dirty="0">
                <a:latin typeface="Cambria Math" panose="02040503050406030204" pitchFamily="18" charset="0"/>
                <a:ea typeface="Cambria Math" panose="02040503050406030204" pitchFamily="18" charset="0"/>
              </a:rPr>
              <a:t>                return solution;  </a:t>
            </a:r>
          </a:p>
          <a:p>
            <a:pPr marL="0" indent="0">
              <a:buNone/>
            </a:pPr>
            <a:r>
              <a:rPr lang="en-US" dirty="0">
                <a:latin typeface="Cambria Math" panose="02040503050406030204" pitchFamily="18" charset="0"/>
                <a:ea typeface="Cambria Math" panose="02040503050406030204" pitchFamily="18" charset="0"/>
              </a:rPr>
              <a:t>          } </a:t>
            </a:r>
          </a:p>
          <a:p>
            <a:pPr marL="0" indent="0">
              <a:buNone/>
            </a:pPr>
            <a:r>
              <a:rPr lang="en-US" dirty="0">
                <a:latin typeface="Cambria Math" panose="02040503050406030204" pitchFamily="18" charset="0"/>
                <a:ea typeface="Cambria Math" panose="02040503050406030204" pitchFamily="18" charset="0"/>
              </a:rPr>
              <a:t>} </a:t>
            </a:r>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5010012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Coin Change Problem</a:t>
            </a:r>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5345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Definition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Suppose following coins are available </a:t>
                </a:r>
                <a:r>
                  <a:rPr lang="en-US" b="1" dirty="0"/>
                  <a:t>with unlimited quantity</a:t>
                </a:r>
                <a:r>
                  <a:rPr lang="en-US" dirty="0"/>
                  <a:t>: </a:t>
                </a:r>
              </a:p>
              <a:p>
                <a:pPr marL="914400" lvl="1" indent="-457200">
                  <a:buFont typeface="+mj-lt"/>
                  <a:buAutoNum type="arabicPeriod"/>
                </a:pPr>
                <a14:m>
                  <m:oMath xmlns:m="http://schemas.openxmlformats.org/officeDocument/2006/math">
                    <m:r>
                      <a:rPr lang="en-US" dirty="0">
                        <a:solidFill>
                          <a:srgbClr val="0066FF"/>
                        </a:solidFill>
                        <a:latin typeface="Cambria Math" panose="02040503050406030204" pitchFamily="18" charset="0"/>
                      </a:rPr>
                      <m:t>₹</m:t>
                    </m:r>
                  </m:oMath>
                </a14:m>
                <a:r>
                  <a:rPr lang="en-US" dirty="0">
                    <a:solidFill>
                      <a:srgbClr val="0066FF"/>
                    </a:solidFill>
                  </a:rPr>
                  <a:t> 10 </a:t>
                </a:r>
                <a:endParaRPr lang="en-US" dirty="0">
                  <a:solidFill>
                    <a:srgbClr val="0066FF"/>
                  </a:solidFill>
                  <a:latin typeface="Cambria Math" panose="02040503050406030204" pitchFamily="18" charset="0"/>
                </a:endParaRPr>
              </a:p>
              <a:p>
                <a:pPr marL="914400" lvl="1" indent="-457200">
                  <a:buFont typeface="+mj-lt"/>
                  <a:buAutoNum type="arabicPeriod"/>
                </a:pPr>
                <a14:m>
                  <m:oMath xmlns:m="http://schemas.openxmlformats.org/officeDocument/2006/math">
                    <m:r>
                      <a:rPr lang="en-US" dirty="0">
                        <a:solidFill>
                          <a:srgbClr val="0066FF"/>
                        </a:solidFill>
                        <a:latin typeface="Cambria Math" panose="02040503050406030204" pitchFamily="18" charset="0"/>
                      </a:rPr>
                      <m:t>₹</m:t>
                    </m:r>
                  </m:oMath>
                </a14:m>
                <a:r>
                  <a:rPr lang="en-US" dirty="0">
                    <a:solidFill>
                      <a:srgbClr val="0066FF"/>
                    </a:solidFill>
                  </a:rPr>
                  <a:t> 5</a:t>
                </a:r>
              </a:p>
              <a:p>
                <a:pPr marL="914400" lvl="1" indent="-457200">
                  <a:buFont typeface="+mj-lt"/>
                  <a:buAutoNum type="arabicPeriod"/>
                </a:pPr>
                <a14:m>
                  <m:oMath xmlns:m="http://schemas.openxmlformats.org/officeDocument/2006/math">
                    <m:r>
                      <a:rPr lang="en-US" dirty="0">
                        <a:solidFill>
                          <a:srgbClr val="0066FF"/>
                        </a:solidFill>
                        <a:latin typeface="Cambria Math" panose="02040503050406030204" pitchFamily="18" charset="0"/>
                      </a:rPr>
                      <m:t>₹</m:t>
                    </m:r>
                  </m:oMath>
                </a14:m>
                <a:r>
                  <a:rPr lang="en-US" dirty="0">
                    <a:solidFill>
                      <a:srgbClr val="0066FF"/>
                    </a:solidFill>
                  </a:rPr>
                  <a:t> 2 </a:t>
                </a:r>
              </a:p>
              <a:p>
                <a:pPr marL="914400" lvl="1" indent="-457200">
                  <a:buFont typeface="+mj-lt"/>
                  <a:buAutoNum type="arabicPeriod"/>
                </a:pPr>
                <a14:m>
                  <m:oMath xmlns:m="http://schemas.openxmlformats.org/officeDocument/2006/math">
                    <m:r>
                      <a:rPr lang="en-US" dirty="0">
                        <a:solidFill>
                          <a:srgbClr val="0066FF"/>
                        </a:solidFill>
                        <a:latin typeface="Cambria Math" panose="02040503050406030204" pitchFamily="18" charset="0"/>
                      </a:rPr>
                      <m:t>₹</m:t>
                    </m:r>
                  </m:oMath>
                </a14:m>
                <a:r>
                  <a:rPr lang="en-US" dirty="0">
                    <a:solidFill>
                      <a:srgbClr val="0066FF"/>
                    </a:solidFill>
                  </a:rPr>
                  <a:t> 1 </a:t>
                </a:r>
              </a:p>
              <a:p>
                <a:pPr marL="914400" lvl="1" indent="-457200">
                  <a:buFont typeface="+mj-lt"/>
                  <a:buAutoNum type="arabicPeriod"/>
                </a:pPr>
                <a:r>
                  <a:rPr lang="en-US" dirty="0">
                    <a:solidFill>
                      <a:srgbClr val="0066FF"/>
                    </a:solidFill>
                  </a:rPr>
                  <a:t>50 paisa </a:t>
                </a:r>
              </a:p>
              <a:p>
                <a:endParaRPr lang="en-US" dirty="0"/>
              </a:p>
              <a:p>
                <a:r>
                  <a:rPr lang="en-US" dirty="0"/>
                  <a:t>Our problem is to devise an algorithm for paying a given amount to a customer using </a:t>
                </a:r>
                <a:r>
                  <a:rPr lang="en-US" b="1" dirty="0">
                    <a:solidFill>
                      <a:srgbClr val="AD1457"/>
                    </a:solidFill>
                  </a:rPr>
                  <a:t>the smallest possible number of coins</a:t>
                </a:r>
                <a:r>
                  <a:rPr lang="en-US" dirty="0">
                    <a:solidFill>
                      <a:srgbClr val="AD1457"/>
                    </a:solidFill>
                  </a:rPr>
                  <a:t>. </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6" t="-1418" r="-818"/>
                </a:stretch>
              </a:blipFill>
            </p:spPr>
            <p:txBody>
              <a:bodyPr/>
              <a:lstStyle/>
              <a:p>
                <a:r>
                  <a:rPr lang="en-US">
                    <a:noFill/>
                  </a:rPr>
                  <a:t> </a:t>
                </a:r>
              </a:p>
            </p:txBody>
          </p:sp>
        </mc:Fallback>
      </mc:AlternateContent>
    </p:spTree>
    <p:extLst>
      <p:ext uri="{BB962C8B-B14F-4D97-AF65-F5344CB8AC3E}">
        <p14:creationId xmlns:p14="http://schemas.microsoft.com/office/powerpoint/2010/main" val="3349467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Make Change – Greedy Solution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If suppose, we need to pay an amount of </a:t>
                </a:r>
                <a14:m>
                  <m:oMath xmlns:m="http://schemas.openxmlformats.org/officeDocument/2006/math">
                    <m:r>
                      <a:rPr lang="en-US" dirty="0">
                        <a:solidFill>
                          <a:srgbClr val="0066FF"/>
                        </a:solidFill>
                        <a:latin typeface="Cambria Math" panose="02040503050406030204" pitchFamily="18" charset="0"/>
                      </a:rPr>
                      <m:t>₹</m:t>
                    </m:r>
                  </m:oMath>
                </a14:m>
                <a:r>
                  <a:rPr lang="en-US" dirty="0"/>
                  <a:t> </a:t>
                </a:r>
                <a:r>
                  <a:rPr lang="en-US" dirty="0">
                    <a:solidFill>
                      <a:srgbClr val="0066FF"/>
                    </a:solidFill>
                  </a:rPr>
                  <a:t>28</a:t>
                </a:r>
                <a:r>
                  <a:rPr lang="en-US" dirty="0"/>
                  <a:t>/- using the available coins. </a:t>
                </a:r>
              </a:p>
              <a:p>
                <a:r>
                  <a:rPr lang="en-US" dirty="0"/>
                  <a:t>Here we have a candidate (coins) set </a:t>
                </a:r>
                <a14:m>
                  <m:oMath xmlns:m="http://schemas.openxmlformats.org/officeDocument/2006/math">
                    <m:r>
                      <a:rPr lang="en-IN" b="1" i="1" dirty="0">
                        <a:latin typeface="Cambria Math" panose="02040503050406030204" pitchFamily="18" charset="0"/>
                      </a:rPr>
                      <m:t>𝑪</m:t>
                    </m:r>
                    <m:r>
                      <a:rPr lang="en-IN" b="1" i="1" dirty="0">
                        <a:latin typeface="Cambria Math" panose="02040503050406030204" pitchFamily="18" charset="0"/>
                      </a:rPr>
                      <m:t> = {</m:t>
                    </m:r>
                    <m:r>
                      <a:rPr lang="en-IN" b="1" i="1" dirty="0">
                        <a:latin typeface="Cambria Math" panose="02040503050406030204" pitchFamily="18" charset="0"/>
                      </a:rPr>
                      <m:t>𝟏𝟎</m:t>
                    </m:r>
                    <m:r>
                      <a:rPr lang="en-IN" b="1" i="1" dirty="0">
                        <a:latin typeface="Cambria Math" panose="02040503050406030204" pitchFamily="18" charset="0"/>
                      </a:rPr>
                      <m:t>,  </m:t>
                    </m:r>
                    <m:r>
                      <a:rPr lang="en-IN" b="1" i="1" dirty="0">
                        <a:latin typeface="Cambria Math" panose="02040503050406030204" pitchFamily="18" charset="0"/>
                      </a:rPr>
                      <m:t>𝟓</m:t>
                    </m:r>
                    <m:r>
                      <a:rPr lang="en-IN" b="1" i="1" dirty="0">
                        <a:latin typeface="Cambria Math" panose="02040503050406030204" pitchFamily="18" charset="0"/>
                      </a:rPr>
                      <m:t>,  </m:t>
                    </m:r>
                    <m:r>
                      <a:rPr lang="en-IN" b="1" i="1" dirty="0">
                        <a:latin typeface="Cambria Math" panose="02040503050406030204" pitchFamily="18" charset="0"/>
                      </a:rPr>
                      <m:t>𝟐</m:t>
                    </m:r>
                    <m:r>
                      <a:rPr lang="en-IN" b="1" i="1" dirty="0">
                        <a:latin typeface="Cambria Math" panose="02040503050406030204" pitchFamily="18" charset="0"/>
                      </a:rPr>
                      <m:t>,  </m:t>
                    </m:r>
                    <m:r>
                      <a:rPr lang="en-IN" b="1" i="1" dirty="0">
                        <a:latin typeface="Cambria Math" panose="02040503050406030204" pitchFamily="18" charset="0"/>
                      </a:rPr>
                      <m:t>𝟏</m:t>
                    </m:r>
                    <m:r>
                      <a:rPr lang="en-IN" b="1" i="1" dirty="0">
                        <a:latin typeface="Cambria Math" panose="02040503050406030204" pitchFamily="18" charset="0"/>
                      </a:rPr>
                      <m:t>,  </m:t>
                    </m:r>
                    <m:r>
                      <a:rPr lang="en-IN" b="1" i="1" dirty="0" smtClean="0">
                        <a:latin typeface="Cambria Math" panose="02040503050406030204" pitchFamily="18" charset="0"/>
                      </a:rPr>
                      <m:t>𝟎</m:t>
                    </m:r>
                    <m:r>
                      <a:rPr lang="en-IN" b="1" i="1" dirty="0" smtClean="0">
                        <a:latin typeface="Cambria Math" panose="02040503050406030204" pitchFamily="18" charset="0"/>
                      </a:rPr>
                      <m:t>.</m:t>
                    </m:r>
                    <m:r>
                      <a:rPr lang="en-IN" b="1" i="1" dirty="0">
                        <a:latin typeface="Cambria Math" panose="02040503050406030204" pitchFamily="18" charset="0"/>
                      </a:rPr>
                      <m:t>𝟓</m:t>
                    </m:r>
                    <m:r>
                      <a:rPr lang="en-IN" b="1" i="1" dirty="0">
                        <a:latin typeface="Cambria Math" panose="02040503050406030204" pitchFamily="18" charset="0"/>
                      </a:rPr>
                      <m:t>}</m:t>
                    </m:r>
                  </m:oMath>
                </a14:m>
                <a:endParaRPr lang="en-US" b="1" dirty="0"/>
              </a:p>
              <a:p>
                <a:r>
                  <a:rPr lang="en-US" dirty="0"/>
                  <a:t> The greedy solution is,</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6" t="-1418"/>
                </a:stretch>
              </a:blipFill>
            </p:spPr>
            <p:txBody>
              <a:bodyPr/>
              <a:lstStyle/>
              <a:p>
                <a:r>
                  <a:rPr lang="en-IN">
                    <a:noFill/>
                  </a:rPr>
                  <a:t> </a:t>
                </a:r>
              </a:p>
            </p:txBody>
          </p:sp>
        </mc:Fallback>
      </mc:AlternateContent>
      <p:sp>
        <p:nvSpPr>
          <p:cNvPr id="4" name="TextBox 3"/>
          <p:cNvSpPr txBox="1"/>
          <p:nvPr/>
        </p:nvSpPr>
        <p:spPr>
          <a:xfrm>
            <a:off x="1066800" y="2971800"/>
            <a:ext cx="2510303" cy="461665"/>
          </a:xfrm>
          <a:prstGeom prst="rect">
            <a:avLst/>
          </a:prstGeom>
          <a:noFill/>
          <a:ln w="28575">
            <a:solidFill>
              <a:schemeClr val="tx1"/>
            </a:solidFill>
          </a:ln>
        </p:spPr>
        <p:txBody>
          <a:bodyPr wrap="none" rtlCol="0">
            <a:spAutoFit/>
          </a:bodyPr>
          <a:lstStyle/>
          <a:p>
            <a:r>
              <a:rPr lang="en-IN" sz="2400" dirty="0"/>
              <a:t>Selected coins are</a:t>
            </a:r>
            <a:endParaRPr lang="en-US" sz="2400" dirty="0"/>
          </a:p>
        </p:txBody>
      </p:sp>
      <p:sp>
        <p:nvSpPr>
          <p:cNvPr id="5" name="Rounded Rectangle 4"/>
          <p:cNvSpPr/>
          <p:nvPr/>
        </p:nvSpPr>
        <p:spPr>
          <a:xfrm>
            <a:off x="1136074" y="4267200"/>
            <a:ext cx="852055" cy="4572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10</a:t>
            </a:r>
          </a:p>
        </p:txBody>
      </p:sp>
      <p:sp>
        <p:nvSpPr>
          <p:cNvPr id="6" name="Rounded Rectangle 5"/>
          <p:cNvSpPr/>
          <p:nvPr/>
        </p:nvSpPr>
        <p:spPr>
          <a:xfrm>
            <a:off x="4717167" y="2958353"/>
            <a:ext cx="1254089" cy="510778"/>
          </a:xfrm>
          <a:prstGeom prst="roundRect">
            <a:avLst/>
          </a:prstGeom>
          <a:noFill/>
          <a:ln w="28575">
            <a:solidFill>
              <a:schemeClr val="tx1"/>
            </a:solidFill>
          </a:ln>
        </p:spPr>
        <p:txBody>
          <a:bodyPr wrap="none" rtlCol="0">
            <a:spAutoFit/>
          </a:bodyPr>
          <a:lstStyle/>
          <a:p>
            <a:pPr algn="ctr"/>
            <a:r>
              <a:rPr lang="en-US" sz="2400" dirty="0">
                <a:solidFill>
                  <a:schemeClr val="tx1"/>
                </a:solidFill>
              </a:rPr>
              <a:t>Amount </a:t>
            </a:r>
          </a:p>
        </p:txBody>
      </p:sp>
      <p:sp>
        <p:nvSpPr>
          <p:cNvPr id="7" name="Rounded Rectangle 6"/>
          <p:cNvSpPr/>
          <p:nvPr/>
        </p:nvSpPr>
        <p:spPr>
          <a:xfrm>
            <a:off x="1149928" y="4793673"/>
            <a:ext cx="824346" cy="4572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5</a:t>
            </a:r>
          </a:p>
        </p:txBody>
      </p:sp>
      <p:sp>
        <p:nvSpPr>
          <p:cNvPr id="8" name="Rounded Rectangle 7"/>
          <p:cNvSpPr/>
          <p:nvPr/>
        </p:nvSpPr>
        <p:spPr>
          <a:xfrm>
            <a:off x="1158588" y="5327073"/>
            <a:ext cx="807027" cy="4572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2</a:t>
            </a:r>
          </a:p>
        </p:txBody>
      </p:sp>
      <p:sp>
        <p:nvSpPr>
          <p:cNvPr id="9" name="Rounded Rectangle 8"/>
          <p:cNvSpPr/>
          <p:nvPr/>
        </p:nvSpPr>
        <p:spPr>
          <a:xfrm>
            <a:off x="1158588" y="5860473"/>
            <a:ext cx="807027" cy="4572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1</a:t>
            </a:r>
          </a:p>
        </p:txBody>
      </p:sp>
      <p:sp>
        <p:nvSpPr>
          <p:cNvPr id="10" name="Rounded Rectangle 9"/>
          <p:cNvSpPr/>
          <p:nvPr/>
        </p:nvSpPr>
        <p:spPr>
          <a:xfrm>
            <a:off x="2531282" y="4263737"/>
            <a:ext cx="779318" cy="4572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2</a:t>
            </a:r>
          </a:p>
        </p:txBody>
      </p:sp>
      <p:sp>
        <p:nvSpPr>
          <p:cNvPr id="11" name="Rounded Rectangle 10"/>
          <p:cNvSpPr/>
          <p:nvPr/>
        </p:nvSpPr>
        <p:spPr>
          <a:xfrm>
            <a:off x="2531282" y="5867400"/>
            <a:ext cx="779318" cy="4572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1</a:t>
            </a:r>
          </a:p>
        </p:txBody>
      </p:sp>
      <p:sp>
        <p:nvSpPr>
          <p:cNvPr id="12" name="Rounded Rectangle 11"/>
          <p:cNvSpPr/>
          <p:nvPr/>
        </p:nvSpPr>
        <p:spPr>
          <a:xfrm>
            <a:off x="2531282" y="5327073"/>
            <a:ext cx="779318" cy="4572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1</a:t>
            </a:r>
          </a:p>
        </p:txBody>
      </p:sp>
      <p:sp>
        <p:nvSpPr>
          <p:cNvPr id="13" name="Rounded Rectangle 12"/>
          <p:cNvSpPr/>
          <p:nvPr/>
        </p:nvSpPr>
        <p:spPr>
          <a:xfrm>
            <a:off x="2531282" y="4793673"/>
            <a:ext cx="779318" cy="4572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1</a:t>
            </a:r>
          </a:p>
        </p:txBody>
      </p:sp>
      <p:sp>
        <p:nvSpPr>
          <p:cNvPr id="14" name="Rounded Rectangle 13"/>
          <p:cNvSpPr/>
          <p:nvPr/>
        </p:nvSpPr>
        <p:spPr>
          <a:xfrm>
            <a:off x="4776304" y="3541892"/>
            <a:ext cx="1139536" cy="626696"/>
          </a:xfrm>
          <a:prstGeom prst="roundRect">
            <a:avLst/>
          </a:prstGeom>
          <a:solidFill>
            <a:schemeClr val="tx2">
              <a:lumMod val="20000"/>
              <a:lumOff val="8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0</a:t>
            </a:r>
          </a:p>
        </p:txBody>
      </p:sp>
      <p:sp>
        <p:nvSpPr>
          <p:cNvPr id="15" name="Rounded Rectangle 14"/>
          <p:cNvSpPr/>
          <p:nvPr/>
        </p:nvSpPr>
        <p:spPr>
          <a:xfrm>
            <a:off x="1066801" y="3555340"/>
            <a:ext cx="990600" cy="4572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coins</a:t>
            </a:r>
          </a:p>
        </p:txBody>
      </p:sp>
      <p:sp>
        <p:nvSpPr>
          <p:cNvPr id="16" name="Rounded Rectangle 15"/>
          <p:cNvSpPr/>
          <p:nvPr/>
        </p:nvSpPr>
        <p:spPr>
          <a:xfrm>
            <a:off x="2264779" y="3555340"/>
            <a:ext cx="1312324" cy="45720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quantity</a:t>
            </a:r>
          </a:p>
        </p:txBody>
      </p:sp>
      <p:sp>
        <p:nvSpPr>
          <p:cNvPr id="26" name="TextBox 25"/>
          <p:cNvSpPr txBox="1"/>
          <p:nvPr/>
        </p:nvSpPr>
        <p:spPr>
          <a:xfrm>
            <a:off x="5071752" y="3626640"/>
            <a:ext cx="548640" cy="457200"/>
          </a:xfrm>
          <a:prstGeom prst="rect">
            <a:avLst/>
          </a:prstGeom>
          <a:solidFill>
            <a:schemeClr val="tx2">
              <a:lumMod val="20000"/>
              <a:lumOff val="80000"/>
            </a:schemeClr>
          </a:solidFill>
        </p:spPr>
        <p:txBody>
          <a:bodyPr wrap="square" rtlCol="0">
            <a:spAutoFit/>
          </a:bodyPr>
          <a:lstStyle/>
          <a:p>
            <a:r>
              <a:rPr lang="en-US" sz="2400" dirty="0">
                <a:solidFill>
                  <a:srgbClr val="C00000"/>
                </a:solidFill>
              </a:rPr>
              <a:t>20</a:t>
            </a:r>
          </a:p>
        </p:txBody>
      </p:sp>
      <p:sp>
        <p:nvSpPr>
          <p:cNvPr id="25" name="TextBox 24"/>
          <p:cNvSpPr txBox="1"/>
          <p:nvPr/>
        </p:nvSpPr>
        <p:spPr>
          <a:xfrm>
            <a:off x="5071752" y="3626640"/>
            <a:ext cx="548640" cy="457200"/>
          </a:xfrm>
          <a:prstGeom prst="rect">
            <a:avLst/>
          </a:prstGeom>
          <a:solidFill>
            <a:schemeClr val="tx2">
              <a:lumMod val="20000"/>
              <a:lumOff val="80000"/>
            </a:schemeClr>
          </a:solidFill>
        </p:spPr>
        <p:txBody>
          <a:bodyPr wrap="square" rtlCol="0">
            <a:spAutoFit/>
          </a:bodyPr>
          <a:lstStyle/>
          <a:p>
            <a:r>
              <a:rPr lang="en-US" sz="2400" dirty="0">
                <a:solidFill>
                  <a:srgbClr val="C00000"/>
                </a:solidFill>
              </a:rPr>
              <a:t>25</a:t>
            </a:r>
          </a:p>
        </p:txBody>
      </p:sp>
      <p:sp>
        <p:nvSpPr>
          <p:cNvPr id="27" name="TextBox 26"/>
          <p:cNvSpPr txBox="1"/>
          <p:nvPr/>
        </p:nvSpPr>
        <p:spPr>
          <a:xfrm>
            <a:off x="5071752" y="3626640"/>
            <a:ext cx="548640" cy="457200"/>
          </a:xfrm>
          <a:prstGeom prst="rect">
            <a:avLst/>
          </a:prstGeom>
          <a:solidFill>
            <a:schemeClr val="tx2">
              <a:lumMod val="20000"/>
              <a:lumOff val="80000"/>
            </a:schemeClr>
          </a:solidFill>
        </p:spPr>
        <p:txBody>
          <a:bodyPr wrap="square" rtlCol="0">
            <a:spAutoFit/>
          </a:bodyPr>
          <a:lstStyle/>
          <a:p>
            <a:r>
              <a:rPr lang="en-US" sz="2400" dirty="0">
                <a:solidFill>
                  <a:srgbClr val="C00000"/>
                </a:solidFill>
              </a:rPr>
              <a:t>27</a:t>
            </a:r>
          </a:p>
        </p:txBody>
      </p:sp>
      <p:sp>
        <p:nvSpPr>
          <p:cNvPr id="28" name="TextBox 27"/>
          <p:cNvSpPr txBox="1"/>
          <p:nvPr/>
        </p:nvSpPr>
        <p:spPr>
          <a:xfrm>
            <a:off x="5071752" y="3626640"/>
            <a:ext cx="548640" cy="457200"/>
          </a:xfrm>
          <a:prstGeom prst="rect">
            <a:avLst/>
          </a:prstGeom>
          <a:solidFill>
            <a:schemeClr val="tx2">
              <a:lumMod val="20000"/>
              <a:lumOff val="80000"/>
            </a:schemeClr>
          </a:solidFill>
        </p:spPr>
        <p:txBody>
          <a:bodyPr wrap="square" rtlCol="0">
            <a:spAutoFit/>
          </a:bodyPr>
          <a:lstStyle/>
          <a:p>
            <a:r>
              <a:rPr lang="en-US" sz="2400" dirty="0">
                <a:solidFill>
                  <a:srgbClr val="C00000"/>
                </a:solidFill>
              </a:rPr>
              <a:t>28</a:t>
            </a:r>
          </a:p>
        </p:txBody>
      </p:sp>
      <p:sp>
        <p:nvSpPr>
          <p:cNvPr id="29" name="Rounded Rectangle 28"/>
          <p:cNvSpPr/>
          <p:nvPr/>
        </p:nvSpPr>
        <p:spPr>
          <a:xfrm>
            <a:off x="7368989" y="2944906"/>
            <a:ext cx="3902193" cy="1097280"/>
          </a:xfrm>
          <a:prstGeom prst="roundRect">
            <a:avLst/>
          </a:prstGeom>
          <a:solidFill>
            <a:schemeClr val="bg2">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2060"/>
                </a:solidFill>
              </a:rPr>
              <a:t>Total required coins = 5</a:t>
            </a:r>
          </a:p>
          <a:p>
            <a:pPr algn="ctr"/>
            <a:r>
              <a:rPr lang="en-US" sz="2400" dirty="0">
                <a:solidFill>
                  <a:srgbClr val="002060"/>
                </a:solidFill>
              </a:rPr>
              <a:t>Selected coins = {10, 5, 2, 1}</a:t>
            </a:r>
          </a:p>
        </p:txBody>
      </p:sp>
      <p:sp>
        <p:nvSpPr>
          <p:cNvPr id="17" name="Oval 16"/>
          <p:cNvSpPr/>
          <p:nvPr/>
        </p:nvSpPr>
        <p:spPr>
          <a:xfrm>
            <a:off x="5825493" y="1277471"/>
            <a:ext cx="470647" cy="457200"/>
          </a:xfrm>
          <a:prstGeom prst="ellipse">
            <a:avLst/>
          </a:prstGeom>
          <a:noFill/>
          <a:ln w="38100">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7102818" y="1322295"/>
            <a:ext cx="470647" cy="457200"/>
          </a:xfrm>
          <a:prstGeom prst="ellipse">
            <a:avLst/>
          </a:prstGeom>
          <a:noFill/>
          <a:ln w="38100">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6173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500"/>
                                        <p:tgtEl>
                                          <p:spTgt spid="1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21" presetClass="entr" presetSubtype="1"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wheel(1)">
                                      <p:cBhvr>
                                        <p:cTn id="42" dur="125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fade">
                                      <p:cBhvr>
                                        <p:cTn id="47" dur="500"/>
                                        <p:tgtEl>
                                          <p:spTgt spid="5"/>
                                        </p:tgtEl>
                                      </p:cBhvr>
                                    </p:animEffect>
                                  </p:childTnLst>
                                </p:cTn>
                              </p:par>
                            </p:childTnLst>
                          </p:cTn>
                        </p:par>
                        <p:par>
                          <p:cTn id="48" fill="hold">
                            <p:stCondLst>
                              <p:cond delay="500"/>
                            </p:stCondLst>
                            <p:childTnLst>
                              <p:par>
                                <p:cTn id="49" presetID="10" presetClass="entr" presetSubtype="0" fill="hold" grpId="0" nodeType="after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childTnLst>
                          </p:cTn>
                        </p:par>
                      </p:childTnLst>
                    </p:cTn>
                  </p:par>
                  <p:par>
                    <p:cTn id="52" fill="hold">
                      <p:stCondLst>
                        <p:cond delay="indefinite"/>
                      </p:stCondLst>
                      <p:childTnLst>
                        <p:par>
                          <p:cTn id="53" fill="hold">
                            <p:stCondLst>
                              <p:cond delay="0"/>
                            </p:stCondLst>
                            <p:childTnLst>
                              <p:par>
                                <p:cTn id="54" presetID="14" presetClass="entr" presetSubtype="10" fill="hold" grpId="0" nodeType="click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randombar(horizontal)">
                                      <p:cBhvr>
                                        <p:cTn id="56" dur="500"/>
                                        <p:tgtEl>
                                          <p:spTgt spid="26"/>
                                        </p:tgtEl>
                                      </p:cBhvr>
                                    </p:animEffect>
                                  </p:childTnLst>
                                </p:cTn>
                              </p:par>
                            </p:childTnLst>
                          </p:cTn>
                        </p:par>
                      </p:childTnLst>
                    </p:cTn>
                  </p:par>
                  <p:par>
                    <p:cTn id="57" fill="hold">
                      <p:stCondLst>
                        <p:cond delay="indefinite"/>
                      </p:stCondLst>
                      <p:childTnLst>
                        <p:par>
                          <p:cTn id="58" fill="hold">
                            <p:stCondLst>
                              <p:cond delay="0"/>
                            </p:stCondLst>
                            <p:childTnLst>
                              <p:par>
                                <p:cTn id="59" presetID="63" presetClass="path" presetSubtype="0" accel="50000" decel="50000" fill="hold" grpId="1" nodeType="clickEffect">
                                  <p:stCondLst>
                                    <p:cond delay="0"/>
                                  </p:stCondLst>
                                  <p:childTnLst>
                                    <p:animMotion origin="layout" path="M 1.04167E-6 4.07407E-6 L 0.03802 -0.00209 " pathEditMode="relative" rAng="0" ptsTypes="AA">
                                      <p:cBhvr>
                                        <p:cTn id="60" dur="2000" fill="hold"/>
                                        <p:tgtEl>
                                          <p:spTgt spid="17"/>
                                        </p:tgtEl>
                                        <p:attrNameLst>
                                          <p:attrName>ppt_x</p:attrName>
                                          <p:attrName>ppt_y</p:attrName>
                                        </p:attrNameLst>
                                      </p:cBhvr>
                                      <p:rCtr x="1901" y="-116"/>
                                    </p:animMotion>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7"/>
                                        </p:tgtEl>
                                        <p:attrNameLst>
                                          <p:attrName>style.visibility</p:attrName>
                                        </p:attrNameLst>
                                      </p:cBhvr>
                                      <p:to>
                                        <p:strVal val="visible"/>
                                      </p:to>
                                    </p:set>
                                    <p:animEffect transition="in" filter="fade">
                                      <p:cBhvr>
                                        <p:cTn id="65" dur="500"/>
                                        <p:tgtEl>
                                          <p:spTgt spid="7"/>
                                        </p:tgtEl>
                                      </p:cBhvr>
                                    </p:animEffect>
                                  </p:childTnLst>
                                </p:cTn>
                              </p:par>
                            </p:childTnLst>
                          </p:cTn>
                        </p:par>
                        <p:par>
                          <p:cTn id="66" fill="hold">
                            <p:stCondLst>
                              <p:cond delay="500"/>
                            </p:stCondLst>
                            <p:childTnLst>
                              <p:par>
                                <p:cTn id="67" presetID="10" presetClass="entr" presetSubtype="0" fill="hold" grpId="0" nodeType="afterEffect">
                                  <p:stCondLst>
                                    <p:cond delay="0"/>
                                  </p:stCondLst>
                                  <p:childTnLst>
                                    <p:set>
                                      <p:cBhvr>
                                        <p:cTn id="68" dur="1" fill="hold">
                                          <p:stCondLst>
                                            <p:cond delay="0"/>
                                          </p:stCondLst>
                                        </p:cTn>
                                        <p:tgtEl>
                                          <p:spTgt spid="13"/>
                                        </p:tgtEl>
                                        <p:attrNameLst>
                                          <p:attrName>style.visibility</p:attrName>
                                        </p:attrNameLst>
                                      </p:cBhvr>
                                      <p:to>
                                        <p:strVal val="visible"/>
                                      </p:to>
                                    </p:set>
                                    <p:animEffect transition="in" filter="fade">
                                      <p:cBhvr>
                                        <p:cTn id="69" dur="500"/>
                                        <p:tgtEl>
                                          <p:spTgt spid="13"/>
                                        </p:tgtEl>
                                      </p:cBhvr>
                                    </p:animEffect>
                                  </p:childTnLst>
                                </p:cTn>
                              </p:par>
                            </p:childTnLst>
                          </p:cTn>
                        </p:par>
                      </p:childTnLst>
                    </p:cTn>
                  </p:par>
                  <p:par>
                    <p:cTn id="70" fill="hold">
                      <p:stCondLst>
                        <p:cond delay="indefinite"/>
                      </p:stCondLst>
                      <p:childTnLst>
                        <p:par>
                          <p:cTn id="71" fill="hold">
                            <p:stCondLst>
                              <p:cond delay="0"/>
                            </p:stCondLst>
                            <p:childTnLst>
                              <p:par>
                                <p:cTn id="72" presetID="14" presetClass="entr" presetSubtype="10" fill="hold" grpId="0"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randombar(horizontal)">
                                      <p:cBhvr>
                                        <p:cTn id="74" dur="500"/>
                                        <p:tgtEl>
                                          <p:spTgt spid="25"/>
                                        </p:tgtEl>
                                      </p:cBhvr>
                                    </p:animEffect>
                                  </p:childTnLst>
                                </p:cTn>
                              </p:par>
                            </p:childTnLst>
                          </p:cTn>
                        </p:par>
                      </p:childTnLst>
                    </p:cTn>
                  </p:par>
                  <p:par>
                    <p:cTn id="75" fill="hold">
                      <p:stCondLst>
                        <p:cond delay="indefinite"/>
                      </p:stCondLst>
                      <p:childTnLst>
                        <p:par>
                          <p:cTn id="76" fill="hold">
                            <p:stCondLst>
                              <p:cond delay="0"/>
                            </p:stCondLst>
                            <p:childTnLst>
                              <p:par>
                                <p:cTn id="77" presetID="63" presetClass="path" presetSubtype="0" accel="50000" decel="50000" fill="hold" grpId="2" nodeType="clickEffect">
                                  <p:stCondLst>
                                    <p:cond delay="0"/>
                                  </p:stCondLst>
                                  <p:childTnLst>
                                    <p:animMotion origin="layout" path="M 0.03802 -0.00209 L 0.07331 0.00185 " pathEditMode="relative" rAng="0" ptsTypes="AA">
                                      <p:cBhvr>
                                        <p:cTn id="78" dur="2000" fill="hold"/>
                                        <p:tgtEl>
                                          <p:spTgt spid="17"/>
                                        </p:tgtEl>
                                        <p:attrNameLst>
                                          <p:attrName>ppt_x</p:attrName>
                                          <p:attrName>ppt_y</p:attrName>
                                        </p:attrNameLst>
                                      </p:cBhvr>
                                      <p:rCtr x="1758" y="185"/>
                                    </p:animMotion>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8"/>
                                        </p:tgtEl>
                                        <p:attrNameLst>
                                          <p:attrName>style.visibility</p:attrName>
                                        </p:attrNameLst>
                                      </p:cBhvr>
                                      <p:to>
                                        <p:strVal val="visible"/>
                                      </p:to>
                                    </p:set>
                                    <p:animEffect transition="in" filter="fade">
                                      <p:cBhvr>
                                        <p:cTn id="83" dur="500"/>
                                        <p:tgtEl>
                                          <p:spTgt spid="8"/>
                                        </p:tgtEl>
                                      </p:cBhvr>
                                    </p:animEffect>
                                  </p:childTnLst>
                                </p:cTn>
                              </p:par>
                            </p:childTnLst>
                          </p:cTn>
                        </p:par>
                        <p:par>
                          <p:cTn id="84" fill="hold">
                            <p:stCondLst>
                              <p:cond delay="500"/>
                            </p:stCondLst>
                            <p:childTnLst>
                              <p:par>
                                <p:cTn id="85" presetID="10" presetClass="entr" presetSubtype="0" fill="hold" grpId="0" nodeType="afterEffect">
                                  <p:stCondLst>
                                    <p:cond delay="0"/>
                                  </p:stCondLst>
                                  <p:childTnLst>
                                    <p:set>
                                      <p:cBhvr>
                                        <p:cTn id="86" dur="1" fill="hold">
                                          <p:stCondLst>
                                            <p:cond delay="0"/>
                                          </p:stCondLst>
                                        </p:cTn>
                                        <p:tgtEl>
                                          <p:spTgt spid="12"/>
                                        </p:tgtEl>
                                        <p:attrNameLst>
                                          <p:attrName>style.visibility</p:attrName>
                                        </p:attrNameLst>
                                      </p:cBhvr>
                                      <p:to>
                                        <p:strVal val="visible"/>
                                      </p:to>
                                    </p:set>
                                    <p:animEffect transition="in" filter="fade">
                                      <p:cBhvr>
                                        <p:cTn id="87" dur="500"/>
                                        <p:tgtEl>
                                          <p:spTgt spid="12"/>
                                        </p:tgtEl>
                                      </p:cBhvr>
                                    </p:animEffect>
                                  </p:childTnLst>
                                </p:cTn>
                              </p:par>
                            </p:childTnLst>
                          </p:cTn>
                        </p:par>
                      </p:childTnLst>
                    </p:cTn>
                  </p:par>
                  <p:par>
                    <p:cTn id="88" fill="hold">
                      <p:stCondLst>
                        <p:cond delay="indefinite"/>
                      </p:stCondLst>
                      <p:childTnLst>
                        <p:par>
                          <p:cTn id="89" fill="hold">
                            <p:stCondLst>
                              <p:cond delay="0"/>
                            </p:stCondLst>
                            <p:childTnLst>
                              <p:par>
                                <p:cTn id="90" presetID="14" presetClass="entr" presetSubtype="10" fill="hold" grpId="0" nodeType="clickEffect">
                                  <p:stCondLst>
                                    <p:cond delay="0"/>
                                  </p:stCondLst>
                                  <p:childTnLst>
                                    <p:set>
                                      <p:cBhvr>
                                        <p:cTn id="91" dur="1" fill="hold">
                                          <p:stCondLst>
                                            <p:cond delay="0"/>
                                          </p:stCondLst>
                                        </p:cTn>
                                        <p:tgtEl>
                                          <p:spTgt spid="27"/>
                                        </p:tgtEl>
                                        <p:attrNameLst>
                                          <p:attrName>style.visibility</p:attrName>
                                        </p:attrNameLst>
                                      </p:cBhvr>
                                      <p:to>
                                        <p:strVal val="visible"/>
                                      </p:to>
                                    </p:set>
                                    <p:animEffect transition="in" filter="randombar(horizontal)">
                                      <p:cBhvr>
                                        <p:cTn id="92" dur="500"/>
                                        <p:tgtEl>
                                          <p:spTgt spid="27"/>
                                        </p:tgtEl>
                                      </p:cBhvr>
                                    </p:animEffect>
                                  </p:childTnLst>
                                </p:cTn>
                              </p:par>
                            </p:childTnLst>
                          </p:cTn>
                        </p:par>
                      </p:childTnLst>
                    </p:cTn>
                  </p:par>
                  <p:par>
                    <p:cTn id="93" fill="hold">
                      <p:stCondLst>
                        <p:cond delay="indefinite"/>
                      </p:stCondLst>
                      <p:childTnLst>
                        <p:par>
                          <p:cTn id="94" fill="hold">
                            <p:stCondLst>
                              <p:cond delay="0"/>
                            </p:stCondLst>
                            <p:childTnLst>
                              <p:par>
                                <p:cTn id="95" presetID="14" presetClass="exit" presetSubtype="10" fill="hold" grpId="3" nodeType="clickEffect">
                                  <p:stCondLst>
                                    <p:cond delay="0"/>
                                  </p:stCondLst>
                                  <p:childTnLst>
                                    <p:animEffect transition="out" filter="randombar(horizontal)">
                                      <p:cBhvr>
                                        <p:cTn id="96" dur="500"/>
                                        <p:tgtEl>
                                          <p:spTgt spid="17"/>
                                        </p:tgtEl>
                                      </p:cBhvr>
                                    </p:animEffect>
                                    <p:set>
                                      <p:cBhvr>
                                        <p:cTn id="97" dur="1" fill="hold">
                                          <p:stCondLst>
                                            <p:cond delay="499"/>
                                          </p:stCondLst>
                                        </p:cTn>
                                        <p:tgtEl>
                                          <p:spTgt spid="17"/>
                                        </p:tgtEl>
                                        <p:attrNameLst>
                                          <p:attrName>style.visibility</p:attrName>
                                        </p:attrNameLst>
                                      </p:cBhvr>
                                      <p:to>
                                        <p:strVal val="hidden"/>
                                      </p:to>
                                    </p:set>
                                  </p:childTnLst>
                                </p:cTn>
                              </p:par>
                              <p:par>
                                <p:cTn id="98" presetID="21" presetClass="entr" presetSubtype="1" fill="hold" grpId="0" nodeType="withEffect">
                                  <p:stCondLst>
                                    <p:cond delay="0"/>
                                  </p:stCondLst>
                                  <p:childTnLst>
                                    <p:set>
                                      <p:cBhvr>
                                        <p:cTn id="99" dur="1" fill="hold">
                                          <p:stCondLst>
                                            <p:cond delay="0"/>
                                          </p:stCondLst>
                                        </p:cTn>
                                        <p:tgtEl>
                                          <p:spTgt spid="23"/>
                                        </p:tgtEl>
                                        <p:attrNameLst>
                                          <p:attrName>style.visibility</p:attrName>
                                        </p:attrNameLst>
                                      </p:cBhvr>
                                      <p:to>
                                        <p:strVal val="visible"/>
                                      </p:to>
                                    </p:set>
                                    <p:animEffect transition="in" filter="wheel(1)">
                                      <p:cBhvr>
                                        <p:cTn id="100" dur="1250"/>
                                        <p:tgtEl>
                                          <p:spTgt spid="23"/>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9"/>
                                        </p:tgtEl>
                                        <p:attrNameLst>
                                          <p:attrName>style.visibility</p:attrName>
                                        </p:attrNameLst>
                                      </p:cBhvr>
                                      <p:to>
                                        <p:strVal val="visible"/>
                                      </p:to>
                                    </p:set>
                                    <p:animEffect transition="in" filter="fade">
                                      <p:cBhvr>
                                        <p:cTn id="105" dur="500"/>
                                        <p:tgtEl>
                                          <p:spTgt spid="9"/>
                                        </p:tgtEl>
                                      </p:cBhvr>
                                    </p:animEffect>
                                  </p:childTnLst>
                                </p:cTn>
                              </p:par>
                            </p:childTnLst>
                          </p:cTn>
                        </p:par>
                        <p:par>
                          <p:cTn id="106" fill="hold">
                            <p:stCondLst>
                              <p:cond delay="500"/>
                            </p:stCondLst>
                            <p:childTnLst>
                              <p:par>
                                <p:cTn id="107" presetID="10" presetClass="entr" presetSubtype="0" fill="hold" grpId="0" nodeType="afterEffect">
                                  <p:stCondLst>
                                    <p:cond delay="0"/>
                                  </p:stCondLst>
                                  <p:childTnLst>
                                    <p:set>
                                      <p:cBhvr>
                                        <p:cTn id="108" dur="1" fill="hold">
                                          <p:stCondLst>
                                            <p:cond delay="0"/>
                                          </p:stCondLst>
                                        </p:cTn>
                                        <p:tgtEl>
                                          <p:spTgt spid="11"/>
                                        </p:tgtEl>
                                        <p:attrNameLst>
                                          <p:attrName>style.visibility</p:attrName>
                                        </p:attrNameLst>
                                      </p:cBhvr>
                                      <p:to>
                                        <p:strVal val="visible"/>
                                      </p:to>
                                    </p:set>
                                    <p:animEffect transition="in" filter="fade">
                                      <p:cBhvr>
                                        <p:cTn id="109" dur="500"/>
                                        <p:tgtEl>
                                          <p:spTgt spid="11"/>
                                        </p:tgtEl>
                                      </p:cBhvr>
                                    </p:animEffect>
                                  </p:childTnLst>
                                </p:cTn>
                              </p:par>
                            </p:childTnLst>
                          </p:cTn>
                        </p:par>
                      </p:childTnLst>
                    </p:cTn>
                  </p:par>
                  <p:par>
                    <p:cTn id="110" fill="hold">
                      <p:stCondLst>
                        <p:cond delay="indefinite"/>
                      </p:stCondLst>
                      <p:childTnLst>
                        <p:par>
                          <p:cTn id="111" fill="hold">
                            <p:stCondLst>
                              <p:cond delay="0"/>
                            </p:stCondLst>
                            <p:childTnLst>
                              <p:par>
                                <p:cTn id="112" presetID="14" presetClass="entr" presetSubtype="10" fill="hold" grpId="0" nodeType="clickEffect">
                                  <p:stCondLst>
                                    <p:cond delay="0"/>
                                  </p:stCondLst>
                                  <p:childTnLst>
                                    <p:set>
                                      <p:cBhvr>
                                        <p:cTn id="113" dur="1" fill="hold">
                                          <p:stCondLst>
                                            <p:cond delay="0"/>
                                          </p:stCondLst>
                                        </p:cTn>
                                        <p:tgtEl>
                                          <p:spTgt spid="28"/>
                                        </p:tgtEl>
                                        <p:attrNameLst>
                                          <p:attrName>style.visibility</p:attrName>
                                        </p:attrNameLst>
                                      </p:cBhvr>
                                      <p:to>
                                        <p:strVal val="visible"/>
                                      </p:to>
                                    </p:set>
                                    <p:animEffect transition="in" filter="randombar(horizontal)">
                                      <p:cBhvr>
                                        <p:cTn id="114" dur="500"/>
                                        <p:tgtEl>
                                          <p:spTgt spid="28"/>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29"/>
                                        </p:tgtEl>
                                        <p:attrNameLst>
                                          <p:attrName>style.visibility</p:attrName>
                                        </p:attrNameLst>
                                      </p:cBhvr>
                                      <p:to>
                                        <p:strVal val="visible"/>
                                      </p:to>
                                    </p:set>
                                    <p:animEffect transition="in" filter="wipe(left)">
                                      <p:cBhvr>
                                        <p:cTn id="119" dur="1250"/>
                                        <p:tgtEl>
                                          <p:spTgt spid="29"/>
                                        </p:tgtEl>
                                      </p:cBhvr>
                                    </p:animEffect>
                                  </p:childTnLst>
                                </p:cTn>
                              </p:par>
                              <p:par>
                                <p:cTn id="120" presetID="14" presetClass="exit" presetSubtype="10" fill="hold" grpId="3" nodeType="withEffect">
                                  <p:stCondLst>
                                    <p:cond delay="0"/>
                                  </p:stCondLst>
                                  <p:childTnLst>
                                    <p:animEffect transition="out" filter="randombar(horizontal)">
                                      <p:cBhvr>
                                        <p:cTn id="121" dur="500"/>
                                        <p:tgtEl>
                                          <p:spTgt spid="23"/>
                                        </p:tgtEl>
                                      </p:cBhvr>
                                    </p:animEffect>
                                    <p:set>
                                      <p:cBhvr>
                                        <p:cTn id="122" dur="1" fill="hold">
                                          <p:stCondLst>
                                            <p:cond delay="499"/>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6" grpId="0" animBg="1"/>
      <p:bldP spid="25" grpId="0" animBg="1"/>
      <p:bldP spid="27" grpId="0" animBg="1"/>
      <p:bldP spid="28" grpId="0" animBg="1"/>
      <p:bldP spid="29" grpId="0" animBg="1"/>
      <p:bldP spid="17" grpId="0" animBg="1"/>
      <p:bldP spid="17" grpId="1" animBg="1"/>
      <p:bldP spid="17" grpId="2" animBg="1"/>
      <p:bldP spid="17" grpId="3" animBg="1"/>
      <p:bldP spid="23" grpId="0" animBg="1"/>
      <p:bldP spid="23" grpId="3"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Make Change - Algorithm</a:t>
            </a:r>
          </a:p>
        </p:txBody>
      </p:sp>
      <p:sp>
        <p:nvSpPr>
          <p:cNvPr id="3" name="Content Placeholder 2"/>
          <p:cNvSpPr>
            <a:spLocks noGrp="1"/>
          </p:cNvSpPr>
          <p:nvPr>
            <p:ph idx="1"/>
          </p:nvPr>
        </p:nvSpPr>
        <p:spPr>
          <a:solidFill>
            <a:srgbClr val="424242"/>
          </a:solidFill>
        </p:spPr>
        <p:txBody>
          <a:bodyPr/>
          <a:lstStyle/>
          <a:p>
            <a:pPr marL="0" indent="0">
              <a:spcAft>
                <a:spcPts val="300"/>
              </a:spcAft>
              <a:buNone/>
            </a:pPr>
            <a:r>
              <a:rPr lang="en-IN" b="1" dirty="0">
                <a:solidFill>
                  <a:schemeClr val="tx2">
                    <a:lumMod val="60000"/>
                    <a:lumOff val="40000"/>
                  </a:schemeClr>
                </a:solidFill>
                <a:latin typeface="Consolas" pitchFamily="49" charset="0"/>
                <a:cs typeface="Consolas" pitchFamily="49" charset="0"/>
              </a:rPr>
              <a:t># Input: </a:t>
            </a:r>
            <a:r>
              <a:rPr lang="en-US" b="1" dirty="0">
                <a:solidFill>
                  <a:schemeClr val="tx2">
                    <a:lumMod val="60000"/>
                    <a:lumOff val="40000"/>
                  </a:schemeClr>
                </a:solidFill>
                <a:latin typeface="Consolas" pitchFamily="49" charset="0"/>
                <a:cs typeface="Consolas" pitchFamily="49" charset="0"/>
              </a:rPr>
              <a:t>C = {10, 5, 2, 1, 0.5} //</a:t>
            </a:r>
            <a:r>
              <a:rPr lang="en-US" sz="2000" b="1" dirty="0">
                <a:solidFill>
                  <a:schemeClr val="tx2">
                    <a:lumMod val="60000"/>
                    <a:lumOff val="40000"/>
                  </a:schemeClr>
                </a:solidFill>
                <a:latin typeface="Consolas" pitchFamily="49" charset="0"/>
                <a:cs typeface="Consolas" pitchFamily="49" charset="0"/>
              </a:rPr>
              <a:t>C is a candidate set</a:t>
            </a:r>
          </a:p>
          <a:p>
            <a:pPr marL="0" indent="0">
              <a:spcAft>
                <a:spcPts val="300"/>
              </a:spcAft>
              <a:buNone/>
            </a:pPr>
            <a:r>
              <a:rPr lang="en-IN" b="1" dirty="0">
                <a:solidFill>
                  <a:schemeClr val="tx2">
                    <a:lumMod val="60000"/>
                    <a:lumOff val="40000"/>
                  </a:schemeClr>
                </a:solidFill>
                <a:latin typeface="Consolas" pitchFamily="49" charset="0"/>
                <a:cs typeface="Consolas" pitchFamily="49" charset="0"/>
              </a:rPr>
              <a:t># Output: S: set of selected coins</a:t>
            </a:r>
          </a:p>
          <a:p>
            <a:pPr marL="0" indent="0">
              <a:spcAft>
                <a:spcPts val="300"/>
              </a:spcAft>
              <a:buNone/>
            </a:pPr>
            <a:r>
              <a:rPr lang="en-US" b="1" dirty="0">
                <a:solidFill>
                  <a:srgbClr val="F9C5D7"/>
                </a:solidFill>
                <a:latin typeface="Consolas" pitchFamily="49" charset="0"/>
                <a:cs typeface="Consolas" pitchFamily="49" charset="0"/>
              </a:rPr>
              <a:t>Function make-change(n): set of coins</a:t>
            </a:r>
          </a:p>
          <a:p>
            <a:pPr marL="0" indent="0">
              <a:spcAft>
                <a:spcPts val="300"/>
              </a:spcAft>
              <a:buNone/>
            </a:pPr>
            <a:r>
              <a:rPr lang="en-US" b="1" dirty="0">
                <a:solidFill>
                  <a:srgbClr val="F9C5D7"/>
                </a:solidFill>
                <a:latin typeface="Consolas" pitchFamily="49" charset="0"/>
                <a:cs typeface="Consolas" pitchFamily="49" charset="0"/>
              </a:rPr>
              <a:t>S ← Ø {S is a set that will hold the solution} </a:t>
            </a:r>
          </a:p>
          <a:p>
            <a:pPr marL="0" indent="0">
              <a:spcAft>
                <a:spcPts val="300"/>
              </a:spcAft>
              <a:buNone/>
            </a:pPr>
            <a:r>
              <a:rPr lang="en-US" b="1" dirty="0">
                <a:solidFill>
                  <a:srgbClr val="F9C5D7"/>
                </a:solidFill>
                <a:latin typeface="Consolas" pitchFamily="49" charset="0"/>
                <a:cs typeface="Consolas" pitchFamily="49" charset="0"/>
              </a:rPr>
              <a:t>sum ← 0 {sum of the items in solution set S} </a:t>
            </a:r>
          </a:p>
          <a:p>
            <a:pPr marL="0" indent="0">
              <a:spcAft>
                <a:spcPts val="300"/>
              </a:spcAft>
              <a:buNone/>
            </a:pPr>
            <a:r>
              <a:rPr lang="en-US" b="1" dirty="0">
                <a:solidFill>
                  <a:srgbClr val="F9C5D7"/>
                </a:solidFill>
                <a:latin typeface="Consolas" pitchFamily="49" charset="0"/>
                <a:cs typeface="Consolas" pitchFamily="49" charset="0"/>
              </a:rPr>
              <a:t>while sum ≠ n do</a:t>
            </a:r>
          </a:p>
          <a:p>
            <a:pPr marL="400050" lvl="1" indent="0">
              <a:spcAft>
                <a:spcPts val="300"/>
              </a:spcAft>
              <a:buNone/>
            </a:pPr>
            <a:r>
              <a:rPr lang="en-US" sz="2400" b="1" dirty="0">
                <a:solidFill>
                  <a:srgbClr val="F9C5D7"/>
                </a:solidFill>
                <a:latin typeface="Consolas" pitchFamily="49" charset="0"/>
                <a:cs typeface="Consolas" pitchFamily="49" charset="0"/>
              </a:rPr>
              <a:t>	x ← the largest item in C such that sum + x ≤ n </a:t>
            </a:r>
          </a:p>
          <a:p>
            <a:pPr marL="400050" lvl="1" indent="0">
              <a:spcAft>
                <a:spcPts val="300"/>
              </a:spcAft>
              <a:buNone/>
            </a:pPr>
            <a:r>
              <a:rPr lang="en-US" sz="2400" b="1" dirty="0">
                <a:solidFill>
                  <a:srgbClr val="F9C5D7"/>
                </a:solidFill>
                <a:latin typeface="Consolas" pitchFamily="49" charset="0"/>
                <a:cs typeface="Consolas" pitchFamily="49" charset="0"/>
              </a:rPr>
              <a:t>	if there is no such item then </a:t>
            </a:r>
          </a:p>
          <a:p>
            <a:pPr marL="857250" lvl="2" indent="0">
              <a:spcAft>
                <a:spcPts val="300"/>
              </a:spcAft>
              <a:buNone/>
            </a:pPr>
            <a:r>
              <a:rPr lang="en-US" sz="2400" b="1" dirty="0">
                <a:solidFill>
                  <a:srgbClr val="F9C5D7"/>
                </a:solidFill>
                <a:latin typeface="Consolas" pitchFamily="49" charset="0"/>
                <a:cs typeface="Consolas" pitchFamily="49" charset="0"/>
              </a:rPr>
              <a:t>		return "no solution found" </a:t>
            </a:r>
          </a:p>
          <a:p>
            <a:pPr marL="400050" lvl="1" indent="0">
              <a:spcAft>
                <a:spcPts val="300"/>
              </a:spcAft>
              <a:buNone/>
            </a:pPr>
            <a:r>
              <a:rPr lang="en-US" sz="2400" b="1" dirty="0">
                <a:solidFill>
                  <a:srgbClr val="F9C5D7"/>
                </a:solidFill>
                <a:latin typeface="Consolas" pitchFamily="49" charset="0"/>
                <a:cs typeface="Consolas" pitchFamily="49" charset="0"/>
              </a:rPr>
              <a:t>	S ← S U {a coin of value x}</a:t>
            </a:r>
          </a:p>
          <a:p>
            <a:pPr marL="400050" lvl="1" indent="0">
              <a:spcAft>
                <a:spcPts val="300"/>
              </a:spcAft>
              <a:buNone/>
            </a:pPr>
            <a:r>
              <a:rPr lang="en-US" sz="2400" b="1" dirty="0">
                <a:solidFill>
                  <a:srgbClr val="F9C5D7"/>
                </a:solidFill>
                <a:latin typeface="Consolas" pitchFamily="49" charset="0"/>
                <a:cs typeface="Consolas" pitchFamily="49" charset="0"/>
              </a:rPr>
              <a:t>	sum ← sum + x </a:t>
            </a:r>
          </a:p>
          <a:p>
            <a:pPr marL="0" indent="0">
              <a:spcAft>
                <a:spcPts val="300"/>
              </a:spcAft>
              <a:buNone/>
            </a:pPr>
            <a:r>
              <a:rPr lang="en-US" b="1" dirty="0">
                <a:solidFill>
                  <a:srgbClr val="F9C5D7"/>
                </a:solidFill>
                <a:latin typeface="Consolas" pitchFamily="49" charset="0"/>
                <a:cs typeface="Consolas" pitchFamily="49" charset="0"/>
              </a:rPr>
              <a:t>return S</a:t>
            </a:r>
            <a:endParaRPr lang="en-US" dirty="0">
              <a:solidFill>
                <a:srgbClr val="F9C5D7"/>
              </a:solidFill>
            </a:endParaRPr>
          </a:p>
        </p:txBody>
      </p:sp>
    </p:spTree>
    <p:extLst>
      <p:ext uri="{BB962C8B-B14F-4D97-AF65-F5344CB8AC3E}">
        <p14:creationId xmlns:p14="http://schemas.microsoft.com/office/powerpoint/2010/main" val="3494248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Make Change – The Greedy Property</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The algorithm is </a:t>
                </a:r>
                <a:r>
                  <a:rPr lang="en-US" b="1" dirty="0"/>
                  <a:t>greedy</a:t>
                </a:r>
                <a:r>
                  <a:rPr lang="en-US" dirty="0"/>
                  <a:t> because,</a:t>
                </a:r>
              </a:p>
              <a:p>
                <a:pPr lvl="1"/>
                <a:r>
                  <a:rPr lang="en-US" dirty="0"/>
                  <a:t>At every step it chooses </a:t>
                </a:r>
                <a:r>
                  <a:rPr lang="en-US" b="1" dirty="0"/>
                  <a:t>the largest available coin</a:t>
                </a:r>
                <a:r>
                  <a:rPr lang="en-US" dirty="0"/>
                  <a:t>, without worrying whether this will prove to be a </a:t>
                </a:r>
                <a:r>
                  <a:rPr lang="en-US" b="1" dirty="0"/>
                  <a:t>correct </a:t>
                </a:r>
                <a:r>
                  <a:rPr lang="en-US" dirty="0"/>
                  <a:t>decision later.</a:t>
                </a:r>
              </a:p>
              <a:p>
                <a:pPr lvl="1"/>
                <a:r>
                  <a:rPr lang="en-US" dirty="0"/>
                  <a:t>It </a:t>
                </a:r>
                <a:r>
                  <a:rPr lang="en-US" b="1" dirty="0"/>
                  <a:t>never changes </a:t>
                </a:r>
                <a:r>
                  <a:rPr lang="en-US" dirty="0"/>
                  <a:t>the decision, i.e., once a coin has been included in the solution, it is there </a:t>
                </a:r>
                <a:r>
                  <a:rPr lang="en-US" b="1" dirty="0"/>
                  <a:t>forever</a:t>
                </a:r>
                <a:r>
                  <a:rPr lang="en-US" dirty="0"/>
                  <a:t>. </a:t>
                </a:r>
              </a:p>
              <a:p>
                <a:r>
                  <a:rPr lang="en-US" dirty="0"/>
                  <a:t>Examples: </a:t>
                </a:r>
              </a:p>
              <a:p>
                <a:pPr marL="914400" lvl="1" indent="-457200">
                  <a:buFont typeface="+mj-lt"/>
                  <a:buAutoNum type="arabicPeriod"/>
                </a:pPr>
                <a:r>
                  <a:rPr lang="en-US" dirty="0"/>
                  <a:t>Some coins with denominations </a:t>
                </a:r>
                <a:r>
                  <a:rPr lang="en-US" dirty="0">
                    <a:solidFill>
                      <a:srgbClr val="0066FF"/>
                    </a:solidFill>
                  </a:rPr>
                  <a:t>50, 20, 10, 5, 1 </a:t>
                </a:r>
                <a:r>
                  <a:rPr lang="en-US" dirty="0"/>
                  <a:t>are available.</a:t>
                </a:r>
              </a:p>
              <a:p>
                <a:pPr lvl="2"/>
                <a:r>
                  <a:rPr lang="en-US" dirty="0"/>
                  <a:t>How many minimum coins required to make change for 37</a:t>
                </a:r>
                <a:r>
                  <a:rPr lang="en-US" dirty="0">
                    <a:solidFill>
                      <a:srgbClr val="0066FF"/>
                    </a:solidFill>
                  </a:rPr>
                  <a:t> </a:t>
                </a:r>
                <a14:m>
                  <m:oMath xmlns:m="http://schemas.openxmlformats.org/officeDocument/2006/math">
                    <m:r>
                      <a:rPr lang="en-US" i="1" dirty="0">
                        <a:solidFill>
                          <a:srgbClr val="0066FF"/>
                        </a:solidFill>
                        <a:latin typeface="Cambria Math" panose="02040503050406030204" pitchFamily="18" charset="0"/>
                      </a:rPr>
                      <m:t>₹</m:t>
                    </m:r>
                  </m:oMath>
                </a14:m>
                <a:r>
                  <a:rPr lang="en-US" dirty="0"/>
                  <a:t>?</a:t>
                </a:r>
              </a:p>
              <a:p>
                <a:pPr lvl="2"/>
                <a:r>
                  <a:rPr lang="en-US" dirty="0"/>
                  <a:t>How many minimum coins required to make change for 91 </a:t>
                </a:r>
                <a14:m>
                  <m:oMath xmlns:m="http://schemas.openxmlformats.org/officeDocument/2006/math">
                    <m:r>
                      <a:rPr lang="en-US" i="1" dirty="0">
                        <a:solidFill>
                          <a:srgbClr val="0066FF"/>
                        </a:solidFill>
                        <a:latin typeface="Cambria Math" panose="02040503050406030204" pitchFamily="18" charset="0"/>
                      </a:rPr>
                      <m:t>₹</m:t>
                    </m:r>
                  </m:oMath>
                </a14:m>
                <a:r>
                  <a:rPr lang="en-US" dirty="0"/>
                  <a:t>?</a:t>
                </a:r>
              </a:p>
              <a:p>
                <a:pPr marL="914400" lvl="1" indent="-457200">
                  <a:buFont typeface="+mj-lt"/>
                  <a:buAutoNum type="arabicPeriod"/>
                </a:pPr>
                <a:endParaRPr lang="en-US" dirty="0"/>
              </a:p>
              <a:p>
                <a:pPr marL="914400" lvl="1" indent="-457200">
                  <a:buFont typeface="+mj-lt"/>
                  <a:buAutoNum type="arabicPeriod"/>
                </a:pPr>
                <a:r>
                  <a:rPr lang="en-US" dirty="0"/>
                  <a:t>Denominations: </a:t>
                </a:r>
                <a:r>
                  <a:rPr lang="en-US" dirty="0">
                    <a:solidFill>
                      <a:srgbClr val="0066FF"/>
                    </a:solidFill>
                  </a:rPr>
                  <a:t>d</a:t>
                </a:r>
                <a:r>
                  <a:rPr lang="en-US" baseline="-25000" dirty="0">
                    <a:solidFill>
                      <a:srgbClr val="0066FF"/>
                    </a:solidFill>
                  </a:rPr>
                  <a:t>1</a:t>
                </a:r>
                <a:r>
                  <a:rPr lang="en-US" dirty="0">
                    <a:solidFill>
                      <a:srgbClr val="0066FF"/>
                    </a:solidFill>
                  </a:rPr>
                  <a:t>=6, d</a:t>
                </a:r>
                <a:r>
                  <a:rPr lang="en-US" baseline="-25000" dirty="0">
                    <a:solidFill>
                      <a:srgbClr val="0066FF"/>
                    </a:solidFill>
                  </a:rPr>
                  <a:t>2</a:t>
                </a:r>
                <a:r>
                  <a:rPr lang="en-US" dirty="0">
                    <a:solidFill>
                      <a:srgbClr val="0066FF"/>
                    </a:solidFill>
                  </a:rPr>
                  <a:t>=4, d</a:t>
                </a:r>
                <a:r>
                  <a:rPr lang="en-US" baseline="-25000" dirty="0">
                    <a:solidFill>
                      <a:srgbClr val="0066FF"/>
                    </a:solidFill>
                  </a:rPr>
                  <a:t>3</a:t>
                </a:r>
                <a:r>
                  <a:rPr lang="en-US" dirty="0">
                    <a:solidFill>
                      <a:srgbClr val="0066FF"/>
                    </a:solidFill>
                  </a:rPr>
                  <a:t>=1. </a:t>
                </a:r>
                <a:r>
                  <a:rPr lang="en-US" dirty="0"/>
                  <a:t>Make a change of</a:t>
                </a:r>
                <a:r>
                  <a:rPr lang="en-US" dirty="0">
                    <a:solidFill>
                      <a:srgbClr val="0066FF"/>
                    </a:solidFill>
                  </a:rPr>
                  <a:t> </a:t>
                </a:r>
                <a14:m>
                  <m:oMath xmlns:m="http://schemas.openxmlformats.org/officeDocument/2006/math">
                    <m:r>
                      <a:rPr lang="en-US" i="1" dirty="0">
                        <a:solidFill>
                          <a:srgbClr val="0066FF"/>
                        </a:solidFill>
                        <a:latin typeface="Cambria Math" panose="02040503050406030204" pitchFamily="18" charset="0"/>
                      </a:rPr>
                      <m:t>₹ </m:t>
                    </m:r>
                  </m:oMath>
                </a14:m>
                <a:r>
                  <a:rPr lang="en-US" dirty="0">
                    <a:solidFill>
                      <a:srgbClr val="0066FF"/>
                    </a:solidFill>
                  </a:rPr>
                  <a:t>8</a:t>
                </a:r>
                <a:r>
                  <a:rPr lang="en-US" dirty="0"/>
                  <a:t>. </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715" t="-1382" r="-562"/>
                </a:stretch>
              </a:blipFill>
            </p:spPr>
            <p:txBody>
              <a:bodyPr/>
              <a:lstStyle/>
              <a:p>
                <a:r>
                  <a:rPr lang="en-IN">
                    <a:noFill/>
                  </a:rPr>
                  <a:t> </a:t>
                </a:r>
              </a:p>
            </p:txBody>
          </p:sp>
        </mc:Fallback>
      </mc:AlternateContent>
      <p:sp>
        <p:nvSpPr>
          <p:cNvPr id="4" name="Rounded Rectangle 3"/>
          <p:cNvSpPr/>
          <p:nvPr/>
        </p:nvSpPr>
        <p:spPr>
          <a:xfrm>
            <a:off x="7381026" y="3019314"/>
            <a:ext cx="365760" cy="274320"/>
          </a:xfrm>
          <a:prstGeom prst="roundRect">
            <a:avLst/>
          </a:prstGeom>
          <a:solidFill>
            <a:schemeClr val="accent6">
              <a:lumMod val="20000"/>
              <a:lumOff val="8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D1457"/>
                </a:solidFill>
              </a:rPr>
              <a:t>5</a:t>
            </a:r>
          </a:p>
        </p:txBody>
      </p:sp>
      <p:sp>
        <p:nvSpPr>
          <p:cNvPr id="5" name="Rounded Rectangle 4"/>
          <p:cNvSpPr/>
          <p:nvPr/>
        </p:nvSpPr>
        <p:spPr>
          <a:xfrm>
            <a:off x="7381026" y="3286333"/>
            <a:ext cx="365760" cy="274320"/>
          </a:xfrm>
          <a:prstGeom prst="roundRect">
            <a:avLst/>
          </a:prstGeom>
          <a:solidFill>
            <a:schemeClr val="accent6">
              <a:lumMod val="20000"/>
              <a:lumOff val="8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D1457"/>
                </a:solidFill>
              </a:rPr>
              <a:t>4</a:t>
            </a:r>
          </a:p>
        </p:txBody>
      </p:sp>
      <p:sp>
        <p:nvSpPr>
          <p:cNvPr id="6" name="Rounded Rectangle 5"/>
          <p:cNvSpPr/>
          <p:nvPr/>
        </p:nvSpPr>
        <p:spPr>
          <a:xfrm>
            <a:off x="7037294" y="4002742"/>
            <a:ext cx="609600" cy="381000"/>
          </a:xfrm>
          <a:prstGeom prst="roundRect">
            <a:avLst/>
          </a:prstGeom>
          <a:solidFill>
            <a:schemeClr val="accent6">
              <a:lumMod val="20000"/>
              <a:lumOff val="8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D1457"/>
                </a:solidFill>
              </a:rPr>
              <a:t>3</a:t>
            </a:r>
          </a:p>
        </p:txBody>
      </p:sp>
      <p:sp>
        <p:nvSpPr>
          <p:cNvPr id="7" name="Rounded Rectangle 6"/>
          <p:cNvSpPr/>
          <p:nvPr/>
        </p:nvSpPr>
        <p:spPr>
          <a:xfrm>
            <a:off x="6096000" y="4497188"/>
            <a:ext cx="609600" cy="381000"/>
          </a:xfrm>
          <a:prstGeom prst="roundRect">
            <a:avLst/>
          </a:prstGeom>
          <a:solidFill>
            <a:schemeClr val="accent6">
              <a:lumMod val="20000"/>
              <a:lumOff val="8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D1457"/>
                </a:solidFill>
              </a:rPr>
              <a:t>2</a:t>
            </a:r>
          </a:p>
        </p:txBody>
      </p:sp>
      <p:sp>
        <p:nvSpPr>
          <p:cNvPr id="8" name="TextBox 7"/>
          <p:cNvSpPr txBox="1"/>
          <p:nvPr/>
        </p:nvSpPr>
        <p:spPr>
          <a:xfrm>
            <a:off x="2423886" y="4497188"/>
            <a:ext cx="3657600" cy="400110"/>
          </a:xfrm>
          <a:prstGeom prst="rect">
            <a:avLst/>
          </a:prstGeom>
          <a:solidFill>
            <a:schemeClr val="bg1">
              <a:lumMod val="85000"/>
            </a:schemeClr>
          </a:solidFill>
        </p:spPr>
        <p:txBody>
          <a:bodyPr wrap="square" rtlCol="0">
            <a:spAutoFit/>
          </a:bodyPr>
          <a:lstStyle/>
          <a:p>
            <a:pPr algn="r"/>
            <a:r>
              <a:rPr lang="en-US" sz="2000" dirty="0"/>
              <a:t>The minimum coins required are </a:t>
            </a:r>
          </a:p>
        </p:txBody>
      </p:sp>
      <p:cxnSp>
        <p:nvCxnSpPr>
          <p:cNvPr id="9" name="Straight Connector 8"/>
          <p:cNvCxnSpPr/>
          <p:nvPr/>
        </p:nvCxnSpPr>
        <p:spPr>
          <a:xfrm>
            <a:off x="6961094" y="4190398"/>
            <a:ext cx="77651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0218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fade">
                                      <p:cBhvr>
                                        <p:cTn id="47" dur="500"/>
                                        <p:tgtEl>
                                          <p:spTgt spid="5"/>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fade">
                                      <p:cBhvr>
                                        <p:cTn id="52" dur="500"/>
                                        <p:tgtEl>
                                          <p:spTgt spid="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fade">
                                      <p:cBhvr>
                                        <p:cTn id="57" dur="500"/>
                                        <p:tgtEl>
                                          <p:spTgt spid="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wipe(left)">
                                      <p:cBhvr>
                                        <p:cTn id="62" dur="500"/>
                                        <p:tgtEl>
                                          <p:spTgt spid="9"/>
                                        </p:tgtEl>
                                      </p:cBhvr>
                                    </p:animEffect>
                                  </p:childTnLst>
                                </p:cTn>
                              </p:par>
                            </p:childTnLst>
                          </p:cTn>
                        </p:par>
                        <p:par>
                          <p:cTn id="63" fill="hold">
                            <p:stCondLst>
                              <p:cond delay="500"/>
                            </p:stCondLst>
                            <p:childTnLst>
                              <p:par>
                                <p:cTn id="64" presetID="10" presetClass="entr" presetSubtype="0" fill="hold" grpId="0" nodeType="afterEffect">
                                  <p:stCondLst>
                                    <p:cond delay="0"/>
                                  </p:stCondLst>
                                  <p:childTnLst>
                                    <p:set>
                                      <p:cBhvr>
                                        <p:cTn id="65" dur="1" fill="hold">
                                          <p:stCondLst>
                                            <p:cond delay="0"/>
                                          </p:stCondLst>
                                        </p:cTn>
                                        <p:tgtEl>
                                          <p:spTgt spid="8"/>
                                        </p:tgtEl>
                                        <p:attrNameLst>
                                          <p:attrName>style.visibility</p:attrName>
                                        </p:attrNameLst>
                                      </p:cBhvr>
                                      <p:to>
                                        <p:strVal val="visible"/>
                                      </p:to>
                                    </p:set>
                                    <p:animEffect transition="in" filter="fade">
                                      <p:cBhvr>
                                        <p:cTn id="66" dur="500"/>
                                        <p:tgtEl>
                                          <p:spTgt spid="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7"/>
                                        </p:tgtEl>
                                        <p:attrNameLst>
                                          <p:attrName>style.visibility</p:attrName>
                                        </p:attrNameLst>
                                      </p:cBhvr>
                                      <p:to>
                                        <p:strVal val="visible"/>
                                      </p:to>
                                    </p:set>
                                    <p:animEffect transition="in" filter="fade">
                                      <p:cBhvr>
                                        <p:cTn id="6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Knapsack Problem</a:t>
            </a:r>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33015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Knapsack Problem</a:t>
            </a:r>
          </a:p>
        </p:txBody>
      </p:sp>
      <p:sp>
        <p:nvSpPr>
          <p:cNvPr id="3" name="Content Placeholder 2"/>
          <p:cNvSpPr>
            <a:spLocks noGrp="1"/>
          </p:cNvSpPr>
          <p:nvPr>
            <p:ph idx="1"/>
          </p:nvPr>
        </p:nvSpPr>
        <p:spPr/>
        <p:txBody>
          <a:bodyPr/>
          <a:lstStyle/>
          <a:p>
            <a:endParaRPr lang="en-IN"/>
          </a:p>
        </p:txBody>
      </p:sp>
      <p:pic>
        <p:nvPicPr>
          <p:cNvPr id="4" name="Picture 4" descr="https://upload.wikimedia.org/wikipedia/commons/thumb/f/fd/Knapsack.svg/1200px-Knapsack.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068" y="872234"/>
            <a:ext cx="6375918" cy="5525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85593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Fractional Knapsack Problem</a:t>
            </a:r>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763642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We are given </a:t>
                </a:r>
                <a14:m>
                  <m:oMath xmlns:m="http://schemas.openxmlformats.org/officeDocument/2006/math">
                    <m:r>
                      <a:rPr lang="en-US" i="1" dirty="0">
                        <a:latin typeface="Cambria Math" panose="02040503050406030204" pitchFamily="18" charset="0"/>
                      </a:rPr>
                      <m:t>𝑛</m:t>
                    </m:r>
                  </m:oMath>
                </a14:m>
                <a:r>
                  <a:rPr lang="en-US" dirty="0"/>
                  <a:t> objects and a knapsack. </a:t>
                </a:r>
              </a:p>
              <a:p>
                <a:r>
                  <a:rPr lang="en-US" dirty="0"/>
                  <a:t>Object</a:t>
                </a:r>
                <a:r>
                  <a:rPr lang="en-US" b="1" dirty="0"/>
                  <a:t> </a:t>
                </a:r>
                <a14:m>
                  <m:oMath xmlns:m="http://schemas.openxmlformats.org/officeDocument/2006/math">
                    <m:r>
                      <a:rPr lang="en-US" b="1" i="1" dirty="0">
                        <a:solidFill>
                          <a:srgbClr val="0066FF"/>
                        </a:solidFill>
                        <a:latin typeface="Cambria Math" panose="02040503050406030204" pitchFamily="18" charset="0"/>
                      </a:rPr>
                      <m:t>𝒊</m:t>
                    </m:r>
                  </m:oMath>
                </a14:m>
                <a:r>
                  <a:rPr lang="en-US" b="1" dirty="0">
                    <a:solidFill>
                      <a:srgbClr val="FF0000"/>
                    </a:solidFill>
                  </a:rPr>
                  <a:t> </a:t>
                </a:r>
                <a:r>
                  <a:rPr lang="en-US" dirty="0"/>
                  <a:t>has a positive weight </a:t>
                </a:r>
                <a14:m>
                  <m:oMath xmlns:m="http://schemas.openxmlformats.org/officeDocument/2006/math">
                    <m:sSub>
                      <m:sSubPr>
                        <m:ctrlPr>
                          <a:rPr lang="en-US" b="1" i="1" dirty="0">
                            <a:solidFill>
                              <a:srgbClr val="0066FF"/>
                            </a:solidFill>
                            <a:latin typeface="Cambria Math" panose="02040503050406030204" pitchFamily="18" charset="0"/>
                          </a:rPr>
                        </m:ctrlPr>
                      </m:sSubPr>
                      <m:e>
                        <m:r>
                          <a:rPr lang="en-US" b="1" i="1" dirty="0">
                            <a:solidFill>
                              <a:srgbClr val="0066FF"/>
                            </a:solidFill>
                            <a:latin typeface="Cambria Math" panose="02040503050406030204" pitchFamily="18" charset="0"/>
                          </a:rPr>
                          <m:t>𝒘</m:t>
                        </m:r>
                      </m:e>
                      <m:sub>
                        <m:r>
                          <a:rPr lang="en-US" b="1" i="1" dirty="0">
                            <a:solidFill>
                              <a:srgbClr val="0066FF"/>
                            </a:solidFill>
                            <a:latin typeface="Cambria Math" panose="02040503050406030204" pitchFamily="18" charset="0"/>
                          </a:rPr>
                          <m:t>𝒊</m:t>
                        </m:r>
                      </m:sub>
                    </m:sSub>
                    <m:r>
                      <a:rPr lang="en-US" b="1" i="1" dirty="0">
                        <a:solidFill>
                          <a:srgbClr val="0066FF"/>
                        </a:solidFill>
                        <a:latin typeface="Cambria Math" panose="02040503050406030204" pitchFamily="18" charset="0"/>
                      </a:rPr>
                      <m:t> </m:t>
                    </m:r>
                  </m:oMath>
                </a14:m>
                <a:r>
                  <a:rPr lang="en-US" dirty="0"/>
                  <a:t>and a positive value </a:t>
                </a:r>
                <a14:m>
                  <m:oMath xmlns:m="http://schemas.openxmlformats.org/officeDocument/2006/math">
                    <m:sSub>
                      <m:sSubPr>
                        <m:ctrlPr>
                          <a:rPr lang="en-US" b="1" i="1" dirty="0">
                            <a:solidFill>
                              <a:srgbClr val="0066FF"/>
                            </a:solidFill>
                            <a:latin typeface="Cambria Math" panose="02040503050406030204" pitchFamily="18" charset="0"/>
                          </a:rPr>
                        </m:ctrlPr>
                      </m:sSubPr>
                      <m:e>
                        <m:r>
                          <a:rPr lang="en-US" b="1" i="1" dirty="0">
                            <a:solidFill>
                              <a:srgbClr val="0066FF"/>
                            </a:solidFill>
                            <a:latin typeface="Cambria Math" panose="02040503050406030204" pitchFamily="18" charset="0"/>
                          </a:rPr>
                          <m:t>𝒗</m:t>
                        </m:r>
                      </m:e>
                      <m:sub>
                        <m:r>
                          <a:rPr lang="en-US" b="1" i="1" dirty="0">
                            <a:solidFill>
                              <a:srgbClr val="0066FF"/>
                            </a:solidFill>
                            <a:latin typeface="Cambria Math" panose="02040503050406030204" pitchFamily="18" charset="0"/>
                          </a:rPr>
                          <m:t>𝒊</m:t>
                        </m:r>
                      </m:sub>
                    </m:sSub>
                  </m:oMath>
                </a14:m>
                <a:r>
                  <a:rPr lang="en-US" dirty="0"/>
                  <a:t> for </a:t>
                </a:r>
                <a14:m>
                  <m:oMath xmlns:m="http://schemas.openxmlformats.org/officeDocument/2006/math">
                    <m:r>
                      <a:rPr lang="en-US" b="1" i="1" dirty="0">
                        <a:latin typeface="Cambria Math" panose="02040503050406030204" pitchFamily="18" charset="0"/>
                      </a:rPr>
                      <m:t>𝒊</m:t>
                    </m:r>
                    <m:r>
                      <a:rPr lang="en-US" b="1" i="1" dirty="0">
                        <a:latin typeface="Cambria Math" panose="02040503050406030204" pitchFamily="18" charset="0"/>
                      </a:rPr>
                      <m:t> = </m:t>
                    </m:r>
                    <m:r>
                      <a:rPr lang="en-US" b="1" i="1" dirty="0">
                        <a:latin typeface="Cambria Math" panose="02040503050406030204" pitchFamily="18" charset="0"/>
                      </a:rPr>
                      <m:t>𝟏</m:t>
                    </m:r>
                    <m:r>
                      <a:rPr lang="en-US" b="1" i="1" dirty="0">
                        <a:latin typeface="Cambria Math" panose="02040503050406030204" pitchFamily="18" charset="0"/>
                      </a:rPr>
                      <m:t>, </m:t>
                    </m:r>
                    <m:r>
                      <a:rPr lang="en-US" b="1" i="1" dirty="0">
                        <a:latin typeface="Cambria Math" panose="02040503050406030204" pitchFamily="18" charset="0"/>
                      </a:rPr>
                      <m:t>𝟐</m:t>
                    </m:r>
                    <m:r>
                      <a:rPr lang="en-US" b="1" i="1" dirty="0">
                        <a:latin typeface="Cambria Math" panose="02040503050406030204" pitchFamily="18" charset="0"/>
                      </a:rPr>
                      <m:t>… </m:t>
                    </m:r>
                    <m:r>
                      <a:rPr lang="en-US" b="1" i="1" dirty="0">
                        <a:latin typeface="Cambria Math" panose="02040503050406030204" pitchFamily="18" charset="0"/>
                      </a:rPr>
                      <m:t>𝒏</m:t>
                    </m:r>
                    <m:r>
                      <a:rPr lang="en-US" b="1" i="1" dirty="0">
                        <a:latin typeface="Cambria Math" panose="02040503050406030204" pitchFamily="18" charset="0"/>
                      </a:rPr>
                      <m:t>. </m:t>
                    </m:r>
                  </m:oMath>
                </a14:m>
                <a:endParaRPr lang="en-US" b="1" dirty="0"/>
              </a:p>
              <a:p>
                <a:r>
                  <a:rPr lang="en-US" dirty="0"/>
                  <a:t>The knapsack can carry a weight not exceeding </a:t>
                </a:r>
                <a14:m>
                  <m:oMath xmlns:m="http://schemas.openxmlformats.org/officeDocument/2006/math">
                    <m:r>
                      <a:rPr lang="en-US" b="1" i="1" dirty="0">
                        <a:latin typeface="Cambria Math" panose="02040503050406030204" pitchFamily="18" charset="0"/>
                      </a:rPr>
                      <m:t>𝑾</m:t>
                    </m:r>
                  </m:oMath>
                </a14:m>
                <a:r>
                  <a:rPr lang="en-US" dirty="0"/>
                  <a:t>. </a:t>
                </a:r>
              </a:p>
              <a:p>
                <a:r>
                  <a:rPr lang="en-US" dirty="0"/>
                  <a:t>Our aim is to fill the knapsack in a way that </a:t>
                </a:r>
                <a:r>
                  <a:rPr lang="en-US" b="1" dirty="0"/>
                  <a:t>maximizes </a:t>
                </a:r>
                <a:r>
                  <a:rPr lang="en-US" dirty="0"/>
                  <a:t>the value of the included objects, while respecting the capacity constraint. </a:t>
                </a:r>
              </a:p>
              <a:p>
                <a:r>
                  <a:rPr lang="en-US" dirty="0"/>
                  <a:t>In a fractional knapsack problem, we assume that the objects </a:t>
                </a:r>
                <a:r>
                  <a:rPr lang="en-US" b="1" dirty="0"/>
                  <a:t>can be broken into smaller pieces</a:t>
                </a:r>
                <a:r>
                  <a:rPr lang="en-US" dirty="0"/>
                  <a:t>.</a:t>
                </a:r>
              </a:p>
              <a:p>
                <a:r>
                  <a:rPr lang="en-US" dirty="0"/>
                  <a:t>So we may decide to carry only a fraction </a:t>
                </a:r>
                <a14:m>
                  <m:oMath xmlns:m="http://schemas.openxmlformats.org/officeDocument/2006/math">
                    <m:sSub>
                      <m:sSubPr>
                        <m:ctrlPr>
                          <a:rPr lang="en-US" b="1" i="1" dirty="0">
                            <a:solidFill>
                              <a:srgbClr val="0066FF"/>
                            </a:solidFill>
                            <a:latin typeface="Cambria Math" panose="02040503050406030204" pitchFamily="18" charset="0"/>
                          </a:rPr>
                        </m:ctrlPr>
                      </m:sSubPr>
                      <m:e>
                        <m:r>
                          <a:rPr lang="en-US" b="1" i="1" dirty="0">
                            <a:solidFill>
                              <a:srgbClr val="0066FF"/>
                            </a:solidFill>
                            <a:latin typeface="Cambria Math" panose="02040503050406030204" pitchFamily="18" charset="0"/>
                          </a:rPr>
                          <m:t>𝒙</m:t>
                        </m:r>
                      </m:e>
                      <m:sub>
                        <m:r>
                          <a:rPr lang="en-US" b="1" i="1" dirty="0">
                            <a:solidFill>
                              <a:srgbClr val="0066FF"/>
                            </a:solidFill>
                            <a:latin typeface="Cambria Math" panose="02040503050406030204" pitchFamily="18" charset="0"/>
                          </a:rPr>
                          <m:t>𝒊</m:t>
                        </m:r>
                      </m:sub>
                    </m:sSub>
                    <m:r>
                      <a:rPr lang="en-US" b="1" i="1" dirty="0">
                        <a:solidFill>
                          <a:srgbClr val="0066FF"/>
                        </a:solidFill>
                        <a:latin typeface="Cambria Math" panose="02040503050406030204" pitchFamily="18" charset="0"/>
                      </a:rPr>
                      <m:t> </m:t>
                    </m:r>
                  </m:oMath>
                </a14:m>
                <a:r>
                  <a:rPr lang="en-US" dirty="0"/>
                  <a:t>of object </a:t>
                </a:r>
                <a14:m>
                  <m:oMath xmlns:m="http://schemas.openxmlformats.org/officeDocument/2006/math">
                    <m:r>
                      <a:rPr lang="en-US" b="1" i="1" dirty="0">
                        <a:solidFill>
                          <a:srgbClr val="0066FF"/>
                        </a:solidFill>
                        <a:latin typeface="Cambria Math" panose="02040503050406030204" pitchFamily="18" charset="0"/>
                      </a:rPr>
                      <m:t>𝒊</m:t>
                    </m:r>
                  </m:oMath>
                </a14:m>
                <a:r>
                  <a:rPr lang="en-US" dirty="0"/>
                  <a:t>, where </a:t>
                </a:r>
                <a14:m>
                  <m:oMath xmlns:m="http://schemas.openxmlformats.org/officeDocument/2006/math">
                    <m:r>
                      <a:rPr lang="en-US" b="1" i="1" dirty="0">
                        <a:solidFill>
                          <a:srgbClr val="0066FF"/>
                        </a:solidFill>
                        <a:latin typeface="Cambria Math" panose="02040503050406030204" pitchFamily="18" charset="0"/>
                      </a:rPr>
                      <m:t>𝟎</m:t>
                    </m:r>
                    <m:r>
                      <a:rPr lang="en-US" b="1" i="1" dirty="0">
                        <a:solidFill>
                          <a:srgbClr val="0066FF"/>
                        </a:solidFill>
                        <a:latin typeface="Cambria Math" panose="02040503050406030204" pitchFamily="18" charset="0"/>
                      </a:rPr>
                      <m:t>≤</m:t>
                    </m:r>
                    <m:sSub>
                      <m:sSubPr>
                        <m:ctrlPr>
                          <a:rPr lang="en-US" b="1" i="1" dirty="0">
                            <a:solidFill>
                              <a:srgbClr val="0066FF"/>
                            </a:solidFill>
                            <a:latin typeface="Cambria Math" panose="02040503050406030204" pitchFamily="18" charset="0"/>
                          </a:rPr>
                        </m:ctrlPr>
                      </m:sSubPr>
                      <m:e>
                        <m:r>
                          <a:rPr lang="en-US" b="1" i="1" dirty="0">
                            <a:solidFill>
                              <a:srgbClr val="0066FF"/>
                            </a:solidFill>
                            <a:latin typeface="Cambria Math" panose="02040503050406030204" pitchFamily="18" charset="0"/>
                          </a:rPr>
                          <m:t>𝒙</m:t>
                        </m:r>
                      </m:e>
                      <m:sub>
                        <m:r>
                          <a:rPr lang="en-US" b="1" i="1" dirty="0">
                            <a:solidFill>
                              <a:srgbClr val="0066FF"/>
                            </a:solidFill>
                            <a:latin typeface="Cambria Math" panose="02040503050406030204" pitchFamily="18" charset="0"/>
                          </a:rPr>
                          <m:t>𝒊</m:t>
                        </m:r>
                      </m:sub>
                    </m:sSub>
                    <m:r>
                      <a:rPr lang="en-US" b="1" i="1" dirty="0">
                        <a:solidFill>
                          <a:srgbClr val="0066FF"/>
                        </a:solidFill>
                        <a:latin typeface="Cambria Math" panose="02040503050406030204" pitchFamily="18" charset="0"/>
                      </a:rPr>
                      <m:t>≤</m:t>
                    </m:r>
                    <m:r>
                      <a:rPr lang="en-US" b="1" i="1" dirty="0">
                        <a:solidFill>
                          <a:srgbClr val="0066FF"/>
                        </a:solidFill>
                        <a:latin typeface="Cambria Math" panose="02040503050406030204" pitchFamily="18" charset="0"/>
                      </a:rPr>
                      <m:t>𝟏</m:t>
                    </m:r>
                    <m:r>
                      <a:rPr lang="en-US" b="1" i="1" dirty="0">
                        <a:solidFill>
                          <a:srgbClr val="0066FF"/>
                        </a:solidFill>
                        <a:latin typeface="Cambria Math" panose="02040503050406030204" pitchFamily="18" charset="0"/>
                      </a:rPr>
                      <m:t>. </m:t>
                    </m:r>
                  </m:oMath>
                </a14:m>
                <a:endParaRPr lang="en-US" b="1" i="1" dirty="0">
                  <a:solidFill>
                    <a:srgbClr val="0066FF"/>
                  </a:solidFill>
                  <a:latin typeface="Cambria Math" panose="02040503050406030204" pitchFamily="18" charset="0"/>
                </a:endParaRPr>
              </a:p>
              <a:p>
                <a:r>
                  <a:rPr lang="en-US" dirty="0"/>
                  <a:t>In this case, object </a:t>
                </a:r>
                <a14:m>
                  <m:oMath xmlns:m="http://schemas.openxmlformats.org/officeDocument/2006/math">
                    <m:r>
                      <a:rPr lang="en-US" b="1" i="1" dirty="0">
                        <a:solidFill>
                          <a:srgbClr val="0066FF"/>
                        </a:solidFill>
                        <a:latin typeface="Cambria Math" panose="02040503050406030204" pitchFamily="18" charset="0"/>
                      </a:rPr>
                      <m:t>𝒊</m:t>
                    </m:r>
                  </m:oMath>
                </a14:m>
                <a:r>
                  <a:rPr lang="en-US" dirty="0"/>
                  <a:t> contribute </a:t>
                </a:r>
                <a14:m>
                  <m:oMath xmlns:m="http://schemas.openxmlformats.org/officeDocument/2006/math">
                    <m:sSub>
                      <m:sSubPr>
                        <m:ctrlPr>
                          <a:rPr lang="en-US" b="1" i="1" dirty="0">
                            <a:solidFill>
                              <a:srgbClr val="0066FF"/>
                            </a:solidFill>
                            <a:latin typeface="Cambria Math" panose="02040503050406030204" pitchFamily="18" charset="0"/>
                          </a:rPr>
                        </m:ctrlPr>
                      </m:sSubPr>
                      <m:e>
                        <m:r>
                          <a:rPr lang="en-US" b="1" i="1" dirty="0">
                            <a:solidFill>
                              <a:srgbClr val="0066FF"/>
                            </a:solidFill>
                            <a:latin typeface="Cambria Math" panose="02040503050406030204" pitchFamily="18" charset="0"/>
                          </a:rPr>
                          <m:t>𝒙</m:t>
                        </m:r>
                      </m:e>
                      <m:sub>
                        <m:r>
                          <a:rPr lang="en-US" b="1" i="1" dirty="0">
                            <a:solidFill>
                              <a:srgbClr val="0066FF"/>
                            </a:solidFill>
                            <a:latin typeface="Cambria Math" panose="02040503050406030204" pitchFamily="18" charset="0"/>
                          </a:rPr>
                          <m:t>𝒊</m:t>
                        </m:r>
                      </m:sub>
                    </m:sSub>
                    <m:sSub>
                      <m:sSubPr>
                        <m:ctrlPr>
                          <a:rPr lang="en-US" b="1" i="1" dirty="0">
                            <a:solidFill>
                              <a:srgbClr val="0066FF"/>
                            </a:solidFill>
                            <a:latin typeface="Cambria Math" panose="02040503050406030204" pitchFamily="18" charset="0"/>
                          </a:rPr>
                        </m:ctrlPr>
                      </m:sSubPr>
                      <m:e>
                        <m:r>
                          <a:rPr lang="en-US" b="1" i="1" dirty="0">
                            <a:solidFill>
                              <a:srgbClr val="0066FF"/>
                            </a:solidFill>
                            <a:latin typeface="Cambria Math" panose="02040503050406030204" pitchFamily="18" charset="0"/>
                          </a:rPr>
                          <m:t>𝒘</m:t>
                        </m:r>
                      </m:e>
                      <m:sub>
                        <m:r>
                          <a:rPr lang="en-US" b="1" i="1" dirty="0">
                            <a:solidFill>
                              <a:srgbClr val="0066FF"/>
                            </a:solidFill>
                            <a:latin typeface="Cambria Math" panose="02040503050406030204" pitchFamily="18" charset="0"/>
                          </a:rPr>
                          <m:t>𝒊</m:t>
                        </m:r>
                      </m:sub>
                    </m:sSub>
                  </m:oMath>
                </a14:m>
                <a:r>
                  <a:rPr lang="en-US" dirty="0"/>
                  <a:t> to the total weight in the knapsack, and </a:t>
                </a:r>
                <a14:m>
                  <m:oMath xmlns:m="http://schemas.openxmlformats.org/officeDocument/2006/math">
                    <m:sSub>
                      <m:sSubPr>
                        <m:ctrlPr>
                          <a:rPr lang="en-US" b="1" i="1" dirty="0">
                            <a:solidFill>
                              <a:srgbClr val="0066FF"/>
                            </a:solidFill>
                            <a:latin typeface="Cambria Math" panose="02040503050406030204" pitchFamily="18" charset="0"/>
                          </a:rPr>
                        </m:ctrlPr>
                      </m:sSubPr>
                      <m:e>
                        <m:r>
                          <a:rPr lang="en-US" b="1" i="1" dirty="0">
                            <a:solidFill>
                              <a:srgbClr val="0066FF"/>
                            </a:solidFill>
                            <a:latin typeface="Cambria Math" panose="02040503050406030204" pitchFamily="18" charset="0"/>
                          </a:rPr>
                          <m:t>𝒙</m:t>
                        </m:r>
                      </m:e>
                      <m:sub>
                        <m:r>
                          <a:rPr lang="en-US" b="1" i="1" dirty="0">
                            <a:solidFill>
                              <a:srgbClr val="0066FF"/>
                            </a:solidFill>
                            <a:latin typeface="Cambria Math" panose="02040503050406030204" pitchFamily="18" charset="0"/>
                          </a:rPr>
                          <m:t>𝒊</m:t>
                        </m:r>
                      </m:sub>
                    </m:sSub>
                    <m:sSub>
                      <m:sSubPr>
                        <m:ctrlPr>
                          <a:rPr lang="en-US" b="1" i="1" dirty="0">
                            <a:solidFill>
                              <a:srgbClr val="0066FF"/>
                            </a:solidFill>
                            <a:latin typeface="Cambria Math" panose="02040503050406030204" pitchFamily="18" charset="0"/>
                          </a:rPr>
                        </m:ctrlPr>
                      </m:sSubPr>
                      <m:e>
                        <m:r>
                          <a:rPr lang="en-US" b="1" i="1" dirty="0">
                            <a:solidFill>
                              <a:srgbClr val="0066FF"/>
                            </a:solidFill>
                            <a:latin typeface="Cambria Math" panose="02040503050406030204" pitchFamily="18" charset="0"/>
                          </a:rPr>
                          <m:t>𝒗</m:t>
                        </m:r>
                      </m:e>
                      <m:sub>
                        <m:r>
                          <a:rPr lang="en-US" b="1" i="1" dirty="0">
                            <a:solidFill>
                              <a:srgbClr val="0066FF"/>
                            </a:solidFill>
                            <a:latin typeface="Cambria Math" panose="02040503050406030204" pitchFamily="18" charset="0"/>
                          </a:rPr>
                          <m:t>𝒊</m:t>
                        </m:r>
                      </m:sub>
                    </m:sSub>
                  </m:oMath>
                </a14:m>
                <a:r>
                  <a:rPr lang="en-US" dirty="0"/>
                  <a:t> to the value of the load. </a:t>
                </a:r>
              </a:p>
              <a:p>
                <a:r>
                  <a:rPr lang="en-US" dirty="0"/>
                  <a:t>Symbolic Representation of the problem can be given as follows:</a:t>
                </a:r>
              </a:p>
              <a:p>
                <a:pPr marL="736600" indent="0" algn="l">
                  <a:buNone/>
                </a:pPr>
                <a:r>
                  <a:rPr lang="en-US" b="1" dirty="0"/>
                  <a:t> </a:t>
                </a:r>
                <a:r>
                  <a:rPr lang="en-US" b="1" dirty="0">
                    <a:solidFill>
                      <a:srgbClr val="AD1457"/>
                    </a:solidFill>
                  </a:rPr>
                  <a:t>maximize </a:t>
                </a:r>
                <a14:m>
                  <m:oMath xmlns:m="http://schemas.openxmlformats.org/officeDocument/2006/math">
                    <m:nary>
                      <m:naryPr>
                        <m:chr m:val="∑"/>
                        <m:limLoc m:val="undOvr"/>
                        <m:ctrlPr>
                          <a:rPr lang="en-US" b="1" i="1">
                            <a:solidFill>
                              <a:srgbClr val="AD1457"/>
                            </a:solidFill>
                            <a:latin typeface="Cambria Math" panose="02040503050406030204" pitchFamily="18" charset="0"/>
                          </a:rPr>
                        </m:ctrlPr>
                      </m:naryPr>
                      <m:sub>
                        <m:r>
                          <a:rPr lang="en-US" b="1" i="1">
                            <a:solidFill>
                              <a:srgbClr val="AD1457"/>
                            </a:solidFill>
                            <a:latin typeface="Cambria Math" panose="02040503050406030204" pitchFamily="18" charset="0"/>
                          </a:rPr>
                          <m:t>𝒊</m:t>
                        </m:r>
                        <m:r>
                          <a:rPr lang="en-US" b="1" i="1">
                            <a:solidFill>
                              <a:srgbClr val="AD1457"/>
                            </a:solidFill>
                            <a:latin typeface="Cambria Math" panose="02040503050406030204" pitchFamily="18" charset="0"/>
                          </a:rPr>
                          <m:t>=</m:t>
                        </m:r>
                        <m:r>
                          <a:rPr lang="en-US" b="1" i="1">
                            <a:solidFill>
                              <a:srgbClr val="AD1457"/>
                            </a:solidFill>
                            <a:latin typeface="Cambria Math" panose="02040503050406030204" pitchFamily="18" charset="0"/>
                          </a:rPr>
                          <m:t>𝟏</m:t>
                        </m:r>
                      </m:sub>
                      <m:sup>
                        <m:r>
                          <a:rPr lang="en-US" b="1" i="1">
                            <a:solidFill>
                              <a:srgbClr val="AD1457"/>
                            </a:solidFill>
                            <a:latin typeface="Cambria Math" panose="02040503050406030204" pitchFamily="18" charset="0"/>
                          </a:rPr>
                          <m:t>𝒏</m:t>
                        </m:r>
                      </m:sup>
                      <m:e>
                        <m:r>
                          <a:rPr lang="en-US" b="1" i="1">
                            <a:solidFill>
                              <a:srgbClr val="AD1457"/>
                            </a:solidFill>
                            <a:latin typeface="Cambria Math" panose="02040503050406030204" pitchFamily="18" charset="0"/>
                          </a:rPr>
                          <m:t>𝒙</m:t>
                        </m:r>
                        <m:r>
                          <m:rPr>
                            <m:nor/>
                          </m:rPr>
                          <a:rPr lang="en-US" b="1" baseline="-25000">
                            <a:solidFill>
                              <a:srgbClr val="AD1457"/>
                            </a:solidFill>
                          </a:rPr>
                          <m:t>i</m:t>
                        </m:r>
                      </m:e>
                    </m:nary>
                    <m:r>
                      <a:rPr lang="en-US" b="1" i="1">
                        <a:solidFill>
                          <a:srgbClr val="AD1457"/>
                        </a:solidFill>
                        <a:latin typeface="Cambria Math" panose="02040503050406030204" pitchFamily="18" charset="0"/>
                      </a:rPr>
                      <m:t>𝒗</m:t>
                    </m:r>
                    <m:r>
                      <m:rPr>
                        <m:nor/>
                      </m:rPr>
                      <a:rPr lang="en-US" b="1" baseline="-25000">
                        <a:solidFill>
                          <a:srgbClr val="AD1457"/>
                        </a:solidFill>
                      </a:rPr>
                      <m:t>i</m:t>
                    </m:r>
                  </m:oMath>
                </a14:m>
                <a:r>
                  <a:rPr lang="en-US" b="1" dirty="0">
                    <a:solidFill>
                      <a:srgbClr val="AD1457"/>
                    </a:solidFill>
                  </a:rPr>
                  <a:t> subject to </a:t>
                </a:r>
                <a14:m>
                  <m:oMath xmlns:m="http://schemas.openxmlformats.org/officeDocument/2006/math">
                    <m:nary>
                      <m:naryPr>
                        <m:chr m:val="∑"/>
                        <m:limLoc m:val="undOvr"/>
                        <m:ctrlPr>
                          <a:rPr lang="en-US" b="1" i="1">
                            <a:solidFill>
                              <a:srgbClr val="AD1457"/>
                            </a:solidFill>
                            <a:latin typeface="Cambria Math" panose="02040503050406030204" pitchFamily="18" charset="0"/>
                          </a:rPr>
                        </m:ctrlPr>
                      </m:naryPr>
                      <m:sub>
                        <m:r>
                          <a:rPr lang="en-US" b="1" i="1">
                            <a:solidFill>
                              <a:srgbClr val="AD1457"/>
                            </a:solidFill>
                            <a:latin typeface="Cambria Math" panose="02040503050406030204" pitchFamily="18" charset="0"/>
                          </a:rPr>
                          <m:t>𝒊</m:t>
                        </m:r>
                        <m:r>
                          <a:rPr lang="en-US" b="1" i="1">
                            <a:solidFill>
                              <a:srgbClr val="AD1457"/>
                            </a:solidFill>
                            <a:latin typeface="Cambria Math" panose="02040503050406030204" pitchFamily="18" charset="0"/>
                          </a:rPr>
                          <m:t>=</m:t>
                        </m:r>
                        <m:r>
                          <a:rPr lang="en-US" b="1" i="1">
                            <a:solidFill>
                              <a:srgbClr val="AD1457"/>
                            </a:solidFill>
                            <a:latin typeface="Cambria Math" panose="02040503050406030204" pitchFamily="18" charset="0"/>
                          </a:rPr>
                          <m:t>𝟏</m:t>
                        </m:r>
                      </m:sub>
                      <m:sup>
                        <m:r>
                          <a:rPr lang="en-US" b="1" i="1">
                            <a:solidFill>
                              <a:srgbClr val="AD1457"/>
                            </a:solidFill>
                            <a:latin typeface="Cambria Math" panose="02040503050406030204" pitchFamily="18" charset="0"/>
                          </a:rPr>
                          <m:t>𝒏</m:t>
                        </m:r>
                      </m:sup>
                      <m:e>
                        <m:r>
                          <a:rPr lang="en-US" b="1" i="1">
                            <a:solidFill>
                              <a:srgbClr val="AD1457"/>
                            </a:solidFill>
                            <a:latin typeface="Cambria Math" panose="02040503050406030204" pitchFamily="18" charset="0"/>
                          </a:rPr>
                          <m:t>𝒙</m:t>
                        </m:r>
                        <m:r>
                          <m:rPr>
                            <m:nor/>
                          </m:rPr>
                          <a:rPr lang="en-US" b="1" baseline="-25000">
                            <a:solidFill>
                              <a:srgbClr val="AD1457"/>
                            </a:solidFill>
                          </a:rPr>
                          <m:t>i</m:t>
                        </m:r>
                      </m:e>
                    </m:nary>
                    <m:r>
                      <a:rPr lang="en-US" b="1" i="1">
                        <a:solidFill>
                          <a:srgbClr val="AD1457"/>
                        </a:solidFill>
                        <a:latin typeface="Cambria Math" panose="02040503050406030204" pitchFamily="18" charset="0"/>
                      </a:rPr>
                      <m:t>𝒘</m:t>
                    </m:r>
                    <m:r>
                      <m:rPr>
                        <m:nor/>
                      </m:rPr>
                      <a:rPr lang="en-US" b="1" baseline="-25000">
                        <a:solidFill>
                          <a:srgbClr val="AD1457"/>
                        </a:solidFill>
                      </a:rPr>
                      <m:t>i</m:t>
                    </m:r>
                  </m:oMath>
                </a14:m>
                <a:r>
                  <a:rPr lang="en-US" b="1" dirty="0">
                    <a:solidFill>
                      <a:srgbClr val="AD1457"/>
                    </a:solidFill>
                  </a:rPr>
                  <a:t> </a:t>
                </a:r>
                <a14:m>
                  <m:oMath xmlns:m="http://schemas.openxmlformats.org/officeDocument/2006/math">
                    <m:r>
                      <a:rPr lang="en-US" b="1" i="1" dirty="0">
                        <a:solidFill>
                          <a:srgbClr val="AD1457"/>
                        </a:solidFill>
                        <a:latin typeface="Cambria Math" panose="02040503050406030204" pitchFamily="18" charset="0"/>
                      </a:rPr>
                      <m:t>≤</m:t>
                    </m:r>
                    <m:r>
                      <a:rPr lang="en-US" b="1" i="1" dirty="0">
                        <a:solidFill>
                          <a:srgbClr val="AD1457"/>
                        </a:solidFill>
                        <a:latin typeface="Cambria Math" panose="02040503050406030204" pitchFamily="18" charset="0"/>
                      </a:rPr>
                      <m:t>𝑾</m:t>
                    </m:r>
                  </m:oMath>
                </a14:m>
                <a:endParaRPr lang="en-US" dirty="0">
                  <a:solidFill>
                    <a:srgbClr val="AD1457"/>
                  </a:solidFill>
                </a:endParaRPr>
              </a:p>
              <a:p>
                <a:pPr marL="0" indent="0">
                  <a:buNone/>
                </a:pPr>
                <a:r>
                  <a:rPr lang="en-US" dirty="0">
                    <a:solidFill>
                      <a:srgbClr val="AD1457"/>
                    </a:solidFill>
                  </a:rPr>
                  <a:t>                         Where</a:t>
                </a:r>
                <a14:m>
                  <m:oMath xmlns:m="http://schemas.openxmlformats.org/officeDocument/2006/math">
                    <m:r>
                      <a:rPr lang="en-US" i="1" dirty="0">
                        <a:solidFill>
                          <a:srgbClr val="AD1457"/>
                        </a:solidFill>
                        <a:latin typeface="Cambria Math" panose="02040503050406030204" pitchFamily="18" charset="0"/>
                      </a:rPr>
                      <m:t>, </m:t>
                    </m:r>
                    <m:sSub>
                      <m:sSubPr>
                        <m:ctrlPr>
                          <a:rPr lang="en-US" i="1" dirty="0">
                            <a:solidFill>
                              <a:srgbClr val="AD1457"/>
                            </a:solidFill>
                            <a:latin typeface="Cambria Math" panose="02040503050406030204" pitchFamily="18" charset="0"/>
                          </a:rPr>
                        </m:ctrlPr>
                      </m:sSubPr>
                      <m:e>
                        <m:r>
                          <a:rPr lang="en-US" i="1" dirty="0">
                            <a:solidFill>
                              <a:srgbClr val="AD1457"/>
                            </a:solidFill>
                            <a:latin typeface="Cambria Math" panose="02040503050406030204" pitchFamily="18" charset="0"/>
                          </a:rPr>
                          <m:t>𝑣</m:t>
                        </m:r>
                      </m:e>
                      <m:sub>
                        <m:r>
                          <a:rPr lang="en-US" i="1" dirty="0">
                            <a:solidFill>
                              <a:srgbClr val="AD1457"/>
                            </a:solidFill>
                            <a:latin typeface="Cambria Math" panose="02040503050406030204" pitchFamily="18" charset="0"/>
                          </a:rPr>
                          <m:t>𝑖</m:t>
                        </m:r>
                      </m:sub>
                    </m:sSub>
                    <m:r>
                      <a:rPr lang="en-US" i="1" dirty="0">
                        <a:solidFill>
                          <a:srgbClr val="AD1457"/>
                        </a:solidFill>
                        <a:latin typeface="Cambria Math" panose="02040503050406030204" pitchFamily="18" charset="0"/>
                      </a:rPr>
                      <m:t>&gt;0</m:t>
                    </m:r>
                  </m:oMath>
                </a14:m>
                <a:r>
                  <a:rPr lang="en-US" dirty="0">
                    <a:solidFill>
                      <a:srgbClr val="AD1457"/>
                    </a:solidFill>
                  </a:rPr>
                  <a:t>, </a:t>
                </a:r>
                <a14:m>
                  <m:oMath xmlns:m="http://schemas.openxmlformats.org/officeDocument/2006/math">
                    <m:r>
                      <a:rPr lang="en-US" i="1" dirty="0">
                        <a:solidFill>
                          <a:srgbClr val="AD1457"/>
                        </a:solidFill>
                        <a:latin typeface="Cambria Math" panose="02040503050406030204" pitchFamily="18" charset="0"/>
                      </a:rPr>
                      <m:t>𝑤</m:t>
                    </m:r>
                    <m:r>
                      <a:rPr lang="en-US" i="1" baseline="-25000" dirty="0" err="1">
                        <a:solidFill>
                          <a:srgbClr val="AD1457"/>
                        </a:solidFill>
                        <a:latin typeface="Cambria Math" panose="02040503050406030204" pitchFamily="18" charset="0"/>
                      </a:rPr>
                      <m:t>𝑖</m:t>
                    </m:r>
                    <m:r>
                      <a:rPr lang="en-US" i="1" dirty="0">
                        <a:solidFill>
                          <a:srgbClr val="AD1457"/>
                        </a:solidFill>
                        <a:latin typeface="Cambria Math" panose="02040503050406030204" pitchFamily="18" charset="0"/>
                      </a:rPr>
                      <m:t>&gt;0 </m:t>
                    </m:r>
                  </m:oMath>
                </a14:m>
                <a:r>
                  <a:rPr lang="en-US" dirty="0">
                    <a:solidFill>
                      <a:srgbClr val="AD1457"/>
                    </a:solidFill>
                  </a:rPr>
                  <a:t>and </a:t>
                </a:r>
                <a14:m>
                  <m:oMath xmlns:m="http://schemas.openxmlformats.org/officeDocument/2006/math">
                    <m:r>
                      <a:rPr lang="en-US" i="1" dirty="0">
                        <a:solidFill>
                          <a:srgbClr val="AD1457"/>
                        </a:solidFill>
                        <a:latin typeface="Cambria Math" panose="02040503050406030204" pitchFamily="18" charset="0"/>
                      </a:rPr>
                      <m:t>0≤</m:t>
                    </m:r>
                    <m:sSub>
                      <m:sSubPr>
                        <m:ctrlPr>
                          <a:rPr lang="en-US" i="1" dirty="0">
                            <a:solidFill>
                              <a:srgbClr val="AD1457"/>
                            </a:solidFill>
                            <a:latin typeface="Cambria Math" panose="02040503050406030204" pitchFamily="18" charset="0"/>
                          </a:rPr>
                        </m:ctrlPr>
                      </m:sSubPr>
                      <m:e>
                        <m:r>
                          <a:rPr lang="en-US" i="1" dirty="0">
                            <a:solidFill>
                              <a:srgbClr val="AD1457"/>
                            </a:solidFill>
                            <a:latin typeface="Cambria Math" panose="02040503050406030204" pitchFamily="18" charset="0"/>
                          </a:rPr>
                          <m:t>𝑥</m:t>
                        </m:r>
                      </m:e>
                      <m:sub>
                        <m:r>
                          <a:rPr lang="en-US" i="1" dirty="0">
                            <a:solidFill>
                              <a:srgbClr val="AD1457"/>
                            </a:solidFill>
                            <a:latin typeface="Cambria Math" panose="02040503050406030204" pitchFamily="18" charset="0"/>
                          </a:rPr>
                          <m:t>𝑖</m:t>
                        </m:r>
                      </m:sub>
                    </m:sSub>
                    <m:r>
                      <a:rPr lang="en-US" i="1" dirty="0">
                        <a:solidFill>
                          <a:srgbClr val="AD1457"/>
                        </a:solidFill>
                        <a:latin typeface="Cambria Math" panose="02040503050406030204" pitchFamily="18" charset="0"/>
                      </a:rPr>
                      <m:t>≤1 </m:t>
                    </m:r>
                  </m:oMath>
                </a14:m>
                <a:r>
                  <a:rPr lang="en-US" dirty="0">
                    <a:solidFill>
                      <a:srgbClr val="AD1457"/>
                    </a:solidFill>
                  </a:rPr>
                  <a:t>for </a:t>
                </a:r>
                <a14:m>
                  <m:oMath xmlns:m="http://schemas.openxmlformats.org/officeDocument/2006/math">
                    <m:r>
                      <a:rPr lang="en-US" i="1" dirty="0">
                        <a:solidFill>
                          <a:srgbClr val="AD1457"/>
                        </a:solidFill>
                        <a:latin typeface="Cambria Math" panose="02040503050406030204" pitchFamily="18" charset="0"/>
                      </a:rPr>
                      <m:t>1≤ </m:t>
                    </m:r>
                    <m:r>
                      <a:rPr lang="en-US" i="1" dirty="0" err="1">
                        <a:solidFill>
                          <a:srgbClr val="AD1457"/>
                        </a:solidFill>
                        <a:latin typeface="Cambria Math" panose="02040503050406030204" pitchFamily="18" charset="0"/>
                      </a:rPr>
                      <m:t>𝑖</m:t>
                    </m:r>
                    <m:r>
                      <a:rPr lang="en-US" i="1" dirty="0">
                        <a:solidFill>
                          <a:srgbClr val="AD1457"/>
                        </a:solidFill>
                        <a:latin typeface="Cambria Math" panose="02040503050406030204" pitchFamily="18" charset="0"/>
                      </a:rPr>
                      <m:t>≤</m:t>
                    </m:r>
                    <m:r>
                      <a:rPr lang="en-US" i="1" dirty="0">
                        <a:solidFill>
                          <a:srgbClr val="AD1457"/>
                        </a:solidFill>
                        <a:latin typeface="Cambria Math" panose="02040503050406030204" pitchFamily="18" charset="0"/>
                      </a:rPr>
                      <m:t>𝑛</m:t>
                    </m:r>
                  </m:oMath>
                </a14:m>
                <a:r>
                  <a:rPr lang="en-US" dirty="0">
                    <a:solidFill>
                      <a:srgbClr val="AD1457"/>
                    </a:solidFill>
                  </a:rPr>
                  <a:t>. </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716" t="-1418" r="-818" b="-6761"/>
                </a:stretch>
              </a:blipFill>
            </p:spPr>
            <p:txBody>
              <a:bodyPr/>
              <a:lstStyle/>
              <a:p>
                <a:r>
                  <a:rPr lang="en-US">
                    <a:noFill/>
                  </a:rPr>
                  <a:t> </a:t>
                </a:r>
              </a:p>
            </p:txBody>
          </p:sp>
        </mc:Fallback>
      </mc:AlternateContent>
    </p:spTree>
    <p:extLst>
      <p:ext uri="{BB962C8B-B14F-4D97-AF65-F5344CB8AC3E}">
        <p14:creationId xmlns:p14="http://schemas.microsoft.com/office/powerpoint/2010/main" val="1747424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par>
                          <p:cTn id="48" fill="hold">
                            <p:stCondLst>
                              <p:cond delay="500"/>
                            </p:stCondLst>
                            <p:childTnLst>
                              <p:par>
                                <p:cTn id="49" presetID="10" presetClass="entr" presetSubtype="0" fill="hold" nodeType="afterEffect">
                                  <p:stCondLst>
                                    <p:cond delay="0"/>
                                  </p:stCondLst>
                                  <p:childTnLst>
                                    <p:set>
                                      <p:cBhvr>
                                        <p:cTn id="50" dur="1" fill="hold">
                                          <p:stCondLst>
                                            <p:cond delay="0"/>
                                          </p:stCondLst>
                                        </p:cTn>
                                        <p:tgtEl>
                                          <p:spTgt spid="3">
                                            <p:txEl>
                                              <p:pRg st="9" end="9"/>
                                            </p:txEl>
                                          </p:spTgt>
                                        </p:tgtEl>
                                        <p:attrNameLst>
                                          <p:attrName>style.visibility</p:attrName>
                                        </p:attrNameLst>
                                      </p:cBhvr>
                                      <p:to>
                                        <p:strVal val="visible"/>
                                      </p:to>
                                    </p:set>
                                    <p:animEffect transition="in" filter="fade">
                                      <p:cBhvr>
                                        <p:cTn id="51"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Fractional Knapsack Problem - 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We are given </a:t>
                </a:r>
                <a14:m>
                  <m:oMath xmlns:m="http://schemas.openxmlformats.org/officeDocument/2006/math">
                    <m:r>
                      <a:rPr lang="en-US" i="1" dirty="0">
                        <a:latin typeface="Cambria Math" panose="02040503050406030204" pitchFamily="18" charset="0"/>
                      </a:rPr>
                      <m:t>5</m:t>
                    </m:r>
                  </m:oMath>
                </a14:m>
                <a:r>
                  <a:rPr lang="en-US" dirty="0"/>
                  <a:t> objects and the weight carrying capacity of knapsack is </a:t>
                </a:r>
                <a14:m>
                  <m:oMath xmlns:m="http://schemas.openxmlformats.org/officeDocument/2006/math">
                    <m:r>
                      <a:rPr lang="en-US" b="1" i="1" dirty="0" smtClean="0">
                        <a:solidFill>
                          <a:srgbClr val="AD1457"/>
                        </a:solidFill>
                        <a:latin typeface="Cambria Math" panose="02040503050406030204" pitchFamily="18" charset="0"/>
                      </a:rPr>
                      <m:t>𝑾</m:t>
                    </m:r>
                    <m:r>
                      <a:rPr lang="en-US" b="1" i="1" dirty="0" smtClean="0">
                        <a:solidFill>
                          <a:srgbClr val="AD1457"/>
                        </a:solidFill>
                        <a:latin typeface="Cambria Math" panose="02040503050406030204" pitchFamily="18" charset="0"/>
                      </a:rPr>
                      <m:t>=</m:t>
                    </m:r>
                    <m:r>
                      <a:rPr lang="en-US" b="1" i="1" dirty="0" smtClean="0">
                        <a:solidFill>
                          <a:srgbClr val="AD1457"/>
                        </a:solidFill>
                        <a:latin typeface="Cambria Math" panose="02040503050406030204" pitchFamily="18" charset="0"/>
                      </a:rPr>
                      <m:t>𝟏𝟎𝟎</m:t>
                    </m:r>
                  </m:oMath>
                </a14:m>
                <a:r>
                  <a:rPr lang="en-US" b="1" dirty="0">
                    <a:solidFill>
                      <a:srgbClr val="AD1457"/>
                    </a:solidFill>
                  </a:rPr>
                  <a:t>.</a:t>
                </a:r>
              </a:p>
              <a:p>
                <a:r>
                  <a:rPr lang="en-US" dirty="0"/>
                  <a:t>For each object, weight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𝑤</m:t>
                        </m:r>
                      </m:e>
                      <m:sub>
                        <m:r>
                          <a:rPr lang="en-US" i="1" dirty="0">
                            <a:latin typeface="Cambria Math" panose="02040503050406030204" pitchFamily="18" charset="0"/>
                          </a:rPr>
                          <m:t>𝑖</m:t>
                        </m:r>
                      </m:sub>
                    </m:sSub>
                  </m:oMath>
                </a14:m>
                <a:r>
                  <a:rPr lang="en-US" dirty="0"/>
                  <a:t> and value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i="1" dirty="0">
                            <a:latin typeface="Cambria Math" panose="02040503050406030204" pitchFamily="18" charset="0"/>
                          </a:rPr>
                          <m:t>𝑖</m:t>
                        </m:r>
                      </m:sub>
                    </m:sSub>
                    <m:r>
                      <a:rPr lang="en-US" i="1" dirty="0">
                        <a:latin typeface="Cambria Math" panose="02040503050406030204" pitchFamily="18" charset="0"/>
                      </a:rPr>
                      <m:t> </m:t>
                    </m:r>
                  </m:oMath>
                </a14:m>
                <a:r>
                  <a:rPr lang="en-US" dirty="0"/>
                  <a:t>are given in the following table.</a:t>
                </a:r>
              </a:p>
              <a:p>
                <a:endParaRPr lang="en-US" dirty="0"/>
              </a:p>
              <a:p>
                <a:endParaRPr lang="en-US" dirty="0"/>
              </a:p>
              <a:p>
                <a:endParaRPr lang="en-US" dirty="0"/>
              </a:p>
              <a:p>
                <a:endParaRPr lang="en-US" dirty="0"/>
              </a:p>
              <a:p>
                <a:r>
                  <a:rPr lang="en-US" dirty="0"/>
                  <a:t>Fill the knapsack with given objects such that the total value of knapsack is </a:t>
                </a:r>
                <a:r>
                  <a:rPr lang="en-US" b="1" dirty="0"/>
                  <a:t>maximized.</a:t>
                </a: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6" t="-14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789330286"/>
                  </p:ext>
                </p:extLst>
              </p:nvPr>
            </p:nvGraphicFramePr>
            <p:xfrm>
              <a:off x="2895600" y="1987969"/>
              <a:ext cx="6400800" cy="1271808"/>
            </p:xfrm>
            <a:graphic>
              <a:graphicData uri="http://schemas.openxmlformats.org/drawingml/2006/table">
                <a:tbl>
                  <a:tblPr firstRow="1" firstCol="1" bandRow="1">
                    <a:tableStyleId>{00A15C55-8517-42AA-B614-E9B94910E393}</a:tableStyleId>
                  </a:tblPr>
                  <a:tblGrid>
                    <a:gridCol w="1295400">
                      <a:extLst>
                        <a:ext uri="{9D8B030D-6E8A-4147-A177-3AD203B41FA5}">
                          <a16:colId xmlns:a16="http://schemas.microsoft.com/office/drawing/2014/main" val="1723877004"/>
                        </a:ext>
                      </a:extLst>
                    </a:gridCol>
                    <a:gridCol w="1003974">
                      <a:extLst>
                        <a:ext uri="{9D8B030D-6E8A-4147-A177-3AD203B41FA5}">
                          <a16:colId xmlns:a16="http://schemas.microsoft.com/office/drawing/2014/main" val="845621035"/>
                        </a:ext>
                      </a:extLst>
                    </a:gridCol>
                    <a:gridCol w="1159098">
                      <a:extLst>
                        <a:ext uri="{9D8B030D-6E8A-4147-A177-3AD203B41FA5}">
                          <a16:colId xmlns:a16="http://schemas.microsoft.com/office/drawing/2014/main" val="3159257064"/>
                        </a:ext>
                      </a:extLst>
                    </a:gridCol>
                    <a:gridCol w="1069938">
                      <a:extLst>
                        <a:ext uri="{9D8B030D-6E8A-4147-A177-3AD203B41FA5}">
                          <a16:colId xmlns:a16="http://schemas.microsoft.com/office/drawing/2014/main" val="1307698233"/>
                        </a:ext>
                      </a:extLst>
                    </a:gridCol>
                    <a:gridCol w="980775">
                      <a:extLst>
                        <a:ext uri="{9D8B030D-6E8A-4147-A177-3AD203B41FA5}">
                          <a16:colId xmlns:a16="http://schemas.microsoft.com/office/drawing/2014/main" val="3571796038"/>
                        </a:ext>
                      </a:extLst>
                    </a:gridCol>
                    <a:gridCol w="891615">
                      <a:extLst>
                        <a:ext uri="{9D8B030D-6E8A-4147-A177-3AD203B41FA5}">
                          <a16:colId xmlns:a16="http://schemas.microsoft.com/office/drawing/2014/main" val="3138893208"/>
                        </a:ext>
                      </a:extLst>
                    </a:gridCol>
                  </a:tblGrid>
                  <a:tr h="423936">
                    <a:tc>
                      <a:txBody>
                        <a:bodyPr/>
                        <a:lstStyle/>
                        <a:p>
                          <a:pPr marL="0" marR="0" algn="just">
                            <a:lnSpc>
                              <a:spcPct val="115000"/>
                            </a:lnSpc>
                            <a:spcBef>
                              <a:spcPts val="0"/>
                            </a:spcBef>
                            <a:spcAft>
                              <a:spcPts val="0"/>
                            </a:spcAft>
                          </a:pPr>
                          <a:r>
                            <a:rPr lang="en-US" sz="2400" dirty="0">
                              <a:solidFill>
                                <a:srgbClr val="C00000"/>
                              </a:solidFill>
                              <a:effectLst/>
                            </a:rPr>
                            <a:t>Object</a:t>
                          </a:r>
                          <a14:m>
                            <m:oMath xmlns:m="http://schemas.openxmlformats.org/officeDocument/2006/math">
                              <m:r>
                                <a:rPr lang="en-US" sz="2400" i="1" dirty="0" smtClean="0">
                                  <a:solidFill>
                                    <a:srgbClr val="C00000"/>
                                  </a:solidFill>
                                  <a:effectLst/>
                                  <a:latin typeface="Cambria Math" panose="02040503050406030204" pitchFamily="18" charset="0"/>
                                </a:rPr>
                                <m:t> </m:t>
                              </m:r>
                              <m:r>
                                <a:rPr lang="en-US" sz="2400" i="1" dirty="0" err="1">
                                  <a:solidFill>
                                    <a:srgbClr val="C00000"/>
                                  </a:solidFill>
                                  <a:effectLst/>
                                  <a:latin typeface="Cambria Math" panose="02040503050406030204" pitchFamily="18" charset="0"/>
                                </a:rPr>
                                <m:t>𝑖</m:t>
                              </m:r>
                            </m:oMath>
                          </a14:m>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solidFill>
                                      <a:srgbClr val="C00000"/>
                                    </a:solidFill>
                                    <a:effectLst/>
                                    <a:latin typeface="Cambria Math" panose="02040503050406030204" pitchFamily="18" charset="0"/>
                                  </a:rPr>
                                  <m:t>1</m:t>
                                </m:r>
                              </m:oMath>
                            </m:oMathPara>
                          </a14:m>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solidFill>
                                      <a:srgbClr val="C00000"/>
                                    </a:solidFill>
                                    <a:effectLst/>
                                    <a:latin typeface="Cambria Math" panose="02040503050406030204" pitchFamily="18" charset="0"/>
                                  </a:rPr>
                                  <m:t>2</m:t>
                                </m:r>
                              </m:oMath>
                            </m:oMathPara>
                          </a14:m>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solidFill>
                                      <a:srgbClr val="C00000"/>
                                    </a:solidFill>
                                    <a:effectLst/>
                                    <a:latin typeface="Cambria Math" panose="02040503050406030204" pitchFamily="18" charset="0"/>
                                  </a:rPr>
                                  <m:t>3</m:t>
                                </m:r>
                              </m:oMath>
                            </m:oMathPara>
                          </a14:m>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smtClean="0">
                                    <a:solidFill>
                                      <a:srgbClr val="C00000"/>
                                    </a:solidFill>
                                    <a:effectLst/>
                                    <a:latin typeface="Cambria Math" panose="02040503050406030204" pitchFamily="18" charset="0"/>
                                  </a:rPr>
                                  <m:t>4</m:t>
                                </m:r>
                              </m:oMath>
                            </m:oMathPara>
                          </a14:m>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solidFill>
                                      <a:srgbClr val="C00000"/>
                                    </a:solidFill>
                                    <a:effectLst/>
                                    <a:latin typeface="Cambria Math" panose="02040503050406030204" pitchFamily="18" charset="0"/>
                                  </a:rPr>
                                  <m:t>5</m:t>
                                </m:r>
                              </m:oMath>
                            </m:oMathPara>
                          </a14:m>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76335145"/>
                      </a:ext>
                    </a:extLst>
                  </a:tr>
                  <a:tr h="423936">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2400" i="1" dirty="0" smtClean="0">
                                        <a:solidFill>
                                          <a:srgbClr val="C00000"/>
                                        </a:solidFill>
                                        <a:latin typeface="Cambria Math" panose="02040503050406030204" pitchFamily="18" charset="0"/>
                                      </a:rPr>
                                    </m:ctrlPr>
                                  </m:sSubPr>
                                  <m:e>
                                    <m:r>
                                      <a:rPr lang="en-US" sz="2400" b="0" i="1" dirty="0" smtClean="0">
                                        <a:solidFill>
                                          <a:srgbClr val="C00000"/>
                                        </a:solidFill>
                                        <a:latin typeface="Cambria Math" panose="02040503050406030204" pitchFamily="18" charset="0"/>
                                      </a:rPr>
                                      <m:t>𝑣</m:t>
                                    </m:r>
                                  </m:e>
                                  <m:sub>
                                    <m:r>
                                      <a:rPr lang="en-US" sz="2400" b="0" i="1" dirty="0" smtClean="0">
                                        <a:solidFill>
                                          <a:srgbClr val="C00000"/>
                                        </a:solidFill>
                                        <a:latin typeface="Cambria Math" panose="02040503050406030204" pitchFamily="18" charset="0"/>
                                      </a:rPr>
                                      <m:t>𝑖</m:t>
                                    </m:r>
                                  </m:sub>
                                </m:sSub>
                              </m:oMath>
                            </m:oMathPara>
                          </a14:m>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effectLst/>
                                    <a:latin typeface="Cambria Math" panose="02040503050406030204" pitchFamily="18" charset="0"/>
                                  </a:rPr>
                                  <m:t>20</m:t>
                                </m:r>
                              </m:oMath>
                            </m:oMathPara>
                          </a14:m>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effectLst/>
                                    <a:latin typeface="Cambria Math" panose="02040503050406030204" pitchFamily="18" charset="0"/>
                                  </a:rPr>
                                  <m:t>30</m:t>
                                </m:r>
                              </m:oMath>
                            </m:oMathPara>
                          </a14:m>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effectLst/>
                                    <a:latin typeface="Cambria Math" panose="02040503050406030204" pitchFamily="18" charset="0"/>
                                  </a:rPr>
                                  <m:t>66</m:t>
                                </m:r>
                              </m:oMath>
                            </m:oMathPara>
                          </a14:m>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effectLst/>
                                    <a:latin typeface="Cambria Math" panose="02040503050406030204" pitchFamily="18" charset="0"/>
                                  </a:rPr>
                                  <m:t>40</m:t>
                                </m:r>
                              </m:oMath>
                            </m:oMathPara>
                          </a14:m>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effectLst/>
                                    <a:latin typeface="Cambria Math" panose="02040503050406030204" pitchFamily="18" charset="0"/>
                                  </a:rPr>
                                  <m:t>60</m:t>
                                </m:r>
                              </m:oMath>
                            </m:oMathPara>
                          </a14:m>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8203117"/>
                      </a:ext>
                    </a:extLst>
                  </a:tr>
                  <a:tr h="423936">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2400" i="1" dirty="0" smtClean="0">
                                        <a:solidFill>
                                          <a:srgbClr val="C00000"/>
                                        </a:solidFill>
                                        <a:latin typeface="Cambria Math" panose="02040503050406030204" pitchFamily="18" charset="0"/>
                                      </a:rPr>
                                    </m:ctrlPr>
                                  </m:sSubPr>
                                  <m:e>
                                    <m:r>
                                      <a:rPr lang="en-US" sz="2400" b="0" i="1" dirty="0" smtClean="0">
                                        <a:solidFill>
                                          <a:srgbClr val="C00000"/>
                                        </a:solidFill>
                                        <a:latin typeface="Cambria Math" panose="02040503050406030204" pitchFamily="18" charset="0"/>
                                      </a:rPr>
                                      <m:t>𝑤</m:t>
                                    </m:r>
                                  </m:e>
                                  <m:sub>
                                    <m:r>
                                      <a:rPr lang="en-US" sz="2400" b="0" i="1" dirty="0" smtClean="0">
                                        <a:solidFill>
                                          <a:srgbClr val="C00000"/>
                                        </a:solidFill>
                                        <a:latin typeface="Cambria Math" panose="02040503050406030204" pitchFamily="18" charset="0"/>
                                      </a:rPr>
                                      <m:t>𝑖</m:t>
                                    </m:r>
                                  </m:sub>
                                </m:sSub>
                              </m:oMath>
                            </m:oMathPara>
                          </a14:m>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effectLst/>
                                    <a:latin typeface="Cambria Math" panose="02040503050406030204" pitchFamily="18" charset="0"/>
                                  </a:rPr>
                                  <m:t>10</m:t>
                                </m:r>
                              </m:oMath>
                            </m:oMathPara>
                          </a14:m>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effectLst/>
                                    <a:latin typeface="Cambria Math" panose="02040503050406030204" pitchFamily="18" charset="0"/>
                                  </a:rPr>
                                  <m:t>20</m:t>
                                </m:r>
                              </m:oMath>
                            </m:oMathPara>
                          </a14:m>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effectLst/>
                                    <a:latin typeface="Cambria Math" panose="02040503050406030204" pitchFamily="18" charset="0"/>
                                  </a:rPr>
                                  <m:t>30</m:t>
                                </m:r>
                              </m:oMath>
                            </m:oMathPara>
                          </a14:m>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effectLst/>
                                    <a:latin typeface="Cambria Math" panose="02040503050406030204" pitchFamily="18" charset="0"/>
                                  </a:rPr>
                                  <m:t>40</m:t>
                                </m:r>
                              </m:oMath>
                            </m:oMathPara>
                          </a14:m>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effectLst/>
                                    <a:latin typeface="Cambria Math" panose="02040503050406030204" pitchFamily="18" charset="0"/>
                                  </a:rPr>
                                  <m:t>50</m:t>
                                </m:r>
                              </m:oMath>
                            </m:oMathPara>
                          </a14:m>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7901905"/>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789330286"/>
                  </p:ext>
                </p:extLst>
              </p:nvPr>
            </p:nvGraphicFramePr>
            <p:xfrm>
              <a:off x="2895600" y="1987969"/>
              <a:ext cx="6400800" cy="1271808"/>
            </p:xfrm>
            <a:graphic>
              <a:graphicData uri="http://schemas.openxmlformats.org/drawingml/2006/table">
                <a:tbl>
                  <a:tblPr firstRow="1" firstCol="1" bandRow="1">
                    <a:tableStyleId>{00A15C55-8517-42AA-B614-E9B94910E393}</a:tableStyleId>
                  </a:tblPr>
                  <a:tblGrid>
                    <a:gridCol w="1295400">
                      <a:extLst>
                        <a:ext uri="{9D8B030D-6E8A-4147-A177-3AD203B41FA5}">
                          <a16:colId xmlns:a16="http://schemas.microsoft.com/office/drawing/2014/main" val="1723877004"/>
                        </a:ext>
                      </a:extLst>
                    </a:gridCol>
                    <a:gridCol w="1003974">
                      <a:extLst>
                        <a:ext uri="{9D8B030D-6E8A-4147-A177-3AD203B41FA5}">
                          <a16:colId xmlns:a16="http://schemas.microsoft.com/office/drawing/2014/main" val="845621035"/>
                        </a:ext>
                      </a:extLst>
                    </a:gridCol>
                    <a:gridCol w="1159098">
                      <a:extLst>
                        <a:ext uri="{9D8B030D-6E8A-4147-A177-3AD203B41FA5}">
                          <a16:colId xmlns:a16="http://schemas.microsoft.com/office/drawing/2014/main" val="3159257064"/>
                        </a:ext>
                      </a:extLst>
                    </a:gridCol>
                    <a:gridCol w="1069938">
                      <a:extLst>
                        <a:ext uri="{9D8B030D-6E8A-4147-A177-3AD203B41FA5}">
                          <a16:colId xmlns:a16="http://schemas.microsoft.com/office/drawing/2014/main" val="1307698233"/>
                        </a:ext>
                      </a:extLst>
                    </a:gridCol>
                    <a:gridCol w="980775">
                      <a:extLst>
                        <a:ext uri="{9D8B030D-6E8A-4147-A177-3AD203B41FA5}">
                          <a16:colId xmlns:a16="http://schemas.microsoft.com/office/drawing/2014/main" val="3571796038"/>
                        </a:ext>
                      </a:extLst>
                    </a:gridCol>
                    <a:gridCol w="891615">
                      <a:extLst>
                        <a:ext uri="{9D8B030D-6E8A-4147-A177-3AD203B41FA5}">
                          <a16:colId xmlns:a16="http://schemas.microsoft.com/office/drawing/2014/main" val="3138893208"/>
                        </a:ext>
                      </a:extLst>
                    </a:gridCol>
                  </a:tblGrid>
                  <a:tr h="423936">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39" t="-14286" r="-394366" b="-201429"/>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31098" t="-14286" r="-412195" b="-201429"/>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9474" t="-14286" r="-255789" b="-201429"/>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23295" t="-14286" r="-176136" b="-201429"/>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62733" t="-14286" r="-92547" b="-201429"/>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20548" t="-14286" r="-2055" b="-201429"/>
                          </a:stretch>
                        </a:blipFill>
                      </a:tcPr>
                    </a:tc>
                    <a:extLst>
                      <a:ext uri="{0D108BD9-81ED-4DB2-BD59-A6C34878D82A}">
                        <a16:rowId xmlns:a16="http://schemas.microsoft.com/office/drawing/2014/main" val="3376335145"/>
                      </a:ext>
                    </a:extLst>
                  </a:tr>
                  <a:tr h="423936">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39" t="-115942" r="-394366" b="-104348"/>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31098" t="-115942" r="-412195" b="-104348"/>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9474" t="-115942" r="-255789" b="-104348"/>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23295" t="-115942" r="-176136" b="-104348"/>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62733" t="-115942" r="-92547" b="-104348"/>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20548" t="-115942" r="-2055" b="-104348"/>
                          </a:stretch>
                        </a:blipFill>
                      </a:tcPr>
                    </a:tc>
                    <a:extLst>
                      <a:ext uri="{0D108BD9-81ED-4DB2-BD59-A6C34878D82A}">
                        <a16:rowId xmlns:a16="http://schemas.microsoft.com/office/drawing/2014/main" val="458203117"/>
                      </a:ext>
                    </a:extLst>
                  </a:tr>
                  <a:tr h="423936">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39" t="-212857" r="-394366" b="-2857"/>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31098" t="-212857" r="-412195" b="-2857"/>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99474" t="-212857" r="-255789" b="-2857"/>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23295" t="-212857" r="-176136" b="-2857"/>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62733" t="-212857" r="-92547" b="-2857"/>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20548" t="-212857" r="-2055" b="-2857"/>
                          </a:stretch>
                        </a:blipFill>
                      </a:tcPr>
                    </a:tc>
                    <a:extLst>
                      <a:ext uri="{0D108BD9-81ED-4DB2-BD59-A6C34878D82A}">
                        <a16:rowId xmlns:a16="http://schemas.microsoft.com/office/drawing/2014/main" val="2477901905"/>
                      </a:ext>
                    </a:extLst>
                  </a:tr>
                </a:tbl>
              </a:graphicData>
            </a:graphic>
          </p:graphicFrame>
        </mc:Fallback>
      </mc:AlternateContent>
    </p:spTree>
    <p:extLst>
      <p:ext uri="{BB962C8B-B14F-4D97-AF65-F5344CB8AC3E}">
        <p14:creationId xmlns:p14="http://schemas.microsoft.com/office/powerpoint/2010/main" val="230863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Fractional Knapsack Problem - Greedy Solution</a:t>
            </a:r>
          </a:p>
        </p:txBody>
      </p:sp>
      <p:sp>
        <p:nvSpPr>
          <p:cNvPr id="3" name="Content Placeholder 2"/>
          <p:cNvSpPr>
            <a:spLocks noGrp="1"/>
          </p:cNvSpPr>
          <p:nvPr>
            <p:ph idx="1"/>
          </p:nvPr>
        </p:nvSpPr>
        <p:spPr/>
        <p:txBody>
          <a:bodyPr/>
          <a:lstStyle/>
          <a:p>
            <a:r>
              <a:rPr lang="en-US" dirty="0"/>
              <a:t>Three </a:t>
            </a:r>
            <a:r>
              <a:rPr lang="en-US" dirty="0">
                <a:solidFill>
                  <a:srgbClr val="AD1457"/>
                </a:solidFill>
              </a:rPr>
              <a:t>Selection Functions </a:t>
            </a:r>
            <a:r>
              <a:rPr lang="en-US" dirty="0"/>
              <a:t>can be defined as,</a:t>
            </a:r>
          </a:p>
          <a:p>
            <a:pPr marL="857250" lvl="1" indent="-457200">
              <a:buFont typeface="+mj-lt"/>
              <a:buAutoNum type="arabicPeriod"/>
            </a:pPr>
            <a:r>
              <a:rPr lang="en-US" dirty="0"/>
              <a:t>Sort the items in </a:t>
            </a:r>
            <a:r>
              <a:rPr lang="en-US" b="1" dirty="0"/>
              <a:t>descending order of their values </a:t>
            </a:r>
            <a:r>
              <a:rPr lang="en-US" dirty="0"/>
              <a:t>and select the items till weight criteria is satisfied.</a:t>
            </a:r>
          </a:p>
          <a:p>
            <a:pPr marL="857250" lvl="1" indent="-457200">
              <a:buFont typeface="+mj-lt"/>
              <a:buAutoNum type="arabicPeriod"/>
            </a:pPr>
            <a:r>
              <a:rPr lang="en-US" dirty="0"/>
              <a:t>Sort the items in </a:t>
            </a:r>
            <a:r>
              <a:rPr lang="en-US" b="1" dirty="0"/>
              <a:t>ascending order of their weight </a:t>
            </a:r>
            <a:r>
              <a:rPr lang="en-US" dirty="0"/>
              <a:t>and select the items till weight criteria is satisfied.</a:t>
            </a:r>
          </a:p>
          <a:p>
            <a:pPr marL="857250" lvl="1" indent="-457200">
              <a:buFont typeface="+mj-lt"/>
              <a:buAutoNum type="arabicPeriod"/>
            </a:pPr>
            <a:r>
              <a:rPr lang="en-US" dirty="0"/>
              <a:t>To calculate the </a:t>
            </a:r>
            <a:r>
              <a:rPr lang="en-US" b="1" dirty="0"/>
              <a:t>ratio value/weight </a:t>
            </a:r>
            <a:r>
              <a:rPr lang="en-US" dirty="0"/>
              <a:t>for each item and sort the item on basis of this ratio. Then take the item with the highest ratio and add it. </a:t>
            </a:r>
          </a:p>
          <a:p>
            <a:endParaRPr lang="en-US" dirty="0"/>
          </a:p>
        </p:txBody>
      </p:sp>
    </p:spTree>
    <p:extLst>
      <p:ext uri="{BB962C8B-B14F-4D97-AF65-F5344CB8AC3E}">
        <p14:creationId xmlns:p14="http://schemas.microsoft.com/office/powerpoint/2010/main" val="822978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Fractional Knapsack Problem - Greedy Solution</a:t>
            </a: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1719045899"/>
                  </p:ext>
                </p:extLst>
              </p:nvPr>
            </p:nvGraphicFramePr>
            <p:xfrm>
              <a:off x="2048492" y="844729"/>
              <a:ext cx="6400800" cy="2081859"/>
            </p:xfrm>
            <a:graphic>
              <a:graphicData uri="http://schemas.openxmlformats.org/drawingml/2006/table">
                <a:tbl>
                  <a:tblPr firstRow="1" firstCol="1" bandRow="1">
                    <a:tableStyleId>{00A15C55-8517-42AA-B614-E9B94910E393}</a:tableStyleId>
                  </a:tblPr>
                  <a:tblGrid>
                    <a:gridCol w="1295400">
                      <a:extLst>
                        <a:ext uri="{9D8B030D-6E8A-4147-A177-3AD203B41FA5}">
                          <a16:colId xmlns:a16="http://schemas.microsoft.com/office/drawing/2014/main" val="1723877004"/>
                        </a:ext>
                      </a:extLst>
                    </a:gridCol>
                    <a:gridCol w="1003974">
                      <a:extLst>
                        <a:ext uri="{9D8B030D-6E8A-4147-A177-3AD203B41FA5}">
                          <a16:colId xmlns:a16="http://schemas.microsoft.com/office/drawing/2014/main" val="845621035"/>
                        </a:ext>
                      </a:extLst>
                    </a:gridCol>
                    <a:gridCol w="1159098">
                      <a:extLst>
                        <a:ext uri="{9D8B030D-6E8A-4147-A177-3AD203B41FA5}">
                          <a16:colId xmlns:a16="http://schemas.microsoft.com/office/drawing/2014/main" val="3159257064"/>
                        </a:ext>
                      </a:extLst>
                    </a:gridCol>
                    <a:gridCol w="1069938">
                      <a:extLst>
                        <a:ext uri="{9D8B030D-6E8A-4147-A177-3AD203B41FA5}">
                          <a16:colId xmlns:a16="http://schemas.microsoft.com/office/drawing/2014/main" val="1307698233"/>
                        </a:ext>
                      </a:extLst>
                    </a:gridCol>
                    <a:gridCol w="980775">
                      <a:extLst>
                        <a:ext uri="{9D8B030D-6E8A-4147-A177-3AD203B41FA5}">
                          <a16:colId xmlns:a16="http://schemas.microsoft.com/office/drawing/2014/main" val="3571796038"/>
                        </a:ext>
                      </a:extLst>
                    </a:gridCol>
                    <a:gridCol w="891615">
                      <a:extLst>
                        <a:ext uri="{9D8B030D-6E8A-4147-A177-3AD203B41FA5}">
                          <a16:colId xmlns:a16="http://schemas.microsoft.com/office/drawing/2014/main" val="3138893208"/>
                        </a:ext>
                      </a:extLst>
                    </a:gridCol>
                  </a:tblGrid>
                  <a:tr h="423936">
                    <a:tc>
                      <a:txBody>
                        <a:bodyPr/>
                        <a:lstStyle/>
                        <a:p>
                          <a:pPr marL="0" marR="0" algn="just">
                            <a:lnSpc>
                              <a:spcPct val="115000"/>
                            </a:lnSpc>
                            <a:spcBef>
                              <a:spcPts val="0"/>
                            </a:spcBef>
                            <a:spcAft>
                              <a:spcPts val="0"/>
                            </a:spcAft>
                          </a:pPr>
                          <a:r>
                            <a:rPr lang="en-US" sz="2400" dirty="0">
                              <a:solidFill>
                                <a:srgbClr val="C00000"/>
                              </a:solidFill>
                              <a:effectLst/>
                            </a:rPr>
                            <a:t>Object</a:t>
                          </a:r>
                          <a14:m>
                            <m:oMath xmlns:m="http://schemas.openxmlformats.org/officeDocument/2006/math">
                              <m:r>
                                <a:rPr lang="en-US" sz="2400" i="1" dirty="0" smtClean="0">
                                  <a:solidFill>
                                    <a:srgbClr val="C00000"/>
                                  </a:solidFill>
                                  <a:effectLst/>
                                  <a:latin typeface="Cambria Math" panose="02040503050406030204" pitchFamily="18" charset="0"/>
                                </a:rPr>
                                <m:t> </m:t>
                              </m:r>
                              <m:r>
                                <a:rPr lang="en-US" sz="2400" i="1" dirty="0" err="1">
                                  <a:solidFill>
                                    <a:srgbClr val="C00000"/>
                                  </a:solidFill>
                                  <a:effectLst/>
                                  <a:latin typeface="Cambria Math" panose="02040503050406030204" pitchFamily="18" charset="0"/>
                                </a:rPr>
                                <m:t>𝑖</m:t>
                              </m:r>
                            </m:oMath>
                          </a14:m>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solidFill>
                                      <a:srgbClr val="C00000"/>
                                    </a:solidFill>
                                    <a:effectLst/>
                                    <a:latin typeface="Cambria Math" panose="02040503050406030204" pitchFamily="18" charset="0"/>
                                  </a:rPr>
                                  <m:t>1</m:t>
                                </m:r>
                              </m:oMath>
                            </m:oMathPara>
                          </a14:m>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solidFill>
                                      <a:srgbClr val="C00000"/>
                                    </a:solidFill>
                                    <a:effectLst/>
                                    <a:latin typeface="Cambria Math" panose="02040503050406030204" pitchFamily="18" charset="0"/>
                                  </a:rPr>
                                  <m:t>2</m:t>
                                </m:r>
                              </m:oMath>
                            </m:oMathPara>
                          </a14:m>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solidFill>
                                      <a:srgbClr val="C00000"/>
                                    </a:solidFill>
                                    <a:effectLst/>
                                    <a:latin typeface="Cambria Math" panose="02040503050406030204" pitchFamily="18" charset="0"/>
                                  </a:rPr>
                                  <m:t>3</m:t>
                                </m:r>
                              </m:oMath>
                            </m:oMathPara>
                          </a14:m>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smtClean="0">
                                    <a:solidFill>
                                      <a:srgbClr val="C00000"/>
                                    </a:solidFill>
                                    <a:effectLst/>
                                    <a:latin typeface="Cambria Math" panose="02040503050406030204" pitchFamily="18" charset="0"/>
                                  </a:rPr>
                                  <m:t>4</m:t>
                                </m:r>
                              </m:oMath>
                            </m:oMathPara>
                          </a14:m>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solidFill>
                                      <a:srgbClr val="C00000"/>
                                    </a:solidFill>
                                    <a:effectLst/>
                                    <a:latin typeface="Cambria Math" panose="02040503050406030204" pitchFamily="18" charset="0"/>
                                  </a:rPr>
                                  <m:t>5</m:t>
                                </m:r>
                              </m:oMath>
                            </m:oMathPara>
                          </a14:m>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376335145"/>
                      </a:ext>
                    </a:extLst>
                  </a:tr>
                  <a:tr h="552641">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2400" i="1" dirty="0" smtClean="0">
                                        <a:solidFill>
                                          <a:srgbClr val="C00000"/>
                                        </a:solidFill>
                                        <a:latin typeface="Cambria Math" panose="02040503050406030204" pitchFamily="18" charset="0"/>
                                      </a:rPr>
                                    </m:ctrlPr>
                                  </m:sSubPr>
                                  <m:e>
                                    <m:r>
                                      <a:rPr lang="en-US" sz="2400" b="0" i="1" dirty="0" smtClean="0">
                                        <a:solidFill>
                                          <a:srgbClr val="C00000"/>
                                        </a:solidFill>
                                        <a:latin typeface="Cambria Math" panose="02040503050406030204" pitchFamily="18" charset="0"/>
                                      </a:rPr>
                                      <m:t>𝑣</m:t>
                                    </m:r>
                                  </m:e>
                                  <m:sub>
                                    <m:r>
                                      <a:rPr lang="en-US" sz="2400" b="0" i="1" dirty="0" smtClean="0">
                                        <a:solidFill>
                                          <a:srgbClr val="C00000"/>
                                        </a:solidFill>
                                        <a:latin typeface="Cambria Math" panose="02040503050406030204" pitchFamily="18" charset="0"/>
                                      </a:rPr>
                                      <m:t>𝑖</m:t>
                                    </m:r>
                                  </m:sub>
                                </m:sSub>
                              </m:oMath>
                            </m:oMathPara>
                          </a14:m>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effectLst/>
                                    <a:latin typeface="Cambria Math" panose="02040503050406030204" pitchFamily="18" charset="0"/>
                                  </a:rPr>
                                  <m:t>20</m:t>
                                </m:r>
                              </m:oMath>
                            </m:oMathPara>
                          </a14:m>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effectLst/>
                                    <a:latin typeface="Cambria Math" panose="02040503050406030204" pitchFamily="18" charset="0"/>
                                  </a:rPr>
                                  <m:t>30</m:t>
                                </m:r>
                              </m:oMath>
                            </m:oMathPara>
                          </a14:m>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effectLst/>
                                    <a:latin typeface="Cambria Math" panose="02040503050406030204" pitchFamily="18" charset="0"/>
                                  </a:rPr>
                                  <m:t>66</m:t>
                                </m:r>
                              </m:oMath>
                            </m:oMathPara>
                          </a14:m>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effectLst/>
                                    <a:latin typeface="Cambria Math" panose="02040503050406030204" pitchFamily="18" charset="0"/>
                                  </a:rPr>
                                  <m:t>40</m:t>
                                </m:r>
                              </m:oMath>
                            </m:oMathPara>
                          </a14:m>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effectLst/>
                                    <a:latin typeface="Cambria Math" panose="02040503050406030204" pitchFamily="18" charset="0"/>
                                  </a:rPr>
                                  <m:t>60</m:t>
                                </m:r>
                              </m:oMath>
                            </m:oMathPara>
                          </a14:m>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8203117"/>
                      </a:ext>
                    </a:extLst>
                  </a:tr>
                  <a:tr h="552641">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2400" i="1" dirty="0" smtClean="0">
                                        <a:solidFill>
                                          <a:srgbClr val="C00000"/>
                                        </a:solidFill>
                                        <a:latin typeface="Cambria Math" panose="02040503050406030204" pitchFamily="18" charset="0"/>
                                      </a:rPr>
                                    </m:ctrlPr>
                                  </m:sSubPr>
                                  <m:e>
                                    <m:r>
                                      <a:rPr lang="en-US" sz="2400" b="0" i="1" dirty="0" smtClean="0">
                                        <a:solidFill>
                                          <a:srgbClr val="C00000"/>
                                        </a:solidFill>
                                        <a:latin typeface="Cambria Math" panose="02040503050406030204" pitchFamily="18" charset="0"/>
                                      </a:rPr>
                                      <m:t>𝑤</m:t>
                                    </m:r>
                                  </m:e>
                                  <m:sub>
                                    <m:r>
                                      <a:rPr lang="en-US" sz="2400" b="0" i="1" dirty="0" smtClean="0">
                                        <a:solidFill>
                                          <a:srgbClr val="C00000"/>
                                        </a:solidFill>
                                        <a:latin typeface="Cambria Math" panose="02040503050406030204" pitchFamily="18" charset="0"/>
                                      </a:rPr>
                                      <m:t>𝑖</m:t>
                                    </m:r>
                                  </m:sub>
                                </m:sSub>
                              </m:oMath>
                            </m:oMathPara>
                          </a14:m>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effectLst/>
                                    <a:latin typeface="Cambria Math" panose="02040503050406030204" pitchFamily="18" charset="0"/>
                                  </a:rPr>
                                  <m:t>10</m:t>
                                </m:r>
                              </m:oMath>
                            </m:oMathPara>
                          </a14:m>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effectLst/>
                                    <a:latin typeface="Cambria Math" panose="02040503050406030204" pitchFamily="18" charset="0"/>
                                  </a:rPr>
                                  <m:t>20</m:t>
                                </m:r>
                              </m:oMath>
                            </m:oMathPara>
                          </a14:m>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effectLst/>
                                    <a:latin typeface="Cambria Math" panose="02040503050406030204" pitchFamily="18" charset="0"/>
                                  </a:rPr>
                                  <m:t>30</m:t>
                                </m:r>
                              </m:oMath>
                            </m:oMathPara>
                          </a14:m>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effectLst/>
                                    <a:latin typeface="Cambria Math" panose="02040503050406030204" pitchFamily="18" charset="0"/>
                                  </a:rPr>
                                  <m:t>40</m:t>
                                </m:r>
                              </m:oMath>
                            </m:oMathPara>
                          </a14:m>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i="1" dirty="0" smtClean="0">
                                    <a:effectLst/>
                                    <a:latin typeface="Cambria Math" panose="02040503050406030204" pitchFamily="18" charset="0"/>
                                  </a:rPr>
                                  <m:t>50</m:t>
                                </m:r>
                              </m:oMath>
                            </m:oMathPara>
                          </a14:m>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7901905"/>
                      </a:ext>
                    </a:extLst>
                  </a:tr>
                  <a:tr h="552641">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f>
                                  <m:fPr>
                                    <m:type m:val="skw"/>
                                    <m:ctrlPr>
                                      <a:rPr lang="en-US" sz="2400" i="1" smtClean="0">
                                        <a:solidFill>
                                          <a:srgbClr val="C00000"/>
                                        </a:solidFill>
                                        <a:effectLst/>
                                        <a:latin typeface="Cambria Math" panose="02040503050406030204" pitchFamily="18" charset="0"/>
                                        <a:cs typeface="Shruti" panose="020B0502040204020203" pitchFamily="34" charset="0"/>
                                      </a:rPr>
                                    </m:ctrlPr>
                                  </m:fPr>
                                  <m:num>
                                    <m:sSub>
                                      <m:sSubPr>
                                        <m:ctrlPr>
                                          <a:rPr lang="en-US" sz="2400" i="1" dirty="0" smtClean="0">
                                            <a:solidFill>
                                              <a:srgbClr val="C00000"/>
                                            </a:solidFill>
                                            <a:latin typeface="Cambria Math" panose="02040503050406030204" pitchFamily="18" charset="0"/>
                                          </a:rPr>
                                        </m:ctrlPr>
                                      </m:sSubPr>
                                      <m:e>
                                        <m:r>
                                          <a:rPr lang="en-US" sz="2400" b="0" i="1" dirty="0" smtClean="0">
                                            <a:solidFill>
                                              <a:srgbClr val="C00000"/>
                                            </a:solidFill>
                                            <a:latin typeface="Cambria Math" panose="02040503050406030204" pitchFamily="18" charset="0"/>
                                          </a:rPr>
                                          <m:t>𝑣</m:t>
                                        </m:r>
                                      </m:e>
                                      <m:sub>
                                        <m:r>
                                          <a:rPr lang="en-US" sz="2400" b="0" i="1" dirty="0" smtClean="0">
                                            <a:solidFill>
                                              <a:srgbClr val="C00000"/>
                                            </a:solidFill>
                                            <a:latin typeface="Cambria Math" panose="02040503050406030204" pitchFamily="18" charset="0"/>
                                          </a:rPr>
                                          <m:t>𝑖</m:t>
                                        </m:r>
                                      </m:sub>
                                    </m:sSub>
                                  </m:num>
                                  <m:den>
                                    <m:sSub>
                                      <m:sSubPr>
                                        <m:ctrlPr>
                                          <a:rPr lang="en-US" sz="2400" i="1" dirty="0" smtClean="0">
                                            <a:solidFill>
                                              <a:srgbClr val="C00000"/>
                                            </a:solidFill>
                                            <a:latin typeface="Cambria Math" panose="02040503050406030204" pitchFamily="18" charset="0"/>
                                          </a:rPr>
                                        </m:ctrlPr>
                                      </m:sSubPr>
                                      <m:e>
                                        <m:r>
                                          <a:rPr lang="en-US" sz="2400" b="0" i="1" dirty="0" smtClean="0">
                                            <a:solidFill>
                                              <a:srgbClr val="C00000"/>
                                            </a:solidFill>
                                            <a:latin typeface="Cambria Math" panose="02040503050406030204" pitchFamily="18" charset="0"/>
                                          </a:rPr>
                                          <m:t>𝑤</m:t>
                                        </m:r>
                                      </m:e>
                                      <m:sub>
                                        <m:r>
                                          <a:rPr lang="en-US" sz="2400" b="0" i="1" dirty="0" smtClean="0">
                                            <a:solidFill>
                                              <a:srgbClr val="C00000"/>
                                            </a:solidFill>
                                            <a:latin typeface="Cambria Math" panose="02040503050406030204" pitchFamily="18" charset="0"/>
                                          </a:rPr>
                                          <m:t>𝑖</m:t>
                                        </m:r>
                                      </m:sub>
                                    </m:sSub>
                                  </m:den>
                                </m:f>
                              </m:oMath>
                            </m:oMathPara>
                          </a14:m>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2.0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1.5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2.2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1.0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1.2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2010018"/>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1719045899"/>
                  </p:ext>
                </p:extLst>
              </p:nvPr>
            </p:nvGraphicFramePr>
            <p:xfrm>
              <a:off x="2048492" y="844729"/>
              <a:ext cx="6400800" cy="2081859"/>
            </p:xfrm>
            <a:graphic>
              <a:graphicData uri="http://schemas.openxmlformats.org/drawingml/2006/table">
                <a:tbl>
                  <a:tblPr firstRow="1" firstCol="1" bandRow="1">
                    <a:tableStyleId>{00A15C55-8517-42AA-B614-E9B94910E393}</a:tableStyleId>
                  </a:tblPr>
                  <a:tblGrid>
                    <a:gridCol w="1295400">
                      <a:extLst>
                        <a:ext uri="{9D8B030D-6E8A-4147-A177-3AD203B41FA5}">
                          <a16:colId xmlns:a16="http://schemas.microsoft.com/office/drawing/2014/main" val="1723877004"/>
                        </a:ext>
                      </a:extLst>
                    </a:gridCol>
                    <a:gridCol w="1003974">
                      <a:extLst>
                        <a:ext uri="{9D8B030D-6E8A-4147-A177-3AD203B41FA5}">
                          <a16:colId xmlns:a16="http://schemas.microsoft.com/office/drawing/2014/main" val="845621035"/>
                        </a:ext>
                      </a:extLst>
                    </a:gridCol>
                    <a:gridCol w="1159098">
                      <a:extLst>
                        <a:ext uri="{9D8B030D-6E8A-4147-A177-3AD203B41FA5}">
                          <a16:colId xmlns:a16="http://schemas.microsoft.com/office/drawing/2014/main" val="3159257064"/>
                        </a:ext>
                      </a:extLst>
                    </a:gridCol>
                    <a:gridCol w="1069938">
                      <a:extLst>
                        <a:ext uri="{9D8B030D-6E8A-4147-A177-3AD203B41FA5}">
                          <a16:colId xmlns:a16="http://schemas.microsoft.com/office/drawing/2014/main" val="1307698233"/>
                        </a:ext>
                      </a:extLst>
                    </a:gridCol>
                    <a:gridCol w="980775">
                      <a:extLst>
                        <a:ext uri="{9D8B030D-6E8A-4147-A177-3AD203B41FA5}">
                          <a16:colId xmlns:a16="http://schemas.microsoft.com/office/drawing/2014/main" val="3571796038"/>
                        </a:ext>
                      </a:extLst>
                    </a:gridCol>
                    <a:gridCol w="891615">
                      <a:extLst>
                        <a:ext uri="{9D8B030D-6E8A-4147-A177-3AD203B41FA5}">
                          <a16:colId xmlns:a16="http://schemas.microsoft.com/office/drawing/2014/main" val="3138893208"/>
                        </a:ext>
                      </a:extLst>
                    </a:gridCol>
                  </a:tblGrid>
                  <a:tr h="423936">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39" t="-14286" r="-394366" b="-411429"/>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30303" t="-14286" r="-409091" b="-411429"/>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000" t="-14286" r="-255263" b="-411429"/>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23864" t="-14286" r="-175568" b="-411429"/>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63354" t="-14286" r="-91925" b="-411429"/>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21233" t="-14286" r="-1370" b="-411429"/>
                          </a:stretch>
                        </a:blipFill>
                      </a:tcPr>
                    </a:tc>
                    <a:extLst>
                      <a:ext uri="{0D108BD9-81ED-4DB2-BD59-A6C34878D82A}">
                        <a16:rowId xmlns:a16="http://schemas.microsoft.com/office/drawing/2014/main" val="3376335145"/>
                      </a:ext>
                    </a:extLst>
                  </a:tr>
                  <a:tr h="552641">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39" t="-87912" r="-394366" b="-216484"/>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30303" t="-87912" r="-409091" b="-216484"/>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000" t="-87912" r="-255263" b="-216484"/>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23864" t="-87912" r="-175568" b="-216484"/>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63354" t="-87912" r="-91925" b="-216484"/>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21233" t="-87912" r="-1370" b="-216484"/>
                          </a:stretch>
                        </a:blipFill>
                      </a:tcPr>
                    </a:tc>
                    <a:extLst>
                      <a:ext uri="{0D108BD9-81ED-4DB2-BD59-A6C34878D82A}">
                        <a16:rowId xmlns:a16="http://schemas.microsoft.com/office/drawing/2014/main" val="458203117"/>
                      </a:ext>
                    </a:extLst>
                  </a:tr>
                  <a:tr h="552641">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39" t="-187912" r="-394366" b="-116484"/>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30303" t="-187912" r="-409091" b="-116484"/>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000" t="-187912" r="-255263" b="-116484"/>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23864" t="-187912" r="-175568" b="-116484"/>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63354" t="-187912" r="-91925" b="-116484"/>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21233" t="-187912" r="-1370" b="-116484"/>
                          </a:stretch>
                        </a:blipFill>
                      </a:tcPr>
                    </a:tc>
                    <a:extLst>
                      <a:ext uri="{0D108BD9-81ED-4DB2-BD59-A6C34878D82A}">
                        <a16:rowId xmlns:a16="http://schemas.microsoft.com/office/drawing/2014/main" val="2477901905"/>
                      </a:ext>
                    </a:extLst>
                  </a:tr>
                  <a:tr h="552641">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39" t="-287912" r="-394366" b="-16484"/>
                          </a:stretch>
                        </a:blipFill>
                      </a:tcPr>
                    </a:tc>
                    <a:tc>
                      <a:txBody>
                        <a:bodyPr/>
                        <a:lstStyle/>
                        <a:p>
                          <a:pPr marL="0" marR="0" algn="ctr">
                            <a:lnSpc>
                              <a:spcPct val="115000"/>
                            </a:lnSpc>
                            <a:spcBef>
                              <a:spcPts val="0"/>
                            </a:spcBef>
                            <a:spcAft>
                              <a:spcPts val="0"/>
                            </a:spcAft>
                          </a:pPr>
                          <a:r>
                            <a:rPr lang="en-US" sz="2400" dirty="0" smtClean="0">
                              <a:effectLst/>
                              <a:latin typeface="Calibri" panose="020F0502020204030204" pitchFamily="34" charset="0"/>
                              <a:ea typeface="Times New Roman" panose="02020603050405020304" pitchFamily="18" charset="0"/>
                              <a:cs typeface="Shruti" panose="020B0502040204020203" pitchFamily="34" charset="0"/>
                            </a:rPr>
                            <a:t>2.0</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smtClean="0">
                              <a:effectLst/>
                              <a:latin typeface="Calibri" panose="020F0502020204030204" pitchFamily="34" charset="0"/>
                              <a:ea typeface="Times New Roman" panose="02020603050405020304" pitchFamily="18" charset="0"/>
                              <a:cs typeface="Shruti" panose="020B0502040204020203" pitchFamily="34" charset="0"/>
                            </a:rPr>
                            <a:t>1.5</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smtClean="0">
                              <a:effectLst/>
                              <a:latin typeface="Calibri" panose="020F0502020204030204" pitchFamily="34" charset="0"/>
                              <a:ea typeface="Times New Roman" panose="02020603050405020304" pitchFamily="18" charset="0"/>
                              <a:cs typeface="Shruti" panose="020B0502040204020203" pitchFamily="34" charset="0"/>
                            </a:rPr>
                            <a:t>2.2</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smtClean="0">
                              <a:effectLst/>
                              <a:latin typeface="Calibri" panose="020F0502020204030204" pitchFamily="34" charset="0"/>
                              <a:ea typeface="Times New Roman" panose="02020603050405020304" pitchFamily="18" charset="0"/>
                              <a:cs typeface="Shruti" panose="020B0502040204020203" pitchFamily="34" charset="0"/>
                            </a:rPr>
                            <a:t>1.0</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smtClean="0">
                              <a:effectLst/>
                              <a:latin typeface="Calibri" panose="020F0502020204030204" pitchFamily="34" charset="0"/>
                              <a:ea typeface="Times New Roman" panose="02020603050405020304" pitchFamily="18" charset="0"/>
                              <a:cs typeface="Shruti" panose="020B0502040204020203" pitchFamily="34" charset="0"/>
                            </a:rPr>
                            <a:t>1.2</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2010018"/>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305239046"/>
                  </p:ext>
                </p:extLst>
              </p:nvPr>
            </p:nvGraphicFramePr>
            <p:xfrm>
              <a:off x="1604361" y="3320145"/>
              <a:ext cx="5842252" cy="2303463"/>
            </p:xfrm>
            <a:graphic>
              <a:graphicData uri="http://schemas.openxmlformats.org/drawingml/2006/table">
                <a:tbl>
                  <a:tblPr firstRow="1" bandRow="1">
                    <a:tableStyleId>{5C22544A-7EE6-4342-B048-85BDC9FD1C3A}</a:tableStyleId>
                  </a:tblPr>
                  <a:tblGrid>
                    <a:gridCol w="1471713">
                      <a:extLst>
                        <a:ext uri="{9D8B030D-6E8A-4147-A177-3AD203B41FA5}">
                          <a16:colId xmlns:a16="http://schemas.microsoft.com/office/drawing/2014/main" val="2072256506"/>
                        </a:ext>
                      </a:extLst>
                    </a:gridCol>
                    <a:gridCol w="657224">
                      <a:extLst>
                        <a:ext uri="{9D8B030D-6E8A-4147-A177-3AD203B41FA5}">
                          <a16:colId xmlns:a16="http://schemas.microsoft.com/office/drawing/2014/main" val="2218155248"/>
                        </a:ext>
                      </a:extLst>
                    </a:gridCol>
                    <a:gridCol w="657224">
                      <a:extLst>
                        <a:ext uri="{9D8B030D-6E8A-4147-A177-3AD203B41FA5}">
                          <a16:colId xmlns:a16="http://schemas.microsoft.com/office/drawing/2014/main" val="146316644"/>
                        </a:ext>
                      </a:extLst>
                    </a:gridCol>
                    <a:gridCol w="657224">
                      <a:extLst>
                        <a:ext uri="{9D8B030D-6E8A-4147-A177-3AD203B41FA5}">
                          <a16:colId xmlns:a16="http://schemas.microsoft.com/office/drawing/2014/main" val="4193036598"/>
                        </a:ext>
                      </a:extLst>
                    </a:gridCol>
                    <a:gridCol w="657224">
                      <a:extLst>
                        <a:ext uri="{9D8B030D-6E8A-4147-A177-3AD203B41FA5}">
                          <a16:colId xmlns:a16="http://schemas.microsoft.com/office/drawing/2014/main" val="511283844"/>
                        </a:ext>
                      </a:extLst>
                    </a:gridCol>
                    <a:gridCol w="657224">
                      <a:extLst>
                        <a:ext uri="{9D8B030D-6E8A-4147-A177-3AD203B41FA5}">
                          <a16:colId xmlns:a16="http://schemas.microsoft.com/office/drawing/2014/main" val="3148974788"/>
                        </a:ext>
                      </a:extLst>
                    </a:gridCol>
                    <a:gridCol w="1084419">
                      <a:extLst>
                        <a:ext uri="{9D8B030D-6E8A-4147-A177-3AD203B41FA5}">
                          <a16:colId xmlns:a16="http://schemas.microsoft.com/office/drawing/2014/main" val="2815804869"/>
                        </a:ext>
                      </a:extLst>
                    </a:gridCol>
                  </a:tblGrid>
                  <a:tr h="370840">
                    <a:tc rowSpan="2">
                      <a:txBody>
                        <a:bodyPr/>
                        <a:lstStyle/>
                        <a:p>
                          <a:pPr algn="ctr"/>
                          <a:r>
                            <a:rPr lang="en-US" sz="2400" dirty="0">
                              <a:solidFill>
                                <a:srgbClr val="C00000"/>
                              </a:solidFill>
                            </a:rPr>
                            <a:t>Selection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5">
                      <a:txBody>
                        <a:bodyPr/>
                        <a:lstStyle/>
                        <a:p>
                          <a:pPr algn="ctr"/>
                          <a:r>
                            <a:rPr lang="en-US" sz="2400" dirty="0">
                              <a:solidFill>
                                <a:srgbClr val="C00000"/>
                              </a:solidFill>
                            </a:rPr>
                            <a:t>Objects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en-US" sz="2400" dirty="0">
                              <a:solidFill>
                                <a:srgbClr val="C00000"/>
                              </a:solidFill>
                            </a:rPr>
                            <a:t>Value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3776310"/>
                      </a:ext>
                    </a:extLst>
                  </a:tr>
                  <a:tr h="37084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1" dirty="0">
                              <a:solidFill>
                                <a:srgbClr val="C00000"/>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2400" b="1" dirty="0">
                              <a:solidFill>
                                <a:srgbClr val="C00000"/>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2400" b="1" dirty="0">
                              <a:solidFill>
                                <a:srgbClr val="C00000"/>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2400" b="1" dirty="0">
                              <a:solidFill>
                                <a:srgbClr val="C00000"/>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2400" b="1" dirty="0">
                              <a:solidFill>
                                <a:srgbClr val="C00000"/>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2992048"/>
                      </a:ext>
                    </a:extLst>
                  </a:tr>
                  <a:tr h="370840">
                    <a:tc>
                      <a:txBody>
                        <a:bodyPr/>
                        <a:lstStyle/>
                        <a:p>
                          <a:pPr marL="0" marR="0" algn="ctr">
                            <a:lnSpc>
                              <a:spcPct val="115000"/>
                            </a:lnSpc>
                            <a:spcBef>
                              <a:spcPts val="0"/>
                            </a:spcBef>
                            <a:spcAft>
                              <a:spcPts val="0"/>
                            </a:spcAft>
                          </a:pPr>
                          <a14:m>
                            <m:oMath xmlns:m="http://schemas.openxmlformats.org/officeDocument/2006/math">
                              <m:r>
                                <m:rPr>
                                  <m:nor/>
                                </m:rPr>
                                <a:rPr lang="en-US" sz="2400" i="0" dirty="0" smtClean="0">
                                  <a:solidFill>
                                    <a:srgbClr val="C00000"/>
                                  </a:solidFill>
                                  <a:latin typeface="Cambria Math" panose="02040503050406030204" pitchFamily="18" charset="0"/>
                                </a:rPr>
                                <m:t>Max</m:t>
                              </m:r>
                            </m:oMath>
                          </a14:m>
                          <a:r>
                            <a:rPr lang="en-US" sz="2400" dirty="0">
                              <a:solidFill>
                                <a:srgbClr val="C00000"/>
                              </a:solidFill>
                            </a:rPr>
                            <a:t> </a:t>
                          </a:r>
                          <a14:m>
                            <m:oMath xmlns:m="http://schemas.openxmlformats.org/officeDocument/2006/math">
                              <m:sSub>
                                <m:sSubPr>
                                  <m:ctrlPr>
                                    <a:rPr lang="en-US" sz="2400" i="1" dirty="0" smtClean="0">
                                      <a:solidFill>
                                        <a:srgbClr val="C00000"/>
                                      </a:solidFill>
                                      <a:latin typeface="Cambria Math" panose="02040503050406030204" pitchFamily="18" charset="0"/>
                                    </a:rPr>
                                  </m:ctrlPr>
                                </m:sSubPr>
                                <m:e>
                                  <m:r>
                                    <a:rPr lang="en-US" sz="2400" b="0" i="1" dirty="0" smtClean="0">
                                      <a:solidFill>
                                        <a:srgbClr val="C00000"/>
                                      </a:solidFill>
                                      <a:latin typeface="Cambria Math" panose="02040503050406030204" pitchFamily="18" charset="0"/>
                                    </a:rPr>
                                    <m:t>𝑣</m:t>
                                  </m:r>
                                </m:e>
                                <m:sub>
                                  <m:r>
                                    <a:rPr lang="en-US" sz="2400" b="0" i="1" dirty="0" smtClean="0">
                                      <a:solidFill>
                                        <a:srgbClr val="C00000"/>
                                      </a:solidFill>
                                      <a:latin typeface="Cambria Math" panose="02040503050406030204" pitchFamily="18" charset="0"/>
                                    </a:rPr>
                                    <m:t>𝑖</m:t>
                                  </m:r>
                                </m:sub>
                              </m:sSub>
                            </m:oMath>
                          </a14:m>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2400" b="1" dirty="0">
                              <a:solidFill>
                                <a:schemeClr val="tx2">
                                  <a:lumMod val="60000"/>
                                  <a:lumOff val="40000"/>
                                </a:schemeClr>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1" dirty="0">
                              <a:solidFill>
                                <a:schemeClr val="tx2">
                                  <a:lumMod val="60000"/>
                                  <a:lumOff val="40000"/>
                                </a:schemeClr>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1" dirty="0">
                              <a:solidFill>
                                <a:schemeClr val="tx2">
                                  <a:lumMod val="60000"/>
                                  <a:lumOff val="40000"/>
                                </a:schemeClr>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1" dirty="0">
                              <a:solidFill>
                                <a:schemeClr val="tx2">
                                  <a:lumMod val="60000"/>
                                  <a:lumOff val="40000"/>
                                </a:schemeClr>
                              </a:solidFill>
                            </a:rPr>
                            <a:t>0.5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1" dirty="0">
                              <a:solidFill>
                                <a:schemeClr val="tx2">
                                  <a:lumMod val="60000"/>
                                  <a:lumOff val="40000"/>
                                </a:schemeClr>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rgbClr val="AD1457"/>
                              </a:solidFill>
                            </a:rPr>
                            <a:t>146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4465811"/>
                      </a:ext>
                    </a:extLst>
                  </a:tr>
                  <a:tr h="370840">
                    <a:tc>
                      <a:txBody>
                        <a:bodyPr/>
                        <a:lstStyle/>
                        <a:p>
                          <a:pPr marL="0" marR="0" algn="ctr">
                            <a:lnSpc>
                              <a:spcPct val="115000"/>
                            </a:lnSpc>
                            <a:spcBef>
                              <a:spcPts val="0"/>
                            </a:spcBef>
                            <a:spcAft>
                              <a:spcPts val="0"/>
                            </a:spcAft>
                          </a:pPr>
                          <a:r>
                            <a:rPr lang="en-US" sz="2400" dirty="0">
                              <a:solidFill>
                                <a:srgbClr val="C00000"/>
                              </a:solidFill>
                            </a:rPr>
                            <a:t> </a:t>
                          </a:r>
                          <a14:m>
                            <m:oMath xmlns:m="http://schemas.openxmlformats.org/officeDocument/2006/math">
                              <m:r>
                                <m:rPr>
                                  <m:nor/>
                                </m:rPr>
                                <a:rPr lang="en-US" sz="2400" b="0" i="0" dirty="0" smtClean="0">
                                  <a:solidFill>
                                    <a:srgbClr val="C00000"/>
                                  </a:solidFill>
                                  <a:latin typeface="Cambria Math" panose="02040503050406030204" pitchFamily="18" charset="0"/>
                                </a:rPr>
                                <m:t>Min</m:t>
                              </m:r>
                              <m:r>
                                <a:rPr lang="en-US" sz="2400" b="0" i="0" dirty="0" smtClean="0">
                                  <a:solidFill>
                                    <a:srgbClr val="C00000"/>
                                  </a:solidFill>
                                  <a:latin typeface="Cambria Math" panose="02040503050406030204" pitchFamily="18" charset="0"/>
                                </a:rPr>
                                <m:t> </m:t>
                              </m:r>
                              <m:sSub>
                                <m:sSubPr>
                                  <m:ctrlPr>
                                    <a:rPr lang="en-US" sz="2400" i="1" dirty="0" smtClean="0">
                                      <a:solidFill>
                                        <a:srgbClr val="C00000"/>
                                      </a:solidFill>
                                      <a:latin typeface="Cambria Math" panose="02040503050406030204" pitchFamily="18" charset="0"/>
                                    </a:rPr>
                                  </m:ctrlPr>
                                </m:sSubPr>
                                <m:e>
                                  <m:r>
                                    <a:rPr lang="en-US" sz="2400" b="0" i="1" dirty="0" smtClean="0">
                                      <a:solidFill>
                                        <a:srgbClr val="C00000"/>
                                      </a:solidFill>
                                      <a:latin typeface="Cambria Math" panose="02040503050406030204" pitchFamily="18" charset="0"/>
                                    </a:rPr>
                                    <m:t>𝑤</m:t>
                                  </m:r>
                                </m:e>
                                <m:sub>
                                  <m:r>
                                    <a:rPr lang="en-US" sz="2400" b="0" i="1" dirty="0" smtClean="0">
                                      <a:solidFill>
                                        <a:srgbClr val="C00000"/>
                                      </a:solidFill>
                                      <a:latin typeface="Cambria Math" panose="02040503050406030204" pitchFamily="18" charset="0"/>
                                    </a:rPr>
                                    <m:t>𝑖</m:t>
                                  </m:r>
                                </m:sub>
                              </m:sSub>
                            </m:oMath>
                          </a14:m>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2400" b="1" dirty="0">
                              <a:solidFill>
                                <a:schemeClr val="tx2">
                                  <a:lumMod val="60000"/>
                                  <a:lumOff val="40000"/>
                                </a:schemeClr>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1" dirty="0">
                              <a:solidFill>
                                <a:schemeClr val="tx2">
                                  <a:lumMod val="60000"/>
                                  <a:lumOff val="40000"/>
                                </a:schemeClr>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1" dirty="0">
                              <a:solidFill>
                                <a:schemeClr val="tx2">
                                  <a:lumMod val="60000"/>
                                  <a:lumOff val="40000"/>
                                </a:schemeClr>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1" dirty="0">
                              <a:solidFill>
                                <a:schemeClr val="tx2">
                                  <a:lumMod val="60000"/>
                                  <a:lumOff val="40000"/>
                                </a:schemeClr>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1" dirty="0">
                              <a:solidFill>
                                <a:schemeClr val="tx2">
                                  <a:lumMod val="60000"/>
                                  <a:lumOff val="40000"/>
                                </a:schemeClr>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rgbClr val="AD1457"/>
                              </a:solidFill>
                            </a:rPr>
                            <a:t>156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82833978"/>
                      </a:ext>
                    </a:extLst>
                  </a:tr>
                  <a:tr h="370840">
                    <a:tc>
                      <a:txBody>
                        <a:bodyPr/>
                        <a:lstStyle/>
                        <a:p>
                          <a14:m>
                            <m:oMath xmlns:m="http://schemas.openxmlformats.org/officeDocument/2006/math">
                              <m:r>
                                <m:rPr>
                                  <m:nor/>
                                </m:rPr>
                                <a:rPr lang="en-US" sz="2400" i="0" dirty="0" smtClean="0">
                                  <a:solidFill>
                                    <a:srgbClr val="C00000"/>
                                  </a:solidFill>
                                  <a:latin typeface="Cambria Math" panose="02040503050406030204" pitchFamily="18" charset="0"/>
                                </a:rPr>
                                <m:t>Max</m:t>
                              </m:r>
                            </m:oMath>
                          </a14:m>
                          <a:r>
                            <a:rPr lang="en-US" sz="2400" dirty="0">
                              <a:solidFill>
                                <a:srgbClr val="C00000"/>
                              </a:solidFill>
                            </a:rPr>
                            <a:t> </a:t>
                          </a:r>
                          <a14:m>
                            <m:oMath xmlns:m="http://schemas.openxmlformats.org/officeDocument/2006/math">
                              <m:f>
                                <m:fPr>
                                  <m:type m:val="skw"/>
                                  <m:ctrlPr>
                                    <a:rPr lang="en-US" sz="2400" i="1" smtClean="0">
                                      <a:solidFill>
                                        <a:srgbClr val="C00000"/>
                                      </a:solidFill>
                                      <a:latin typeface="Cambria Math" panose="02040503050406030204" pitchFamily="18" charset="0"/>
                                    </a:rPr>
                                  </m:ctrlPr>
                                </m:fPr>
                                <m:num>
                                  <m:sSub>
                                    <m:sSubPr>
                                      <m:ctrlPr>
                                        <a:rPr lang="en-US" sz="2400" i="1" dirty="0" smtClean="0">
                                          <a:solidFill>
                                            <a:srgbClr val="C00000"/>
                                          </a:solidFill>
                                          <a:latin typeface="Cambria Math" panose="02040503050406030204" pitchFamily="18" charset="0"/>
                                        </a:rPr>
                                      </m:ctrlPr>
                                    </m:sSubPr>
                                    <m:e>
                                      <m:r>
                                        <a:rPr lang="en-US" sz="2400" b="0" i="1" dirty="0" smtClean="0">
                                          <a:solidFill>
                                            <a:srgbClr val="C00000"/>
                                          </a:solidFill>
                                          <a:latin typeface="Cambria Math" panose="02040503050406030204" pitchFamily="18" charset="0"/>
                                        </a:rPr>
                                        <m:t>𝑣</m:t>
                                      </m:r>
                                    </m:e>
                                    <m:sub>
                                      <m:r>
                                        <a:rPr lang="en-US" sz="2400" b="0" i="1" dirty="0" smtClean="0">
                                          <a:solidFill>
                                            <a:srgbClr val="C00000"/>
                                          </a:solidFill>
                                          <a:latin typeface="Cambria Math" panose="02040503050406030204" pitchFamily="18" charset="0"/>
                                        </a:rPr>
                                        <m:t>𝑖</m:t>
                                      </m:r>
                                    </m:sub>
                                  </m:sSub>
                                </m:num>
                                <m:den>
                                  <m:sSub>
                                    <m:sSubPr>
                                      <m:ctrlPr>
                                        <a:rPr lang="en-US" sz="2400" i="1" dirty="0" smtClean="0">
                                          <a:solidFill>
                                            <a:srgbClr val="C00000"/>
                                          </a:solidFill>
                                          <a:latin typeface="Cambria Math" panose="02040503050406030204" pitchFamily="18" charset="0"/>
                                        </a:rPr>
                                      </m:ctrlPr>
                                    </m:sSubPr>
                                    <m:e>
                                      <m:r>
                                        <a:rPr lang="en-US" sz="2400" b="0" i="1" dirty="0" smtClean="0">
                                          <a:solidFill>
                                            <a:srgbClr val="C00000"/>
                                          </a:solidFill>
                                          <a:latin typeface="Cambria Math" panose="02040503050406030204" pitchFamily="18" charset="0"/>
                                        </a:rPr>
                                        <m:t>𝑤</m:t>
                                      </m:r>
                                    </m:e>
                                    <m:sub>
                                      <m:r>
                                        <a:rPr lang="en-US" sz="2400" b="0" i="1" dirty="0" smtClean="0">
                                          <a:solidFill>
                                            <a:srgbClr val="C00000"/>
                                          </a:solidFill>
                                          <a:latin typeface="Cambria Math" panose="02040503050406030204" pitchFamily="18" charset="0"/>
                                        </a:rPr>
                                        <m:t>𝑖</m:t>
                                      </m:r>
                                    </m:sub>
                                  </m:sSub>
                                </m:den>
                              </m:f>
                            </m:oMath>
                          </a14:m>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2400" b="1" dirty="0">
                              <a:solidFill>
                                <a:schemeClr val="tx2">
                                  <a:lumMod val="60000"/>
                                  <a:lumOff val="40000"/>
                                </a:schemeClr>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1" dirty="0">
                              <a:solidFill>
                                <a:schemeClr val="tx2">
                                  <a:lumMod val="60000"/>
                                  <a:lumOff val="40000"/>
                                </a:schemeClr>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1" dirty="0">
                              <a:solidFill>
                                <a:schemeClr val="tx2">
                                  <a:lumMod val="60000"/>
                                  <a:lumOff val="40000"/>
                                </a:schemeClr>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1" dirty="0">
                              <a:solidFill>
                                <a:schemeClr val="tx2">
                                  <a:lumMod val="60000"/>
                                  <a:lumOff val="40000"/>
                                </a:schemeClr>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1" dirty="0">
                              <a:solidFill>
                                <a:schemeClr val="tx2">
                                  <a:lumMod val="60000"/>
                                  <a:lumOff val="40000"/>
                                </a:schemeClr>
                              </a:solidFill>
                            </a:rPr>
                            <a:t>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1" dirty="0">
                              <a:solidFill>
                                <a:srgbClr val="AD1457"/>
                              </a:solidFill>
                            </a:rPr>
                            <a:t>164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5500639"/>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305239046"/>
                  </p:ext>
                </p:extLst>
              </p:nvPr>
            </p:nvGraphicFramePr>
            <p:xfrm>
              <a:off x="1604361" y="3320145"/>
              <a:ext cx="5842252" cy="2303463"/>
            </p:xfrm>
            <a:graphic>
              <a:graphicData uri="http://schemas.openxmlformats.org/drawingml/2006/table">
                <a:tbl>
                  <a:tblPr firstRow="1" bandRow="1">
                    <a:tableStyleId>{5C22544A-7EE6-4342-B048-85BDC9FD1C3A}</a:tableStyleId>
                  </a:tblPr>
                  <a:tblGrid>
                    <a:gridCol w="1471713">
                      <a:extLst>
                        <a:ext uri="{9D8B030D-6E8A-4147-A177-3AD203B41FA5}">
                          <a16:colId xmlns:a16="http://schemas.microsoft.com/office/drawing/2014/main" val="2072256506"/>
                        </a:ext>
                      </a:extLst>
                    </a:gridCol>
                    <a:gridCol w="657224">
                      <a:extLst>
                        <a:ext uri="{9D8B030D-6E8A-4147-A177-3AD203B41FA5}">
                          <a16:colId xmlns:a16="http://schemas.microsoft.com/office/drawing/2014/main" val="2218155248"/>
                        </a:ext>
                      </a:extLst>
                    </a:gridCol>
                    <a:gridCol w="657224">
                      <a:extLst>
                        <a:ext uri="{9D8B030D-6E8A-4147-A177-3AD203B41FA5}">
                          <a16:colId xmlns:a16="http://schemas.microsoft.com/office/drawing/2014/main" val="146316644"/>
                        </a:ext>
                      </a:extLst>
                    </a:gridCol>
                    <a:gridCol w="657224">
                      <a:extLst>
                        <a:ext uri="{9D8B030D-6E8A-4147-A177-3AD203B41FA5}">
                          <a16:colId xmlns:a16="http://schemas.microsoft.com/office/drawing/2014/main" val="4193036598"/>
                        </a:ext>
                      </a:extLst>
                    </a:gridCol>
                    <a:gridCol w="657224">
                      <a:extLst>
                        <a:ext uri="{9D8B030D-6E8A-4147-A177-3AD203B41FA5}">
                          <a16:colId xmlns:a16="http://schemas.microsoft.com/office/drawing/2014/main" val="511283844"/>
                        </a:ext>
                      </a:extLst>
                    </a:gridCol>
                    <a:gridCol w="657224">
                      <a:extLst>
                        <a:ext uri="{9D8B030D-6E8A-4147-A177-3AD203B41FA5}">
                          <a16:colId xmlns:a16="http://schemas.microsoft.com/office/drawing/2014/main" val="3148974788"/>
                        </a:ext>
                      </a:extLst>
                    </a:gridCol>
                    <a:gridCol w="1084419">
                      <a:extLst>
                        <a:ext uri="{9D8B030D-6E8A-4147-A177-3AD203B41FA5}">
                          <a16:colId xmlns:a16="http://schemas.microsoft.com/office/drawing/2014/main" val="2815804869"/>
                        </a:ext>
                      </a:extLst>
                    </a:gridCol>
                  </a:tblGrid>
                  <a:tr h="457200">
                    <a:tc rowSpan="2">
                      <a:txBody>
                        <a:bodyPr/>
                        <a:lstStyle/>
                        <a:p>
                          <a:pPr algn="ctr"/>
                          <a:r>
                            <a:rPr lang="en-US" sz="2400" dirty="0" smtClean="0">
                              <a:solidFill>
                                <a:srgbClr val="C00000"/>
                              </a:solidFill>
                            </a:rPr>
                            <a:t>Selection</a:t>
                          </a:r>
                          <a:endParaRPr lang="en-US" sz="24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5">
                      <a:txBody>
                        <a:bodyPr/>
                        <a:lstStyle/>
                        <a:p>
                          <a:pPr algn="ctr"/>
                          <a:r>
                            <a:rPr lang="en-US" sz="2400" dirty="0" smtClean="0">
                              <a:solidFill>
                                <a:srgbClr val="C00000"/>
                              </a:solidFill>
                            </a:rPr>
                            <a:t>Objects </a:t>
                          </a:r>
                          <a:endParaRPr lang="en-US" sz="24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ctr"/>
                          <a:r>
                            <a:rPr lang="en-US" sz="2400" dirty="0" smtClean="0">
                              <a:solidFill>
                                <a:srgbClr val="C00000"/>
                              </a:solidFill>
                            </a:rPr>
                            <a:t>Value </a:t>
                          </a:r>
                          <a:endParaRPr lang="en-US" sz="24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43776310"/>
                      </a:ext>
                    </a:extLst>
                  </a:tr>
                  <a:tr h="457200">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1" dirty="0" smtClean="0">
                              <a:solidFill>
                                <a:srgbClr val="C00000"/>
                              </a:solidFill>
                            </a:rPr>
                            <a:t>1</a:t>
                          </a:r>
                          <a:endParaRPr lang="en-US" sz="2400" b="1"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2400" b="1" dirty="0" smtClean="0">
                              <a:solidFill>
                                <a:srgbClr val="C00000"/>
                              </a:solidFill>
                            </a:rPr>
                            <a:t>2</a:t>
                          </a:r>
                          <a:endParaRPr lang="en-US" sz="2400" b="1"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2400" b="1" dirty="0" smtClean="0">
                              <a:solidFill>
                                <a:srgbClr val="C00000"/>
                              </a:solidFill>
                            </a:rPr>
                            <a:t>3</a:t>
                          </a:r>
                          <a:endParaRPr lang="en-US" sz="2400" b="1"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2400" b="1" dirty="0" smtClean="0">
                              <a:solidFill>
                                <a:srgbClr val="C00000"/>
                              </a:solidFill>
                            </a:rPr>
                            <a:t>4</a:t>
                          </a:r>
                          <a:endParaRPr lang="en-US" sz="2400" b="1"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2400" b="1" dirty="0" smtClean="0">
                              <a:solidFill>
                                <a:srgbClr val="C00000"/>
                              </a:solidFill>
                            </a:rPr>
                            <a:t>5</a:t>
                          </a:r>
                          <a:endParaRPr lang="en-US" sz="2400" b="1"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v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2992048"/>
                      </a:ext>
                    </a:extLst>
                  </a:tr>
                  <a:tr h="457200">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13" t="-205263" r="-297107" b="-393421"/>
                          </a:stretch>
                        </a:blipFill>
                      </a:tcPr>
                    </a:tc>
                    <a:tc>
                      <a:txBody>
                        <a:bodyPr/>
                        <a:lstStyle/>
                        <a:p>
                          <a:pPr algn="ctr"/>
                          <a:r>
                            <a:rPr lang="en-US" sz="2400" b="1" dirty="0" smtClean="0">
                              <a:solidFill>
                                <a:schemeClr val="tx2">
                                  <a:lumMod val="60000"/>
                                  <a:lumOff val="40000"/>
                                </a:schemeClr>
                              </a:solidFill>
                            </a:rPr>
                            <a:t>0</a:t>
                          </a:r>
                          <a:endParaRPr lang="en-US" sz="2400" b="1" dirty="0">
                            <a:solidFill>
                              <a:schemeClr val="tx2">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1" dirty="0" smtClean="0">
                              <a:solidFill>
                                <a:schemeClr val="tx2">
                                  <a:lumMod val="60000"/>
                                  <a:lumOff val="40000"/>
                                </a:schemeClr>
                              </a:solidFill>
                            </a:rPr>
                            <a:t>0</a:t>
                          </a:r>
                          <a:endParaRPr lang="en-US" sz="2400" b="1" dirty="0">
                            <a:solidFill>
                              <a:schemeClr val="tx2">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1" dirty="0" smtClean="0">
                              <a:solidFill>
                                <a:schemeClr val="tx2">
                                  <a:lumMod val="60000"/>
                                  <a:lumOff val="40000"/>
                                </a:schemeClr>
                              </a:solidFill>
                            </a:rPr>
                            <a:t>1</a:t>
                          </a:r>
                          <a:endParaRPr lang="en-US" sz="2400" b="1" dirty="0">
                            <a:solidFill>
                              <a:schemeClr val="tx2">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1" dirty="0" smtClean="0">
                              <a:solidFill>
                                <a:schemeClr val="tx2">
                                  <a:lumMod val="60000"/>
                                  <a:lumOff val="40000"/>
                                </a:schemeClr>
                              </a:solidFill>
                            </a:rPr>
                            <a:t>0.5</a:t>
                          </a:r>
                          <a:endParaRPr lang="en-US" sz="2400" b="1" dirty="0">
                            <a:solidFill>
                              <a:schemeClr val="tx2">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1" dirty="0" smtClean="0">
                              <a:solidFill>
                                <a:schemeClr val="tx2">
                                  <a:lumMod val="60000"/>
                                  <a:lumOff val="40000"/>
                                </a:schemeClr>
                              </a:solidFill>
                            </a:rPr>
                            <a:t>1</a:t>
                          </a:r>
                          <a:endParaRPr lang="en-US" sz="2400" b="1" dirty="0">
                            <a:solidFill>
                              <a:schemeClr val="tx2">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solidFill>
                                <a:srgbClr val="AD1457"/>
                              </a:solidFill>
                            </a:rPr>
                            <a:t>146</a:t>
                          </a:r>
                          <a:endParaRPr lang="en-US" sz="2400" dirty="0">
                            <a:solidFill>
                              <a:srgbClr val="AD1457"/>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4465811"/>
                      </a:ext>
                    </a:extLst>
                  </a:tr>
                  <a:tr h="457200">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13" t="-309333" r="-297107" b="-298667"/>
                          </a:stretch>
                        </a:blipFill>
                      </a:tcPr>
                    </a:tc>
                    <a:tc>
                      <a:txBody>
                        <a:bodyPr/>
                        <a:lstStyle/>
                        <a:p>
                          <a:pPr algn="ctr"/>
                          <a:r>
                            <a:rPr lang="en-US" sz="2400" b="1" dirty="0" smtClean="0">
                              <a:solidFill>
                                <a:schemeClr val="tx2">
                                  <a:lumMod val="60000"/>
                                  <a:lumOff val="40000"/>
                                </a:schemeClr>
                              </a:solidFill>
                            </a:rPr>
                            <a:t>1</a:t>
                          </a:r>
                          <a:endParaRPr lang="en-US" sz="2400" b="1" dirty="0">
                            <a:solidFill>
                              <a:schemeClr val="tx2">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1" dirty="0" smtClean="0">
                              <a:solidFill>
                                <a:schemeClr val="tx2">
                                  <a:lumMod val="60000"/>
                                  <a:lumOff val="40000"/>
                                </a:schemeClr>
                              </a:solidFill>
                            </a:rPr>
                            <a:t>1</a:t>
                          </a:r>
                          <a:endParaRPr lang="en-US" sz="2400" b="1" dirty="0">
                            <a:solidFill>
                              <a:schemeClr val="tx2">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1" dirty="0" smtClean="0">
                              <a:solidFill>
                                <a:schemeClr val="tx2">
                                  <a:lumMod val="60000"/>
                                  <a:lumOff val="40000"/>
                                </a:schemeClr>
                              </a:solidFill>
                            </a:rPr>
                            <a:t>1</a:t>
                          </a:r>
                          <a:endParaRPr lang="en-US" sz="2400" b="1" dirty="0">
                            <a:solidFill>
                              <a:schemeClr val="tx2">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1" dirty="0" smtClean="0">
                              <a:solidFill>
                                <a:schemeClr val="tx2">
                                  <a:lumMod val="60000"/>
                                  <a:lumOff val="40000"/>
                                </a:schemeClr>
                              </a:solidFill>
                            </a:rPr>
                            <a:t>1</a:t>
                          </a:r>
                          <a:endParaRPr lang="en-US" sz="2400" b="1" dirty="0">
                            <a:solidFill>
                              <a:schemeClr val="tx2">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1" dirty="0" smtClean="0">
                              <a:solidFill>
                                <a:schemeClr val="tx2">
                                  <a:lumMod val="60000"/>
                                  <a:lumOff val="40000"/>
                                </a:schemeClr>
                              </a:solidFill>
                            </a:rPr>
                            <a:t>0</a:t>
                          </a:r>
                          <a:endParaRPr lang="en-US" sz="2400" b="1" dirty="0">
                            <a:solidFill>
                              <a:schemeClr val="tx2">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smtClean="0">
                              <a:solidFill>
                                <a:srgbClr val="AD1457"/>
                              </a:solidFill>
                            </a:rPr>
                            <a:t>156</a:t>
                          </a:r>
                          <a:endParaRPr lang="en-US" sz="2400" dirty="0">
                            <a:solidFill>
                              <a:srgbClr val="AD1457"/>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82833978"/>
                      </a:ext>
                    </a:extLst>
                  </a:tr>
                  <a:tr h="474663">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13" t="-393590" r="-297107" b="-187179"/>
                          </a:stretch>
                        </a:blipFill>
                      </a:tcPr>
                    </a:tc>
                    <a:tc>
                      <a:txBody>
                        <a:bodyPr/>
                        <a:lstStyle/>
                        <a:p>
                          <a:pPr algn="ctr"/>
                          <a:r>
                            <a:rPr lang="en-US" sz="2400" b="1" dirty="0" smtClean="0">
                              <a:solidFill>
                                <a:schemeClr val="tx2">
                                  <a:lumMod val="60000"/>
                                  <a:lumOff val="40000"/>
                                </a:schemeClr>
                              </a:solidFill>
                            </a:rPr>
                            <a:t>1</a:t>
                          </a:r>
                          <a:endParaRPr lang="en-US" sz="2400" b="1" dirty="0">
                            <a:solidFill>
                              <a:schemeClr val="tx2">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1" dirty="0" smtClean="0">
                              <a:solidFill>
                                <a:schemeClr val="tx2">
                                  <a:lumMod val="60000"/>
                                  <a:lumOff val="40000"/>
                                </a:schemeClr>
                              </a:solidFill>
                            </a:rPr>
                            <a:t>1</a:t>
                          </a:r>
                          <a:endParaRPr lang="en-US" sz="2400" b="1" dirty="0">
                            <a:solidFill>
                              <a:schemeClr val="tx2">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1" dirty="0" smtClean="0">
                              <a:solidFill>
                                <a:schemeClr val="tx2">
                                  <a:lumMod val="60000"/>
                                  <a:lumOff val="40000"/>
                                </a:schemeClr>
                              </a:solidFill>
                            </a:rPr>
                            <a:t>1</a:t>
                          </a:r>
                          <a:endParaRPr lang="en-US" sz="2400" b="1" dirty="0">
                            <a:solidFill>
                              <a:schemeClr val="tx2">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1" dirty="0" smtClean="0">
                              <a:solidFill>
                                <a:schemeClr val="tx2">
                                  <a:lumMod val="60000"/>
                                  <a:lumOff val="40000"/>
                                </a:schemeClr>
                              </a:solidFill>
                            </a:rPr>
                            <a:t>0</a:t>
                          </a:r>
                          <a:endParaRPr lang="en-US" sz="2400" b="1" dirty="0">
                            <a:solidFill>
                              <a:schemeClr val="tx2">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1" dirty="0" smtClean="0">
                              <a:solidFill>
                                <a:schemeClr val="tx2">
                                  <a:lumMod val="60000"/>
                                  <a:lumOff val="40000"/>
                                </a:schemeClr>
                              </a:solidFill>
                            </a:rPr>
                            <a:t>0.8</a:t>
                          </a:r>
                          <a:endParaRPr lang="en-US" sz="2400" b="1" dirty="0">
                            <a:solidFill>
                              <a:schemeClr val="tx2">
                                <a:lumMod val="60000"/>
                                <a:lumOff val="4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b="1" dirty="0" smtClean="0">
                              <a:solidFill>
                                <a:srgbClr val="AD1457"/>
                              </a:solidFill>
                            </a:rPr>
                            <a:t>164</a:t>
                          </a:r>
                          <a:endParaRPr lang="en-US" sz="2400" b="1" dirty="0">
                            <a:solidFill>
                              <a:srgbClr val="AD1457"/>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5500639"/>
                      </a:ext>
                    </a:extLst>
                  </a:tr>
                </a:tbl>
              </a:graphicData>
            </a:graphic>
          </p:graphicFrame>
        </mc:Fallback>
      </mc:AlternateContent>
      <p:sp>
        <p:nvSpPr>
          <p:cNvPr id="6" name="TextBox 5"/>
          <p:cNvSpPr txBox="1"/>
          <p:nvPr/>
        </p:nvSpPr>
        <p:spPr>
          <a:xfrm>
            <a:off x="3204560" y="4310745"/>
            <a:ext cx="381000" cy="369332"/>
          </a:xfrm>
          <a:prstGeom prst="rect">
            <a:avLst/>
          </a:prstGeom>
          <a:solidFill>
            <a:schemeClr val="bg1"/>
          </a:solidFill>
        </p:spPr>
        <p:txBody>
          <a:bodyPr wrap="square" rtlCol="0">
            <a:spAutoFit/>
          </a:bodyPr>
          <a:lstStyle/>
          <a:p>
            <a:endParaRPr lang="en-US" dirty="0"/>
          </a:p>
        </p:txBody>
      </p:sp>
      <p:sp>
        <p:nvSpPr>
          <p:cNvPr id="7" name="TextBox 6"/>
          <p:cNvSpPr txBox="1"/>
          <p:nvPr/>
        </p:nvSpPr>
        <p:spPr>
          <a:xfrm>
            <a:off x="3890360" y="4287210"/>
            <a:ext cx="381000" cy="369332"/>
          </a:xfrm>
          <a:prstGeom prst="rect">
            <a:avLst/>
          </a:prstGeom>
          <a:solidFill>
            <a:schemeClr val="bg1"/>
          </a:solidFill>
        </p:spPr>
        <p:txBody>
          <a:bodyPr wrap="square" rtlCol="0">
            <a:spAutoFit/>
          </a:bodyPr>
          <a:lstStyle/>
          <a:p>
            <a:endParaRPr lang="en-US" dirty="0"/>
          </a:p>
        </p:txBody>
      </p:sp>
      <p:sp>
        <p:nvSpPr>
          <p:cNvPr id="8" name="TextBox 7"/>
          <p:cNvSpPr txBox="1"/>
          <p:nvPr/>
        </p:nvSpPr>
        <p:spPr>
          <a:xfrm>
            <a:off x="4571611" y="4287210"/>
            <a:ext cx="381000" cy="369332"/>
          </a:xfrm>
          <a:prstGeom prst="rect">
            <a:avLst/>
          </a:prstGeom>
          <a:solidFill>
            <a:schemeClr val="bg1"/>
          </a:solidFill>
        </p:spPr>
        <p:txBody>
          <a:bodyPr wrap="square" rtlCol="0">
            <a:spAutoFit/>
          </a:bodyPr>
          <a:lstStyle/>
          <a:p>
            <a:endParaRPr lang="en-US" dirty="0"/>
          </a:p>
        </p:txBody>
      </p:sp>
      <p:sp>
        <p:nvSpPr>
          <p:cNvPr id="9" name="TextBox 8"/>
          <p:cNvSpPr txBox="1"/>
          <p:nvPr/>
        </p:nvSpPr>
        <p:spPr>
          <a:xfrm>
            <a:off x="5185759" y="4287210"/>
            <a:ext cx="381000" cy="369332"/>
          </a:xfrm>
          <a:prstGeom prst="rect">
            <a:avLst/>
          </a:prstGeom>
          <a:solidFill>
            <a:schemeClr val="bg1"/>
          </a:solidFill>
        </p:spPr>
        <p:txBody>
          <a:bodyPr wrap="square" rtlCol="0">
            <a:spAutoFit/>
          </a:bodyPr>
          <a:lstStyle/>
          <a:p>
            <a:endParaRPr lang="en-US" dirty="0"/>
          </a:p>
        </p:txBody>
      </p:sp>
      <p:sp>
        <p:nvSpPr>
          <p:cNvPr id="10" name="TextBox 9"/>
          <p:cNvSpPr txBox="1"/>
          <p:nvPr/>
        </p:nvSpPr>
        <p:spPr>
          <a:xfrm>
            <a:off x="5871559" y="4270223"/>
            <a:ext cx="381000" cy="369332"/>
          </a:xfrm>
          <a:prstGeom prst="rect">
            <a:avLst/>
          </a:prstGeom>
          <a:solidFill>
            <a:schemeClr val="bg1"/>
          </a:solidFill>
        </p:spPr>
        <p:txBody>
          <a:bodyPr wrap="square" rtlCol="0">
            <a:spAutoFit/>
          </a:bodyPr>
          <a:lstStyle/>
          <a:p>
            <a:endParaRPr lang="en-US" dirty="0"/>
          </a:p>
        </p:txBody>
      </p:sp>
      <p:sp>
        <p:nvSpPr>
          <p:cNvPr id="11" name="TextBox 10"/>
          <p:cNvSpPr txBox="1"/>
          <p:nvPr/>
        </p:nvSpPr>
        <p:spPr>
          <a:xfrm>
            <a:off x="3204560" y="4724011"/>
            <a:ext cx="381000" cy="369332"/>
          </a:xfrm>
          <a:prstGeom prst="rect">
            <a:avLst/>
          </a:prstGeom>
          <a:solidFill>
            <a:schemeClr val="bg1"/>
          </a:solidFill>
        </p:spPr>
        <p:txBody>
          <a:bodyPr wrap="square" rtlCol="0">
            <a:spAutoFit/>
          </a:bodyPr>
          <a:lstStyle/>
          <a:p>
            <a:endParaRPr lang="en-US" dirty="0"/>
          </a:p>
        </p:txBody>
      </p:sp>
      <p:sp>
        <p:nvSpPr>
          <p:cNvPr id="12" name="TextBox 11"/>
          <p:cNvSpPr txBox="1"/>
          <p:nvPr/>
        </p:nvSpPr>
        <p:spPr>
          <a:xfrm>
            <a:off x="3196598" y="5173809"/>
            <a:ext cx="381000" cy="369332"/>
          </a:xfrm>
          <a:prstGeom prst="rect">
            <a:avLst/>
          </a:prstGeom>
          <a:solidFill>
            <a:schemeClr val="bg1"/>
          </a:solidFill>
        </p:spPr>
        <p:txBody>
          <a:bodyPr wrap="square" rtlCol="0">
            <a:spAutoFit/>
          </a:bodyPr>
          <a:lstStyle/>
          <a:p>
            <a:endParaRPr lang="en-US" dirty="0"/>
          </a:p>
        </p:txBody>
      </p:sp>
      <p:sp>
        <p:nvSpPr>
          <p:cNvPr id="13" name="TextBox 12"/>
          <p:cNvSpPr txBox="1"/>
          <p:nvPr/>
        </p:nvSpPr>
        <p:spPr>
          <a:xfrm>
            <a:off x="3874438" y="4724011"/>
            <a:ext cx="381000" cy="369332"/>
          </a:xfrm>
          <a:prstGeom prst="rect">
            <a:avLst/>
          </a:prstGeom>
          <a:solidFill>
            <a:schemeClr val="bg1"/>
          </a:solidFill>
        </p:spPr>
        <p:txBody>
          <a:bodyPr wrap="square" rtlCol="0">
            <a:spAutoFit/>
          </a:bodyPr>
          <a:lstStyle/>
          <a:p>
            <a:endParaRPr lang="en-US" dirty="0"/>
          </a:p>
        </p:txBody>
      </p:sp>
      <p:sp>
        <p:nvSpPr>
          <p:cNvPr id="14" name="TextBox 13"/>
          <p:cNvSpPr txBox="1"/>
          <p:nvPr/>
        </p:nvSpPr>
        <p:spPr>
          <a:xfrm>
            <a:off x="3874438" y="5173809"/>
            <a:ext cx="381000" cy="369332"/>
          </a:xfrm>
          <a:prstGeom prst="rect">
            <a:avLst/>
          </a:prstGeom>
          <a:solidFill>
            <a:schemeClr val="bg1"/>
          </a:solidFill>
        </p:spPr>
        <p:txBody>
          <a:bodyPr wrap="square" rtlCol="0">
            <a:spAutoFit/>
          </a:bodyPr>
          <a:lstStyle/>
          <a:p>
            <a:endParaRPr lang="en-US" dirty="0"/>
          </a:p>
        </p:txBody>
      </p:sp>
      <p:sp>
        <p:nvSpPr>
          <p:cNvPr id="15" name="TextBox 14"/>
          <p:cNvSpPr txBox="1"/>
          <p:nvPr/>
        </p:nvSpPr>
        <p:spPr>
          <a:xfrm>
            <a:off x="4528394" y="4724011"/>
            <a:ext cx="381000" cy="369332"/>
          </a:xfrm>
          <a:prstGeom prst="rect">
            <a:avLst/>
          </a:prstGeom>
          <a:solidFill>
            <a:schemeClr val="bg1"/>
          </a:solidFill>
        </p:spPr>
        <p:txBody>
          <a:bodyPr wrap="square" rtlCol="0">
            <a:spAutoFit/>
          </a:bodyPr>
          <a:lstStyle/>
          <a:p>
            <a:endParaRPr lang="en-US" dirty="0"/>
          </a:p>
        </p:txBody>
      </p:sp>
      <p:sp>
        <p:nvSpPr>
          <p:cNvPr id="16" name="TextBox 15"/>
          <p:cNvSpPr txBox="1"/>
          <p:nvPr/>
        </p:nvSpPr>
        <p:spPr>
          <a:xfrm>
            <a:off x="4525487" y="5209192"/>
            <a:ext cx="381000" cy="369332"/>
          </a:xfrm>
          <a:prstGeom prst="rect">
            <a:avLst/>
          </a:prstGeom>
          <a:solidFill>
            <a:schemeClr val="bg1"/>
          </a:solidFill>
        </p:spPr>
        <p:txBody>
          <a:bodyPr wrap="square" rtlCol="0">
            <a:spAutoFit/>
          </a:bodyPr>
          <a:lstStyle/>
          <a:p>
            <a:endParaRPr lang="en-US" dirty="0"/>
          </a:p>
        </p:txBody>
      </p:sp>
      <p:sp>
        <p:nvSpPr>
          <p:cNvPr id="17" name="TextBox 16"/>
          <p:cNvSpPr txBox="1"/>
          <p:nvPr/>
        </p:nvSpPr>
        <p:spPr>
          <a:xfrm>
            <a:off x="5185759" y="4724011"/>
            <a:ext cx="381000" cy="369332"/>
          </a:xfrm>
          <a:prstGeom prst="rect">
            <a:avLst/>
          </a:prstGeom>
          <a:solidFill>
            <a:schemeClr val="bg1"/>
          </a:solidFill>
        </p:spPr>
        <p:txBody>
          <a:bodyPr wrap="square" rtlCol="0">
            <a:spAutoFit/>
          </a:bodyPr>
          <a:lstStyle/>
          <a:p>
            <a:endParaRPr lang="en-US" dirty="0"/>
          </a:p>
        </p:txBody>
      </p:sp>
      <p:sp>
        <p:nvSpPr>
          <p:cNvPr id="18" name="TextBox 17"/>
          <p:cNvSpPr txBox="1"/>
          <p:nvPr/>
        </p:nvSpPr>
        <p:spPr>
          <a:xfrm>
            <a:off x="5176536" y="5160812"/>
            <a:ext cx="381000" cy="369332"/>
          </a:xfrm>
          <a:prstGeom prst="rect">
            <a:avLst/>
          </a:prstGeom>
          <a:solidFill>
            <a:schemeClr val="bg1"/>
          </a:solidFill>
        </p:spPr>
        <p:txBody>
          <a:bodyPr wrap="square" rtlCol="0">
            <a:spAutoFit/>
          </a:bodyPr>
          <a:lstStyle/>
          <a:p>
            <a:endParaRPr lang="en-US" dirty="0"/>
          </a:p>
        </p:txBody>
      </p:sp>
      <p:sp>
        <p:nvSpPr>
          <p:cNvPr id="19" name="TextBox 18"/>
          <p:cNvSpPr txBox="1"/>
          <p:nvPr/>
        </p:nvSpPr>
        <p:spPr>
          <a:xfrm>
            <a:off x="5922107" y="4724011"/>
            <a:ext cx="381000" cy="369332"/>
          </a:xfrm>
          <a:prstGeom prst="rect">
            <a:avLst/>
          </a:prstGeom>
          <a:solidFill>
            <a:schemeClr val="bg1"/>
          </a:solidFill>
        </p:spPr>
        <p:txBody>
          <a:bodyPr wrap="square" rtlCol="0">
            <a:spAutoFit/>
          </a:bodyPr>
          <a:lstStyle/>
          <a:p>
            <a:endParaRPr lang="en-US" dirty="0"/>
          </a:p>
        </p:txBody>
      </p:sp>
      <p:sp>
        <p:nvSpPr>
          <p:cNvPr id="20" name="TextBox 19"/>
          <p:cNvSpPr txBox="1"/>
          <p:nvPr/>
        </p:nvSpPr>
        <p:spPr>
          <a:xfrm>
            <a:off x="5795549" y="5178221"/>
            <a:ext cx="457009" cy="369332"/>
          </a:xfrm>
          <a:prstGeom prst="rect">
            <a:avLst/>
          </a:prstGeom>
          <a:solidFill>
            <a:schemeClr val="bg1"/>
          </a:solidFill>
        </p:spPr>
        <p:txBody>
          <a:bodyPr wrap="square" rtlCol="0">
            <a:spAutoFit/>
          </a:bodyPr>
          <a:lstStyle/>
          <a:p>
            <a:endParaRPr lang="en-US" dirty="0"/>
          </a:p>
        </p:txBody>
      </p:sp>
      <p:sp>
        <p:nvSpPr>
          <p:cNvPr id="21" name="TextBox 20"/>
          <p:cNvSpPr txBox="1"/>
          <p:nvPr/>
        </p:nvSpPr>
        <p:spPr>
          <a:xfrm>
            <a:off x="6544299" y="4283449"/>
            <a:ext cx="685800" cy="369332"/>
          </a:xfrm>
          <a:prstGeom prst="rect">
            <a:avLst/>
          </a:prstGeom>
          <a:solidFill>
            <a:schemeClr val="bg1"/>
          </a:solidFill>
        </p:spPr>
        <p:txBody>
          <a:bodyPr wrap="square" rtlCol="0">
            <a:spAutoFit/>
          </a:bodyPr>
          <a:lstStyle/>
          <a:p>
            <a:endParaRPr lang="en-US" dirty="0"/>
          </a:p>
        </p:txBody>
      </p:sp>
      <p:sp>
        <p:nvSpPr>
          <p:cNvPr id="22" name="TextBox 21"/>
          <p:cNvSpPr txBox="1"/>
          <p:nvPr/>
        </p:nvSpPr>
        <p:spPr>
          <a:xfrm>
            <a:off x="6570014" y="4724011"/>
            <a:ext cx="685800" cy="369332"/>
          </a:xfrm>
          <a:prstGeom prst="rect">
            <a:avLst/>
          </a:prstGeom>
          <a:solidFill>
            <a:schemeClr val="bg1"/>
          </a:solidFill>
        </p:spPr>
        <p:txBody>
          <a:bodyPr wrap="square" rtlCol="0">
            <a:spAutoFit/>
          </a:bodyPr>
          <a:lstStyle/>
          <a:p>
            <a:endParaRPr lang="en-US" dirty="0"/>
          </a:p>
        </p:txBody>
      </p:sp>
      <p:sp>
        <p:nvSpPr>
          <p:cNvPr id="23" name="Rectangle 22"/>
          <p:cNvSpPr/>
          <p:nvPr/>
        </p:nvSpPr>
        <p:spPr>
          <a:xfrm>
            <a:off x="7547960" y="4234545"/>
            <a:ext cx="4572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30</a:t>
            </a:r>
          </a:p>
        </p:txBody>
      </p:sp>
      <p:sp>
        <p:nvSpPr>
          <p:cNvPr id="24" name="Rectangle 23"/>
          <p:cNvSpPr/>
          <p:nvPr/>
        </p:nvSpPr>
        <p:spPr>
          <a:xfrm>
            <a:off x="7956671" y="4234545"/>
            <a:ext cx="4572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50</a:t>
            </a:r>
          </a:p>
        </p:txBody>
      </p:sp>
      <p:sp>
        <p:nvSpPr>
          <p:cNvPr id="25" name="Rectangle 24"/>
          <p:cNvSpPr/>
          <p:nvPr/>
        </p:nvSpPr>
        <p:spPr>
          <a:xfrm>
            <a:off x="8365382" y="4234545"/>
            <a:ext cx="4572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20</a:t>
            </a:r>
          </a:p>
        </p:txBody>
      </p:sp>
      <p:sp>
        <p:nvSpPr>
          <p:cNvPr id="26" name="Rectangle 25"/>
          <p:cNvSpPr/>
          <p:nvPr/>
        </p:nvSpPr>
        <p:spPr>
          <a:xfrm>
            <a:off x="7547960" y="4691745"/>
            <a:ext cx="4572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10</a:t>
            </a:r>
          </a:p>
        </p:txBody>
      </p:sp>
      <p:sp>
        <p:nvSpPr>
          <p:cNvPr id="27" name="Rectangle 26"/>
          <p:cNvSpPr/>
          <p:nvPr/>
        </p:nvSpPr>
        <p:spPr>
          <a:xfrm>
            <a:off x="7956671" y="4691745"/>
            <a:ext cx="4572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20</a:t>
            </a:r>
          </a:p>
        </p:txBody>
      </p:sp>
      <p:sp>
        <p:nvSpPr>
          <p:cNvPr id="28" name="Rectangle 27"/>
          <p:cNvSpPr/>
          <p:nvPr/>
        </p:nvSpPr>
        <p:spPr>
          <a:xfrm>
            <a:off x="8365382" y="4691745"/>
            <a:ext cx="4572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30</a:t>
            </a:r>
          </a:p>
        </p:txBody>
      </p:sp>
      <p:sp>
        <p:nvSpPr>
          <p:cNvPr id="29" name="Rectangle 28"/>
          <p:cNvSpPr/>
          <p:nvPr/>
        </p:nvSpPr>
        <p:spPr>
          <a:xfrm>
            <a:off x="8780808" y="4691745"/>
            <a:ext cx="4572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40</a:t>
            </a:r>
          </a:p>
        </p:txBody>
      </p:sp>
      <p:sp>
        <p:nvSpPr>
          <p:cNvPr id="30" name="Rectangle 29"/>
          <p:cNvSpPr/>
          <p:nvPr/>
        </p:nvSpPr>
        <p:spPr>
          <a:xfrm>
            <a:off x="7547960" y="5148945"/>
            <a:ext cx="4572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30</a:t>
            </a:r>
          </a:p>
        </p:txBody>
      </p:sp>
      <p:sp>
        <p:nvSpPr>
          <p:cNvPr id="31" name="Rectangle 30"/>
          <p:cNvSpPr/>
          <p:nvPr/>
        </p:nvSpPr>
        <p:spPr>
          <a:xfrm>
            <a:off x="7956671" y="5148945"/>
            <a:ext cx="4572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10</a:t>
            </a:r>
          </a:p>
        </p:txBody>
      </p:sp>
      <p:sp>
        <p:nvSpPr>
          <p:cNvPr id="32" name="Rectangle 31"/>
          <p:cNvSpPr/>
          <p:nvPr/>
        </p:nvSpPr>
        <p:spPr>
          <a:xfrm>
            <a:off x="8365382" y="5148945"/>
            <a:ext cx="4572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20</a:t>
            </a:r>
          </a:p>
        </p:txBody>
      </p:sp>
      <p:sp>
        <p:nvSpPr>
          <p:cNvPr id="33" name="Rectangle 32"/>
          <p:cNvSpPr/>
          <p:nvPr/>
        </p:nvSpPr>
        <p:spPr>
          <a:xfrm>
            <a:off x="8780808" y="5148945"/>
            <a:ext cx="4572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40</a:t>
            </a:r>
          </a:p>
        </p:txBody>
      </p:sp>
      <p:sp>
        <p:nvSpPr>
          <p:cNvPr id="34" name="Rounded Rectangle 33"/>
          <p:cNvSpPr/>
          <p:nvPr/>
        </p:nvSpPr>
        <p:spPr>
          <a:xfrm>
            <a:off x="3661760" y="5870622"/>
            <a:ext cx="4114800" cy="6096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rgbClr val="002060"/>
                </a:solidFill>
              </a:rPr>
              <a:t>Profit = 66 + 60 + (40 * 0.5) = 146</a:t>
            </a:r>
          </a:p>
        </p:txBody>
      </p:sp>
      <p:sp>
        <p:nvSpPr>
          <p:cNvPr id="35" name="Rounded Rectangle 34"/>
          <p:cNvSpPr/>
          <p:nvPr/>
        </p:nvSpPr>
        <p:spPr>
          <a:xfrm>
            <a:off x="3661760" y="5870622"/>
            <a:ext cx="4114800" cy="6096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rgbClr val="002060"/>
                </a:solidFill>
              </a:rPr>
              <a:t>Profit = 20 + 30 + 66 + 40 = 156</a:t>
            </a:r>
          </a:p>
        </p:txBody>
      </p:sp>
      <p:sp>
        <p:nvSpPr>
          <p:cNvPr id="36" name="Rounded Rectangle 35"/>
          <p:cNvSpPr/>
          <p:nvPr/>
        </p:nvSpPr>
        <p:spPr>
          <a:xfrm>
            <a:off x="3661760" y="5865856"/>
            <a:ext cx="4114800" cy="609600"/>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002060"/>
                </a:solidFill>
              </a:rPr>
              <a:t>Profit = 66 + 20 + 30 + 48 = 164</a:t>
            </a:r>
          </a:p>
        </p:txBody>
      </p:sp>
      <p:sp>
        <p:nvSpPr>
          <p:cNvPr id="37" name="TextBox 36"/>
          <p:cNvSpPr txBox="1"/>
          <p:nvPr/>
        </p:nvSpPr>
        <p:spPr>
          <a:xfrm>
            <a:off x="7575380" y="3319585"/>
            <a:ext cx="1828800" cy="830997"/>
          </a:xfrm>
          <a:prstGeom prst="rect">
            <a:avLst/>
          </a:prstGeom>
          <a:solidFill>
            <a:schemeClr val="accent1">
              <a:lumMod val="20000"/>
              <a:lumOff val="80000"/>
            </a:schemeClr>
          </a:solidFill>
          <a:ln>
            <a:solidFill>
              <a:srgbClr val="AD1457"/>
            </a:solidFill>
          </a:ln>
        </p:spPr>
        <p:txBody>
          <a:bodyPr wrap="square" rtlCol="0">
            <a:spAutoFit/>
          </a:bodyPr>
          <a:lstStyle/>
          <a:p>
            <a:pPr algn="ctr"/>
            <a:r>
              <a:rPr lang="en-US" sz="2400" dirty="0">
                <a:solidFill>
                  <a:srgbClr val="AD1457"/>
                </a:solidFill>
              </a:rPr>
              <a:t>Weight Capacity 100</a:t>
            </a:r>
          </a:p>
        </p:txBody>
      </p:sp>
      <p:sp>
        <p:nvSpPr>
          <p:cNvPr id="38" name="Rounded Rectangle 37"/>
          <p:cNvSpPr/>
          <p:nvPr/>
        </p:nvSpPr>
        <p:spPr>
          <a:xfrm>
            <a:off x="6583486" y="5188042"/>
            <a:ext cx="640080" cy="369332"/>
          </a:xfrm>
          <a:prstGeom prst="round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a:off x="6412124" y="5186174"/>
            <a:ext cx="981069" cy="406265"/>
          </a:xfrm>
          <a:prstGeom prst="rect">
            <a:avLst/>
          </a:prstGeom>
          <a:solidFill>
            <a:schemeClr val="bg1"/>
          </a:solidFill>
        </p:spPr>
        <p:txBody>
          <a:bodyPr wrap="square" rtlCol="0">
            <a:spAutoFit/>
          </a:bodyPr>
          <a:lstStyle/>
          <a:p>
            <a:endParaRPr lang="en-US" dirty="0"/>
          </a:p>
        </p:txBody>
      </p:sp>
      <p:cxnSp>
        <p:nvCxnSpPr>
          <p:cNvPr id="40" name="Straight Connector 39"/>
          <p:cNvCxnSpPr/>
          <p:nvPr/>
        </p:nvCxnSpPr>
        <p:spPr>
          <a:xfrm>
            <a:off x="5769228" y="1685108"/>
            <a:ext cx="457202"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7715002" y="1685108"/>
            <a:ext cx="457202"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6821794" y="1685108"/>
            <a:ext cx="457202"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3580452" y="2250744"/>
            <a:ext cx="457202"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4660898" y="2250744"/>
            <a:ext cx="457202"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5782292" y="2250744"/>
            <a:ext cx="457202"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6821794" y="2250744"/>
            <a:ext cx="457202"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4676307" y="2807344"/>
            <a:ext cx="457202"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3599206" y="2807344"/>
            <a:ext cx="457202"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5782882" y="2807344"/>
            <a:ext cx="457202"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7774383" y="2807344"/>
            <a:ext cx="457202"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51" name="Rectangle 50"/>
          <p:cNvSpPr/>
          <p:nvPr/>
        </p:nvSpPr>
        <p:spPr>
          <a:xfrm>
            <a:off x="1999132" y="2384158"/>
            <a:ext cx="6490648" cy="55418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p:cNvSpPr/>
          <p:nvPr/>
        </p:nvSpPr>
        <p:spPr>
          <a:xfrm>
            <a:off x="7761719" y="1890164"/>
            <a:ext cx="411480" cy="411480"/>
          </a:xfrm>
          <a:prstGeom prst="ellipse">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46859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51"/>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37"/>
                                        </p:tgtEl>
                                        <p:attrNameLst>
                                          <p:attrName>style.visibility</p:attrName>
                                        </p:attrNameLst>
                                      </p:cBhvr>
                                      <p:to>
                                        <p:strVal val="visible"/>
                                      </p:to>
                                    </p:set>
                                    <p:animEffect transition="in" filter="fade">
                                      <p:cBhvr>
                                        <p:cTn id="20" dur="500"/>
                                        <p:tgtEl>
                                          <p:spTgt spid="3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wipe(left)">
                                      <p:cBhvr>
                                        <p:cTn id="25" dur="500"/>
                                        <p:tgtEl>
                                          <p:spTgt spid="40"/>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hidden"/>
                                      </p:to>
                                    </p:set>
                                  </p:childTnLst>
                                </p:cTn>
                              </p:par>
                            </p:childTnLst>
                          </p:cTn>
                        </p:par>
                        <p:par>
                          <p:cTn id="30" fill="hold">
                            <p:stCondLst>
                              <p:cond delay="0"/>
                            </p:stCondLst>
                            <p:childTnLst>
                              <p:par>
                                <p:cTn id="31" presetID="10" presetClass="entr" presetSubtype="0" fill="hold" grpId="0" nodeType="after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41"/>
                                        </p:tgtEl>
                                        <p:attrNameLst>
                                          <p:attrName>style.visibility</p:attrName>
                                        </p:attrNameLst>
                                      </p:cBhvr>
                                      <p:to>
                                        <p:strVal val="visible"/>
                                      </p:to>
                                    </p:set>
                                    <p:animEffect transition="in" filter="wipe(left)">
                                      <p:cBhvr>
                                        <p:cTn id="38" dur="500"/>
                                        <p:tgtEl>
                                          <p:spTgt spid="41"/>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hidden"/>
                                      </p:to>
                                    </p:se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42"/>
                                        </p:tgtEl>
                                        <p:attrNameLst>
                                          <p:attrName>style.visibility</p:attrName>
                                        </p:attrNameLst>
                                      </p:cBhvr>
                                      <p:to>
                                        <p:strVal val="visible"/>
                                      </p:to>
                                    </p:set>
                                    <p:animEffect transition="in" filter="wipe(left)">
                                      <p:cBhvr>
                                        <p:cTn id="51" dur="500"/>
                                        <p:tgtEl>
                                          <p:spTgt spid="42"/>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xit" presetSubtype="0" fill="hold" grpId="0" nodeType="clickEffect">
                                  <p:stCondLst>
                                    <p:cond delay="0"/>
                                  </p:stCondLst>
                                  <p:childTnLst>
                                    <p:set>
                                      <p:cBhvr>
                                        <p:cTn id="55" dur="1" fill="hold">
                                          <p:stCondLst>
                                            <p:cond delay="0"/>
                                          </p:stCondLst>
                                        </p:cTn>
                                        <p:tgtEl>
                                          <p:spTgt spid="9"/>
                                        </p:tgtEl>
                                        <p:attrNameLst>
                                          <p:attrName>style.visibility</p:attrName>
                                        </p:attrNameLst>
                                      </p:cBhvr>
                                      <p:to>
                                        <p:strVal val="hidden"/>
                                      </p:to>
                                    </p:set>
                                  </p:childTnLst>
                                </p:cTn>
                              </p:par>
                            </p:childTnLst>
                          </p:cTn>
                        </p:par>
                        <p:par>
                          <p:cTn id="56" fill="hold">
                            <p:stCondLst>
                              <p:cond delay="0"/>
                            </p:stCondLst>
                            <p:childTnLst>
                              <p:par>
                                <p:cTn id="57" presetID="10" presetClass="entr" presetSubtype="0" fill="hold" grpId="0" nodeType="after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500"/>
                                        <p:tgtEl>
                                          <p:spTgt spid="25"/>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xit" presetSubtype="0" fill="hold" grpId="0" nodeType="clickEffect">
                                  <p:stCondLst>
                                    <p:cond delay="0"/>
                                  </p:stCondLst>
                                  <p:childTnLst>
                                    <p:set>
                                      <p:cBhvr>
                                        <p:cTn id="63" dur="1" fill="hold">
                                          <p:stCondLst>
                                            <p:cond delay="0"/>
                                          </p:stCondLst>
                                        </p:cTn>
                                        <p:tgtEl>
                                          <p:spTgt spid="6"/>
                                        </p:tgtEl>
                                        <p:attrNameLst>
                                          <p:attrName>style.visibility</p:attrName>
                                        </p:attrNameLst>
                                      </p:cBhvr>
                                      <p:to>
                                        <p:strVal val="hidden"/>
                                      </p:to>
                                    </p:set>
                                  </p:childTnLst>
                                </p:cTn>
                              </p:par>
                              <p:par>
                                <p:cTn id="64" presetID="1" presetClass="exit" presetSubtype="0" fill="hold" grpId="0" nodeType="withEffect">
                                  <p:stCondLst>
                                    <p:cond delay="0"/>
                                  </p:stCondLst>
                                  <p:childTnLst>
                                    <p:set>
                                      <p:cBhvr>
                                        <p:cTn id="65" dur="1" fill="hold">
                                          <p:stCondLst>
                                            <p:cond delay="0"/>
                                          </p:stCondLst>
                                        </p:cTn>
                                        <p:tgtEl>
                                          <p:spTgt spid="7"/>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fade">
                                      <p:cBhvr>
                                        <p:cTn id="70" dur="500"/>
                                        <p:tgtEl>
                                          <p:spTgt spid="34"/>
                                        </p:tgtEl>
                                      </p:cBhvr>
                                    </p:animEffec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grpId="0" nodeType="clickEffect">
                                  <p:stCondLst>
                                    <p:cond delay="0"/>
                                  </p:stCondLst>
                                  <p:childTnLst>
                                    <p:set>
                                      <p:cBhvr>
                                        <p:cTn id="74" dur="1" fill="hold">
                                          <p:stCondLst>
                                            <p:cond delay="0"/>
                                          </p:stCondLst>
                                        </p:cTn>
                                        <p:tgtEl>
                                          <p:spTgt spid="21"/>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1" nodeType="clickEffect">
                                  <p:stCondLst>
                                    <p:cond delay="0"/>
                                  </p:stCondLst>
                                  <p:childTnLst>
                                    <p:set>
                                      <p:cBhvr>
                                        <p:cTn id="78" dur="1" fill="hold">
                                          <p:stCondLst>
                                            <p:cond delay="0"/>
                                          </p:stCondLst>
                                        </p:cTn>
                                        <p:tgtEl>
                                          <p:spTgt spid="34"/>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43"/>
                                        </p:tgtEl>
                                        <p:attrNameLst>
                                          <p:attrName>style.visibility</p:attrName>
                                        </p:attrNameLst>
                                      </p:cBhvr>
                                      <p:to>
                                        <p:strVal val="visible"/>
                                      </p:to>
                                    </p:set>
                                    <p:animEffect transition="in" filter="wipe(left)">
                                      <p:cBhvr>
                                        <p:cTn id="83" dur="500"/>
                                        <p:tgtEl>
                                          <p:spTgt spid="43"/>
                                        </p:tgtEl>
                                      </p:cBhvr>
                                    </p:animEffect>
                                  </p:childTnLst>
                                </p:cTn>
                              </p:par>
                            </p:childTnLst>
                          </p:cTn>
                        </p:par>
                      </p:childTnLst>
                    </p:cTn>
                  </p:par>
                  <p:par>
                    <p:cTn id="84" fill="hold">
                      <p:stCondLst>
                        <p:cond delay="indefinite"/>
                      </p:stCondLst>
                      <p:childTnLst>
                        <p:par>
                          <p:cTn id="85" fill="hold">
                            <p:stCondLst>
                              <p:cond delay="0"/>
                            </p:stCondLst>
                            <p:childTnLst>
                              <p:par>
                                <p:cTn id="86" presetID="1" presetClass="exit" presetSubtype="0" fill="hold" grpId="0" nodeType="clickEffect">
                                  <p:stCondLst>
                                    <p:cond delay="0"/>
                                  </p:stCondLst>
                                  <p:childTnLst>
                                    <p:set>
                                      <p:cBhvr>
                                        <p:cTn id="87" dur="1" fill="hold">
                                          <p:stCondLst>
                                            <p:cond delay="0"/>
                                          </p:stCondLst>
                                        </p:cTn>
                                        <p:tgtEl>
                                          <p:spTgt spid="11"/>
                                        </p:tgtEl>
                                        <p:attrNameLst>
                                          <p:attrName>style.visibility</p:attrName>
                                        </p:attrNameLst>
                                      </p:cBhvr>
                                      <p:to>
                                        <p:strVal val="hidden"/>
                                      </p:to>
                                    </p:set>
                                  </p:childTnLst>
                                </p:cTn>
                              </p:par>
                            </p:childTnLst>
                          </p:cTn>
                        </p:par>
                        <p:par>
                          <p:cTn id="88" fill="hold">
                            <p:stCondLst>
                              <p:cond delay="0"/>
                            </p:stCondLst>
                            <p:childTnLst>
                              <p:par>
                                <p:cTn id="89" presetID="10" presetClass="entr" presetSubtype="0" fill="hold" grpId="0" nodeType="afterEffect">
                                  <p:stCondLst>
                                    <p:cond delay="0"/>
                                  </p:stCondLst>
                                  <p:childTnLst>
                                    <p:set>
                                      <p:cBhvr>
                                        <p:cTn id="90" dur="1" fill="hold">
                                          <p:stCondLst>
                                            <p:cond delay="0"/>
                                          </p:stCondLst>
                                        </p:cTn>
                                        <p:tgtEl>
                                          <p:spTgt spid="26"/>
                                        </p:tgtEl>
                                        <p:attrNameLst>
                                          <p:attrName>style.visibility</p:attrName>
                                        </p:attrNameLst>
                                      </p:cBhvr>
                                      <p:to>
                                        <p:strVal val="visible"/>
                                      </p:to>
                                    </p:set>
                                    <p:animEffect transition="in" filter="fade">
                                      <p:cBhvr>
                                        <p:cTn id="91" dur="500"/>
                                        <p:tgtEl>
                                          <p:spTgt spid="26"/>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44"/>
                                        </p:tgtEl>
                                        <p:attrNameLst>
                                          <p:attrName>style.visibility</p:attrName>
                                        </p:attrNameLst>
                                      </p:cBhvr>
                                      <p:to>
                                        <p:strVal val="visible"/>
                                      </p:to>
                                    </p:set>
                                    <p:animEffect transition="in" filter="wipe(left)">
                                      <p:cBhvr>
                                        <p:cTn id="96" dur="500"/>
                                        <p:tgtEl>
                                          <p:spTgt spid="44"/>
                                        </p:tgtEl>
                                      </p:cBhvr>
                                    </p:animEffect>
                                  </p:childTnLst>
                                </p:cTn>
                              </p:par>
                            </p:childTnLst>
                          </p:cTn>
                        </p:par>
                      </p:childTnLst>
                    </p:cTn>
                  </p:par>
                  <p:par>
                    <p:cTn id="97" fill="hold">
                      <p:stCondLst>
                        <p:cond delay="indefinite"/>
                      </p:stCondLst>
                      <p:childTnLst>
                        <p:par>
                          <p:cTn id="98" fill="hold">
                            <p:stCondLst>
                              <p:cond delay="0"/>
                            </p:stCondLst>
                            <p:childTnLst>
                              <p:par>
                                <p:cTn id="99" presetID="1" presetClass="exit" presetSubtype="0" fill="hold" grpId="0" nodeType="clickEffect">
                                  <p:stCondLst>
                                    <p:cond delay="0"/>
                                  </p:stCondLst>
                                  <p:childTnLst>
                                    <p:set>
                                      <p:cBhvr>
                                        <p:cTn id="100" dur="1" fill="hold">
                                          <p:stCondLst>
                                            <p:cond delay="0"/>
                                          </p:stCondLst>
                                        </p:cTn>
                                        <p:tgtEl>
                                          <p:spTgt spid="13"/>
                                        </p:tgtEl>
                                        <p:attrNameLst>
                                          <p:attrName>style.visibility</p:attrName>
                                        </p:attrNameLst>
                                      </p:cBhvr>
                                      <p:to>
                                        <p:strVal val="hidden"/>
                                      </p:to>
                                    </p:set>
                                  </p:childTnLst>
                                </p:cTn>
                              </p:par>
                            </p:childTnLst>
                          </p:cTn>
                        </p:par>
                        <p:par>
                          <p:cTn id="101" fill="hold">
                            <p:stCondLst>
                              <p:cond delay="0"/>
                            </p:stCondLst>
                            <p:childTnLst>
                              <p:par>
                                <p:cTn id="102" presetID="10" presetClass="entr" presetSubtype="0" fill="hold" grpId="0" nodeType="afterEffect">
                                  <p:stCondLst>
                                    <p:cond delay="0"/>
                                  </p:stCondLst>
                                  <p:childTnLst>
                                    <p:set>
                                      <p:cBhvr>
                                        <p:cTn id="103" dur="1" fill="hold">
                                          <p:stCondLst>
                                            <p:cond delay="0"/>
                                          </p:stCondLst>
                                        </p:cTn>
                                        <p:tgtEl>
                                          <p:spTgt spid="27"/>
                                        </p:tgtEl>
                                        <p:attrNameLst>
                                          <p:attrName>style.visibility</p:attrName>
                                        </p:attrNameLst>
                                      </p:cBhvr>
                                      <p:to>
                                        <p:strVal val="visible"/>
                                      </p:to>
                                    </p:set>
                                    <p:animEffect transition="in" filter="fade">
                                      <p:cBhvr>
                                        <p:cTn id="104" dur="500"/>
                                        <p:tgtEl>
                                          <p:spTgt spid="27"/>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nodeType="clickEffect">
                                  <p:stCondLst>
                                    <p:cond delay="0"/>
                                  </p:stCondLst>
                                  <p:childTnLst>
                                    <p:set>
                                      <p:cBhvr>
                                        <p:cTn id="108" dur="1" fill="hold">
                                          <p:stCondLst>
                                            <p:cond delay="0"/>
                                          </p:stCondLst>
                                        </p:cTn>
                                        <p:tgtEl>
                                          <p:spTgt spid="45"/>
                                        </p:tgtEl>
                                        <p:attrNameLst>
                                          <p:attrName>style.visibility</p:attrName>
                                        </p:attrNameLst>
                                      </p:cBhvr>
                                      <p:to>
                                        <p:strVal val="visible"/>
                                      </p:to>
                                    </p:set>
                                    <p:animEffect transition="in" filter="wipe(left)">
                                      <p:cBhvr>
                                        <p:cTn id="109" dur="500"/>
                                        <p:tgtEl>
                                          <p:spTgt spid="45"/>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xit" presetSubtype="0" fill="hold" grpId="0" nodeType="clickEffect">
                                  <p:stCondLst>
                                    <p:cond delay="0"/>
                                  </p:stCondLst>
                                  <p:childTnLst>
                                    <p:set>
                                      <p:cBhvr>
                                        <p:cTn id="113" dur="1" fill="hold">
                                          <p:stCondLst>
                                            <p:cond delay="0"/>
                                          </p:stCondLst>
                                        </p:cTn>
                                        <p:tgtEl>
                                          <p:spTgt spid="15"/>
                                        </p:tgtEl>
                                        <p:attrNameLst>
                                          <p:attrName>style.visibility</p:attrName>
                                        </p:attrNameLst>
                                      </p:cBhvr>
                                      <p:to>
                                        <p:strVal val="hidden"/>
                                      </p:to>
                                    </p:set>
                                  </p:childTnLst>
                                </p:cTn>
                              </p:par>
                            </p:childTnLst>
                          </p:cTn>
                        </p:par>
                        <p:par>
                          <p:cTn id="114" fill="hold">
                            <p:stCondLst>
                              <p:cond delay="0"/>
                            </p:stCondLst>
                            <p:childTnLst>
                              <p:par>
                                <p:cTn id="115" presetID="10" presetClass="entr" presetSubtype="0" fill="hold" grpId="0" nodeType="afterEffect">
                                  <p:stCondLst>
                                    <p:cond delay="0"/>
                                  </p:stCondLst>
                                  <p:childTnLst>
                                    <p:set>
                                      <p:cBhvr>
                                        <p:cTn id="116" dur="1" fill="hold">
                                          <p:stCondLst>
                                            <p:cond delay="0"/>
                                          </p:stCondLst>
                                        </p:cTn>
                                        <p:tgtEl>
                                          <p:spTgt spid="28"/>
                                        </p:tgtEl>
                                        <p:attrNameLst>
                                          <p:attrName>style.visibility</p:attrName>
                                        </p:attrNameLst>
                                      </p:cBhvr>
                                      <p:to>
                                        <p:strVal val="visible"/>
                                      </p:to>
                                    </p:set>
                                    <p:animEffect transition="in" filter="fade">
                                      <p:cBhvr>
                                        <p:cTn id="117" dur="500"/>
                                        <p:tgtEl>
                                          <p:spTgt spid="28"/>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nodeType="clickEffect">
                                  <p:stCondLst>
                                    <p:cond delay="0"/>
                                  </p:stCondLst>
                                  <p:childTnLst>
                                    <p:set>
                                      <p:cBhvr>
                                        <p:cTn id="121" dur="1" fill="hold">
                                          <p:stCondLst>
                                            <p:cond delay="0"/>
                                          </p:stCondLst>
                                        </p:cTn>
                                        <p:tgtEl>
                                          <p:spTgt spid="46"/>
                                        </p:tgtEl>
                                        <p:attrNameLst>
                                          <p:attrName>style.visibility</p:attrName>
                                        </p:attrNameLst>
                                      </p:cBhvr>
                                      <p:to>
                                        <p:strVal val="visible"/>
                                      </p:to>
                                    </p:set>
                                    <p:animEffect transition="in" filter="wipe(left)">
                                      <p:cBhvr>
                                        <p:cTn id="122" dur="500"/>
                                        <p:tgtEl>
                                          <p:spTgt spid="46"/>
                                        </p:tgtEl>
                                      </p:cBhvr>
                                    </p:animEffect>
                                  </p:childTnLst>
                                </p:cTn>
                              </p:par>
                            </p:childTnLst>
                          </p:cTn>
                        </p:par>
                      </p:childTnLst>
                    </p:cTn>
                  </p:par>
                  <p:par>
                    <p:cTn id="123" fill="hold">
                      <p:stCondLst>
                        <p:cond delay="indefinite"/>
                      </p:stCondLst>
                      <p:childTnLst>
                        <p:par>
                          <p:cTn id="124" fill="hold">
                            <p:stCondLst>
                              <p:cond delay="0"/>
                            </p:stCondLst>
                            <p:childTnLst>
                              <p:par>
                                <p:cTn id="125" presetID="1" presetClass="exit" presetSubtype="0" fill="hold" grpId="0" nodeType="clickEffect">
                                  <p:stCondLst>
                                    <p:cond delay="0"/>
                                  </p:stCondLst>
                                  <p:childTnLst>
                                    <p:set>
                                      <p:cBhvr>
                                        <p:cTn id="126" dur="1" fill="hold">
                                          <p:stCondLst>
                                            <p:cond delay="0"/>
                                          </p:stCondLst>
                                        </p:cTn>
                                        <p:tgtEl>
                                          <p:spTgt spid="17"/>
                                        </p:tgtEl>
                                        <p:attrNameLst>
                                          <p:attrName>style.visibility</p:attrName>
                                        </p:attrNameLst>
                                      </p:cBhvr>
                                      <p:to>
                                        <p:strVal val="hidden"/>
                                      </p:to>
                                    </p:se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29"/>
                                        </p:tgtEl>
                                        <p:attrNameLst>
                                          <p:attrName>style.visibility</p:attrName>
                                        </p:attrNameLst>
                                      </p:cBhvr>
                                      <p:to>
                                        <p:strVal val="visible"/>
                                      </p:to>
                                    </p:set>
                                    <p:animEffect transition="in" filter="fade">
                                      <p:cBhvr>
                                        <p:cTn id="130" dur="500"/>
                                        <p:tgtEl>
                                          <p:spTgt spid="29"/>
                                        </p:tgtEl>
                                      </p:cBhvr>
                                    </p:animEffect>
                                  </p:childTnLst>
                                </p:cTn>
                              </p:par>
                            </p:childTnLst>
                          </p:cTn>
                        </p:par>
                      </p:childTnLst>
                    </p:cTn>
                  </p:par>
                  <p:par>
                    <p:cTn id="131" fill="hold">
                      <p:stCondLst>
                        <p:cond delay="indefinite"/>
                      </p:stCondLst>
                      <p:childTnLst>
                        <p:par>
                          <p:cTn id="132" fill="hold">
                            <p:stCondLst>
                              <p:cond delay="0"/>
                            </p:stCondLst>
                            <p:childTnLst>
                              <p:par>
                                <p:cTn id="133" presetID="21" presetClass="entr" presetSubtype="1" fill="hold" grpId="0" nodeType="clickEffect">
                                  <p:stCondLst>
                                    <p:cond delay="0"/>
                                  </p:stCondLst>
                                  <p:childTnLst>
                                    <p:set>
                                      <p:cBhvr>
                                        <p:cTn id="134" dur="1" fill="hold">
                                          <p:stCondLst>
                                            <p:cond delay="0"/>
                                          </p:stCondLst>
                                        </p:cTn>
                                        <p:tgtEl>
                                          <p:spTgt spid="52"/>
                                        </p:tgtEl>
                                        <p:attrNameLst>
                                          <p:attrName>style.visibility</p:attrName>
                                        </p:attrNameLst>
                                      </p:cBhvr>
                                      <p:to>
                                        <p:strVal val="visible"/>
                                      </p:to>
                                    </p:set>
                                    <p:animEffect transition="in" filter="wheel(1)">
                                      <p:cBhvr>
                                        <p:cTn id="135" dur="2000"/>
                                        <p:tgtEl>
                                          <p:spTgt spid="52"/>
                                        </p:tgtEl>
                                      </p:cBhvr>
                                    </p:animEffect>
                                  </p:childTnLst>
                                </p:cTn>
                              </p:par>
                            </p:childTnLst>
                          </p:cTn>
                        </p:par>
                      </p:childTnLst>
                    </p:cTn>
                  </p:par>
                  <p:par>
                    <p:cTn id="136" fill="hold">
                      <p:stCondLst>
                        <p:cond delay="indefinite"/>
                      </p:stCondLst>
                      <p:childTnLst>
                        <p:par>
                          <p:cTn id="137" fill="hold">
                            <p:stCondLst>
                              <p:cond delay="0"/>
                            </p:stCondLst>
                            <p:childTnLst>
                              <p:par>
                                <p:cTn id="138" presetID="1" presetClass="exit" presetSubtype="0" fill="hold" grpId="0" nodeType="clickEffect">
                                  <p:stCondLst>
                                    <p:cond delay="0"/>
                                  </p:stCondLst>
                                  <p:childTnLst>
                                    <p:set>
                                      <p:cBhvr>
                                        <p:cTn id="139" dur="1" fill="hold">
                                          <p:stCondLst>
                                            <p:cond delay="0"/>
                                          </p:stCondLst>
                                        </p:cTn>
                                        <p:tgtEl>
                                          <p:spTgt spid="19"/>
                                        </p:tgtEl>
                                        <p:attrNameLst>
                                          <p:attrName>style.visibility</p:attrName>
                                        </p:attrNameLst>
                                      </p:cBhvr>
                                      <p:to>
                                        <p:strVal val="hidden"/>
                                      </p:to>
                                    </p:set>
                                  </p:childTnLst>
                                </p:cTn>
                              </p:par>
                            </p:childTnLst>
                          </p:cTn>
                        </p:par>
                      </p:childTnLst>
                    </p:cTn>
                  </p:par>
                  <p:par>
                    <p:cTn id="140" fill="hold">
                      <p:stCondLst>
                        <p:cond delay="indefinite"/>
                      </p:stCondLst>
                      <p:childTnLst>
                        <p:par>
                          <p:cTn id="141" fill="hold">
                            <p:stCondLst>
                              <p:cond delay="0"/>
                            </p:stCondLst>
                            <p:childTnLst>
                              <p:par>
                                <p:cTn id="142" presetID="10" presetClass="entr" presetSubtype="0" fill="hold" grpId="0" nodeType="clickEffect">
                                  <p:stCondLst>
                                    <p:cond delay="0"/>
                                  </p:stCondLst>
                                  <p:childTnLst>
                                    <p:set>
                                      <p:cBhvr>
                                        <p:cTn id="143" dur="1" fill="hold">
                                          <p:stCondLst>
                                            <p:cond delay="0"/>
                                          </p:stCondLst>
                                        </p:cTn>
                                        <p:tgtEl>
                                          <p:spTgt spid="35"/>
                                        </p:tgtEl>
                                        <p:attrNameLst>
                                          <p:attrName>style.visibility</p:attrName>
                                        </p:attrNameLst>
                                      </p:cBhvr>
                                      <p:to>
                                        <p:strVal val="visible"/>
                                      </p:to>
                                    </p:set>
                                    <p:animEffect transition="in" filter="fade">
                                      <p:cBhvr>
                                        <p:cTn id="144" dur="500"/>
                                        <p:tgtEl>
                                          <p:spTgt spid="35"/>
                                        </p:tgtEl>
                                      </p:cBhvr>
                                    </p:animEffect>
                                  </p:childTnLst>
                                </p:cTn>
                              </p:par>
                            </p:childTnLst>
                          </p:cTn>
                        </p:par>
                      </p:childTnLst>
                    </p:cTn>
                  </p:par>
                  <p:par>
                    <p:cTn id="145" fill="hold">
                      <p:stCondLst>
                        <p:cond delay="indefinite"/>
                      </p:stCondLst>
                      <p:childTnLst>
                        <p:par>
                          <p:cTn id="146" fill="hold">
                            <p:stCondLst>
                              <p:cond delay="0"/>
                            </p:stCondLst>
                            <p:childTnLst>
                              <p:par>
                                <p:cTn id="147" presetID="1" presetClass="exit" presetSubtype="0" fill="hold" grpId="0" nodeType="clickEffect">
                                  <p:stCondLst>
                                    <p:cond delay="0"/>
                                  </p:stCondLst>
                                  <p:childTnLst>
                                    <p:set>
                                      <p:cBhvr>
                                        <p:cTn id="148" dur="1" fill="hold">
                                          <p:stCondLst>
                                            <p:cond delay="0"/>
                                          </p:stCondLst>
                                        </p:cTn>
                                        <p:tgtEl>
                                          <p:spTgt spid="22"/>
                                        </p:tgtEl>
                                        <p:attrNameLst>
                                          <p:attrName>style.visibility</p:attrName>
                                        </p:attrNameLst>
                                      </p:cBhvr>
                                      <p:to>
                                        <p:strVal val="hidden"/>
                                      </p:to>
                                    </p:set>
                                  </p:childTnLst>
                                </p:cTn>
                              </p:par>
                            </p:childTnLst>
                          </p:cTn>
                        </p:par>
                      </p:childTnLst>
                    </p:cTn>
                  </p:par>
                  <p:par>
                    <p:cTn id="149" fill="hold">
                      <p:stCondLst>
                        <p:cond delay="indefinite"/>
                      </p:stCondLst>
                      <p:childTnLst>
                        <p:par>
                          <p:cTn id="150" fill="hold">
                            <p:stCondLst>
                              <p:cond delay="0"/>
                            </p:stCondLst>
                            <p:childTnLst>
                              <p:par>
                                <p:cTn id="151" presetID="1" presetClass="exit" presetSubtype="0" fill="hold" grpId="1" nodeType="clickEffect">
                                  <p:stCondLst>
                                    <p:cond delay="0"/>
                                  </p:stCondLst>
                                  <p:childTnLst>
                                    <p:set>
                                      <p:cBhvr>
                                        <p:cTn id="152" dur="1" fill="hold">
                                          <p:stCondLst>
                                            <p:cond delay="0"/>
                                          </p:stCondLst>
                                        </p:cTn>
                                        <p:tgtEl>
                                          <p:spTgt spid="35"/>
                                        </p:tgtEl>
                                        <p:attrNameLst>
                                          <p:attrName>style.visibility</p:attrName>
                                        </p:attrNameLst>
                                      </p:cBhvr>
                                      <p:to>
                                        <p:strVal val="hidden"/>
                                      </p:to>
                                    </p:set>
                                  </p:childTnLst>
                                </p:cTn>
                              </p:par>
                              <p:par>
                                <p:cTn id="153" presetID="21" presetClass="exit" presetSubtype="1" fill="hold" grpId="1" nodeType="withEffect">
                                  <p:stCondLst>
                                    <p:cond delay="0"/>
                                  </p:stCondLst>
                                  <p:childTnLst>
                                    <p:animEffect transition="out" filter="wheel(1)">
                                      <p:cBhvr>
                                        <p:cTn id="154" dur="1000"/>
                                        <p:tgtEl>
                                          <p:spTgt spid="52"/>
                                        </p:tgtEl>
                                      </p:cBhvr>
                                    </p:animEffect>
                                    <p:set>
                                      <p:cBhvr>
                                        <p:cTn id="155" dur="1" fill="hold">
                                          <p:stCondLst>
                                            <p:cond delay="999"/>
                                          </p:stCondLst>
                                        </p:cTn>
                                        <p:tgtEl>
                                          <p:spTgt spid="52"/>
                                        </p:tgtEl>
                                        <p:attrNameLst>
                                          <p:attrName>style.visibility</p:attrName>
                                        </p:attrNameLst>
                                      </p:cBhvr>
                                      <p:to>
                                        <p:strVal val="hidden"/>
                                      </p:to>
                                    </p:set>
                                  </p:childTnLst>
                                </p:cTn>
                              </p:par>
                            </p:childTnLst>
                          </p:cTn>
                        </p:par>
                      </p:childTnLst>
                    </p:cTn>
                  </p:par>
                  <p:par>
                    <p:cTn id="156" fill="hold">
                      <p:stCondLst>
                        <p:cond delay="indefinite"/>
                      </p:stCondLst>
                      <p:childTnLst>
                        <p:par>
                          <p:cTn id="157" fill="hold">
                            <p:stCondLst>
                              <p:cond delay="0"/>
                            </p:stCondLst>
                            <p:childTnLst>
                              <p:par>
                                <p:cTn id="158" presetID="22" presetClass="entr" presetSubtype="8" fill="hold" nodeType="clickEffect">
                                  <p:stCondLst>
                                    <p:cond delay="0"/>
                                  </p:stCondLst>
                                  <p:childTnLst>
                                    <p:set>
                                      <p:cBhvr>
                                        <p:cTn id="159" dur="1" fill="hold">
                                          <p:stCondLst>
                                            <p:cond delay="0"/>
                                          </p:stCondLst>
                                        </p:cTn>
                                        <p:tgtEl>
                                          <p:spTgt spid="49"/>
                                        </p:tgtEl>
                                        <p:attrNameLst>
                                          <p:attrName>style.visibility</p:attrName>
                                        </p:attrNameLst>
                                      </p:cBhvr>
                                      <p:to>
                                        <p:strVal val="visible"/>
                                      </p:to>
                                    </p:set>
                                    <p:animEffect transition="in" filter="wipe(left)">
                                      <p:cBhvr>
                                        <p:cTn id="160" dur="500"/>
                                        <p:tgtEl>
                                          <p:spTgt spid="49"/>
                                        </p:tgtEl>
                                      </p:cBhvr>
                                    </p:animEffect>
                                  </p:childTnLst>
                                </p:cTn>
                              </p:par>
                            </p:childTnLst>
                          </p:cTn>
                        </p:par>
                      </p:childTnLst>
                    </p:cTn>
                  </p:par>
                  <p:par>
                    <p:cTn id="161" fill="hold">
                      <p:stCondLst>
                        <p:cond delay="indefinite"/>
                      </p:stCondLst>
                      <p:childTnLst>
                        <p:par>
                          <p:cTn id="162" fill="hold">
                            <p:stCondLst>
                              <p:cond delay="0"/>
                            </p:stCondLst>
                            <p:childTnLst>
                              <p:par>
                                <p:cTn id="163" presetID="1" presetClass="exit" presetSubtype="0" fill="hold" grpId="0" nodeType="clickEffect">
                                  <p:stCondLst>
                                    <p:cond delay="0"/>
                                  </p:stCondLst>
                                  <p:childTnLst>
                                    <p:set>
                                      <p:cBhvr>
                                        <p:cTn id="164" dur="1" fill="hold">
                                          <p:stCondLst>
                                            <p:cond delay="0"/>
                                          </p:stCondLst>
                                        </p:cTn>
                                        <p:tgtEl>
                                          <p:spTgt spid="16"/>
                                        </p:tgtEl>
                                        <p:attrNameLst>
                                          <p:attrName>style.visibility</p:attrName>
                                        </p:attrNameLst>
                                      </p:cBhvr>
                                      <p:to>
                                        <p:strVal val="hidden"/>
                                      </p:to>
                                    </p:set>
                                  </p:childTnLst>
                                </p:cTn>
                              </p:par>
                            </p:childTnLst>
                          </p:cTn>
                        </p:par>
                        <p:par>
                          <p:cTn id="165" fill="hold">
                            <p:stCondLst>
                              <p:cond delay="0"/>
                            </p:stCondLst>
                            <p:childTnLst>
                              <p:par>
                                <p:cTn id="166" presetID="10" presetClass="entr" presetSubtype="0" fill="hold" grpId="0" nodeType="afterEffect">
                                  <p:stCondLst>
                                    <p:cond delay="0"/>
                                  </p:stCondLst>
                                  <p:childTnLst>
                                    <p:set>
                                      <p:cBhvr>
                                        <p:cTn id="167" dur="1" fill="hold">
                                          <p:stCondLst>
                                            <p:cond delay="0"/>
                                          </p:stCondLst>
                                        </p:cTn>
                                        <p:tgtEl>
                                          <p:spTgt spid="30"/>
                                        </p:tgtEl>
                                        <p:attrNameLst>
                                          <p:attrName>style.visibility</p:attrName>
                                        </p:attrNameLst>
                                      </p:cBhvr>
                                      <p:to>
                                        <p:strVal val="visible"/>
                                      </p:to>
                                    </p:set>
                                    <p:animEffect transition="in" filter="fade">
                                      <p:cBhvr>
                                        <p:cTn id="168" dur="500"/>
                                        <p:tgtEl>
                                          <p:spTgt spid="30"/>
                                        </p:tgtEl>
                                      </p:cBhvr>
                                    </p:animEffect>
                                  </p:childTnLst>
                                </p:cTn>
                              </p:par>
                            </p:childTnLst>
                          </p:cTn>
                        </p:par>
                      </p:childTnLst>
                    </p:cTn>
                  </p:par>
                  <p:par>
                    <p:cTn id="169" fill="hold">
                      <p:stCondLst>
                        <p:cond delay="indefinite"/>
                      </p:stCondLst>
                      <p:childTnLst>
                        <p:par>
                          <p:cTn id="170" fill="hold">
                            <p:stCondLst>
                              <p:cond delay="0"/>
                            </p:stCondLst>
                            <p:childTnLst>
                              <p:par>
                                <p:cTn id="171" presetID="22" presetClass="entr" presetSubtype="8" fill="hold" nodeType="clickEffect">
                                  <p:stCondLst>
                                    <p:cond delay="0"/>
                                  </p:stCondLst>
                                  <p:childTnLst>
                                    <p:set>
                                      <p:cBhvr>
                                        <p:cTn id="172" dur="1" fill="hold">
                                          <p:stCondLst>
                                            <p:cond delay="0"/>
                                          </p:stCondLst>
                                        </p:cTn>
                                        <p:tgtEl>
                                          <p:spTgt spid="48"/>
                                        </p:tgtEl>
                                        <p:attrNameLst>
                                          <p:attrName>style.visibility</p:attrName>
                                        </p:attrNameLst>
                                      </p:cBhvr>
                                      <p:to>
                                        <p:strVal val="visible"/>
                                      </p:to>
                                    </p:set>
                                    <p:animEffect transition="in" filter="wipe(left)">
                                      <p:cBhvr>
                                        <p:cTn id="173" dur="500"/>
                                        <p:tgtEl>
                                          <p:spTgt spid="48"/>
                                        </p:tgtEl>
                                      </p:cBhvr>
                                    </p:animEffect>
                                  </p:childTnLst>
                                </p:cTn>
                              </p:par>
                            </p:childTnLst>
                          </p:cTn>
                        </p:par>
                      </p:childTnLst>
                    </p:cTn>
                  </p:par>
                  <p:par>
                    <p:cTn id="174" fill="hold">
                      <p:stCondLst>
                        <p:cond delay="indefinite"/>
                      </p:stCondLst>
                      <p:childTnLst>
                        <p:par>
                          <p:cTn id="175" fill="hold">
                            <p:stCondLst>
                              <p:cond delay="0"/>
                            </p:stCondLst>
                            <p:childTnLst>
                              <p:par>
                                <p:cTn id="176" presetID="1" presetClass="exit" presetSubtype="0" fill="hold" grpId="0" nodeType="clickEffect">
                                  <p:stCondLst>
                                    <p:cond delay="0"/>
                                  </p:stCondLst>
                                  <p:childTnLst>
                                    <p:set>
                                      <p:cBhvr>
                                        <p:cTn id="177" dur="1" fill="hold">
                                          <p:stCondLst>
                                            <p:cond delay="0"/>
                                          </p:stCondLst>
                                        </p:cTn>
                                        <p:tgtEl>
                                          <p:spTgt spid="12"/>
                                        </p:tgtEl>
                                        <p:attrNameLst>
                                          <p:attrName>style.visibility</p:attrName>
                                        </p:attrNameLst>
                                      </p:cBhvr>
                                      <p:to>
                                        <p:strVal val="hidden"/>
                                      </p:to>
                                    </p:set>
                                  </p:childTnLst>
                                </p:cTn>
                              </p:par>
                            </p:childTnLst>
                          </p:cTn>
                        </p:par>
                        <p:par>
                          <p:cTn id="178" fill="hold">
                            <p:stCondLst>
                              <p:cond delay="0"/>
                            </p:stCondLst>
                            <p:childTnLst>
                              <p:par>
                                <p:cTn id="179" presetID="10" presetClass="entr" presetSubtype="0" fill="hold" grpId="0" nodeType="afterEffect">
                                  <p:stCondLst>
                                    <p:cond delay="0"/>
                                  </p:stCondLst>
                                  <p:childTnLst>
                                    <p:set>
                                      <p:cBhvr>
                                        <p:cTn id="180" dur="1" fill="hold">
                                          <p:stCondLst>
                                            <p:cond delay="0"/>
                                          </p:stCondLst>
                                        </p:cTn>
                                        <p:tgtEl>
                                          <p:spTgt spid="31"/>
                                        </p:tgtEl>
                                        <p:attrNameLst>
                                          <p:attrName>style.visibility</p:attrName>
                                        </p:attrNameLst>
                                      </p:cBhvr>
                                      <p:to>
                                        <p:strVal val="visible"/>
                                      </p:to>
                                    </p:set>
                                    <p:animEffect transition="in" filter="fade">
                                      <p:cBhvr>
                                        <p:cTn id="181" dur="500"/>
                                        <p:tgtEl>
                                          <p:spTgt spid="31"/>
                                        </p:tgtEl>
                                      </p:cBhvr>
                                    </p:animEffect>
                                  </p:childTnLst>
                                </p:cTn>
                              </p:par>
                            </p:childTnLst>
                          </p:cTn>
                        </p:par>
                      </p:childTnLst>
                    </p:cTn>
                  </p:par>
                  <p:par>
                    <p:cTn id="182" fill="hold">
                      <p:stCondLst>
                        <p:cond delay="indefinite"/>
                      </p:stCondLst>
                      <p:childTnLst>
                        <p:par>
                          <p:cTn id="183" fill="hold">
                            <p:stCondLst>
                              <p:cond delay="0"/>
                            </p:stCondLst>
                            <p:childTnLst>
                              <p:par>
                                <p:cTn id="184" presetID="22" presetClass="entr" presetSubtype="8" fill="hold" nodeType="clickEffect">
                                  <p:stCondLst>
                                    <p:cond delay="0"/>
                                  </p:stCondLst>
                                  <p:childTnLst>
                                    <p:set>
                                      <p:cBhvr>
                                        <p:cTn id="185" dur="1" fill="hold">
                                          <p:stCondLst>
                                            <p:cond delay="0"/>
                                          </p:stCondLst>
                                        </p:cTn>
                                        <p:tgtEl>
                                          <p:spTgt spid="47"/>
                                        </p:tgtEl>
                                        <p:attrNameLst>
                                          <p:attrName>style.visibility</p:attrName>
                                        </p:attrNameLst>
                                      </p:cBhvr>
                                      <p:to>
                                        <p:strVal val="visible"/>
                                      </p:to>
                                    </p:set>
                                    <p:animEffect transition="in" filter="wipe(left)">
                                      <p:cBhvr>
                                        <p:cTn id="186" dur="500"/>
                                        <p:tgtEl>
                                          <p:spTgt spid="47"/>
                                        </p:tgtEl>
                                      </p:cBhvr>
                                    </p:animEffect>
                                  </p:childTnLst>
                                </p:cTn>
                              </p:par>
                            </p:childTnLst>
                          </p:cTn>
                        </p:par>
                      </p:childTnLst>
                    </p:cTn>
                  </p:par>
                  <p:par>
                    <p:cTn id="187" fill="hold">
                      <p:stCondLst>
                        <p:cond delay="indefinite"/>
                      </p:stCondLst>
                      <p:childTnLst>
                        <p:par>
                          <p:cTn id="188" fill="hold">
                            <p:stCondLst>
                              <p:cond delay="0"/>
                            </p:stCondLst>
                            <p:childTnLst>
                              <p:par>
                                <p:cTn id="189" presetID="1" presetClass="exit" presetSubtype="0" fill="hold" grpId="0" nodeType="clickEffect">
                                  <p:stCondLst>
                                    <p:cond delay="0"/>
                                  </p:stCondLst>
                                  <p:childTnLst>
                                    <p:set>
                                      <p:cBhvr>
                                        <p:cTn id="190" dur="1" fill="hold">
                                          <p:stCondLst>
                                            <p:cond delay="0"/>
                                          </p:stCondLst>
                                        </p:cTn>
                                        <p:tgtEl>
                                          <p:spTgt spid="14"/>
                                        </p:tgtEl>
                                        <p:attrNameLst>
                                          <p:attrName>style.visibility</p:attrName>
                                        </p:attrNameLst>
                                      </p:cBhvr>
                                      <p:to>
                                        <p:strVal val="hidden"/>
                                      </p:to>
                                    </p:set>
                                  </p:childTnLst>
                                </p:cTn>
                              </p:par>
                            </p:childTnLst>
                          </p:cTn>
                        </p:par>
                        <p:par>
                          <p:cTn id="191" fill="hold">
                            <p:stCondLst>
                              <p:cond delay="0"/>
                            </p:stCondLst>
                            <p:childTnLst>
                              <p:par>
                                <p:cTn id="192" presetID="10" presetClass="entr" presetSubtype="0" fill="hold" grpId="0" nodeType="afterEffect">
                                  <p:stCondLst>
                                    <p:cond delay="0"/>
                                  </p:stCondLst>
                                  <p:childTnLst>
                                    <p:set>
                                      <p:cBhvr>
                                        <p:cTn id="193" dur="1" fill="hold">
                                          <p:stCondLst>
                                            <p:cond delay="0"/>
                                          </p:stCondLst>
                                        </p:cTn>
                                        <p:tgtEl>
                                          <p:spTgt spid="32"/>
                                        </p:tgtEl>
                                        <p:attrNameLst>
                                          <p:attrName>style.visibility</p:attrName>
                                        </p:attrNameLst>
                                      </p:cBhvr>
                                      <p:to>
                                        <p:strVal val="visible"/>
                                      </p:to>
                                    </p:set>
                                    <p:animEffect transition="in" filter="fade">
                                      <p:cBhvr>
                                        <p:cTn id="194" dur="500"/>
                                        <p:tgtEl>
                                          <p:spTgt spid="32"/>
                                        </p:tgtEl>
                                      </p:cBhvr>
                                    </p:animEffect>
                                  </p:childTnLst>
                                </p:cTn>
                              </p:par>
                            </p:childTnLst>
                          </p:cTn>
                        </p:par>
                      </p:childTnLst>
                    </p:cTn>
                  </p:par>
                  <p:par>
                    <p:cTn id="195" fill="hold">
                      <p:stCondLst>
                        <p:cond delay="indefinite"/>
                      </p:stCondLst>
                      <p:childTnLst>
                        <p:par>
                          <p:cTn id="196" fill="hold">
                            <p:stCondLst>
                              <p:cond delay="0"/>
                            </p:stCondLst>
                            <p:childTnLst>
                              <p:par>
                                <p:cTn id="197" presetID="22" presetClass="entr" presetSubtype="8" fill="hold" nodeType="clickEffect">
                                  <p:stCondLst>
                                    <p:cond delay="0"/>
                                  </p:stCondLst>
                                  <p:childTnLst>
                                    <p:set>
                                      <p:cBhvr>
                                        <p:cTn id="198" dur="1" fill="hold">
                                          <p:stCondLst>
                                            <p:cond delay="0"/>
                                          </p:stCondLst>
                                        </p:cTn>
                                        <p:tgtEl>
                                          <p:spTgt spid="50"/>
                                        </p:tgtEl>
                                        <p:attrNameLst>
                                          <p:attrName>style.visibility</p:attrName>
                                        </p:attrNameLst>
                                      </p:cBhvr>
                                      <p:to>
                                        <p:strVal val="visible"/>
                                      </p:to>
                                    </p:set>
                                    <p:animEffect transition="in" filter="wipe(left)">
                                      <p:cBhvr>
                                        <p:cTn id="199" dur="500"/>
                                        <p:tgtEl>
                                          <p:spTgt spid="50"/>
                                        </p:tgtEl>
                                      </p:cBhvr>
                                    </p:animEffect>
                                  </p:childTnLst>
                                </p:cTn>
                              </p:par>
                            </p:childTnLst>
                          </p:cTn>
                        </p:par>
                      </p:childTnLst>
                    </p:cTn>
                  </p:par>
                  <p:par>
                    <p:cTn id="200" fill="hold">
                      <p:stCondLst>
                        <p:cond delay="indefinite"/>
                      </p:stCondLst>
                      <p:childTnLst>
                        <p:par>
                          <p:cTn id="201" fill="hold">
                            <p:stCondLst>
                              <p:cond delay="0"/>
                            </p:stCondLst>
                            <p:childTnLst>
                              <p:par>
                                <p:cTn id="202" presetID="1" presetClass="exit" presetSubtype="0" fill="hold" grpId="0" nodeType="clickEffect">
                                  <p:stCondLst>
                                    <p:cond delay="0"/>
                                  </p:stCondLst>
                                  <p:childTnLst>
                                    <p:set>
                                      <p:cBhvr>
                                        <p:cTn id="203" dur="1" fill="hold">
                                          <p:stCondLst>
                                            <p:cond delay="0"/>
                                          </p:stCondLst>
                                        </p:cTn>
                                        <p:tgtEl>
                                          <p:spTgt spid="20"/>
                                        </p:tgtEl>
                                        <p:attrNameLst>
                                          <p:attrName>style.visibility</p:attrName>
                                        </p:attrNameLst>
                                      </p:cBhvr>
                                      <p:to>
                                        <p:strVal val="hidden"/>
                                      </p:to>
                                    </p:set>
                                  </p:childTnLst>
                                </p:cTn>
                              </p:par>
                            </p:childTnLst>
                          </p:cTn>
                        </p:par>
                        <p:par>
                          <p:cTn id="204" fill="hold">
                            <p:stCondLst>
                              <p:cond delay="0"/>
                            </p:stCondLst>
                            <p:childTnLst>
                              <p:par>
                                <p:cTn id="205" presetID="10" presetClass="entr" presetSubtype="0" fill="hold" grpId="0" nodeType="afterEffect">
                                  <p:stCondLst>
                                    <p:cond delay="0"/>
                                  </p:stCondLst>
                                  <p:childTnLst>
                                    <p:set>
                                      <p:cBhvr>
                                        <p:cTn id="206" dur="1" fill="hold">
                                          <p:stCondLst>
                                            <p:cond delay="0"/>
                                          </p:stCondLst>
                                        </p:cTn>
                                        <p:tgtEl>
                                          <p:spTgt spid="33"/>
                                        </p:tgtEl>
                                        <p:attrNameLst>
                                          <p:attrName>style.visibility</p:attrName>
                                        </p:attrNameLst>
                                      </p:cBhvr>
                                      <p:to>
                                        <p:strVal val="visible"/>
                                      </p:to>
                                    </p:set>
                                    <p:animEffect transition="in" filter="fade">
                                      <p:cBhvr>
                                        <p:cTn id="207" dur="500"/>
                                        <p:tgtEl>
                                          <p:spTgt spid="33"/>
                                        </p:tgtEl>
                                      </p:cBhvr>
                                    </p:animEffect>
                                  </p:childTnLst>
                                </p:cTn>
                              </p:par>
                            </p:childTnLst>
                          </p:cTn>
                        </p:par>
                      </p:childTnLst>
                    </p:cTn>
                  </p:par>
                  <p:par>
                    <p:cTn id="208" fill="hold">
                      <p:stCondLst>
                        <p:cond delay="indefinite"/>
                      </p:stCondLst>
                      <p:childTnLst>
                        <p:par>
                          <p:cTn id="209" fill="hold">
                            <p:stCondLst>
                              <p:cond delay="0"/>
                            </p:stCondLst>
                            <p:childTnLst>
                              <p:par>
                                <p:cTn id="210" presetID="1" presetClass="exit" presetSubtype="0" fill="hold" grpId="0" nodeType="clickEffect">
                                  <p:stCondLst>
                                    <p:cond delay="0"/>
                                  </p:stCondLst>
                                  <p:childTnLst>
                                    <p:set>
                                      <p:cBhvr>
                                        <p:cTn id="211" dur="1" fill="hold">
                                          <p:stCondLst>
                                            <p:cond delay="0"/>
                                          </p:stCondLst>
                                        </p:cTn>
                                        <p:tgtEl>
                                          <p:spTgt spid="18"/>
                                        </p:tgtEl>
                                        <p:attrNameLst>
                                          <p:attrName>style.visibility</p:attrName>
                                        </p:attrNameLst>
                                      </p:cBhvr>
                                      <p:to>
                                        <p:strVal val="hidden"/>
                                      </p:to>
                                    </p:set>
                                  </p:childTnLst>
                                </p:cTn>
                              </p:par>
                            </p:childTnLst>
                          </p:cTn>
                        </p:par>
                      </p:childTnLst>
                    </p:cTn>
                  </p:par>
                  <p:par>
                    <p:cTn id="212" fill="hold">
                      <p:stCondLst>
                        <p:cond delay="indefinite"/>
                      </p:stCondLst>
                      <p:childTnLst>
                        <p:par>
                          <p:cTn id="213" fill="hold">
                            <p:stCondLst>
                              <p:cond delay="0"/>
                            </p:stCondLst>
                            <p:childTnLst>
                              <p:par>
                                <p:cTn id="214" presetID="10" presetClass="entr" presetSubtype="0" fill="hold" grpId="0" nodeType="clickEffect">
                                  <p:stCondLst>
                                    <p:cond delay="0"/>
                                  </p:stCondLst>
                                  <p:childTnLst>
                                    <p:set>
                                      <p:cBhvr>
                                        <p:cTn id="215" dur="1" fill="hold">
                                          <p:stCondLst>
                                            <p:cond delay="0"/>
                                          </p:stCondLst>
                                        </p:cTn>
                                        <p:tgtEl>
                                          <p:spTgt spid="36"/>
                                        </p:tgtEl>
                                        <p:attrNameLst>
                                          <p:attrName>style.visibility</p:attrName>
                                        </p:attrNameLst>
                                      </p:cBhvr>
                                      <p:to>
                                        <p:strVal val="visible"/>
                                      </p:to>
                                    </p:set>
                                    <p:animEffect transition="in" filter="fade">
                                      <p:cBhvr>
                                        <p:cTn id="216" dur="500"/>
                                        <p:tgtEl>
                                          <p:spTgt spid="36"/>
                                        </p:tgtEl>
                                      </p:cBhvr>
                                    </p:animEffect>
                                  </p:childTnLst>
                                </p:cTn>
                              </p:par>
                            </p:childTnLst>
                          </p:cTn>
                        </p:par>
                      </p:childTnLst>
                    </p:cTn>
                  </p:par>
                  <p:par>
                    <p:cTn id="217" fill="hold">
                      <p:stCondLst>
                        <p:cond delay="indefinite"/>
                      </p:stCondLst>
                      <p:childTnLst>
                        <p:par>
                          <p:cTn id="218" fill="hold">
                            <p:stCondLst>
                              <p:cond delay="0"/>
                            </p:stCondLst>
                            <p:childTnLst>
                              <p:par>
                                <p:cTn id="219" presetID="1" presetClass="exit" presetSubtype="0" fill="hold" grpId="0" nodeType="clickEffect">
                                  <p:stCondLst>
                                    <p:cond delay="0"/>
                                  </p:stCondLst>
                                  <p:childTnLst>
                                    <p:set>
                                      <p:cBhvr>
                                        <p:cTn id="220" dur="1" fill="hold">
                                          <p:stCondLst>
                                            <p:cond delay="0"/>
                                          </p:stCondLst>
                                        </p:cTn>
                                        <p:tgtEl>
                                          <p:spTgt spid="39"/>
                                        </p:tgtEl>
                                        <p:attrNameLst>
                                          <p:attrName>style.visibility</p:attrName>
                                        </p:attrNameLst>
                                      </p:cBhvr>
                                      <p:to>
                                        <p:strVal val="hidden"/>
                                      </p:to>
                                    </p:set>
                                  </p:childTnLst>
                                </p:cTn>
                              </p:par>
                            </p:childTnLst>
                          </p:cTn>
                        </p:par>
                      </p:childTnLst>
                    </p:cTn>
                  </p:par>
                  <p:par>
                    <p:cTn id="221" fill="hold">
                      <p:stCondLst>
                        <p:cond delay="indefinite"/>
                      </p:stCondLst>
                      <p:childTnLst>
                        <p:par>
                          <p:cTn id="222" fill="hold">
                            <p:stCondLst>
                              <p:cond delay="0"/>
                            </p:stCondLst>
                            <p:childTnLst>
                              <p:par>
                                <p:cTn id="223" presetID="1" presetClass="exit" presetSubtype="0" fill="hold" grpId="1" nodeType="clickEffect">
                                  <p:stCondLst>
                                    <p:cond delay="0"/>
                                  </p:stCondLst>
                                  <p:childTnLst>
                                    <p:set>
                                      <p:cBhvr>
                                        <p:cTn id="224" dur="1" fill="hold">
                                          <p:stCondLst>
                                            <p:cond delay="0"/>
                                          </p:stCondLst>
                                        </p:cTn>
                                        <p:tgtEl>
                                          <p:spTgt spid="36"/>
                                        </p:tgtEl>
                                        <p:attrNameLst>
                                          <p:attrName>style.visibility</p:attrName>
                                        </p:attrNameLst>
                                      </p:cBhvr>
                                      <p:to>
                                        <p:strVal val="hidden"/>
                                      </p:to>
                                    </p:set>
                                  </p:childTnLst>
                                </p:cTn>
                              </p:par>
                            </p:childTnLst>
                          </p:cTn>
                        </p:par>
                        <p:par>
                          <p:cTn id="225" fill="hold">
                            <p:stCondLst>
                              <p:cond delay="0"/>
                            </p:stCondLst>
                            <p:childTnLst>
                              <p:par>
                                <p:cTn id="226" presetID="22" presetClass="entr" presetSubtype="1" fill="hold" grpId="0" nodeType="afterEffect">
                                  <p:stCondLst>
                                    <p:cond delay="0"/>
                                  </p:stCondLst>
                                  <p:childTnLst>
                                    <p:set>
                                      <p:cBhvr>
                                        <p:cTn id="227" dur="1" fill="hold">
                                          <p:stCondLst>
                                            <p:cond delay="0"/>
                                          </p:stCondLst>
                                        </p:cTn>
                                        <p:tgtEl>
                                          <p:spTgt spid="38"/>
                                        </p:tgtEl>
                                        <p:attrNameLst>
                                          <p:attrName>style.visibility</p:attrName>
                                        </p:attrNameLst>
                                      </p:cBhvr>
                                      <p:to>
                                        <p:strVal val="visible"/>
                                      </p:to>
                                    </p:set>
                                    <p:animEffect transition="in" filter="wipe(up)">
                                      <p:cBhvr>
                                        <p:cTn id="228"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4" grpId="1" animBg="1"/>
      <p:bldP spid="35" grpId="0" animBg="1"/>
      <p:bldP spid="35" grpId="1" animBg="1"/>
      <p:bldP spid="36" grpId="0" animBg="1"/>
      <p:bldP spid="36" grpId="1" animBg="1"/>
      <p:bldP spid="37" grpId="0" animBg="1"/>
      <p:bldP spid="38" grpId="0" animBg="1"/>
      <p:bldP spid="39" grpId="0" animBg="1"/>
      <p:bldP spid="51" grpId="0" animBg="1"/>
      <p:bldP spid="52" grpId="0" animBg="1"/>
      <p:bldP spid="52"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Fractional Knapsack Problem - Algorithm</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solidFill>
                <a:srgbClr val="424242"/>
              </a:solidFill>
            </p:spPr>
            <p:txBody>
              <a:bodyPr/>
              <a:lstStyle/>
              <a:p>
                <a:pPr marL="0" indent="0" algn="l">
                  <a:spcAft>
                    <a:spcPts val="0"/>
                  </a:spcAft>
                  <a:buNone/>
                </a:pPr>
                <a:r>
                  <a:rPr lang="en-US" b="1" dirty="0">
                    <a:solidFill>
                      <a:schemeClr val="tx2">
                        <a:lumMod val="60000"/>
                        <a:lumOff val="40000"/>
                      </a:schemeClr>
                    </a:solidFill>
                    <a:latin typeface="Consolas" pitchFamily="49" charset="0"/>
                    <a:cs typeface="Consolas" pitchFamily="49" charset="0"/>
                  </a:rPr>
                  <a:t>Algorithm: Greedy-Fractional-Knapsack (w[1..n], p[1..n], W) </a:t>
                </a:r>
              </a:p>
              <a:p>
                <a:pPr marL="0" indent="0" algn="l">
                  <a:spcAft>
                    <a:spcPts val="0"/>
                  </a:spcAft>
                  <a:buNone/>
                </a:pPr>
                <a:r>
                  <a:rPr lang="en-US" b="1" dirty="0">
                    <a:solidFill>
                      <a:srgbClr val="F9C5D7"/>
                    </a:solidFill>
                    <a:latin typeface="Consolas" pitchFamily="49" charset="0"/>
                    <a:cs typeface="Consolas" pitchFamily="49" charset="0"/>
                  </a:rPr>
                  <a:t>for </a:t>
                </a:r>
                <a:r>
                  <a:rPr lang="en-US" b="1" dirty="0" err="1">
                    <a:solidFill>
                      <a:srgbClr val="F9C5D7"/>
                    </a:solidFill>
                    <a:latin typeface="Consolas" pitchFamily="49" charset="0"/>
                    <a:cs typeface="Consolas" pitchFamily="49" charset="0"/>
                  </a:rPr>
                  <a:t>i</a:t>
                </a:r>
                <a:r>
                  <a:rPr lang="en-US" b="1" dirty="0">
                    <a:solidFill>
                      <a:srgbClr val="F9C5D7"/>
                    </a:solidFill>
                    <a:latin typeface="Consolas" pitchFamily="49" charset="0"/>
                    <a:cs typeface="Consolas" pitchFamily="49" charset="0"/>
                  </a:rPr>
                  <a:t> = 1 to n do </a:t>
                </a:r>
              </a:p>
              <a:p>
                <a:pPr marL="0" indent="0" algn="l">
                  <a:spcAft>
                    <a:spcPts val="0"/>
                  </a:spcAft>
                  <a:buNone/>
                </a:pPr>
                <a:r>
                  <a:rPr lang="en-US" b="1" dirty="0">
                    <a:solidFill>
                      <a:srgbClr val="F9C5D7"/>
                    </a:solidFill>
                    <a:latin typeface="Consolas" pitchFamily="49" charset="0"/>
                    <a:cs typeface="Consolas" pitchFamily="49" charset="0"/>
                  </a:rPr>
                  <a:t>	x[</a:t>
                </a:r>
                <a:r>
                  <a:rPr lang="en-US" b="1" dirty="0" err="1">
                    <a:solidFill>
                      <a:srgbClr val="F9C5D7"/>
                    </a:solidFill>
                    <a:latin typeface="Consolas" pitchFamily="49" charset="0"/>
                    <a:cs typeface="Consolas" pitchFamily="49" charset="0"/>
                  </a:rPr>
                  <a:t>i</a:t>
                </a:r>
                <a:r>
                  <a:rPr lang="en-US" b="1" dirty="0">
                    <a:solidFill>
                      <a:srgbClr val="F9C5D7"/>
                    </a:solidFill>
                    <a:latin typeface="Consolas" pitchFamily="49" charset="0"/>
                    <a:cs typeface="Consolas" pitchFamily="49" charset="0"/>
                  </a:rPr>
                  <a:t>] </a:t>
                </a:r>
                <a14:m>
                  <m:oMath xmlns:m="http://schemas.openxmlformats.org/officeDocument/2006/math">
                    <m:r>
                      <a:rPr lang="en-US" b="1" i="1">
                        <a:solidFill>
                          <a:srgbClr val="F9C5D7"/>
                        </a:solidFill>
                        <a:latin typeface="Cambria Math" panose="02040503050406030204" pitchFamily="18" charset="0"/>
                        <a:ea typeface="Cambria Math" panose="02040503050406030204" pitchFamily="18" charset="0"/>
                        <a:cs typeface="Consolas" pitchFamily="49" charset="0"/>
                      </a:rPr>
                      <m:t>←</m:t>
                    </m:r>
                  </m:oMath>
                </a14:m>
                <a:r>
                  <a:rPr lang="en-US" b="1" dirty="0">
                    <a:solidFill>
                      <a:srgbClr val="F9C5D7"/>
                    </a:solidFill>
                    <a:latin typeface="Consolas" pitchFamily="49" charset="0"/>
                    <a:cs typeface="Consolas" pitchFamily="49" charset="0"/>
                  </a:rPr>
                  <a:t> 0 ; weight </a:t>
                </a:r>
                <a14:m>
                  <m:oMath xmlns:m="http://schemas.openxmlformats.org/officeDocument/2006/math">
                    <m:r>
                      <a:rPr lang="en-US" b="1" i="1">
                        <a:solidFill>
                          <a:srgbClr val="F9C5D7"/>
                        </a:solidFill>
                        <a:latin typeface="Cambria Math" panose="02040503050406030204" pitchFamily="18" charset="0"/>
                        <a:ea typeface="Cambria Math" panose="02040503050406030204" pitchFamily="18" charset="0"/>
                        <a:cs typeface="Consolas" pitchFamily="49" charset="0"/>
                      </a:rPr>
                      <m:t>←</m:t>
                    </m:r>
                  </m:oMath>
                </a14:m>
                <a:r>
                  <a:rPr lang="en-US" b="1" dirty="0">
                    <a:solidFill>
                      <a:srgbClr val="F9C5D7"/>
                    </a:solidFill>
                    <a:latin typeface="Consolas" pitchFamily="49" charset="0"/>
                    <a:cs typeface="Consolas" pitchFamily="49" charset="0"/>
                  </a:rPr>
                  <a:t> 0 </a:t>
                </a:r>
              </a:p>
              <a:p>
                <a:pPr marL="0" indent="0" algn="l">
                  <a:spcAft>
                    <a:spcPts val="0"/>
                  </a:spcAft>
                  <a:buNone/>
                </a:pPr>
                <a:r>
                  <a:rPr lang="en-US" b="1" dirty="0">
                    <a:solidFill>
                      <a:srgbClr val="F9C5D7"/>
                    </a:solidFill>
                    <a:latin typeface="Consolas" pitchFamily="49" charset="0"/>
                    <a:cs typeface="Consolas" pitchFamily="49" charset="0"/>
                  </a:rPr>
                  <a:t>While weight &lt; W do</a:t>
                </a:r>
              </a:p>
              <a:p>
                <a:pPr marL="0" indent="0" algn="l">
                  <a:spcAft>
                    <a:spcPts val="0"/>
                  </a:spcAft>
                  <a:buNone/>
                </a:pPr>
                <a:r>
                  <a:rPr lang="en-US" b="1" dirty="0">
                    <a:solidFill>
                      <a:srgbClr val="F9C5D7"/>
                    </a:solidFill>
                    <a:latin typeface="Consolas" pitchFamily="49" charset="0"/>
                    <a:cs typeface="Consolas" pitchFamily="49" charset="0"/>
                  </a:rPr>
                  <a:t>	</a:t>
                </a:r>
                <a:r>
                  <a:rPr lang="en-US" b="1" dirty="0" err="1">
                    <a:solidFill>
                      <a:srgbClr val="F9C5D7"/>
                    </a:solidFill>
                    <a:latin typeface="Consolas" pitchFamily="49" charset="0"/>
                    <a:cs typeface="Consolas" pitchFamily="49" charset="0"/>
                  </a:rPr>
                  <a:t>i</a:t>
                </a:r>
                <a:r>
                  <a:rPr lang="en-US" b="1" dirty="0">
                    <a:solidFill>
                      <a:srgbClr val="F9C5D7"/>
                    </a:solidFill>
                    <a:latin typeface="Consolas" pitchFamily="49" charset="0"/>
                    <a:cs typeface="Consolas" pitchFamily="49" charset="0"/>
                  </a:rPr>
                  <a:t> </a:t>
                </a:r>
                <a14:m>
                  <m:oMath xmlns:m="http://schemas.openxmlformats.org/officeDocument/2006/math">
                    <m:r>
                      <a:rPr lang="en-US" b="1" i="1">
                        <a:solidFill>
                          <a:srgbClr val="F9C5D7"/>
                        </a:solidFill>
                        <a:latin typeface="Cambria Math" panose="02040503050406030204" pitchFamily="18" charset="0"/>
                        <a:ea typeface="Cambria Math" panose="02040503050406030204" pitchFamily="18" charset="0"/>
                        <a:cs typeface="Consolas" pitchFamily="49" charset="0"/>
                      </a:rPr>
                      <m:t>←</m:t>
                    </m:r>
                  </m:oMath>
                </a14:m>
                <a:r>
                  <a:rPr lang="en-US" b="1" dirty="0">
                    <a:solidFill>
                      <a:srgbClr val="F9C5D7"/>
                    </a:solidFill>
                    <a:latin typeface="Consolas" pitchFamily="49" charset="0"/>
                    <a:cs typeface="Consolas" pitchFamily="49" charset="0"/>
                  </a:rPr>
                  <a:t> the best remaining object</a:t>
                </a:r>
              </a:p>
              <a:p>
                <a:pPr marL="0" indent="0" algn="l">
                  <a:spcAft>
                    <a:spcPts val="0"/>
                  </a:spcAft>
                  <a:buNone/>
                </a:pPr>
                <a:r>
                  <a:rPr lang="en-US" b="1" dirty="0">
                    <a:solidFill>
                      <a:srgbClr val="F9C5D7"/>
                    </a:solidFill>
                    <a:latin typeface="Consolas" pitchFamily="49" charset="0"/>
                    <a:cs typeface="Consolas" pitchFamily="49" charset="0"/>
                  </a:rPr>
                  <a:t>   	if weight + w[</a:t>
                </a:r>
                <a:r>
                  <a:rPr lang="en-US" b="1" dirty="0" err="1">
                    <a:solidFill>
                      <a:srgbClr val="F9C5D7"/>
                    </a:solidFill>
                    <a:latin typeface="Consolas" pitchFamily="49" charset="0"/>
                    <a:cs typeface="Consolas" pitchFamily="49" charset="0"/>
                  </a:rPr>
                  <a:t>i</a:t>
                </a:r>
                <a:r>
                  <a:rPr lang="en-US" b="1" dirty="0">
                    <a:solidFill>
                      <a:srgbClr val="F9C5D7"/>
                    </a:solidFill>
                    <a:latin typeface="Consolas" pitchFamily="49" charset="0"/>
                    <a:cs typeface="Consolas" pitchFamily="49" charset="0"/>
                  </a:rPr>
                  <a:t>] ≤ W then  </a:t>
                </a:r>
              </a:p>
              <a:p>
                <a:pPr marL="0" indent="0" algn="l">
                  <a:spcAft>
                    <a:spcPts val="0"/>
                  </a:spcAft>
                  <a:buNone/>
                </a:pPr>
                <a:r>
                  <a:rPr lang="en-US" b="1" dirty="0">
                    <a:solidFill>
                      <a:srgbClr val="F9C5D7"/>
                    </a:solidFill>
                    <a:latin typeface="Consolas" pitchFamily="49" charset="0"/>
                    <a:cs typeface="Consolas" pitchFamily="49" charset="0"/>
                  </a:rPr>
                  <a:t>      	x[</a:t>
                </a:r>
                <a:r>
                  <a:rPr lang="en-US" b="1" dirty="0" err="1">
                    <a:solidFill>
                      <a:srgbClr val="F9C5D7"/>
                    </a:solidFill>
                    <a:latin typeface="Consolas" pitchFamily="49" charset="0"/>
                    <a:cs typeface="Consolas" pitchFamily="49" charset="0"/>
                  </a:rPr>
                  <a:t>i</a:t>
                </a:r>
                <a:r>
                  <a:rPr lang="en-US" b="1" dirty="0">
                    <a:solidFill>
                      <a:srgbClr val="F9C5D7"/>
                    </a:solidFill>
                    <a:latin typeface="Consolas" pitchFamily="49" charset="0"/>
                    <a:cs typeface="Consolas" pitchFamily="49" charset="0"/>
                  </a:rPr>
                  <a:t>] </a:t>
                </a:r>
                <a14:m>
                  <m:oMath xmlns:m="http://schemas.openxmlformats.org/officeDocument/2006/math">
                    <m:r>
                      <a:rPr lang="en-US" b="1" i="1">
                        <a:solidFill>
                          <a:srgbClr val="F9C5D7"/>
                        </a:solidFill>
                        <a:latin typeface="Cambria Math" panose="02040503050406030204" pitchFamily="18" charset="0"/>
                        <a:ea typeface="Cambria Math" panose="02040503050406030204" pitchFamily="18" charset="0"/>
                        <a:cs typeface="Consolas" pitchFamily="49" charset="0"/>
                      </a:rPr>
                      <m:t>← </m:t>
                    </m:r>
                  </m:oMath>
                </a14:m>
                <a:r>
                  <a:rPr lang="en-US" b="1" dirty="0">
                    <a:solidFill>
                      <a:srgbClr val="F9C5D7"/>
                    </a:solidFill>
                    <a:latin typeface="Consolas" pitchFamily="49" charset="0"/>
                    <a:cs typeface="Consolas" pitchFamily="49" charset="0"/>
                  </a:rPr>
                  <a:t>1 </a:t>
                </a:r>
              </a:p>
              <a:p>
                <a:pPr marL="0" indent="0" algn="l">
                  <a:spcAft>
                    <a:spcPts val="0"/>
                  </a:spcAft>
                  <a:buNone/>
                </a:pPr>
                <a:r>
                  <a:rPr lang="en-US" b="1" dirty="0">
                    <a:solidFill>
                      <a:srgbClr val="F9C5D7"/>
                    </a:solidFill>
                    <a:latin typeface="Consolas" pitchFamily="49" charset="0"/>
                    <a:cs typeface="Consolas" pitchFamily="49" charset="0"/>
                  </a:rPr>
                  <a:t>      	weight </a:t>
                </a:r>
                <a14:m>
                  <m:oMath xmlns:m="http://schemas.openxmlformats.org/officeDocument/2006/math">
                    <m:r>
                      <a:rPr lang="en-US" b="1" i="1">
                        <a:solidFill>
                          <a:srgbClr val="F9C5D7"/>
                        </a:solidFill>
                        <a:latin typeface="Cambria Math" panose="02040503050406030204" pitchFamily="18" charset="0"/>
                        <a:ea typeface="Cambria Math" panose="02040503050406030204" pitchFamily="18" charset="0"/>
                        <a:cs typeface="Consolas" pitchFamily="49" charset="0"/>
                      </a:rPr>
                      <m:t>←</m:t>
                    </m:r>
                  </m:oMath>
                </a14:m>
                <a:r>
                  <a:rPr lang="en-US" b="1" dirty="0">
                    <a:solidFill>
                      <a:srgbClr val="F9C5D7"/>
                    </a:solidFill>
                    <a:latin typeface="Consolas" pitchFamily="49" charset="0"/>
                    <a:cs typeface="Consolas" pitchFamily="49" charset="0"/>
                  </a:rPr>
                  <a:t> weight + w[</a:t>
                </a:r>
                <a:r>
                  <a:rPr lang="en-US" b="1" dirty="0" err="1">
                    <a:solidFill>
                      <a:srgbClr val="F9C5D7"/>
                    </a:solidFill>
                    <a:latin typeface="Consolas" pitchFamily="49" charset="0"/>
                    <a:cs typeface="Consolas" pitchFamily="49" charset="0"/>
                  </a:rPr>
                  <a:t>i</a:t>
                </a:r>
                <a:r>
                  <a:rPr lang="en-US" b="1" dirty="0">
                    <a:solidFill>
                      <a:srgbClr val="F9C5D7"/>
                    </a:solidFill>
                    <a:latin typeface="Consolas" pitchFamily="49" charset="0"/>
                    <a:cs typeface="Consolas" pitchFamily="49" charset="0"/>
                  </a:rPr>
                  <a:t>] </a:t>
                </a:r>
              </a:p>
              <a:p>
                <a:pPr marL="0" indent="0" algn="l">
                  <a:spcAft>
                    <a:spcPts val="0"/>
                  </a:spcAft>
                  <a:buNone/>
                </a:pPr>
                <a:r>
                  <a:rPr lang="en-US" b="1" dirty="0">
                    <a:solidFill>
                      <a:srgbClr val="F9C5D7"/>
                    </a:solidFill>
                    <a:latin typeface="Consolas" pitchFamily="49" charset="0"/>
                    <a:cs typeface="Consolas" pitchFamily="49" charset="0"/>
                  </a:rPr>
                  <a:t>   	else </a:t>
                </a:r>
              </a:p>
              <a:p>
                <a:pPr marL="0" indent="0" algn="l">
                  <a:spcAft>
                    <a:spcPts val="0"/>
                  </a:spcAft>
                  <a:buNone/>
                </a:pPr>
                <a:r>
                  <a:rPr lang="en-US" b="1" dirty="0">
                    <a:solidFill>
                      <a:srgbClr val="F9C5D7"/>
                    </a:solidFill>
                    <a:latin typeface="Consolas" pitchFamily="49" charset="0"/>
                    <a:cs typeface="Consolas" pitchFamily="49" charset="0"/>
                  </a:rPr>
                  <a:t>      	x[</a:t>
                </a:r>
                <a:r>
                  <a:rPr lang="en-US" b="1" dirty="0" err="1">
                    <a:solidFill>
                      <a:srgbClr val="F9C5D7"/>
                    </a:solidFill>
                    <a:latin typeface="Consolas" pitchFamily="49" charset="0"/>
                    <a:cs typeface="Consolas" pitchFamily="49" charset="0"/>
                  </a:rPr>
                  <a:t>i</a:t>
                </a:r>
                <a:r>
                  <a:rPr lang="en-US" b="1" dirty="0">
                    <a:solidFill>
                      <a:srgbClr val="F9C5D7"/>
                    </a:solidFill>
                    <a:latin typeface="Consolas" pitchFamily="49" charset="0"/>
                    <a:cs typeface="Consolas" pitchFamily="49" charset="0"/>
                  </a:rPr>
                  <a:t>] </a:t>
                </a:r>
                <a14:m>
                  <m:oMath xmlns:m="http://schemas.openxmlformats.org/officeDocument/2006/math">
                    <m:r>
                      <a:rPr lang="en-US" b="1" i="1">
                        <a:solidFill>
                          <a:srgbClr val="F9C5D7"/>
                        </a:solidFill>
                        <a:latin typeface="Cambria Math" panose="02040503050406030204" pitchFamily="18" charset="0"/>
                        <a:ea typeface="Cambria Math" panose="02040503050406030204" pitchFamily="18" charset="0"/>
                        <a:cs typeface="Consolas" pitchFamily="49" charset="0"/>
                      </a:rPr>
                      <m:t>←</m:t>
                    </m:r>
                  </m:oMath>
                </a14:m>
                <a:r>
                  <a:rPr lang="en-US" b="1" dirty="0">
                    <a:solidFill>
                      <a:srgbClr val="F9C5D7"/>
                    </a:solidFill>
                    <a:latin typeface="Consolas" pitchFamily="49" charset="0"/>
                    <a:cs typeface="Consolas" pitchFamily="49" charset="0"/>
                  </a:rPr>
                  <a:t> (W - weight) / w[</a:t>
                </a:r>
                <a:r>
                  <a:rPr lang="en-US" b="1" dirty="0" err="1">
                    <a:solidFill>
                      <a:srgbClr val="F9C5D7"/>
                    </a:solidFill>
                    <a:latin typeface="Consolas" pitchFamily="49" charset="0"/>
                    <a:cs typeface="Consolas" pitchFamily="49" charset="0"/>
                  </a:rPr>
                  <a:t>i</a:t>
                </a:r>
                <a:r>
                  <a:rPr lang="en-US" b="1" dirty="0">
                    <a:solidFill>
                      <a:srgbClr val="F9C5D7"/>
                    </a:solidFill>
                    <a:latin typeface="Consolas" pitchFamily="49" charset="0"/>
                    <a:cs typeface="Consolas" pitchFamily="49" charset="0"/>
                  </a:rPr>
                  <a:t>] </a:t>
                </a:r>
              </a:p>
              <a:p>
                <a:pPr marL="0" indent="0" algn="l">
                  <a:spcAft>
                    <a:spcPts val="0"/>
                  </a:spcAft>
                  <a:buNone/>
                </a:pPr>
                <a:r>
                  <a:rPr lang="en-US" b="1" dirty="0">
                    <a:solidFill>
                      <a:srgbClr val="F9C5D7"/>
                    </a:solidFill>
                    <a:latin typeface="Consolas" pitchFamily="49" charset="0"/>
                    <a:cs typeface="Consolas" pitchFamily="49" charset="0"/>
                  </a:rPr>
                  <a:t>      	weight </a:t>
                </a:r>
                <a14:m>
                  <m:oMath xmlns:m="http://schemas.openxmlformats.org/officeDocument/2006/math">
                    <m:r>
                      <a:rPr lang="en-US" b="1" i="1">
                        <a:solidFill>
                          <a:srgbClr val="F9C5D7"/>
                        </a:solidFill>
                        <a:latin typeface="Cambria Math" panose="02040503050406030204" pitchFamily="18" charset="0"/>
                        <a:ea typeface="Cambria Math" panose="02040503050406030204" pitchFamily="18" charset="0"/>
                        <a:cs typeface="Consolas" pitchFamily="49" charset="0"/>
                      </a:rPr>
                      <m:t>←</m:t>
                    </m:r>
                  </m:oMath>
                </a14:m>
                <a:r>
                  <a:rPr lang="en-US" b="1" dirty="0">
                    <a:solidFill>
                      <a:srgbClr val="F9C5D7"/>
                    </a:solidFill>
                    <a:latin typeface="Consolas" pitchFamily="49" charset="0"/>
                    <a:cs typeface="Consolas" pitchFamily="49" charset="0"/>
                  </a:rPr>
                  <a:t> W </a:t>
                </a:r>
              </a:p>
              <a:p>
                <a:pPr marL="0" indent="0" algn="l">
                  <a:spcAft>
                    <a:spcPts val="0"/>
                  </a:spcAft>
                  <a:buNone/>
                </a:pPr>
                <a:r>
                  <a:rPr lang="en-US" b="1" dirty="0">
                    <a:solidFill>
                      <a:srgbClr val="F9C5D7"/>
                    </a:solidFill>
                    <a:latin typeface="Consolas" pitchFamily="49" charset="0"/>
                    <a:cs typeface="Consolas" pitchFamily="49" charset="0"/>
                  </a:rPr>
                  <a:t>return x</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818" t="-1527"/>
                </a:stretch>
              </a:blipFill>
            </p:spPr>
            <p:txBody>
              <a:bodyPr/>
              <a:lstStyle/>
              <a:p>
                <a:r>
                  <a:rPr lang="en-US">
                    <a:noFill/>
                  </a:rPr>
                  <a:t> </a:t>
                </a:r>
              </a:p>
            </p:txBody>
          </p:sp>
        </mc:Fallback>
      </mc:AlternateContent>
      <p:sp>
        <p:nvSpPr>
          <p:cNvPr id="5" name="Rounded Rectangular Callout 4"/>
          <p:cNvSpPr/>
          <p:nvPr/>
        </p:nvSpPr>
        <p:spPr>
          <a:xfrm>
            <a:off x="5849468" y="3415553"/>
            <a:ext cx="4389120" cy="1188720"/>
          </a:xfrm>
          <a:prstGeom prst="wedgeRoundRectCallout">
            <a:avLst>
              <a:gd name="adj1" fmla="val -33658"/>
              <a:gd name="adj2" fmla="val 80049"/>
              <a:gd name="adj3" fmla="val 16667"/>
            </a:avLst>
          </a:prstGeom>
          <a:solidFill>
            <a:schemeClr val="accent5">
              <a:lumMod val="20000"/>
              <a:lumOff val="80000"/>
            </a:schemeClr>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rgbClr val="AD1457"/>
                </a:solidFill>
              </a:rPr>
              <a:t>W = 100 and Current weight in knapsack= 60</a:t>
            </a:r>
          </a:p>
          <a:p>
            <a:r>
              <a:rPr lang="en-US" dirty="0">
                <a:solidFill>
                  <a:srgbClr val="AD1457"/>
                </a:solidFill>
              </a:rPr>
              <a:t>Object weight = 50</a:t>
            </a:r>
          </a:p>
          <a:p>
            <a:r>
              <a:rPr lang="en-US" dirty="0">
                <a:solidFill>
                  <a:srgbClr val="AD1457"/>
                </a:solidFill>
              </a:rPr>
              <a:t>The fraction of object to be included will be </a:t>
            </a:r>
          </a:p>
          <a:p>
            <a:pPr algn="ctr"/>
            <a:r>
              <a:rPr lang="en-US" sz="2000" b="1" dirty="0">
                <a:solidFill>
                  <a:srgbClr val="AD1457"/>
                </a:solidFill>
              </a:rPr>
              <a:t>(100 – 60) / 50 = 0.8 </a:t>
            </a:r>
          </a:p>
        </p:txBody>
      </p:sp>
      <p:sp>
        <p:nvSpPr>
          <p:cNvPr id="6" name="Rounded Rectangle 5"/>
          <p:cNvSpPr/>
          <p:nvPr/>
        </p:nvSpPr>
        <p:spPr>
          <a:xfrm>
            <a:off x="3294530" y="4935071"/>
            <a:ext cx="3291840" cy="457200"/>
          </a:xfrm>
          <a:prstGeom prst="roundRect">
            <a:avLst/>
          </a:prstGeom>
          <a:noFill/>
          <a:ln w="2857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1861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8" presetClass="entr" presetSubtype="3" fill="hold" grpId="0" nodeType="click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strips(upRight)">
                                      <p:cBhvr>
                                        <p:cTn id="57" dur="1500"/>
                                        <p:tgtEl>
                                          <p:spTgt spid="6"/>
                                        </p:tgtEl>
                                      </p:cBhvr>
                                    </p:animEffect>
                                  </p:childTnLst>
                                </p:cTn>
                              </p:par>
                            </p:childTnLst>
                          </p:cTn>
                        </p:par>
                        <p:par>
                          <p:cTn id="58" fill="hold">
                            <p:stCondLst>
                              <p:cond delay="1500"/>
                            </p:stCondLst>
                            <p:childTnLst>
                              <p:par>
                                <p:cTn id="59" presetID="22" presetClass="entr" presetSubtype="4" fill="hold" grpId="0" nodeType="afterEffect">
                                  <p:stCondLst>
                                    <p:cond delay="0"/>
                                  </p:stCondLst>
                                  <p:childTnLst>
                                    <p:set>
                                      <p:cBhvr>
                                        <p:cTn id="60" dur="1" fill="hold">
                                          <p:stCondLst>
                                            <p:cond delay="0"/>
                                          </p:stCondLst>
                                        </p:cTn>
                                        <p:tgtEl>
                                          <p:spTgt spid="5"/>
                                        </p:tgtEl>
                                        <p:attrNameLst>
                                          <p:attrName>style.visibility</p:attrName>
                                        </p:attrNameLst>
                                      </p:cBhvr>
                                      <p:to>
                                        <p:strVal val="visible"/>
                                      </p:to>
                                    </p:set>
                                    <p:animEffect transition="in" filter="wipe(down)">
                                      <p:cBhvr>
                                        <p:cTn id="61" dur="1000"/>
                                        <p:tgtEl>
                                          <p:spTgt spid="5"/>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3">
                                            <p:txEl>
                                              <p:pRg st="10" end="10"/>
                                            </p:txEl>
                                          </p:spTgt>
                                        </p:tgtEl>
                                        <p:attrNameLst>
                                          <p:attrName>style.visibility</p:attrName>
                                        </p:attrNameLst>
                                      </p:cBhvr>
                                      <p:to>
                                        <p:strVal val="visible"/>
                                      </p:to>
                                    </p:set>
                                    <p:animEffect transition="in" filter="fade">
                                      <p:cBhvr>
                                        <p:cTn id="66" dur="500"/>
                                        <p:tgtEl>
                                          <p:spTgt spid="3">
                                            <p:txEl>
                                              <p:pRg st="10" end="10"/>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3">
                                            <p:txEl>
                                              <p:pRg st="11" end="11"/>
                                            </p:txEl>
                                          </p:spTgt>
                                        </p:tgtEl>
                                        <p:attrNameLst>
                                          <p:attrName>style.visibility</p:attrName>
                                        </p:attrNameLst>
                                      </p:cBhvr>
                                      <p:to>
                                        <p:strVal val="visible"/>
                                      </p:to>
                                    </p:set>
                                    <p:animEffect transition="in" filter="fade">
                                      <p:cBhvr>
                                        <p:cTn id="71" dur="500"/>
                                        <p:tgtEl>
                                          <p:spTgt spid="3">
                                            <p:txEl>
                                              <p:pRg st="11" end="11"/>
                                            </p:txEl>
                                          </p:spTgt>
                                        </p:tgtEl>
                                      </p:cBhvr>
                                    </p:animEffect>
                                  </p:childTnLst>
                                </p:cTn>
                              </p:par>
                              <p:par>
                                <p:cTn id="72" presetID="1" presetClass="exit" presetSubtype="0" fill="hold" grpId="1" nodeType="withEffect">
                                  <p:stCondLst>
                                    <p:cond delay="0"/>
                                  </p:stCondLst>
                                  <p:childTnLst>
                                    <p:set>
                                      <p:cBhvr>
                                        <p:cTn id="73" dur="1" fill="hold">
                                          <p:stCondLst>
                                            <p:cond delay="0"/>
                                          </p:stCondLst>
                                        </p:cTn>
                                        <p:tgtEl>
                                          <p:spTgt spid="6"/>
                                        </p:tgtEl>
                                        <p:attrNameLst>
                                          <p:attrName>style.visibility</p:attrName>
                                        </p:attrNameLst>
                                      </p:cBhvr>
                                      <p:to>
                                        <p:strVal val="hidden"/>
                                      </p:to>
                                    </p:set>
                                  </p:childTnLst>
                                </p:cTn>
                              </p:par>
                              <p:par>
                                <p:cTn id="74" presetID="1" presetClass="exit" presetSubtype="0" fill="hold" grpId="1" nodeType="withEffect">
                                  <p:stCondLst>
                                    <p:cond delay="0"/>
                                  </p:stCondLst>
                                  <p:childTnLst>
                                    <p:set>
                                      <p:cBhvr>
                                        <p:cTn id="75"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Exercises – Home Work</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457200" indent="-457200">
                  <a:buFont typeface="+mj-lt"/>
                  <a:buAutoNum type="arabicPeriod"/>
                </a:pPr>
                <a:r>
                  <a:rPr lang="en-US" dirty="0"/>
                  <a:t>Consider Knapsack capacity </a:t>
                </a:r>
                <a14:m>
                  <m:oMath xmlns:m="http://schemas.openxmlformats.org/officeDocument/2006/math">
                    <m:r>
                      <a:rPr lang="en-US" i="1" dirty="0">
                        <a:latin typeface="Cambria Math" panose="02040503050406030204" pitchFamily="18" charset="0"/>
                      </a:rPr>
                      <m:t>𝑊</m:t>
                    </m:r>
                    <m:r>
                      <a:rPr lang="en-US" i="1" dirty="0">
                        <a:latin typeface="Cambria Math" panose="02040503050406030204" pitchFamily="18" charset="0"/>
                      </a:rPr>
                      <m:t>=50</m:t>
                    </m:r>
                  </m:oMath>
                </a14:m>
                <a:r>
                  <a:rPr lang="en-US" dirty="0"/>
                  <a:t>, </a:t>
                </a:r>
                <a14:m>
                  <m:oMath xmlns:m="http://schemas.openxmlformats.org/officeDocument/2006/math">
                    <m:r>
                      <a:rPr lang="en-US" i="1" dirty="0">
                        <a:latin typeface="Cambria Math" panose="02040503050406030204" pitchFamily="18" charset="0"/>
                      </a:rPr>
                      <m:t>𝑤</m:t>
                    </m:r>
                    <m:r>
                      <a:rPr lang="en-US" i="1" dirty="0">
                        <a:latin typeface="Cambria Math" panose="02040503050406030204" pitchFamily="18" charset="0"/>
                      </a:rPr>
                      <m:t> = (10, 20, 40) </m:t>
                    </m:r>
                  </m:oMath>
                </a14:m>
                <a:r>
                  <a:rPr lang="en-US" dirty="0"/>
                  <a:t>and </a:t>
                </a:r>
                <a14:m>
                  <m:oMath xmlns:m="http://schemas.openxmlformats.org/officeDocument/2006/math">
                    <m:r>
                      <a:rPr lang="en-US" i="1" dirty="0">
                        <a:latin typeface="Cambria Math" panose="02040503050406030204" pitchFamily="18" charset="0"/>
                      </a:rPr>
                      <m:t>𝑣</m:t>
                    </m:r>
                    <m:r>
                      <a:rPr lang="en-US" i="1" dirty="0">
                        <a:latin typeface="Cambria Math" panose="02040503050406030204" pitchFamily="18" charset="0"/>
                      </a:rPr>
                      <m:t> = (60, 80,100) </m:t>
                    </m:r>
                  </m:oMath>
                </a14:m>
                <a:r>
                  <a:rPr lang="en-US" dirty="0"/>
                  <a:t>find the maximum profit using greedy approach.</a:t>
                </a:r>
              </a:p>
              <a:p>
                <a:pPr marL="457200" indent="-457200">
                  <a:buFont typeface="+mj-lt"/>
                  <a:buAutoNum type="arabicPeriod"/>
                </a:pPr>
                <a:r>
                  <a:rPr lang="en-US" dirty="0"/>
                  <a:t>Consider Knapsack capacity </a:t>
                </a:r>
                <a14:m>
                  <m:oMath xmlns:m="http://schemas.openxmlformats.org/officeDocument/2006/math">
                    <m:r>
                      <a:rPr lang="en-US" i="1" dirty="0">
                        <a:latin typeface="Cambria Math" panose="02040503050406030204" pitchFamily="18" charset="0"/>
                      </a:rPr>
                      <m:t>𝑊</m:t>
                    </m:r>
                    <m:r>
                      <a:rPr lang="en-US" i="1" dirty="0">
                        <a:latin typeface="Cambria Math" panose="02040503050406030204" pitchFamily="18" charset="0"/>
                      </a:rPr>
                      <m:t> = 10</m:t>
                    </m:r>
                  </m:oMath>
                </a14:m>
                <a:r>
                  <a:rPr lang="en-US" dirty="0"/>
                  <a:t>, </a:t>
                </a:r>
                <a14:m>
                  <m:oMath xmlns:m="http://schemas.openxmlformats.org/officeDocument/2006/math">
                    <m:r>
                      <a:rPr lang="en-US" i="1" dirty="0">
                        <a:latin typeface="Cambria Math" panose="02040503050406030204" pitchFamily="18" charset="0"/>
                      </a:rPr>
                      <m:t>𝑤</m:t>
                    </m:r>
                    <m:r>
                      <a:rPr lang="en-US" i="1" dirty="0">
                        <a:latin typeface="Cambria Math" panose="02040503050406030204" pitchFamily="18" charset="0"/>
                      </a:rPr>
                      <m:t>=(4, 8, 2, 6, 1) </m:t>
                    </m:r>
                  </m:oMath>
                </a14:m>
                <a:r>
                  <a:rPr lang="en-US" dirty="0"/>
                  <a:t>and </a:t>
                </a:r>
                <a14:m>
                  <m:oMath xmlns:m="http://schemas.openxmlformats.org/officeDocument/2006/math">
                    <m:r>
                      <a:rPr lang="en-US" i="1" dirty="0">
                        <a:latin typeface="Cambria Math" panose="02040503050406030204" pitchFamily="18" charset="0"/>
                      </a:rPr>
                      <m:t>𝑣</m:t>
                    </m:r>
                    <m:r>
                      <a:rPr lang="en-US" i="1" dirty="0">
                        <a:latin typeface="Cambria Math" panose="02040503050406030204" pitchFamily="18" charset="0"/>
                      </a:rPr>
                      <m:t> = (12, 32, 40, 30, 50)</m:t>
                    </m:r>
                  </m:oMath>
                </a14:m>
                <a:r>
                  <a:rPr lang="en-US" dirty="0"/>
                  <a:t>. Find the maximum profit using greedy approach.</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818" t="-1636" r="-818"/>
                </a:stretch>
              </a:blipFill>
            </p:spPr>
            <p:txBody>
              <a:bodyPr/>
              <a:lstStyle/>
              <a:p>
                <a:r>
                  <a:rPr lang="en-US">
                    <a:noFill/>
                  </a:rPr>
                  <a:t> </a:t>
                </a:r>
              </a:p>
            </p:txBody>
          </p:sp>
        </mc:Fallback>
      </mc:AlternateContent>
    </p:spTree>
    <p:extLst>
      <p:ext uri="{BB962C8B-B14F-4D97-AF65-F5344CB8AC3E}">
        <p14:creationId xmlns:p14="http://schemas.microsoft.com/office/powerpoint/2010/main" val="426230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Selection Problem</a:t>
            </a:r>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716104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The Activity Selection Problem is </a:t>
                </a:r>
                <a:r>
                  <a:rPr lang="en-US" dirty="0">
                    <a:solidFill>
                      <a:srgbClr val="AD1457"/>
                    </a:solidFill>
                  </a:rPr>
                  <a:t>an optimization problem </a:t>
                </a:r>
                <a:r>
                  <a:rPr lang="en-US" dirty="0"/>
                  <a:t>which deals with the selection of non-overlapping activities that needs to be executed by a single person or a machine in a given time duration.</a:t>
                </a:r>
              </a:p>
              <a:p>
                <a:r>
                  <a:rPr lang="en-US" dirty="0"/>
                  <a:t>An activity-selection can also be applicable for </a:t>
                </a:r>
                <a:r>
                  <a:rPr lang="en-US" dirty="0">
                    <a:solidFill>
                      <a:srgbClr val="AD1457"/>
                    </a:solidFill>
                  </a:rPr>
                  <a:t>scheduling a resourc</a:t>
                </a:r>
                <a:r>
                  <a:rPr lang="en-US" b="1" dirty="0">
                    <a:solidFill>
                      <a:srgbClr val="AD1457"/>
                    </a:solidFill>
                  </a:rPr>
                  <a:t>e </a:t>
                </a:r>
                <a:r>
                  <a:rPr lang="en-US" dirty="0"/>
                  <a:t>among several competing activities.</a:t>
                </a:r>
              </a:p>
              <a:p>
                <a:r>
                  <a:rPr lang="en-US" dirty="0"/>
                  <a:t>We are given a set </a:t>
                </a:r>
                <a14:m>
                  <m:oMath xmlns:m="http://schemas.openxmlformats.org/officeDocument/2006/math">
                    <m:r>
                      <a:rPr lang="en-US" b="1" i="1" dirty="0">
                        <a:solidFill>
                          <a:srgbClr val="0066FF"/>
                        </a:solidFill>
                        <a:latin typeface="Cambria Math" panose="02040503050406030204" pitchFamily="18" charset="0"/>
                      </a:rPr>
                      <m:t>𝑆</m:t>
                    </m:r>
                  </m:oMath>
                </a14:m>
                <a:r>
                  <a:rPr lang="en-US" b="1" i="1" dirty="0">
                    <a:solidFill>
                      <a:srgbClr val="0066FF"/>
                    </a:solidFill>
                    <a:latin typeface="Cambria Math" panose="02040503050406030204" pitchFamily="18" charset="0"/>
                  </a:rPr>
                  <a:t> </a:t>
                </a:r>
                <a:r>
                  <a:rPr lang="en-US" dirty="0"/>
                  <a:t>of </a:t>
                </a:r>
                <a14:m>
                  <m:oMath xmlns:m="http://schemas.openxmlformats.org/officeDocument/2006/math">
                    <m:r>
                      <a:rPr lang="en-US" b="1" i="1" dirty="0">
                        <a:solidFill>
                          <a:srgbClr val="0066FF"/>
                        </a:solidFill>
                        <a:latin typeface="Cambria Math" panose="02040503050406030204" pitchFamily="18" charset="0"/>
                      </a:rPr>
                      <m:t>𝑛</m:t>
                    </m:r>
                    <m:r>
                      <a:rPr lang="en-US" b="1" i="1" dirty="0">
                        <a:solidFill>
                          <a:srgbClr val="0066FF"/>
                        </a:solidFill>
                        <a:latin typeface="Cambria Math" panose="02040503050406030204" pitchFamily="18" charset="0"/>
                      </a:rPr>
                      <m:t> </m:t>
                    </m:r>
                  </m:oMath>
                </a14:m>
                <a:r>
                  <a:rPr lang="en-US" dirty="0"/>
                  <a:t>activities with start time </a:t>
                </a:r>
                <a14:m>
                  <m:oMath xmlns:m="http://schemas.openxmlformats.org/officeDocument/2006/math">
                    <m:sSub>
                      <m:sSubPr>
                        <m:ctrlPr>
                          <a:rPr lang="en-US" b="1" i="1" dirty="0">
                            <a:solidFill>
                              <a:srgbClr val="0066FF"/>
                            </a:solidFill>
                            <a:latin typeface="Cambria Math" panose="02040503050406030204" pitchFamily="18" charset="0"/>
                          </a:rPr>
                        </m:ctrlPr>
                      </m:sSubPr>
                      <m:e>
                        <m:r>
                          <a:rPr lang="en-US" b="1" i="1" dirty="0">
                            <a:solidFill>
                              <a:srgbClr val="0066FF"/>
                            </a:solidFill>
                            <a:latin typeface="Cambria Math" panose="02040503050406030204" pitchFamily="18" charset="0"/>
                          </a:rPr>
                          <m:t>𝒔</m:t>
                        </m:r>
                      </m:e>
                      <m:sub>
                        <m:r>
                          <a:rPr lang="en-US" b="1" i="1" dirty="0">
                            <a:solidFill>
                              <a:srgbClr val="0066FF"/>
                            </a:solidFill>
                            <a:latin typeface="Cambria Math" panose="02040503050406030204" pitchFamily="18" charset="0"/>
                          </a:rPr>
                          <m:t>𝒊</m:t>
                        </m:r>
                      </m:sub>
                    </m:sSub>
                    <m:r>
                      <a:rPr lang="en-US" b="1" i="1" dirty="0">
                        <a:solidFill>
                          <a:srgbClr val="0066FF"/>
                        </a:solidFill>
                        <a:latin typeface="Cambria Math" panose="02040503050406030204" pitchFamily="18" charset="0"/>
                      </a:rPr>
                      <m:t> </m:t>
                    </m:r>
                  </m:oMath>
                </a14:m>
                <a:r>
                  <a:rPr lang="en-US" dirty="0"/>
                  <a:t>and finish time </a:t>
                </a:r>
                <a14:m>
                  <m:oMath xmlns:m="http://schemas.openxmlformats.org/officeDocument/2006/math">
                    <m:sSub>
                      <m:sSubPr>
                        <m:ctrlPr>
                          <a:rPr lang="en-US" b="1" i="1" dirty="0">
                            <a:solidFill>
                              <a:srgbClr val="0066FF"/>
                            </a:solidFill>
                            <a:latin typeface="Cambria Math" panose="02040503050406030204" pitchFamily="18" charset="0"/>
                          </a:rPr>
                        </m:ctrlPr>
                      </m:sSubPr>
                      <m:e>
                        <m:r>
                          <a:rPr lang="en-US" b="1" i="1" dirty="0">
                            <a:solidFill>
                              <a:srgbClr val="0066FF"/>
                            </a:solidFill>
                            <a:latin typeface="Cambria Math" panose="02040503050406030204" pitchFamily="18" charset="0"/>
                          </a:rPr>
                          <m:t>𝒇</m:t>
                        </m:r>
                      </m:e>
                      <m:sub>
                        <m:r>
                          <a:rPr lang="en-US" b="1" i="1" dirty="0">
                            <a:solidFill>
                              <a:srgbClr val="0066FF"/>
                            </a:solidFill>
                            <a:latin typeface="Cambria Math" panose="02040503050406030204" pitchFamily="18" charset="0"/>
                          </a:rPr>
                          <m:t>𝒊</m:t>
                        </m:r>
                      </m:sub>
                    </m:sSub>
                  </m:oMath>
                </a14:m>
                <a:r>
                  <a:rPr lang="en-US" dirty="0"/>
                  <a:t>, of an </a:t>
                </a:r>
                <a14:m>
                  <m:oMath xmlns:m="http://schemas.openxmlformats.org/officeDocument/2006/math">
                    <m:sSup>
                      <m:sSupPr>
                        <m:ctrlPr>
                          <a:rPr lang="en-US" b="1" i="1" dirty="0">
                            <a:solidFill>
                              <a:srgbClr val="0066FF"/>
                            </a:solidFill>
                            <a:latin typeface="Cambria Math" panose="02040503050406030204" pitchFamily="18" charset="0"/>
                          </a:rPr>
                        </m:ctrlPr>
                      </m:sSupPr>
                      <m:e>
                        <m:r>
                          <a:rPr lang="en-US" b="1" i="1" dirty="0">
                            <a:solidFill>
                              <a:srgbClr val="0066FF"/>
                            </a:solidFill>
                            <a:latin typeface="Cambria Math" panose="02040503050406030204" pitchFamily="18" charset="0"/>
                          </a:rPr>
                          <m:t>𝒊</m:t>
                        </m:r>
                      </m:e>
                      <m:sup>
                        <m:r>
                          <a:rPr lang="en-US" b="1" i="1" dirty="0">
                            <a:solidFill>
                              <a:srgbClr val="0066FF"/>
                            </a:solidFill>
                            <a:latin typeface="Cambria Math" panose="02040503050406030204" pitchFamily="18" charset="0"/>
                          </a:rPr>
                          <m:t>𝒕𝒉</m:t>
                        </m:r>
                      </m:sup>
                    </m:sSup>
                  </m:oMath>
                </a14:m>
                <a:r>
                  <a:rPr lang="en-US" dirty="0"/>
                  <a:t> activity. Find the </a:t>
                </a:r>
                <a:r>
                  <a:rPr lang="en-US" dirty="0">
                    <a:solidFill>
                      <a:srgbClr val="AD1457"/>
                    </a:solidFill>
                  </a:rPr>
                  <a:t>maximum size set of mutually compatible activities</a:t>
                </a:r>
                <a:r>
                  <a:rPr lang="en-US" dirty="0"/>
                  <a:t>.</a:t>
                </a:r>
              </a:p>
              <a:p>
                <a:r>
                  <a:rPr lang="en-US" dirty="0"/>
                  <a:t>Activities </a:t>
                </a:r>
                <a14:m>
                  <m:oMath xmlns:m="http://schemas.openxmlformats.org/officeDocument/2006/math">
                    <m:r>
                      <a:rPr lang="en-US" b="1" i="1" dirty="0">
                        <a:solidFill>
                          <a:srgbClr val="0066FF"/>
                        </a:solidFill>
                        <a:latin typeface="Cambria Math" panose="02040503050406030204" pitchFamily="18" charset="0"/>
                      </a:rPr>
                      <m:t>𝒊</m:t>
                    </m:r>
                  </m:oMath>
                </a14:m>
                <a:r>
                  <a:rPr lang="en-US" dirty="0"/>
                  <a:t> and</a:t>
                </a:r>
                <a14:m>
                  <m:oMath xmlns:m="http://schemas.openxmlformats.org/officeDocument/2006/math">
                    <m:r>
                      <a:rPr lang="en-US" b="1" i="1" dirty="0">
                        <a:solidFill>
                          <a:srgbClr val="0066FF"/>
                        </a:solidFill>
                        <a:latin typeface="Cambria Math" panose="02040503050406030204" pitchFamily="18" charset="0"/>
                      </a:rPr>
                      <m:t> </m:t>
                    </m:r>
                    <m:r>
                      <a:rPr lang="en-US" b="1" i="1" dirty="0">
                        <a:solidFill>
                          <a:srgbClr val="0066FF"/>
                        </a:solidFill>
                        <a:latin typeface="Cambria Math" panose="02040503050406030204" pitchFamily="18" charset="0"/>
                      </a:rPr>
                      <m:t>𝒋</m:t>
                    </m:r>
                    <m:r>
                      <a:rPr lang="en-US" b="1" i="1" dirty="0">
                        <a:solidFill>
                          <a:srgbClr val="0066FF"/>
                        </a:solidFill>
                        <a:latin typeface="Cambria Math" panose="02040503050406030204" pitchFamily="18" charset="0"/>
                      </a:rPr>
                      <m:t> </m:t>
                    </m:r>
                  </m:oMath>
                </a14:m>
                <a:r>
                  <a:rPr lang="en-US" dirty="0"/>
                  <a:t>are compatible if the half-open internal </a:t>
                </a:r>
                <a14:m>
                  <m:oMath xmlns:m="http://schemas.openxmlformats.org/officeDocument/2006/math">
                    <m:r>
                      <a:rPr lang="en-US" b="1" i="1" dirty="0">
                        <a:solidFill>
                          <a:srgbClr val="0066FF"/>
                        </a:solidFill>
                        <a:latin typeface="Cambria Math" panose="02040503050406030204" pitchFamily="18" charset="0"/>
                      </a:rPr>
                      <m:t>[</m:t>
                    </m:r>
                    <m:sSub>
                      <m:sSubPr>
                        <m:ctrlPr>
                          <a:rPr lang="en-US" b="1" i="1" dirty="0">
                            <a:solidFill>
                              <a:srgbClr val="0066FF"/>
                            </a:solidFill>
                            <a:latin typeface="Cambria Math" panose="02040503050406030204" pitchFamily="18" charset="0"/>
                          </a:rPr>
                        </m:ctrlPr>
                      </m:sSubPr>
                      <m:e>
                        <m:r>
                          <a:rPr lang="en-US" b="1" i="1" dirty="0">
                            <a:solidFill>
                              <a:srgbClr val="0066FF"/>
                            </a:solidFill>
                            <a:latin typeface="Cambria Math" panose="02040503050406030204" pitchFamily="18" charset="0"/>
                          </a:rPr>
                          <m:t>𝒔</m:t>
                        </m:r>
                      </m:e>
                      <m:sub>
                        <m:r>
                          <a:rPr lang="en-US" b="1" i="1" dirty="0">
                            <a:solidFill>
                              <a:srgbClr val="0066FF"/>
                            </a:solidFill>
                            <a:latin typeface="Cambria Math" panose="02040503050406030204" pitchFamily="18" charset="0"/>
                          </a:rPr>
                          <m:t>𝒊</m:t>
                        </m:r>
                      </m:sub>
                    </m:sSub>
                    <m:r>
                      <a:rPr lang="en-US" b="1" i="1" dirty="0">
                        <a:solidFill>
                          <a:srgbClr val="0066FF"/>
                        </a:solidFill>
                        <a:latin typeface="Cambria Math" panose="02040503050406030204" pitchFamily="18" charset="0"/>
                      </a:rPr>
                      <m:t>,</m:t>
                    </m:r>
                    <m:sSub>
                      <m:sSubPr>
                        <m:ctrlPr>
                          <a:rPr lang="en-US" b="1" i="1" dirty="0">
                            <a:solidFill>
                              <a:srgbClr val="0066FF"/>
                            </a:solidFill>
                            <a:latin typeface="Cambria Math" panose="02040503050406030204" pitchFamily="18" charset="0"/>
                          </a:rPr>
                        </m:ctrlPr>
                      </m:sSubPr>
                      <m:e>
                        <m:r>
                          <a:rPr lang="en-US" b="1" i="1" dirty="0">
                            <a:solidFill>
                              <a:srgbClr val="0066FF"/>
                            </a:solidFill>
                            <a:latin typeface="Cambria Math" panose="02040503050406030204" pitchFamily="18" charset="0"/>
                          </a:rPr>
                          <m:t>𝒇</m:t>
                        </m:r>
                      </m:e>
                      <m:sub>
                        <m:r>
                          <a:rPr lang="en-US" b="1" i="1" dirty="0">
                            <a:solidFill>
                              <a:srgbClr val="0066FF"/>
                            </a:solidFill>
                            <a:latin typeface="Cambria Math" panose="02040503050406030204" pitchFamily="18" charset="0"/>
                          </a:rPr>
                          <m:t>𝒊</m:t>
                        </m:r>
                      </m:sub>
                    </m:sSub>
                    <m:r>
                      <a:rPr lang="en-US" b="1" i="1" dirty="0">
                        <a:solidFill>
                          <a:srgbClr val="0066FF"/>
                        </a:solidFill>
                        <a:latin typeface="Cambria Math" panose="02040503050406030204" pitchFamily="18" charset="0"/>
                      </a:rPr>
                      <m:t>) </m:t>
                    </m:r>
                  </m:oMath>
                </a14:m>
                <a:r>
                  <a:rPr lang="en-US" dirty="0"/>
                  <a:t>and </a:t>
                </a:r>
                <a14:m>
                  <m:oMath xmlns:m="http://schemas.openxmlformats.org/officeDocument/2006/math">
                    <m:r>
                      <a:rPr lang="en-US" b="1" i="1" dirty="0">
                        <a:solidFill>
                          <a:srgbClr val="0066FF"/>
                        </a:solidFill>
                        <a:latin typeface="Cambria Math" panose="02040503050406030204" pitchFamily="18" charset="0"/>
                      </a:rPr>
                      <m:t>[</m:t>
                    </m:r>
                    <m:sSub>
                      <m:sSubPr>
                        <m:ctrlPr>
                          <a:rPr lang="en-US" b="1" i="1" dirty="0">
                            <a:solidFill>
                              <a:srgbClr val="0066FF"/>
                            </a:solidFill>
                            <a:latin typeface="Cambria Math" panose="02040503050406030204" pitchFamily="18" charset="0"/>
                          </a:rPr>
                        </m:ctrlPr>
                      </m:sSubPr>
                      <m:e>
                        <m:r>
                          <a:rPr lang="en-US" b="1" i="1" dirty="0">
                            <a:solidFill>
                              <a:srgbClr val="0066FF"/>
                            </a:solidFill>
                            <a:latin typeface="Cambria Math" panose="02040503050406030204" pitchFamily="18" charset="0"/>
                          </a:rPr>
                          <m:t>𝒔</m:t>
                        </m:r>
                      </m:e>
                      <m:sub>
                        <m:r>
                          <a:rPr lang="en-US" b="1" i="1" dirty="0">
                            <a:solidFill>
                              <a:srgbClr val="0066FF"/>
                            </a:solidFill>
                            <a:latin typeface="Cambria Math" panose="02040503050406030204" pitchFamily="18" charset="0"/>
                          </a:rPr>
                          <m:t>𝒋</m:t>
                        </m:r>
                      </m:sub>
                    </m:sSub>
                    <m:r>
                      <a:rPr lang="en-US" b="1" i="1" dirty="0">
                        <a:solidFill>
                          <a:srgbClr val="0066FF"/>
                        </a:solidFill>
                        <a:latin typeface="Cambria Math" panose="02040503050406030204" pitchFamily="18" charset="0"/>
                      </a:rPr>
                      <m:t>,</m:t>
                    </m:r>
                    <m:sSub>
                      <m:sSubPr>
                        <m:ctrlPr>
                          <a:rPr lang="en-US" b="1" i="1" dirty="0">
                            <a:solidFill>
                              <a:srgbClr val="0066FF"/>
                            </a:solidFill>
                            <a:latin typeface="Cambria Math" panose="02040503050406030204" pitchFamily="18" charset="0"/>
                          </a:rPr>
                        </m:ctrlPr>
                      </m:sSubPr>
                      <m:e>
                        <m:r>
                          <a:rPr lang="en-US" b="1" i="1" dirty="0">
                            <a:solidFill>
                              <a:srgbClr val="0066FF"/>
                            </a:solidFill>
                            <a:latin typeface="Cambria Math" panose="02040503050406030204" pitchFamily="18" charset="0"/>
                          </a:rPr>
                          <m:t>𝒇</m:t>
                        </m:r>
                      </m:e>
                      <m:sub>
                        <m:r>
                          <a:rPr lang="en-US" b="1" i="1" dirty="0">
                            <a:solidFill>
                              <a:srgbClr val="0066FF"/>
                            </a:solidFill>
                            <a:latin typeface="Cambria Math" panose="02040503050406030204" pitchFamily="18" charset="0"/>
                          </a:rPr>
                          <m:t>𝒋</m:t>
                        </m:r>
                      </m:sub>
                    </m:sSub>
                    <m:r>
                      <a:rPr lang="en-US" b="1" i="1" dirty="0">
                        <a:solidFill>
                          <a:srgbClr val="0066FF"/>
                        </a:solidFill>
                        <a:latin typeface="Cambria Math" panose="02040503050406030204" pitchFamily="18" charset="0"/>
                      </a:rPr>
                      <m:t>) </m:t>
                    </m:r>
                  </m:oMath>
                </a14:m>
                <a:r>
                  <a:rPr lang="en-US" dirty="0">
                    <a:solidFill>
                      <a:srgbClr val="AD1457"/>
                    </a:solidFill>
                  </a:rPr>
                  <a:t>do not overlap</a:t>
                </a:r>
                <a:r>
                  <a:rPr lang="en-US" dirty="0"/>
                  <a:t>, that is, </a:t>
                </a:r>
                <a14:m>
                  <m:oMath xmlns:m="http://schemas.openxmlformats.org/officeDocument/2006/math">
                    <m:r>
                      <a:rPr lang="en-US" b="1" i="1" dirty="0">
                        <a:solidFill>
                          <a:srgbClr val="0066FF"/>
                        </a:solidFill>
                        <a:latin typeface="Cambria Math" panose="02040503050406030204" pitchFamily="18" charset="0"/>
                      </a:rPr>
                      <m:t>𝒊</m:t>
                    </m:r>
                  </m:oMath>
                </a14:m>
                <a:r>
                  <a:rPr lang="en-US" b="1" i="1" dirty="0">
                    <a:solidFill>
                      <a:srgbClr val="0066FF"/>
                    </a:solidFill>
                    <a:latin typeface="Cambria Math" panose="02040503050406030204" pitchFamily="18" charset="0"/>
                  </a:rPr>
                  <a:t> </a:t>
                </a:r>
                <a:r>
                  <a:rPr lang="en-US" dirty="0"/>
                  <a:t>and</a:t>
                </a:r>
                <a:r>
                  <a:rPr lang="en-US" dirty="0">
                    <a:solidFill>
                      <a:srgbClr val="FF0000"/>
                    </a:solidFill>
                  </a:rPr>
                  <a:t> </a:t>
                </a:r>
                <a14:m>
                  <m:oMath xmlns:m="http://schemas.openxmlformats.org/officeDocument/2006/math">
                    <m:r>
                      <a:rPr lang="en-US" b="1" i="1" dirty="0">
                        <a:solidFill>
                          <a:srgbClr val="0066FF"/>
                        </a:solidFill>
                        <a:latin typeface="Cambria Math" panose="02040503050406030204" pitchFamily="18" charset="0"/>
                      </a:rPr>
                      <m:t>𝒋</m:t>
                    </m:r>
                  </m:oMath>
                </a14:m>
                <a:r>
                  <a:rPr lang="en-US" dirty="0">
                    <a:solidFill>
                      <a:srgbClr val="FF0000"/>
                    </a:solidFill>
                  </a:rPr>
                  <a:t> </a:t>
                </a:r>
                <a:r>
                  <a:rPr lang="en-US" dirty="0"/>
                  <a:t>are compatible if </a:t>
                </a:r>
                <a14:m>
                  <m:oMath xmlns:m="http://schemas.openxmlformats.org/officeDocument/2006/math">
                    <m:sSub>
                      <m:sSubPr>
                        <m:ctrlPr>
                          <a:rPr lang="en-US" b="1" i="1" dirty="0">
                            <a:solidFill>
                              <a:srgbClr val="0066FF"/>
                            </a:solidFill>
                            <a:latin typeface="Cambria Math" panose="02040503050406030204" pitchFamily="18" charset="0"/>
                          </a:rPr>
                        </m:ctrlPr>
                      </m:sSubPr>
                      <m:e>
                        <m:r>
                          <a:rPr lang="en-US" b="1" i="1" dirty="0">
                            <a:solidFill>
                              <a:srgbClr val="0066FF"/>
                            </a:solidFill>
                            <a:latin typeface="Cambria Math" panose="02040503050406030204" pitchFamily="18" charset="0"/>
                          </a:rPr>
                          <m:t>𝒔</m:t>
                        </m:r>
                      </m:e>
                      <m:sub>
                        <m:r>
                          <a:rPr lang="en-US" b="1" i="1" dirty="0">
                            <a:solidFill>
                              <a:srgbClr val="0066FF"/>
                            </a:solidFill>
                            <a:latin typeface="Cambria Math" panose="02040503050406030204" pitchFamily="18" charset="0"/>
                          </a:rPr>
                          <m:t>𝒊</m:t>
                        </m:r>
                      </m:sub>
                    </m:sSub>
                    <m:r>
                      <a:rPr lang="en-US" b="1" i="1" dirty="0">
                        <a:solidFill>
                          <a:srgbClr val="0066FF"/>
                        </a:solidFill>
                        <a:latin typeface="Cambria Math" panose="02040503050406030204" pitchFamily="18" charset="0"/>
                      </a:rPr>
                      <m:t>≥</m:t>
                    </m:r>
                    <m:sSub>
                      <m:sSubPr>
                        <m:ctrlPr>
                          <a:rPr lang="en-US" b="1" i="1" dirty="0">
                            <a:solidFill>
                              <a:srgbClr val="0066FF"/>
                            </a:solidFill>
                            <a:latin typeface="Cambria Math" panose="02040503050406030204" pitchFamily="18" charset="0"/>
                          </a:rPr>
                        </m:ctrlPr>
                      </m:sSubPr>
                      <m:e>
                        <m:r>
                          <a:rPr lang="en-US" b="1" i="1" dirty="0">
                            <a:solidFill>
                              <a:srgbClr val="0066FF"/>
                            </a:solidFill>
                            <a:latin typeface="Cambria Math" panose="02040503050406030204" pitchFamily="18" charset="0"/>
                          </a:rPr>
                          <m:t>𝒇</m:t>
                        </m:r>
                      </m:e>
                      <m:sub>
                        <m:r>
                          <a:rPr lang="en-US" b="1" i="1" dirty="0">
                            <a:solidFill>
                              <a:srgbClr val="0066FF"/>
                            </a:solidFill>
                            <a:latin typeface="Cambria Math" panose="02040503050406030204" pitchFamily="18" charset="0"/>
                          </a:rPr>
                          <m:t>𝒋</m:t>
                        </m:r>
                      </m:sub>
                    </m:sSub>
                  </m:oMath>
                </a14:m>
                <a:r>
                  <a:rPr lang="en-US" dirty="0"/>
                  <a:t> or </a:t>
                </a:r>
                <a14:m>
                  <m:oMath xmlns:m="http://schemas.openxmlformats.org/officeDocument/2006/math">
                    <m:sSub>
                      <m:sSubPr>
                        <m:ctrlPr>
                          <a:rPr lang="en-US" b="1" i="1" dirty="0">
                            <a:solidFill>
                              <a:srgbClr val="0066FF"/>
                            </a:solidFill>
                            <a:latin typeface="Cambria Math" panose="02040503050406030204" pitchFamily="18" charset="0"/>
                          </a:rPr>
                        </m:ctrlPr>
                      </m:sSubPr>
                      <m:e>
                        <m:r>
                          <a:rPr lang="en-US" b="1" i="1" dirty="0">
                            <a:solidFill>
                              <a:srgbClr val="0066FF"/>
                            </a:solidFill>
                            <a:latin typeface="Cambria Math" panose="02040503050406030204" pitchFamily="18" charset="0"/>
                          </a:rPr>
                          <m:t>𝒔</m:t>
                        </m:r>
                      </m:e>
                      <m:sub>
                        <m:r>
                          <a:rPr lang="en-US" b="1" i="1" dirty="0">
                            <a:solidFill>
                              <a:srgbClr val="0066FF"/>
                            </a:solidFill>
                            <a:latin typeface="Cambria Math" panose="02040503050406030204" pitchFamily="18" charset="0"/>
                          </a:rPr>
                          <m:t>𝒋</m:t>
                        </m:r>
                      </m:sub>
                    </m:sSub>
                    <m:r>
                      <a:rPr lang="en-US" b="1" i="1" dirty="0">
                        <a:solidFill>
                          <a:srgbClr val="0066FF"/>
                        </a:solidFill>
                        <a:latin typeface="Cambria Math" panose="02040503050406030204" pitchFamily="18" charset="0"/>
                      </a:rPr>
                      <m:t>≥</m:t>
                    </m:r>
                    <m:sSub>
                      <m:sSubPr>
                        <m:ctrlPr>
                          <a:rPr lang="en-US" b="1" i="1" dirty="0">
                            <a:solidFill>
                              <a:srgbClr val="0066FF"/>
                            </a:solidFill>
                            <a:latin typeface="Cambria Math" panose="02040503050406030204" pitchFamily="18" charset="0"/>
                          </a:rPr>
                        </m:ctrlPr>
                      </m:sSubPr>
                      <m:e>
                        <m:r>
                          <a:rPr lang="en-US" b="1" i="1" dirty="0">
                            <a:solidFill>
                              <a:srgbClr val="0066FF"/>
                            </a:solidFill>
                            <a:latin typeface="Cambria Math" panose="02040503050406030204" pitchFamily="18" charset="0"/>
                          </a:rPr>
                          <m:t>𝒇</m:t>
                        </m:r>
                      </m:e>
                      <m:sub>
                        <m:r>
                          <a:rPr lang="en-US" b="1" i="1" dirty="0">
                            <a:solidFill>
                              <a:srgbClr val="0066FF"/>
                            </a:solidFill>
                            <a:latin typeface="Cambria Math" panose="02040503050406030204" pitchFamily="18" charset="0"/>
                          </a:rPr>
                          <m:t>𝒊</m:t>
                        </m:r>
                      </m:sub>
                    </m:sSub>
                  </m:oMath>
                </a14:m>
                <a:r>
                  <a:rPr lang="en-US" dirty="0"/>
                  <a:t>.</a:t>
                </a:r>
              </a:p>
              <a:p>
                <a:r>
                  <a:rPr lang="en-US" b="1" dirty="0" err="1">
                    <a:solidFill>
                      <a:srgbClr val="C00000"/>
                    </a:solidFill>
                  </a:rPr>
                  <a:t>S</a:t>
                </a:r>
                <a:r>
                  <a:rPr lang="en-US" b="1" baseline="-25000" dirty="0" err="1">
                    <a:solidFill>
                      <a:srgbClr val="C00000"/>
                    </a:solidFill>
                  </a:rPr>
                  <a:t>ij</a:t>
                </a:r>
                <a:r>
                  <a:rPr lang="en-US" b="1" dirty="0">
                    <a:solidFill>
                      <a:srgbClr val="C00000"/>
                    </a:solidFill>
                  </a:rPr>
                  <a:t> = all the activities which 	starts after a</a:t>
                </a:r>
                <a:r>
                  <a:rPr lang="en-US" b="1" baseline="-25000" dirty="0">
                    <a:solidFill>
                      <a:srgbClr val="C00000"/>
                    </a:solidFill>
                  </a:rPr>
                  <a:t>i</a:t>
                </a:r>
                <a:r>
                  <a:rPr lang="en-US" b="1" dirty="0">
                    <a:solidFill>
                      <a:srgbClr val="C00000"/>
                    </a:solidFill>
                  </a:rPr>
                  <a:t> finishes and finishes before activity </a:t>
                </a:r>
                <a:r>
                  <a:rPr lang="en-US" b="1" dirty="0" err="1">
                    <a:solidFill>
                      <a:srgbClr val="C00000"/>
                    </a:solidFill>
                  </a:rPr>
                  <a:t>a</a:t>
                </a:r>
                <a:r>
                  <a:rPr lang="en-US" b="1" baseline="-25000" dirty="0" err="1">
                    <a:solidFill>
                      <a:srgbClr val="C00000"/>
                    </a:solidFill>
                  </a:rPr>
                  <a:t>j</a:t>
                </a:r>
                <a:r>
                  <a:rPr lang="en-US" b="1" dirty="0">
                    <a:solidFill>
                      <a:srgbClr val="C00000"/>
                    </a:solidFill>
                  </a:rPr>
                  <a:t> starts</a:t>
                </a:r>
              </a:p>
              <a:p>
                <a:r>
                  <a:rPr lang="en-US" dirty="0"/>
                  <a:t>S</a:t>
                </a:r>
                <a:r>
                  <a:rPr lang="en-US" baseline="-25000" dirty="0"/>
                  <a:t>14</a:t>
                </a:r>
                <a:r>
                  <a:rPr lang="en-US" dirty="0"/>
                  <a:t>= ?</a:t>
                </a:r>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5" t="-1382" r="-817"/>
                </a:stretch>
              </a:blipFill>
            </p:spPr>
            <p:txBody>
              <a:bodyPr/>
              <a:lstStyle/>
              <a:p>
                <a:r>
                  <a:rPr lang="en-IN">
                    <a:noFill/>
                  </a:rPr>
                  <a:t> </a:t>
                </a:r>
              </a:p>
            </p:txBody>
          </p:sp>
        </mc:Fallback>
      </mc:AlternateContent>
    </p:spTree>
    <p:extLst>
      <p:ext uri="{BB962C8B-B14F-4D97-AF65-F5344CB8AC3E}">
        <p14:creationId xmlns:p14="http://schemas.microsoft.com/office/powerpoint/2010/main" val="1848340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6096000" y="0"/>
            <a:ext cx="6096000" cy="6588000"/>
          </a:xfrm>
          <a:prstGeom prst="rect">
            <a:avLst/>
          </a:prstGeom>
          <a:gradFill flip="none" rotWithShape="1">
            <a:gsLst>
              <a:gs pos="55000">
                <a:srgbClr val="B21266"/>
              </a:gs>
              <a:gs pos="30000">
                <a:srgbClr val="A3115D">
                  <a:lumMod val="100000"/>
                </a:srgbClr>
              </a:gs>
              <a:gs pos="100000">
                <a:srgbClr val="ED6D9B"/>
              </a:gs>
            </a:gsLst>
            <a:path path="circle">
              <a:fillToRect r="100000" b="100000"/>
            </a:path>
            <a:tileRect l="-100000" t="-100000"/>
          </a:gradFill>
          <a:ln>
            <a:noFill/>
          </a:ln>
        </p:spPr>
        <p:txBody>
          <a:bodyPr vert="horz" wrap="square" lIns="91440" tIns="45720" rIns="91440" bIns="45720" numCol="1" anchor="t" anchorCtr="0" compatLnSpc="1">
            <a:prstTxWarp prst="textNoShape">
              <a:avLst/>
            </a:prstTxWarp>
          </a:bodyPr>
          <a:lstStyle/>
          <a:p>
            <a:pPr algn="just"/>
            <a:r>
              <a:rPr lang="en-US" sz="2400" dirty="0">
                <a:solidFill>
                  <a:schemeClr val="accent5"/>
                </a:solidFill>
              </a:rPr>
              <a:t>Example: 11 activities are given as,</a:t>
            </a:r>
          </a:p>
          <a:p>
            <a:pPr algn="just"/>
            <a:endParaRPr lang="en-US" sz="2400" dirty="0">
              <a:solidFill>
                <a:schemeClr val="accent5"/>
              </a:solidFill>
            </a:endParaRPr>
          </a:p>
          <a:p>
            <a:pPr algn="just"/>
            <a:r>
              <a:rPr lang="en-US" sz="2400" dirty="0">
                <a:solidFill>
                  <a:schemeClr val="accent5"/>
                </a:solidFill>
              </a:rPr>
              <a:t>Solution: </a:t>
            </a:r>
          </a:p>
          <a:p>
            <a:pPr algn="just"/>
            <a:endParaRPr lang="en-US" sz="2400" b="1" dirty="0">
              <a:solidFill>
                <a:schemeClr val="tx1">
                  <a:lumMod val="25000"/>
                  <a:lumOff val="75000"/>
                </a:schemeClr>
              </a:solidFill>
            </a:endParaRPr>
          </a:p>
          <a:p>
            <a:pPr algn="just"/>
            <a:r>
              <a:rPr lang="en-US" sz="2400" b="1" dirty="0">
                <a:solidFill>
                  <a:schemeClr val="tx1">
                    <a:lumMod val="25000"/>
                    <a:lumOff val="75000"/>
                  </a:schemeClr>
                </a:solidFill>
              </a:rPr>
              <a:t>Step 1: </a:t>
            </a:r>
          </a:p>
          <a:p>
            <a:pPr algn="just"/>
            <a:r>
              <a:rPr lang="en-US" sz="2400" dirty="0">
                <a:solidFill>
                  <a:schemeClr val="tx1">
                    <a:lumMod val="25000"/>
                    <a:lumOff val="75000"/>
                  </a:schemeClr>
                </a:solidFill>
              </a:rPr>
              <a:t>Sort the activities of set 𝑺 as per increasing finish time to directly identify mutually compatible activities by comparing finish time of first activity and start time of next activity</a:t>
            </a:r>
            <a:endParaRPr lang="en-US" altLang="en-US" sz="2400" dirty="0">
              <a:solidFill>
                <a:schemeClr val="tx1">
                  <a:lumMod val="25000"/>
                  <a:lumOff val="75000"/>
                </a:schemeClr>
              </a:solidFill>
            </a:endParaRPr>
          </a:p>
        </p:txBody>
      </p:sp>
      <p:sp>
        <p:nvSpPr>
          <p:cNvPr id="5" name="TextBox 4"/>
          <p:cNvSpPr txBox="1"/>
          <p:nvPr/>
        </p:nvSpPr>
        <p:spPr>
          <a:xfrm>
            <a:off x="-1" y="42884"/>
            <a:ext cx="6217920" cy="666849"/>
          </a:xfrm>
          <a:prstGeom prst="rect">
            <a:avLst/>
          </a:prstGeom>
          <a:noFill/>
        </p:spPr>
        <p:txBody>
          <a:bodyPr wrap="square" lIns="274320" rtlCol="0" anchor="ctr">
            <a:spAutoFit/>
          </a:bodyPr>
          <a:lstStyle/>
          <a:p>
            <a:pPr>
              <a:lnSpc>
                <a:spcPct val="150000"/>
              </a:lnSpc>
            </a:pPr>
            <a:r>
              <a:rPr lang="en-US" sz="2800" dirty="0"/>
              <a:t>Activity Selection Problem - Example</a:t>
            </a:r>
            <a:endParaRPr lang="en-US" sz="2800" b="1" dirty="0">
              <a:solidFill>
                <a:srgbClr val="424242"/>
              </a:solidFill>
            </a:endParaRPr>
          </a:p>
        </p:txBody>
      </p:sp>
      <mc:AlternateContent xmlns:mc="http://schemas.openxmlformats.org/markup-compatibility/2006" xmlns:a14="http://schemas.microsoft.com/office/drawing/2010/main">
        <mc:Choice Requires="a14">
          <p:graphicFrame>
            <p:nvGraphicFramePr>
              <p:cNvPr id="27" name="Table 26"/>
              <p:cNvGraphicFramePr>
                <a:graphicFrameLocks noGrp="1"/>
              </p:cNvGraphicFramePr>
              <p:nvPr/>
            </p:nvGraphicFramePr>
            <p:xfrm>
              <a:off x="1389412" y="943758"/>
              <a:ext cx="3300846" cy="5142675"/>
            </p:xfrm>
            <a:graphic>
              <a:graphicData uri="http://schemas.openxmlformats.org/drawingml/2006/table">
                <a:tbl>
                  <a:tblPr firstRow="1" bandRow="1">
                    <a:tableStyleId>{21E4AEA4-8DFA-4A89-87EB-49C32662AFE0}</a:tableStyleId>
                  </a:tblPr>
                  <a:tblGrid>
                    <a:gridCol w="513465">
                      <a:extLst>
                        <a:ext uri="{9D8B030D-6E8A-4147-A177-3AD203B41FA5}">
                          <a16:colId xmlns:a16="http://schemas.microsoft.com/office/drawing/2014/main" val="1174466033"/>
                        </a:ext>
                      </a:extLst>
                    </a:gridCol>
                    <a:gridCol w="1320338">
                      <a:extLst>
                        <a:ext uri="{9D8B030D-6E8A-4147-A177-3AD203B41FA5}">
                          <a16:colId xmlns:a16="http://schemas.microsoft.com/office/drawing/2014/main" val="8413596"/>
                        </a:ext>
                      </a:extLst>
                    </a:gridCol>
                    <a:gridCol w="1467043">
                      <a:extLst>
                        <a:ext uri="{9D8B030D-6E8A-4147-A177-3AD203B41FA5}">
                          <a16:colId xmlns:a16="http://schemas.microsoft.com/office/drawing/2014/main" val="1420928912"/>
                        </a:ext>
                      </a:extLst>
                    </a:gridCol>
                  </a:tblGrid>
                  <a:tr h="370840">
                    <a:tc>
                      <a:txBody>
                        <a:bodyPr/>
                        <a:lstStyle/>
                        <a:p>
                          <a:pPr algn="ctr"/>
                          <a:r>
                            <a:rPr lang="en-US" sz="2200" dirty="0">
                              <a:solidFill>
                                <a:srgbClr val="C00000"/>
                              </a:solidFill>
                            </a:rPr>
                            <a:t>Sr.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rgbClr val="C00000"/>
                              </a:solidFill>
                            </a:rPr>
                            <a:t>Activity</a:t>
                          </a:r>
                          <a:r>
                            <a:rPr lang="en-US" sz="2200" baseline="0" dirty="0">
                              <a:solidFill>
                                <a:srgbClr val="C00000"/>
                              </a:solidFill>
                            </a:rPr>
                            <a:t> </a:t>
                          </a:r>
                          <a:endParaRPr lang="en-US" sz="22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rgbClr val="C00000"/>
                              </a:solidFill>
                            </a:rPr>
                            <a:t>(</a:t>
                          </a:r>
                          <a14:m>
                            <m:oMath xmlns:m="http://schemas.openxmlformats.org/officeDocument/2006/math">
                              <m:sSub>
                                <m:sSubPr>
                                  <m:ctrlPr>
                                    <a:rPr lang="en-US" sz="2400" b="1" i="1" dirty="0" smtClean="0">
                                      <a:solidFill>
                                        <a:srgbClr val="C00000"/>
                                      </a:solidFill>
                                      <a:latin typeface="Cambria Math" panose="02040503050406030204" pitchFamily="18" charset="0"/>
                                    </a:rPr>
                                  </m:ctrlPr>
                                </m:sSubPr>
                                <m:e>
                                  <m:r>
                                    <a:rPr lang="en-US" sz="2400" b="1" i="1" dirty="0">
                                      <a:solidFill>
                                        <a:srgbClr val="C00000"/>
                                      </a:solidFill>
                                      <a:latin typeface="Cambria Math" panose="02040503050406030204" pitchFamily="18" charset="0"/>
                                    </a:rPr>
                                    <m:t>𝒔</m:t>
                                  </m:r>
                                </m:e>
                                <m:sub>
                                  <m:r>
                                    <a:rPr lang="en-US" sz="2400" b="1" i="1" dirty="0">
                                      <a:solidFill>
                                        <a:srgbClr val="C00000"/>
                                      </a:solidFill>
                                      <a:latin typeface="Cambria Math" panose="02040503050406030204" pitchFamily="18" charset="0"/>
                                    </a:rPr>
                                    <m:t>𝒊</m:t>
                                  </m:r>
                                </m:sub>
                              </m:sSub>
                            </m:oMath>
                          </a14:m>
                          <a:r>
                            <a:rPr lang="en-US" sz="2200" dirty="0">
                              <a:solidFill>
                                <a:srgbClr val="C00000"/>
                              </a:solidFill>
                            </a:rPr>
                            <a:t>, </a:t>
                          </a:r>
                          <a14:m>
                            <m:oMath xmlns:m="http://schemas.openxmlformats.org/officeDocument/2006/math">
                              <m:sSub>
                                <m:sSubPr>
                                  <m:ctrlPr>
                                    <a:rPr lang="en-US" sz="2400" b="1" i="1" dirty="0" smtClean="0">
                                      <a:solidFill>
                                        <a:srgbClr val="C00000"/>
                                      </a:solidFill>
                                      <a:latin typeface="Cambria Math" panose="02040503050406030204" pitchFamily="18" charset="0"/>
                                    </a:rPr>
                                  </m:ctrlPr>
                                </m:sSubPr>
                                <m:e>
                                  <m:r>
                                    <a:rPr lang="en-US" sz="2400" b="1" i="1" dirty="0">
                                      <a:solidFill>
                                        <a:srgbClr val="C00000"/>
                                      </a:solidFill>
                                      <a:latin typeface="Cambria Math" panose="02040503050406030204" pitchFamily="18" charset="0"/>
                                    </a:rPr>
                                    <m:t>𝒇</m:t>
                                  </m:r>
                                </m:e>
                                <m:sub>
                                  <m:r>
                                    <a:rPr lang="en-US" sz="2400" b="1" i="1" dirty="0">
                                      <a:solidFill>
                                        <a:srgbClr val="C00000"/>
                                      </a:solidFill>
                                      <a:latin typeface="Cambria Math" panose="02040503050406030204" pitchFamily="18" charset="0"/>
                                    </a:rPr>
                                    <m:t>𝒊</m:t>
                                  </m:r>
                                </m:sub>
                              </m:sSub>
                            </m:oMath>
                          </a14:m>
                          <a:r>
                            <a:rPr lang="en-US" sz="2200" dirty="0">
                              <a:solidFill>
                                <a:srgbClr val="C00000"/>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4676676"/>
                      </a:ext>
                    </a:extLst>
                  </a:tr>
                  <a:tr h="370840">
                    <a:tc>
                      <a:txBody>
                        <a:bodyPr/>
                        <a:lstStyle/>
                        <a:p>
                          <a:pPr algn="ctr"/>
                          <a:r>
                            <a:rPr lang="en-US" sz="22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solidFill>
                            </a:rPr>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t>(1, 4)</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1713701"/>
                      </a:ext>
                    </a:extLst>
                  </a:tr>
                  <a:tr h="370840">
                    <a:tc>
                      <a:txBody>
                        <a:bodyPr/>
                        <a:lstStyle/>
                        <a:p>
                          <a:pPr algn="ctr"/>
                          <a:r>
                            <a:rPr lang="en-US" sz="220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solidFill>
                            </a:rPr>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t>(3, 5)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6376609"/>
                      </a:ext>
                    </a:extLst>
                  </a:tr>
                  <a:tr h="370840">
                    <a:tc>
                      <a:txBody>
                        <a:bodyPr/>
                        <a:lstStyle/>
                        <a:p>
                          <a:pPr algn="ctr"/>
                          <a:r>
                            <a:rPr lang="en-US" sz="220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solidFill>
                            </a:rPr>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t>(0, 6)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2044441"/>
                      </a:ext>
                    </a:extLst>
                  </a:tr>
                  <a:tr h="370840">
                    <a:tc>
                      <a:txBody>
                        <a:bodyPr/>
                        <a:lstStyle/>
                        <a:p>
                          <a:pPr algn="ctr"/>
                          <a:r>
                            <a:rPr lang="en-US" sz="220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solidFill>
                            </a:rPr>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t>(5, 7)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3962450"/>
                      </a:ext>
                    </a:extLst>
                  </a:tr>
                  <a:tr h="370840">
                    <a:tc>
                      <a:txBody>
                        <a:bodyPr/>
                        <a:lstStyle/>
                        <a:p>
                          <a:pPr algn="ctr"/>
                          <a:r>
                            <a:rPr lang="en-US" sz="220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solidFill>
                            </a:rPr>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t>(3, 8)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8812033"/>
                      </a:ext>
                    </a:extLst>
                  </a:tr>
                  <a:tr h="370840">
                    <a:tc>
                      <a:txBody>
                        <a:bodyPr/>
                        <a:lstStyle/>
                        <a:p>
                          <a:pPr algn="ctr"/>
                          <a:r>
                            <a:rPr lang="en-US" sz="220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solidFill>
                            </a:rPr>
                            <a:t>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t>(5, 9)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0550146"/>
                      </a:ext>
                    </a:extLst>
                  </a:tr>
                  <a:tr h="370840">
                    <a:tc>
                      <a:txBody>
                        <a:bodyPr/>
                        <a:lstStyle/>
                        <a:p>
                          <a:pPr algn="ctr"/>
                          <a:r>
                            <a:rPr lang="en-US" sz="220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solidFill>
                            </a:rPr>
                            <a: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t>(6, 10)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4072964"/>
                      </a:ext>
                    </a:extLst>
                  </a:tr>
                  <a:tr h="370840">
                    <a:tc>
                      <a:txBody>
                        <a:bodyPr/>
                        <a:lstStyle/>
                        <a:p>
                          <a:pPr algn="ctr"/>
                          <a:r>
                            <a:rPr lang="en-US" sz="220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t>(8, 11)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01958333"/>
                      </a:ext>
                    </a:extLst>
                  </a:tr>
                  <a:tr h="370840">
                    <a:tc>
                      <a:txBody>
                        <a:bodyPr/>
                        <a:lstStyle/>
                        <a:p>
                          <a:pPr algn="ctr"/>
                          <a:r>
                            <a:rPr lang="en-US" sz="220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t>(8, 12)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553459"/>
                      </a:ext>
                    </a:extLst>
                  </a:tr>
                  <a:tr h="370840">
                    <a:tc>
                      <a:txBody>
                        <a:bodyPr/>
                        <a:lstStyle/>
                        <a:p>
                          <a:pPr algn="ctr"/>
                          <a:r>
                            <a:rPr lang="en-US" sz="2200"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t>(2, 13)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2851587"/>
                      </a:ext>
                    </a:extLst>
                  </a:tr>
                  <a:tr h="370840">
                    <a:tc>
                      <a:txBody>
                        <a:bodyPr/>
                        <a:lstStyle/>
                        <a:p>
                          <a:pPr algn="ctr"/>
                          <a:r>
                            <a:rPr lang="en-US" sz="2200" dirty="0">
                              <a:solidFill>
                                <a:schemeClr val="tx1"/>
                              </a:solidFill>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solidFill>
                            </a:rPr>
                            <a:t>Z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t>(12, 14)</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0690741"/>
                      </a:ext>
                    </a:extLst>
                  </a:tr>
                </a:tbl>
              </a:graphicData>
            </a:graphic>
          </p:graphicFrame>
        </mc:Choice>
        <mc:Fallback xmlns="">
          <p:graphicFrame>
            <p:nvGraphicFramePr>
              <p:cNvPr id="27" name="Table 26"/>
              <p:cNvGraphicFramePr>
                <a:graphicFrameLocks noGrp="1"/>
              </p:cNvGraphicFramePr>
              <p:nvPr>
                <p:extLst>
                  <p:ext uri="{D42A27DB-BD31-4B8C-83A1-F6EECF244321}">
                    <p14:modId xmlns:p14="http://schemas.microsoft.com/office/powerpoint/2010/main" val="1550765668"/>
                  </p:ext>
                </p:extLst>
              </p:nvPr>
            </p:nvGraphicFramePr>
            <p:xfrm>
              <a:off x="1389412" y="943758"/>
              <a:ext cx="3300846" cy="5142675"/>
            </p:xfrm>
            <a:graphic>
              <a:graphicData uri="http://schemas.openxmlformats.org/drawingml/2006/table">
                <a:tbl>
                  <a:tblPr firstRow="1" bandRow="1">
                    <a:tableStyleId>{21E4AEA4-8DFA-4A89-87EB-49C32662AFE0}</a:tableStyleId>
                  </a:tblPr>
                  <a:tblGrid>
                    <a:gridCol w="513465">
                      <a:extLst>
                        <a:ext uri="{9D8B030D-6E8A-4147-A177-3AD203B41FA5}">
                          <a16:colId xmlns:a16="http://schemas.microsoft.com/office/drawing/2014/main" xmlns:a14="http://schemas.microsoft.com/office/drawing/2010/main" xmlns="" val="1174466033"/>
                        </a:ext>
                      </a:extLst>
                    </a:gridCol>
                    <a:gridCol w="1320338">
                      <a:extLst>
                        <a:ext uri="{9D8B030D-6E8A-4147-A177-3AD203B41FA5}">
                          <a16:colId xmlns:a16="http://schemas.microsoft.com/office/drawing/2014/main" xmlns:a14="http://schemas.microsoft.com/office/drawing/2010/main" xmlns="" val="8413596"/>
                        </a:ext>
                      </a:extLst>
                    </a:gridCol>
                    <a:gridCol w="1467043">
                      <a:extLst>
                        <a:ext uri="{9D8B030D-6E8A-4147-A177-3AD203B41FA5}">
                          <a16:colId xmlns:a16="http://schemas.microsoft.com/office/drawing/2014/main" xmlns:a14="http://schemas.microsoft.com/office/drawing/2010/main" xmlns="" val="1420928912"/>
                        </a:ext>
                      </a:extLst>
                    </a:gridCol>
                  </a:tblGrid>
                  <a:tr h="448755">
                    <a:tc>
                      <a:txBody>
                        <a:bodyPr/>
                        <a:lstStyle/>
                        <a:p>
                          <a:pPr algn="ctr"/>
                          <a:r>
                            <a:rPr lang="en-US" sz="2200" dirty="0" smtClean="0">
                              <a:solidFill>
                                <a:srgbClr val="C00000"/>
                              </a:solidFill>
                            </a:rPr>
                            <a:t>Sr.</a:t>
                          </a:r>
                          <a:endParaRPr lang="en-US" sz="22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solidFill>
                                <a:srgbClr val="C00000"/>
                              </a:solidFill>
                            </a:rPr>
                            <a:t>Activity</a:t>
                          </a:r>
                          <a:r>
                            <a:rPr lang="en-US" sz="2200" baseline="0" dirty="0" smtClean="0">
                              <a:solidFill>
                                <a:srgbClr val="C00000"/>
                              </a:solidFill>
                            </a:rPr>
                            <a:t> </a:t>
                          </a:r>
                          <a:endParaRPr lang="en-US" sz="22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125726" t="-6757" r="-830" b="-1070270"/>
                          </a:stretch>
                        </a:blipFill>
                      </a:tcPr>
                    </a:tc>
                    <a:extLst>
                      <a:ext uri="{0D108BD9-81ED-4DB2-BD59-A6C34878D82A}">
                        <a16:rowId xmlns:a16="http://schemas.microsoft.com/office/drawing/2014/main" xmlns:a14="http://schemas.microsoft.com/office/drawing/2010/main" xmlns="" val="1854676676"/>
                      </a:ext>
                    </a:extLst>
                  </a:tr>
                  <a:tr h="426720">
                    <a:tc>
                      <a:txBody>
                        <a:bodyPr/>
                        <a:lstStyle/>
                        <a:p>
                          <a:pPr algn="ctr"/>
                          <a:r>
                            <a:rPr lang="en-US" sz="2200" dirty="0" smtClean="0">
                              <a:solidFill>
                                <a:schemeClr val="tx1"/>
                              </a:solidFill>
                            </a:rPr>
                            <a:t>1</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solidFill>
                                <a:schemeClr val="tx1"/>
                              </a:solidFill>
                            </a:rPr>
                            <a:t>P</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t>(1, 4)</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a14="http://schemas.microsoft.com/office/drawing/2010/main" xmlns="" val="2041713701"/>
                      </a:ext>
                    </a:extLst>
                  </a:tr>
                  <a:tr h="426720">
                    <a:tc>
                      <a:txBody>
                        <a:bodyPr/>
                        <a:lstStyle/>
                        <a:p>
                          <a:pPr algn="ctr"/>
                          <a:r>
                            <a:rPr lang="en-US" sz="2200" dirty="0" smtClean="0">
                              <a:solidFill>
                                <a:schemeClr val="tx1"/>
                              </a:solidFill>
                            </a:rPr>
                            <a:t>2</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solidFill>
                                <a:schemeClr val="tx1"/>
                              </a:solidFill>
                            </a:rPr>
                            <a:t>Q</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t>(3, 5)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a14="http://schemas.microsoft.com/office/drawing/2010/main" xmlns="" val="4146376609"/>
                      </a:ext>
                    </a:extLst>
                  </a:tr>
                  <a:tr h="426720">
                    <a:tc>
                      <a:txBody>
                        <a:bodyPr/>
                        <a:lstStyle/>
                        <a:p>
                          <a:pPr algn="ctr"/>
                          <a:r>
                            <a:rPr lang="en-US" sz="2200" dirty="0" smtClean="0">
                              <a:solidFill>
                                <a:schemeClr val="tx1"/>
                              </a:solidFill>
                            </a:rPr>
                            <a:t>3</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solidFill>
                                <a:schemeClr val="tx1"/>
                              </a:solidFill>
                            </a:rPr>
                            <a:t>R</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t>(0, 6)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a14="http://schemas.microsoft.com/office/drawing/2010/main" xmlns="" val="3592044441"/>
                      </a:ext>
                    </a:extLst>
                  </a:tr>
                  <a:tr h="426720">
                    <a:tc>
                      <a:txBody>
                        <a:bodyPr/>
                        <a:lstStyle/>
                        <a:p>
                          <a:pPr algn="ctr"/>
                          <a:r>
                            <a:rPr lang="en-US" sz="2200" dirty="0" smtClean="0">
                              <a:solidFill>
                                <a:schemeClr val="tx1"/>
                              </a:solidFill>
                            </a:rPr>
                            <a:t>4</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solidFill>
                                <a:schemeClr val="tx1"/>
                              </a:solidFill>
                            </a:rPr>
                            <a:t>S</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t>(5, 7)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a14="http://schemas.microsoft.com/office/drawing/2010/main" xmlns="" val="1483962450"/>
                      </a:ext>
                    </a:extLst>
                  </a:tr>
                  <a:tr h="426720">
                    <a:tc>
                      <a:txBody>
                        <a:bodyPr/>
                        <a:lstStyle/>
                        <a:p>
                          <a:pPr algn="ctr"/>
                          <a:r>
                            <a:rPr lang="en-US" sz="2200" dirty="0" smtClean="0">
                              <a:solidFill>
                                <a:schemeClr val="tx1"/>
                              </a:solidFill>
                            </a:rPr>
                            <a:t>5</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solidFill>
                                <a:schemeClr val="tx1"/>
                              </a:solidFill>
                            </a:rPr>
                            <a:t>T</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t>(3, 8)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a14="http://schemas.microsoft.com/office/drawing/2010/main" xmlns="" val="1708812033"/>
                      </a:ext>
                    </a:extLst>
                  </a:tr>
                  <a:tr h="426720">
                    <a:tc>
                      <a:txBody>
                        <a:bodyPr/>
                        <a:lstStyle/>
                        <a:p>
                          <a:pPr algn="ctr"/>
                          <a:r>
                            <a:rPr lang="en-US" sz="2200" dirty="0" smtClean="0">
                              <a:solidFill>
                                <a:schemeClr val="tx1"/>
                              </a:solidFill>
                            </a:rPr>
                            <a:t>6</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solidFill>
                                <a:schemeClr val="tx1"/>
                              </a:solidFill>
                            </a:rPr>
                            <a:t>U</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t>(5, 9)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a14="http://schemas.microsoft.com/office/drawing/2010/main" xmlns="" val="3670550146"/>
                      </a:ext>
                    </a:extLst>
                  </a:tr>
                  <a:tr h="426720">
                    <a:tc>
                      <a:txBody>
                        <a:bodyPr/>
                        <a:lstStyle/>
                        <a:p>
                          <a:pPr algn="ctr"/>
                          <a:r>
                            <a:rPr lang="en-US" sz="2200" dirty="0" smtClean="0">
                              <a:solidFill>
                                <a:schemeClr val="tx1"/>
                              </a:solidFill>
                            </a:rPr>
                            <a:t>7</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solidFill>
                                <a:schemeClr val="tx1"/>
                              </a:solidFill>
                            </a:rPr>
                            <a:t>V</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t>(6, 10)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a14="http://schemas.microsoft.com/office/drawing/2010/main" xmlns="" val="3064072964"/>
                      </a:ext>
                    </a:extLst>
                  </a:tr>
                  <a:tr h="426720">
                    <a:tc>
                      <a:txBody>
                        <a:bodyPr/>
                        <a:lstStyle/>
                        <a:p>
                          <a:pPr algn="ctr"/>
                          <a:r>
                            <a:rPr lang="en-US" sz="2200" dirty="0" smtClean="0">
                              <a:solidFill>
                                <a:schemeClr val="tx1"/>
                              </a:solidFill>
                            </a:rPr>
                            <a:t>8</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solidFill>
                                <a:schemeClr val="tx1"/>
                              </a:solidFill>
                            </a:rPr>
                            <a:t>W</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t>(8, 11)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a14="http://schemas.microsoft.com/office/drawing/2010/main" xmlns="" val="3801958333"/>
                      </a:ext>
                    </a:extLst>
                  </a:tr>
                  <a:tr h="426720">
                    <a:tc>
                      <a:txBody>
                        <a:bodyPr/>
                        <a:lstStyle/>
                        <a:p>
                          <a:pPr algn="ctr"/>
                          <a:r>
                            <a:rPr lang="en-US" sz="2200" dirty="0" smtClean="0">
                              <a:solidFill>
                                <a:schemeClr val="tx1"/>
                              </a:solidFill>
                            </a:rPr>
                            <a:t>9</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solidFill>
                                <a:schemeClr val="tx1"/>
                              </a:solidFill>
                            </a:rPr>
                            <a:t>X</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t>(8, 12)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a14="http://schemas.microsoft.com/office/drawing/2010/main" xmlns="" val="400553459"/>
                      </a:ext>
                    </a:extLst>
                  </a:tr>
                  <a:tr h="426720">
                    <a:tc>
                      <a:txBody>
                        <a:bodyPr/>
                        <a:lstStyle/>
                        <a:p>
                          <a:pPr algn="ctr"/>
                          <a:r>
                            <a:rPr lang="en-US" sz="2200" dirty="0" smtClean="0">
                              <a:solidFill>
                                <a:schemeClr val="tx1"/>
                              </a:solidFill>
                            </a:rPr>
                            <a:t>10</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solidFill>
                                <a:schemeClr val="tx1"/>
                              </a:solidFill>
                            </a:rPr>
                            <a:t>Y</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t>(2, 13)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a14="http://schemas.microsoft.com/office/drawing/2010/main" xmlns="" val="2892851587"/>
                      </a:ext>
                    </a:extLst>
                  </a:tr>
                  <a:tr h="426720">
                    <a:tc>
                      <a:txBody>
                        <a:bodyPr/>
                        <a:lstStyle/>
                        <a:p>
                          <a:pPr algn="ctr"/>
                          <a:r>
                            <a:rPr lang="en-US" sz="2200" dirty="0" smtClean="0">
                              <a:solidFill>
                                <a:schemeClr val="tx1"/>
                              </a:solidFill>
                            </a:rPr>
                            <a:t>11</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solidFill>
                                <a:schemeClr val="tx1"/>
                              </a:solidFill>
                            </a:rPr>
                            <a:t>Z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t>(12, 14)</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a14="http://schemas.microsoft.com/office/drawing/2010/main" xmlns="" val="3220690741"/>
                      </a:ext>
                    </a:extLst>
                  </a:tr>
                </a:tbl>
              </a:graphicData>
            </a:graphic>
          </p:graphicFrame>
        </mc:Fallback>
      </mc:AlternateContent>
    </p:spTree>
    <p:extLst>
      <p:ext uri="{BB962C8B-B14F-4D97-AF65-F5344CB8AC3E}">
        <p14:creationId xmlns:p14="http://schemas.microsoft.com/office/powerpoint/2010/main" val="1132405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up)">
                                      <p:cBhvr>
                                        <p:cTn id="12" dur="20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6096000" y="0"/>
            <a:ext cx="6096000" cy="6588000"/>
          </a:xfrm>
          <a:prstGeom prst="rect">
            <a:avLst/>
          </a:prstGeom>
          <a:gradFill flip="none" rotWithShape="1">
            <a:gsLst>
              <a:gs pos="55000">
                <a:srgbClr val="B21266"/>
              </a:gs>
              <a:gs pos="30000">
                <a:srgbClr val="A3115D">
                  <a:lumMod val="100000"/>
                </a:srgbClr>
              </a:gs>
              <a:gs pos="100000">
                <a:srgbClr val="ED6D9B"/>
              </a:gs>
            </a:gsLst>
            <a:path path="circle">
              <a:fillToRect r="100000" b="100000"/>
            </a:path>
            <a:tileRect l="-100000" t="-100000"/>
          </a:gradFill>
          <a:ln>
            <a:noFill/>
          </a:ln>
        </p:spPr>
        <p:txBody>
          <a:bodyPr vert="horz" wrap="square" lIns="91440" tIns="45720" rIns="91440" bIns="45720" numCol="1" anchor="t" anchorCtr="0" compatLnSpc="1">
            <a:prstTxWarp prst="textNoShape">
              <a:avLst/>
            </a:prstTxWarp>
          </a:bodyPr>
          <a:lstStyle/>
          <a:p>
            <a:pPr algn="just"/>
            <a:r>
              <a:rPr lang="en-US" sz="2400" dirty="0">
                <a:solidFill>
                  <a:schemeClr val="accent5"/>
                </a:solidFill>
              </a:rPr>
              <a:t>Example: 11 activities are given as,</a:t>
            </a:r>
          </a:p>
          <a:p>
            <a:pPr algn="just"/>
            <a:endParaRPr lang="en-US" sz="2400" dirty="0">
              <a:solidFill>
                <a:schemeClr val="accent5"/>
              </a:solidFill>
            </a:endParaRPr>
          </a:p>
          <a:p>
            <a:pPr algn="just"/>
            <a:r>
              <a:rPr lang="en-US" sz="2400" dirty="0">
                <a:solidFill>
                  <a:schemeClr val="accent5"/>
                </a:solidFill>
              </a:rPr>
              <a:t>Solution: </a:t>
            </a:r>
          </a:p>
          <a:p>
            <a:pPr algn="just"/>
            <a:endParaRPr lang="en-US" sz="2400" b="1" dirty="0">
              <a:solidFill>
                <a:schemeClr val="tx1">
                  <a:lumMod val="25000"/>
                  <a:lumOff val="75000"/>
                </a:schemeClr>
              </a:solidFill>
            </a:endParaRPr>
          </a:p>
          <a:p>
            <a:pPr algn="just"/>
            <a:r>
              <a:rPr lang="en-US" sz="2400" b="1" dirty="0">
                <a:solidFill>
                  <a:schemeClr val="tx1">
                    <a:lumMod val="25000"/>
                    <a:lumOff val="75000"/>
                  </a:schemeClr>
                </a:solidFill>
              </a:rPr>
              <a:t>Step 2: </a:t>
            </a:r>
          </a:p>
          <a:p>
            <a:pPr marL="457200" indent="-457200">
              <a:buFont typeface="+mj-lt"/>
              <a:buAutoNum type="arabicPeriod"/>
            </a:pPr>
            <a:r>
              <a:rPr lang="en-US" sz="2400" dirty="0">
                <a:solidFill>
                  <a:schemeClr val="accent5"/>
                </a:solidFill>
              </a:rPr>
              <a:t>A = {P} </a:t>
            </a:r>
          </a:p>
          <a:p>
            <a:pPr marL="457200" indent="-457200">
              <a:buFont typeface="+mj-lt"/>
              <a:buAutoNum type="arabicPeriod"/>
            </a:pPr>
            <a:r>
              <a:rPr lang="en-US" sz="2400" dirty="0">
                <a:solidFill>
                  <a:schemeClr val="accent5"/>
                </a:solidFill>
              </a:rPr>
              <a:t>A = {P, S} </a:t>
            </a:r>
          </a:p>
          <a:p>
            <a:pPr marL="457200" indent="-457200">
              <a:buFont typeface="+mj-lt"/>
              <a:buAutoNum type="arabicPeriod"/>
            </a:pPr>
            <a:r>
              <a:rPr lang="en-US" sz="2400" dirty="0">
                <a:solidFill>
                  <a:schemeClr val="accent5"/>
                </a:solidFill>
              </a:rPr>
              <a:t>A = {P, S, W} </a:t>
            </a:r>
          </a:p>
          <a:p>
            <a:pPr marL="457200" indent="-457200">
              <a:buFont typeface="+mj-lt"/>
              <a:buAutoNum type="arabicPeriod"/>
            </a:pPr>
            <a:r>
              <a:rPr lang="en-US" sz="2400" dirty="0">
                <a:solidFill>
                  <a:schemeClr val="accent5"/>
                </a:solidFill>
              </a:rPr>
              <a:t>A = {P, S, W, Z} </a:t>
            </a:r>
          </a:p>
          <a:p>
            <a:pPr algn="ctr"/>
            <a:endParaRPr lang="en-US" sz="2400" dirty="0">
              <a:solidFill>
                <a:schemeClr val="accent5"/>
              </a:solidFill>
            </a:endParaRPr>
          </a:p>
          <a:p>
            <a:pPr algn="ctr"/>
            <a:r>
              <a:rPr lang="en-US" sz="2400" dirty="0">
                <a:solidFill>
                  <a:schemeClr val="accent5"/>
                </a:solidFill>
              </a:rPr>
              <a:t>Answer:  A = {P, S, W, Z}</a:t>
            </a:r>
          </a:p>
          <a:p>
            <a:endParaRPr lang="en-US" sz="2400" dirty="0">
              <a:solidFill>
                <a:schemeClr val="accent5"/>
              </a:solidFill>
            </a:endParaRPr>
          </a:p>
        </p:txBody>
      </p:sp>
      <p:sp>
        <p:nvSpPr>
          <p:cNvPr id="5" name="TextBox 4"/>
          <p:cNvSpPr txBox="1"/>
          <p:nvPr/>
        </p:nvSpPr>
        <p:spPr>
          <a:xfrm>
            <a:off x="-1" y="42884"/>
            <a:ext cx="6217920" cy="666849"/>
          </a:xfrm>
          <a:prstGeom prst="rect">
            <a:avLst/>
          </a:prstGeom>
          <a:noFill/>
        </p:spPr>
        <p:txBody>
          <a:bodyPr wrap="square" lIns="274320" rtlCol="0" anchor="ctr">
            <a:spAutoFit/>
          </a:bodyPr>
          <a:lstStyle/>
          <a:p>
            <a:pPr>
              <a:lnSpc>
                <a:spcPct val="150000"/>
              </a:lnSpc>
            </a:pPr>
            <a:r>
              <a:rPr lang="en-US" sz="2800" dirty="0"/>
              <a:t>Activity Selection Problem - Example</a:t>
            </a:r>
            <a:endParaRPr lang="en-US" sz="2800" b="1" dirty="0">
              <a:solidFill>
                <a:srgbClr val="424242"/>
              </a:solidFill>
            </a:endParaRPr>
          </a:p>
        </p:txBody>
      </p:sp>
      <mc:AlternateContent xmlns:mc="http://schemas.openxmlformats.org/markup-compatibility/2006" xmlns:a14="http://schemas.microsoft.com/office/drawing/2010/main">
        <mc:Choice Requires="a14">
          <p:graphicFrame>
            <p:nvGraphicFramePr>
              <p:cNvPr id="27" name="Table 26"/>
              <p:cNvGraphicFramePr>
                <a:graphicFrameLocks noGrp="1"/>
              </p:cNvGraphicFramePr>
              <p:nvPr/>
            </p:nvGraphicFramePr>
            <p:xfrm>
              <a:off x="1389412" y="943758"/>
              <a:ext cx="3300846" cy="5142675"/>
            </p:xfrm>
            <a:graphic>
              <a:graphicData uri="http://schemas.openxmlformats.org/drawingml/2006/table">
                <a:tbl>
                  <a:tblPr firstRow="1" bandRow="1">
                    <a:tableStyleId>{21E4AEA4-8DFA-4A89-87EB-49C32662AFE0}</a:tableStyleId>
                  </a:tblPr>
                  <a:tblGrid>
                    <a:gridCol w="513465">
                      <a:extLst>
                        <a:ext uri="{9D8B030D-6E8A-4147-A177-3AD203B41FA5}">
                          <a16:colId xmlns:a16="http://schemas.microsoft.com/office/drawing/2014/main" val="1174466033"/>
                        </a:ext>
                      </a:extLst>
                    </a:gridCol>
                    <a:gridCol w="1320338">
                      <a:extLst>
                        <a:ext uri="{9D8B030D-6E8A-4147-A177-3AD203B41FA5}">
                          <a16:colId xmlns:a16="http://schemas.microsoft.com/office/drawing/2014/main" val="8413596"/>
                        </a:ext>
                      </a:extLst>
                    </a:gridCol>
                    <a:gridCol w="1467043">
                      <a:extLst>
                        <a:ext uri="{9D8B030D-6E8A-4147-A177-3AD203B41FA5}">
                          <a16:colId xmlns:a16="http://schemas.microsoft.com/office/drawing/2014/main" val="1420928912"/>
                        </a:ext>
                      </a:extLst>
                    </a:gridCol>
                  </a:tblGrid>
                  <a:tr h="370840">
                    <a:tc>
                      <a:txBody>
                        <a:bodyPr/>
                        <a:lstStyle/>
                        <a:p>
                          <a:pPr algn="ctr"/>
                          <a:r>
                            <a:rPr lang="en-US" sz="2200" dirty="0">
                              <a:solidFill>
                                <a:srgbClr val="C00000"/>
                              </a:solidFill>
                            </a:rPr>
                            <a:t>Sr.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rgbClr val="C00000"/>
                              </a:solidFill>
                            </a:rPr>
                            <a:t>Activity</a:t>
                          </a:r>
                          <a:r>
                            <a:rPr lang="en-US" sz="2200" baseline="0" dirty="0">
                              <a:solidFill>
                                <a:srgbClr val="C00000"/>
                              </a:solidFill>
                            </a:rPr>
                            <a:t> </a:t>
                          </a:r>
                          <a:endParaRPr lang="en-US" sz="22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rgbClr val="C00000"/>
                              </a:solidFill>
                            </a:rPr>
                            <a:t>(</a:t>
                          </a:r>
                          <a14:m>
                            <m:oMath xmlns:m="http://schemas.openxmlformats.org/officeDocument/2006/math">
                              <m:sSub>
                                <m:sSubPr>
                                  <m:ctrlPr>
                                    <a:rPr lang="en-US" sz="2400" b="1" i="1" dirty="0" smtClean="0">
                                      <a:solidFill>
                                        <a:srgbClr val="C00000"/>
                                      </a:solidFill>
                                      <a:latin typeface="Cambria Math" panose="02040503050406030204" pitchFamily="18" charset="0"/>
                                    </a:rPr>
                                  </m:ctrlPr>
                                </m:sSubPr>
                                <m:e>
                                  <m:r>
                                    <a:rPr lang="en-US" sz="2400" b="1" i="1" dirty="0">
                                      <a:solidFill>
                                        <a:srgbClr val="C00000"/>
                                      </a:solidFill>
                                      <a:latin typeface="Cambria Math" panose="02040503050406030204" pitchFamily="18" charset="0"/>
                                    </a:rPr>
                                    <m:t>𝒔</m:t>
                                  </m:r>
                                </m:e>
                                <m:sub>
                                  <m:r>
                                    <a:rPr lang="en-US" sz="2400" b="1" i="1" dirty="0">
                                      <a:solidFill>
                                        <a:srgbClr val="C00000"/>
                                      </a:solidFill>
                                      <a:latin typeface="Cambria Math" panose="02040503050406030204" pitchFamily="18" charset="0"/>
                                    </a:rPr>
                                    <m:t>𝒊</m:t>
                                  </m:r>
                                </m:sub>
                              </m:sSub>
                            </m:oMath>
                          </a14:m>
                          <a:r>
                            <a:rPr lang="en-US" sz="2200" dirty="0">
                              <a:solidFill>
                                <a:srgbClr val="C00000"/>
                              </a:solidFill>
                            </a:rPr>
                            <a:t>, </a:t>
                          </a:r>
                          <a14:m>
                            <m:oMath xmlns:m="http://schemas.openxmlformats.org/officeDocument/2006/math">
                              <m:sSub>
                                <m:sSubPr>
                                  <m:ctrlPr>
                                    <a:rPr lang="en-US" sz="2400" b="1" i="1" dirty="0" smtClean="0">
                                      <a:solidFill>
                                        <a:srgbClr val="C00000"/>
                                      </a:solidFill>
                                      <a:latin typeface="Cambria Math" panose="02040503050406030204" pitchFamily="18" charset="0"/>
                                    </a:rPr>
                                  </m:ctrlPr>
                                </m:sSubPr>
                                <m:e>
                                  <m:r>
                                    <a:rPr lang="en-US" sz="2400" b="1" i="1" dirty="0">
                                      <a:solidFill>
                                        <a:srgbClr val="C00000"/>
                                      </a:solidFill>
                                      <a:latin typeface="Cambria Math" panose="02040503050406030204" pitchFamily="18" charset="0"/>
                                    </a:rPr>
                                    <m:t>𝒇</m:t>
                                  </m:r>
                                </m:e>
                                <m:sub>
                                  <m:r>
                                    <a:rPr lang="en-US" sz="2400" b="1" i="1" dirty="0">
                                      <a:solidFill>
                                        <a:srgbClr val="C00000"/>
                                      </a:solidFill>
                                      <a:latin typeface="Cambria Math" panose="02040503050406030204" pitchFamily="18" charset="0"/>
                                    </a:rPr>
                                    <m:t>𝒊</m:t>
                                  </m:r>
                                </m:sub>
                              </m:sSub>
                            </m:oMath>
                          </a14:m>
                          <a:r>
                            <a:rPr lang="en-US" sz="2200" dirty="0">
                              <a:solidFill>
                                <a:srgbClr val="C00000"/>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4676676"/>
                      </a:ext>
                    </a:extLst>
                  </a:tr>
                  <a:tr h="370840">
                    <a:tc>
                      <a:txBody>
                        <a:bodyPr/>
                        <a:lstStyle/>
                        <a:p>
                          <a:pPr algn="ctr"/>
                          <a:r>
                            <a:rPr lang="en-US" sz="22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solidFill>
                            </a:rPr>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t>(1, 4)</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1713701"/>
                      </a:ext>
                    </a:extLst>
                  </a:tr>
                  <a:tr h="370840">
                    <a:tc>
                      <a:txBody>
                        <a:bodyPr/>
                        <a:lstStyle/>
                        <a:p>
                          <a:pPr algn="ctr"/>
                          <a:r>
                            <a:rPr lang="en-US" sz="220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solidFill>
                            </a:rPr>
                            <a:t>Q</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t>(3, 5)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6376609"/>
                      </a:ext>
                    </a:extLst>
                  </a:tr>
                  <a:tr h="370840">
                    <a:tc>
                      <a:txBody>
                        <a:bodyPr/>
                        <a:lstStyle/>
                        <a:p>
                          <a:pPr algn="ctr"/>
                          <a:r>
                            <a:rPr lang="en-US" sz="220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solidFill>
                            </a:rPr>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t>(0, 6)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2044441"/>
                      </a:ext>
                    </a:extLst>
                  </a:tr>
                  <a:tr h="370840">
                    <a:tc>
                      <a:txBody>
                        <a:bodyPr/>
                        <a:lstStyle/>
                        <a:p>
                          <a:pPr algn="ctr"/>
                          <a:r>
                            <a:rPr lang="en-US" sz="220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solidFill>
                            </a:rPr>
                            <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t>(5, 7)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3962450"/>
                      </a:ext>
                    </a:extLst>
                  </a:tr>
                  <a:tr h="370840">
                    <a:tc>
                      <a:txBody>
                        <a:bodyPr/>
                        <a:lstStyle/>
                        <a:p>
                          <a:pPr algn="ctr"/>
                          <a:r>
                            <a:rPr lang="en-US" sz="220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solidFill>
                            </a:rPr>
                            <a:t>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t>(3, 8)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8812033"/>
                      </a:ext>
                    </a:extLst>
                  </a:tr>
                  <a:tr h="370840">
                    <a:tc>
                      <a:txBody>
                        <a:bodyPr/>
                        <a:lstStyle/>
                        <a:p>
                          <a:pPr algn="ctr"/>
                          <a:r>
                            <a:rPr lang="en-US" sz="220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solidFill>
                            </a:rPr>
                            <a:t>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t>(5, 9)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0550146"/>
                      </a:ext>
                    </a:extLst>
                  </a:tr>
                  <a:tr h="370840">
                    <a:tc>
                      <a:txBody>
                        <a:bodyPr/>
                        <a:lstStyle/>
                        <a:p>
                          <a:pPr algn="ctr"/>
                          <a:r>
                            <a:rPr lang="en-US" sz="2200" dirty="0">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solidFill>
                            </a:rPr>
                            <a:t>V</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t>(6, 10)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4072964"/>
                      </a:ext>
                    </a:extLst>
                  </a:tr>
                  <a:tr h="370840">
                    <a:tc>
                      <a:txBody>
                        <a:bodyPr/>
                        <a:lstStyle/>
                        <a:p>
                          <a:pPr algn="ctr"/>
                          <a:r>
                            <a:rPr lang="en-US" sz="2200" dirty="0">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solidFill>
                            </a:rPr>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t>(8, 11)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01958333"/>
                      </a:ext>
                    </a:extLst>
                  </a:tr>
                  <a:tr h="370840">
                    <a:tc>
                      <a:txBody>
                        <a:bodyPr/>
                        <a:lstStyle/>
                        <a:p>
                          <a:pPr algn="ctr"/>
                          <a:r>
                            <a:rPr lang="en-US" sz="2200" dirty="0">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solidFill>
                            </a:rPr>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t>(8, 12)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553459"/>
                      </a:ext>
                    </a:extLst>
                  </a:tr>
                  <a:tr h="370840">
                    <a:tc>
                      <a:txBody>
                        <a:bodyPr/>
                        <a:lstStyle/>
                        <a:p>
                          <a:pPr algn="ctr"/>
                          <a:r>
                            <a:rPr lang="en-US" sz="2200"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solidFill>
                            </a:rPr>
                            <a: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t>(2, 13)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2851587"/>
                      </a:ext>
                    </a:extLst>
                  </a:tr>
                  <a:tr h="370840">
                    <a:tc>
                      <a:txBody>
                        <a:bodyPr/>
                        <a:lstStyle/>
                        <a:p>
                          <a:pPr algn="ctr"/>
                          <a:r>
                            <a:rPr lang="en-US" sz="2200" dirty="0">
                              <a:solidFill>
                                <a:schemeClr val="tx1"/>
                              </a:solidFill>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solidFill>
                                <a:schemeClr val="tx1"/>
                              </a:solidFill>
                            </a:rPr>
                            <a:t>Z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a:t>(12, 14)</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0690741"/>
                      </a:ext>
                    </a:extLst>
                  </a:tr>
                </a:tbl>
              </a:graphicData>
            </a:graphic>
          </p:graphicFrame>
        </mc:Choice>
        <mc:Fallback xmlns="">
          <p:graphicFrame>
            <p:nvGraphicFramePr>
              <p:cNvPr id="27" name="Table 26"/>
              <p:cNvGraphicFramePr>
                <a:graphicFrameLocks noGrp="1"/>
              </p:cNvGraphicFramePr>
              <p:nvPr>
                <p:extLst/>
              </p:nvPr>
            </p:nvGraphicFramePr>
            <p:xfrm>
              <a:off x="1389412" y="943758"/>
              <a:ext cx="3300846" cy="5142675"/>
            </p:xfrm>
            <a:graphic>
              <a:graphicData uri="http://schemas.openxmlformats.org/drawingml/2006/table">
                <a:tbl>
                  <a:tblPr firstRow="1" bandRow="1">
                    <a:tableStyleId>{21E4AEA4-8DFA-4A89-87EB-49C32662AFE0}</a:tableStyleId>
                  </a:tblPr>
                  <a:tblGrid>
                    <a:gridCol w="513465">
                      <a:extLst>
                        <a:ext uri="{9D8B030D-6E8A-4147-A177-3AD203B41FA5}">
                          <a16:colId xmlns:a16="http://schemas.microsoft.com/office/drawing/2014/main" xmlns:a14="http://schemas.microsoft.com/office/drawing/2010/main" xmlns="" val="1174466033"/>
                        </a:ext>
                      </a:extLst>
                    </a:gridCol>
                    <a:gridCol w="1320338">
                      <a:extLst>
                        <a:ext uri="{9D8B030D-6E8A-4147-A177-3AD203B41FA5}">
                          <a16:colId xmlns:a16="http://schemas.microsoft.com/office/drawing/2014/main" xmlns:a14="http://schemas.microsoft.com/office/drawing/2010/main" xmlns="" val="8413596"/>
                        </a:ext>
                      </a:extLst>
                    </a:gridCol>
                    <a:gridCol w="1467043">
                      <a:extLst>
                        <a:ext uri="{9D8B030D-6E8A-4147-A177-3AD203B41FA5}">
                          <a16:colId xmlns:a16="http://schemas.microsoft.com/office/drawing/2014/main" xmlns:a14="http://schemas.microsoft.com/office/drawing/2010/main" xmlns="" val="1420928912"/>
                        </a:ext>
                      </a:extLst>
                    </a:gridCol>
                  </a:tblGrid>
                  <a:tr h="448755">
                    <a:tc>
                      <a:txBody>
                        <a:bodyPr/>
                        <a:lstStyle/>
                        <a:p>
                          <a:pPr algn="ctr"/>
                          <a:r>
                            <a:rPr lang="en-US" sz="2200" dirty="0" smtClean="0">
                              <a:solidFill>
                                <a:srgbClr val="C00000"/>
                              </a:solidFill>
                            </a:rPr>
                            <a:t>Sr.</a:t>
                          </a:r>
                          <a:endParaRPr lang="en-US" sz="22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solidFill>
                                <a:srgbClr val="C00000"/>
                              </a:solidFill>
                            </a:rPr>
                            <a:t>Activity</a:t>
                          </a:r>
                          <a:r>
                            <a:rPr lang="en-US" sz="2200" baseline="0" dirty="0" smtClean="0">
                              <a:solidFill>
                                <a:srgbClr val="C00000"/>
                              </a:solidFill>
                            </a:rPr>
                            <a:t> </a:t>
                          </a:r>
                          <a:endParaRPr lang="en-US" sz="2200" dirty="0">
                            <a:solidFill>
                              <a:srgbClr val="C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125726" t="-6757" r="-830" b="-1070270"/>
                          </a:stretch>
                        </a:blipFill>
                      </a:tcPr>
                    </a:tc>
                    <a:extLst>
                      <a:ext uri="{0D108BD9-81ED-4DB2-BD59-A6C34878D82A}">
                        <a16:rowId xmlns:a16="http://schemas.microsoft.com/office/drawing/2014/main" xmlns:a14="http://schemas.microsoft.com/office/drawing/2010/main" xmlns="" val="1854676676"/>
                      </a:ext>
                    </a:extLst>
                  </a:tr>
                  <a:tr h="426720">
                    <a:tc>
                      <a:txBody>
                        <a:bodyPr/>
                        <a:lstStyle/>
                        <a:p>
                          <a:pPr algn="ctr"/>
                          <a:r>
                            <a:rPr lang="en-US" sz="2200" dirty="0" smtClean="0">
                              <a:solidFill>
                                <a:schemeClr val="tx1"/>
                              </a:solidFill>
                            </a:rPr>
                            <a:t>1</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solidFill>
                                <a:schemeClr val="tx1"/>
                              </a:solidFill>
                            </a:rPr>
                            <a:t>P</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t>(1, 4)</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a14="http://schemas.microsoft.com/office/drawing/2010/main" xmlns="" val="2041713701"/>
                      </a:ext>
                    </a:extLst>
                  </a:tr>
                  <a:tr h="426720">
                    <a:tc>
                      <a:txBody>
                        <a:bodyPr/>
                        <a:lstStyle/>
                        <a:p>
                          <a:pPr algn="ctr"/>
                          <a:r>
                            <a:rPr lang="en-US" sz="2200" dirty="0" smtClean="0">
                              <a:solidFill>
                                <a:schemeClr val="tx1"/>
                              </a:solidFill>
                            </a:rPr>
                            <a:t>2</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solidFill>
                                <a:schemeClr val="tx1"/>
                              </a:solidFill>
                            </a:rPr>
                            <a:t>Q</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t>(3, 5)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a14="http://schemas.microsoft.com/office/drawing/2010/main" xmlns="" val="4146376609"/>
                      </a:ext>
                    </a:extLst>
                  </a:tr>
                  <a:tr h="426720">
                    <a:tc>
                      <a:txBody>
                        <a:bodyPr/>
                        <a:lstStyle/>
                        <a:p>
                          <a:pPr algn="ctr"/>
                          <a:r>
                            <a:rPr lang="en-US" sz="2200" dirty="0" smtClean="0">
                              <a:solidFill>
                                <a:schemeClr val="tx1"/>
                              </a:solidFill>
                            </a:rPr>
                            <a:t>3</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solidFill>
                                <a:schemeClr val="tx1"/>
                              </a:solidFill>
                            </a:rPr>
                            <a:t>R</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t>(0, 6)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a14="http://schemas.microsoft.com/office/drawing/2010/main" xmlns="" val="3592044441"/>
                      </a:ext>
                    </a:extLst>
                  </a:tr>
                  <a:tr h="426720">
                    <a:tc>
                      <a:txBody>
                        <a:bodyPr/>
                        <a:lstStyle/>
                        <a:p>
                          <a:pPr algn="ctr"/>
                          <a:r>
                            <a:rPr lang="en-US" sz="2200" dirty="0" smtClean="0">
                              <a:solidFill>
                                <a:schemeClr val="tx1"/>
                              </a:solidFill>
                            </a:rPr>
                            <a:t>4</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solidFill>
                                <a:schemeClr val="tx1"/>
                              </a:solidFill>
                            </a:rPr>
                            <a:t>S</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t>(5, 7)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a14="http://schemas.microsoft.com/office/drawing/2010/main" xmlns="" val="1483962450"/>
                      </a:ext>
                    </a:extLst>
                  </a:tr>
                  <a:tr h="426720">
                    <a:tc>
                      <a:txBody>
                        <a:bodyPr/>
                        <a:lstStyle/>
                        <a:p>
                          <a:pPr algn="ctr"/>
                          <a:r>
                            <a:rPr lang="en-US" sz="2200" dirty="0" smtClean="0">
                              <a:solidFill>
                                <a:schemeClr val="tx1"/>
                              </a:solidFill>
                            </a:rPr>
                            <a:t>5</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solidFill>
                                <a:schemeClr val="tx1"/>
                              </a:solidFill>
                            </a:rPr>
                            <a:t>T</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t>(3, 8)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a14="http://schemas.microsoft.com/office/drawing/2010/main" xmlns="" val="1708812033"/>
                      </a:ext>
                    </a:extLst>
                  </a:tr>
                  <a:tr h="426720">
                    <a:tc>
                      <a:txBody>
                        <a:bodyPr/>
                        <a:lstStyle/>
                        <a:p>
                          <a:pPr algn="ctr"/>
                          <a:r>
                            <a:rPr lang="en-US" sz="2200" dirty="0" smtClean="0">
                              <a:solidFill>
                                <a:schemeClr val="tx1"/>
                              </a:solidFill>
                            </a:rPr>
                            <a:t>6</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solidFill>
                                <a:schemeClr val="tx1"/>
                              </a:solidFill>
                            </a:rPr>
                            <a:t>U</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t>(5, 9)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a14="http://schemas.microsoft.com/office/drawing/2010/main" xmlns="" val="3670550146"/>
                      </a:ext>
                    </a:extLst>
                  </a:tr>
                  <a:tr h="426720">
                    <a:tc>
                      <a:txBody>
                        <a:bodyPr/>
                        <a:lstStyle/>
                        <a:p>
                          <a:pPr algn="ctr"/>
                          <a:r>
                            <a:rPr lang="en-US" sz="2200" dirty="0" smtClean="0">
                              <a:solidFill>
                                <a:schemeClr val="tx1"/>
                              </a:solidFill>
                            </a:rPr>
                            <a:t>7</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solidFill>
                                <a:schemeClr val="tx1"/>
                              </a:solidFill>
                            </a:rPr>
                            <a:t>V</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t>(6, 10)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a14="http://schemas.microsoft.com/office/drawing/2010/main" xmlns="" val="3064072964"/>
                      </a:ext>
                    </a:extLst>
                  </a:tr>
                  <a:tr h="426720">
                    <a:tc>
                      <a:txBody>
                        <a:bodyPr/>
                        <a:lstStyle/>
                        <a:p>
                          <a:pPr algn="ctr"/>
                          <a:r>
                            <a:rPr lang="en-US" sz="2200" dirty="0" smtClean="0">
                              <a:solidFill>
                                <a:schemeClr val="tx1"/>
                              </a:solidFill>
                            </a:rPr>
                            <a:t>8</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solidFill>
                                <a:schemeClr val="tx1"/>
                              </a:solidFill>
                            </a:rPr>
                            <a:t>W</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t>(8, 11)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a14="http://schemas.microsoft.com/office/drawing/2010/main" xmlns="" val="3801958333"/>
                      </a:ext>
                    </a:extLst>
                  </a:tr>
                  <a:tr h="426720">
                    <a:tc>
                      <a:txBody>
                        <a:bodyPr/>
                        <a:lstStyle/>
                        <a:p>
                          <a:pPr algn="ctr"/>
                          <a:r>
                            <a:rPr lang="en-US" sz="2200" dirty="0" smtClean="0">
                              <a:solidFill>
                                <a:schemeClr val="tx1"/>
                              </a:solidFill>
                            </a:rPr>
                            <a:t>9</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solidFill>
                                <a:schemeClr val="tx1"/>
                              </a:solidFill>
                            </a:rPr>
                            <a:t>X</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t>(8, 12)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a14="http://schemas.microsoft.com/office/drawing/2010/main" xmlns="" val="400553459"/>
                      </a:ext>
                    </a:extLst>
                  </a:tr>
                  <a:tr h="426720">
                    <a:tc>
                      <a:txBody>
                        <a:bodyPr/>
                        <a:lstStyle/>
                        <a:p>
                          <a:pPr algn="ctr"/>
                          <a:r>
                            <a:rPr lang="en-US" sz="2200" dirty="0" smtClean="0">
                              <a:solidFill>
                                <a:schemeClr val="tx1"/>
                              </a:solidFill>
                            </a:rPr>
                            <a:t>10</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solidFill>
                                <a:schemeClr val="tx1"/>
                              </a:solidFill>
                            </a:rPr>
                            <a:t>Y</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t>(2, 13)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a14="http://schemas.microsoft.com/office/drawing/2010/main" xmlns="" val="2892851587"/>
                      </a:ext>
                    </a:extLst>
                  </a:tr>
                  <a:tr h="426720">
                    <a:tc>
                      <a:txBody>
                        <a:bodyPr/>
                        <a:lstStyle/>
                        <a:p>
                          <a:pPr algn="ctr"/>
                          <a:r>
                            <a:rPr lang="en-US" sz="2200" dirty="0" smtClean="0">
                              <a:solidFill>
                                <a:schemeClr val="tx1"/>
                              </a:solidFill>
                            </a:rPr>
                            <a:t>11</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solidFill>
                                <a:schemeClr val="tx1"/>
                              </a:solidFill>
                            </a:rPr>
                            <a:t>Z </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200" dirty="0" smtClean="0"/>
                            <a:t>(12, 14)</a:t>
                          </a:r>
                          <a:endParaRPr lang="en-US" sz="2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a14="http://schemas.microsoft.com/office/drawing/2010/main" xmlns="" val="3220690741"/>
                      </a:ext>
                    </a:extLst>
                  </a:tr>
                </a:tbl>
              </a:graphicData>
            </a:graphic>
          </p:graphicFrame>
        </mc:Fallback>
      </mc:AlternateContent>
      <p:sp>
        <p:nvSpPr>
          <p:cNvPr id="6" name="Rounded Rectangle 5"/>
          <p:cNvSpPr/>
          <p:nvPr/>
        </p:nvSpPr>
        <p:spPr>
          <a:xfrm>
            <a:off x="3546196" y="1422075"/>
            <a:ext cx="838200" cy="365760"/>
          </a:xfrm>
          <a:prstGeom prst="round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p:nvPr/>
        </p:nvCxnSpPr>
        <p:spPr>
          <a:xfrm>
            <a:off x="1442366" y="2032044"/>
            <a:ext cx="320040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a:off x="3852067" y="1681752"/>
            <a:ext cx="274946" cy="1147548"/>
          </a:xfrm>
          <a:prstGeom prst="straightConnector1">
            <a:avLst/>
          </a:prstGeom>
          <a:ln w="28575">
            <a:solidFill>
              <a:srgbClr val="0066FF"/>
            </a:solidFill>
            <a:tailEnd type="triangle"/>
          </a:ln>
        </p:spPr>
        <p:style>
          <a:lnRef idx="1">
            <a:schemeClr val="accent1"/>
          </a:lnRef>
          <a:fillRef idx="0">
            <a:schemeClr val="accent1"/>
          </a:fillRef>
          <a:effectRef idx="0">
            <a:schemeClr val="accent1"/>
          </a:effectRef>
          <a:fontRef idx="minor">
            <a:schemeClr val="tx1"/>
          </a:fontRef>
        </p:style>
      </p:cxnSp>
      <p:sp>
        <p:nvSpPr>
          <p:cNvPr id="9" name="Rounded Rectangle 8"/>
          <p:cNvSpPr/>
          <p:nvPr/>
        </p:nvSpPr>
        <p:spPr>
          <a:xfrm>
            <a:off x="3546196" y="2703827"/>
            <a:ext cx="838200" cy="365760"/>
          </a:xfrm>
          <a:prstGeom prst="round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p:nvPr/>
        </p:nvCxnSpPr>
        <p:spPr>
          <a:xfrm flipH="1">
            <a:off x="3737767" y="2954404"/>
            <a:ext cx="389246" cy="1551296"/>
          </a:xfrm>
          <a:prstGeom prst="straightConnector1">
            <a:avLst/>
          </a:prstGeom>
          <a:ln w="28575">
            <a:solidFill>
              <a:srgbClr val="0066FF"/>
            </a:solidFill>
            <a:tailEnd type="triangle"/>
          </a:ln>
        </p:spPr>
        <p:style>
          <a:lnRef idx="1">
            <a:schemeClr val="accent1"/>
          </a:lnRef>
          <a:fillRef idx="0">
            <a:schemeClr val="accent1"/>
          </a:fillRef>
          <a:effectRef idx="0">
            <a:schemeClr val="accent1"/>
          </a:effectRef>
          <a:fontRef idx="minor">
            <a:schemeClr val="tx1"/>
          </a:fontRef>
        </p:style>
      </p:cxnSp>
      <p:sp>
        <p:nvSpPr>
          <p:cNvPr id="11" name="Rounded Rectangle 10"/>
          <p:cNvSpPr/>
          <p:nvPr/>
        </p:nvSpPr>
        <p:spPr>
          <a:xfrm>
            <a:off x="3545008" y="4413710"/>
            <a:ext cx="838200" cy="365760"/>
          </a:xfrm>
          <a:prstGeom prst="round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3492189" y="5685410"/>
            <a:ext cx="941696" cy="365760"/>
          </a:xfrm>
          <a:prstGeom prst="round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p:cNvCxnSpPr/>
          <p:nvPr/>
        </p:nvCxnSpPr>
        <p:spPr>
          <a:xfrm flipH="1">
            <a:off x="3737767" y="4707003"/>
            <a:ext cx="386119" cy="1063830"/>
          </a:xfrm>
          <a:prstGeom prst="straightConnector1">
            <a:avLst/>
          </a:prstGeom>
          <a:ln w="28575">
            <a:solidFill>
              <a:srgbClr val="0066FF"/>
            </a:solidFill>
            <a:tailEnd type="triangle"/>
          </a:ln>
        </p:spPr>
        <p:style>
          <a:lnRef idx="1">
            <a:schemeClr val="accent1"/>
          </a:lnRef>
          <a:fillRef idx="0">
            <a:schemeClr val="accent1"/>
          </a:fillRef>
          <a:effectRef idx="0">
            <a:schemeClr val="accent1"/>
          </a:effectRef>
          <a:fontRef idx="minor">
            <a:schemeClr val="tx1"/>
          </a:fontRef>
        </p:style>
      </p:cxnSp>
      <p:sp>
        <p:nvSpPr>
          <p:cNvPr id="4" name="Rounded Rectangle 3"/>
          <p:cNvSpPr/>
          <p:nvPr/>
        </p:nvSpPr>
        <p:spPr>
          <a:xfrm>
            <a:off x="7641771" y="3670666"/>
            <a:ext cx="2965269" cy="470263"/>
          </a:xfrm>
          <a:prstGeom prst="roundRect">
            <a:avLst/>
          </a:prstGeom>
          <a:noFill/>
          <a:ln w="2857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2659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500"/>
                                        <p:tgtEl>
                                          <p:spTgt spid="3">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down)">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xit" presetSubtype="0" fill="hold" nodeType="clickEffect">
                                  <p:stCondLst>
                                    <p:cond delay="0"/>
                                  </p:stCondLst>
                                  <p:childTnLst>
                                    <p:set>
                                      <p:cBhvr>
                                        <p:cTn id="41" dur="1" fill="hold">
                                          <p:stCondLst>
                                            <p:cond delay="0"/>
                                          </p:stCondLst>
                                        </p:cTn>
                                        <p:tgtEl>
                                          <p:spTgt spid="8"/>
                                        </p:tgtEl>
                                        <p:attrNameLst>
                                          <p:attrName>style.visibility</p:attrName>
                                        </p:attrNameLst>
                                      </p:cBhvr>
                                      <p:to>
                                        <p:strVal val="hidden"/>
                                      </p:to>
                                    </p:set>
                                  </p:childTnLst>
                                </p:cTn>
                              </p:par>
                              <p:par>
                                <p:cTn id="42" presetID="1" presetClass="exit" presetSubtype="0" fill="hold" nodeType="withEffect">
                                  <p:stCondLst>
                                    <p:cond delay="0"/>
                                  </p:stCondLst>
                                  <p:childTnLst>
                                    <p:set>
                                      <p:cBhvr>
                                        <p:cTn id="43" dur="1" fill="hold">
                                          <p:stCondLst>
                                            <p:cond delay="0"/>
                                          </p:stCondLst>
                                        </p:cTn>
                                        <p:tgtEl>
                                          <p:spTgt spid="7"/>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wipe(up)">
                                      <p:cBhvr>
                                        <p:cTn id="48" dur="500"/>
                                        <p:tgtEl>
                                          <p:spTgt spid="1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wipe(down)">
                                      <p:cBhvr>
                                        <p:cTn id="53" dur="500"/>
                                        <p:tgtEl>
                                          <p:spTgt spid="11"/>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3">
                                            <p:txEl>
                                              <p:pRg st="7" end="7"/>
                                            </p:txEl>
                                          </p:spTgt>
                                        </p:tgtEl>
                                        <p:attrNameLst>
                                          <p:attrName>style.visibility</p:attrName>
                                        </p:attrNameLst>
                                      </p:cBhvr>
                                      <p:to>
                                        <p:strVal val="visible"/>
                                      </p:to>
                                    </p:set>
                                    <p:animEffect transition="in" filter="fade">
                                      <p:cBhvr>
                                        <p:cTn id="58" dur="500"/>
                                        <p:tgtEl>
                                          <p:spTgt spid="3">
                                            <p:txEl>
                                              <p:pRg st="7" end="7"/>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nodeType="clickEffect">
                                  <p:stCondLst>
                                    <p:cond delay="0"/>
                                  </p:stCondLst>
                                  <p:childTnLst>
                                    <p:set>
                                      <p:cBhvr>
                                        <p:cTn id="62" dur="1" fill="hold">
                                          <p:stCondLst>
                                            <p:cond delay="0"/>
                                          </p:stCondLst>
                                        </p:cTn>
                                        <p:tgtEl>
                                          <p:spTgt spid="10"/>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13"/>
                                        </p:tgtEl>
                                        <p:attrNameLst>
                                          <p:attrName>style.visibility</p:attrName>
                                        </p:attrNameLst>
                                      </p:cBhvr>
                                      <p:to>
                                        <p:strVal val="visible"/>
                                      </p:to>
                                    </p:set>
                                    <p:animEffect transition="in" filter="wipe(up)">
                                      <p:cBhvr>
                                        <p:cTn id="67" dur="500"/>
                                        <p:tgtEl>
                                          <p:spTgt spid="1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12"/>
                                        </p:tgtEl>
                                        <p:attrNameLst>
                                          <p:attrName>style.visibility</p:attrName>
                                        </p:attrNameLst>
                                      </p:cBhvr>
                                      <p:to>
                                        <p:strVal val="visible"/>
                                      </p:to>
                                    </p:set>
                                    <p:animEffect transition="in" filter="wipe(down)">
                                      <p:cBhvr>
                                        <p:cTn id="72" dur="500"/>
                                        <p:tgtEl>
                                          <p:spTgt spid="12"/>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3">
                                            <p:txEl>
                                              <p:pRg st="8" end="8"/>
                                            </p:txEl>
                                          </p:spTgt>
                                        </p:tgtEl>
                                        <p:attrNameLst>
                                          <p:attrName>style.visibility</p:attrName>
                                        </p:attrNameLst>
                                      </p:cBhvr>
                                      <p:to>
                                        <p:strVal val="visible"/>
                                      </p:to>
                                    </p:set>
                                    <p:animEffect transition="in" filter="fade">
                                      <p:cBhvr>
                                        <p:cTn id="77" dur="500"/>
                                        <p:tgtEl>
                                          <p:spTgt spid="3">
                                            <p:txEl>
                                              <p:pRg st="8" end="8"/>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xit" presetSubtype="0" fill="hold" nodeType="clickEffect">
                                  <p:stCondLst>
                                    <p:cond delay="0"/>
                                  </p:stCondLst>
                                  <p:childTnLst>
                                    <p:set>
                                      <p:cBhvr>
                                        <p:cTn id="81" dur="1" fill="hold">
                                          <p:stCondLst>
                                            <p:cond delay="0"/>
                                          </p:stCondLst>
                                        </p:cTn>
                                        <p:tgtEl>
                                          <p:spTgt spid="13"/>
                                        </p:tgtEl>
                                        <p:attrNameLst>
                                          <p:attrName>style.visibility</p:attrName>
                                        </p:attrNameLst>
                                      </p:cBhvr>
                                      <p:to>
                                        <p:strVal val="hidden"/>
                                      </p:to>
                                    </p:se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3">
                                            <p:txEl>
                                              <p:pRg st="10" end="10"/>
                                            </p:txEl>
                                          </p:spTgt>
                                        </p:tgtEl>
                                        <p:attrNameLst>
                                          <p:attrName>style.visibility</p:attrName>
                                        </p:attrNameLst>
                                      </p:cBhvr>
                                      <p:to>
                                        <p:strVal val="visible"/>
                                      </p:to>
                                    </p:set>
                                    <p:animEffect transition="in" filter="wipe(left)">
                                      <p:cBhvr>
                                        <p:cTn id="86" dur="1500"/>
                                        <p:tgtEl>
                                          <p:spTgt spid="3">
                                            <p:txEl>
                                              <p:pRg st="10" end="10"/>
                                            </p:txEl>
                                          </p:spTgt>
                                        </p:tgtEl>
                                      </p:cBhvr>
                                    </p:animEffect>
                                  </p:childTnLst>
                                </p:cTn>
                              </p:par>
                            </p:childTnLst>
                          </p:cTn>
                        </p:par>
                        <p:par>
                          <p:cTn id="87" fill="hold">
                            <p:stCondLst>
                              <p:cond delay="1500"/>
                            </p:stCondLst>
                            <p:childTnLst>
                              <p:par>
                                <p:cTn id="88" presetID="21" presetClass="entr" presetSubtype="1" fill="hold" grpId="0" nodeType="afterEffect">
                                  <p:stCondLst>
                                    <p:cond delay="0"/>
                                  </p:stCondLst>
                                  <p:childTnLst>
                                    <p:set>
                                      <p:cBhvr>
                                        <p:cTn id="89" dur="1" fill="hold">
                                          <p:stCondLst>
                                            <p:cond delay="0"/>
                                          </p:stCondLst>
                                        </p:cTn>
                                        <p:tgtEl>
                                          <p:spTgt spid="4"/>
                                        </p:tgtEl>
                                        <p:attrNameLst>
                                          <p:attrName>style.visibility</p:attrName>
                                        </p:attrNameLst>
                                      </p:cBhvr>
                                      <p:to>
                                        <p:strVal val="visible"/>
                                      </p:to>
                                    </p:set>
                                    <p:animEffect transition="in" filter="wheel(1)">
                                      <p:cBhvr>
                                        <p:cTn id="90" dur="1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P spid="12" grpId="0" animBg="1"/>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69EA6-7D83-4161-A19F-FF35A1972FA2}"/>
              </a:ext>
            </a:extLst>
          </p:cNvPr>
          <p:cNvSpPr>
            <a:spLocks noGrp="1"/>
          </p:cNvSpPr>
          <p:nvPr>
            <p:ph type="title"/>
          </p:nvPr>
        </p:nvSpPr>
        <p:spPr/>
        <p:txBody>
          <a:bodyPr/>
          <a:lstStyle/>
          <a:p>
            <a:r>
              <a:rPr lang="en-IN" dirty="0"/>
              <a:t>Example:</a:t>
            </a:r>
          </a:p>
        </p:txBody>
      </p:sp>
      <p:graphicFrame>
        <p:nvGraphicFramePr>
          <p:cNvPr id="4" name="Table 4">
            <a:extLst>
              <a:ext uri="{FF2B5EF4-FFF2-40B4-BE49-F238E27FC236}">
                <a16:creationId xmlns:a16="http://schemas.microsoft.com/office/drawing/2014/main" id="{0E238D16-3207-45DD-8F8D-48617D759F63}"/>
              </a:ext>
            </a:extLst>
          </p:cNvPr>
          <p:cNvGraphicFramePr>
            <a:graphicFrameLocks noGrp="1"/>
          </p:cNvGraphicFramePr>
          <p:nvPr>
            <p:ph idx="1"/>
            <p:extLst>
              <p:ext uri="{D42A27DB-BD31-4B8C-83A1-F6EECF244321}">
                <p14:modId xmlns:p14="http://schemas.microsoft.com/office/powerpoint/2010/main" val="636507473"/>
              </p:ext>
            </p:extLst>
          </p:nvPr>
        </p:nvGraphicFramePr>
        <p:xfrm>
          <a:off x="932155" y="934621"/>
          <a:ext cx="4518732" cy="741680"/>
        </p:xfrm>
        <a:graphic>
          <a:graphicData uri="http://schemas.openxmlformats.org/drawingml/2006/table">
            <a:tbl>
              <a:tblPr firstRow="1" bandRow="1">
                <a:tableStyleId>{5940675A-B579-460E-94D1-54222C63F5DA}</a:tableStyleId>
              </a:tblPr>
              <a:tblGrid>
                <a:gridCol w="753122">
                  <a:extLst>
                    <a:ext uri="{9D8B030D-6E8A-4147-A177-3AD203B41FA5}">
                      <a16:colId xmlns:a16="http://schemas.microsoft.com/office/drawing/2014/main" val="2664879826"/>
                    </a:ext>
                  </a:extLst>
                </a:gridCol>
                <a:gridCol w="753122">
                  <a:extLst>
                    <a:ext uri="{9D8B030D-6E8A-4147-A177-3AD203B41FA5}">
                      <a16:colId xmlns:a16="http://schemas.microsoft.com/office/drawing/2014/main" val="2547176656"/>
                    </a:ext>
                  </a:extLst>
                </a:gridCol>
                <a:gridCol w="753122">
                  <a:extLst>
                    <a:ext uri="{9D8B030D-6E8A-4147-A177-3AD203B41FA5}">
                      <a16:colId xmlns:a16="http://schemas.microsoft.com/office/drawing/2014/main" val="3940103524"/>
                    </a:ext>
                  </a:extLst>
                </a:gridCol>
                <a:gridCol w="753122">
                  <a:extLst>
                    <a:ext uri="{9D8B030D-6E8A-4147-A177-3AD203B41FA5}">
                      <a16:colId xmlns:a16="http://schemas.microsoft.com/office/drawing/2014/main" val="920411464"/>
                    </a:ext>
                  </a:extLst>
                </a:gridCol>
                <a:gridCol w="753122">
                  <a:extLst>
                    <a:ext uri="{9D8B030D-6E8A-4147-A177-3AD203B41FA5}">
                      <a16:colId xmlns:a16="http://schemas.microsoft.com/office/drawing/2014/main" val="943737346"/>
                    </a:ext>
                  </a:extLst>
                </a:gridCol>
                <a:gridCol w="753122">
                  <a:extLst>
                    <a:ext uri="{9D8B030D-6E8A-4147-A177-3AD203B41FA5}">
                      <a16:colId xmlns:a16="http://schemas.microsoft.com/office/drawing/2014/main" val="3590219206"/>
                    </a:ext>
                  </a:extLst>
                </a:gridCol>
              </a:tblGrid>
              <a:tr h="370840">
                <a:tc>
                  <a:txBody>
                    <a:bodyPr/>
                    <a:lstStyle/>
                    <a:p>
                      <a:pPr algn="ctr"/>
                      <a:r>
                        <a:rPr lang="en-IN" dirty="0"/>
                        <a:t>1</a:t>
                      </a:r>
                    </a:p>
                  </a:txBody>
                  <a:tcPr/>
                </a:tc>
                <a:tc>
                  <a:txBody>
                    <a:bodyPr/>
                    <a:lstStyle/>
                    <a:p>
                      <a:pPr algn="ctr"/>
                      <a:r>
                        <a:rPr lang="en-IN" dirty="0"/>
                        <a:t>2</a:t>
                      </a:r>
                    </a:p>
                  </a:txBody>
                  <a:tcPr/>
                </a:tc>
                <a:tc>
                  <a:txBody>
                    <a:bodyPr/>
                    <a:lstStyle/>
                    <a:p>
                      <a:pPr algn="ctr"/>
                      <a:r>
                        <a:rPr lang="en-IN" dirty="0"/>
                        <a:t>3</a:t>
                      </a:r>
                    </a:p>
                  </a:txBody>
                  <a:tcPr/>
                </a:tc>
                <a:tc>
                  <a:txBody>
                    <a:bodyPr/>
                    <a:lstStyle/>
                    <a:p>
                      <a:pPr algn="ctr"/>
                      <a:r>
                        <a:rPr lang="en-IN" dirty="0"/>
                        <a:t>4</a:t>
                      </a:r>
                    </a:p>
                  </a:txBody>
                  <a:tcPr/>
                </a:tc>
                <a:tc>
                  <a:txBody>
                    <a:bodyPr/>
                    <a:lstStyle/>
                    <a:p>
                      <a:pPr algn="ctr"/>
                      <a:r>
                        <a:rPr lang="en-IN" dirty="0"/>
                        <a:t>5</a:t>
                      </a:r>
                    </a:p>
                  </a:txBody>
                  <a:tcPr/>
                </a:tc>
                <a:tc>
                  <a:txBody>
                    <a:bodyPr/>
                    <a:lstStyle/>
                    <a:p>
                      <a:pPr algn="ctr"/>
                      <a:r>
                        <a:rPr lang="en-IN" dirty="0"/>
                        <a:t>6</a:t>
                      </a:r>
                    </a:p>
                  </a:txBody>
                  <a:tcPr/>
                </a:tc>
                <a:extLst>
                  <a:ext uri="{0D108BD9-81ED-4DB2-BD59-A6C34878D82A}">
                    <a16:rowId xmlns:a16="http://schemas.microsoft.com/office/drawing/2014/main" val="1138602807"/>
                  </a:ext>
                </a:extLst>
              </a:tr>
              <a:tr h="370840">
                <a:tc>
                  <a:txBody>
                    <a:bodyPr/>
                    <a:lstStyle/>
                    <a:p>
                      <a:pPr algn="ctr"/>
                      <a:r>
                        <a:rPr lang="en-IN" dirty="0"/>
                        <a:t>4</a:t>
                      </a:r>
                    </a:p>
                  </a:txBody>
                  <a:tcPr/>
                </a:tc>
                <a:tc>
                  <a:txBody>
                    <a:bodyPr/>
                    <a:lstStyle/>
                    <a:p>
                      <a:pPr algn="ctr"/>
                      <a:r>
                        <a:rPr lang="en-IN" dirty="0"/>
                        <a:t>3</a:t>
                      </a:r>
                    </a:p>
                  </a:txBody>
                  <a:tcPr/>
                </a:tc>
                <a:tc>
                  <a:txBody>
                    <a:bodyPr/>
                    <a:lstStyle/>
                    <a:p>
                      <a:pPr algn="ctr"/>
                      <a:r>
                        <a:rPr lang="en-IN" dirty="0"/>
                        <a:t>5</a:t>
                      </a:r>
                    </a:p>
                  </a:txBody>
                  <a:tcPr/>
                </a:tc>
                <a:tc>
                  <a:txBody>
                    <a:bodyPr/>
                    <a:lstStyle/>
                    <a:p>
                      <a:pPr algn="ctr"/>
                      <a:r>
                        <a:rPr lang="en-IN" dirty="0"/>
                        <a:t>6</a:t>
                      </a:r>
                    </a:p>
                  </a:txBody>
                  <a:tcPr/>
                </a:tc>
                <a:tc>
                  <a:txBody>
                    <a:bodyPr/>
                    <a:lstStyle/>
                    <a:p>
                      <a:pPr algn="ctr"/>
                      <a:r>
                        <a:rPr lang="en-IN" dirty="0"/>
                        <a:t>9</a:t>
                      </a:r>
                    </a:p>
                  </a:txBody>
                  <a:tcPr/>
                </a:tc>
                <a:tc>
                  <a:txBody>
                    <a:bodyPr/>
                    <a:lstStyle/>
                    <a:p>
                      <a:pPr algn="ctr"/>
                      <a:r>
                        <a:rPr lang="en-IN" dirty="0"/>
                        <a:t>8</a:t>
                      </a:r>
                    </a:p>
                  </a:txBody>
                  <a:tcPr/>
                </a:tc>
                <a:extLst>
                  <a:ext uri="{0D108BD9-81ED-4DB2-BD59-A6C34878D82A}">
                    <a16:rowId xmlns:a16="http://schemas.microsoft.com/office/drawing/2014/main" val="178144484"/>
                  </a:ext>
                </a:extLst>
              </a:tr>
            </a:tbl>
          </a:graphicData>
        </a:graphic>
      </p:graphicFrame>
      <p:sp>
        <p:nvSpPr>
          <p:cNvPr id="5" name="TextBox 4">
            <a:extLst>
              <a:ext uri="{FF2B5EF4-FFF2-40B4-BE49-F238E27FC236}">
                <a16:creationId xmlns:a16="http://schemas.microsoft.com/office/drawing/2014/main" id="{91B2EDD2-A353-45FC-9F0A-70B11F3EAA93}"/>
              </a:ext>
            </a:extLst>
          </p:cNvPr>
          <p:cNvSpPr txBox="1"/>
          <p:nvPr/>
        </p:nvSpPr>
        <p:spPr>
          <a:xfrm>
            <a:off x="1056442" y="565289"/>
            <a:ext cx="4229043" cy="369332"/>
          </a:xfrm>
          <a:prstGeom prst="rect">
            <a:avLst/>
          </a:prstGeom>
          <a:noFill/>
        </p:spPr>
        <p:txBody>
          <a:bodyPr wrap="none" rtlCol="0">
            <a:spAutoFit/>
          </a:bodyPr>
          <a:lstStyle/>
          <a:p>
            <a:r>
              <a:rPr lang="en-IN" dirty="0"/>
              <a:t> a1          a2          a3           a4          a5         a6</a:t>
            </a:r>
          </a:p>
        </p:txBody>
      </p:sp>
      <p:sp>
        <p:nvSpPr>
          <p:cNvPr id="6" name="TextBox 5">
            <a:extLst>
              <a:ext uri="{FF2B5EF4-FFF2-40B4-BE49-F238E27FC236}">
                <a16:creationId xmlns:a16="http://schemas.microsoft.com/office/drawing/2014/main" id="{C4898033-D6E6-4FC4-A599-5BEADCD73818}"/>
              </a:ext>
            </a:extLst>
          </p:cNvPr>
          <p:cNvSpPr txBox="1"/>
          <p:nvPr/>
        </p:nvSpPr>
        <p:spPr>
          <a:xfrm>
            <a:off x="574365" y="976392"/>
            <a:ext cx="340158" cy="923330"/>
          </a:xfrm>
          <a:prstGeom prst="rect">
            <a:avLst/>
          </a:prstGeom>
          <a:noFill/>
        </p:spPr>
        <p:txBody>
          <a:bodyPr wrap="none" rtlCol="0">
            <a:spAutoFit/>
          </a:bodyPr>
          <a:lstStyle/>
          <a:p>
            <a:r>
              <a:rPr lang="en-IN" dirty="0"/>
              <a:t>S</a:t>
            </a:r>
            <a:r>
              <a:rPr lang="en-IN" baseline="-25000" dirty="0"/>
              <a:t>i</a:t>
            </a:r>
          </a:p>
          <a:p>
            <a:r>
              <a:rPr lang="en-IN" dirty="0"/>
              <a:t>F</a:t>
            </a:r>
            <a:r>
              <a:rPr lang="en-IN" baseline="-25000" dirty="0"/>
              <a:t>i</a:t>
            </a:r>
          </a:p>
          <a:p>
            <a:endParaRPr lang="en-IN" dirty="0"/>
          </a:p>
        </p:txBody>
      </p:sp>
    </p:spTree>
    <p:extLst>
      <p:ext uri="{BB962C8B-B14F-4D97-AF65-F5344CB8AC3E}">
        <p14:creationId xmlns:p14="http://schemas.microsoft.com/office/powerpoint/2010/main" val="24204795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Selection - Algorithm</a:t>
            </a:r>
          </a:p>
        </p:txBody>
      </p:sp>
      <p:sp>
        <p:nvSpPr>
          <p:cNvPr id="3" name="Content Placeholder 2"/>
          <p:cNvSpPr>
            <a:spLocks noGrp="1"/>
          </p:cNvSpPr>
          <p:nvPr>
            <p:ph idx="1"/>
          </p:nvPr>
        </p:nvSpPr>
        <p:spPr>
          <a:solidFill>
            <a:srgbClr val="424242"/>
          </a:solidFill>
        </p:spPr>
        <p:txBody>
          <a:bodyPr/>
          <a:lstStyle/>
          <a:p>
            <a:pPr marL="0" indent="0" algn="l">
              <a:spcAft>
                <a:spcPts val="0"/>
              </a:spcAft>
              <a:buNone/>
            </a:pPr>
            <a:r>
              <a:rPr lang="en-US" b="1" dirty="0">
                <a:solidFill>
                  <a:schemeClr val="tx2">
                    <a:lumMod val="60000"/>
                    <a:lumOff val="40000"/>
                  </a:schemeClr>
                </a:solidFill>
                <a:latin typeface="Consolas" pitchFamily="49" charset="0"/>
                <a:cs typeface="Consolas" pitchFamily="49" charset="0"/>
              </a:rPr>
              <a:t>Algorithm: Activity Selection </a:t>
            </a:r>
          </a:p>
          <a:p>
            <a:pPr marL="0" indent="0" algn="l">
              <a:spcAft>
                <a:spcPts val="0"/>
              </a:spcAft>
              <a:buNone/>
            </a:pPr>
            <a:r>
              <a:rPr lang="en-US" b="1" dirty="0">
                <a:solidFill>
                  <a:srgbClr val="F9C5D7"/>
                </a:solidFill>
                <a:latin typeface="Consolas" pitchFamily="49" charset="0"/>
                <a:cs typeface="Consolas" pitchFamily="49" charset="0"/>
              </a:rPr>
              <a:t>Step I: Sort the input activities by increasing finishing time.  f</a:t>
            </a:r>
            <a:r>
              <a:rPr lang="en-US" b="1" baseline="-25000" dirty="0">
                <a:solidFill>
                  <a:srgbClr val="F9C5D7"/>
                </a:solidFill>
                <a:latin typeface="Consolas" pitchFamily="49" charset="0"/>
                <a:cs typeface="Consolas" pitchFamily="49" charset="0"/>
              </a:rPr>
              <a:t>1</a:t>
            </a:r>
            <a:r>
              <a:rPr lang="en-US" b="1" dirty="0">
                <a:solidFill>
                  <a:srgbClr val="F9C5D7"/>
                </a:solidFill>
                <a:latin typeface="Consolas" pitchFamily="49" charset="0"/>
                <a:cs typeface="Consolas" pitchFamily="49" charset="0"/>
              </a:rPr>
              <a:t> ≤  f</a:t>
            </a:r>
            <a:r>
              <a:rPr lang="en-US" b="1" baseline="-25000" dirty="0">
                <a:solidFill>
                  <a:srgbClr val="F9C5D7"/>
                </a:solidFill>
                <a:latin typeface="Consolas" pitchFamily="49" charset="0"/>
                <a:cs typeface="Consolas" pitchFamily="49" charset="0"/>
              </a:rPr>
              <a:t>2</a:t>
            </a:r>
            <a:r>
              <a:rPr lang="en-US" b="1" dirty="0">
                <a:solidFill>
                  <a:srgbClr val="F9C5D7"/>
                </a:solidFill>
                <a:latin typeface="Consolas" pitchFamily="49" charset="0"/>
                <a:cs typeface="Consolas" pitchFamily="49" charset="0"/>
              </a:rPr>
              <a:t> ≤  . . . ≤  </a:t>
            </a:r>
            <a:r>
              <a:rPr lang="en-US" b="1" dirty="0" err="1">
                <a:solidFill>
                  <a:srgbClr val="F9C5D7"/>
                </a:solidFill>
                <a:latin typeface="Consolas" pitchFamily="49" charset="0"/>
                <a:cs typeface="Consolas" pitchFamily="49" charset="0"/>
              </a:rPr>
              <a:t>f</a:t>
            </a:r>
            <a:r>
              <a:rPr lang="en-US" b="1" baseline="-25000" dirty="0" err="1">
                <a:solidFill>
                  <a:srgbClr val="F9C5D7"/>
                </a:solidFill>
                <a:latin typeface="Consolas" pitchFamily="49" charset="0"/>
                <a:cs typeface="Consolas" pitchFamily="49" charset="0"/>
              </a:rPr>
              <a:t>n</a:t>
            </a:r>
            <a:r>
              <a:rPr lang="en-US" b="1" dirty="0">
                <a:solidFill>
                  <a:srgbClr val="F9C5D7"/>
                </a:solidFill>
                <a:latin typeface="Consolas" pitchFamily="49" charset="0"/>
                <a:cs typeface="Consolas" pitchFamily="49" charset="0"/>
              </a:rPr>
              <a:t> </a:t>
            </a:r>
          </a:p>
          <a:p>
            <a:pPr marL="0" indent="0" algn="l">
              <a:spcAft>
                <a:spcPts val="0"/>
              </a:spcAft>
              <a:buNone/>
            </a:pPr>
            <a:endParaRPr lang="en-US" b="1" dirty="0">
              <a:solidFill>
                <a:srgbClr val="F9C5D7"/>
              </a:solidFill>
              <a:latin typeface="Consolas" pitchFamily="49" charset="0"/>
              <a:cs typeface="Consolas" pitchFamily="49" charset="0"/>
            </a:endParaRPr>
          </a:p>
          <a:p>
            <a:pPr marL="0" indent="0" algn="l">
              <a:spcAft>
                <a:spcPts val="0"/>
              </a:spcAft>
              <a:buNone/>
            </a:pPr>
            <a:r>
              <a:rPr lang="en-US" b="1" dirty="0">
                <a:solidFill>
                  <a:srgbClr val="F9C5D7"/>
                </a:solidFill>
                <a:latin typeface="Consolas" pitchFamily="49" charset="0"/>
                <a:cs typeface="Consolas" pitchFamily="49" charset="0"/>
              </a:rPr>
              <a:t>Step II: Call GREEDY-ACTIVITY-SELECTOR (s, f)</a:t>
            </a:r>
          </a:p>
          <a:p>
            <a:pPr marL="400050" lvl="1" indent="0" algn="l">
              <a:spcAft>
                <a:spcPts val="0"/>
              </a:spcAft>
              <a:buNone/>
            </a:pPr>
            <a:r>
              <a:rPr lang="en-US" sz="2400" b="1" dirty="0">
                <a:solidFill>
                  <a:srgbClr val="F9C5D7"/>
                </a:solidFill>
                <a:latin typeface="Consolas" pitchFamily="49" charset="0"/>
                <a:cs typeface="Consolas" pitchFamily="49" charset="0"/>
              </a:rPr>
              <a:t>n = length [s] </a:t>
            </a:r>
          </a:p>
          <a:p>
            <a:pPr marL="400050" lvl="1" indent="0" algn="l">
              <a:spcAft>
                <a:spcPts val="0"/>
              </a:spcAft>
              <a:buNone/>
            </a:pPr>
            <a:r>
              <a:rPr lang="en-US" sz="2400" b="1" dirty="0">
                <a:solidFill>
                  <a:srgbClr val="F9C5D7"/>
                </a:solidFill>
                <a:latin typeface="Consolas" pitchFamily="49" charset="0"/>
                <a:cs typeface="Consolas" pitchFamily="49" charset="0"/>
              </a:rPr>
              <a:t>A = {</a:t>
            </a:r>
            <a:r>
              <a:rPr lang="en-US" sz="2400" b="1" dirty="0" err="1">
                <a:solidFill>
                  <a:srgbClr val="F9C5D7"/>
                </a:solidFill>
                <a:latin typeface="Consolas" pitchFamily="49" charset="0"/>
                <a:cs typeface="Consolas" pitchFamily="49" charset="0"/>
              </a:rPr>
              <a:t>i</a:t>
            </a:r>
            <a:r>
              <a:rPr lang="en-US" sz="2400" b="1" dirty="0">
                <a:solidFill>
                  <a:srgbClr val="F9C5D7"/>
                </a:solidFill>
                <a:latin typeface="Consolas" pitchFamily="49" charset="0"/>
                <a:cs typeface="Consolas" pitchFamily="49" charset="0"/>
              </a:rPr>
              <a:t>} </a:t>
            </a:r>
          </a:p>
          <a:p>
            <a:pPr marL="400050" lvl="1" indent="0" algn="l">
              <a:spcAft>
                <a:spcPts val="0"/>
              </a:spcAft>
              <a:buNone/>
            </a:pPr>
            <a:r>
              <a:rPr lang="en-US" sz="2400" b="1" dirty="0">
                <a:solidFill>
                  <a:srgbClr val="F9C5D7"/>
                </a:solidFill>
                <a:latin typeface="Consolas" pitchFamily="49" charset="0"/>
                <a:cs typeface="Consolas" pitchFamily="49" charset="0"/>
              </a:rPr>
              <a:t>j = 1 </a:t>
            </a:r>
          </a:p>
          <a:p>
            <a:pPr marL="400050" lvl="1" indent="0" algn="l">
              <a:spcAft>
                <a:spcPts val="0"/>
              </a:spcAft>
              <a:buNone/>
            </a:pPr>
            <a:r>
              <a:rPr lang="en-US" sz="2400" b="1" dirty="0">
                <a:solidFill>
                  <a:srgbClr val="F9C5D7"/>
                </a:solidFill>
                <a:latin typeface="Consolas" pitchFamily="49" charset="0"/>
                <a:cs typeface="Consolas" pitchFamily="49" charset="0"/>
              </a:rPr>
              <a:t>for  </a:t>
            </a:r>
            <a:r>
              <a:rPr lang="en-US" sz="2400" b="1" dirty="0" err="1">
                <a:solidFill>
                  <a:srgbClr val="F9C5D7"/>
                </a:solidFill>
                <a:latin typeface="Consolas" pitchFamily="49" charset="0"/>
                <a:cs typeface="Consolas" pitchFamily="49" charset="0"/>
              </a:rPr>
              <a:t>i</a:t>
            </a:r>
            <a:r>
              <a:rPr lang="en-US" sz="2400" b="1" dirty="0">
                <a:solidFill>
                  <a:srgbClr val="F9C5D7"/>
                </a:solidFill>
                <a:latin typeface="Consolas" pitchFamily="49" charset="0"/>
                <a:cs typeface="Consolas" pitchFamily="49" charset="0"/>
              </a:rPr>
              <a:t> = 2  to  n </a:t>
            </a:r>
          </a:p>
          <a:p>
            <a:pPr marL="0" indent="0" algn="l">
              <a:spcAft>
                <a:spcPts val="0"/>
              </a:spcAft>
              <a:buNone/>
            </a:pPr>
            <a:r>
              <a:rPr lang="en-US" b="1" dirty="0">
                <a:solidFill>
                  <a:srgbClr val="F9C5D7"/>
                </a:solidFill>
                <a:latin typeface="Consolas" pitchFamily="49" charset="0"/>
                <a:cs typeface="Consolas" pitchFamily="49" charset="0"/>
              </a:rPr>
              <a:t>        do if   </a:t>
            </a:r>
            <a:r>
              <a:rPr lang="en-US" b="1" dirty="0" err="1">
                <a:solidFill>
                  <a:srgbClr val="F9C5D7"/>
                </a:solidFill>
                <a:latin typeface="Consolas" pitchFamily="49" charset="0"/>
                <a:cs typeface="Consolas" pitchFamily="49" charset="0"/>
              </a:rPr>
              <a:t>s</a:t>
            </a:r>
            <a:r>
              <a:rPr lang="en-US" b="1" baseline="-25000" dirty="0" err="1">
                <a:solidFill>
                  <a:srgbClr val="F9C5D7"/>
                </a:solidFill>
                <a:latin typeface="Consolas" pitchFamily="49" charset="0"/>
                <a:cs typeface="Consolas" pitchFamily="49" charset="0"/>
              </a:rPr>
              <a:t>i</a:t>
            </a:r>
            <a:r>
              <a:rPr lang="en-US" b="1" dirty="0">
                <a:solidFill>
                  <a:srgbClr val="F9C5D7"/>
                </a:solidFill>
                <a:latin typeface="Consolas" pitchFamily="49" charset="0"/>
                <a:cs typeface="Consolas" pitchFamily="49" charset="0"/>
              </a:rPr>
              <a:t> ≥ </a:t>
            </a:r>
            <a:r>
              <a:rPr lang="en-US" b="1" dirty="0" err="1">
                <a:solidFill>
                  <a:srgbClr val="F9C5D7"/>
                </a:solidFill>
                <a:latin typeface="Consolas" pitchFamily="49" charset="0"/>
                <a:cs typeface="Consolas" pitchFamily="49" charset="0"/>
              </a:rPr>
              <a:t>f</a:t>
            </a:r>
            <a:r>
              <a:rPr lang="en-US" b="1" baseline="-25000" dirty="0" err="1">
                <a:solidFill>
                  <a:srgbClr val="F9C5D7"/>
                </a:solidFill>
                <a:latin typeface="Consolas" pitchFamily="49" charset="0"/>
                <a:cs typeface="Consolas" pitchFamily="49" charset="0"/>
              </a:rPr>
              <a:t>j</a:t>
            </a:r>
            <a:r>
              <a:rPr lang="en-US" b="1" dirty="0">
                <a:solidFill>
                  <a:srgbClr val="F9C5D7"/>
                </a:solidFill>
                <a:latin typeface="Consolas" pitchFamily="49" charset="0"/>
                <a:cs typeface="Consolas" pitchFamily="49" charset="0"/>
              </a:rPr>
              <a:t> </a:t>
            </a:r>
          </a:p>
          <a:p>
            <a:pPr marL="0" indent="0" algn="l">
              <a:spcAft>
                <a:spcPts val="0"/>
              </a:spcAft>
              <a:buNone/>
            </a:pPr>
            <a:r>
              <a:rPr lang="en-US" b="1" dirty="0">
                <a:solidFill>
                  <a:srgbClr val="F9C5D7"/>
                </a:solidFill>
                <a:latin typeface="Consolas" pitchFamily="49" charset="0"/>
                <a:cs typeface="Consolas" pitchFamily="49" charset="0"/>
              </a:rPr>
              <a:t>             then  A = A U {</a:t>
            </a:r>
            <a:r>
              <a:rPr lang="en-US" b="1" dirty="0" err="1">
                <a:solidFill>
                  <a:srgbClr val="F9C5D7"/>
                </a:solidFill>
                <a:latin typeface="Consolas" pitchFamily="49" charset="0"/>
                <a:cs typeface="Consolas" pitchFamily="49" charset="0"/>
              </a:rPr>
              <a:t>i</a:t>
            </a:r>
            <a:r>
              <a:rPr lang="en-US" b="1" dirty="0">
                <a:solidFill>
                  <a:srgbClr val="F9C5D7"/>
                </a:solidFill>
                <a:latin typeface="Consolas" pitchFamily="49" charset="0"/>
                <a:cs typeface="Consolas" pitchFamily="49" charset="0"/>
              </a:rPr>
              <a:t>} </a:t>
            </a:r>
          </a:p>
          <a:p>
            <a:pPr marL="0" indent="0" algn="l">
              <a:spcAft>
                <a:spcPts val="0"/>
              </a:spcAft>
              <a:buNone/>
            </a:pPr>
            <a:r>
              <a:rPr lang="en-US" b="1" dirty="0">
                <a:solidFill>
                  <a:srgbClr val="F9C5D7"/>
                </a:solidFill>
                <a:latin typeface="Consolas" pitchFamily="49" charset="0"/>
                <a:cs typeface="Consolas" pitchFamily="49" charset="0"/>
              </a:rPr>
              <a:t>                      j = </a:t>
            </a:r>
            <a:r>
              <a:rPr lang="en-US" b="1" dirty="0" err="1">
                <a:solidFill>
                  <a:srgbClr val="F9C5D7"/>
                </a:solidFill>
                <a:latin typeface="Consolas" pitchFamily="49" charset="0"/>
                <a:cs typeface="Consolas" pitchFamily="49" charset="0"/>
              </a:rPr>
              <a:t>i</a:t>
            </a:r>
            <a:r>
              <a:rPr lang="en-US" b="1" dirty="0">
                <a:solidFill>
                  <a:srgbClr val="F9C5D7"/>
                </a:solidFill>
                <a:latin typeface="Consolas" pitchFamily="49" charset="0"/>
                <a:cs typeface="Consolas" pitchFamily="49" charset="0"/>
              </a:rPr>
              <a:t> </a:t>
            </a:r>
          </a:p>
          <a:p>
            <a:pPr marL="400050" lvl="1" indent="0" algn="l">
              <a:spcAft>
                <a:spcPts val="0"/>
              </a:spcAft>
              <a:buNone/>
            </a:pPr>
            <a:r>
              <a:rPr lang="en-US" sz="2400" b="1" dirty="0">
                <a:solidFill>
                  <a:srgbClr val="F9C5D7"/>
                </a:solidFill>
                <a:latin typeface="Consolas" pitchFamily="49" charset="0"/>
                <a:cs typeface="Consolas" pitchFamily="49" charset="0"/>
              </a:rPr>
              <a:t>return  set A</a:t>
            </a:r>
          </a:p>
        </p:txBody>
      </p:sp>
    </p:spTree>
    <p:extLst>
      <p:ext uri="{BB962C8B-B14F-4D97-AF65-F5344CB8AC3E}">
        <p14:creationId xmlns:p14="http://schemas.microsoft.com/office/powerpoint/2010/main" val="93281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500"/>
                                        <p:tgtEl>
                                          <p:spTgt spid="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fade">
                                      <p:cBhvr>
                                        <p:cTn id="57"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3DA43-DEAE-47AB-AC07-2153955A8CC3}"/>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297D40E0-8185-4297-967D-E58E696CD00A}"/>
              </a:ext>
            </a:extLst>
          </p:cNvPr>
          <p:cNvSpPr>
            <a:spLocks noGrp="1"/>
          </p:cNvSpPr>
          <p:nvPr>
            <p:ph idx="1"/>
          </p:nvPr>
        </p:nvSpPr>
        <p:spPr/>
        <p:txBody>
          <a:bodyPr/>
          <a:lstStyle/>
          <a:p>
            <a:pPr marL="0" indent="0">
              <a:buNone/>
            </a:pPr>
            <a:r>
              <a:rPr lang="en-IN" dirty="0"/>
              <a:t>Input:  N = 3</a:t>
            </a:r>
          </a:p>
          <a:p>
            <a:pPr marL="0" indent="0">
              <a:buNone/>
            </a:pPr>
            <a:r>
              <a:rPr lang="en-IN" dirty="0"/>
              <a:t>              </a:t>
            </a:r>
            <a:r>
              <a:rPr lang="en-IN" dirty="0" err="1"/>
              <a:t>arr</a:t>
            </a:r>
            <a:r>
              <a:rPr lang="en-IN" dirty="0"/>
              <a:t>[ ] = {{10, 20}, {12, 25}, {20, 30}}</a:t>
            </a:r>
          </a:p>
          <a:p>
            <a:pPr marL="0" indent="0">
              <a:buNone/>
            </a:pPr>
            <a:r>
              <a:rPr lang="en-IN" dirty="0"/>
              <a:t>Output: (10, 20) (20, 30)</a:t>
            </a:r>
          </a:p>
          <a:p>
            <a:pPr marL="0" indent="0">
              <a:buNone/>
            </a:pPr>
            <a:endParaRPr lang="en-IN" dirty="0"/>
          </a:p>
          <a:p>
            <a:pPr marL="0" indent="0">
              <a:buNone/>
            </a:pPr>
            <a:r>
              <a:rPr lang="en-IN" dirty="0"/>
              <a:t>Input:  N = 4</a:t>
            </a:r>
          </a:p>
          <a:p>
            <a:pPr marL="0" indent="0">
              <a:buNone/>
            </a:pPr>
            <a:r>
              <a:rPr lang="en-IN" dirty="0"/>
              <a:t>               </a:t>
            </a:r>
            <a:r>
              <a:rPr lang="en-IN" dirty="0" err="1"/>
              <a:t>arr</a:t>
            </a:r>
            <a:r>
              <a:rPr lang="en-IN" dirty="0"/>
              <a:t>[ ] = {{3, 4}, {2, 5}, {1, 3}, {5, 9}, {0, 7}, {11, 12}, {8, 10}}</a:t>
            </a:r>
          </a:p>
          <a:p>
            <a:pPr marL="0" indent="0">
              <a:buNone/>
            </a:pPr>
            <a:r>
              <a:rPr lang="en-IN" dirty="0"/>
              <a:t>Output: (1, 3) (3, 4) (5, 9) (11, 12)</a:t>
            </a:r>
          </a:p>
          <a:p>
            <a:pPr marL="0" indent="0">
              <a:buNone/>
            </a:pPr>
            <a:endParaRPr lang="en-IN" dirty="0"/>
          </a:p>
        </p:txBody>
      </p:sp>
    </p:spTree>
    <p:extLst>
      <p:ext uri="{BB962C8B-B14F-4D97-AF65-F5344CB8AC3E}">
        <p14:creationId xmlns:p14="http://schemas.microsoft.com/office/powerpoint/2010/main" val="15785530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9C937-D998-415B-BF72-C223F00B4479}"/>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E018223-C13A-42F9-A612-E96AFB4E544F}"/>
              </a:ext>
            </a:extLst>
          </p:cNvPr>
          <p:cNvPicPr>
            <a:picLocks noGrp="1" noChangeAspect="1"/>
          </p:cNvPicPr>
          <p:nvPr>
            <p:ph idx="1"/>
          </p:nvPr>
        </p:nvPicPr>
        <p:blipFill>
          <a:blip r:embed="rId2"/>
          <a:stretch>
            <a:fillRect/>
          </a:stretch>
        </p:blipFill>
        <p:spPr>
          <a:xfrm>
            <a:off x="2485650" y="749700"/>
            <a:ext cx="6966358" cy="5816666"/>
          </a:xfrm>
        </p:spPr>
      </p:pic>
    </p:spTree>
    <p:extLst>
      <p:ext uri="{BB962C8B-B14F-4D97-AF65-F5344CB8AC3E}">
        <p14:creationId xmlns:p14="http://schemas.microsoft.com/office/powerpoint/2010/main" val="2586352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 HW</a:t>
            </a:r>
          </a:p>
        </p:txBody>
      </p:sp>
      <p:sp>
        <p:nvSpPr>
          <p:cNvPr id="3" name="Content Placeholder 2"/>
          <p:cNvSpPr>
            <a:spLocks noGrp="1"/>
          </p:cNvSpPr>
          <p:nvPr>
            <p:ph idx="1"/>
          </p:nvPr>
        </p:nvSpPr>
        <p:spPr/>
        <p:txBody>
          <a:bodyPr/>
          <a:lstStyle/>
          <a:p>
            <a:r>
              <a:rPr lang="en-US" dirty="0"/>
              <a:t>Given arrival and departure times of all trains that reach a railway station, find the minimum number of platforms required for the railway station so that no train waits. We are given two arrays which represent arrival and departure times of trains that stop.   </a:t>
            </a:r>
            <a:r>
              <a:rPr lang="en-US" dirty="0" err="1"/>
              <a:t>Arr</a:t>
            </a:r>
            <a:r>
              <a:rPr lang="en-US" dirty="0"/>
              <a:t>[ ]  = {9:00,  9:40, 9:50,  11:00, 15:00, 18:00}   </a:t>
            </a:r>
            <a:r>
              <a:rPr lang="en-US" dirty="0" err="1"/>
              <a:t>dep</a:t>
            </a:r>
            <a:r>
              <a:rPr lang="en-US" dirty="0"/>
              <a:t>[ ]  = {9:10, 12:00, 11:20, 11:30, 19:00, 20:00}</a:t>
            </a:r>
          </a:p>
          <a:p>
            <a:endParaRPr lang="en-US" dirty="0"/>
          </a:p>
        </p:txBody>
      </p:sp>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5709" y="2323160"/>
            <a:ext cx="4022871" cy="4262328"/>
          </a:xfrm>
          <a:prstGeom prst="rect">
            <a:avLst/>
          </a:prstGeom>
        </p:spPr>
      </p:pic>
    </p:spTree>
    <p:extLst>
      <p:ext uri="{BB962C8B-B14F-4D97-AF65-F5344CB8AC3E}">
        <p14:creationId xmlns:p14="http://schemas.microsoft.com/office/powerpoint/2010/main" val="3673706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579AA-50EB-46B4-9151-6B51E7EC6885}"/>
              </a:ext>
            </a:extLst>
          </p:cNvPr>
          <p:cNvSpPr>
            <a:spLocks noGrp="1"/>
          </p:cNvSpPr>
          <p:nvPr>
            <p:ph type="title"/>
          </p:nvPr>
        </p:nvSpPr>
        <p:spPr/>
        <p:txBody>
          <a:bodyPr/>
          <a:lstStyle/>
          <a:p>
            <a:r>
              <a:rPr lang="en-IN" dirty="0"/>
              <a:t>Complexity Analysis</a:t>
            </a:r>
          </a:p>
        </p:txBody>
      </p:sp>
      <p:sp>
        <p:nvSpPr>
          <p:cNvPr id="3" name="Content Placeholder 2">
            <a:extLst>
              <a:ext uri="{FF2B5EF4-FFF2-40B4-BE49-F238E27FC236}">
                <a16:creationId xmlns:a16="http://schemas.microsoft.com/office/drawing/2014/main" id="{15FDFBF5-F2E8-40F7-B73A-428B9EF3E4F5}"/>
              </a:ext>
            </a:extLst>
          </p:cNvPr>
          <p:cNvSpPr>
            <a:spLocks noGrp="1"/>
          </p:cNvSpPr>
          <p:nvPr>
            <p:ph idx="1"/>
          </p:nvPr>
        </p:nvSpPr>
        <p:spPr/>
        <p:txBody>
          <a:bodyPr/>
          <a:lstStyle/>
          <a:p>
            <a:pPr marL="0" indent="0">
              <a:buNone/>
            </a:pPr>
            <a:r>
              <a:rPr lang="en-US" dirty="0">
                <a:solidFill>
                  <a:srgbClr val="C00000"/>
                </a:solidFill>
              </a:rPr>
              <a:t>Case 1: </a:t>
            </a:r>
            <a:r>
              <a:rPr lang="en-US" dirty="0"/>
              <a:t>When the provided list of activities is already sorted by finish time, then no need for sorting it again. Therefore, Time Complexity in such a case will be O(n).</a:t>
            </a:r>
          </a:p>
          <a:p>
            <a:pPr marL="0" indent="0">
              <a:buNone/>
            </a:pPr>
            <a:endParaRPr lang="en-US" dirty="0"/>
          </a:p>
          <a:p>
            <a:pPr marL="0" indent="0">
              <a:buNone/>
            </a:pPr>
            <a:r>
              <a:rPr lang="en-US" dirty="0">
                <a:solidFill>
                  <a:srgbClr val="C00000"/>
                </a:solidFill>
              </a:rPr>
              <a:t>Case 2: </a:t>
            </a:r>
            <a:r>
              <a:rPr lang="en-US" dirty="0"/>
              <a:t>When the provided list of activities is not sorted, then we will have to either write a sort() function from scratch or we can use the in-built Standard Template Library function. Therefore, Time Complexity, in this case, will be O(</a:t>
            </a:r>
            <a:r>
              <a:rPr lang="en-US" dirty="0" err="1"/>
              <a:t>nlogn</a:t>
            </a:r>
            <a:r>
              <a:rPr lang="en-US" dirty="0"/>
              <a:t>).</a:t>
            </a:r>
          </a:p>
          <a:p>
            <a:pPr marL="0" indent="0">
              <a:buNone/>
            </a:pPr>
            <a:endParaRPr lang="en-US" dirty="0"/>
          </a:p>
          <a:p>
            <a:pPr marL="0" indent="0">
              <a:buNone/>
            </a:pPr>
            <a:r>
              <a:rPr lang="en-US" dirty="0"/>
              <a:t>Space Complexity: O(1), Since no Auxiliary space is required.</a:t>
            </a:r>
            <a:endParaRPr lang="en-IN" dirty="0"/>
          </a:p>
        </p:txBody>
      </p:sp>
    </p:spTree>
    <p:extLst>
      <p:ext uri="{BB962C8B-B14F-4D97-AF65-F5344CB8AC3E}">
        <p14:creationId xmlns:p14="http://schemas.microsoft.com/office/powerpoint/2010/main" val="28757943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Job Scheduling with Deadlines</a:t>
            </a:r>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676141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DD503-8CE7-49AE-9CAB-1C193401499B}"/>
              </a:ext>
            </a:extLst>
          </p:cNvPr>
          <p:cNvSpPr>
            <a:spLocks noGrp="1"/>
          </p:cNvSpPr>
          <p:nvPr>
            <p:ph type="title"/>
          </p:nvPr>
        </p:nvSpPr>
        <p:spPr/>
        <p:txBody>
          <a:bodyPr/>
          <a:lstStyle/>
          <a:p>
            <a:r>
              <a:rPr lang="en-IN" dirty="0"/>
              <a:t>Real-life example</a:t>
            </a:r>
          </a:p>
        </p:txBody>
      </p:sp>
      <p:sp>
        <p:nvSpPr>
          <p:cNvPr id="3" name="Content Placeholder 2">
            <a:extLst>
              <a:ext uri="{FF2B5EF4-FFF2-40B4-BE49-F238E27FC236}">
                <a16:creationId xmlns:a16="http://schemas.microsoft.com/office/drawing/2014/main" id="{E9D07179-2023-4EA8-B838-426A241F938D}"/>
              </a:ext>
            </a:extLst>
          </p:cNvPr>
          <p:cNvSpPr>
            <a:spLocks noGrp="1"/>
          </p:cNvSpPr>
          <p:nvPr>
            <p:ph idx="1"/>
          </p:nvPr>
        </p:nvSpPr>
        <p:spPr/>
        <p:txBody>
          <a:bodyPr/>
          <a:lstStyle/>
          <a:p>
            <a:r>
              <a:rPr lang="en-US" dirty="0"/>
              <a:t>suppose you are a content writer and have 4 articles to write. Each article takes a different amount of time to complete and has different payments. You want to earn the maximum amount by writing the articles.</a:t>
            </a:r>
          </a:p>
          <a:p>
            <a:r>
              <a:rPr lang="en-US" dirty="0"/>
              <a:t>So which article will you write first? </a:t>
            </a:r>
          </a:p>
          <a:p>
            <a:r>
              <a:rPr lang="en-US" dirty="0"/>
              <a:t>You have two options:</a:t>
            </a:r>
          </a:p>
          <a:p>
            <a:r>
              <a:rPr lang="en-US" dirty="0">
                <a:solidFill>
                  <a:srgbClr val="C00000"/>
                </a:solidFill>
              </a:rPr>
              <a:t>Article with maximum payment:</a:t>
            </a:r>
            <a:r>
              <a:rPr lang="en-US" dirty="0"/>
              <a:t> In this case, the article can take a longer duration to complete but by writing this article, you may miss some other articles which can be completed in a shorter interval of time, and it can be unprofitable to you if the sum of the payments from the missed articles is greater than the payment of this single article which you are doing.</a:t>
            </a:r>
          </a:p>
          <a:p>
            <a:endParaRPr lang="en-US" dirty="0"/>
          </a:p>
          <a:p>
            <a:r>
              <a:rPr lang="en-US" dirty="0">
                <a:solidFill>
                  <a:srgbClr val="C00000"/>
                </a:solidFill>
              </a:rPr>
              <a:t>The article which takes less time: </a:t>
            </a:r>
            <a:r>
              <a:rPr lang="en-US" dirty="0"/>
              <a:t>In this case, it may happen that you have written multiple articles in the given time but there could be the possibility that if you would have chosen the article with maximum payment, you could have earned more, even by writing a single article.</a:t>
            </a:r>
            <a:endParaRPr lang="en-IN" dirty="0"/>
          </a:p>
        </p:txBody>
      </p:sp>
    </p:spTree>
    <p:extLst>
      <p:ext uri="{BB962C8B-B14F-4D97-AF65-F5344CB8AC3E}">
        <p14:creationId xmlns:p14="http://schemas.microsoft.com/office/powerpoint/2010/main" val="2047400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We have set of</a:t>
                </a:r>
                <a:r>
                  <a:rPr lang="en-US" b="1" dirty="0"/>
                  <a:t> </a:t>
                </a:r>
                <a14:m>
                  <m:oMath xmlns:m="http://schemas.openxmlformats.org/officeDocument/2006/math">
                    <m:r>
                      <a:rPr lang="en-US" b="1" i="1" dirty="0" smtClean="0">
                        <a:solidFill>
                          <a:srgbClr val="AD1457"/>
                        </a:solidFill>
                        <a:latin typeface="Cambria Math" panose="02040503050406030204" pitchFamily="18" charset="0"/>
                      </a:rPr>
                      <m:t>𝒏</m:t>
                    </m:r>
                  </m:oMath>
                </a14:m>
                <a:r>
                  <a:rPr lang="en-US" b="1" dirty="0"/>
                  <a:t> </a:t>
                </a:r>
                <a:r>
                  <a:rPr lang="en-US" dirty="0"/>
                  <a:t>jobs to execute, each of which </a:t>
                </a:r>
                <a:r>
                  <a:rPr lang="en-US" b="1" dirty="0"/>
                  <a:t>takes unit time</a:t>
                </a:r>
                <a:r>
                  <a:rPr lang="en-US" dirty="0"/>
                  <a:t>.</a:t>
                </a:r>
              </a:p>
              <a:p>
                <a:r>
                  <a:rPr lang="en-US" dirty="0"/>
                  <a:t>At any point of time we can </a:t>
                </a:r>
                <a:r>
                  <a:rPr lang="en-US" b="1" dirty="0"/>
                  <a:t>execute only one job.</a:t>
                </a:r>
                <a:r>
                  <a:rPr lang="en-US" sz="1600" dirty="0"/>
                  <a:t>(Uniprocessor and no preemption)</a:t>
                </a:r>
                <a:endParaRPr lang="en-US" dirty="0"/>
              </a:p>
              <a:p>
                <a:r>
                  <a:rPr lang="en-US" dirty="0"/>
                  <a:t>Job</a:t>
                </a:r>
                <a14:m>
                  <m:oMath xmlns:m="http://schemas.openxmlformats.org/officeDocument/2006/math">
                    <m:r>
                      <a:rPr lang="en-US" i="1" dirty="0">
                        <a:latin typeface="Cambria Math" panose="02040503050406030204" pitchFamily="18" charset="0"/>
                      </a:rPr>
                      <m:t> </m:t>
                    </m:r>
                    <m:r>
                      <a:rPr lang="en-US" b="1" i="1" dirty="0" smtClean="0">
                        <a:solidFill>
                          <a:srgbClr val="AD1457"/>
                        </a:solidFill>
                        <a:latin typeface="Cambria Math" panose="02040503050406030204" pitchFamily="18" charset="0"/>
                      </a:rPr>
                      <m:t>𝒊</m:t>
                    </m:r>
                    <m:r>
                      <a:rPr lang="en-US" i="1" dirty="0">
                        <a:solidFill>
                          <a:srgbClr val="AD1457"/>
                        </a:solidFill>
                        <a:latin typeface="Cambria Math" panose="02040503050406030204" pitchFamily="18" charset="0"/>
                      </a:rPr>
                      <m:t> </m:t>
                    </m:r>
                  </m:oMath>
                </a14:m>
                <a:r>
                  <a:rPr lang="en-US" dirty="0"/>
                  <a:t>earns profit </a:t>
                </a:r>
                <a14:m>
                  <m:oMath xmlns:m="http://schemas.openxmlformats.org/officeDocument/2006/math">
                    <m:sSub>
                      <m:sSubPr>
                        <m:ctrlPr>
                          <a:rPr lang="en-US" b="1" i="1" dirty="0" smtClean="0">
                            <a:solidFill>
                              <a:srgbClr val="AD1457"/>
                            </a:solidFill>
                            <a:latin typeface="Cambria Math" panose="02040503050406030204" pitchFamily="18" charset="0"/>
                          </a:rPr>
                        </m:ctrlPr>
                      </m:sSubPr>
                      <m:e>
                        <m:r>
                          <a:rPr lang="en-US" b="1" i="1" dirty="0">
                            <a:solidFill>
                              <a:srgbClr val="AD1457"/>
                            </a:solidFill>
                            <a:latin typeface="Cambria Math" panose="02040503050406030204" pitchFamily="18" charset="0"/>
                          </a:rPr>
                          <m:t>𝒈</m:t>
                        </m:r>
                      </m:e>
                      <m:sub>
                        <m:r>
                          <a:rPr lang="en-US" b="1" i="1" dirty="0">
                            <a:solidFill>
                              <a:srgbClr val="AD1457"/>
                            </a:solidFill>
                            <a:latin typeface="Cambria Math" panose="02040503050406030204" pitchFamily="18" charset="0"/>
                          </a:rPr>
                          <m:t>𝒊</m:t>
                        </m:r>
                      </m:sub>
                    </m:sSub>
                    <m:r>
                      <a:rPr lang="en-US" b="1" i="1" dirty="0">
                        <a:solidFill>
                          <a:srgbClr val="AD1457"/>
                        </a:solidFill>
                        <a:latin typeface="Cambria Math" panose="02040503050406030204" pitchFamily="18" charset="0"/>
                      </a:rPr>
                      <m:t>&gt; </m:t>
                    </m:r>
                    <m:r>
                      <a:rPr lang="en-US" b="1" i="1" dirty="0">
                        <a:solidFill>
                          <a:srgbClr val="AD1457"/>
                        </a:solidFill>
                        <a:latin typeface="Cambria Math" panose="02040503050406030204" pitchFamily="18" charset="0"/>
                      </a:rPr>
                      <m:t>𝟎</m:t>
                    </m:r>
                    <m:r>
                      <a:rPr lang="en-US" b="1" i="1" dirty="0">
                        <a:solidFill>
                          <a:srgbClr val="AD1457"/>
                        </a:solidFill>
                        <a:latin typeface="Cambria Math" panose="02040503050406030204" pitchFamily="18" charset="0"/>
                      </a:rPr>
                      <m:t> </m:t>
                    </m:r>
                  </m:oMath>
                </a14:m>
                <a:r>
                  <a:rPr lang="en-US" dirty="0"/>
                  <a:t>if and only if it is executed </a:t>
                </a:r>
                <a:r>
                  <a:rPr lang="en-US" b="1" dirty="0"/>
                  <a:t>no later than </a:t>
                </a:r>
                <a:r>
                  <a:rPr lang="en-US" dirty="0"/>
                  <a:t>its deadline </a:t>
                </a:r>
                <a14:m>
                  <m:oMath xmlns:m="http://schemas.openxmlformats.org/officeDocument/2006/math">
                    <m:sSub>
                      <m:sSubPr>
                        <m:ctrlPr>
                          <a:rPr lang="en-US" b="1" i="1" dirty="0" smtClean="0">
                            <a:solidFill>
                              <a:srgbClr val="AD1457"/>
                            </a:solidFill>
                            <a:latin typeface="Cambria Math" panose="02040503050406030204" pitchFamily="18" charset="0"/>
                          </a:rPr>
                        </m:ctrlPr>
                      </m:sSubPr>
                      <m:e>
                        <m:r>
                          <a:rPr lang="en-US" b="1" i="1" dirty="0">
                            <a:solidFill>
                              <a:srgbClr val="AD1457"/>
                            </a:solidFill>
                            <a:latin typeface="Cambria Math" panose="02040503050406030204" pitchFamily="18" charset="0"/>
                          </a:rPr>
                          <m:t>𝒅</m:t>
                        </m:r>
                      </m:e>
                      <m:sub>
                        <m:r>
                          <a:rPr lang="en-US" b="1" i="1" dirty="0">
                            <a:solidFill>
                              <a:srgbClr val="AD1457"/>
                            </a:solidFill>
                            <a:latin typeface="Cambria Math" panose="02040503050406030204" pitchFamily="18" charset="0"/>
                          </a:rPr>
                          <m:t>𝒊</m:t>
                        </m:r>
                      </m:sub>
                    </m:sSub>
                    <m:r>
                      <a:rPr lang="en-US" i="1" dirty="0">
                        <a:solidFill>
                          <a:srgbClr val="AD1457"/>
                        </a:solidFill>
                        <a:latin typeface="Cambria Math" panose="02040503050406030204" pitchFamily="18" charset="0"/>
                      </a:rPr>
                      <m:t>.</m:t>
                    </m:r>
                  </m:oMath>
                </a14:m>
                <a:endParaRPr lang="en-US" dirty="0"/>
              </a:p>
              <a:p>
                <a:r>
                  <a:rPr lang="en-US" dirty="0"/>
                  <a:t>We have to find an optimal sequence of jobs such that our total </a:t>
                </a:r>
                <a:r>
                  <a:rPr lang="en-US" b="1" dirty="0"/>
                  <a:t>profit is maximized</a:t>
                </a:r>
                <a:r>
                  <a:rPr lang="en-US" dirty="0"/>
                  <a:t>.</a:t>
                </a:r>
              </a:p>
              <a:p>
                <a:r>
                  <a:rPr lang="en-US" dirty="0">
                    <a:solidFill>
                      <a:srgbClr val="AD1457"/>
                    </a:solidFill>
                  </a:rPr>
                  <a:t>Feasible jobs: A set of job is feasible if there exits </a:t>
                </a:r>
                <a:r>
                  <a:rPr lang="en-US" b="1" dirty="0">
                    <a:solidFill>
                      <a:srgbClr val="AD1457"/>
                    </a:solidFill>
                  </a:rPr>
                  <a:t>at least one sequence </a:t>
                </a:r>
                <a:r>
                  <a:rPr lang="en-US" dirty="0">
                    <a:solidFill>
                      <a:srgbClr val="AD1457"/>
                    </a:solidFill>
                  </a:rPr>
                  <a:t>that allows all the jobs in the set to be executed no later than their respective deadlines.</a:t>
                </a:r>
              </a:p>
              <a:p>
                <a:endParaRPr lang="en-US" dirty="0">
                  <a:solidFill>
                    <a:srgbClr val="AD1457"/>
                  </a:solidFill>
                </a:endParaRPr>
              </a:p>
              <a:p>
                <a:pPr marL="0" indent="0">
                  <a:buNone/>
                </a:pPr>
                <a:r>
                  <a:rPr lang="en-US" i="1" dirty="0">
                    <a:latin typeface="Cambria Math" panose="02040503050406030204" pitchFamily="18" charset="0"/>
                    <a:ea typeface="Cambria Math" panose="02040503050406030204" pitchFamily="18" charset="0"/>
                  </a:rPr>
                  <a:t>1: Arrange all jobs in decreasing order profits</a:t>
                </a:r>
              </a:p>
              <a:p>
                <a:pPr marL="0" indent="0">
                  <a:buNone/>
                </a:pPr>
                <a:r>
                  <a:rPr lang="en-US" i="1" dirty="0">
                    <a:latin typeface="Cambria Math" panose="02040503050406030204" pitchFamily="18" charset="0"/>
                    <a:ea typeface="Cambria Math" panose="02040503050406030204" pitchFamily="18" charset="0"/>
                  </a:rPr>
                  <a:t>2: For each job m</a:t>
                </a:r>
                <a:r>
                  <a:rPr lang="en-US" i="1" baseline="-25000" dirty="0">
                    <a:latin typeface="Cambria Math" panose="02040503050406030204" pitchFamily="18" charset="0"/>
                    <a:ea typeface="Cambria Math" panose="02040503050406030204" pitchFamily="18" charset="0"/>
                  </a:rPr>
                  <a:t>i</a:t>
                </a:r>
                <a:r>
                  <a:rPr lang="en-US" i="1" dirty="0">
                    <a:latin typeface="Cambria Math" panose="02040503050406030204" pitchFamily="18" charset="0"/>
                    <a:ea typeface="Cambria Math" panose="02040503050406030204" pitchFamily="18" charset="0"/>
                  </a:rPr>
                  <a:t> , perform linear search to find particular slot in array of size (n), where n=maximum deadline, m=total jobs </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17" t="-1382" r="-817"/>
                </a:stretch>
              </a:blipFill>
            </p:spPr>
            <p:txBody>
              <a:bodyPr/>
              <a:lstStyle/>
              <a:p>
                <a:r>
                  <a:rPr lang="en-IN">
                    <a:noFill/>
                  </a:rPr>
                  <a:t> </a:t>
                </a:r>
              </a:p>
            </p:txBody>
          </p:sp>
        </mc:Fallback>
      </mc:AlternateContent>
    </p:spTree>
    <p:extLst>
      <p:ext uri="{BB962C8B-B14F-4D97-AF65-F5344CB8AC3E}">
        <p14:creationId xmlns:p14="http://schemas.microsoft.com/office/powerpoint/2010/main" val="567993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B7E8A-F0C3-40EF-9F84-306A0BD8A8AC}"/>
              </a:ext>
            </a:extLst>
          </p:cNvPr>
          <p:cNvSpPr>
            <a:spLocks noGrp="1"/>
          </p:cNvSpPr>
          <p:nvPr>
            <p:ph type="title"/>
          </p:nvPr>
        </p:nvSpPr>
        <p:spPr/>
        <p:txBody>
          <a:bodyPr/>
          <a:lstStyle/>
          <a:p>
            <a:r>
              <a:rPr lang="en-IN" dirty="0"/>
              <a:t>Brute-force approach</a:t>
            </a:r>
          </a:p>
        </p:txBody>
      </p:sp>
      <p:sp>
        <p:nvSpPr>
          <p:cNvPr id="3" name="Content Placeholder 2">
            <a:extLst>
              <a:ext uri="{FF2B5EF4-FFF2-40B4-BE49-F238E27FC236}">
                <a16:creationId xmlns:a16="http://schemas.microsoft.com/office/drawing/2014/main" id="{C2AF5762-85A4-4CBB-A4BB-9CB5814DDC8E}"/>
              </a:ext>
            </a:extLst>
          </p:cNvPr>
          <p:cNvSpPr>
            <a:spLocks noGrp="1"/>
          </p:cNvSpPr>
          <p:nvPr>
            <p:ph idx="1"/>
          </p:nvPr>
        </p:nvSpPr>
        <p:spPr/>
        <p:txBody>
          <a:bodyPr/>
          <a:lstStyle/>
          <a:p>
            <a:r>
              <a:rPr lang="en-US" dirty="0"/>
              <a:t>The simple and brute-force solution for this problem is to generate all the sequences of the given set of jobs and find the most optimal sequence that maximizes the profit.</a:t>
            </a:r>
          </a:p>
          <a:p>
            <a:endParaRPr lang="en-US" dirty="0"/>
          </a:p>
          <a:p>
            <a:r>
              <a:rPr lang="en-US" dirty="0"/>
              <a:t>Suppose, if there are n number of jobs, then to find all the sequences of jobs we need to calculate all the possible subsets and a total of 2</a:t>
            </a:r>
            <a:r>
              <a:rPr lang="en-US" baseline="30000" dirty="0"/>
              <a:t>n </a:t>
            </a:r>
            <a:r>
              <a:rPr lang="en-US" dirty="0"/>
              <a:t>subsets will be created. Thus, the time complexity of this solution would be </a:t>
            </a:r>
            <a:r>
              <a:rPr lang="en-US" dirty="0">
                <a:solidFill>
                  <a:srgbClr val="C00000"/>
                </a:solidFill>
              </a:rPr>
              <a:t>O(2</a:t>
            </a:r>
            <a:r>
              <a:rPr lang="en-US" baseline="30000" dirty="0">
                <a:solidFill>
                  <a:srgbClr val="C00000"/>
                </a:solidFill>
              </a:rPr>
              <a:t>n</a:t>
            </a:r>
            <a:r>
              <a:rPr lang="en-US" dirty="0">
                <a:solidFill>
                  <a:srgbClr val="C00000"/>
                </a:solidFill>
              </a:rPr>
              <a:t>).</a:t>
            </a:r>
          </a:p>
          <a:p>
            <a:endParaRPr lang="en-US" dirty="0"/>
          </a:p>
          <a:p>
            <a:r>
              <a:rPr lang="en-US" dirty="0"/>
              <a:t>To optimize this algorithm, we can make use of a </a:t>
            </a:r>
            <a:r>
              <a:rPr lang="en-US" dirty="0">
                <a:solidFill>
                  <a:srgbClr val="C00000"/>
                </a:solidFill>
              </a:rPr>
              <a:t>greedy approach </a:t>
            </a:r>
            <a:r>
              <a:rPr lang="en-US" dirty="0"/>
              <a:t>that produces an optimal result, which works by selecting the best and the most profitable option available at the moment.</a:t>
            </a:r>
            <a:endParaRPr lang="en-IN" dirty="0"/>
          </a:p>
        </p:txBody>
      </p:sp>
    </p:spTree>
    <p:extLst>
      <p:ext uri="{BB962C8B-B14F-4D97-AF65-F5344CB8AC3E}">
        <p14:creationId xmlns:p14="http://schemas.microsoft.com/office/powerpoint/2010/main" val="410702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6D5C5-8866-453D-890A-71C75B2CD950}"/>
              </a:ext>
            </a:extLst>
          </p:cNvPr>
          <p:cNvSpPr>
            <a:spLocks noGrp="1"/>
          </p:cNvSpPr>
          <p:nvPr>
            <p:ph type="title"/>
          </p:nvPr>
        </p:nvSpPr>
        <p:spPr/>
        <p:txBody>
          <a:bodyPr/>
          <a:lstStyle/>
          <a:p>
            <a:r>
              <a:rPr lang="en-IN" dirty="0"/>
              <a:t>Greedy algorithm</a:t>
            </a:r>
          </a:p>
        </p:txBody>
      </p:sp>
      <p:sp>
        <p:nvSpPr>
          <p:cNvPr id="3" name="Content Placeholder 2">
            <a:extLst>
              <a:ext uri="{FF2B5EF4-FFF2-40B4-BE49-F238E27FC236}">
                <a16:creationId xmlns:a16="http://schemas.microsoft.com/office/drawing/2014/main" id="{34A0D8C2-CE16-4E77-92A9-50293E5B82E9}"/>
              </a:ext>
            </a:extLst>
          </p:cNvPr>
          <p:cNvSpPr>
            <a:spLocks noGrp="1"/>
          </p:cNvSpPr>
          <p:nvPr>
            <p:ph idx="1"/>
          </p:nvPr>
        </p:nvSpPr>
        <p:spPr/>
        <p:txBody>
          <a:bodyPr/>
          <a:lstStyle/>
          <a:p>
            <a:r>
              <a:rPr lang="en-US" dirty="0">
                <a:solidFill>
                  <a:srgbClr val="C00000"/>
                </a:solidFill>
              </a:rPr>
              <a:t>Sort the jobs </a:t>
            </a:r>
            <a:r>
              <a:rPr lang="en-US" dirty="0"/>
              <a:t>in decreasing order of their profit.</a:t>
            </a:r>
          </a:p>
          <a:p>
            <a:r>
              <a:rPr lang="en-US" dirty="0">
                <a:solidFill>
                  <a:srgbClr val="C00000"/>
                </a:solidFill>
              </a:rPr>
              <a:t>Find the highest deadline </a:t>
            </a:r>
            <a:r>
              <a:rPr lang="en-US" dirty="0"/>
              <a:t>among all deadlines and draw a Gantt chart up to that deadline.</a:t>
            </a:r>
          </a:p>
          <a:p>
            <a:r>
              <a:rPr lang="en-US" dirty="0"/>
              <a:t>Now, we need to assign time slots to individual job ids.</a:t>
            </a:r>
          </a:p>
          <a:p>
            <a:r>
              <a:rPr lang="en-US" dirty="0"/>
              <a:t>Now pick each job one by one and check if the maximum possible time slot for the job, i.e., its deadline, is assigned to another job or not. If it is not filled yet, assign the slot to the current job id.</a:t>
            </a:r>
          </a:p>
          <a:p>
            <a:r>
              <a:rPr lang="en-US" dirty="0"/>
              <a:t>Otherwise, search for any empty time slot less than the deadline of the current job. If such a slot is found, assign it to the current job id and move to the next job id.</a:t>
            </a:r>
          </a:p>
          <a:p>
            <a:r>
              <a:rPr lang="en-US" dirty="0"/>
              <a:t>Continue this process until all the feasible jobs are allocated to their time slot.</a:t>
            </a:r>
          </a:p>
          <a:p>
            <a:r>
              <a:rPr lang="en-US" dirty="0"/>
              <a:t>In the end, we can calculate the profit for all the allocated feasible jobs.</a:t>
            </a:r>
            <a:endParaRPr lang="en-IN" dirty="0"/>
          </a:p>
        </p:txBody>
      </p:sp>
    </p:spTree>
    <p:extLst>
      <p:ext uri="{BB962C8B-B14F-4D97-AF65-F5344CB8AC3E}">
        <p14:creationId xmlns:p14="http://schemas.microsoft.com/office/powerpoint/2010/main" val="2276256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Job Scheduling with Deadlines - Example</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Using greedy algorithm find an optimal schedule for following jobs with </a:t>
                </a:r>
                <a14:m>
                  <m:oMath xmlns:m="http://schemas.openxmlformats.org/officeDocument/2006/math">
                    <m:r>
                      <a:rPr lang="en-US" b="1" i="1" dirty="0">
                        <a:latin typeface="Cambria Math" panose="02040503050406030204" pitchFamily="18" charset="0"/>
                      </a:rPr>
                      <m:t>𝒏</m:t>
                    </m:r>
                    <m:r>
                      <a:rPr lang="en-US" b="1" i="1" dirty="0">
                        <a:latin typeface="Cambria Math" panose="02040503050406030204" pitchFamily="18" charset="0"/>
                      </a:rPr>
                      <m:t>=</m:t>
                    </m:r>
                    <m:r>
                      <a:rPr lang="en-US" b="1" i="1" dirty="0">
                        <a:latin typeface="Cambria Math" panose="02040503050406030204" pitchFamily="18" charset="0"/>
                      </a:rPr>
                      <m:t>𝟔</m:t>
                    </m:r>
                  </m:oMath>
                </a14:m>
                <a:r>
                  <a:rPr lang="en-US" dirty="0"/>
                  <a:t>. </a:t>
                </a:r>
              </a:p>
              <a:p>
                <a:r>
                  <a:rPr lang="en-US" dirty="0">
                    <a:solidFill>
                      <a:srgbClr val="C00000"/>
                    </a:solidFill>
                  </a:rPr>
                  <a:t>Profits: </a:t>
                </a:r>
                <a14:m>
                  <m:oMath xmlns:m="http://schemas.openxmlformats.org/officeDocument/2006/math">
                    <m:r>
                      <a:rPr lang="en-US" i="1" dirty="0">
                        <a:solidFill>
                          <a:srgbClr val="C00000"/>
                        </a:solidFill>
                        <a:latin typeface="Cambria Math" panose="02040503050406030204" pitchFamily="18" charset="0"/>
                      </a:rPr>
                      <m:t>(</m:t>
                    </m:r>
                    <m:sSub>
                      <m:sSubPr>
                        <m:ctrlPr>
                          <a:rPr lang="en-US" i="1" dirty="0">
                            <a:solidFill>
                              <a:srgbClr val="C00000"/>
                            </a:solidFill>
                            <a:latin typeface="Cambria Math" panose="02040503050406030204" pitchFamily="18" charset="0"/>
                          </a:rPr>
                        </m:ctrlPr>
                      </m:sSubPr>
                      <m:e>
                        <m:r>
                          <a:rPr lang="en-US" i="1" dirty="0">
                            <a:solidFill>
                              <a:srgbClr val="C00000"/>
                            </a:solidFill>
                            <a:latin typeface="Cambria Math" panose="02040503050406030204" pitchFamily="18" charset="0"/>
                          </a:rPr>
                          <m:t>𝑃</m:t>
                        </m:r>
                      </m:e>
                      <m:sub>
                        <m:r>
                          <a:rPr lang="en-US" i="1" dirty="0">
                            <a:solidFill>
                              <a:srgbClr val="C00000"/>
                            </a:solidFill>
                            <a:latin typeface="Cambria Math" panose="02040503050406030204" pitchFamily="18" charset="0"/>
                          </a:rPr>
                          <m:t>1</m:t>
                        </m:r>
                      </m:sub>
                    </m:sSub>
                    <m:r>
                      <a:rPr lang="en-US" i="1" dirty="0">
                        <a:solidFill>
                          <a:srgbClr val="C00000"/>
                        </a:solidFill>
                        <a:latin typeface="Cambria Math" panose="02040503050406030204" pitchFamily="18" charset="0"/>
                      </a:rPr>
                      <m:t>,</m:t>
                    </m:r>
                    <m:sSub>
                      <m:sSubPr>
                        <m:ctrlPr>
                          <a:rPr lang="en-US" i="1" dirty="0">
                            <a:solidFill>
                              <a:srgbClr val="C00000"/>
                            </a:solidFill>
                            <a:latin typeface="Cambria Math" panose="02040503050406030204" pitchFamily="18" charset="0"/>
                          </a:rPr>
                        </m:ctrlPr>
                      </m:sSubPr>
                      <m:e>
                        <m:r>
                          <a:rPr lang="en-US" i="1" dirty="0">
                            <a:solidFill>
                              <a:srgbClr val="C00000"/>
                            </a:solidFill>
                            <a:latin typeface="Cambria Math" panose="02040503050406030204" pitchFamily="18" charset="0"/>
                          </a:rPr>
                          <m:t>𝑃</m:t>
                        </m:r>
                      </m:e>
                      <m:sub>
                        <m:r>
                          <a:rPr lang="en-US" i="1" dirty="0">
                            <a:solidFill>
                              <a:srgbClr val="C00000"/>
                            </a:solidFill>
                            <a:latin typeface="Cambria Math" panose="02040503050406030204" pitchFamily="18" charset="0"/>
                          </a:rPr>
                          <m:t>2</m:t>
                        </m:r>
                      </m:sub>
                    </m:sSub>
                    <m:r>
                      <a:rPr lang="en-US" i="1" dirty="0">
                        <a:solidFill>
                          <a:srgbClr val="C00000"/>
                        </a:solidFill>
                        <a:latin typeface="Cambria Math" panose="02040503050406030204" pitchFamily="18" charset="0"/>
                      </a:rPr>
                      <m:t>,</m:t>
                    </m:r>
                    <m:sSub>
                      <m:sSubPr>
                        <m:ctrlPr>
                          <a:rPr lang="en-US" i="1" dirty="0">
                            <a:solidFill>
                              <a:srgbClr val="C00000"/>
                            </a:solidFill>
                            <a:latin typeface="Cambria Math" panose="02040503050406030204" pitchFamily="18" charset="0"/>
                          </a:rPr>
                        </m:ctrlPr>
                      </m:sSubPr>
                      <m:e>
                        <m:r>
                          <a:rPr lang="en-US" i="1" dirty="0">
                            <a:solidFill>
                              <a:srgbClr val="C00000"/>
                            </a:solidFill>
                            <a:latin typeface="Cambria Math" panose="02040503050406030204" pitchFamily="18" charset="0"/>
                          </a:rPr>
                          <m:t>𝑃</m:t>
                        </m:r>
                      </m:e>
                      <m:sub>
                        <m:r>
                          <a:rPr lang="en-US" i="1" dirty="0">
                            <a:solidFill>
                              <a:srgbClr val="C00000"/>
                            </a:solidFill>
                            <a:latin typeface="Cambria Math" panose="02040503050406030204" pitchFamily="18" charset="0"/>
                          </a:rPr>
                          <m:t>3</m:t>
                        </m:r>
                      </m:sub>
                    </m:sSub>
                    <m:r>
                      <a:rPr lang="en-US" i="1" dirty="0">
                        <a:solidFill>
                          <a:srgbClr val="C00000"/>
                        </a:solidFill>
                        <a:latin typeface="Cambria Math" panose="02040503050406030204" pitchFamily="18" charset="0"/>
                      </a:rPr>
                      <m:t>,</m:t>
                    </m:r>
                    <m:sSub>
                      <m:sSubPr>
                        <m:ctrlPr>
                          <a:rPr lang="en-US" i="1" dirty="0">
                            <a:solidFill>
                              <a:srgbClr val="C00000"/>
                            </a:solidFill>
                            <a:latin typeface="Cambria Math" panose="02040503050406030204" pitchFamily="18" charset="0"/>
                          </a:rPr>
                        </m:ctrlPr>
                      </m:sSubPr>
                      <m:e>
                        <m:r>
                          <a:rPr lang="en-US" i="1" dirty="0">
                            <a:solidFill>
                              <a:srgbClr val="C00000"/>
                            </a:solidFill>
                            <a:latin typeface="Cambria Math" panose="02040503050406030204" pitchFamily="18" charset="0"/>
                          </a:rPr>
                          <m:t>𝑃</m:t>
                        </m:r>
                      </m:e>
                      <m:sub>
                        <m:r>
                          <a:rPr lang="en-US" i="1" dirty="0">
                            <a:solidFill>
                              <a:srgbClr val="C00000"/>
                            </a:solidFill>
                            <a:latin typeface="Cambria Math" panose="02040503050406030204" pitchFamily="18" charset="0"/>
                          </a:rPr>
                          <m:t>4</m:t>
                        </m:r>
                      </m:sub>
                    </m:sSub>
                    <m:r>
                      <a:rPr lang="en-US" i="1" dirty="0">
                        <a:solidFill>
                          <a:srgbClr val="C00000"/>
                        </a:solidFill>
                        <a:latin typeface="Cambria Math" panose="02040503050406030204" pitchFamily="18" charset="0"/>
                      </a:rPr>
                      <m:t>,</m:t>
                    </m:r>
                    <m:sSub>
                      <m:sSubPr>
                        <m:ctrlPr>
                          <a:rPr lang="en-US" i="1" dirty="0">
                            <a:solidFill>
                              <a:srgbClr val="C00000"/>
                            </a:solidFill>
                            <a:latin typeface="Cambria Math" panose="02040503050406030204" pitchFamily="18" charset="0"/>
                          </a:rPr>
                        </m:ctrlPr>
                      </m:sSubPr>
                      <m:e>
                        <m:r>
                          <a:rPr lang="en-US" i="1" dirty="0">
                            <a:solidFill>
                              <a:srgbClr val="C00000"/>
                            </a:solidFill>
                            <a:latin typeface="Cambria Math" panose="02040503050406030204" pitchFamily="18" charset="0"/>
                          </a:rPr>
                          <m:t>𝑃</m:t>
                        </m:r>
                      </m:e>
                      <m:sub>
                        <m:r>
                          <a:rPr lang="en-US" i="1" dirty="0">
                            <a:solidFill>
                              <a:srgbClr val="C00000"/>
                            </a:solidFill>
                            <a:latin typeface="Cambria Math" panose="02040503050406030204" pitchFamily="18" charset="0"/>
                          </a:rPr>
                          <m:t>5</m:t>
                        </m:r>
                      </m:sub>
                    </m:sSub>
                    <m:r>
                      <a:rPr lang="en-US" i="1" dirty="0">
                        <a:solidFill>
                          <a:srgbClr val="C00000"/>
                        </a:solidFill>
                        <a:latin typeface="Cambria Math" panose="02040503050406030204" pitchFamily="18" charset="0"/>
                      </a:rPr>
                      <m:t>,</m:t>
                    </m:r>
                    <m:sSub>
                      <m:sSubPr>
                        <m:ctrlPr>
                          <a:rPr lang="en-US" i="1" dirty="0">
                            <a:solidFill>
                              <a:srgbClr val="C00000"/>
                            </a:solidFill>
                            <a:latin typeface="Cambria Math" panose="02040503050406030204" pitchFamily="18" charset="0"/>
                          </a:rPr>
                        </m:ctrlPr>
                      </m:sSubPr>
                      <m:e>
                        <m:r>
                          <a:rPr lang="en-US" i="1" dirty="0">
                            <a:solidFill>
                              <a:srgbClr val="C00000"/>
                            </a:solidFill>
                            <a:latin typeface="Cambria Math" panose="02040503050406030204" pitchFamily="18" charset="0"/>
                          </a:rPr>
                          <m:t>𝑃</m:t>
                        </m:r>
                      </m:e>
                      <m:sub>
                        <m:r>
                          <a:rPr lang="en-US" i="1" dirty="0">
                            <a:solidFill>
                              <a:srgbClr val="C00000"/>
                            </a:solidFill>
                            <a:latin typeface="Cambria Math" panose="02040503050406030204" pitchFamily="18" charset="0"/>
                          </a:rPr>
                          <m:t>6</m:t>
                        </m:r>
                      </m:sub>
                    </m:sSub>
                    <m:r>
                      <a:rPr lang="en-US" i="1" dirty="0">
                        <a:solidFill>
                          <a:srgbClr val="C00000"/>
                        </a:solidFill>
                        <a:latin typeface="Cambria Math" panose="02040503050406030204" pitchFamily="18" charset="0"/>
                      </a:rPr>
                      <m:t>) = (15,20,10,7,5,3)  </m:t>
                    </m:r>
                  </m:oMath>
                </a14:m>
                <a:r>
                  <a:rPr lang="en-US" dirty="0">
                    <a:solidFill>
                      <a:srgbClr val="C00000"/>
                    </a:solidFill>
                  </a:rPr>
                  <a:t>&amp;</a:t>
                </a:r>
              </a:p>
              <a:p>
                <a:r>
                  <a:rPr lang="en-US" dirty="0">
                    <a:solidFill>
                      <a:srgbClr val="C00000"/>
                    </a:solidFill>
                  </a:rPr>
                  <a:t>Deadline: </a:t>
                </a:r>
                <a14:m>
                  <m:oMath xmlns:m="http://schemas.openxmlformats.org/officeDocument/2006/math">
                    <m:r>
                      <a:rPr lang="en-US" i="1" dirty="0">
                        <a:solidFill>
                          <a:srgbClr val="C00000"/>
                        </a:solidFill>
                        <a:latin typeface="Cambria Math" panose="02040503050406030204" pitchFamily="18" charset="0"/>
                      </a:rPr>
                      <m:t>(</m:t>
                    </m:r>
                    <m:sSub>
                      <m:sSubPr>
                        <m:ctrlPr>
                          <a:rPr lang="en-US" i="1" dirty="0">
                            <a:solidFill>
                              <a:srgbClr val="C00000"/>
                            </a:solidFill>
                            <a:latin typeface="Cambria Math" panose="02040503050406030204" pitchFamily="18" charset="0"/>
                          </a:rPr>
                        </m:ctrlPr>
                      </m:sSubPr>
                      <m:e>
                        <m:r>
                          <a:rPr lang="en-US" i="1" dirty="0">
                            <a:solidFill>
                              <a:srgbClr val="C00000"/>
                            </a:solidFill>
                            <a:latin typeface="Cambria Math" panose="02040503050406030204" pitchFamily="18" charset="0"/>
                          </a:rPr>
                          <m:t>𝑑</m:t>
                        </m:r>
                      </m:e>
                      <m:sub>
                        <m:r>
                          <a:rPr lang="en-US" i="1" dirty="0">
                            <a:solidFill>
                              <a:srgbClr val="C00000"/>
                            </a:solidFill>
                            <a:latin typeface="Cambria Math" panose="02040503050406030204" pitchFamily="18" charset="0"/>
                          </a:rPr>
                          <m:t>1</m:t>
                        </m:r>
                      </m:sub>
                    </m:sSub>
                    <m:r>
                      <a:rPr lang="en-US" i="1" dirty="0">
                        <a:solidFill>
                          <a:srgbClr val="C00000"/>
                        </a:solidFill>
                        <a:latin typeface="Cambria Math" panose="02040503050406030204" pitchFamily="18" charset="0"/>
                      </a:rPr>
                      <m:t>,</m:t>
                    </m:r>
                    <m:sSub>
                      <m:sSubPr>
                        <m:ctrlPr>
                          <a:rPr lang="en-US" i="1" dirty="0">
                            <a:solidFill>
                              <a:srgbClr val="C00000"/>
                            </a:solidFill>
                            <a:latin typeface="Cambria Math" panose="02040503050406030204" pitchFamily="18" charset="0"/>
                          </a:rPr>
                        </m:ctrlPr>
                      </m:sSubPr>
                      <m:e>
                        <m:r>
                          <a:rPr lang="en-US" i="1" dirty="0">
                            <a:solidFill>
                              <a:srgbClr val="C00000"/>
                            </a:solidFill>
                            <a:latin typeface="Cambria Math" panose="02040503050406030204" pitchFamily="18" charset="0"/>
                          </a:rPr>
                          <m:t>𝑑</m:t>
                        </m:r>
                      </m:e>
                      <m:sub>
                        <m:r>
                          <a:rPr lang="en-US" i="1" dirty="0">
                            <a:solidFill>
                              <a:srgbClr val="C00000"/>
                            </a:solidFill>
                            <a:latin typeface="Cambria Math" panose="02040503050406030204" pitchFamily="18" charset="0"/>
                          </a:rPr>
                          <m:t>2</m:t>
                        </m:r>
                      </m:sub>
                    </m:sSub>
                    <m:r>
                      <a:rPr lang="en-US" i="1" dirty="0">
                        <a:solidFill>
                          <a:srgbClr val="C00000"/>
                        </a:solidFill>
                        <a:latin typeface="Cambria Math" panose="02040503050406030204" pitchFamily="18" charset="0"/>
                      </a:rPr>
                      <m:t>,</m:t>
                    </m:r>
                    <m:sSub>
                      <m:sSubPr>
                        <m:ctrlPr>
                          <a:rPr lang="en-US" i="1" dirty="0">
                            <a:solidFill>
                              <a:srgbClr val="C00000"/>
                            </a:solidFill>
                            <a:latin typeface="Cambria Math" panose="02040503050406030204" pitchFamily="18" charset="0"/>
                          </a:rPr>
                        </m:ctrlPr>
                      </m:sSubPr>
                      <m:e>
                        <m:r>
                          <a:rPr lang="en-US" i="1" dirty="0">
                            <a:solidFill>
                              <a:srgbClr val="C00000"/>
                            </a:solidFill>
                            <a:latin typeface="Cambria Math" panose="02040503050406030204" pitchFamily="18" charset="0"/>
                          </a:rPr>
                          <m:t>𝑑</m:t>
                        </m:r>
                      </m:e>
                      <m:sub>
                        <m:r>
                          <a:rPr lang="en-US" i="1" dirty="0">
                            <a:solidFill>
                              <a:srgbClr val="C00000"/>
                            </a:solidFill>
                            <a:latin typeface="Cambria Math" panose="02040503050406030204" pitchFamily="18" charset="0"/>
                          </a:rPr>
                          <m:t>3</m:t>
                        </m:r>
                      </m:sub>
                    </m:sSub>
                    <m:r>
                      <a:rPr lang="en-US" i="1" dirty="0">
                        <a:solidFill>
                          <a:srgbClr val="C00000"/>
                        </a:solidFill>
                        <a:latin typeface="Cambria Math" panose="02040503050406030204" pitchFamily="18" charset="0"/>
                      </a:rPr>
                      <m:t>,</m:t>
                    </m:r>
                    <m:sSub>
                      <m:sSubPr>
                        <m:ctrlPr>
                          <a:rPr lang="en-US" i="1" dirty="0">
                            <a:solidFill>
                              <a:srgbClr val="C00000"/>
                            </a:solidFill>
                            <a:latin typeface="Cambria Math" panose="02040503050406030204" pitchFamily="18" charset="0"/>
                          </a:rPr>
                        </m:ctrlPr>
                      </m:sSubPr>
                      <m:e>
                        <m:r>
                          <a:rPr lang="en-US" i="1" dirty="0">
                            <a:solidFill>
                              <a:srgbClr val="C00000"/>
                            </a:solidFill>
                            <a:latin typeface="Cambria Math" panose="02040503050406030204" pitchFamily="18" charset="0"/>
                          </a:rPr>
                          <m:t>𝑑</m:t>
                        </m:r>
                      </m:e>
                      <m:sub>
                        <m:r>
                          <a:rPr lang="en-US" i="1" dirty="0">
                            <a:solidFill>
                              <a:srgbClr val="C00000"/>
                            </a:solidFill>
                            <a:latin typeface="Cambria Math" panose="02040503050406030204" pitchFamily="18" charset="0"/>
                          </a:rPr>
                          <m:t>4</m:t>
                        </m:r>
                      </m:sub>
                    </m:sSub>
                    <m:r>
                      <a:rPr lang="en-US" i="1" dirty="0">
                        <a:solidFill>
                          <a:srgbClr val="C00000"/>
                        </a:solidFill>
                        <a:latin typeface="Cambria Math" panose="02040503050406030204" pitchFamily="18" charset="0"/>
                      </a:rPr>
                      <m:t>,</m:t>
                    </m:r>
                    <m:sSub>
                      <m:sSubPr>
                        <m:ctrlPr>
                          <a:rPr lang="en-US" i="1" dirty="0">
                            <a:solidFill>
                              <a:srgbClr val="C00000"/>
                            </a:solidFill>
                            <a:latin typeface="Cambria Math" panose="02040503050406030204" pitchFamily="18" charset="0"/>
                          </a:rPr>
                        </m:ctrlPr>
                      </m:sSubPr>
                      <m:e>
                        <m:r>
                          <a:rPr lang="en-US" i="1" dirty="0">
                            <a:solidFill>
                              <a:srgbClr val="C00000"/>
                            </a:solidFill>
                            <a:latin typeface="Cambria Math" panose="02040503050406030204" pitchFamily="18" charset="0"/>
                          </a:rPr>
                          <m:t>𝑑</m:t>
                        </m:r>
                      </m:e>
                      <m:sub>
                        <m:r>
                          <a:rPr lang="en-US" i="1" dirty="0">
                            <a:solidFill>
                              <a:srgbClr val="C00000"/>
                            </a:solidFill>
                            <a:latin typeface="Cambria Math" panose="02040503050406030204" pitchFamily="18" charset="0"/>
                          </a:rPr>
                          <m:t>5</m:t>
                        </m:r>
                      </m:sub>
                    </m:sSub>
                    <m:r>
                      <a:rPr lang="en-US" i="1" dirty="0">
                        <a:solidFill>
                          <a:srgbClr val="C00000"/>
                        </a:solidFill>
                        <a:latin typeface="Cambria Math" panose="02040503050406030204" pitchFamily="18" charset="0"/>
                      </a:rPr>
                      <m:t>,</m:t>
                    </m:r>
                    <m:sSub>
                      <m:sSubPr>
                        <m:ctrlPr>
                          <a:rPr lang="en-US" i="1" dirty="0">
                            <a:solidFill>
                              <a:srgbClr val="C00000"/>
                            </a:solidFill>
                            <a:latin typeface="Cambria Math" panose="02040503050406030204" pitchFamily="18" charset="0"/>
                          </a:rPr>
                        </m:ctrlPr>
                      </m:sSubPr>
                      <m:e>
                        <m:r>
                          <a:rPr lang="en-US" i="1" dirty="0">
                            <a:solidFill>
                              <a:srgbClr val="C00000"/>
                            </a:solidFill>
                            <a:latin typeface="Cambria Math" panose="02040503050406030204" pitchFamily="18" charset="0"/>
                          </a:rPr>
                          <m:t>𝑑</m:t>
                        </m:r>
                      </m:e>
                      <m:sub>
                        <m:r>
                          <a:rPr lang="en-US" i="1" dirty="0">
                            <a:solidFill>
                              <a:srgbClr val="C00000"/>
                            </a:solidFill>
                            <a:latin typeface="Cambria Math" panose="02040503050406030204" pitchFamily="18" charset="0"/>
                          </a:rPr>
                          <m:t>6</m:t>
                        </m:r>
                      </m:sub>
                    </m:sSub>
                    <m:r>
                      <a:rPr lang="en-US" i="1" dirty="0">
                        <a:solidFill>
                          <a:srgbClr val="C00000"/>
                        </a:solidFill>
                        <a:latin typeface="Cambria Math" panose="02040503050406030204" pitchFamily="18" charset="0"/>
                      </a:rPr>
                      <m:t>) = (1, 3, 1, 3, 1, 3)</m:t>
                    </m:r>
                  </m:oMath>
                </a14:m>
                <a:endParaRPr lang="en-US" dirty="0">
                  <a:solidFill>
                    <a:srgbClr val="C00000"/>
                  </a:solidFill>
                </a:endParaRPr>
              </a:p>
              <a:p>
                <a:pPr marL="0" indent="0">
                  <a:buNone/>
                </a:pPr>
                <a:r>
                  <a:rPr lang="en-US" dirty="0">
                    <a:solidFill>
                      <a:srgbClr val="0066FF"/>
                    </a:solidFill>
                  </a:rPr>
                  <a:t>Solution:</a:t>
                </a:r>
              </a:p>
              <a:p>
                <a:pPr marL="400050" lvl="1" indent="0">
                  <a:buNone/>
                </a:pPr>
                <a:r>
                  <a:rPr lang="en-US" sz="2400" dirty="0"/>
                  <a:t>		Sort the jobs in </a:t>
                </a:r>
                <a:r>
                  <a:rPr lang="en-US" sz="2400" b="1" dirty="0">
                    <a:solidFill>
                      <a:srgbClr val="AD1457"/>
                    </a:solidFill>
                  </a:rPr>
                  <a:t>decreasing order </a:t>
                </a:r>
                <a:r>
                  <a:rPr lang="en-US" sz="2400" dirty="0"/>
                  <a:t>of their profit.</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818" t="-14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105868730"/>
                  </p:ext>
                </p:extLst>
              </p:nvPr>
            </p:nvGraphicFramePr>
            <p:xfrm>
              <a:off x="2006238" y="3455521"/>
              <a:ext cx="6141721" cy="1279779"/>
            </p:xfrm>
            <a:graphic>
              <a:graphicData uri="http://schemas.openxmlformats.org/drawingml/2006/table">
                <a:tbl>
                  <a:tblPr firstRow="1" firstCol="1" bandRow="1">
                    <a:tableStyleId>{21E4AEA4-8DFA-4A89-87EB-49C32662AFE0}</a:tableStyleId>
                  </a:tblPr>
                  <a:tblGrid>
                    <a:gridCol w="1752601">
                      <a:extLst>
                        <a:ext uri="{9D8B030D-6E8A-4147-A177-3AD203B41FA5}">
                          <a16:colId xmlns:a16="http://schemas.microsoft.com/office/drawing/2014/main" val="1922602082"/>
                        </a:ext>
                      </a:extLst>
                    </a:gridCol>
                    <a:gridCol w="731520">
                      <a:extLst>
                        <a:ext uri="{9D8B030D-6E8A-4147-A177-3AD203B41FA5}">
                          <a16:colId xmlns:a16="http://schemas.microsoft.com/office/drawing/2014/main" val="717586990"/>
                        </a:ext>
                      </a:extLst>
                    </a:gridCol>
                    <a:gridCol w="731520">
                      <a:extLst>
                        <a:ext uri="{9D8B030D-6E8A-4147-A177-3AD203B41FA5}">
                          <a16:colId xmlns:a16="http://schemas.microsoft.com/office/drawing/2014/main" val="3968607451"/>
                        </a:ext>
                      </a:extLst>
                    </a:gridCol>
                    <a:gridCol w="731520">
                      <a:extLst>
                        <a:ext uri="{9D8B030D-6E8A-4147-A177-3AD203B41FA5}">
                          <a16:colId xmlns:a16="http://schemas.microsoft.com/office/drawing/2014/main" val="2999164042"/>
                        </a:ext>
                      </a:extLst>
                    </a:gridCol>
                    <a:gridCol w="731520">
                      <a:extLst>
                        <a:ext uri="{9D8B030D-6E8A-4147-A177-3AD203B41FA5}">
                          <a16:colId xmlns:a16="http://schemas.microsoft.com/office/drawing/2014/main" val="2383096932"/>
                        </a:ext>
                      </a:extLst>
                    </a:gridCol>
                    <a:gridCol w="731520">
                      <a:extLst>
                        <a:ext uri="{9D8B030D-6E8A-4147-A177-3AD203B41FA5}">
                          <a16:colId xmlns:a16="http://schemas.microsoft.com/office/drawing/2014/main" val="3734613195"/>
                        </a:ext>
                      </a:extLst>
                    </a:gridCol>
                    <a:gridCol w="731520">
                      <a:extLst>
                        <a:ext uri="{9D8B030D-6E8A-4147-A177-3AD203B41FA5}">
                          <a16:colId xmlns:a16="http://schemas.microsoft.com/office/drawing/2014/main" val="1054917901"/>
                        </a:ext>
                      </a:extLst>
                    </a:gridCol>
                  </a:tblGrid>
                  <a:tr h="426593">
                    <a:tc>
                      <a:txBody>
                        <a:bodyPr/>
                        <a:lstStyle/>
                        <a:p>
                          <a:pPr marL="0" marR="0" algn="just">
                            <a:lnSpc>
                              <a:spcPct val="115000"/>
                            </a:lnSpc>
                            <a:spcBef>
                              <a:spcPts val="0"/>
                            </a:spcBef>
                            <a:spcAft>
                              <a:spcPts val="0"/>
                            </a:spcAft>
                          </a:pPr>
                          <a:r>
                            <a:rPr lang="en-US" sz="2400" b="0" dirty="0">
                              <a:solidFill>
                                <a:srgbClr val="C00000"/>
                              </a:solidFill>
                              <a:effectLst/>
                            </a:rPr>
                            <a:t>Job </a:t>
                          </a:r>
                          <a14:m>
                            <m:oMath xmlns:m="http://schemas.openxmlformats.org/officeDocument/2006/math">
                              <m:r>
                                <a:rPr lang="en-US" sz="2400" b="0" i="1" dirty="0" smtClean="0">
                                  <a:solidFill>
                                    <a:srgbClr val="C00000"/>
                                  </a:solidFill>
                                  <a:effectLst/>
                                  <a:latin typeface="Cambria Math" panose="02040503050406030204" pitchFamily="18" charset="0"/>
                                </a:rPr>
                                <m:t>𝑖</m:t>
                              </m:r>
                            </m:oMath>
                          </a14:m>
                          <a:endParaRPr lang="en-US" sz="2400" b="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solidFill>
                                      <a:srgbClr val="C00000"/>
                                    </a:solidFill>
                                    <a:effectLst/>
                                    <a:latin typeface="Cambria Math" panose="02040503050406030204" pitchFamily="18" charset="0"/>
                                  </a:rPr>
                                  <m:t>𝟏</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solidFill>
                                      <a:srgbClr val="C00000"/>
                                    </a:solidFill>
                                    <a:effectLst/>
                                    <a:latin typeface="Cambria Math" panose="02040503050406030204" pitchFamily="18" charset="0"/>
                                  </a:rPr>
                                  <m:t>𝟐</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C00000"/>
                                    </a:solidFill>
                                    <a:effectLst/>
                                    <a:latin typeface="Cambria Math" panose="02040503050406030204" pitchFamily="18" charset="0"/>
                                  </a:rPr>
                                  <m:t>𝟑</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C00000"/>
                                    </a:solidFill>
                                    <a:effectLst/>
                                    <a:latin typeface="Cambria Math" panose="02040503050406030204" pitchFamily="18" charset="0"/>
                                  </a:rPr>
                                  <m:t>𝟒</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C00000"/>
                                    </a:solidFill>
                                    <a:effectLst/>
                                    <a:latin typeface="Cambria Math" panose="02040503050406030204" pitchFamily="18" charset="0"/>
                                  </a:rPr>
                                  <m:t>𝟓</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C00000"/>
                                    </a:solidFill>
                                    <a:effectLst/>
                                    <a:latin typeface="Cambria Math" panose="02040503050406030204" pitchFamily="18" charset="0"/>
                                  </a:rPr>
                                  <m:t>𝟔</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extLst>
                      <a:ext uri="{0D108BD9-81ED-4DB2-BD59-A6C34878D82A}">
                        <a16:rowId xmlns:a16="http://schemas.microsoft.com/office/drawing/2014/main" val="2221168723"/>
                      </a:ext>
                    </a:extLst>
                  </a:tr>
                  <a:tr h="426593">
                    <a:tc>
                      <a:txBody>
                        <a:bodyPr/>
                        <a:lstStyle/>
                        <a:p>
                          <a:pPr marL="0" marR="0" algn="just">
                            <a:lnSpc>
                              <a:spcPct val="115000"/>
                            </a:lnSpc>
                            <a:spcBef>
                              <a:spcPts val="0"/>
                            </a:spcBef>
                            <a:spcAft>
                              <a:spcPts val="0"/>
                            </a:spcAft>
                          </a:pPr>
                          <a:r>
                            <a:rPr lang="en-US" sz="2400" b="0" dirty="0">
                              <a:solidFill>
                                <a:srgbClr val="C00000"/>
                              </a:solidFill>
                              <a:effectLst/>
                            </a:rPr>
                            <a:t>Profit </a:t>
                          </a:r>
                          <a14:m>
                            <m:oMath xmlns:m="http://schemas.openxmlformats.org/officeDocument/2006/math">
                              <m:sSub>
                                <m:sSubPr>
                                  <m:ctrlPr>
                                    <a:rPr lang="en-US" sz="2400" b="0" i="1" dirty="0" smtClean="0">
                                      <a:solidFill>
                                        <a:srgbClr val="C00000"/>
                                      </a:solidFill>
                                      <a:latin typeface="Cambria Math" panose="02040503050406030204" pitchFamily="18" charset="0"/>
                                    </a:rPr>
                                  </m:ctrlPr>
                                </m:sSubPr>
                                <m:e>
                                  <m:r>
                                    <a:rPr lang="en-US" sz="2400" b="0" i="1" dirty="0" smtClean="0">
                                      <a:solidFill>
                                        <a:srgbClr val="C00000"/>
                                      </a:solidFill>
                                      <a:latin typeface="Cambria Math" panose="02040503050406030204" pitchFamily="18" charset="0"/>
                                    </a:rPr>
                                    <m:t>𝑔</m:t>
                                  </m:r>
                                </m:e>
                                <m:sub>
                                  <m:r>
                                    <a:rPr lang="en-US" sz="2400" b="0" i="1" dirty="0" smtClean="0">
                                      <a:solidFill>
                                        <a:srgbClr val="C00000"/>
                                      </a:solidFill>
                                      <a:latin typeface="Cambria Math" panose="02040503050406030204" pitchFamily="18" charset="0"/>
                                    </a:rPr>
                                    <m:t>𝑖</m:t>
                                  </m:r>
                                </m:sub>
                              </m:sSub>
                            </m:oMath>
                          </a14:m>
                          <a:endParaRPr lang="en-US" sz="2400" b="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𝟐𝟎</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𝟏𝟓</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𝟏𝟎</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𝟕</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effectLst/>
                                    <a:latin typeface="Cambria Math" panose="02040503050406030204" pitchFamily="18" charset="0"/>
                                  </a:rPr>
                                  <m:t>𝟓</m:t>
                                </m:r>
                              </m:oMath>
                            </m:oMathPara>
                          </a14:m>
                          <a:endParaRPr lang="en-US" sz="2400" b="1">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effectLst/>
                                    <a:latin typeface="Cambria Math" panose="02040503050406030204" pitchFamily="18" charset="0"/>
                                  </a:rPr>
                                  <m:t>𝟑</m:t>
                                </m:r>
                              </m:oMath>
                            </m:oMathPara>
                          </a14:m>
                          <a:endParaRPr lang="en-US" sz="2400" b="1">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6479883"/>
                      </a:ext>
                    </a:extLst>
                  </a:tr>
                  <a:tr h="426593">
                    <a:tc>
                      <a:txBody>
                        <a:bodyPr/>
                        <a:lstStyle/>
                        <a:p>
                          <a:r>
                            <a:rPr lang="en-US" sz="2400" b="0" dirty="0">
                              <a:solidFill>
                                <a:srgbClr val="C00000"/>
                              </a:solidFill>
                              <a:effectLst/>
                            </a:rPr>
                            <a:t>Deadline </a:t>
                          </a:r>
                          <a14:m>
                            <m:oMath xmlns:m="http://schemas.openxmlformats.org/officeDocument/2006/math">
                              <m:sSub>
                                <m:sSubPr>
                                  <m:ctrlPr>
                                    <a:rPr lang="en-US" sz="2400" b="0" i="1" dirty="0" smtClean="0">
                                      <a:solidFill>
                                        <a:srgbClr val="C00000"/>
                                      </a:solidFill>
                                      <a:latin typeface="Cambria Math" panose="02040503050406030204" pitchFamily="18" charset="0"/>
                                    </a:rPr>
                                  </m:ctrlPr>
                                </m:sSubPr>
                                <m:e>
                                  <m:r>
                                    <a:rPr lang="en-US" sz="2400" b="0" i="1" dirty="0" smtClean="0">
                                      <a:solidFill>
                                        <a:srgbClr val="C00000"/>
                                      </a:solidFill>
                                      <a:latin typeface="Cambria Math" panose="02040503050406030204" pitchFamily="18" charset="0"/>
                                    </a:rPr>
                                    <m:t>𝑑</m:t>
                                  </m:r>
                                </m:e>
                                <m:sub>
                                  <m:r>
                                    <a:rPr lang="en-US" sz="2400" b="0" i="1" dirty="0" smtClean="0">
                                      <a:solidFill>
                                        <a:srgbClr val="C00000"/>
                                      </a:solidFill>
                                      <a:latin typeface="Cambria Math" panose="02040503050406030204" pitchFamily="18" charset="0"/>
                                    </a:rPr>
                                    <m:t>𝑖</m:t>
                                  </m:r>
                                </m:sub>
                              </m:sSub>
                              <m:r>
                                <a:rPr lang="en-US" sz="2400" b="0" i="1" dirty="0" smtClean="0">
                                  <a:solidFill>
                                    <a:srgbClr val="C00000"/>
                                  </a:solidFill>
                                  <a:latin typeface="Cambria Math" panose="02040503050406030204" pitchFamily="18" charset="0"/>
                                </a:rPr>
                                <m:t>.</m:t>
                              </m:r>
                            </m:oMath>
                          </a14:m>
                          <a:endParaRPr lang="en-US" sz="2400" b="0" dirty="0">
                            <a:solidFill>
                              <a:srgbClr val="C00000"/>
                            </a:solidFil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3643208"/>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105868730"/>
                  </p:ext>
                </p:extLst>
              </p:nvPr>
            </p:nvGraphicFramePr>
            <p:xfrm>
              <a:off x="2006238" y="3455521"/>
              <a:ext cx="6141721" cy="1279779"/>
            </p:xfrm>
            <a:graphic>
              <a:graphicData uri="http://schemas.openxmlformats.org/drawingml/2006/table">
                <a:tbl>
                  <a:tblPr firstRow="1" firstCol="1" bandRow="1">
                    <a:tableStyleId>{21E4AEA4-8DFA-4A89-87EB-49C32662AFE0}</a:tableStyleId>
                  </a:tblPr>
                  <a:tblGrid>
                    <a:gridCol w="1752601">
                      <a:extLst>
                        <a:ext uri="{9D8B030D-6E8A-4147-A177-3AD203B41FA5}">
                          <a16:colId xmlns:a16="http://schemas.microsoft.com/office/drawing/2014/main" val="1922602082"/>
                        </a:ext>
                      </a:extLst>
                    </a:gridCol>
                    <a:gridCol w="731520">
                      <a:extLst>
                        <a:ext uri="{9D8B030D-6E8A-4147-A177-3AD203B41FA5}">
                          <a16:colId xmlns:a16="http://schemas.microsoft.com/office/drawing/2014/main" val="717586990"/>
                        </a:ext>
                      </a:extLst>
                    </a:gridCol>
                    <a:gridCol w="731520">
                      <a:extLst>
                        <a:ext uri="{9D8B030D-6E8A-4147-A177-3AD203B41FA5}">
                          <a16:colId xmlns:a16="http://schemas.microsoft.com/office/drawing/2014/main" val="3968607451"/>
                        </a:ext>
                      </a:extLst>
                    </a:gridCol>
                    <a:gridCol w="731520">
                      <a:extLst>
                        <a:ext uri="{9D8B030D-6E8A-4147-A177-3AD203B41FA5}">
                          <a16:colId xmlns:a16="http://schemas.microsoft.com/office/drawing/2014/main" val="2999164042"/>
                        </a:ext>
                      </a:extLst>
                    </a:gridCol>
                    <a:gridCol w="731520">
                      <a:extLst>
                        <a:ext uri="{9D8B030D-6E8A-4147-A177-3AD203B41FA5}">
                          <a16:colId xmlns:a16="http://schemas.microsoft.com/office/drawing/2014/main" val="2383096932"/>
                        </a:ext>
                      </a:extLst>
                    </a:gridCol>
                    <a:gridCol w="731520">
                      <a:extLst>
                        <a:ext uri="{9D8B030D-6E8A-4147-A177-3AD203B41FA5}">
                          <a16:colId xmlns:a16="http://schemas.microsoft.com/office/drawing/2014/main" val="3734613195"/>
                        </a:ext>
                      </a:extLst>
                    </a:gridCol>
                    <a:gridCol w="731520">
                      <a:extLst>
                        <a:ext uri="{9D8B030D-6E8A-4147-A177-3AD203B41FA5}">
                          <a16:colId xmlns:a16="http://schemas.microsoft.com/office/drawing/2014/main" val="1054917901"/>
                        </a:ext>
                      </a:extLst>
                    </a:gridCol>
                  </a:tblGrid>
                  <a:tr h="426593">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47" t="-10000" r="-250694" b="-23857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0833" t="-10000" r="-501667" b="-23857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40833" t="-10000" r="-401667" b="-23857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40833" t="-10000" r="-301667" b="-23857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40833" t="-10000" r="-201667" b="-23857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40833" t="-10000" r="-101667" b="-23857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40833" t="-10000" r="-1667" b="-238571"/>
                          </a:stretch>
                        </a:blipFill>
                      </a:tcPr>
                    </a:tc>
                    <a:extLst>
                      <a:ext uri="{0D108BD9-81ED-4DB2-BD59-A6C34878D82A}">
                        <a16:rowId xmlns:a16="http://schemas.microsoft.com/office/drawing/2014/main" val="2221168723"/>
                      </a:ext>
                    </a:extLst>
                  </a:tr>
                  <a:tr h="426593">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47" t="-108451" r="-250694" b="-1352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0833" t="-108451" r="-501667" b="-1352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40833" t="-108451" r="-401667" b="-1352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40833" t="-108451" r="-301667" b="-1352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40833" t="-108451" r="-201667" b="-1352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40833" t="-108451" r="-101667" b="-1352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40833" t="-108451" r="-1667" b="-135211"/>
                          </a:stretch>
                        </a:blipFill>
                      </a:tcPr>
                    </a:tc>
                    <a:extLst>
                      <a:ext uri="{0D108BD9-81ED-4DB2-BD59-A6C34878D82A}">
                        <a16:rowId xmlns:a16="http://schemas.microsoft.com/office/drawing/2014/main" val="3016479883"/>
                      </a:ext>
                    </a:extLst>
                  </a:tr>
                  <a:tr h="426593">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47" t="-211429" r="-250694" b="-3714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0833" t="-211429" r="-501667" b="-3714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40833" t="-211429" r="-401667" b="-3714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440833" t="-211429" r="-301667" b="-3714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40833" t="-211429" r="-201667" b="-3714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40833" t="-211429" r="-101667" b="-3714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740833" t="-211429" r="-1667" b="-37143"/>
                          </a:stretch>
                        </a:blipFill>
                      </a:tcPr>
                    </a:tc>
                    <a:extLst>
                      <a:ext uri="{0D108BD9-81ED-4DB2-BD59-A6C34878D82A}">
                        <a16:rowId xmlns:a16="http://schemas.microsoft.com/office/drawing/2014/main" val="2033643208"/>
                      </a:ext>
                    </a:extLst>
                  </a:tr>
                </a:tbl>
              </a:graphicData>
            </a:graphic>
          </p:graphicFrame>
        </mc:Fallback>
      </mc:AlternateContent>
      <p:cxnSp>
        <p:nvCxnSpPr>
          <p:cNvPr id="6" name="Straight Arrow Connector 5"/>
          <p:cNvCxnSpPr/>
          <p:nvPr/>
        </p:nvCxnSpPr>
        <p:spPr>
          <a:xfrm flipH="1">
            <a:off x="4722420" y="1688276"/>
            <a:ext cx="640080" cy="0"/>
          </a:xfrm>
          <a:prstGeom prst="straightConnector1">
            <a:avLst/>
          </a:prstGeom>
          <a:ln>
            <a:solidFill>
              <a:srgbClr val="0066FF"/>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4755078" y="1345458"/>
            <a:ext cx="640080" cy="0"/>
          </a:xfrm>
          <a:prstGeom prst="straightConnector1">
            <a:avLst/>
          </a:prstGeom>
          <a:ln>
            <a:solidFill>
              <a:srgbClr val="0066FF"/>
            </a:solidFill>
            <a:tailEnd type="triangle"/>
          </a:ln>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4993509" y="1844110"/>
            <a:ext cx="265176" cy="277504"/>
          </a:xfrm>
          <a:prstGeom prst="ellipse">
            <a:avLst/>
          </a:prstGeom>
          <a:noFill/>
          <a:ln w="19050">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5271932" y="1840521"/>
            <a:ext cx="268224" cy="277504"/>
          </a:xfrm>
          <a:prstGeom prst="ellipse">
            <a:avLst/>
          </a:prstGeom>
          <a:noFill/>
          <a:ln w="19050">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481733" y="2650590"/>
            <a:ext cx="1066799" cy="3810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Step 1:</a:t>
            </a:r>
          </a:p>
        </p:txBody>
      </p:sp>
    </p:spTree>
    <p:extLst>
      <p:ext uri="{BB962C8B-B14F-4D97-AF65-F5344CB8AC3E}">
        <p14:creationId xmlns:p14="http://schemas.microsoft.com/office/powerpoint/2010/main" val="2603441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par>
                          <p:cTn id="27" fill="hold">
                            <p:stCondLst>
                              <p:cond delay="500"/>
                            </p:stCondLst>
                            <p:childTnLst>
                              <p:par>
                                <p:cTn id="28" presetID="10" presetClass="entr" presetSubtype="0" fill="hold" nodeType="after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up)">
                                      <p:cBhvr>
                                        <p:cTn id="35" dur="1500"/>
                                        <p:tgtEl>
                                          <p:spTgt spid="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wipe(left)">
                                      <p:cBhvr>
                                        <p:cTn id="40" dur="500"/>
                                        <p:tgtEl>
                                          <p:spTgt spid="7"/>
                                        </p:tgtEl>
                                      </p:cBhvr>
                                    </p:animEffect>
                                  </p:childTnLst>
                                </p:cTn>
                              </p:par>
                              <p:par>
                                <p:cTn id="41" presetID="22" presetClass="entr" presetSubtype="2" fill="hold" nodeType="with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wipe(right)">
                                      <p:cBhvr>
                                        <p:cTn id="43" dur="500"/>
                                        <p:tgtEl>
                                          <p:spTgt spid="6"/>
                                        </p:tgtEl>
                                      </p:cBhvr>
                                    </p:animEffect>
                                  </p:childTnLst>
                                </p:cTn>
                              </p:par>
                            </p:childTnLst>
                          </p:cTn>
                        </p:par>
                      </p:childTnLst>
                    </p:cTn>
                  </p:par>
                  <p:par>
                    <p:cTn id="44" fill="hold">
                      <p:stCondLst>
                        <p:cond delay="indefinite"/>
                      </p:stCondLst>
                      <p:childTnLst>
                        <p:par>
                          <p:cTn id="45" fill="hold">
                            <p:stCondLst>
                              <p:cond delay="0"/>
                            </p:stCondLst>
                            <p:childTnLst>
                              <p:par>
                                <p:cTn id="46" presetID="21" presetClass="entr" presetSubtype="1" fill="hold" grpId="0" nodeType="click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wheel(1)">
                                      <p:cBhvr>
                                        <p:cTn id="48" dur="1000"/>
                                        <p:tgtEl>
                                          <p:spTgt spid="8"/>
                                        </p:tgtEl>
                                      </p:cBhvr>
                                    </p:animEffect>
                                  </p:childTnLst>
                                </p:cTn>
                              </p:par>
                              <p:par>
                                <p:cTn id="49" presetID="21" presetClass="entr" presetSubtype="1" fill="hold" grpId="0" nodeType="with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wheel(1)">
                                      <p:cBhvr>
                                        <p:cTn id="51"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Job Scheduling with Deadlines - Example</a:t>
            </a:r>
            <a:endParaRPr lang="en-US" dirty="0"/>
          </a:p>
        </p:txBody>
      </p:sp>
      <p:sp>
        <p:nvSpPr>
          <p:cNvPr id="4" name="Rectangle 3"/>
          <p:cNvSpPr/>
          <p:nvPr/>
        </p:nvSpPr>
        <p:spPr>
          <a:xfrm>
            <a:off x="3056614" y="3390900"/>
            <a:ext cx="23622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P</a:t>
            </a:r>
          </a:p>
        </p:txBody>
      </p:sp>
      <p:sp>
        <p:nvSpPr>
          <p:cNvPr id="5" name="Rectangle 4"/>
          <p:cNvSpPr/>
          <p:nvPr/>
        </p:nvSpPr>
        <p:spPr>
          <a:xfrm>
            <a:off x="5413126" y="3390900"/>
            <a:ext cx="6858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1</a:t>
            </a:r>
          </a:p>
        </p:txBody>
      </p:sp>
      <p:sp>
        <p:nvSpPr>
          <p:cNvPr id="6" name="Rectangle 5"/>
          <p:cNvSpPr/>
          <p:nvPr/>
        </p:nvSpPr>
        <p:spPr>
          <a:xfrm>
            <a:off x="6096654" y="3390900"/>
            <a:ext cx="6858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2</a:t>
            </a:r>
          </a:p>
        </p:txBody>
      </p:sp>
      <p:sp>
        <p:nvSpPr>
          <p:cNvPr id="7" name="Rectangle 6"/>
          <p:cNvSpPr/>
          <p:nvPr/>
        </p:nvSpPr>
        <p:spPr>
          <a:xfrm>
            <a:off x="6786998" y="3390900"/>
            <a:ext cx="6858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3</a:t>
            </a:r>
          </a:p>
        </p:txBody>
      </p:sp>
      <p:sp>
        <p:nvSpPr>
          <p:cNvPr id="8" name="Rectangle 7"/>
          <p:cNvSpPr/>
          <p:nvPr/>
        </p:nvSpPr>
        <p:spPr>
          <a:xfrm>
            <a:off x="3056614" y="3850944"/>
            <a:ext cx="23622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Job selected</a:t>
            </a:r>
          </a:p>
        </p:txBody>
      </p:sp>
      <p:sp>
        <p:nvSpPr>
          <p:cNvPr id="9" name="Rectangle 8"/>
          <p:cNvSpPr/>
          <p:nvPr/>
        </p:nvSpPr>
        <p:spPr>
          <a:xfrm>
            <a:off x="5413126" y="3850944"/>
            <a:ext cx="6858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0</a:t>
            </a:r>
          </a:p>
        </p:txBody>
      </p:sp>
      <p:sp>
        <p:nvSpPr>
          <p:cNvPr id="10" name="Rectangle 9"/>
          <p:cNvSpPr/>
          <p:nvPr/>
        </p:nvSpPr>
        <p:spPr>
          <a:xfrm>
            <a:off x="6096654" y="3850944"/>
            <a:ext cx="6858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0</a:t>
            </a:r>
          </a:p>
        </p:txBody>
      </p:sp>
      <p:sp>
        <p:nvSpPr>
          <p:cNvPr id="11" name="Rectangle 10"/>
          <p:cNvSpPr/>
          <p:nvPr/>
        </p:nvSpPr>
        <p:spPr>
          <a:xfrm>
            <a:off x="6786998" y="3850944"/>
            <a:ext cx="6858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0</a:t>
            </a:r>
          </a:p>
        </p:txBody>
      </p:sp>
      <mc:AlternateContent xmlns:mc="http://schemas.openxmlformats.org/markup-compatibility/2006" xmlns:a14="http://schemas.microsoft.com/office/drawing/2010/main">
        <mc:Choice Requires="a14">
          <p:graphicFrame>
            <p:nvGraphicFramePr>
              <p:cNvPr id="12" name="Table 11"/>
              <p:cNvGraphicFramePr>
                <a:graphicFrameLocks noGrp="1"/>
              </p:cNvGraphicFramePr>
              <p:nvPr>
                <p:extLst>
                  <p:ext uri="{D42A27DB-BD31-4B8C-83A1-F6EECF244321}">
                    <p14:modId xmlns:p14="http://schemas.microsoft.com/office/powerpoint/2010/main" val="1920375154"/>
                  </p:ext>
                </p:extLst>
              </p:nvPr>
            </p:nvGraphicFramePr>
            <p:xfrm>
              <a:off x="2197825" y="1035524"/>
              <a:ext cx="6141721" cy="1279779"/>
            </p:xfrm>
            <a:graphic>
              <a:graphicData uri="http://schemas.openxmlformats.org/drawingml/2006/table">
                <a:tbl>
                  <a:tblPr firstRow="1" firstCol="1" bandRow="1">
                    <a:tableStyleId>{21E4AEA4-8DFA-4A89-87EB-49C32662AFE0}</a:tableStyleId>
                  </a:tblPr>
                  <a:tblGrid>
                    <a:gridCol w="1752601">
                      <a:extLst>
                        <a:ext uri="{9D8B030D-6E8A-4147-A177-3AD203B41FA5}">
                          <a16:colId xmlns:a16="http://schemas.microsoft.com/office/drawing/2014/main" val="1922602082"/>
                        </a:ext>
                      </a:extLst>
                    </a:gridCol>
                    <a:gridCol w="731520">
                      <a:extLst>
                        <a:ext uri="{9D8B030D-6E8A-4147-A177-3AD203B41FA5}">
                          <a16:colId xmlns:a16="http://schemas.microsoft.com/office/drawing/2014/main" val="717586990"/>
                        </a:ext>
                      </a:extLst>
                    </a:gridCol>
                    <a:gridCol w="731520">
                      <a:extLst>
                        <a:ext uri="{9D8B030D-6E8A-4147-A177-3AD203B41FA5}">
                          <a16:colId xmlns:a16="http://schemas.microsoft.com/office/drawing/2014/main" val="3968607451"/>
                        </a:ext>
                      </a:extLst>
                    </a:gridCol>
                    <a:gridCol w="731520">
                      <a:extLst>
                        <a:ext uri="{9D8B030D-6E8A-4147-A177-3AD203B41FA5}">
                          <a16:colId xmlns:a16="http://schemas.microsoft.com/office/drawing/2014/main" val="2999164042"/>
                        </a:ext>
                      </a:extLst>
                    </a:gridCol>
                    <a:gridCol w="731520">
                      <a:extLst>
                        <a:ext uri="{9D8B030D-6E8A-4147-A177-3AD203B41FA5}">
                          <a16:colId xmlns:a16="http://schemas.microsoft.com/office/drawing/2014/main" val="2383096932"/>
                        </a:ext>
                      </a:extLst>
                    </a:gridCol>
                    <a:gridCol w="731520">
                      <a:extLst>
                        <a:ext uri="{9D8B030D-6E8A-4147-A177-3AD203B41FA5}">
                          <a16:colId xmlns:a16="http://schemas.microsoft.com/office/drawing/2014/main" val="3734613195"/>
                        </a:ext>
                      </a:extLst>
                    </a:gridCol>
                    <a:gridCol w="731520">
                      <a:extLst>
                        <a:ext uri="{9D8B030D-6E8A-4147-A177-3AD203B41FA5}">
                          <a16:colId xmlns:a16="http://schemas.microsoft.com/office/drawing/2014/main" val="1054917901"/>
                        </a:ext>
                      </a:extLst>
                    </a:gridCol>
                  </a:tblGrid>
                  <a:tr h="426593">
                    <a:tc>
                      <a:txBody>
                        <a:bodyPr/>
                        <a:lstStyle/>
                        <a:p>
                          <a:pPr marL="0" marR="0" algn="just">
                            <a:lnSpc>
                              <a:spcPct val="115000"/>
                            </a:lnSpc>
                            <a:spcBef>
                              <a:spcPts val="0"/>
                            </a:spcBef>
                            <a:spcAft>
                              <a:spcPts val="0"/>
                            </a:spcAft>
                          </a:pPr>
                          <a:r>
                            <a:rPr lang="en-US" sz="2400" b="0" dirty="0">
                              <a:solidFill>
                                <a:srgbClr val="C00000"/>
                              </a:solidFill>
                              <a:effectLst/>
                            </a:rPr>
                            <a:t>Job </a:t>
                          </a:r>
                          <a14:m>
                            <m:oMath xmlns:m="http://schemas.openxmlformats.org/officeDocument/2006/math">
                              <m:r>
                                <a:rPr lang="en-US" sz="2400" b="0" i="1" dirty="0" smtClean="0">
                                  <a:solidFill>
                                    <a:srgbClr val="C00000"/>
                                  </a:solidFill>
                                  <a:effectLst/>
                                  <a:latin typeface="Cambria Math" panose="02040503050406030204" pitchFamily="18" charset="0"/>
                                </a:rPr>
                                <m:t>𝑖</m:t>
                              </m:r>
                            </m:oMath>
                          </a14:m>
                          <a:endParaRPr lang="en-US" sz="2400" b="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solidFill>
                                      <a:srgbClr val="C00000"/>
                                    </a:solidFill>
                                    <a:effectLst/>
                                    <a:latin typeface="Cambria Math" panose="02040503050406030204" pitchFamily="18" charset="0"/>
                                  </a:rPr>
                                  <m:t>𝟏</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solidFill>
                                      <a:srgbClr val="C00000"/>
                                    </a:solidFill>
                                    <a:effectLst/>
                                    <a:latin typeface="Cambria Math" panose="02040503050406030204" pitchFamily="18" charset="0"/>
                                  </a:rPr>
                                  <m:t>𝟐</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C00000"/>
                                    </a:solidFill>
                                    <a:effectLst/>
                                    <a:latin typeface="Cambria Math" panose="02040503050406030204" pitchFamily="18" charset="0"/>
                                  </a:rPr>
                                  <m:t>𝟑</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C00000"/>
                                    </a:solidFill>
                                    <a:effectLst/>
                                    <a:latin typeface="Cambria Math" panose="02040503050406030204" pitchFamily="18" charset="0"/>
                                  </a:rPr>
                                  <m:t>𝟒</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C00000"/>
                                    </a:solidFill>
                                    <a:effectLst/>
                                    <a:latin typeface="Cambria Math" panose="02040503050406030204" pitchFamily="18" charset="0"/>
                                  </a:rPr>
                                  <m:t>𝟓</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C00000"/>
                                    </a:solidFill>
                                    <a:effectLst/>
                                    <a:latin typeface="Cambria Math" panose="02040503050406030204" pitchFamily="18" charset="0"/>
                                  </a:rPr>
                                  <m:t>𝟔</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extLst>
                      <a:ext uri="{0D108BD9-81ED-4DB2-BD59-A6C34878D82A}">
                        <a16:rowId xmlns:a16="http://schemas.microsoft.com/office/drawing/2014/main" val="2221168723"/>
                      </a:ext>
                    </a:extLst>
                  </a:tr>
                  <a:tr h="426593">
                    <a:tc>
                      <a:txBody>
                        <a:bodyPr/>
                        <a:lstStyle/>
                        <a:p>
                          <a:pPr marL="0" marR="0" algn="just">
                            <a:lnSpc>
                              <a:spcPct val="115000"/>
                            </a:lnSpc>
                            <a:spcBef>
                              <a:spcPts val="0"/>
                            </a:spcBef>
                            <a:spcAft>
                              <a:spcPts val="0"/>
                            </a:spcAft>
                          </a:pPr>
                          <a:r>
                            <a:rPr lang="en-US" sz="2400" b="0" dirty="0">
                              <a:solidFill>
                                <a:srgbClr val="C00000"/>
                              </a:solidFill>
                              <a:effectLst/>
                            </a:rPr>
                            <a:t>Profit </a:t>
                          </a:r>
                          <a14:m>
                            <m:oMath xmlns:m="http://schemas.openxmlformats.org/officeDocument/2006/math">
                              <m:sSub>
                                <m:sSubPr>
                                  <m:ctrlPr>
                                    <a:rPr lang="en-US" sz="2400" b="0" i="1" dirty="0" smtClean="0">
                                      <a:solidFill>
                                        <a:srgbClr val="C00000"/>
                                      </a:solidFill>
                                      <a:latin typeface="Cambria Math" panose="02040503050406030204" pitchFamily="18" charset="0"/>
                                    </a:rPr>
                                  </m:ctrlPr>
                                </m:sSubPr>
                                <m:e>
                                  <m:r>
                                    <a:rPr lang="en-US" sz="2400" b="0" i="1" dirty="0" smtClean="0">
                                      <a:solidFill>
                                        <a:srgbClr val="C00000"/>
                                      </a:solidFill>
                                      <a:latin typeface="Cambria Math" panose="02040503050406030204" pitchFamily="18" charset="0"/>
                                    </a:rPr>
                                    <m:t>𝑔</m:t>
                                  </m:r>
                                </m:e>
                                <m:sub>
                                  <m:r>
                                    <a:rPr lang="en-US" sz="2400" b="0" i="1" dirty="0" smtClean="0">
                                      <a:solidFill>
                                        <a:srgbClr val="C00000"/>
                                      </a:solidFill>
                                      <a:latin typeface="Cambria Math" panose="02040503050406030204" pitchFamily="18" charset="0"/>
                                    </a:rPr>
                                    <m:t>𝑖</m:t>
                                  </m:r>
                                </m:sub>
                              </m:sSub>
                            </m:oMath>
                          </a14:m>
                          <a:endParaRPr lang="en-US" sz="2400" b="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𝟐𝟎</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𝟏𝟓</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𝟏𝟎</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𝟕</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effectLst/>
                                    <a:latin typeface="Cambria Math" panose="02040503050406030204" pitchFamily="18" charset="0"/>
                                  </a:rPr>
                                  <m:t>𝟓</m:t>
                                </m:r>
                              </m:oMath>
                            </m:oMathPara>
                          </a14:m>
                          <a:endParaRPr lang="en-US" sz="2400" b="1">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effectLst/>
                                    <a:latin typeface="Cambria Math" panose="02040503050406030204" pitchFamily="18" charset="0"/>
                                  </a:rPr>
                                  <m:t>𝟑</m:t>
                                </m:r>
                              </m:oMath>
                            </m:oMathPara>
                          </a14:m>
                          <a:endParaRPr lang="en-US" sz="2400" b="1">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6479883"/>
                      </a:ext>
                    </a:extLst>
                  </a:tr>
                  <a:tr h="426593">
                    <a:tc>
                      <a:txBody>
                        <a:bodyPr/>
                        <a:lstStyle/>
                        <a:p>
                          <a:r>
                            <a:rPr lang="en-US" sz="2400" b="0" dirty="0">
                              <a:solidFill>
                                <a:srgbClr val="C00000"/>
                              </a:solidFill>
                              <a:effectLst/>
                            </a:rPr>
                            <a:t>Deadline </a:t>
                          </a:r>
                          <a14:m>
                            <m:oMath xmlns:m="http://schemas.openxmlformats.org/officeDocument/2006/math">
                              <m:sSub>
                                <m:sSubPr>
                                  <m:ctrlPr>
                                    <a:rPr lang="en-US" sz="2400" b="0" i="1" dirty="0" smtClean="0">
                                      <a:solidFill>
                                        <a:srgbClr val="C00000"/>
                                      </a:solidFill>
                                      <a:latin typeface="Cambria Math" panose="02040503050406030204" pitchFamily="18" charset="0"/>
                                    </a:rPr>
                                  </m:ctrlPr>
                                </m:sSubPr>
                                <m:e>
                                  <m:r>
                                    <a:rPr lang="en-US" sz="2400" b="0" i="1" dirty="0" smtClean="0">
                                      <a:solidFill>
                                        <a:srgbClr val="C00000"/>
                                      </a:solidFill>
                                      <a:latin typeface="Cambria Math" panose="02040503050406030204" pitchFamily="18" charset="0"/>
                                    </a:rPr>
                                    <m:t>𝑑</m:t>
                                  </m:r>
                                </m:e>
                                <m:sub>
                                  <m:r>
                                    <a:rPr lang="en-US" sz="2400" b="0" i="1" dirty="0" smtClean="0">
                                      <a:solidFill>
                                        <a:srgbClr val="C00000"/>
                                      </a:solidFill>
                                      <a:latin typeface="Cambria Math" panose="02040503050406030204" pitchFamily="18" charset="0"/>
                                    </a:rPr>
                                    <m:t>𝑖</m:t>
                                  </m:r>
                                </m:sub>
                              </m:sSub>
                              <m:r>
                                <a:rPr lang="en-US" sz="2400" b="0" i="1" dirty="0" smtClean="0">
                                  <a:solidFill>
                                    <a:srgbClr val="C00000"/>
                                  </a:solidFill>
                                  <a:latin typeface="Cambria Math" panose="02040503050406030204" pitchFamily="18" charset="0"/>
                                </a:rPr>
                                <m:t>.</m:t>
                              </m:r>
                            </m:oMath>
                          </a14:m>
                          <a:endParaRPr lang="en-US" sz="2400" b="0" dirty="0">
                            <a:solidFill>
                              <a:srgbClr val="C00000"/>
                            </a:solidFil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3643208"/>
                      </a:ext>
                    </a:extLst>
                  </a:tr>
                </a:tbl>
              </a:graphicData>
            </a:graphic>
          </p:graphicFrame>
        </mc:Choice>
        <mc:Fallback xmlns="">
          <p:graphicFrame>
            <p:nvGraphicFramePr>
              <p:cNvPr id="12" name="Table 11"/>
              <p:cNvGraphicFramePr>
                <a:graphicFrameLocks noGrp="1"/>
              </p:cNvGraphicFramePr>
              <p:nvPr>
                <p:extLst>
                  <p:ext uri="{D42A27DB-BD31-4B8C-83A1-F6EECF244321}">
                    <p14:modId xmlns:p14="http://schemas.microsoft.com/office/powerpoint/2010/main" val="1920375154"/>
                  </p:ext>
                </p:extLst>
              </p:nvPr>
            </p:nvGraphicFramePr>
            <p:xfrm>
              <a:off x="2197825" y="1035524"/>
              <a:ext cx="6141721" cy="1279779"/>
            </p:xfrm>
            <a:graphic>
              <a:graphicData uri="http://schemas.openxmlformats.org/drawingml/2006/table">
                <a:tbl>
                  <a:tblPr firstRow="1" firstCol="1" bandRow="1">
                    <a:tableStyleId>{21E4AEA4-8DFA-4A89-87EB-49C32662AFE0}</a:tableStyleId>
                  </a:tblPr>
                  <a:tblGrid>
                    <a:gridCol w="1752601">
                      <a:extLst>
                        <a:ext uri="{9D8B030D-6E8A-4147-A177-3AD203B41FA5}">
                          <a16:colId xmlns:a16="http://schemas.microsoft.com/office/drawing/2014/main" xmlns:a14="http://schemas.microsoft.com/office/drawing/2010/main" xmlns="" val="1922602082"/>
                        </a:ext>
                      </a:extLst>
                    </a:gridCol>
                    <a:gridCol w="731520">
                      <a:extLst>
                        <a:ext uri="{9D8B030D-6E8A-4147-A177-3AD203B41FA5}">
                          <a16:colId xmlns:a16="http://schemas.microsoft.com/office/drawing/2014/main" xmlns:a14="http://schemas.microsoft.com/office/drawing/2010/main" xmlns="" val="717586990"/>
                        </a:ext>
                      </a:extLst>
                    </a:gridCol>
                    <a:gridCol w="731520">
                      <a:extLst>
                        <a:ext uri="{9D8B030D-6E8A-4147-A177-3AD203B41FA5}">
                          <a16:colId xmlns:a16="http://schemas.microsoft.com/office/drawing/2014/main" xmlns:a14="http://schemas.microsoft.com/office/drawing/2010/main" xmlns="" val="3968607451"/>
                        </a:ext>
                      </a:extLst>
                    </a:gridCol>
                    <a:gridCol w="731520">
                      <a:extLst>
                        <a:ext uri="{9D8B030D-6E8A-4147-A177-3AD203B41FA5}">
                          <a16:colId xmlns:a16="http://schemas.microsoft.com/office/drawing/2014/main" xmlns:a14="http://schemas.microsoft.com/office/drawing/2010/main" xmlns="" val="2999164042"/>
                        </a:ext>
                      </a:extLst>
                    </a:gridCol>
                    <a:gridCol w="731520">
                      <a:extLst>
                        <a:ext uri="{9D8B030D-6E8A-4147-A177-3AD203B41FA5}">
                          <a16:colId xmlns:a16="http://schemas.microsoft.com/office/drawing/2014/main" xmlns:a14="http://schemas.microsoft.com/office/drawing/2010/main" xmlns="" val="2383096932"/>
                        </a:ext>
                      </a:extLst>
                    </a:gridCol>
                    <a:gridCol w="731520">
                      <a:extLst>
                        <a:ext uri="{9D8B030D-6E8A-4147-A177-3AD203B41FA5}">
                          <a16:colId xmlns:a16="http://schemas.microsoft.com/office/drawing/2014/main" xmlns:a14="http://schemas.microsoft.com/office/drawing/2010/main" xmlns="" val="3734613195"/>
                        </a:ext>
                      </a:extLst>
                    </a:gridCol>
                    <a:gridCol w="731520">
                      <a:extLst>
                        <a:ext uri="{9D8B030D-6E8A-4147-A177-3AD203B41FA5}">
                          <a16:colId xmlns:a16="http://schemas.microsoft.com/office/drawing/2014/main" xmlns:a14="http://schemas.microsoft.com/office/drawing/2010/main" xmlns="" val="1054917901"/>
                        </a:ext>
                      </a:extLst>
                    </a:gridCol>
                  </a:tblGrid>
                  <a:tr h="426593">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347" t="-10000" r="-251042" b="-23857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240833" t="-10000" r="-502500" b="-23857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340833" t="-10000" r="-402500" b="-23857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440833" t="-10000" r="-302500" b="-23857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536364" t="-10000" r="-200000" b="-23857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641667" t="-10000" r="-101667" b="-23857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741667" t="-10000" r="-1667" b="-238571"/>
                          </a:stretch>
                        </a:blipFill>
                      </a:tcPr>
                    </a:tc>
                    <a:extLst>
                      <a:ext uri="{0D108BD9-81ED-4DB2-BD59-A6C34878D82A}">
                        <a16:rowId xmlns:a16="http://schemas.microsoft.com/office/drawing/2014/main" xmlns:a14="http://schemas.microsoft.com/office/drawing/2010/main" xmlns="" val="2221168723"/>
                      </a:ext>
                    </a:extLst>
                  </a:tr>
                  <a:tr h="426593">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347" t="-108451" r="-251042" b="-1352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240833" t="-108451" r="-502500" b="-1352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340833" t="-108451" r="-402500" b="-1352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440833" t="-108451" r="-302500" b="-1352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536364" t="-108451" r="-200000" b="-1352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641667" t="-108451" r="-101667" b="-1352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741667" t="-108451" r="-1667" b="-135211"/>
                          </a:stretch>
                        </a:blipFill>
                      </a:tcPr>
                    </a:tc>
                    <a:extLst>
                      <a:ext uri="{0D108BD9-81ED-4DB2-BD59-A6C34878D82A}">
                        <a16:rowId xmlns:a16="http://schemas.microsoft.com/office/drawing/2014/main" xmlns:a14="http://schemas.microsoft.com/office/drawing/2010/main" xmlns="" val="3016479883"/>
                      </a:ext>
                    </a:extLst>
                  </a:tr>
                  <a:tr h="426593">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347" t="-211429" r="-251042" b="-3714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240833" t="-211429" r="-502500" b="-3714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340833" t="-211429" r="-402500" b="-3714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440833" t="-211429" r="-302500" b="-3714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536364" t="-211429" r="-200000" b="-3714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641667" t="-211429" r="-101667" b="-3714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741667" t="-211429" r="-1667" b="-37143"/>
                          </a:stretch>
                        </a:blipFill>
                      </a:tcPr>
                    </a:tc>
                    <a:extLst>
                      <a:ext uri="{0D108BD9-81ED-4DB2-BD59-A6C34878D82A}">
                        <a16:rowId xmlns:a16="http://schemas.microsoft.com/office/drawing/2014/main" xmlns:a14="http://schemas.microsoft.com/office/drawing/2010/main" xmlns="" val="2033643208"/>
                      </a:ext>
                    </a:extLst>
                  </a:tr>
                </a:tbl>
              </a:graphicData>
            </a:graphic>
          </p:graphicFrame>
        </mc:Fallback>
      </mc:AlternateContent>
      <p:sp>
        <p:nvSpPr>
          <p:cNvPr id="13" name="Rectangle 12"/>
          <p:cNvSpPr/>
          <p:nvPr/>
        </p:nvSpPr>
        <p:spPr>
          <a:xfrm>
            <a:off x="1230087" y="2466966"/>
            <a:ext cx="1066799" cy="3810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Step 2:</a:t>
            </a:r>
          </a:p>
        </p:txBody>
      </p:sp>
      <p:sp>
        <p:nvSpPr>
          <p:cNvPr id="14" name="Rectangle 13"/>
          <p:cNvSpPr/>
          <p:nvPr/>
        </p:nvSpPr>
        <p:spPr>
          <a:xfrm>
            <a:off x="1230087" y="4876800"/>
            <a:ext cx="1066799" cy="3810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Step 3:</a:t>
            </a:r>
          </a:p>
        </p:txBody>
      </p:sp>
      <p:sp>
        <p:nvSpPr>
          <p:cNvPr id="15" name="Rounded Rectangle 14"/>
          <p:cNvSpPr/>
          <p:nvPr/>
        </p:nvSpPr>
        <p:spPr>
          <a:xfrm>
            <a:off x="5018968" y="2459354"/>
            <a:ext cx="2834640" cy="396222"/>
          </a:xfrm>
          <a:prstGeom prst="round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3056614" y="5407356"/>
            <a:ext cx="23622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P</a:t>
            </a:r>
          </a:p>
        </p:txBody>
      </p:sp>
      <p:sp>
        <p:nvSpPr>
          <p:cNvPr id="17" name="Rectangle 16"/>
          <p:cNvSpPr/>
          <p:nvPr/>
        </p:nvSpPr>
        <p:spPr>
          <a:xfrm>
            <a:off x="5418814" y="5407356"/>
            <a:ext cx="6858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1</a:t>
            </a:r>
          </a:p>
        </p:txBody>
      </p:sp>
      <p:sp>
        <p:nvSpPr>
          <p:cNvPr id="18" name="Rectangle 17"/>
          <p:cNvSpPr/>
          <p:nvPr/>
        </p:nvSpPr>
        <p:spPr>
          <a:xfrm>
            <a:off x="6102342" y="5407356"/>
            <a:ext cx="6858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2</a:t>
            </a:r>
          </a:p>
        </p:txBody>
      </p:sp>
      <p:sp>
        <p:nvSpPr>
          <p:cNvPr id="19" name="Rectangle 18"/>
          <p:cNvSpPr/>
          <p:nvPr/>
        </p:nvSpPr>
        <p:spPr>
          <a:xfrm>
            <a:off x="6779038" y="5407356"/>
            <a:ext cx="6858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3</a:t>
            </a:r>
          </a:p>
        </p:txBody>
      </p:sp>
      <p:sp>
        <p:nvSpPr>
          <p:cNvPr id="20" name="Rectangle 19"/>
          <p:cNvSpPr/>
          <p:nvPr/>
        </p:nvSpPr>
        <p:spPr>
          <a:xfrm>
            <a:off x="3056614" y="5867400"/>
            <a:ext cx="23622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Job selected</a:t>
            </a:r>
          </a:p>
        </p:txBody>
      </p:sp>
      <p:sp>
        <p:nvSpPr>
          <p:cNvPr id="21" name="Rectangle 20"/>
          <p:cNvSpPr/>
          <p:nvPr/>
        </p:nvSpPr>
        <p:spPr>
          <a:xfrm>
            <a:off x="5418814" y="5867400"/>
            <a:ext cx="6858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0</a:t>
            </a:r>
          </a:p>
        </p:txBody>
      </p:sp>
      <p:sp>
        <p:nvSpPr>
          <p:cNvPr id="22" name="Rectangle 21"/>
          <p:cNvSpPr/>
          <p:nvPr/>
        </p:nvSpPr>
        <p:spPr>
          <a:xfrm>
            <a:off x="6102342" y="5867400"/>
            <a:ext cx="6858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0</a:t>
            </a:r>
          </a:p>
        </p:txBody>
      </p:sp>
      <p:sp>
        <p:nvSpPr>
          <p:cNvPr id="23" name="Rectangle 22"/>
          <p:cNvSpPr/>
          <p:nvPr/>
        </p:nvSpPr>
        <p:spPr>
          <a:xfrm>
            <a:off x="6779038" y="5867400"/>
            <a:ext cx="6858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J1</a:t>
            </a:r>
          </a:p>
        </p:txBody>
      </p:sp>
      <p:sp>
        <p:nvSpPr>
          <p:cNvPr id="24" name="Oval 23"/>
          <p:cNvSpPr/>
          <p:nvPr/>
        </p:nvSpPr>
        <p:spPr>
          <a:xfrm>
            <a:off x="4049486" y="1905000"/>
            <a:ext cx="457200" cy="410303"/>
          </a:xfrm>
          <a:prstGeom prst="ellipse">
            <a:avLst/>
          </a:prstGeom>
          <a:noFill/>
          <a:ln w="19050">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6893910" y="5889373"/>
            <a:ext cx="457200" cy="410303"/>
          </a:xfrm>
          <a:prstGeom prst="ellipse">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mc:AlternateContent xmlns:mc="http://schemas.openxmlformats.org/markup-compatibility/2006" xmlns:a14="http://schemas.microsoft.com/office/drawing/2010/main">
        <mc:Choice Requires="a14">
          <p:sp>
            <p:nvSpPr>
              <p:cNvPr id="27" name="Rectangle 26"/>
              <p:cNvSpPr/>
              <p:nvPr/>
            </p:nvSpPr>
            <p:spPr>
              <a:xfrm>
                <a:off x="2296886" y="2426633"/>
                <a:ext cx="5751383" cy="461665"/>
              </a:xfrm>
              <a:prstGeom prst="rect">
                <a:avLst/>
              </a:prstGeom>
            </p:spPr>
            <p:txBody>
              <a:bodyPr wrap="none">
                <a:spAutoFit/>
              </a:bodyPr>
              <a:lstStyle/>
              <a:p>
                <a:pPr marL="400050" lvl="1" indent="0">
                  <a:buNone/>
                </a:pPr>
                <a:r>
                  <a:rPr lang="da-DK" sz="2400" dirty="0"/>
                  <a:t>Find </a:t>
                </a:r>
                <a:r>
                  <a:rPr lang="en-US" sz="2400" dirty="0"/>
                  <a:t>total position </a:t>
                </a:r>
                <a14:m>
                  <m:oMath xmlns:m="http://schemas.openxmlformats.org/officeDocument/2006/math">
                    <m:r>
                      <a:rPr lang="en-US" sz="2400" i="1" dirty="0">
                        <a:latin typeface="Cambria Math" panose="02040503050406030204" pitchFamily="18" charset="0"/>
                      </a:rPr>
                      <m:t>𝑃</m:t>
                    </m:r>
                    <m:r>
                      <a:rPr lang="en-US" sz="2400" i="1" dirty="0">
                        <a:latin typeface="Cambria Math" panose="02040503050406030204" pitchFamily="18" charset="0"/>
                      </a:rPr>
                      <m:t> =</m:t>
                    </m:r>
                    <m:r>
                      <m:rPr>
                        <m:sty m:val="p"/>
                      </m:rPr>
                      <a:rPr lang="en-US" sz="2400" i="1" dirty="0">
                        <a:latin typeface="Cambria Math" panose="02040503050406030204" pitchFamily="18" charset="0"/>
                      </a:rPr>
                      <m:t>min</m:t>
                    </m:r>
                    <m:r>
                      <a:rPr lang="en-US" sz="2400" i="1" dirty="0">
                        <a:latin typeface="Cambria Math" panose="02040503050406030204" pitchFamily="18" charset="0"/>
                      </a:rPr>
                      <m:t>⁡(</m:t>
                    </m:r>
                    <m:r>
                      <a:rPr lang="en-US" sz="2400" i="1" dirty="0">
                        <a:latin typeface="Cambria Math" panose="02040503050406030204" pitchFamily="18" charset="0"/>
                      </a:rPr>
                      <m:t>𝑛</m:t>
                    </m:r>
                    <m:r>
                      <a:rPr lang="en-US" sz="2400" i="1" dirty="0">
                        <a:latin typeface="Cambria Math" panose="02040503050406030204" pitchFamily="18" charset="0"/>
                      </a:rPr>
                      <m:t>, </m:t>
                    </m:r>
                    <m:r>
                      <m:rPr>
                        <m:sty m:val="p"/>
                      </m:rPr>
                      <a:rPr lang="en-US" sz="2400" i="1" dirty="0">
                        <a:latin typeface="Cambria Math" panose="02040503050406030204" pitchFamily="18" charset="0"/>
                      </a:rPr>
                      <m:t>max</m:t>
                    </m:r>
                    <m:r>
                      <a:rPr lang="en-US" sz="2400" i="1" dirty="0">
                        <a:latin typeface="Cambria Math" panose="02040503050406030204" pitchFamily="18" charset="0"/>
                      </a:rPr>
                      <m:t>⁡(</m:t>
                    </m:r>
                    <m:r>
                      <a:rPr lang="en-US" sz="2400" i="1" dirty="0">
                        <a:latin typeface="Cambria Math" panose="02040503050406030204" pitchFamily="18" charset="0"/>
                      </a:rPr>
                      <m:t>𝑑𝑖</m:t>
                    </m:r>
                    <m:r>
                      <a:rPr lang="en-US" sz="2400" i="1" dirty="0">
                        <a:latin typeface="Cambria Math" panose="02040503050406030204" pitchFamily="18" charset="0"/>
                      </a:rPr>
                      <m:t>)) </m:t>
                    </m:r>
                  </m:oMath>
                </a14:m>
                <a:endParaRPr lang="en-US" sz="2400" dirty="0"/>
              </a:p>
            </p:txBody>
          </p:sp>
        </mc:Choice>
        <mc:Fallback xmlns="">
          <p:sp>
            <p:nvSpPr>
              <p:cNvPr id="27" name="Rectangle 26"/>
              <p:cNvSpPr>
                <a:spLocks noRot="1" noChangeAspect="1" noMove="1" noResize="1" noEditPoints="1" noAdjustHandles="1" noChangeArrowheads="1" noChangeShapeType="1" noTextEdit="1"/>
              </p:cNvSpPr>
              <p:nvPr/>
            </p:nvSpPr>
            <p:spPr>
              <a:xfrm>
                <a:off x="2296886" y="2426633"/>
                <a:ext cx="5751383" cy="461665"/>
              </a:xfrm>
              <a:prstGeom prst="rect">
                <a:avLst/>
              </a:prstGeom>
              <a:blipFill rotWithShape="0">
                <a:blip r:embed="rId3"/>
                <a:stretch>
                  <a:fillRect t="-9211" b="-302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p:cNvSpPr/>
              <p:nvPr/>
            </p:nvSpPr>
            <p:spPr>
              <a:xfrm>
                <a:off x="3188732" y="2847966"/>
                <a:ext cx="3967689" cy="461665"/>
              </a:xfrm>
              <a:prstGeom prst="rect">
                <a:avLst/>
              </a:prstGeom>
            </p:spPr>
            <p:txBody>
              <a:bodyPr wrap="none">
                <a:spAutoFit/>
              </a:bodyPr>
              <a:lstStyle/>
              <a:p>
                <a:pPr marL="400050" lvl="1" indent="0" algn="ctr">
                  <a:buNone/>
                </a:pPr>
                <a:r>
                  <a:rPr lang="en-US" sz="2400" dirty="0"/>
                  <a:t>Here,</a:t>
                </a:r>
                <a:r>
                  <a:rPr lang="da-DK" sz="2400" dirty="0"/>
                  <a:t> </a:t>
                </a:r>
                <a14:m>
                  <m:oMath xmlns:m="http://schemas.openxmlformats.org/officeDocument/2006/math">
                    <m:r>
                      <a:rPr lang="da-DK" sz="2400" i="1" dirty="0">
                        <a:latin typeface="Cambria Math" panose="02040503050406030204" pitchFamily="18" charset="0"/>
                      </a:rPr>
                      <m:t>𝑃</m:t>
                    </m:r>
                    <m:r>
                      <a:rPr lang="da-DK" sz="2400" i="1" dirty="0">
                        <a:latin typeface="Cambria Math" panose="02040503050406030204" pitchFamily="18" charset="0"/>
                      </a:rPr>
                      <m:t> = </m:t>
                    </m:r>
                    <m:r>
                      <m:rPr>
                        <m:sty m:val="p"/>
                      </m:rPr>
                      <a:rPr lang="da-DK" sz="2400" i="1" dirty="0">
                        <a:latin typeface="Cambria Math" panose="02040503050406030204" pitchFamily="18" charset="0"/>
                      </a:rPr>
                      <m:t>min</m:t>
                    </m:r>
                    <m:r>
                      <a:rPr lang="da-DK" sz="2400" i="1" dirty="0">
                        <a:latin typeface="Cambria Math" panose="02040503050406030204" pitchFamily="18" charset="0"/>
                      </a:rPr>
                      <m:t>⁡(6, 3) = </m:t>
                    </m:r>
                    <m:r>
                      <a:rPr lang="da-DK" sz="2400" b="1" i="1" dirty="0">
                        <a:latin typeface="Cambria Math" panose="02040503050406030204" pitchFamily="18" charset="0"/>
                      </a:rPr>
                      <m:t>𝟑</m:t>
                    </m:r>
                  </m:oMath>
                </a14:m>
                <a:endParaRPr lang="da-DK" sz="2400" b="1" dirty="0"/>
              </a:p>
            </p:txBody>
          </p:sp>
        </mc:Choice>
        <mc:Fallback xmlns="">
          <p:sp>
            <p:nvSpPr>
              <p:cNvPr id="28" name="Rectangle 27"/>
              <p:cNvSpPr>
                <a:spLocks noRot="1" noChangeAspect="1" noMove="1" noResize="1" noEditPoints="1" noAdjustHandles="1" noChangeArrowheads="1" noChangeShapeType="1" noTextEdit="1"/>
              </p:cNvSpPr>
              <p:nvPr/>
            </p:nvSpPr>
            <p:spPr>
              <a:xfrm>
                <a:off x="3188732" y="2847966"/>
                <a:ext cx="3967689" cy="461665"/>
              </a:xfrm>
              <a:prstGeom prst="rect">
                <a:avLst/>
              </a:prstGeom>
              <a:blipFill>
                <a:blip r:embed="rId4"/>
                <a:stretch>
                  <a:fillRect t="-9211" b="-302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p:cNvSpPr/>
              <p:nvPr/>
            </p:nvSpPr>
            <p:spPr>
              <a:xfrm>
                <a:off x="2296886" y="4836467"/>
                <a:ext cx="4887300" cy="461665"/>
              </a:xfrm>
              <a:prstGeom prst="rect">
                <a:avLst/>
              </a:prstGeom>
            </p:spPr>
            <p:txBody>
              <a:bodyPr wrap="none">
                <a:spAutoFit/>
              </a:bodyPr>
              <a:lstStyle/>
              <a:p>
                <a:pPr marL="400050" lvl="1" indent="0">
                  <a:buNone/>
                </a:pPr>
                <a14:m>
                  <m:oMath xmlns:m="http://schemas.openxmlformats.org/officeDocument/2006/math">
                    <m:r>
                      <a:rPr lang="en-US" sz="2400" i="1" dirty="0">
                        <a:latin typeface="Cambria Math" panose="02040503050406030204" pitchFamily="18" charset="0"/>
                      </a:rPr>
                      <m:t>𝑑</m:t>
                    </m:r>
                    <m:r>
                      <a:rPr lang="en-US" sz="2400" i="1" baseline="-25000" dirty="0">
                        <a:latin typeface="Cambria Math" panose="02040503050406030204" pitchFamily="18" charset="0"/>
                      </a:rPr>
                      <m:t>1</m:t>
                    </m:r>
                    <m:r>
                      <a:rPr lang="en-US" sz="2400" i="1" dirty="0">
                        <a:latin typeface="Cambria Math" panose="02040503050406030204" pitchFamily="18" charset="0"/>
                      </a:rPr>
                      <m:t> = 3 </m:t>
                    </m:r>
                  </m:oMath>
                </a14:m>
                <a:r>
                  <a:rPr lang="en-US" sz="2400" dirty="0"/>
                  <a:t>: assign job </a:t>
                </a:r>
                <a14:m>
                  <m:oMath xmlns:m="http://schemas.openxmlformats.org/officeDocument/2006/math">
                    <m:r>
                      <a:rPr lang="en-US" sz="2400" i="1" dirty="0">
                        <a:latin typeface="Cambria Math" panose="02040503050406030204" pitchFamily="18" charset="0"/>
                      </a:rPr>
                      <m:t>1</m:t>
                    </m:r>
                  </m:oMath>
                </a14:m>
                <a:r>
                  <a:rPr lang="en-US" sz="2400" dirty="0"/>
                  <a:t> to position </a:t>
                </a:r>
                <a14:m>
                  <m:oMath xmlns:m="http://schemas.openxmlformats.org/officeDocument/2006/math">
                    <m:r>
                      <a:rPr lang="en-US" sz="2400" i="1" dirty="0">
                        <a:latin typeface="Cambria Math" panose="02040503050406030204" pitchFamily="18" charset="0"/>
                      </a:rPr>
                      <m:t>3</m:t>
                    </m:r>
                  </m:oMath>
                </a14:m>
                <a:endParaRPr lang="da-DK" sz="2400" dirty="0"/>
              </a:p>
            </p:txBody>
          </p:sp>
        </mc:Choice>
        <mc:Fallback xmlns="">
          <p:sp>
            <p:nvSpPr>
              <p:cNvPr id="29" name="Rectangle 28"/>
              <p:cNvSpPr>
                <a:spLocks noRot="1" noChangeAspect="1" noMove="1" noResize="1" noEditPoints="1" noAdjustHandles="1" noChangeArrowheads="1" noChangeShapeType="1" noTextEdit="1"/>
              </p:cNvSpPr>
              <p:nvPr/>
            </p:nvSpPr>
            <p:spPr>
              <a:xfrm>
                <a:off x="2296886" y="4836467"/>
                <a:ext cx="4887300" cy="461665"/>
              </a:xfrm>
              <a:prstGeom prst="rect">
                <a:avLst/>
              </a:prstGeom>
              <a:blipFill>
                <a:blip r:embed="rId5"/>
                <a:stretch>
                  <a:fillRect t="-9211" b="-30263"/>
                </a:stretch>
              </a:blipFill>
            </p:spPr>
            <p:txBody>
              <a:bodyPr/>
              <a:lstStyle/>
              <a:p>
                <a:r>
                  <a:rPr lang="en-IN">
                    <a:noFill/>
                  </a:rPr>
                  <a:t> </a:t>
                </a:r>
              </a:p>
            </p:txBody>
          </p:sp>
        </mc:Fallback>
      </mc:AlternateContent>
    </p:spTree>
    <p:extLst>
      <p:ext uri="{BB962C8B-B14F-4D97-AF65-F5344CB8AC3E}">
        <p14:creationId xmlns:p14="http://schemas.microsoft.com/office/powerpoint/2010/main" val="4110857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1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wipe(left)">
                                      <p:cBhvr>
                                        <p:cTn id="16" dur="1000"/>
                                        <p:tgtEl>
                                          <p:spTgt spid="27"/>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heel(1)">
                                      <p:cBhvr>
                                        <p:cTn id="21" dur="10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8">
                                            <p:txEl>
                                              <p:pRg st="0" end="0"/>
                                            </p:txEl>
                                          </p:spTgt>
                                        </p:tgtEl>
                                        <p:attrNameLst>
                                          <p:attrName>style.visibility</p:attrName>
                                        </p:attrNameLst>
                                      </p:cBhvr>
                                      <p:to>
                                        <p:strVal val="visible"/>
                                      </p:to>
                                    </p:set>
                                    <p:animEffect transition="in" filter="fade">
                                      <p:cBhvr>
                                        <p:cTn id="26" dur="500"/>
                                        <p:tgtEl>
                                          <p:spTgt spid="28">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500"/>
                                        <p:tgtEl>
                                          <p:spTgt spid="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fade">
                                      <p:cBhvr>
                                        <p:cTn id="40" dur="500"/>
                                        <p:tgtEl>
                                          <p:spTgt spid="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fade">
                                      <p:cBhvr>
                                        <p:cTn id="43" dur="500"/>
                                        <p:tgtEl>
                                          <p:spTgt spid="6"/>
                                        </p:tgtEl>
                                      </p:cBhvr>
                                    </p:animEffect>
                                  </p:childTnLst>
                                </p:cTn>
                              </p:par>
                            </p:childTnLst>
                          </p:cTn>
                        </p:par>
                        <p:par>
                          <p:cTn id="44" fill="hold">
                            <p:stCondLst>
                              <p:cond delay="500"/>
                            </p:stCondLst>
                            <p:childTnLst>
                              <p:par>
                                <p:cTn id="45" presetID="10" presetClass="entr" presetSubtype="0" fill="hold" grpId="0" nodeType="after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500"/>
                                        <p:tgtEl>
                                          <p:spTgt spid="9"/>
                                        </p:tgtEl>
                                      </p:cBhvr>
                                    </p:animEffect>
                                  </p:childTnLst>
                                </p:cTn>
                              </p:par>
                            </p:childTnLst>
                          </p:cTn>
                        </p:par>
                        <p:par>
                          <p:cTn id="48" fill="hold">
                            <p:stCondLst>
                              <p:cond delay="1000"/>
                            </p:stCondLst>
                            <p:childTnLst>
                              <p:par>
                                <p:cTn id="49" presetID="10" presetClass="entr" presetSubtype="0" fill="hold" grpId="0" nodeType="after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fade">
                                      <p:cBhvr>
                                        <p:cTn id="51" dur="500"/>
                                        <p:tgtEl>
                                          <p:spTgt spid="10"/>
                                        </p:tgtEl>
                                      </p:cBhvr>
                                    </p:animEffect>
                                  </p:childTnLst>
                                </p:cTn>
                              </p:par>
                            </p:childTnLst>
                          </p:cTn>
                        </p:par>
                        <p:par>
                          <p:cTn id="52" fill="hold">
                            <p:stCondLst>
                              <p:cond delay="1500"/>
                            </p:stCondLst>
                            <p:childTnLst>
                              <p:par>
                                <p:cTn id="53" presetID="10" presetClass="entr" presetSubtype="0" fill="hold" grpId="0" nodeType="after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500"/>
                                        <p:tgtEl>
                                          <p:spTgt spid="11"/>
                                        </p:tgtEl>
                                      </p:cBhvr>
                                    </p:animEffect>
                                  </p:childTnLst>
                                </p:cTn>
                              </p:par>
                            </p:childTnLst>
                          </p:cTn>
                        </p:par>
                      </p:childTnLst>
                    </p:cTn>
                  </p:par>
                  <p:par>
                    <p:cTn id="56" fill="hold">
                      <p:stCondLst>
                        <p:cond delay="indefinite"/>
                      </p:stCondLst>
                      <p:childTnLst>
                        <p:par>
                          <p:cTn id="57" fill="hold">
                            <p:stCondLst>
                              <p:cond delay="0"/>
                            </p:stCondLst>
                            <p:childTnLst>
                              <p:par>
                                <p:cTn id="58" presetID="21" presetClass="entr" presetSubtype="1" fill="hold" grpId="0" nodeType="click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wheel(1)">
                                      <p:cBhvr>
                                        <p:cTn id="60" dur="1000"/>
                                        <p:tgtEl>
                                          <p:spTgt spid="24"/>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fade">
                                      <p:cBhvr>
                                        <p:cTn id="65" dur="500"/>
                                        <p:tgtEl>
                                          <p:spTgt spid="14"/>
                                        </p:tgtEl>
                                      </p:cBhvr>
                                    </p:animEffect>
                                  </p:childTnLst>
                                </p:cTn>
                              </p:par>
                            </p:childTnLst>
                          </p:cTn>
                        </p:par>
                        <p:par>
                          <p:cTn id="66" fill="hold">
                            <p:stCondLst>
                              <p:cond delay="500"/>
                            </p:stCondLst>
                            <p:childTnLst>
                              <p:par>
                                <p:cTn id="67" presetID="22" presetClass="entr" presetSubtype="8" fill="hold" grpId="0" nodeType="afterEffect">
                                  <p:stCondLst>
                                    <p:cond delay="0"/>
                                  </p:stCondLst>
                                  <p:childTnLst>
                                    <p:set>
                                      <p:cBhvr>
                                        <p:cTn id="68" dur="1" fill="hold">
                                          <p:stCondLst>
                                            <p:cond delay="0"/>
                                          </p:stCondLst>
                                        </p:cTn>
                                        <p:tgtEl>
                                          <p:spTgt spid="29"/>
                                        </p:tgtEl>
                                        <p:attrNameLst>
                                          <p:attrName>style.visibility</p:attrName>
                                        </p:attrNameLst>
                                      </p:cBhvr>
                                      <p:to>
                                        <p:strVal val="visible"/>
                                      </p:to>
                                    </p:set>
                                    <p:animEffect transition="in" filter="wipe(left)">
                                      <p:cBhvr>
                                        <p:cTn id="69" dur="1000"/>
                                        <p:tgtEl>
                                          <p:spTgt spid="29"/>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fade">
                                      <p:cBhvr>
                                        <p:cTn id="74" dur="500"/>
                                        <p:tgtEl>
                                          <p:spTgt spid="1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0"/>
                                        </p:tgtEl>
                                        <p:attrNameLst>
                                          <p:attrName>style.visibility</p:attrName>
                                        </p:attrNameLst>
                                      </p:cBhvr>
                                      <p:to>
                                        <p:strVal val="visible"/>
                                      </p:to>
                                    </p:set>
                                    <p:animEffect transition="in" filter="fade">
                                      <p:cBhvr>
                                        <p:cTn id="77" dur="500"/>
                                        <p:tgtEl>
                                          <p:spTgt spid="2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17"/>
                                        </p:tgtEl>
                                        <p:attrNameLst>
                                          <p:attrName>style.visibility</p:attrName>
                                        </p:attrNameLst>
                                      </p:cBhvr>
                                      <p:to>
                                        <p:strVal val="visible"/>
                                      </p:to>
                                    </p:set>
                                    <p:animEffect transition="in" filter="fade">
                                      <p:cBhvr>
                                        <p:cTn id="80" dur="500"/>
                                        <p:tgtEl>
                                          <p:spTgt spid="1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500"/>
                                        <p:tgtEl>
                                          <p:spTgt spid="1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19"/>
                                        </p:tgtEl>
                                        <p:attrNameLst>
                                          <p:attrName>style.visibility</p:attrName>
                                        </p:attrNameLst>
                                      </p:cBhvr>
                                      <p:to>
                                        <p:strVal val="visible"/>
                                      </p:to>
                                    </p:set>
                                    <p:animEffect transition="in" filter="fade">
                                      <p:cBhvr>
                                        <p:cTn id="86" dur="500"/>
                                        <p:tgtEl>
                                          <p:spTgt spid="19"/>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21"/>
                                        </p:tgtEl>
                                        <p:attrNameLst>
                                          <p:attrName>style.visibility</p:attrName>
                                        </p:attrNameLst>
                                      </p:cBhvr>
                                      <p:to>
                                        <p:strVal val="visible"/>
                                      </p:to>
                                    </p:set>
                                    <p:animEffect transition="in" filter="fade">
                                      <p:cBhvr>
                                        <p:cTn id="91" dur="500"/>
                                        <p:tgtEl>
                                          <p:spTgt spid="2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22"/>
                                        </p:tgtEl>
                                        <p:attrNameLst>
                                          <p:attrName>style.visibility</p:attrName>
                                        </p:attrNameLst>
                                      </p:cBhvr>
                                      <p:to>
                                        <p:strVal val="visible"/>
                                      </p:to>
                                    </p:set>
                                    <p:animEffect transition="in" filter="fade">
                                      <p:cBhvr>
                                        <p:cTn id="94" dur="500"/>
                                        <p:tgtEl>
                                          <p:spTgt spid="2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23"/>
                                        </p:tgtEl>
                                        <p:attrNameLst>
                                          <p:attrName>style.visibility</p:attrName>
                                        </p:attrNameLst>
                                      </p:cBhvr>
                                      <p:to>
                                        <p:strVal val="visible"/>
                                      </p:to>
                                    </p:set>
                                    <p:animEffect transition="in" filter="fade">
                                      <p:cBhvr>
                                        <p:cTn id="97" dur="500"/>
                                        <p:tgtEl>
                                          <p:spTgt spid="23"/>
                                        </p:tgtEl>
                                      </p:cBhvr>
                                    </p:animEffect>
                                  </p:childTnLst>
                                </p:cTn>
                              </p:par>
                            </p:childTnLst>
                          </p:cTn>
                        </p:par>
                      </p:childTnLst>
                    </p:cTn>
                  </p:par>
                  <p:par>
                    <p:cTn id="98" fill="hold">
                      <p:stCondLst>
                        <p:cond delay="indefinite"/>
                      </p:stCondLst>
                      <p:childTnLst>
                        <p:par>
                          <p:cTn id="99" fill="hold">
                            <p:stCondLst>
                              <p:cond delay="0"/>
                            </p:stCondLst>
                            <p:childTnLst>
                              <p:par>
                                <p:cTn id="100" presetID="21" presetClass="entr" presetSubtype="1" fill="hold" grpId="0" nodeType="clickEffect">
                                  <p:stCondLst>
                                    <p:cond delay="0"/>
                                  </p:stCondLst>
                                  <p:childTnLst>
                                    <p:set>
                                      <p:cBhvr>
                                        <p:cTn id="101" dur="1" fill="hold">
                                          <p:stCondLst>
                                            <p:cond delay="0"/>
                                          </p:stCondLst>
                                        </p:cTn>
                                        <p:tgtEl>
                                          <p:spTgt spid="25"/>
                                        </p:tgtEl>
                                        <p:attrNameLst>
                                          <p:attrName>style.visibility</p:attrName>
                                        </p:attrNameLst>
                                      </p:cBhvr>
                                      <p:to>
                                        <p:strVal val="visible"/>
                                      </p:to>
                                    </p:set>
                                    <p:animEffect transition="in" filter="wheel(1)">
                                      <p:cBhvr>
                                        <p:cTn id="102"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7" grpId="0"/>
      <p:bldP spid="2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Job Scheduling with Deadlines - Example</a:t>
            </a:r>
            <a:endParaRPr lang="en-US" dirty="0"/>
          </a:p>
        </p:txBody>
      </p:sp>
      <p:sp>
        <p:nvSpPr>
          <p:cNvPr id="4" name="Rectangle 3"/>
          <p:cNvSpPr/>
          <p:nvPr/>
        </p:nvSpPr>
        <p:spPr>
          <a:xfrm>
            <a:off x="3056614" y="3260270"/>
            <a:ext cx="23622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P</a:t>
            </a:r>
          </a:p>
        </p:txBody>
      </p:sp>
      <p:sp>
        <p:nvSpPr>
          <p:cNvPr id="5" name="Rectangle 4"/>
          <p:cNvSpPr/>
          <p:nvPr/>
        </p:nvSpPr>
        <p:spPr>
          <a:xfrm>
            <a:off x="5413126" y="3260270"/>
            <a:ext cx="6858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1</a:t>
            </a:r>
          </a:p>
        </p:txBody>
      </p:sp>
      <p:sp>
        <p:nvSpPr>
          <p:cNvPr id="6" name="Rectangle 5"/>
          <p:cNvSpPr/>
          <p:nvPr/>
        </p:nvSpPr>
        <p:spPr>
          <a:xfrm>
            <a:off x="6096654" y="3260270"/>
            <a:ext cx="6858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2</a:t>
            </a:r>
          </a:p>
        </p:txBody>
      </p:sp>
      <p:sp>
        <p:nvSpPr>
          <p:cNvPr id="7" name="Rectangle 6"/>
          <p:cNvSpPr/>
          <p:nvPr/>
        </p:nvSpPr>
        <p:spPr>
          <a:xfrm>
            <a:off x="6786998" y="3260270"/>
            <a:ext cx="6858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3</a:t>
            </a:r>
          </a:p>
        </p:txBody>
      </p:sp>
      <p:sp>
        <p:nvSpPr>
          <p:cNvPr id="8" name="Rectangle 7"/>
          <p:cNvSpPr/>
          <p:nvPr/>
        </p:nvSpPr>
        <p:spPr>
          <a:xfrm>
            <a:off x="3056614" y="3720314"/>
            <a:ext cx="23622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Job selected</a:t>
            </a:r>
          </a:p>
        </p:txBody>
      </p:sp>
      <p:sp>
        <p:nvSpPr>
          <p:cNvPr id="9" name="Rectangle 8"/>
          <p:cNvSpPr/>
          <p:nvPr/>
        </p:nvSpPr>
        <p:spPr>
          <a:xfrm>
            <a:off x="5413126" y="3720314"/>
            <a:ext cx="6858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J2</a:t>
            </a:r>
          </a:p>
        </p:txBody>
      </p:sp>
      <p:sp>
        <p:nvSpPr>
          <p:cNvPr id="10" name="Rectangle 9"/>
          <p:cNvSpPr/>
          <p:nvPr/>
        </p:nvSpPr>
        <p:spPr>
          <a:xfrm>
            <a:off x="6096654" y="3720314"/>
            <a:ext cx="6858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0</a:t>
            </a:r>
          </a:p>
        </p:txBody>
      </p:sp>
      <p:sp>
        <p:nvSpPr>
          <p:cNvPr id="11" name="Rectangle 10"/>
          <p:cNvSpPr/>
          <p:nvPr/>
        </p:nvSpPr>
        <p:spPr>
          <a:xfrm>
            <a:off x="6786998" y="3720314"/>
            <a:ext cx="6858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J1</a:t>
            </a:r>
          </a:p>
        </p:txBody>
      </p:sp>
      <mc:AlternateContent xmlns:mc="http://schemas.openxmlformats.org/markup-compatibility/2006" xmlns:a14="http://schemas.microsoft.com/office/drawing/2010/main">
        <mc:Choice Requires="a14">
          <p:graphicFrame>
            <p:nvGraphicFramePr>
              <p:cNvPr id="12" name="Table 11"/>
              <p:cNvGraphicFramePr>
                <a:graphicFrameLocks noGrp="1"/>
              </p:cNvGraphicFramePr>
              <p:nvPr/>
            </p:nvGraphicFramePr>
            <p:xfrm>
              <a:off x="2197825" y="1035524"/>
              <a:ext cx="6141721" cy="1279779"/>
            </p:xfrm>
            <a:graphic>
              <a:graphicData uri="http://schemas.openxmlformats.org/drawingml/2006/table">
                <a:tbl>
                  <a:tblPr firstRow="1" firstCol="1" bandRow="1">
                    <a:tableStyleId>{21E4AEA4-8DFA-4A89-87EB-49C32662AFE0}</a:tableStyleId>
                  </a:tblPr>
                  <a:tblGrid>
                    <a:gridCol w="1752601">
                      <a:extLst>
                        <a:ext uri="{9D8B030D-6E8A-4147-A177-3AD203B41FA5}">
                          <a16:colId xmlns:a16="http://schemas.microsoft.com/office/drawing/2014/main" val="1922602082"/>
                        </a:ext>
                      </a:extLst>
                    </a:gridCol>
                    <a:gridCol w="731520">
                      <a:extLst>
                        <a:ext uri="{9D8B030D-6E8A-4147-A177-3AD203B41FA5}">
                          <a16:colId xmlns:a16="http://schemas.microsoft.com/office/drawing/2014/main" val="717586990"/>
                        </a:ext>
                      </a:extLst>
                    </a:gridCol>
                    <a:gridCol w="731520">
                      <a:extLst>
                        <a:ext uri="{9D8B030D-6E8A-4147-A177-3AD203B41FA5}">
                          <a16:colId xmlns:a16="http://schemas.microsoft.com/office/drawing/2014/main" val="3968607451"/>
                        </a:ext>
                      </a:extLst>
                    </a:gridCol>
                    <a:gridCol w="731520">
                      <a:extLst>
                        <a:ext uri="{9D8B030D-6E8A-4147-A177-3AD203B41FA5}">
                          <a16:colId xmlns:a16="http://schemas.microsoft.com/office/drawing/2014/main" val="2999164042"/>
                        </a:ext>
                      </a:extLst>
                    </a:gridCol>
                    <a:gridCol w="731520">
                      <a:extLst>
                        <a:ext uri="{9D8B030D-6E8A-4147-A177-3AD203B41FA5}">
                          <a16:colId xmlns:a16="http://schemas.microsoft.com/office/drawing/2014/main" val="2383096932"/>
                        </a:ext>
                      </a:extLst>
                    </a:gridCol>
                    <a:gridCol w="731520">
                      <a:extLst>
                        <a:ext uri="{9D8B030D-6E8A-4147-A177-3AD203B41FA5}">
                          <a16:colId xmlns:a16="http://schemas.microsoft.com/office/drawing/2014/main" val="3734613195"/>
                        </a:ext>
                      </a:extLst>
                    </a:gridCol>
                    <a:gridCol w="731520">
                      <a:extLst>
                        <a:ext uri="{9D8B030D-6E8A-4147-A177-3AD203B41FA5}">
                          <a16:colId xmlns:a16="http://schemas.microsoft.com/office/drawing/2014/main" val="1054917901"/>
                        </a:ext>
                      </a:extLst>
                    </a:gridCol>
                  </a:tblGrid>
                  <a:tr h="426593">
                    <a:tc>
                      <a:txBody>
                        <a:bodyPr/>
                        <a:lstStyle/>
                        <a:p>
                          <a:pPr marL="0" marR="0" algn="just">
                            <a:lnSpc>
                              <a:spcPct val="115000"/>
                            </a:lnSpc>
                            <a:spcBef>
                              <a:spcPts val="0"/>
                            </a:spcBef>
                            <a:spcAft>
                              <a:spcPts val="0"/>
                            </a:spcAft>
                          </a:pPr>
                          <a:r>
                            <a:rPr lang="en-US" sz="2400" b="0" dirty="0">
                              <a:solidFill>
                                <a:srgbClr val="C00000"/>
                              </a:solidFill>
                              <a:effectLst/>
                            </a:rPr>
                            <a:t>Job </a:t>
                          </a:r>
                          <a14:m>
                            <m:oMath xmlns:m="http://schemas.openxmlformats.org/officeDocument/2006/math">
                              <m:r>
                                <a:rPr lang="en-US" sz="2400" b="0" i="1" dirty="0" smtClean="0">
                                  <a:solidFill>
                                    <a:srgbClr val="C00000"/>
                                  </a:solidFill>
                                  <a:effectLst/>
                                  <a:latin typeface="Cambria Math" panose="02040503050406030204" pitchFamily="18" charset="0"/>
                                </a:rPr>
                                <m:t>𝑖</m:t>
                              </m:r>
                            </m:oMath>
                          </a14:m>
                          <a:endParaRPr lang="en-US" sz="2400" b="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solidFill>
                                      <a:srgbClr val="C00000"/>
                                    </a:solidFill>
                                    <a:effectLst/>
                                    <a:latin typeface="Cambria Math" panose="02040503050406030204" pitchFamily="18" charset="0"/>
                                  </a:rPr>
                                  <m:t>𝟏</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solidFill>
                                      <a:srgbClr val="C00000"/>
                                    </a:solidFill>
                                    <a:effectLst/>
                                    <a:latin typeface="Cambria Math" panose="02040503050406030204" pitchFamily="18" charset="0"/>
                                  </a:rPr>
                                  <m:t>𝟐</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C00000"/>
                                    </a:solidFill>
                                    <a:effectLst/>
                                    <a:latin typeface="Cambria Math" panose="02040503050406030204" pitchFamily="18" charset="0"/>
                                  </a:rPr>
                                  <m:t>𝟑</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C00000"/>
                                    </a:solidFill>
                                    <a:effectLst/>
                                    <a:latin typeface="Cambria Math" panose="02040503050406030204" pitchFamily="18" charset="0"/>
                                  </a:rPr>
                                  <m:t>𝟒</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C00000"/>
                                    </a:solidFill>
                                    <a:effectLst/>
                                    <a:latin typeface="Cambria Math" panose="02040503050406030204" pitchFamily="18" charset="0"/>
                                  </a:rPr>
                                  <m:t>𝟓</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C00000"/>
                                    </a:solidFill>
                                    <a:effectLst/>
                                    <a:latin typeface="Cambria Math" panose="02040503050406030204" pitchFamily="18" charset="0"/>
                                  </a:rPr>
                                  <m:t>𝟔</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extLst>
                      <a:ext uri="{0D108BD9-81ED-4DB2-BD59-A6C34878D82A}">
                        <a16:rowId xmlns:a16="http://schemas.microsoft.com/office/drawing/2014/main" val="2221168723"/>
                      </a:ext>
                    </a:extLst>
                  </a:tr>
                  <a:tr h="426593">
                    <a:tc>
                      <a:txBody>
                        <a:bodyPr/>
                        <a:lstStyle/>
                        <a:p>
                          <a:pPr marL="0" marR="0" algn="just">
                            <a:lnSpc>
                              <a:spcPct val="115000"/>
                            </a:lnSpc>
                            <a:spcBef>
                              <a:spcPts val="0"/>
                            </a:spcBef>
                            <a:spcAft>
                              <a:spcPts val="0"/>
                            </a:spcAft>
                          </a:pPr>
                          <a:r>
                            <a:rPr lang="en-US" sz="2400" b="0" dirty="0">
                              <a:solidFill>
                                <a:srgbClr val="C00000"/>
                              </a:solidFill>
                              <a:effectLst/>
                            </a:rPr>
                            <a:t>Profit </a:t>
                          </a:r>
                          <a14:m>
                            <m:oMath xmlns:m="http://schemas.openxmlformats.org/officeDocument/2006/math">
                              <m:sSub>
                                <m:sSubPr>
                                  <m:ctrlPr>
                                    <a:rPr lang="en-US" sz="2400" b="0" i="1" dirty="0" smtClean="0">
                                      <a:solidFill>
                                        <a:srgbClr val="C00000"/>
                                      </a:solidFill>
                                      <a:latin typeface="Cambria Math" panose="02040503050406030204" pitchFamily="18" charset="0"/>
                                    </a:rPr>
                                  </m:ctrlPr>
                                </m:sSubPr>
                                <m:e>
                                  <m:r>
                                    <a:rPr lang="en-US" sz="2400" b="0" i="1" dirty="0" smtClean="0">
                                      <a:solidFill>
                                        <a:srgbClr val="C00000"/>
                                      </a:solidFill>
                                      <a:latin typeface="Cambria Math" panose="02040503050406030204" pitchFamily="18" charset="0"/>
                                    </a:rPr>
                                    <m:t>𝑔</m:t>
                                  </m:r>
                                </m:e>
                                <m:sub>
                                  <m:r>
                                    <a:rPr lang="en-US" sz="2400" b="0" i="1" dirty="0" smtClean="0">
                                      <a:solidFill>
                                        <a:srgbClr val="C00000"/>
                                      </a:solidFill>
                                      <a:latin typeface="Cambria Math" panose="02040503050406030204" pitchFamily="18" charset="0"/>
                                    </a:rPr>
                                    <m:t>𝑖</m:t>
                                  </m:r>
                                </m:sub>
                              </m:sSub>
                            </m:oMath>
                          </a14:m>
                          <a:endParaRPr lang="en-US" sz="2400" b="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𝟐𝟎</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𝟏𝟓</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𝟏𝟎</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𝟕</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effectLst/>
                                    <a:latin typeface="Cambria Math" panose="02040503050406030204" pitchFamily="18" charset="0"/>
                                  </a:rPr>
                                  <m:t>𝟓</m:t>
                                </m:r>
                              </m:oMath>
                            </m:oMathPara>
                          </a14:m>
                          <a:endParaRPr lang="en-US" sz="2400" b="1">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effectLst/>
                                    <a:latin typeface="Cambria Math" panose="02040503050406030204" pitchFamily="18" charset="0"/>
                                  </a:rPr>
                                  <m:t>𝟑</m:t>
                                </m:r>
                              </m:oMath>
                            </m:oMathPara>
                          </a14:m>
                          <a:endParaRPr lang="en-US" sz="2400" b="1">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6479883"/>
                      </a:ext>
                    </a:extLst>
                  </a:tr>
                  <a:tr h="426593">
                    <a:tc>
                      <a:txBody>
                        <a:bodyPr/>
                        <a:lstStyle/>
                        <a:p>
                          <a:r>
                            <a:rPr lang="en-US" sz="2400" b="0" dirty="0">
                              <a:solidFill>
                                <a:srgbClr val="C00000"/>
                              </a:solidFill>
                              <a:effectLst/>
                            </a:rPr>
                            <a:t>Deadline </a:t>
                          </a:r>
                          <a14:m>
                            <m:oMath xmlns:m="http://schemas.openxmlformats.org/officeDocument/2006/math">
                              <m:sSub>
                                <m:sSubPr>
                                  <m:ctrlPr>
                                    <a:rPr lang="en-US" sz="2400" b="0" i="1" dirty="0" smtClean="0">
                                      <a:solidFill>
                                        <a:srgbClr val="C00000"/>
                                      </a:solidFill>
                                      <a:latin typeface="Cambria Math" panose="02040503050406030204" pitchFamily="18" charset="0"/>
                                    </a:rPr>
                                  </m:ctrlPr>
                                </m:sSubPr>
                                <m:e>
                                  <m:r>
                                    <a:rPr lang="en-US" sz="2400" b="0" i="1" dirty="0" smtClean="0">
                                      <a:solidFill>
                                        <a:srgbClr val="C00000"/>
                                      </a:solidFill>
                                      <a:latin typeface="Cambria Math" panose="02040503050406030204" pitchFamily="18" charset="0"/>
                                    </a:rPr>
                                    <m:t>𝑑</m:t>
                                  </m:r>
                                </m:e>
                                <m:sub>
                                  <m:r>
                                    <a:rPr lang="en-US" sz="2400" b="0" i="1" dirty="0" smtClean="0">
                                      <a:solidFill>
                                        <a:srgbClr val="C00000"/>
                                      </a:solidFill>
                                      <a:latin typeface="Cambria Math" panose="02040503050406030204" pitchFamily="18" charset="0"/>
                                    </a:rPr>
                                    <m:t>𝑖</m:t>
                                  </m:r>
                                </m:sub>
                              </m:sSub>
                              <m:r>
                                <a:rPr lang="en-US" sz="2400" b="0" i="1" dirty="0" smtClean="0">
                                  <a:solidFill>
                                    <a:srgbClr val="C00000"/>
                                  </a:solidFill>
                                  <a:latin typeface="Cambria Math" panose="02040503050406030204" pitchFamily="18" charset="0"/>
                                </a:rPr>
                                <m:t>.</m:t>
                              </m:r>
                            </m:oMath>
                          </a14:m>
                          <a:endParaRPr lang="en-US" sz="2400" b="0" dirty="0">
                            <a:solidFill>
                              <a:srgbClr val="C00000"/>
                            </a:solidFil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3643208"/>
                      </a:ext>
                    </a:extLst>
                  </a:tr>
                </a:tbl>
              </a:graphicData>
            </a:graphic>
          </p:graphicFrame>
        </mc:Choice>
        <mc:Fallback xmlns="">
          <p:graphicFrame>
            <p:nvGraphicFramePr>
              <p:cNvPr id="12" name="Table 11"/>
              <p:cNvGraphicFramePr>
                <a:graphicFrameLocks noGrp="1"/>
              </p:cNvGraphicFramePr>
              <p:nvPr>
                <p:extLst/>
              </p:nvPr>
            </p:nvGraphicFramePr>
            <p:xfrm>
              <a:off x="2197825" y="1035524"/>
              <a:ext cx="6141721" cy="1279779"/>
            </p:xfrm>
            <a:graphic>
              <a:graphicData uri="http://schemas.openxmlformats.org/drawingml/2006/table">
                <a:tbl>
                  <a:tblPr firstRow="1" firstCol="1" bandRow="1">
                    <a:tableStyleId>{21E4AEA4-8DFA-4A89-87EB-49C32662AFE0}</a:tableStyleId>
                  </a:tblPr>
                  <a:tblGrid>
                    <a:gridCol w="1752601">
                      <a:extLst>
                        <a:ext uri="{9D8B030D-6E8A-4147-A177-3AD203B41FA5}">
                          <a16:colId xmlns:a16="http://schemas.microsoft.com/office/drawing/2014/main" xmlns:a14="http://schemas.microsoft.com/office/drawing/2010/main" xmlns="" val="1922602082"/>
                        </a:ext>
                      </a:extLst>
                    </a:gridCol>
                    <a:gridCol w="731520">
                      <a:extLst>
                        <a:ext uri="{9D8B030D-6E8A-4147-A177-3AD203B41FA5}">
                          <a16:colId xmlns:a16="http://schemas.microsoft.com/office/drawing/2014/main" xmlns:a14="http://schemas.microsoft.com/office/drawing/2010/main" xmlns="" val="717586990"/>
                        </a:ext>
                      </a:extLst>
                    </a:gridCol>
                    <a:gridCol w="731520">
                      <a:extLst>
                        <a:ext uri="{9D8B030D-6E8A-4147-A177-3AD203B41FA5}">
                          <a16:colId xmlns:a16="http://schemas.microsoft.com/office/drawing/2014/main" xmlns:a14="http://schemas.microsoft.com/office/drawing/2010/main" xmlns="" val="3968607451"/>
                        </a:ext>
                      </a:extLst>
                    </a:gridCol>
                    <a:gridCol w="731520">
                      <a:extLst>
                        <a:ext uri="{9D8B030D-6E8A-4147-A177-3AD203B41FA5}">
                          <a16:colId xmlns:a16="http://schemas.microsoft.com/office/drawing/2014/main" xmlns:a14="http://schemas.microsoft.com/office/drawing/2010/main" xmlns="" val="2999164042"/>
                        </a:ext>
                      </a:extLst>
                    </a:gridCol>
                    <a:gridCol w="731520">
                      <a:extLst>
                        <a:ext uri="{9D8B030D-6E8A-4147-A177-3AD203B41FA5}">
                          <a16:colId xmlns:a16="http://schemas.microsoft.com/office/drawing/2014/main" xmlns:a14="http://schemas.microsoft.com/office/drawing/2010/main" xmlns="" val="2383096932"/>
                        </a:ext>
                      </a:extLst>
                    </a:gridCol>
                    <a:gridCol w="731520">
                      <a:extLst>
                        <a:ext uri="{9D8B030D-6E8A-4147-A177-3AD203B41FA5}">
                          <a16:colId xmlns:a16="http://schemas.microsoft.com/office/drawing/2014/main" xmlns:a14="http://schemas.microsoft.com/office/drawing/2010/main" xmlns="" val="3734613195"/>
                        </a:ext>
                      </a:extLst>
                    </a:gridCol>
                    <a:gridCol w="731520">
                      <a:extLst>
                        <a:ext uri="{9D8B030D-6E8A-4147-A177-3AD203B41FA5}">
                          <a16:colId xmlns:a16="http://schemas.microsoft.com/office/drawing/2014/main" xmlns:a14="http://schemas.microsoft.com/office/drawing/2010/main" xmlns="" val="1054917901"/>
                        </a:ext>
                      </a:extLst>
                    </a:gridCol>
                  </a:tblGrid>
                  <a:tr h="426593">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347" t="-12857" r="-251042" b="-23857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240833" t="-12857" r="-502500" b="-23857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340833" t="-12857" r="-402500" b="-23857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440833" t="-12857" r="-302500" b="-23857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536364" t="-12857" r="-200000" b="-23857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641667" t="-12857" r="-101667" b="-23857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741667" t="-12857" r="-1667" b="-238571"/>
                          </a:stretch>
                        </a:blipFill>
                      </a:tcPr>
                    </a:tc>
                    <a:extLst>
                      <a:ext uri="{0D108BD9-81ED-4DB2-BD59-A6C34878D82A}">
                        <a16:rowId xmlns:a16="http://schemas.microsoft.com/office/drawing/2014/main" xmlns:a14="http://schemas.microsoft.com/office/drawing/2010/main" xmlns="" val="2221168723"/>
                      </a:ext>
                    </a:extLst>
                  </a:tr>
                  <a:tr h="426593">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347" t="-111268" r="-251042" b="-1352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240833" t="-111268" r="-502500" b="-1352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340833" t="-111268" r="-402500" b="-1352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440833" t="-111268" r="-302500" b="-1352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536364" t="-111268" r="-200000" b="-1352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641667" t="-111268" r="-101667" b="-1352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741667" t="-111268" r="-1667" b="-135211"/>
                          </a:stretch>
                        </a:blipFill>
                      </a:tcPr>
                    </a:tc>
                    <a:extLst>
                      <a:ext uri="{0D108BD9-81ED-4DB2-BD59-A6C34878D82A}">
                        <a16:rowId xmlns:a16="http://schemas.microsoft.com/office/drawing/2014/main" xmlns:a14="http://schemas.microsoft.com/office/drawing/2010/main" xmlns="" val="3016479883"/>
                      </a:ext>
                    </a:extLst>
                  </a:tr>
                  <a:tr h="426593">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347" t="-214286" r="-251042" b="-3714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240833" t="-214286" r="-502500" b="-3714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340833" t="-214286" r="-402500" b="-3714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440833" t="-214286" r="-302500" b="-3714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536364" t="-214286" r="-200000" b="-3714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641667" t="-214286" r="-101667" b="-3714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741667" t="-214286" r="-1667" b="-37143"/>
                          </a:stretch>
                        </a:blipFill>
                      </a:tcPr>
                    </a:tc>
                    <a:extLst>
                      <a:ext uri="{0D108BD9-81ED-4DB2-BD59-A6C34878D82A}">
                        <a16:rowId xmlns:a16="http://schemas.microsoft.com/office/drawing/2014/main" xmlns:a14="http://schemas.microsoft.com/office/drawing/2010/main" xmlns="" val="2033643208"/>
                      </a:ext>
                    </a:extLst>
                  </a:tr>
                </a:tbl>
              </a:graphicData>
            </a:graphic>
          </p:graphicFrame>
        </mc:Fallback>
      </mc:AlternateContent>
      <p:sp>
        <p:nvSpPr>
          <p:cNvPr id="13" name="Rectangle 12"/>
          <p:cNvSpPr/>
          <p:nvPr/>
        </p:nvSpPr>
        <p:spPr>
          <a:xfrm>
            <a:off x="1230087" y="2545344"/>
            <a:ext cx="1066799" cy="3810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Step 4:</a:t>
            </a:r>
          </a:p>
        </p:txBody>
      </p:sp>
      <p:sp>
        <p:nvSpPr>
          <p:cNvPr id="14" name="Rectangle 13"/>
          <p:cNvSpPr/>
          <p:nvPr/>
        </p:nvSpPr>
        <p:spPr>
          <a:xfrm>
            <a:off x="1230087" y="4706981"/>
            <a:ext cx="1066799" cy="3810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Step 5:</a:t>
            </a:r>
          </a:p>
        </p:txBody>
      </p:sp>
      <p:sp>
        <p:nvSpPr>
          <p:cNvPr id="24" name="Oval 23"/>
          <p:cNvSpPr/>
          <p:nvPr/>
        </p:nvSpPr>
        <p:spPr>
          <a:xfrm>
            <a:off x="4778831" y="1905000"/>
            <a:ext cx="457200" cy="410303"/>
          </a:xfrm>
          <a:prstGeom prst="ellipse">
            <a:avLst/>
          </a:prstGeom>
          <a:noFill/>
          <a:ln w="19050">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Rectangle 26"/>
              <p:cNvSpPr/>
              <p:nvPr/>
            </p:nvSpPr>
            <p:spPr>
              <a:xfrm>
                <a:off x="2296886" y="2505011"/>
                <a:ext cx="4924681" cy="461665"/>
              </a:xfrm>
              <a:prstGeom prst="rect">
                <a:avLst/>
              </a:prstGeom>
            </p:spPr>
            <p:txBody>
              <a:bodyPr wrap="none">
                <a:spAutoFit/>
              </a:bodyPr>
              <a:lstStyle/>
              <a:p>
                <a:pPr marL="400050" lvl="1"/>
                <a14:m>
                  <m:oMath xmlns:m="http://schemas.openxmlformats.org/officeDocument/2006/math">
                    <m:r>
                      <a:rPr lang="en-US" sz="2400" i="1" dirty="0">
                        <a:latin typeface="Cambria Math" panose="02040503050406030204" pitchFamily="18" charset="0"/>
                      </a:rPr>
                      <m:t>𝑑</m:t>
                    </m:r>
                    <m:r>
                      <a:rPr lang="en-US" sz="2400" i="1" baseline="-25000" dirty="0">
                        <a:latin typeface="Cambria Math" panose="02040503050406030204" pitchFamily="18" charset="0"/>
                      </a:rPr>
                      <m:t>2</m:t>
                    </m:r>
                    <m:r>
                      <a:rPr lang="en-US" sz="2400" i="1" dirty="0">
                        <a:latin typeface="Cambria Math" panose="02040503050406030204" pitchFamily="18" charset="0"/>
                      </a:rPr>
                      <m:t> = 1 : </m:t>
                    </m:r>
                  </m:oMath>
                </a14:m>
                <a:r>
                  <a:rPr lang="en-US" sz="2400" dirty="0"/>
                  <a:t>assign job </a:t>
                </a:r>
                <a14:m>
                  <m:oMath xmlns:m="http://schemas.openxmlformats.org/officeDocument/2006/math">
                    <m:r>
                      <a:rPr lang="en-US" sz="2400" i="1" dirty="0">
                        <a:latin typeface="Cambria Math" panose="02040503050406030204" pitchFamily="18" charset="0"/>
                      </a:rPr>
                      <m:t>2</m:t>
                    </m:r>
                  </m:oMath>
                </a14:m>
                <a:r>
                  <a:rPr lang="en-US" sz="2400" dirty="0"/>
                  <a:t> to position </a:t>
                </a:r>
                <a14:m>
                  <m:oMath xmlns:m="http://schemas.openxmlformats.org/officeDocument/2006/math">
                    <m:r>
                      <a:rPr lang="en-US" sz="2400" i="1" dirty="0">
                        <a:latin typeface="Cambria Math" panose="02040503050406030204" pitchFamily="18" charset="0"/>
                      </a:rPr>
                      <m:t>1</m:t>
                    </m:r>
                  </m:oMath>
                </a14:m>
                <a:endParaRPr lang="da-DK" sz="2400" dirty="0"/>
              </a:p>
            </p:txBody>
          </p:sp>
        </mc:Choice>
        <mc:Fallback xmlns="">
          <p:sp>
            <p:nvSpPr>
              <p:cNvPr id="27" name="Rectangle 26"/>
              <p:cNvSpPr>
                <a:spLocks noRot="1" noChangeAspect="1" noMove="1" noResize="1" noEditPoints="1" noAdjustHandles="1" noChangeArrowheads="1" noChangeShapeType="1" noTextEdit="1"/>
              </p:cNvSpPr>
              <p:nvPr/>
            </p:nvSpPr>
            <p:spPr>
              <a:xfrm>
                <a:off x="2296886" y="2505011"/>
                <a:ext cx="4924681" cy="461665"/>
              </a:xfrm>
              <a:prstGeom prst="rect">
                <a:avLst/>
              </a:prstGeom>
              <a:blipFill>
                <a:blip r:embed="rId3"/>
                <a:stretch>
                  <a:fillRect t="-9211" b="-302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Rectangle 28"/>
              <p:cNvSpPr/>
              <p:nvPr/>
            </p:nvSpPr>
            <p:spPr>
              <a:xfrm>
                <a:off x="2296886" y="4666648"/>
                <a:ext cx="4887300" cy="461665"/>
              </a:xfrm>
              <a:prstGeom prst="rect">
                <a:avLst/>
              </a:prstGeom>
            </p:spPr>
            <p:txBody>
              <a:bodyPr wrap="none">
                <a:spAutoFit/>
              </a:bodyPr>
              <a:lstStyle/>
              <a:p>
                <a:pPr marL="400050" lvl="1" indent="0">
                  <a:buNone/>
                </a:pPr>
                <a14:m>
                  <m:oMath xmlns:m="http://schemas.openxmlformats.org/officeDocument/2006/math">
                    <m:r>
                      <a:rPr lang="en-US" sz="2400" i="1" dirty="0">
                        <a:latin typeface="Cambria Math" panose="02040503050406030204" pitchFamily="18" charset="0"/>
                      </a:rPr>
                      <m:t>𝑑</m:t>
                    </m:r>
                    <m:r>
                      <a:rPr lang="en-US" sz="2400" i="1" baseline="-25000" dirty="0">
                        <a:latin typeface="Cambria Math" panose="02040503050406030204" pitchFamily="18" charset="0"/>
                      </a:rPr>
                      <m:t>3</m:t>
                    </m:r>
                    <m:r>
                      <a:rPr lang="en-US" sz="2400" i="1" dirty="0">
                        <a:latin typeface="Cambria Math" panose="02040503050406030204" pitchFamily="18" charset="0"/>
                      </a:rPr>
                      <m:t> =1 </m:t>
                    </m:r>
                  </m:oMath>
                </a14:m>
                <a:r>
                  <a:rPr lang="en-US" sz="2400" dirty="0"/>
                  <a:t>: assign job </a:t>
                </a:r>
                <a14:m>
                  <m:oMath xmlns:m="http://schemas.openxmlformats.org/officeDocument/2006/math">
                    <m:r>
                      <a:rPr lang="en-US" sz="2400" i="1" dirty="0">
                        <a:latin typeface="Cambria Math" panose="02040503050406030204" pitchFamily="18" charset="0"/>
                      </a:rPr>
                      <m:t>3</m:t>
                    </m:r>
                  </m:oMath>
                </a14:m>
                <a:r>
                  <a:rPr lang="en-US" sz="2400" dirty="0"/>
                  <a:t> to position </a:t>
                </a:r>
                <a14:m>
                  <m:oMath xmlns:m="http://schemas.openxmlformats.org/officeDocument/2006/math">
                    <m:r>
                      <a:rPr lang="en-US" sz="2400" i="1" dirty="0">
                        <a:latin typeface="Cambria Math" panose="02040503050406030204" pitchFamily="18" charset="0"/>
                      </a:rPr>
                      <m:t>1</m:t>
                    </m:r>
                  </m:oMath>
                </a14:m>
                <a:endParaRPr lang="da-DK" sz="2400" dirty="0"/>
              </a:p>
            </p:txBody>
          </p:sp>
        </mc:Choice>
        <mc:Fallback xmlns="">
          <p:sp>
            <p:nvSpPr>
              <p:cNvPr id="29" name="Rectangle 28"/>
              <p:cNvSpPr>
                <a:spLocks noRot="1" noChangeAspect="1" noMove="1" noResize="1" noEditPoints="1" noAdjustHandles="1" noChangeArrowheads="1" noChangeShapeType="1" noTextEdit="1"/>
              </p:cNvSpPr>
              <p:nvPr/>
            </p:nvSpPr>
            <p:spPr>
              <a:xfrm>
                <a:off x="2296886" y="4666648"/>
                <a:ext cx="4887300" cy="461665"/>
              </a:xfrm>
              <a:prstGeom prst="rect">
                <a:avLst/>
              </a:prstGeom>
              <a:blipFill>
                <a:blip r:embed="rId4"/>
                <a:stretch>
                  <a:fillRect t="-9333" b="-32000"/>
                </a:stretch>
              </a:blipFill>
            </p:spPr>
            <p:txBody>
              <a:bodyPr/>
              <a:lstStyle/>
              <a:p>
                <a:r>
                  <a:rPr lang="en-US">
                    <a:noFill/>
                  </a:rPr>
                  <a:t> </a:t>
                </a:r>
              </a:p>
            </p:txBody>
          </p:sp>
        </mc:Fallback>
      </mc:AlternateContent>
      <p:sp>
        <p:nvSpPr>
          <p:cNvPr id="30" name="Oval 29"/>
          <p:cNvSpPr/>
          <p:nvPr/>
        </p:nvSpPr>
        <p:spPr>
          <a:xfrm>
            <a:off x="5529134" y="3746035"/>
            <a:ext cx="457200" cy="410303"/>
          </a:xfrm>
          <a:prstGeom prst="ellipse">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3" name="Rectangle 2"/>
          <p:cNvSpPr/>
          <p:nvPr/>
        </p:nvSpPr>
        <p:spPr>
          <a:xfrm>
            <a:off x="3151094" y="5390276"/>
            <a:ext cx="5889812" cy="830997"/>
          </a:xfrm>
          <a:prstGeom prst="rect">
            <a:avLst/>
          </a:prstGeom>
          <a:solidFill>
            <a:schemeClr val="bg2">
              <a:lumMod val="95000"/>
            </a:schemeClr>
          </a:solidFill>
        </p:spPr>
        <p:txBody>
          <a:bodyPr wrap="square">
            <a:spAutoFit/>
          </a:bodyPr>
          <a:lstStyle/>
          <a:p>
            <a:pPr algn="just"/>
            <a:r>
              <a:rPr lang="en-US" sz="2400" dirty="0">
                <a:solidFill>
                  <a:srgbClr val="AD1457"/>
                </a:solidFill>
              </a:rPr>
              <a:t>But position 1 is already occupied and two jobs can not be executed in parallel, so reject job 3</a:t>
            </a:r>
          </a:p>
        </p:txBody>
      </p:sp>
    </p:spTree>
    <p:extLst>
      <p:ext uri="{BB962C8B-B14F-4D97-AF65-F5344CB8AC3E}">
        <p14:creationId xmlns:p14="http://schemas.microsoft.com/office/powerpoint/2010/main" val="1222785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wipe(left)">
                                      <p:cBhvr>
                                        <p:cTn id="11" dur="1000"/>
                                        <p:tgtEl>
                                          <p:spTgt spid="27"/>
                                        </p:tgtEl>
                                      </p:cBhvr>
                                    </p:animEffect>
                                  </p:childTnLst>
                                </p:cTn>
                              </p:par>
                              <p:par>
                                <p:cTn id="12" presetID="21" presetClass="entr" presetSubtype="1"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wheel(1)">
                                      <p:cBhvr>
                                        <p:cTn id="14" dur="1000"/>
                                        <p:tgtEl>
                                          <p:spTgt spid="2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childTnLst>
                          </p:cTn>
                        </p:par>
                        <p:par>
                          <p:cTn id="32" fill="hold">
                            <p:stCondLst>
                              <p:cond delay="500"/>
                            </p:stCondLst>
                            <p:childTnLst>
                              <p:par>
                                <p:cTn id="33" presetID="10" presetClass="entr" presetSubtype="0"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childTnLst>
                          </p:cTn>
                        </p:par>
                        <p:par>
                          <p:cTn id="36" fill="hold">
                            <p:stCondLst>
                              <p:cond delay="1000"/>
                            </p:stCondLst>
                            <p:childTnLst>
                              <p:par>
                                <p:cTn id="37" presetID="10" presetClass="entr" presetSubtype="0" fill="hold" grpId="0" nodeType="after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childTnLst>
                          </p:cTn>
                        </p:par>
                        <p:par>
                          <p:cTn id="40" fill="hold">
                            <p:stCondLst>
                              <p:cond delay="1500"/>
                            </p:stCondLst>
                            <p:childTnLst>
                              <p:par>
                                <p:cTn id="41" presetID="10" presetClass="entr" presetSubtype="0" fill="hold" grpId="0" nodeType="after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childTnLst>
                                </p:cTn>
                              </p:par>
                            </p:childTnLst>
                          </p:cTn>
                        </p:par>
                        <p:par>
                          <p:cTn id="44" fill="hold">
                            <p:stCondLst>
                              <p:cond delay="2000"/>
                            </p:stCondLst>
                            <p:childTnLst>
                              <p:par>
                                <p:cTn id="45" presetID="21" presetClass="entr" presetSubtype="1"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wheel(1)">
                                      <p:cBhvr>
                                        <p:cTn id="47" dur="1000"/>
                                        <p:tgtEl>
                                          <p:spTgt spid="3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childTnLst>
                          </p:cTn>
                        </p:par>
                        <p:par>
                          <p:cTn id="53" fill="hold">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29"/>
                                        </p:tgtEl>
                                        <p:attrNameLst>
                                          <p:attrName>style.visibility</p:attrName>
                                        </p:attrNameLst>
                                      </p:cBhvr>
                                      <p:to>
                                        <p:strVal val="visible"/>
                                      </p:to>
                                    </p:set>
                                    <p:animEffect transition="in" filter="wipe(left)">
                                      <p:cBhvr>
                                        <p:cTn id="56" dur="1000"/>
                                        <p:tgtEl>
                                          <p:spTgt spid="29"/>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fade">
                                      <p:cBhvr>
                                        <p:cTn id="6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3" grpId="0" animBg="1"/>
      <p:bldP spid="14" grpId="0" animBg="1"/>
      <p:bldP spid="24" grpId="0" animBg="1"/>
      <p:bldP spid="27" grpId="0"/>
      <p:bldP spid="29" grpId="0"/>
      <p:bldP spid="30" grpId="0" animBg="1"/>
      <p:bldP spid="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Job Scheduling with Deadlines - Example</a:t>
            </a:r>
            <a:endParaRPr lang="en-US" dirty="0"/>
          </a:p>
        </p:txBody>
      </p:sp>
      <p:sp>
        <p:nvSpPr>
          <p:cNvPr id="4" name="Rectangle 3"/>
          <p:cNvSpPr/>
          <p:nvPr/>
        </p:nvSpPr>
        <p:spPr>
          <a:xfrm>
            <a:off x="3056614" y="3390900"/>
            <a:ext cx="23622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P</a:t>
            </a:r>
          </a:p>
        </p:txBody>
      </p:sp>
      <p:sp>
        <p:nvSpPr>
          <p:cNvPr id="5" name="Rectangle 4"/>
          <p:cNvSpPr/>
          <p:nvPr/>
        </p:nvSpPr>
        <p:spPr>
          <a:xfrm>
            <a:off x="5413126" y="3390900"/>
            <a:ext cx="6858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1</a:t>
            </a:r>
          </a:p>
        </p:txBody>
      </p:sp>
      <p:sp>
        <p:nvSpPr>
          <p:cNvPr id="6" name="Rectangle 5"/>
          <p:cNvSpPr/>
          <p:nvPr/>
        </p:nvSpPr>
        <p:spPr>
          <a:xfrm>
            <a:off x="6096654" y="3390900"/>
            <a:ext cx="6858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2</a:t>
            </a:r>
          </a:p>
        </p:txBody>
      </p:sp>
      <p:sp>
        <p:nvSpPr>
          <p:cNvPr id="7" name="Rectangle 6"/>
          <p:cNvSpPr/>
          <p:nvPr/>
        </p:nvSpPr>
        <p:spPr>
          <a:xfrm>
            <a:off x="6786998" y="3390900"/>
            <a:ext cx="6858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3</a:t>
            </a:r>
          </a:p>
        </p:txBody>
      </p:sp>
      <p:sp>
        <p:nvSpPr>
          <p:cNvPr id="8" name="Rectangle 7"/>
          <p:cNvSpPr/>
          <p:nvPr/>
        </p:nvSpPr>
        <p:spPr>
          <a:xfrm>
            <a:off x="3056614" y="3850944"/>
            <a:ext cx="23622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Job selected</a:t>
            </a:r>
          </a:p>
        </p:txBody>
      </p:sp>
      <p:sp>
        <p:nvSpPr>
          <p:cNvPr id="9" name="Rectangle 8"/>
          <p:cNvSpPr/>
          <p:nvPr/>
        </p:nvSpPr>
        <p:spPr>
          <a:xfrm>
            <a:off x="5413126" y="3850944"/>
            <a:ext cx="6858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J2</a:t>
            </a:r>
          </a:p>
        </p:txBody>
      </p:sp>
      <p:sp>
        <p:nvSpPr>
          <p:cNvPr id="10" name="Rectangle 9"/>
          <p:cNvSpPr/>
          <p:nvPr/>
        </p:nvSpPr>
        <p:spPr>
          <a:xfrm>
            <a:off x="6096654" y="3850944"/>
            <a:ext cx="6858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J4</a:t>
            </a:r>
          </a:p>
        </p:txBody>
      </p:sp>
      <p:sp>
        <p:nvSpPr>
          <p:cNvPr id="11" name="Rectangle 10"/>
          <p:cNvSpPr/>
          <p:nvPr/>
        </p:nvSpPr>
        <p:spPr>
          <a:xfrm>
            <a:off x="6786998" y="3850944"/>
            <a:ext cx="685800" cy="4572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J1</a:t>
            </a:r>
          </a:p>
        </p:txBody>
      </p:sp>
      <mc:AlternateContent xmlns:mc="http://schemas.openxmlformats.org/markup-compatibility/2006" xmlns:a14="http://schemas.microsoft.com/office/drawing/2010/main">
        <mc:Choice Requires="a14">
          <p:graphicFrame>
            <p:nvGraphicFramePr>
              <p:cNvPr id="12" name="Table 11"/>
              <p:cNvGraphicFramePr>
                <a:graphicFrameLocks noGrp="1"/>
              </p:cNvGraphicFramePr>
              <p:nvPr/>
            </p:nvGraphicFramePr>
            <p:xfrm>
              <a:off x="2197825" y="1035524"/>
              <a:ext cx="6141721" cy="1279779"/>
            </p:xfrm>
            <a:graphic>
              <a:graphicData uri="http://schemas.openxmlformats.org/drawingml/2006/table">
                <a:tbl>
                  <a:tblPr firstRow="1" firstCol="1" bandRow="1">
                    <a:tableStyleId>{21E4AEA4-8DFA-4A89-87EB-49C32662AFE0}</a:tableStyleId>
                  </a:tblPr>
                  <a:tblGrid>
                    <a:gridCol w="1752601">
                      <a:extLst>
                        <a:ext uri="{9D8B030D-6E8A-4147-A177-3AD203B41FA5}">
                          <a16:colId xmlns:a16="http://schemas.microsoft.com/office/drawing/2014/main" val="1922602082"/>
                        </a:ext>
                      </a:extLst>
                    </a:gridCol>
                    <a:gridCol w="731520">
                      <a:extLst>
                        <a:ext uri="{9D8B030D-6E8A-4147-A177-3AD203B41FA5}">
                          <a16:colId xmlns:a16="http://schemas.microsoft.com/office/drawing/2014/main" val="717586990"/>
                        </a:ext>
                      </a:extLst>
                    </a:gridCol>
                    <a:gridCol w="731520">
                      <a:extLst>
                        <a:ext uri="{9D8B030D-6E8A-4147-A177-3AD203B41FA5}">
                          <a16:colId xmlns:a16="http://schemas.microsoft.com/office/drawing/2014/main" val="3968607451"/>
                        </a:ext>
                      </a:extLst>
                    </a:gridCol>
                    <a:gridCol w="731520">
                      <a:extLst>
                        <a:ext uri="{9D8B030D-6E8A-4147-A177-3AD203B41FA5}">
                          <a16:colId xmlns:a16="http://schemas.microsoft.com/office/drawing/2014/main" val="2999164042"/>
                        </a:ext>
                      </a:extLst>
                    </a:gridCol>
                    <a:gridCol w="731520">
                      <a:extLst>
                        <a:ext uri="{9D8B030D-6E8A-4147-A177-3AD203B41FA5}">
                          <a16:colId xmlns:a16="http://schemas.microsoft.com/office/drawing/2014/main" val="2383096932"/>
                        </a:ext>
                      </a:extLst>
                    </a:gridCol>
                    <a:gridCol w="731520">
                      <a:extLst>
                        <a:ext uri="{9D8B030D-6E8A-4147-A177-3AD203B41FA5}">
                          <a16:colId xmlns:a16="http://schemas.microsoft.com/office/drawing/2014/main" val="3734613195"/>
                        </a:ext>
                      </a:extLst>
                    </a:gridCol>
                    <a:gridCol w="731520">
                      <a:extLst>
                        <a:ext uri="{9D8B030D-6E8A-4147-A177-3AD203B41FA5}">
                          <a16:colId xmlns:a16="http://schemas.microsoft.com/office/drawing/2014/main" val="1054917901"/>
                        </a:ext>
                      </a:extLst>
                    </a:gridCol>
                  </a:tblGrid>
                  <a:tr h="426593">
                    <a:tc>
                      <a:txBody>
                        <a:bodyPr/>
                        <a:lstStyle/>
                        <a:p>
                          <a:pPr marL="0" marR="0" algn="just">
                            <a:lnSpc>
                              <a:spcPct val="115000"/>
                            </a:lnSpc>
                            <a:spcBef>
                              <a:spcPts val="0"/>
                            </a:spcBef>
                            <a:spcAft>
                              <a:spcPts val="0"/>
                            </a:spcAft>
                          </a:pPr>
                          <a:r>
                            <a:rPr lang="en-US" sz="2400" b="0" dirty="0">
                              <a:solidFill>
                                <a:srgbClr val="C00000"/>
                              </a:solidFill>
                              <a:effectLst/>
                            </a:rPr>
                            <a:t>Job </a:t>
                          </a:r>
                          <a14:m>
                            <m:oMath xmlns:m="http://schemas.openxmlformats.org/officeDocument/2006/math">
                              <m:r>
                                <a:rPr lang="en-US" sz="2400" b="0" i="1" dirty="0" smtClean="0">
                                  <a:solidFill>
                                    <a:srgbClr val="C00000"/>
                                  </a:solidFill>
                                  <a:effectLst/>
                                  <a:latin typeface="Cambria Math" panose="02040503050406030204" pitchFamily="18" charset="0"/>
                                </a:rPr>
                                <m:t>𝑖</m:t>
                              </m:r>
                            </m:oMath>
                          </a14:m>
                          <a:endParaRPr lang="en-US" sz="2400" b="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solidFill>
                                      <a:srgbClr val="C00000"/>
                                    </a:solidFill>
                                    <a:effectLst/>
                                    <a:latin typeface="Cambria Math" panose="02040503050406030204" pitchFamily="18" charset="0"/>
                                  </a:rPr>
                                  <m:t>𝟏</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solidFill>
                                      <a:srgbClr val="C00000"/>
                                    </a:solidFill>
                                    <a:effectLst/>
                                    <a:latin typeface="Cambria Math" panose="02040503050406030204" pitchFamily="18" charset="0"/>
                                  </a:rPr>
                                  <m:t>𝟐</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C00000"/>
                                    </a:solidFill>
                                    <a:effectLst/>
                                    <a:latin typeface="Cambria Math" panose="02040503050406030204" pitchFamily="18" charset="0"/>
                                  </a:rPr>
                                  <m:t>𝟑</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C00000"/>
                                    </a:solidFill>
                                    <a:effectLst/>
                                    <a:latin typeface="Cambria Math" panose="02040503050406030204" pitchFamily="18" charset="0"/>
                                  </a:rPr>
                                  <m:t>𝟒</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C00000"/>
                                    </a:solidFill>
                                    <a:effectLst/>
                                    <a:latin typeface="Cambria Math" panose="02040503050406030204" pitchFamily="18" charset="0"/>
                                  </a:rPr>
                                  <m:t>𝟓</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solidFill>
                                      <a:srgbClr val="C00000"/>
                                    </a:solidFill>
                                    <a:effectLst/>
                                    <a:latin typeface="Cambria Math" panose="02040503050406030204" pitchFamily="18" charset="0"/>
                                  </a:rPr>
                                  <m:t>𝟔</m:t>
                                </m:r>
                              </m:oMath>
                            </m:oMathPara>
                          </a14:m>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extLst>
                      <a:ext uri="{0D108BD9-81ED-4DB2-BD59-A6C34878D82A}">
                        <a16:rowId xmlns:a16="http://schemas.microsoft.com/office/drawing/2014/main" val="2221168723"/>
                      </a:ext>
                    </a:extLst>
                  </a:tr>
                  <a:tr h="426593">
                    <a:tc>
                      <a:txBody>
                        <a:bodyPr/>
                        <a:lstStyle/>
                        <a:p>
                          <a:pPr marL="0" marR="0" algn="just">
                            <a:lnSpc>
                              <a:spcPct val="115000"/>
                            </a:lnSpc>
                            <a:spcBef>
                              <a:spcPts val="0"/>
                            </a:spcBef>
                            <a:spcAft>
                              <a:spcPts val="0"/>
                            </a:spcAft>
                          </a:pPr>
                          <a:r>
                            <a:rPr lang="en-US" sz="2400" b="0" dirty="0">
                              <a:solidFill>
                                <a:srgbClr val="C00000"/>
                              </a:solidFill>
                              <a:effectLst/>
                            </a:rPr>
                            <a:t>Profit </a:t>
                          </a:r>
                          <a14:m>
                            <m:oMath xmlns:m="http://schemas.openxmlformats.org/officeDocument/2006/math">
                              <m:sSub>
                                <m:sSubPr>
                                  <m:ctrlPr>
                                    <a:rPr lang="en-US" sz="2400" b="0" i="1" dirty="0" smtClean="0">
                                      <a:solidFill>
                                        <a:srgbClr val="C00000"/>
                                      </a:solidFill>
                                      <a:latin typeface="Cambria Math" panose="02040503050406030204" pitchFamily="18" charset="0"/>
                                    </a:rPr>
                                  </m:ctrlPr>
                                </m:sSubPr>
                                <m:e>
                                  <m:r>
                                    <a:rPr lang="en-US" sz="2400" b="0" i="1" dirty="0" smtClean="0">
                                      <a:solidFill>
                                        <a:srgbClr val="C00000"/>
                                      </a:solidFill>
                                      <a:latin typeface="Cambria Math" panose="02040503050406030204" pitchFamily="18" charset="0"/>
                                    </a:rPr>
                                    <m:t>𝑔</m:t>
                                  </m:r>
                                </m:e>
                                <m:sub>
                                  <m:r>
                                    <a:rPr lang="en-US" sz="2400" b="0" i="1" dirty="0" smtClean="0">
                                      <a:solidFill>
                                        <a:srgbClr val="C00000"/>
                                      </a:solidFill>
                                      <a:latin typeface="Cambria Math" panose="02040503050406030204" pitchFamily="18" charset="0"/>
                                    </a:rPr>
                                    <m:t>𝑖</m:t>
                                  </m:r>
                                </m:sub>
                              </m:sSub>
                            </m:oMath>
                          </a14:m>
                          <a:endParaRPr lang="en-US" sz="2400" b="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𝟐𝟎</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𝟏𝟓</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𝟏𝟎</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𝟕</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effectLst/>
                                    <a:latin typeface="Cambria Math" panose="02040503050406030204" pitchFamily="18" charset="0"/>
                                  </a:rPr>
                                  <m:t>𝟓</m:t>
                                </m:r>
                              </m:oMath>
                            </m:oMathPara>
                          </a14:m>
                          <a:endParaRPr lang="en-US" sz="2400" b="1">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smtClean="0">
                                    <a:effectLst/>
                                    <a:latin typeface="Cambria Math" panose="02040503050406030204" pitchFamily="18" charset="0"/>
                                  </a:rPr>
                                  <m:t>𝟑</m:t>
                                </m:r>
                              </m:oMath>
                            </m:oMathPara>
                          </a14:m>
                          <a:endParaRPr lang="en-US" sz="2400" b="1">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6479883"/>
                      </a:ext>
                    </a:extLst>
                  </a:tr>
                  <a:tr h="426593">
                    <a:tc>
                      <a:txBody>
                        <a:bodyPr/>
                        <a:lstStyle/>
                        <a:p>
                          <a:r>
                            <a:rPr lang="en-US" sz="2400" b="0" dirty="0">
                              <a:solidFill>
                                <a:srgbClr val="C00000"/>
                              </a:solidFill>
                              <a:effectLst/>
                            </a:rPr>
                            <a:t>Deadline </a:t>
                          </a:r>
                          <a14:m>
                            <m:oMath xmlns:m="http://schemas.openxmlformats.org/officeDocument/2006/math">
                              <m:sSub>
                                <m:sSubPr>
                                  <m:ctrlPr>
                                    <a:rPr lang="en-US" sz="2400" b="0" i="1" dirty="0" smtClean="0">
                                      <a:solidFill>
                                        <a:srgbClr val="C00000"/>
                                      </a:solidFill>
                                      <a:latin typeface="Cambria Math" panose="02040503050406030204" pitchFamily="18" charset="0"/>
                                    </a:rPr>
                                  </m:ctrlPr>
                                </m:sSubPr>
                                <m:e>
                                  <m:r>
                                    <a:rPr lang="en-US" sz="2400" b="0" i="1" dirty="0" smtClean="0">
                                      <a:solidFill>
                                        <a:srgbClr val="C00000"/>
                                      </a:solidFill>
                                      <a:latin typeface="Cambria Math" panose="02040503050406030204" pitchFamily="18" charset="0"/>
                                    </a:rPr>
                                    <m:t>𝑑</m:t>
                                  </m:r>
                                </m:e>
                                <m:sub>
                                  <m:r>
                                    <a:rPr lang="en-US" sz="2400" b="0" i="1" dirty="0" smtClean="0">
                                      <a:solidFill>
                                        <a:srgbClr val="C00000"/>
                                      </a:solidFill>
                                      <a:latin typeface="Cambria Math" panose="02040503050406030204" pitchFamily="18" charset="0"/>
                                    </a:rPr>
                                    <m:t>𝑖</m:t>
                                  </m:r>
                                </m:sub>
                              </m:sSub>
                              <m:r>
                                <a:rPr lang="en-US" sz="2400" b="0" i="1" dirty="0" smtClean="0">
                                  <a:solidFill>
                                    <a:srgbClr val="C00000"/>
                                  </a:solidFill>
                                  <a:latin typeface="Cambria Math" panose="02040503050406030204" pitchFamily="18" charset="0"/>
                                </a:rPr>
                                <m:t>.</m:t>
                              </m:r>
                            </m:oMath>
                          </a14:m>
                          <a:endParaRPr lang="en-US" sz="2400" b="0" dirty="0">
                            <a:solidFill>
                              <a:srgbClr val="C00000"/>
                            </a:solidFill>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5000"/>
                          </a:schemeClr>
                        </a:solid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𝟏</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rPr>
                                  <m:t>𝟑</m:t>
                                </m:r>
                              </m:oMath>
                            </m:oMathPara>
                          </a14:m>
                          <a:endParaRPr lang="en-US" sz="2400" b="1"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3643208"/>
                      </a:ext>
                    </a:extLst>
                  </a:tr>
                </a:tbl>
              </a:graphicData>
            </a:graphic>
          </p:graphicFrame>
        </mc:Choice>
        <mc:Fallback xmlns="">
          <p:graphicFrame>
            <p:nvGraphicFramePr>
              <p:cNvPr id="12" name="Table 11"/>
              <p:cNvGraphicFramePr>
                <a:graphicFrameLocks noGrp="1"/>
              </p:cNvGraphicFramePr>
              <p:nvPr>
                <p:extLst/>
              </p:nvPr>
            </p:nvGraphicFramePr>
            <p:xfrm>
              <a:off x="2197825" y="1035524"/>
              <a:ext cx="6141721" cy="1279779"/>
            </p:xfrm>
            <a:graphic>
              <a:graphicData uri="http://schemas.openxmlformats.org/drawingml/2006/table">
                <a:tbl>
                  <a:tblPr firstRow="1" firstCol="1" bandRow="1">
                    <a:tableStyleId>{21E4AEA4-8DFA-4A89-87EB-49C32662AFE0}</a:tableStyleId>
                  </a:tblPr>
                  <a:tblGrid>
                    <a:gridCol w="1752601">
                      <a:extLst>
                        <a:ext uri="{9D8B030D-6E8A-4147-A177-3AD203B41FA5}">
                          <a16:colId xmlns:a16="http://schemas.microsoft.com/office/drawing/2014/main" xmlns:a14="http://schemas.microsoft.com/office/drawing/2010/main" xmlns="" val="1922602082"/>
                        </a:ext>
                      </a:extLst>
                    </a:gridCol>
                    <a:gridCol w="731520">
                      <a:extLst>
                        <a:ext uri="{9D8B030D-6E8A-4147-A177-3AD203B41FA5}">
                          <a16:colId xmlns:a16="http://schemas.microsoft.com/office/drawing/2014/main" xmlns:a14="http://schemas.microsoft.com/office/drawing/2010/main" xmlns="" val="717586990"/>
                        </a:ext>
                      </a:extLst>
                    </a:gridCol>
                    <a:gridCol w="731520">
                      <a:extLst>
                        <a:ext uri="{9D8B030D-6E8A-4147-A177-3AD203B41FA5}">
                          <a16:colId xmlns:a16="http://schemas.microsoft.com/office/drawing/2014/main" xmlns:a14="http://schemas.microsoft.com/office/drawing/2010/main" xmlns="" val="3968607451"/>
                        </a:ext>
                      </a:extLst>
                    </a:gridCol>
                    <a:gridCol w="731520">
                      <a:extLst>
                        <a:ext uri="{9D8B030D-6E8A-4147-A177-3AD203B41FA5}">
                          <a16:colId xmlns:a16="http://schemas.microsoft.com/office/drawing/2014/main" xmlns:a14="http://schemas.microsoft.com/office/drawing/2010/main" xmlns="" val="2999164042"/>
                        </a:ext>
                      </a:extLst>
                    </a:gridCol>
                    <a:gridCol w="731520">
                      <a:extLst>
                        <a:ext uri="{9D8B030D-6E8A-4147-A177-3AD203B41FA5}">
                          <a16:colId xmlns:a16="http://schemas.microsoft.com/office/drawing/2014/main" xmlns:a14="http://schemas.microsoft.com/office/drawing/2010/main" xmlns="" val="2383096932"/>
                        </a:ext>
                      </a:extLst>
                    </a:gridCol>
                    <a:gridCol w="731520">
                      <a:extLst>
                        <a:ext uri="{9D8B030D-6E8A-4147-A177-3AD203B41FA5}">
                          <a16:colId xmlns:a16="http://schemas.microsoft.com/office/drawing/2014/main" xmlns:a14="http://schemas.microsoft.com/office/drawing/2010/main" xmlns="" val="3734613195"/>
                        </a:ext>
                      </a:extLst>
                    </a:gridCol>
                    <a:gridCol w="731520">
                      <a:extLst>
                        <a:ext uri="{9D8B030D-6E8A-4147-A177-3AD203B41FA5}">
                          <a16:colId xmlns:a16="http://schemas.microsoft.com/office/drawing/2014/main" xmlns:a14="http://schemas.microsoft.com/office/drawing/2010/main" xmlns="" val="1054917901"/>
                        </a:ext>
                      </a:extLst>
                    </a:gridCol>
                  </a:tblGrid>
                  <a:tr h="426593">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347" t="-12857" r="-251042" b="-23857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240833" t="-12857" r="-502500" b="-23857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340833" t="-12857" r="-402500" b="-23857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440833" t="-12857" r="-302500" b="-23857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536364" t="-12857" r="-200000" b="-23857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641667" t="-12857" r="-101667" b="-23857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741667" t="-12857" r="-1667" b="-238571"/>
                          </a:stretch>
                        </a:blipFill>
                      </a:tcPr>
                    </a:tc>
                    <a:extLst>
                      <a:ext uri="{0D108BD9-81ED-4DB2-BD59-A6C34878D82A}">
                        <a16:rowId xmlns:a16="http://schemas.microsoft.com/office/drawing/2014/main" xmlns:a14="http://schemas.microsoft.com/office/drawing/2010/main" xmlns="" val="2221168723"/>
                      </a:ext>
                    </a:extLst>
                  </a:tr>
                  <a:tr h="426593">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347" t="-111268" r="-251042" b="-1352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240833" t="-111268" r="-502500" b="-1352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340833" t="-111268" r="-402500" b="-1352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440833" t="-111268" r="-302500" b="-1352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536364" t="-111268" r="-200000" b="-1352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641667" t="-111268" r="-101667" b="-135211"/>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741667" t="-111268" r="-1667" b="-135211"/>
                          </a:stretch>
                        </a:blipFill>
                      </a:tcPr>
                    </a:tc>
                    <a:extLst>
                      <a:ext uri="{0D108BD9-81ED-4DB2-BD59-A6C34878D82A}">
                        <a16:rowId xmlns:a16="http://schemas.microsoft.com/office/drawing/2014/main" xmlns:a14="http://schemas.microsoft.com/office/drawing/2010/main" xmlns="" val="3016479883"/>
                      </a:ext>
                    </a:extLst>
                  </a:tr>
                  <a:tr h="426593">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347" t="-214286" r="-251042" b="-3714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240833" t="-214286" r="-502500" b="-3714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340833" t="-214286" r="-402500" b="-3714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440833" t="-214286" r="-302500" b="-3714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536364" t="-214286" r="-200000" b="-3714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641667" t="-214286" r="-101667" b="-37143"/>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0">
                          <a:blip r:embed="rId2"/>
                          <a:stretch>
                            <a:fillRect l="-741667" t="-214286" r="-1667" b="-37143"/>
                          </a:stretch>
                        </a:blipFill>
                      </a:tcPr>
                    </a:tc>
                    <a:extLst>
                      <a:ext uri="{0D108BD9-81ED-4DB2-BD59-A6C34878D82A}">
                        <a16:rowId xmlns:a16="http://schemas.microsoft.com/office/drawing/2014/main" xmlns:a14="http://schemas.microsoft.com/office/drawing/2010/main" xmlns="" val="2033643208"/>
                      </a:ext>
                    </a:extLst>
                  </a:tr>
                </a:tbl>
              </a:graphicData>
            </a:graphic>
          </p:graphicFrame>
        </mc:Fallback>
      </mc:AlternateContent>
      <p:sp>
        <p:nvSpPr>
          <p:cNvPr id="13" name="Rectangle 12"/>
          <p:cNvSpPr/>
          <p:nvPr/>
        </p:nvSpPr>
        <p:spPr>
          <a:xfrm>
            <a:off x="1230087" y="2466966"/>
            <a:ext cx="1066799" cy="3810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AD1457"/>
                </a:solidFill>
              </a:rPr>
              <a:t>Step 6:</a:t>
            </a:r>
          </a:p>
        </p:txBody>
      </p:sp>
      <p:sp>
        <p:nvSpPr>
          <p:cNvPr id="24" name="Oval 23"/>
          <p:cNvSpPr/>
          <p:nvPr/>
        </p:nvSpPr>
        <p:spPr>
          <a:xfrm>
            <a:off x="6237519" y="1905000"/>
            <a:ext cx="457200" cy="410303"/>
          </a:xfrm>
          <a:prstGeom prst="ellipse">
            <a:avLst/>
          </a:prstGeom>
          <a:noFill/>
          <a:ln w="19050">
            <a:solidFill>
              <a:srgbClr val="00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Rectangle 26"/>
              <p:cNvSpPr/>
              <p:nvPr/>
            </p:nvSpPr>
            <p:spPr>
              <a:xfrm>
                <a:off x="2296886" y="2426633"/>
                <a:ext cx="9612085" cy="830997"/>
              </a:xfrm>
              <a:prstGeom prst="rect">
                <a:avLst/>
              </a:prstGeom>
            </p:spPr>
            <p:txBody>
              <a:bodyPr wrap="square">
                <a:spAutoFit/>
              </a:bodyPr>
              <a:lstStyle/>
              <a:p>
                <a:pPr marL="400050" lvl="1" indent="0">
                  <a:buNone/>
                </a:pPr>
                <a14:m>
                  <m:oMath xmlns:m="http://schemas.openxmlformats.org/officeDocument/2006/math">
                    <m:r>
                      <a:rPr lang="en-US" sz="2400" i="1" dirty="0">
                        <a:latin typeface="Cambria Math" panose="02040503050406030204" pitchFamily="18" charset="0"/>
                      </a:rPr>
                      <m:t>𝑑</m:t>
                    </m:r>
                    <m:r>
                      <a:rPr lang="en-US" sz="2400" i="1" baseline="-25000" dirty="0">
                        <a:latin typeface="Cambria Math" panose="02040503050406030204" pitchFamily="18" charset="0"/>
                      </a:rPr>
                      <m:t>4</m:t>
                    </m:r>
                    <m:r>
                      <a:rPr lang="en-US" sz="2400" i="1" dirty="0">
                        <a:latin typeface="Cambria Math" panose="02040503050406030204" pitchFamily="18" charset="0"/>
                      </a:rPr>
                      <m:t> =3 : </m:t>
                    </m:r>
                  </m:oMath>
                </a14:m>
                <a:r>
                  <a:rPr lang="en-US" sz="2400" dirty="0"/>
                  <a:t>assign job </a:t>
                </a:r>
                <a14:m>
                  <m:oMath xmlns:m="http://schemas.openxmlformats.org/officeDocument/2006/math">
                    <m:r>
                      <a:rPr lang="en-US" sz="2400" i="1" dirty="0">
                        <a:latin typeface="Cambria Math" panose="02040503050406030204" pitchFamily="18" charset="0"/>
                      </a:rPr>
                      <m:t>4</m:t>
                    </m:r>
                  </m:oMath>
                </a14:m>
                <a:r>
                  <a:rPr lang="en-US" sz="2400" dirty="0"/>
                  <a:t> to position </a:t>
                </a:r>
                <a14:m>
                  <m:oMath xmlns:m="http://schemas.openxmlformats.org/officeDocument/2006/math">
                    <m:r>
                      <a:rPr lang="en-US" sz="2400" i="1" dirty="0">
                        <a:latin typeface="Cambria Math" panose="02040503050406030204" pitchFamily="18" charset="0"/>
                      </a:rPr>
                      <m:t>2 </m:t>
                    </m:r>
                  </m:oMath>
                </a14:m>
                <a:r>
                  <a:rPr lang="en-US" sz="2400" dirty="0"/>
                  <a:t>as, position </a:t>
                </a:r>
                <a14:m>
                  <m:oMath xmlns:m="http://schemas.openxmlformats.org/officeDocument/2006/math">
                    <m:r>
                      <a:rPr lang="en-US" sz="2400" i="1" dirty="0">
                        <a:latin typeface="Cambria Math" panose="02040503050406030204" pitchFamily="18" charset="0"/>
                      </a:rPr>
                      <m:t>3</m:t>
                    </m:r>
                  </m:oMath>
                </a14:m>
                <a:r>
                  <a:rPr lang="en-US" sz="2400" dirty="0"/>
                  <a:t> is not free but position </a:t>
                </a:r>
                <a14:m>
                  <m:oMath xmlns:m="http://schemas.openxmlformats.org/officeDocument/2006/math">
                    <m:r>
                      <a:rPr lang="en-US" sz="2400" i="1" dirty="0">
                        <a:latin typeface="Cambria Math" panose="02040503050406030204" pitchFamily="18" charset="0"/>
                      </a:rPr>
                      <m:t>2</m:t>
                    </m:r>
                  </m:oMath>
                </a14:m>
                <a:r>
                  <a:rPr lang="en-US" sz="2400" dirty="0"/>
                  <a:t> is free.</a:t>
                </a:r>
              </a:p>
            </p:txBody>
          </p:sp>
        </mc:Choice>
        <mc:Fallback xmlns="">
          <p:sp>
            <p:nvSpPr>
              <p:cNvPr id="27" name="Rectangle 26"/>
              <p:cNvSpPr>
                <a:spLocks noRot="1" noChangeAspect="1" noMove="1" noResize="1" noEditPoints="1" noAdjustHandles="1" noChangeArrowheads="1" noChangeShapeType="1" noTextEdit="1"/>
              </p:cNvSpPr>
              <p:nvPr/>
            </p:nvSpPr>
            <p:spPr>
              <a:xfrm>
                <a:off x="2296886" y="2426633"/>
                <a:ext cx="9612085" cy="830997"/>
              </a:xfrm>
              <a:prstGeom prst="rect">
                <a:avLst/>
              </a:prstGeom>
              <a:blipFill rotWithShape="0">
                <a:blip r:embed="rId3"/>
                <a:stretch>
                  <a:fillRect t="-5147" b="-16912"/>
                </a:stretch>
              </a:blipFill>
            </p:spPr>
            <p:txBody>
              <a:bodyPr/>
              <a:lstStyle/>
              <a:p>
                <a:r>
                  <a:rPr lang="en-US">
                    <a:noFill/>
                  </a:rPr>
                  <a:t> </a:t>
                </a:r>
              </a:p>
            </p:txBody>
          </p:sp>
        </mc:Fallback>
      </mc:AlternateContent>
      <p:sp>
        <p:nvSpPr>
          <p:cNvPr id="29" name="Rectangle 28"/>
          <p:cNvSpPr/>
          <p:nvPr/>
        </p:nvSpPr>
        <p:spPr>
          <a:xfrm>
            <a:off x="1970317" y="4629638"/>
            <a:ext cx="8708569" cy="830997"/>
          </a:xfrm>
          <a:prstGeom prst="rect">
            <a:avLst/>
          </a:prstGeom>
        </p:spPr>
        <p:txBody>
          <a:bodyPr wrap="square">
            <a:spAutoFit/>
          </a:bodyPr>
          <a:lstStyle/>
          <a:p>
            <a:r>
              <a:rPr lang="en-US" sz="2400" dirty="0"/>
              <a:t>Now </a:t>
            </a:r>
            <a:r>
              <a:rPr lang="en-US" sz="2400" b="1" dirty="0"/>
              <a:t>no more free position </a:t>
            </a:r>
            <a:r>
              <a:rPr lang="en-US" sz="2400" dirty="0"/>
              <a:t>is left so no more jobs can be scheduled. </a:t>
            </a:r>
          </a:p>
          <a:p>
            <a:r>
              <a:rPr lang="en-US" sz="2400" dirty="0"/>
              <a:t>The final optimal sequence: </a:t>
            </a:r>
            <a:endParaRPr lang="da-DK" sz="2400" dirty="0"/>
          </a:p>
        </p:txBody>
      </p:sp>
      <p:sp>
        <p:nvSpPr>
          <p:cNvPr id="30" name="Oval 29"/>
          <p:cNvSpPr/>
          <p:nvPr/>
        </p:nvSpPr>
        <p:spPr>
          <a:xfrm>
            <a:off x="6225819" y="3876665"/>
            <a:ext cx="457200" cy="410303"/>
          </a:xfrm>
          <a:prstGeom prst="ellipse">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3" name="Rectangle 2"/>
          <p:cNvSpPr/>
          <p:nvPr/>
        </p:nvSpPr>
        <p:spPr>
          <a:xfrm>
            <a:off x="1974314" y="5563168"/>
            <a:ext cx="7109640" cy="461665"/>
          </a:xfrm>
          <a:prstGeom prst="rect">
            <a:avLst/>
          </a:prstGeom>
          <a:solidFill>
            <a:schemeClr val="bg2">
              <a:lumMod val="95000"/>
            </a:schemeClr>
          </a:solidFill>
        </p:spPr>
        <p:txBody>
          <a:bodyPr wrap="none">
            <a:spAutoFit/>
          </a:bodyPr>
          <a:lstStyle/>
          <a:p>
            <a:pPr algn="ctr"/>
            <a:r>
              <a:rPr lang="en-US" sz="2400" b="1" dirty="0">
                <a:solidFill>
                  <a:srgbClr val="AD1457"/>
                </a:solidFill>
              </a:rPr>
              <a:t>Execute the job in order </a:t>
            </a:r>
            <a:r>
              <a:rPr lang="en-US" sz="2400" b="1" dirty="0">
                <a:solidFill>
                  <a:srgbClr val="0070C0"/>
                </a:solidFill>
              </a:rPr>
              <a:t>2, 4, 1 </a:t>
            </a:r>
            <a:r>
              <a:rPr lang="en-US" sz="2400" b="1" dirty="0">
                <a:solidFill>
                  <a:srgbClr val="AD1457"/>
                </a:solidFill>
              </a:rPr>
              <a:t>with total profit value </a:t>
            </a:r>
            <a:r>
              <a:rPr lang="en-US" sz="2400" b="1" dirty="0">
                <a:solidFill>
                  <a:srgbClr val="0070C0"/>
                </a:solidFill>
              </a:rPr>
              <a:t>42.</a:t>
            </a:r>
          </a:p>
        </p:txBody>
      </p:sp>
    </p:spTree>
    <p:extLst>
      <p:ext uri="{BB962C8B-B14F-4D97-AF65-F5344CB8AC3E}">
        <p14:creationId xmlns:p14="http://schemas.microsoft.com/office/powerpoint/2010/main" val="2068368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wipe(left)">
                                      <p:cBhvr>
                                        <p:cTn id="11" dur="1000"/>
                                        <p:tgtEl>
                                          <p:spTgt spid="27"/>
                                        </p:tgtEl>
                                      </p:cBhvr>
                                    </p:animEffect>
                                  </p:childTnLst>
                                </p:cTn>
                              </p:par>
                              <p:par>
                                <p:cTn id="12" presetID="21" presetClass="entr" presetSubtype="1" fill="hold" grpId="0" nodeType="with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wheel(1)">
                                      <p:cBhvr>
                                        <p:cTn id="14" dur="1000"/>
                                        <p:tgtEl>
                                          <p:spTgt spid="2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500"/>
                                        <p:tgtEl>
                                          <p:spTgt spid="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childTnLst>
                          </p:cTn>
                        </p:par>
                        <p:par>
                          <p:cTn id="32" fill="hold">
                            <p:stCondLst>
                              <p:cond delay="500"/>
                            </p:stCondLst>
                            <p:childTnLst>
                              <p:par>
                                <p:cTn id="33" presetID="10" presetClass="entr" presetSubtype="0"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childTnLst>
                          </p:cTn>
                        </p:par>
                        <p:par>
                          <p:cTn id="36" fill="hold">
                            <p:stCondLst>
                              <p:cond delay="1000"/>
                            </p:stCondLst>
                            <p:childTnLst>
                              <p:par>
                                <p:cTn id="37" presetID="10" presetClass="entr" presetSubtype="0" fill="hold" grpId="0" nodeType="after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childTnLst>
                                </p:cTn>
                              </p:par>
                            </p:childTnLst>
                          </p:cTn>
                        </p:par>
                        <p:par>
                          <p:cTn id="40" fill="hold">
                            <p:stCondLst>
                              <p:cond delay="1500"/>
                            </p:stCondLst>
                            <p:childTnLst>
                              <p:par>
                                <p:cTn id="41" presetID="10" presetClass="entr" presetSubtype="0" fill="hold" grpId="0" nodeType="after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childTnLst>
                                </p:cTn>
                              </p:par>
                            </p:childTnLst>
                          </p:cTn>
                        </p:par>
                        <p:par>
                          <p:cTn id="44" fill="hold">
                            <p:stCondLst>
                              <p:cond delay="2000"/>
                            </p:stCondLst>
                            <p:childTnLst>
                              <p:par>
                                <p:cTn id="45" presetID="21" presetClass="entr" presetSubtype="1"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wheel(1)">
                                      <p:cBhvr>
                                        <p:cTn id="47" dur="2000"/>
                                        <p:tgtEl>
                                          <p:spTgt spid="3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fade">
                                      <p:cBhvr>
                                        <p:cTn id="52" dur="500"/>
                                        <p:tgtEl>
                                          <p:spTgt spid="29"/>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fade">
                                      <p:cBhvr>
                                        <p:cTn id="5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3" grpId="0" animBg="1"/>
      <p:bldP spid="24" grpId="0" animBg="1"/>
      <p:bldP spid="27" grpId="0"/>
      <p:bldP spid="29" grpId="0"/>
      <p:bldP spid="30" grpId="0" animBg="1"/>
      <p:bldP spid="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Exercises – Home Work</a:t>
            </a:r>
          </a:p>
        </p:txBody>
      </p:sp>
      <p:sp>
        <p:nvSpPr>
          <p:cNvPr id="3" name="Content Placeholder 2"/>
          <p:cNvSpPr>
            <a:spLocks noGrp="1"/>
          </p:cNvSpPr>
          <p:nvPr>
            <p:ph idx="1"/>
          </p:nvPr>
        </p:nvSpPr>
        <p:spPr/>
        <p:txBody>
          <a:bodyPr/>
          <a:lstStyle/>
          <a:p>
            <a:pPr marL="457200" indent="-457200">
              <a:buFont typeface="+mj-lt"/>
              <a:buAutoNum type="arabicPeriod"/>
            </a:pPr>
            <a:r>
              <a:rPr lang="en-US" dirty="0"/>
              <a:t>Using greedy algorithm find an optimal schedule for following jobs with 𝒏=4. </a:t>
            </a:r>
          </a:p>
          <a:p>
            <a:pPr marL="400050" lvl="1" indent="0">
              <a:buNone/>
            </a:pPr>
            <a:r>
              <a:rPr lang="en-US" sz="2400" dirty="0"/>
              <a:t>Profits: (a, b, c, d) = (20,10,40,30)  &amp;</a:t>
            </a:r>
          </a:p>
          <a:p>
            <a:pPr marL="400050" lvl="1" indent="0">
              <a:buNone/>
            </a:pPr>
            <a:r>
              <a:rPr lang="en-US" sz="2400" dirty="0"/>
              <a:t>Deadline: (d</a:t>
            </a:r>
            <a:r>
              <a:rPr lang="en-US" sz="2400" baseline="-25000" dirty="0"/>
              <a:t>1</a:t>
            </a:r>
            <a:r>
              <a:rPr lang="en-US" sz="2400" dirty="0"/>
              <a:t>, d</a:t>
            </a:r>
            <a:r>
              <a:rPr lang="en-US" sz="2400" baseline="-25000" dirty="0"/>
              <a:t>2</a:t>
            </a:r>
            <a:r>
              <a:rPr lang="en-US" sz="2400" dirty="0"/>
              <a:t>, d</a:t>
            </a:r>
            <a:r>
              <a:rPr lang="en-US" sz="2400" baseline="-25000" dirty="0"/>
              <a:t>3</a:t>
            </a:r>
            <a:r>
              <a:rPr lang="en-US" sz="2400" dirty="0"/>
              <a:t>, d</a:t>
            </a:r>
            <a:r>
              <a:rPr lang="en-US" sz="2400" baseline="-25000" dirty="0"/>
              <a:t>4</a:t>
            </a:r>
            <a:r>
              <a:rPr lang="en-US" sz="2400" dirty="0"/>
              <a:t>) = (4, 1, 1, 1)</a:t>
            </a:r>
          </a:p>
          <a:p>
            <a:pPr marL="457200" indent="-457200">
              <a:buFont typeface="+mj-lt"/>
              <a:buAutoNum type="arabicPeriod"/>
            </a:pPr>
            <a:r>
              <a:rPr lang="en-US" dirty="0"/>
              <a:t>Using greedy algorithm find an optimal schedule for following jobs with 𝒏=5. </a:t>
            </a:r>
          </a:p>
          <a:p>
            <a:pPr marL="400050" lvl="1" indent="0">
              <a:buNone/>
            </a:pPr>
            <a:r>
              <a:rPr lang="en-US" sz="2400" dirty="0"/>
              <a:t>Profits: (a, b, c, d, e) = (100,19,27,25,15)  &amp;</a:t>
            </a:r>
          </a:p>
          <a:p>
            <a:pPr marL="400050" lvl="1" indent="0">
              <a:buNone/>
            </a:pPr>
            <a:r>
              <a:rPr lang="en-US" sz="2400" dirty="0"/>
              <a:t>Deadline: (d</a:t>
            </a:r>
            <a:r>
              <a:rPr lang="en-US" sz="2400" baseline="-25000" dirty="0"/>
              <a:t>1</a:t>
            </a:r>
            <a:r>
              <a:rPr lang="en-US" sz="2400" dirty="0"/>
              <a:t>, d</a:t>
            </a:r>
            <a:r>
              <a:rPr lang="en-US" sz="2400" baseline="-25000" dirty="0"/>
              <a:t>2</a:t>
            </a:r>
            <a:r>
              <a:rPr lang="en-US" sz="2400" dirty="0"/>
              <a:t>, d</a:t>
            </a:r>
            <a:r>
              <a:rPr lang="en-US" sz="2400" baseline="-25000" dirty="0"/>
              <a:t>3</a:t>
            </a:r>
            <a:r>
              <a:rPr lang="en-US" sz="2400" dirty="0"/>
              <a:t>, d</a:t>
            </a:r>
            <a:r>
              <a:rPr lang="en-US" sz="2400" baseline="-25000" dirty="0"/>
              <a:t>4</a:t>
            </a:r>
            <a:r>
              <a:rPr lang="en-US" sz="2400" dirty="0"/>
              <a:t>, d</a:t>
            </a:r>
            <a:r>
              <a:rPr lang="en-US" sz="2400" baseline="-25000" dirty="0"/>
              <a:t>5</a:t>
            </a:r>
            <a:r>
              <a:rPr lang="en-US" sz="2400" dirty="0"/>
              <a:t>) = (2, 1, 2, 1, 3)</a:t>
            </a:r>
          </a:p>
          <a:p>
            <a:endParaRPr lang="en-US" dirty="0"/>
          </a:p>
        </p:txBody>
      </p:sp>
    </p:spTree>
    <p:extLst>
      <p:ext uri="{BB962C8B-B14F-4D97-AF65-F5344CB8AC3E}">
        <p14:creationId xmlns:p14="http://schemas.microsoft.com/office/powerpoint/2010/main" val="42366527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Job Scheduling with Deadlines - Algorithm</a:t>
            </a:r>
            <a:endParaRPr lang="en-US" dirty="0"/>
          </a:p>
        </p:txBody>
      </p:sp>
      <p:sp>
        <p:nvSpPr>
          <p:cNvPr id="4" name="Rectangle 2">
            <a:extLst>
              <a:ext uri="{FF2B5EF4-FFF2-40B4-BE49-F238E27FC236}">
                <a16:creationId xmlns:a16="http://schemas.microsoft.com/office/drawing/2014/main" id="{7B074C52-3A59-45D8-82D8-EBB0A241B454}"/>
              </a:ext>
            </a:extLst>
          </p:cNvPr>
          <p:cNvSpPr>
            <a:spLocks noGrp="1" noChangeArrowheads="1"/>
          </p:cNvSpPr>
          <p:nvPr>
            <p:ph idx="1"/>
          </p:nvPr>
        </p:nvSpPr>
        <p:spPr bwMode="auto">
          <a:xfrm>
            <a:off x="131178" y="1227831"/>
            <a:ext cx="10610615" cy="5032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nsolas" panose="020B0609020204030204" pitchFamily="49" charset="0"/>
              </a:rPr>
              <a:t>int result[n]; // To store result (Sequence of jobs)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nsolas" panose="020B0609020204030204" pitchFamily="49" charset="0"/>
              </a:rPr>
              <a:t>bool slot[n]; // To keep track of free time slots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nsolas" panose="020B0609020204030204" pitchFamily="49" charset="0"/>
              </a:rPr>
              <a:t>// Initialize all slots to be free</a:t>
            </a:r>
            <a:endParaRPr kumimoji="0" lang="en-US" altLang="en-US" sz="105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nsolas" panose="020B0609020204030204" pitchFamily="49" charset="0"/>
              </a:rPr>
              <a:t>    </a:t>
            </a:r>
            <a:r>
              <a:rPr kumimoji="0" lang="en-US" altLang="en-US" sz="1600" b="1" i="0" u="none" strike="noStrike" cap="none" normalizeH="0" baseline="0" dirty="0">
                <a:ln>
                  <a:noFill/>
                </a:ln>
                <a:effectLst/>
                <a:latin typeface="Consolas" panose="020B0609020204030204" pitchFamily="49" charset="0"/>
              </a:rPr>
              <a:t>for</a:t>
            </a:r>
            <a:r>
              <a:rPr kumimoji="0" lang="en-US" altLang="en-US" sz="1050" b="0" i="0" u="none" strike="noStrike" cap="none" normalizeH="0" baseline="0" dirty="0">
                <a:ln>
                  <a:noFill/>
                </a:ln>
                <a:effectLst/>
                <a:latin typeface="Consolas" panose="020B0609020204030204" pitchFamily="49" charset="0"/>
              </a:rPr>
              <a:t> </a:t>
            </a:r>
            <a:r>
              <a:rPr kumimoji="0" lang="en-US" altLang="en-US" sz="1600" b="0" i="0" u="none" strike="noStrike" cap="none" normalizeH="0" baseline="0" dirty="0">
                <a:ln>
                  <a:noFill/>
                </a:ln>
                <a:effectLst/>
                <a:latin typeface="Consolas" panose="020B0609020204030204" pitchFamily="49" charset="0"/>
              </a:rPr>
              <a:t>(</a:t>
            </a:r>
            <a:r>
              <a:rPr kumimoji="0" lang="en-US" altLang="en-US" sz="1600" b="1" i="0" u="none" strike="noStrike" cap="none" normalizeH="0" baseline="0" dirty="0">
                <a:ln>
                  <a:noFill/>
                </a:ln>
                <a:effectLst/>
                <a:latin typeface="Consolas" panose="020B0609020204030204" pitchFamily="49" charset="0"/>
              </a:rPr>
              <a:t>int</a:t>
            </a:r>
            <a:r>
              <a:rPr kumimoji="0" lang="en-US" altLang="en-US" sz="1050" b="0" i="0" u="none" strike="noStrike" cap="none" normalizeH="0" baseline="0" dirty="0">
                <a:ln>
                  <a:noFill/>
                </a:ln>
                <a:effectLst/>
                <a:latin typeface="Consolas" panose="020B0609020204030204" pitchFamily="49" charset="0"/>
              </a:rPr>
              <a:t> </a:t>
            </a:r>
            <a:r>
              <a:rPr kumimoji="0" lang="en-US" altLang="en-US" sz="1600" b="0" i="0" u="none" strike="noStrike" cap="none" normalizeH="0" baseline="0" dirty="0" err="1">
                <a:ln>
                  <a:noFill/>
                </a:ln>
                <a:effectLst/>
                <a:latin typeface="Consolas" panose="020B0609020204030204" pitchFamily="49" charset="0"/>
              </a:rPr>
              <a:t>i</a:t>
            </a:r>
            <a:r>
              <a:rPr kumimoji="0" lang="en-US" altLang="en-US" sz="1600" b="0" i="0" u="none" strike="noStrike" cap="none" normalizeH="0" baseline="0" dirty="0">
                <a:ln>
                  <a:noFill/>
                </a:ln>
                <a:effectLst/>
                <a:latin typeface="Consolas" panose="020B0609020204030204" pitchFamily="49" charset="0"/>
              </a:rPr>
              <a:t> = 0; </a:t>
            </a:r>
            <a:r>
              <a:rPr kumimoji="0" lang="en-US" altLang="en-US" sz="1600" b="0" i="0" u="none" strike="noStrike" cap="none" normalizeH="0" baseline="0" dirty="0" err="1">
                <a:ln>
                  <a:noFill/>
                </a:ln>
                <a:effectLst/>
                <a:latin typeface="Consolas" panose="020B0609020204030204" pitchFamily="49" charset="0"/>
              </a:rPr>
              <a:t>i</a:t>
            </a:r>
            <a:r>
              <a:rPr kumimoji="0" lang="en-US" altLang="en-US" sz="1600" b="0" i="0" u="none" strike="noStrike" cap="none" normalizeH="0" baseline="0" dirty="0">
                <a:ln>
                  <a:noFill/>
                </a:ln>
                <a:effectLst/>
                <a:latin typeface="Consolas" panose="020B0609020204030204" pitchFamily="49" charset="0"/>
              </a:rPr>
              <a:t> &lt; n; </a:t>
            </a:r>
            <a:r>
              <a:rPr kumimoji="0" lang="en-US" altLang="en-US" sz="1600" b="0" i="0" u="none" strike="noStrike" cap="none" normalizeH="0" baseline="0" dirty="0" err="1">
                <a:ln>
                  <a:noFill/>
                </a:ln>
                <a:effectLst/>
                <a:latin typeface="Consolas" panose="020B0609020204030204" pitchFamily="49" charset="0"/>
              </a:rPr>
              <a:t>i</a:t>
            </a:r>
            <a:r>
              <a:rPr kumimoji="0" lang="en-US" altLang="en-US" sz="1600" b="0" i="0" u="none" strike="noStrike" cap="none" normalizeH="0" baseline="0" dirty="0">
                <a:ln>
                  <a:noFill/>
                </a:ln>
                <a:effectLst/>
                <a:latin typeface="Consolas" panose="020B0609020204030204" pitchFamily="49" charset="0"/>
              </a:rPr>
              <a:t>++)</a:t>
            </a:r>
            <a:endParaRPr kumimoji="0" lang="en-US" altLang="en-US" sz="105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nsolas" panose="020B0609020204030204" pitchFamily="49" charset="0"/>
              </a:rPr>
              <a:t>        </a:t>
            </a:r>
            <a:r>
              <a:rPr kumimoji="0" lang="en-US" altLang="en-US" sz="1600" b="0" i="0" u="none" strike="noStrike" cap="none" normalizeH="0" baseline="0" dirty="0">
                <a:ln>
                  <a:noFill/>
                </a:ln>
                <a:solidFill>
                  <a:srgbClr val="C00000"/>
                </a:solidFill>
                <a:effectLst/>
                <a:latin typeface="Consolas" panose="020B0609020204030204" pitchFamily="49" charset="0"/>
              </a:rPr>
              <a:t>slot[</a:t>
            </a:r>
            <a:r>
              <a:rPr kumimoji="0" lang="en-US" altLang="en-US" sz="1600" b="0" i="0" u="none" strike="noStrike" cap="none" normalizeH="0" baseline="0" dirty="0" err="1">
                <a:ln>
                  <a:noFill/>
                </a:ln>
                <a:solidFill>
                  <a:srgbClr val="C00000"/>
                </a:solidFill>
                <a:effectLst/>
                <a:latin typeface="Consolas" panose="020B0609020204030204" pitchFamily="49" charset="0"/>
              </a:rPr>
              <a:t>i</a:t>
            </a:r>
            <a:r>
              <a:rPr kumimoji="0" lang="en-US" altLang="en-US" sz="1600" b="0" i="0" u="none" strike="noStrike" cap="none" normalizeH="0" baseline="0" dirty="0">
                <a:ln>
                  <a:noFill/>
                </a:ln>
                <a:solidFill>
                  <a:srgbClr val="C00000"/>
                </a:solidFill>
                <a:effectLst/>
                <a:latin typeface="Consolas" panose="020B0609020204030204" pitchFamily="49" charset="0"/>
              </a:rPr>
              <a:t>] = </a:t>
            </a:r>
            <a:r>
              <a:rPr kumimoji="0" lang="en-US" altLang="en-US" sz="1600" b="1" i="0" u="none" strike="noStrike" cap="none" normalizeH="0" baseline="0" dirty="0">
                <a:ln>
                  <a:noFill/>
                </a:ln>
                <a:solidFill>
                  <a:srgbClr val="C00000"/>
                </a:solidFill>
                <a:effectLst/>
                <a:latin typeface="Consolas" panose="020B0609020204030204" pitchFamily="49" charset="0"/>
              </a:rPr>
              <a:t>false</a:t>
            </a:r>
            <a:r>
              <a:rPr kumimoji="0" lang="en-US" altLang="en-US" sz="1600" b="0" i="0" u="none" strike="noStrike" cap="none" normalizeH="0" baseline="0" dirty="0">
                <a:ln>
                  <a:noFill/>
                </a:ln>
                <a:effectLst/>
                <a:latin typeface="Consolas" panose="020B0609020204030204" pitchFamily="49" charset="0"/>
              </a:rPr>
              <a:t>;</a:t>
            </a:r>
            <a:endParaRPr kumimoji="0" lang="en-US" altLang="en-US" sz="105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effectLst/>
                <a:latin typeface="Consolas" panose="020B0609020204030204" pitchFamily="49" charset="0"/>
              </a:rPr>
              <a:t> </a:t>
            </a:r>
            <a:endParaRPr kumimoji="0" lang="en-US" altLang="en-US" sz="28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nsolas" panose="020B0609020204030204" pitchFamily="49" charset="0"/>
              </a:rPr>
              <a:t>    // Iterate through all given jobs</a:t>
            </a:r>
            <a:endParaRPr kumimoji="0" lang="en-US" altLang="en-US" sz="105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nsolas" panose="020B0609020204030204" pitchFamily="49" charset="0"/>
              </a:rPr>
              <a:t>    </a:t>
            </a:r>
            <a:r>
              <a:rPr kumimoji="0" lang="en-US" altLang="en-US" sz="1600" b="1" i="0" u="none" strike="noStrike" cap="none" normalizeH="0" baseline="0" dirty="0">
                <a:ln>
                  <a:noFill/>
                </a:ln>
                <a:effectLst/>
                <a:latin typeface="Consolas" panose="020B0609020204030204" pitchFamily="49" charset="0"/>
              </a:rPr>
              <a:t>for</a:t>
            </a:r>
            <a:r>
              <a:rPr kumimoji="0" lang="en-US" altLang="en-US" sz="1050" b="0" i="0" u="none" strike="noStrike" cap="none" normalizeH="0" baseline="0" dirty="0">
                <a:ln>
                  <a:noFill/>
                </a:ln>
                <a:effectLst/>
                <a:latin typeface="Consolas" panose="020B0609020204030204" pitchFamily="49" charset="0"/>
              </a:rPr>
              <a:t> </a:t>
            </a:r>
            <a:r>
              <a:rPr kumimoji="0" lang="en-US" altLang="en-US" sz="1600" b="0" i="0" u="none" strike="noStrike" cap="none" normalizeH="0" baseline="0" dirty="0">
                <a:ln>
                  <a:noFill/>
                </a:ln>
                <a:effectLst/>
                <a:latin typeface="Consolas" panose="020B0609020204030204" pitchFamily="49" charset="0"/>
              </a:rPr>
              <a:t>(</a:t>
            </a:r>
            <a:r>
              <a:rPr kumimoji="0" lang="en-US" altLang="en-US" sz="1600" b="1" i="0" u="none" strike="noStrike" cap="none" normalizeH="0" baseline="0" dirty="0">
                <a:ln>
                  <a:noFill/>
                </a:ln>
                <a:effectLst/>
                <a:latin typeface="Consolas" panose="020B0609020204030204" pitchFamily="49" charset="0"/>
              </a:rPr>
              <a:t>int</a:t>
            </a:r>
            <a:r>
              <a:rPr kumimoji="0" lang="en-US" altLang="en-US" sz="1050" b="0" i="0" u="none" strike="noStrike" cap="none" normalizeH="0" baseline="0" dirty="0">
                <a:ln>
                  <a:noFill/>
                </a:ln>
                <a:effectLst/>
                <a:latin typeface="Consolas" panose="020B0609020204030204" pitchFamily="49" charset="0"/>
              </a:rPr>
              <a:t> </a:t>
            </a:r>
            <a:r>
              <a:rPr kumimoji="0" lang="en-US" altLang="en-US" sz="1600" b="0" i="0" u="none" strike="noStrike" cap="none" normalizeH="0" baseline="0" dirty="0" err="1">
                <a:ln>
                  <a:noFill/>
                </a:ln>
                <a:effectLst/>
                <a:latin typeface="Consolas" panose="020B0609020204030204" pitchFamily="49" charset="0"/>
              </a:rPr>
              <a:t>i</a:t>
            </a:r>
            <a:r>
              <a:rPr kumimoji="0" lang="en-US" altLang="en-US" sz="1600" b="0" i="0" u="none" strike="noStrike" cap="none" normalizeH="0" baseline="0" dirty="0">
                <a:ln>
                  <a:noFill/>
                </a:ln>
                <a:effectLst/>
                <a:latin typeface="Consolas" panose="020B0609020204030204" pitchFamily="49" charset="0"/>
              </a:rPr>
              <a:t> = 0; </a:t>
            </a:r>
            <a:r>
              <a:rPr kumimoji="0" lang="en-US" altLang="en-US" sz="1600" b="0" i="0" u="none" strike="noStrike" cap="none" normalizeH="0" baseline="0" dirty="0" err="1">
                <a:ln>
                  <a:noFill/>
                </a:ln>
                <a:effectLst/>
                <a:latin typeface="Consolas" panose="020B0609020204030204" pitchFamily="49" charset="0"/>
              </a:rPr>
              <a:t>i</a:t>
            </a:r>
            <a:r>
              <a:rPr kumimoji="0" lang="en-US" altLang="en-US" sz="1600" b="0" i="0" u="none" strike="noStrike" cap="none" normalizeH="0" baseline="0" dirty="0">
                <a:ln>
                  <a:noFill/>
                </a:ln>
                <a:effectLst/>
                <a:latin typeface="Consolas" panose="020B0609020204030204" pitchFamily="49" charset="0"/>
              </a:rPr>
              <a:t> &lt; n; </a:t>
            </a:r>
            <a:r>
              <a:rPr kumimoji="0" lang="en-US" altLang="en-US" sz="1600" b="0" i="0" u="none" strike="noStrike" cap="none" normalizeH="0" baseline="0" dirty="0" err="1">
                <a:ln>
                  <a:noFill/>
                </a:ln>
                <a:effectLst/>
                <a:latin typeface="Consolas" panose="020B0609020204030204" pitchFamily="49" charset="0"/>
              </a:rPr>
              <a:t>i</a:t>
            </a:r>
            <a:r>
              <a:rPr kumimoji="0" lang="en-US" altLang="en-US" sz="1600" b="0" i="0" u="none" strike="noStrike" cap="none" normalizeH="0" baseline="0" dirty="0">
                <a:ln>
                  <a:noFill/>
                </a:ln>
                <a:effectLst/>
                <a:latin typeface="Consolas" panose="020B0609020204030204" pitchFamily="49" charset="0"/>
              </a:rPr>
              <a:t>++) {</a:t>
            </a:r>
            <a:endParaRPr kumimoji="0" lang="en-US" altLang="en-US" sz="105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nsolas" panose="020B0609020204030204" pitchFamily="49" charset="0"/>
              </a:rPr>
              <a:t>      </a:t>
            </a:r>
            <a:r>
              <a:rPr kumimoji="0" lang="en-US" altLang="en-US" sz="1050" b="0" i="0" u="none" strike="noStrike" cap="none" normalizeH="0" baseline="0" dirty="0">
                <a:ln>
                  <a:noFill/>
                </a:ln>
                <a:effectLst/>
                <a:latin typeface="Consolas" panose="020B0609020204030204" pitchFamily="49" charset="0"/>
              </a:rPr>
              <a:t> </a:t>
            </a:r>
            <a:endParaRPr kumimoji="0" lang="en-US" altLang="en-US" sz="28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nsolas" panose="020B0609020204030204" pitchFamily="49" charset="0"/>
              </a:rPr>
              <a:t>        // Find a free slot for this job (Note that we start from the last possible slot)</a:t>
            </a:r>
            <a:endParaRPr kumimoji="0" lang="en-US" altLang="en-US" sz="105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nsolas" panose="020B0609020204030204" pitchFamily="49" charset="0"/>
              </a:rPr>
              <a:t>        </a:t>
            </a:r>
            <a:r>
              <a:rPr kumimoji="0" lang="en-US" altLang="en-US" sz="1600" b="1" i="0" u="none" strike="noStrike" cap="none" normalizeH="0" baseline="0" dirty="0">
                <a:ln>
                  <a:noFill/>
                </a:ln>
                <a:effectLst/>
                <a:latin typeface="Consolas" panose="020B0609020204030204" pitchFamily="49" charset="0"/>
              </a:rPr>
              <a:t>for</a:t>
            </a:r>
            <a:r>
              <a:rPr kumimoji="0" lang="en-US" altLang="en-US" sz="1050" b="0" i="0" u="none" strike="noStrike" cap="none" normalizeH="0" baseline="0" dirty="0">
                <a:ln>
                  <a:noFill/>
                </a:ln>
                <a:effectLst/>
                <a:latin typeface="Consolas" panose="020B0609020204030204" pitchFamily="49" charset="0"/>
              </a:rPr>
              <a:t> </a:t>
            </a:r>
            <a:r>
              <a:rPr kumimoji="0" lang="en-US" altLang="en-US" sz="1600" b="0" i="0" u="none" strike="noStrike" cap="none" normalizeH="0" baseline="0" dirty="0">
                <a:ln>
                  <a:noFill/>
                </a:ln>
                <a:effectLst/>
                <a:latin typeface="Consolas" panose="020B0609020204030204" pitchFamily="49" charset="0"/>
              </a:rPr>
              <a:t>(</a:t>
            </a:r>
            <a:r>
              <a:rPr kumimoji="0" lang="en-US" altLang="en-US" sz="1600" b="1" i="0" u="none" strike="noStrike" cap="none" normalizeH="0" baseline="0" dirty="0">
                <a:ln>
                  <a:noFill/>
                </a:ln>
                <a:effectLst/>
                <a:latin typeface="Consolas" panose="020B0609020204030204" pitchFamily="49" charset="0"/>
              </a:rPr>
              <a:t>int</a:t>
            </a:r>
            <a:r>
              <a:rPr kumimoji="0" lang="en-US" altLang="en-US" sz="1050" b="0" i="0" u="none" strike="noStrike" cap="none" normalizeH="0" baseline="0" dirty="0">
                <a:ln>
                  <a:noFill/>
                </a:ln>
                <a:effectLst/>
                <a:latin typeface="Consolas" panose="020B0609020204030204" pitchFamily="49" charset="0"/>
              </a:rPr>
              <a:t> </a:t>
            </a:r>
            <a:r>
              <a:rPr kumimoji="0" lang="en-US" altLang="en-US" sz="1600" b="0" i="0" u="none" strike="noStrike" cap="none" normalizeH="0" baseline="0" dirty="0">
                <a:ln>
                  <a:noFill/>
                </a:ln>
                <a:effectLst/>
                <a:latin typeface="Consolas" panose="020B0609020204030204" pitchFamily="49" charset="0"/>
              </a:rPr>
              <a:t>j = min(n, </a:t>
            </a:r>
            <a:r>
              <a:rPr kumimoji="0" lang="en-US" altLang="en-US" sz="1600" b="0" i="0" u="none" strike="noStrike" cap="none" normalizeH="0" baseline="0" dirty="0" err="1">
                <a:ln>
                  <a:noFill/>
                </a:ln>
                <a:effectLst/>
                <a:latin typeface="Consolas" panose="020B0609020204030204" pitchFamily="49" charset="0"/>
              </a:rPr>
              <a:t>arr</a:t>
            </a:r>
            <a:r>
              <a:rPr kumimoji="0" lang="en-US" altLang="en-US" sz="1600" b="0" i="0" u="none" strike="noStrike" cap="none" normalizeH="0" baseline="0" dirty="0">
                <a:ln>
                  <a:noFill/>
                </a:ln>
                <a:effectLst/>
                <a:latin typeface="Consolas" panose="020B0609020204030204" pitchFamily="49" charset="0"/>
              </a:rPr>
              <a:t>[</a:t>
            </a:r>
            <a:r>
              <a:rPr kumimoji="0" lang="en-US" altLang="en-US" sz="1600" b="0" i="0" u="none" strike="noStrike" cap="none" normalizeH="0" baseline="0" dirty="0" err="1">
                <a:ln>
                  <a:noFill/>
                </a:ln>
                <a:effectLst/>
                <a:latin typeface="Consolas" panose="020B0609020204030204" pitchFamily="49" charset="0"/>
              </a:rPr>
              <a:t>i</a:t>
            </a:r>
            <a:r>
              <a:rPr kumimoji="0" lang="en-US" altLang="en-US" sz="1600" b="0" i="0" u="none" strike="noStrike" cap="none" normalizeH="0" baseline="0" dirty="0">
                <a:ln>
                  <a:noFill/>
                </a:ln>
                <a:effectLst/>
                <a:latin typeface="Consolas" panose="020B0609020204030204" pitchFamily="49" charset="0"/>
              </a:rPr>
              <a:t>].dead) - 1; j &gt;= 0; j--) {</a:t>
            </a:r>
            <a:endParaRPr kumimoji="0" lang="en-US" altLang="en-US" sz="105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nsolas" panose="020B0609020204030204" pitchFamily="49" charset="0"/>
              </a:rPr>
              <a:t>          </a:t>
            </a:r>
            <a:r>
              <a:rPr kumimoji="0" lang="en-US" altLang="en-US" sz="1050" b="0" i="0" u="none" strike="noStrike" cap="none" normalizeH="0" baseline="0" dirty="0">
                <a:ln>
                  <a:noFill/>
                </a:ln>
                <a:effectLst/>
                <a:latin typeface="Consolas" panose="020B0609020204030204" pitchFamily="49" charset="0"/>
              </a:rPr>
              <a:t> </a:t>
            </a:r>
            <a:endParaRPr kumimoji="0" lang="en-US" altLang="en-US" sz="280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nsolas" panose="020B0609020204030204" pitchFamily="49" charset="0"/>
              </a:rPr>
              <a:t>            // Free slot found</a:t>
            </a:r>
            <a:endParaRPr kumimoji="0" lang="en-US" altLang="en-US" sz="105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nsolas" panose="020B0609020204030204" pitchFamily="49" charset="0"/>
              </a:rPr>
              <a:t>            </a:t>
            </a:r>
            <a:r>
              <a:rPr kumimoji="0" lang="en-US" altLang="en-US" sz="1600" b="1" i="0" u="none" strike="noStrike" cap="none" normalizeH="0" baseline="0" dirty="0">
                <a:ln>
                  <a:noFill/>
                </a:ln>
                <a:effectLst/>
                <a:latin typeface="Consolas" panose="020B0609020204030204" pitchFamily="49" charset="0"/>
              </a:rPr>
              <a:t>if</a:t>
            </a:r>
            <a:r>
              <a:rPr kumimoji="0" lang="en-US" altLang="en-US" sz="1050" b="0" i="0" u="none" strike="noStrike" cap="none" normalizeH="0" baseline="0" dirty="0">
                <a:ln>
                  <a:noFill/>
                </a:ln>
                <a:effectLst/>
                <a:latin typeface="Consolas" panose="020B0609020204030204" pitchFamily="49" charset="0"/>
              </a:rPr>
              <a:t> </a:t>
            </a:r>
            <a:r>
              <a:rPr kumimoji="0" lang="en-US" altLang="en-US" sz="1600" b="0" i="0" u="none" strike="noStrike" cap="none" normalizeH="0" baseline="0" dirty="0">
                <a:ln>
                  <a:noFill/>
                </a:ln>
                <a:effectLst/>
                <a:latin typeface="Consolas" panose="020B0609020204030204" pitchFamily="49" charset="0"/>
              </a:rPr>
              <a:t>(slot[j] == </a:t>
            </a:r>
            <a:r>
              <a:rPr kumimoji="0" lang="en-US" altLang="en-US" sz="1600" b="1" i="0" u="none" strike="noStrike" cap="none" normalizeH="0" baseline="0" dirty="0">
                <a:ln>
                  <a:noFill/>
                </a:ln>
                <a:effectLst/>
                <a:latin typeface="Consolas" panose="020B0609020204030204" pitchFamily="49" charset="0"/>
              </a:rPr>
              <a:t>false &amp;&amp; </a:t>
            </a:r>
            <a:r>
              <a:rPr kumimoji="0" lang="en-US" altLang="en-US" sz="1600" i="0" u="none" strike="noStrike" cap="none" normalizeH="0" baseline="0" dirty="0" err="1">
                <a:ln>
                  <a:noFill/>
                </a:ln>
                <a:effectLst/>
                <a:latin typeface="Consolas" panose="020B0609020204030204" pitchFamily="49" charset="0"/>
              </a:rPr>
              <a:t>arr</a:t>
            </a:r>
            <a:r>
              <a:rPr kumimoji="0" lang="en-US" altLang="en-US" sz="1600" i="0" u="none" strike="noStrike" cap="none" normalizeH="0" baseline="0" dirty="0">
                <a:ln>
                  <a:noFill/>
                </a:ln>
                <a:effectLst/>
                <a:latin typeface="Consolas" panose="020B0609020204030204" pitchFamily="49" charset="0"/>
              </a:rPr>
              <a:t>[</a:t>
            </a:r>
            <a:r>
              <a:rPr kumimoji="0" lang="en-US" altLang="en-US" sz="1600" i="0" u="none" strike="noStrike" cap="none" normalizeH="0" baseline="0" dirty="0" err="1">
                <a:ln>
                  <a:noFill/>
                </a:ln>
                <a:effectLst/>
                <a:latin typeface="Consolas" panose="020B0609020204030204" pitchFamily="49" charset="0"/>
              </a:rPr>
              <a:t>i</a:t>
            </a:r>
            <a:r>
              <a:rPr kumimoji="0" lang="en-US" altLang="en-US" sz="1600" i="0" u="none" strike="noStrike" cap="none" normalizeH="0" baseline="0" dirty="0">
                <a:ln>
                  <a:noFill/>
                </a:ln>
                <a:effectLst/>
                <a:latin typeface="Consolas" panose="020B0609020204030204" pitchFamily="49" charset="0"/>
              </a:rPr>
              <a:t>].dead&lt;=j</a:t>
            </a:r>
            <a:r>
              <a:rPr kumimoji="0" lang="en-US" altLang="en-US" sz="1600" b="0" i="0" u="none" strike="noStrike" cap="none" normalizeH="0" baseline="0" dirty="0">
                <a:ln>
                  <a:noFill/>
                </a:ln>
                <a:effectLst/>
                <a:latin typeface="Consolas" panose="020B0609020204030204" pitchFamily="49" charset="0"/>
              </a:rPr>
              <a:t>) {</a:t>
            </a:r>
            <a:endParaRPr kumimoji="0" lang="en-US" altLang="en-US" sz="105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nsolas" panose="020B0609020204030204" pitchFamily="49" charset="0"/>
              </a:rPr>
              <a:t>                </a:t>
            </a:r>
            <a:r>
              <a:rPr kumimoji="0" lang="en-US" altLang="en-US" sz="1600" b="0" i="0" u="none" strike="noStrike" cap="none" normalizeH="0" baseline="0" dirty="0">
                <a:ln>
                  <a:noFill/>
                </a:ln>
                <a:solidFill>
                  <a:srgbClr val="C00000"/>
                </a:solidFill>
                <a:effectLst/>
                <a:latin typeface="Consolas" panose="020B0609020204030204" pitchFamily="49" charset="0"/>
              </a:rPr>
              <a:t>result[j] = </a:t>
            </a:r>
            <a:r>
              <a:rPr kumimoji="0" lang="en-US" altLang="en-US" sz="1600" b="0" i="0" u="none" strike="noStrike" cap="none" normalizeH="0" baseline="0" dirty="0" err="1">
                <a:ln>
                  <a:noFill/>
                </a:ln>
                <a:solidFill>
                  <a:srgbClr val="C00000"/>
                </a:solidFill>
                <a:effectLst/>
                <a:latin typeface="Consolas" panose="020B0609020204030204" pitchFamily="49" charset="0"/>
              </a:rPr>
              <a:t>i</a:t>
            </a:r>
            <a:r>
              <a:rPr kumimoji="0" lang="en-US" altLang="en-US" sz="1600" b="0" i="0" u="none" strike="noStrike" cap="none" normalizeH="0" baseline="0" dirty="0">
                <a:ln>
                  <a:noFill/>
                </a:ln>
                <a:solidFill>
                  <a:srgbClr val="C00000"/>
                </a:solidFill>
                <a:effectLst/>
                <a:latin typeface="Consolas" panose="020B0609020204030204" pitchFamily="49" charset="0"/>
              </a:rPr>
              <a:t>; </a:t>
            </a:r>
            <a:r>
              <a:rPr kumimoji="0" lang="en-US" altLang="en-US" sz="1600" b="0" i="0" u="none" strike="noStrike" cap="none" normalizeH="0" baseline="0" dirty="0">
                <a:ln>
                  <a:noFill/>
                </a:ln>
                <a:effectLst/>
                <a:latin typeface="Consolas" panose="020B0609020204030204" pitchFamily="49" charset="0"/>
              </a:rPr>
              <a:t>// Add this job to result</a:t>
            </a:r>
            <a:endParaRPr kumimoji="0" lang="en-US" altLang="en-US" sz="105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nsolas" panose="020B0609020204030204" pitchFamily="49" charset="0"/>
              </a:rPr>
              <a:t>                </a:t>
            </a:r>
            <a:r>
              <a:rPr kumimoji="0" lang="en-US" altLang="en-US" sz="1600" b="0" i="0" u="none" strike="noStrike" cap="none" normalizeH="0" baseline="0" dirty="0">
                <a:ln>
                  <a:noFill/>
                </a:ln>
                <a:solidFill>
                  <a:srgbClr val="C00000"/>
                </a:solidFill>
                <a:effectLst/>
                <a:latin typeface="Consolas" panose="020B0609020204030204" pitchFamily="49" charset="0"/>
              </a:rPr>
              <a:t>slot[j] = </a:t>
            </a:r>
            <a:r>
              <a:rPr kumimoji="0" lang="en-US" altLang="en-US" sz="1600" b="1" i="0" u="none" strike="noStrike" cap="none" normalizeH="0" baseline="0" dirty="0">
                <a:ln>
                  <a:noFill/>
                </a:ln>
                <a:solidFill>
                  <a:srgbClr val="C00000"/>
                </a:solidFill>
                <a:effectLst/>
                <a:latin typeface="Consolas" panose="020B0609020204030204" pitchFamily="49" charset="0"/>
              </a:rPr>
              <a:t>true</a:t>
            </a:r>
            <a:r>
              <a:rPr kumimoji="0" lang="en-US" altLang="en-US" sz="1600" b="0" i="0" u="none" strike="noStrike" cap="none" normalizeH="0" baseline="0" dirty="0">
                <a:ln>
                  <a:noFill/>
                </a:ln>
                <a:solidFill>
                  <a:srgbClr val="C00000"/>
                </a:solidFill>
                <a:effectLst/>
                <a:latin typeface="Consolas" panose="020B0609020204030204" pitchFamily="49" charset="0"/>
              </a:rPr>
              <a:t>;</a:t>
            </a:r>
            <a:r>
              <a:rPr kumimoji="0" lang="en-US" altLang="en-US" sz="1600" b="0" i="0" u="none" strike="noStrike" cap="none" normalizeH="0" baseline="0" dirty="0">
                <a:ln>
                  <a:noFill/>
                </a:ln>
                <a:effectLst/>
                <a:latin typeface="Consolas" panose="020B0609020204030204" pitchFamily="49" charset="0"/>
              </a:rPr>
              <a:t> // Make this slot occupied</a:t>
            </a:r>
            <a:endParaRPr kumimoji="0" lang="en-US" altLang="en-US" sz="105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Consolas" panose="020B0609020204030204" pitchFamily="49" charset="0"/>
              </a:rPr>
              <a:t>                </a:t>
            </a:r>
            <a:r>
              <a:rPr kumimoji="0" lang="en-US" altLang="en-US" sz="1600" b="1" i="0" u="none" strike="noStrike" cap="none" normalizeH="0" baseline="0" dirty="0">
                <a:ln>
                  <a:noFill/>
                </a:ln>
                <a:effectLst/>
                <a:latin typeface="Consolas" panose="020B0609020204030204" pitchFamily="49" charset="0"/>
              </a:rPr>
              <a:t>break</a:t>
            </a:r>
            <a:r>
              <a:rPr kumimoji="0" lang="en-US" altLang="en-US" sz="1600" b="0" i="0" u="none" strike="noStrike" cap="none" normalizeH="0" baseline="0" dirty="0">
                <a:ln>
                  <a:noFill/>
                </a:ln>
                <a:effectLst/>
                <a:latin typeface="Consolas" panose="020B0609020204030204" pitchFamily="49" charset="0"/>
              </a:rPr>
              <a:t>;</a:t>
            </a:r>
            <a:endParaRPr kumimoji="0" lang="en-US" altLang="en-US" sz="1050" b="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FFFFFF"/>
                </a:solidFill>
                <a:effectLst/>
                <a:latin typeface="Consolas" panose="020B0609020204030204" pitchFamily="49" charset="0"/>
              </a:rPr>
              <a:t>            </a:t>
            </a:r>
            <a:r>
              <a:rPr kumimoji="0" lang="en-US" altLang="en-US" sz="1600" b="0" i="0" u="none" strike="noStrike" cap="none" normalizeH="0" baseline="0" dirty="0">
                <a:ln>
                  <a:noFill/>
                </a:ln>
                <a:solidFill>
                  <a:srgbClr val="F8F8F2"/>
                </a:solidFill>
                <a:effectLst/>
                <a:latin typeface="Consolas" panose="020B0609020204030204" pitchFamily="49" charset="0"/>
              </a:rPr>
              <a:t>}</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FFFFFF"/>
                </a:solidFill>
                <a:effectLst/>
                <a:latin typeface="Consolas" panose="020B0609020204030204" pitchFamily="49" charset="0"/>
              </a:rPr>
              <a:t>        </a:t>
            </a:r>
            <a:r>
              <a:rPr kumimoji="0" lang="en-US" altLang="en-US" sz="1100" b="0" i="0" u="none" strike="noStrike" cap="none" normalizeH="0" baseline="0" dirty="0">
                <a:ln>
                  <a:noFill/>
                </a:ln>
                <a:solidFill>
                  <a:srgbClr val="F8F8F2"/>
                </a:solidFill>
                <a:effectLst/>
                <a:latin typeface="Consolas" panose="020B0609020204030204" pitchFamily="49"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926374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F2D6C-0F78-4FD4-9FE5-9ED240BD045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55C5178-004B-4A88-9B54-6030E8B71361}"/>
              </a:ext>
            </a:extLst>
          </p:cNvPr>
          <p:cNvSpPr>
            <a:spLocks noGrp="1"/>
          </p:cNvSpPr>
          <p:nvPr>
            <p:ph idx="1"/>
          </p:nvPr>
        </p:nvSpPr>
        <p:spPr/>
        <p:txBody>
          <a:bodyPr/>
          <a:lstStyle/>
          <a:p>
            <a:r>
              <a:rPr lang="en-US" dirty="0"/>
              <a:t>The time complexity for the above job scheduling algorithm is </a:t>
            </a:r>
            <a:r>
              <a:rPr lang="en-US" dirty="0">
                <a:solidFill>
                  <a:srgbClr val="C00000"/>
                </a:solidFill>
              </a:rPr>
              <a:t>O(n</a:t>
            </a:r>
            <a:r>
              <a:rPr lang="en-US" baseline="30000" dirty="0">
                <a:solidFill>
                  <a:srgbClr val="C00000"/>
                </a:solidFill>
              </a:rPr>
              <a:t>2</a:t>
            </a:r>
            <a:r>
              <a:rPr lang="en-US" dirty="0">
                <a:solidFill>
                  <a:srgbClr val="C00000"/>
                </a:solidFill>
              </a:rPr>
              <a:t> ) </a:t>
            </a:r>
            <a:r>
              <a:rPr lang="en-US" dirty="0"/>
              <a:t>in the worst case when we will look for all the slots in the Gantt chart for a given job id.</a:t>
            </a:r>
          </a:p>
          <a:p>
            <a:r>
              <a:rPr lang="en-US" dirty="0"/>
              <a:t>On average, n jobs search n/2 slots. So, this would also take </a:t>
            </a:r>
            <a:r>
              <a:rPr lang="en-US" dirty="0">
                <a:solidFill>
                  <a:srgbClr val="C00000"/>
                </a:solidFill>
              </a:rPr>
              <a:t>O(n</a:t>
            </a:r>
            <a:r>
              <a:rPr lang="en-US" baseline="30000" dirty="0">
                <a:solidFill>
                  <a:srgbClr val="C00000"/>
                </a:solidFill>
              </a:rPr>
              <a:t>2</a:t>
            </a:r>
            <a:r>
              <a:rPr lang="en-US" dirty="0">
                <a:solidFill>
                  <a:srgbClr val="C00000"/>
                </a:solidFill>
              </a:rPr>
              <a:t> )</a:t>
            </a:r>
            <a:r>
              <a:rPr lang="en-US" dirty="0"/>
              <a:t> time approximately.</a:t>
            </a:r>
            <a:endParaRPr lang="en-IN" dirty="0"/>
          </a:p>
        </p:txBody>
      </p:sp>
    </p:spTree>
    <p:extLst>
      <p:ext uri="{BB962C8B-B14F-4D97-AF65-F5344CB8AC3E}">
        <p14:creationId xmlns:p14="http://schemas.microsoft.com/office/powerpoint/2010/main" val="27591856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Huffman Codes</a:t>
            </a:r>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40632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53F12-6F43-40FC-B195-9C6899E93FCD}"/>
              </a:ext>
            </a:extLst>
          </p:cNvPr>
          <p:cNvSpPr>
            <a:spLocks noGrp="1"/>
          </p:cNvSpPr>
          <p:nvPr>
            <p:ph type="title"/>
          </p:nvPr>
        </p:nvSpPr>
        <p:spPr/>
        <p:txBody>
          <a:bodyPr/>
          <a:lstStyle/>
          <a:p>
            <a:r>
              <a:rPr lang="en-IN" dirty="0"/>
              <a:t>Intro</a:t>
            </a:r>
          </a:p>
        </p:txBody>
      </p:sp>
      <p:sp>
        <p:nvSpPr>
          <p:cNvPr id="3" name="Content Placeholder 2">
            <a:extLst>
              <a:ext uri="{FF2B5EF4-FFF2-40B4-BE49-F238E27FC236}">
                <a16:creationId xmlns:a16="http://schemas.microsoft.com/office/drawing/2014/main" id="{7F32778F-2738-4C48-8C7A-E5B46B4E66F1}"/>
              </a:ext>
            </a:extLst>
          </p:cNvPr>
          <p:cNvSpPr>
            <a:spLocks noGrp="1"/>
          </p:cNvSpPr>
          <p:nvPr>
            <p:ph idx="1"/>
          </p:nvPr>
        </p:nvSpPr>
        <p:spPr/>
        <p:txBody>
          <a:bodyPr/>
          <a:lstStyle/>
          <a:p>
            <a:r>
              <a:rPr lang="en-US" dirty="0"/>
              <a:t>When you want to send files or store the files on a computer, if the size is very huge we generally compress it and store it.</a:t>
            </a:r>
          </a:p>
          <a:p>
            <a:endParaRPr lang="en-US" dirty="0"/>
          </a:p>
          <a:p>
            <a:r>
              <a:rPr lang="en-US" dirty="0"/>
              <a:t>One way of compressing these files is using Huffman Coding which is a greedy-based algorithm that is also known as variable-length coding or lossless data compression technique.</a:t>
            </a:r>
            <a:endParaRPr lang="en-IN" dirty="0"/>
          </a:p>
        </p:txBody>
      </p:sp>
    </p:spTree>
    <p:extLst>
      <p:ext uri="{BB962C8B-B14F-4D97-AF65-F5344CB8AC3E}">
        <p14:creationId xmlns:p14="http://schemas.microsoft.com/office/powerpoint/2010/main" val="411916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Prefix Code</a:t>
            </a:r>
          </a:p>
        </p:txBody>
      </p:sp>
      <p:sp>
        <p:nvSpPr>
          <p:cNvPr id="3" name="Content Placeholder 2"/>
          <p:cNvSpPr>
            <a:spLocks noGrp="1"/>
          </p:cNvSpPr>
          <p:nvPr>
            <p:ph idx="1"/>
          </p:nvPr>
        </p:nvSpPr>
        <p:spPr/>
        <p:txBody>
          <a:bodyPr/>
          <a:lstStyle/>
          <a:p>
            <a:r>
              <a:rPr lang="en-IN" dirty="0"/>
              <a:t>Prefix code is used for </a:t>
            </a:r>
            <a:r>
              <a:rPr lang="en-IN" dirty="0">
                <a:solidFill>
                  <a:srgbClr val="AD1457"/>
                </a:solidFill>
              </a:rPr>
              <a:t>encoding</a:t>
            </a:r>
            <a:r>
              <a:rPr lang="en-IN" dirty="0"/>
              <a:t>(compression) and </a:t>
            </a:r>
            <a:r>
              <a:rPr lang="en-IN" dirty="0">
                <a:solidFill>
                  <a:srgbClr val="AD1457"/>
                </a:solidFill>
              </a:rPr>
              <a:t>Decoding</a:t>
            </a:r>
            <a:r>
              <a:rPr lang="en-IN" dirty="0"/>
              <a:t>(Decompression).</a:t>
            </a:r>
          </a:p>
          <a:p>
            <a:r>
              <a:rPr lang="en-IN" dirty="0"/>
              <a:t>Prefix Code: Any code that is not prefix of another code is called prefix code.</a:t>
            </a:r>
          </a:p>
        </p:txBody>
      </p:sp>
      <p:graphicFrame>
        <p:nvGraphicFramePr>
          <p:cNvPr id="4" name="Table 3"/>
          <p:cNvGraphicFramePr>
            <a:graphicFrameLocks noGrp="1"/>
          </p:cNvGraphicFramePr>
          <p:nvPr>
            <p:extLst>
              <p:ext uri="{D42A27DB-BD31-4B8C-83A1-F6EECF244321}">
                <p14:modId xmlns:p14="http://schemas.microsoft.com/office/powerpoint/2010/main" val="2030715011"/>
              </p:ext>
            </p:extLst>
          </p:nvPr>
        </p:nvGraphicFramePr>
        <p:xfrm>
          <a:off x="548038" y="1854013"/>
          <a:ext cx="5136679" cy="4143136"/>
        </p:xfrm>
        <a:graphic>
          <a:graphicData uri="http://schemas.openxmlformats.org/drawingml/2006/table">
            <a:tbl>
              <a:tblPr firstRow="1" firstCol="1" bandRow="1">
                <a:tableStyleId>{21E4AEA4-8DFA-4A89-87EB-49C32662AFE0}</a:tableStyleId>
              </a:tblPr>
              <a:tblGrid>
                <a:gridCol w="1629105">
                  <a:extLst>
                    <a:ext uri="{9D8B030D-6E8A-4147-A177-3AD203B41FA5}">
                      <a16:colId xmlns:a16="http://schemas.microsoft.com/office/drawing/2014/main" val="354366288"/>
                    </a:ext>
                  </a:extLst>
                </a:gridCol>
                <a:gridCol w="1445260">
                  <a:extLst>
                    <a:ext uri="{9D8B030D-6E8A-4147-A177-3AD203B41FA5}">
                      <a16:colId xmlns:a16="http://schemas.microsoft.com/office/drawing/2014/main" val="1307534128"/>
                    </a:ext>
                  </a:extLst>
                </a:gridCol>
                <a:gridCol w="1031157">
                  <a:extLst>
                    <a:ext uri="{9D8B030D-6E8A-4147-A177-3AD203B41FA5}">
                      <a16:colId xmlns:a16="http://schemas.microsoft.com/office/drawing/2014/main" val="1566708603"/>
                    </a:ext>
                  </a:extLst>
                </a:gridCol>
                <a:gridCol w="1031157">
                  <a:extLst>
                    <a:ext uri="{9D8B030D-6E8A-4147-A177-3AD203B41FA5}">
                      <a16:colId xmlns:a16="http://schemas.microsoft.com/office/drawing/2014/main" val="931776294"/>
                    </a:ext>
                  </a:extLst>
                </a:gridCol>
              </a:tblGrid>
              <a:tr h="517892">
                <a:tc>
                  <a:txBody>
                    <a:bodyPr/>
                    <a:lstStyle/>
                    <a:p>
                      <a:pPr marL="0" marR="0" algn="ctr">
                        <a:lnSpc>
                          <a:spcPct val="115000"/>
                        </a:lnSpc>
                        <a:spcBef>
                          <a:spcPts val="0"/>
                        </a:spcBef>
                        <a:spcAft>
                          <a:spcPts val="0"/>
                        </a:spcAft>
                      </a:pPr>
                      <a:r>
                        <a:rPr lang="en-US" sz="2400" b="0" kern="1200" dirty="0">
                          <a:solidFill>
                            <a:srgbClr val="C00000"/>
                          </a:solidFill>
                          <a:effectLst/>
                          <a:latin typeface="+mn-lt"/>
                          <a:ea typeface="+mn-ea"/>
                          <a:cs typeface="+mn-cs"/>
                        </a:rPr>
                        <a:t>Characters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r>
                        <a:rPr lang="en-US" sz="2400" b="0" kern="1200" dirty="0">
                          <a:solidFill>
                            <a:srgbClr val="C00000"/>
                          </a:solidFill>
                          <a:effectLst/>
                          <a:latin typeface="+mn-lt"/>
                          <a:ea typeface="+mn-ea"/>
                          <a:cs typeface="+mn-cs"/>
                        </a:rPr>
                        <a:t>Frequency</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r>
                        <a:rPr lang="en-US" sz="2400" b="0" kern="1200" dirty="0">
                          <a:solidFill>
                            <a:srgbClr val="C00000"/>
                          </a:solidFill>
                          <a:effectLst/>
                          <a:latin typeface="+mn-lt"/>
                          <a:ea typeface="+mn-ea"/>
                          <a:cs typeface="+mn-cs"/>
                        </a:rPr>
                        <a:t>Code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r>
                        <a:rPr lang="en-US" sz="2400" b="0" kern="1200" dirty="0">
                          <a:solidFill>
                            <a:srgbClr val="C00000"/>
                          </a:solidFill>
                          <a:effectLst/>
                          <a:latin typeface="+mn-lt"/>
                          <a:ea typeface="+mn-ea"/>
                          <a:cs typeface="+mn-cs"/>
                        </a:rPr>
                        <a:t>Bits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991759993"/>
                  </a:ext>
                </a:extLst>
              </a:tr>
              <a:tr h="517892">
                <a:tc>
                  <a:txBody>
                    <a:bodyPr/>
                    <a:lstStyle/>
                    <a:p>
                      <a:pPr marL="0" marR="0" algn="ctr">
                        <a:lnSpc>
                          <a:spcPct val="115000"/>
                        </a:lnSpc>
                        <a:spcBef>
                          <a:spcPts val="0"/>
                        </a:spcBef>
                        <a:spcAft>
                          <a:spcPts val="0"/>
                        </a:spcAft>
                      </a:pPr>
                      <a:r>
                        <a:rPr lang="en-US" sz="2400" b="0" dirty="0">
                          <a:solidFill>
                            <a:srgbClr val="C00000"/>
                          </a:solidFill>
                          <a:effectLst/>
                          <a:latin typeface="+mn-lt"/>
                          <a:ea typeface="+mn-ea"/>
                          <a:cs typeface="+mn-cs"/>
                        </a:rPr>
                        <a:t>a</a:t>
                      </a:r>
                      <a:endParaRPr lang="en-US" sz="2400" b="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defTabSz="914400" rtl="0" eaLnBrk="1" latinLnBrk="0" hangingPunct="1">
                        <a:lnSpc>
                          <a:spcPct val="115000"/>
                        </a:lnSpc>
                        <a:spcBef>
                          <a:spcPts val="0"/>
                        </a:spcBef>
                        <a:spcAft>
                          <a:spcPts val="0"/>
                        </a:spcAft>
                      </a:pPr>
                      <a:r>
                        <a:rPr lang="en-US" sz="2400" kern="1200" dirty="0">
                          <a:solidFill>
                            <a:schemeClr val="dk1"/>
                          </a:solidFill>
                          <a:effectLst/>
                          <a:latin typeface="+mn-lt"/>
                          <a:ea typeface="+mn-ea"/>
                          <a:cs typeface="+mn-cs"/>
                        </a:rPr>
                        <a:t>45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kern="1200" dirty="0">
                          <a:solidFill>
                            <a:schemeClr val="dk1"/>
                          </a:solidFill>
                          <a:effectLst/>
                          <a:latin typeface="+mn-lt"/>
                          <a:ea typeface="+mn-ea"/>
                          <a:cs typeface="+mn-cs"/>
                        </a:rPr>
                        <a:t>000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lnSpc>
                          <a:spcPct val="115000"/>
                        </a:lnSpc>
                        <a:spcBef>
                          <a:spcPts val="0"/>
                        </a:spcBef>
                        <a:spcAft>
                          <a:spcPts val="0"/>
                        </a:spcAft>
                      </a:pPr>
                      <a:r>
                        <a:rPr lang="en-US" sz="2400" kern="1200" dirty="0">
                          <a:solidFill>
                            <a:schemeClr val="dk1"/>
                          </a:solidFill>
                          <a:effectLst/>
                          <a:latin typeface="+mn-lt"/>
                          <a:ea typeface="+mn-ea"/>
                          <a:cs typeface="+mn-cs"/>
                        </a:rPr>
                        <a:t>135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1834702"/>
                  </a:ext>
                </a:extLst>
              </a:tr>
              <a:tr h="517892">
                <a:tc>
                  <a:txBody>
                    <a:bodyPr/>
                    <a:lstStyle/>
                    <a:p>
                      <a:pPr marL="0" marR="0" algn="ctr" defTabSz="914400" rtl="0" eaLnBrk="1" latinLnBrk="0" hangingPunct="1">
                        <a:lnSpc>
                          <a:spcPct val="115000"/>
                        </a:lnSpc>
                        <a:spcBef>
                          <a:spcPts val="0"/>
                        </a:spcBef>
                        <a:spcAft>
                          <a:spcPts val="0"/>
                        </a:spcAft>
                      </a:pPr>
                      <a:r>
                        <a:rPr lang="en-US" sz="2400" b="0" kern="1200" dirty="0">
                          <a:solidFill>
                            <a:srgbClr val="C00000"/>
                          </a:solidFill>
                          <a:effectLst/>
                          <a:latin typeface="+mn-lt"/>
                          <a:ea typeface="+mn-ea"/>
                          <a:cs typeface="+mn-cs"/>
                        </a:rPr>
                        <a:t>b</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defTabSz="914400" rtl="0" eaLnBrk="1" latinLnBrk="0" hangingPunct="1">
                        <a:lnSpc>
                          <a:spcPct val="115000"/>
                        </a:lnSpc>
                        <a:spcBef>
                          <a:spcPts val="0"/>
                        </a:spcBef>
                        <a:spcAft>
                          <a:spcPts val="0"/>
                        </a:spcAft>
                      </a:pPr>
                      <a:r>
                        <a:rPr lang="en-US" sz="2400" kern="1200" dirty="0">
                          <a:solidFill>
                            <a:schemeClr val="dk1"/>
                          </a:solidFill>
                          <a:effectLst/>
                          <a:latin typeface="+mn-lt"/>
                          <a:ea typeface="+mn-ea"/>
                          <a:cs typeface="+mn-cs"/>
                        </a:rPr>
                        <a:t>13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kern="1200" dirty="0">
                          <a:solidFill>
                            <a:schemeClr val="dk1"/>
                          </a:solidFill>
                          <a:effectLst/>
                          <a:latin typeface="+mn-lt"/>
                          <a:ea typeface="+mn-ea"/>
                          <a:cs typeface="+mn-cs"/>
                        </a:rPr>
                        <a:t>111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lnSpc>
                          <a:spcPct val="115000"/>
                        </a:lnSpc>
                        <a:spcBef>
                          <a:spcPts val="0"/>
                        </a:spcBef>
                        <a:spcAft>
                          <a:spcPts val="0"/>
                        </a:spcAft>
                      </a:pPr>
                      <a:r>
                        <a:rPr lang="en-US" sz="2400" kern="1200" dirty="0">
                          <a:solidFill>
                            <a:schemeClr val="dk1"/>
                          </a:solidFill>
                          <a:effectLst/>
                          <a:latin typeface="+mn-lt"/>
                          <a:ea typeface="+mn-ea"/>
                          <a:cs typeface="+mn-cs"/>
                        </a:rPr>
                        <a:t>39</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191657"/>
                  </a:ext>
                </a:extLst>
              </a:tr>
              <a:tr h="517892">
                <a:tc>
                  <a:txBody>
                    <a:bodyPr/>
                    <a:lstStyle/>
                    <a:p>
                      <a:pPr marL="0" marR="0" algn="ctr" defTabSz="914400" rtl="0" eaLnBrk="1" latinLnBrk="0" hangingPunct="1">
                        <a:lnSpc>
                          <a:spcPct val="115000"/>
                        </a:lnSpc>
                        <a:spcBef>
                          <a:spcPts val="0"/>
                        </a:spcBef>
                        <a:spcAft>
                          <a:spcPts val="0"/>
                        </a:spcAft>
                      </a:pPr>
                      <a:r>
                        <a:rPr lang="en-US" sz="2400" b="0" kern="1200" dirty="0">
                          <a:solidFill>
                            <a:srgbClr val="C00000"/>
                          </a:solidFill>
                          <a:effectLst/>
                          <a:latin typeface="+mn-lt"/>
                          <a:ea typeface="+mn-ea"/>
                          <a:cs typeface="+mn-cs"/>
                        </a:rPr>
                        <a:t>c</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defTabSz="914400" rtl="0" eaLnBrk="1" latinLnBrk="0" hangingPunct="1">
                        <a:lnSpc>
                          <a:spcPct val="115000"/>
                        </a:lnSpc>
                        <a:spcBef>
                          <a:spcPts val="0"/>
                        </a:spcBef>
                        <a:spcAft>
                          <a:spcPts val="0"/>
                        </a:spcAft>
                      </a:pPr>
                      <a:r>
                        <a:rPr lang="en-US" sz="2400" kern="1200" dirty="0">
                          <a:solidFill>
                            <a:schemeClr val="dk1"/>
                          </a:solidFill>
                          <a:effectLst/>
                          <a:latin typeface="+mn-lt"/>
                          <a:ea typeface="+mn-ea"/>
                          <a:cs typeface="+mn-cs"/>
                        </a:rPr>
                        <a:t>12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kern="1200" dirty="0">
                          <a:solidFill>
                            <a:schemeClr val="dk1"/>
                          </a:solidFill>
                          <a:effectLst/>
                          <a:latin typeface="+mn-lt"/>
                          <a:ea typeface="+mn-ea"/>
                          <a:cs typeface="+mn-cs"/>
                        </a:rPr>
                        <a:t>101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lnSpc>
                          <a:spcPct val="115000"/>
                        </a:lnSpc>
                        <a:spcBef>
                          <a:spcPts val="0"/>
                        </a:spcBef>
                        <a:spcAft>
                          <a:spcPts val="0"/>
                        </a:spcAft>
                      </a:pPr>
                      <a:r>
                        <a:rPr lang="en-US" sz="2400" kern="1200" dirty="0">
                          <a:solidFill>
                            <a:schemeClr val="dk1"/>
                          </a:solidFill>
                          <a:effectLst/>
                          <a:latin typeface="+mn-lt"/>
                          <a:ea typeface="+mn-ea"/>
                          <a:cs typeface="+mn-cs"/>
                        </a:rPr>
                        <a:t>36</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0608895"/>
                  </a:ext>
                </a:extLst>
              </a:tr>
              <a:tr h="517892">
                <a:tc>
                  <a:txBody>
                    <a:bodyPr/>
                    <a:lstStyle/>
                    <a:p>
                      <a:pPr marL="0" marR="0" algn="ctr" defTabSz="914400" rtl="0" eaLnBrk="1" latinLnBrk="0" hangingPunct="1">
                        <a:lnSpc>
                          <a:spcPct val="115000"/>
                        </a:lnSpc>
                        <a:spcBef>
                          <a:spcPts val="0"/>
                        </a:spcBef>
                        <a:spcAft>
                          <a:spcPts val="0"/>
                        </a:spcAft>
                      </a:pPr>
                      <a:r>
                        <a:rPr lang="en-US" sz="2400" b="0" kern="1200" dirty="0">
                          <a:solidFill>
                            <a:srgbClr val="C00000"/>
                          </a:solidFill>
                          <a:effectLst/>
                          <a:latin typeface="+mn-lt"/>
                          <a:ea typeface="+mn-ea"/>
                          <a:cs typeface="+mn-cs"/>
                        </a:rPr>
                        <a:t>d</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defTabSz="914400" rtl="0" eaLnBrk="1" latinLnBrk="0" hangingPunct="1">
                        <a:lnSpc>
                          <a:spcPct val="115000"/>
                        </a:lnSpc>
                        <a:spcBef>
                          <a:spcPts val="0"/>
                        </a:spcBef>
                        <a:spcAft>
                          <a:spcPts val="0"/>
                        </a:spcAft>
                      </a:pPr>
                      <a:r>
                        <a:rPr lang="en-US" sz="2400" kern="1200" dirty="0">
                          <a:solidFill>
                            <a:schemeClr val="dk1"/>
                          </a:solidFill>
                          <a:effectLst/>
                          <a:latin typeface="+mn-lt"/>
                          <a:ea typeface="+mn-ea"/>
                          <a:cs typeface="+mn-cs"/>
                        </a:rPr>
                        <a:t>16</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kern="1200" dirty="0">
                          <a:solidFill>
                            <a:schemeClr val="dk1"/>
                          </a:solidFill>
                          <a:effectLst/>
                          <a:latin typeface="+mn-lt"/>
                          <a:ea typeface="+mn-ea"/>
                          <a:cs typeface="+mn-cs"/>
                        </a:rPr>
                        <a:t>110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lnSpc>
                          <a:spcPct val="115000"/>
                        </a:lnSpc>
                        <a:spcBef>
                          <a:spcPts val="0"/>
                        </a:spcBef>
                        <a:spcAft>
                          <a:spcPts val="0"/>
                        </a:spcAft>
                      </a:pPr>
                      <a:r>
                        <a:rPr lang="en-US" sz="2400" kern="1200" dirty="0">
                          <a:solidFill>
                            <a:schemeClr val="dk1"/>
                          </a:solidFill>
                          <a:effectLst/>
                          <a:latin typeface="+mn-lt"/>
                          <a:ea typeface="+mn-ea"/>
                          <a:cs typeface="+mn-cs"/>
                        </a:rPr>
                        <a:t>48</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9417200"/>
                  </a:ext>
                </a:extLst>
              </a:tr>
              <a:tr h="517892">
                <a:tc>
                  <a:txBody>
                    <a:bodyPr/>
                    <a:lstStyle/>
                    <a:p>
                      <a:pPr marL="0" marR="0" algn="ctr" defTabSz="914400" rtl="0" eaLnBrk="1" latinLnBrk="0" hangingPunct="1">
                        <a:lnSpc>
                          <a:spcPct val="115000"/>
                        </a:lnSpc>
                        <a:spcBef>
                          <a:spcPts val="0"/>
                        </a:spcBef>
                        <a:spcAft>
                          <a:spcPts val="0"/>
                        </a:spcAft>
                      </a:pPr>
                      <a:r>
                        <a:rPr lang="en-US" sz="2400" b="0" kern="1200" dirty="0">
                          <a:solidFill>
                            <a:srgbClr val="C00000"/>
                          </a:solidFill>
                          <a:effectLst/>
                          <a:latin typeface="+mn-lt"/>
                          <a:ea typeface="+mn-ea"/>
                          <a:cs typeface="+mn-cs"/>
                        </a:rPr>
                        <a:t>e</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defTabSz="914400" rtl="0" eaLnBrk="1" latinLnBrk="0" hangingPunct="1">
                        <a:lnSpc>
                          <a:spcPct val="115000"/>
                        </a:lnSpc>
                        <a:spcBef>
                          <a:spcPts val="0"/>
                        </a:spcBef>
                        <a:spcAft>
                          <a:spcPts val="0"/>
                        </a:spcAft>
                      </a:pPr>
                      <a:r>
                        <a:rPr lang="en-US" sz="2400" kern="1200" dirty="0">
                          <a:solidFill>
                            <a:schemeClr val="dk1"/>
                          </a:solidFill>
                          <a:effectLst/>
                          <a:latin typeface="+mn-lt"/>
                          <a:ea typeface="+mn-ea"/>
                          <a:cs typeface="+mn-cs"/>
                        </a:rPr>
                        <a:t>9</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kern="1200" dirty="0">
                          <a:solidFill>
                            <a:schemeClr val="dk1"/>
                          </a:solidFill>
                          <a:effectLst/>
                          <a:latin typeface="+mn-lt"/>
                          <a:ea typeface="+mn-ea"/>
                          <a:cs typeface="+mn-cs"/>
                        </a:rPr>
                        <a:t>011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lnSpc>
                          <a:spcPct val="115000"/>
                        </a:lnSpc>
                        <a:spcBef>
                          <a:spcPts val="0"/>
                        </a:spcBef>
                        <a:spcAft>
                          <a:spcPts val="0"/>
                        </a:spcAft>
                      </a:pPr>
                      <a:r>
                        <a:rPr lang="en-US" sz="2400" kern="1200" dirty="0">
                          <a:solidFill>
                            <a:schemeClr val="dk1"/>
                          </a:solidFill>
                          <a:effectLst/>
                          <a:latin typeface="+mn-lt"/>
                          <a:ea typeface="+mn-ea"/>
                          <a:cs typeface="+mn-cs"/>
                        </a:rPr>
                        <a:t>27</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0591537"/>
                  </a:ext>
                </a:extLst>
              </a:tr>
              <a:tr h="517892">
                <a:tc>
                  <a:txBody>
                    <a:bodyPr/>
                    <a:lstStyle/>
                    <a:p>
                      <a:pPr marL="0" marR="0" algn="ctr" defTabSz="914400" rtl="0" eaLnBrk="1" latinLnBrk="0" hangingPunct="1">
                        <a:lnSpc>
                          <a:spcPct val="115000"/>
                        </a:lnSpc>
                        <a:spcBef>
                          <a:spcPts val="0"/>
                        </a:spcBef>
                        <a:spcAft>
                          <a:spcPts val="0"/>
                        </a:spcAft>
                      </a:pPr>
                      <a:r>
                        <a:rPr lang="en-US" sz="2400" b="0" kern="1200" dirty="0">
                          <a:solidFill>
                            <a:srgbClr val="C00000"/>
                          </a:solidFill>
                          <a:effectLst/>
                          <a:latin typeface="+mn-lt"/>
                          <a:ea typeface="+mn-ea"/>
                          <a:cs typeface="+mn-cs"/>
                        </a:rPr>
                        <a:t>f</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defTabSz="914400" rtl="0" eaLnBrk="1" latinLnBrk="0" hangingPunct="1">
                        <a:lnSpc>
                          <a:spcPct val="115000"/>
                        </a:lnSpc>
                        <a:spcBef>
                          <a:spcPts val="0"/>
                        </a:spcBef>
                        <a:spcAft>
                          <a:spcPts val="0"/>
                        </a:spcAft>
                      </a:pPr>
                      <a:r>
                        <a:rPr lang="en-US" sz="2400" kern="1200" dirty="0">
                          <a:solidFill>
                            <a:schemeClr val="dk1"/>
                          </a:solidFill>
                          <a:effectLst/>
                          <a:latin typeface="+mn-lt"/>
                          <a:ea typeface="+mn-ea"/>
                          <a:cs typeface="+mn-cs"/>
                        </a:rPr>
                        <a:t>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kern="1200" dirty="0">
                          <a:solidFill>
                            <a:schemeClr val="dk1"/>
                          </a:solidFill>
                          <a:effectLst/>
                          <a:latin typeface="+mn-lt"/>
                          <a:ea typeface="+mn-ea"/>
                          <a:cs typeface="+mn-cs"/>
                        </a:rPr>
                        <a:t>001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lnSpc>
                          <a:spcPct val="115000"/>
                        </a:lnSpc>
                        <a:spcBef>
                          <a:spcPts val="0"/>
                        </a:spcBef>
                        <a:spcAft>
                          <a:spcPts val="0"/>
                        </a:spcAft>
                      </a:pPr>
                      <a:r>
                        <a:rPr lang="en-US" sz="2400" kern="1200" dirty="0">
                          <a:solidFill>
                            <a:schemeClr val="dk1"/>
                          </a:solidFill>
                          <a:effectLst/>
                          <a:latin typeface="+mn-lt"/>
                          <a:ea typeface="+mn-ea"/>
                          <a:cs typeface="+mn-cs"/>
                        </a:rPr>
                        <a:t>15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37009335"/>
                  </a:ext>
                </a:extLst>
              </a:tr>
              <a:tr h="517892">
                <a:tc gridSpan="3">
                  <a:txBody>
                    <a:bodyPr/>
                    <a:lstStyle/>
                    <a:p>
                      <a:pPr marL="0" marR="0" algn="r" defTabSz="914400" rtl="0" eaLnBrk="1" latinLnBrk="0" hangingPunct="1">
                        <a:lnSpc>
                          <a:spcPct val="115000"/>
                        </a:lnSpc>
                        <a:spcBef>
                          <a:spcPts val="0"/>
                        </a:spcBef>
                        <a:spcAft>
                          <a:spcPts val="0"/>
                        </a:spcAft>
                      </a:pPr>
                      <a:r>
                        <a:rPr lang="en-US" sz="2400" b="0" kern="1200" dirty="0">
                          <a:solidFill>
                            <a:srgbClr val="C00000"/>
                          </a:solidFill>
                          <a:effectLst/>
                          <a:latin typeface="+mn-lt"/>
                          <a:ea typeface="+mn-ea"/>
                          <a:cs typeface="+mn-cs"/>
                        </a:rPr>
                        <a:t>Total bits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algn="ctr" defTabSz="914400" rtl="0" eaLnBrk="1" latinLnBrk="0" hangingPunct="1">
                        <a:lnSpc>
                          <a:spcPct val="115000"/>
                        </a:lnSpc>
                        <a:spcBef>
                          <a:spcPts val="0"/>
                        </a:spcBef>
                        <a:spcAft>
                          <a:spcPts val="0"/>
                        </a:spcAft>
                      </a:pPr>
                      <a:endParaRPr lang="en-US" sz="2400" kern="1200" dirty="0">
                        <a:solidFill>
                          <a:schemeClr val="dk1"/>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algn="ctr">
                        <a:lnSpc>
                          <a:spcPct val="115000"/>
                        </a:lnSpc>
                        <a:spcBef>
                          <a:spcPts val="0"/>
                        </a:spcBef>
                        <a:spcAft>
                          <a:spcPts val="0"/>
                        </a:spcAft>
                      </a:pPr>
                      <a:endParaRPr lang="en-US" sz="2400" kern="1200" dirty="0">
                        <a:solidFill>
                          <a:schemeClr val="dk1"/>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lnSpc>
                          <a:spcPct val="115000"/>
                        </a:lnSpc>
                        <a:spcBef>
                          <a:spcPts val="0"/>
                        </a:spcBef>
                        <a:spcAft>
                          <a:spcPts val="0"/>
                        </a:spcAft>
                      </a:pPr>
                      <a:r>
                        <a:rPr lang="en-US" sz="2400" kern="1200">
                          <a:solidFill>
                            <a:schemeClr val="dk1"/>
                          </a:solidFill>
                          <a:effectLst/>
                          <a:latin typeface="+mn-lt"/>
                          <a:ea typeface="+mn-ea"/>
                          <a:cs typeface="+mn-cs"/>
                        </a:rPr>
                        <a:t>300</a:t>
                      </a:r>
                      <a:endParaRPr lang="en-US" sz="2400" kern="1200" dirty="0">
                        <a:solidFill>
                          <a:schemeClr val="dk1"/>
                        </a:solidFill>
                        <a:effectLst/>
                        <a:latin typeface="+mn-lt"/>
                        <a:ea typeface="+mn-ea"/>
                        <a:cs typeface="+mn-cs"/>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8531265"/>
                  </a:ext>
                </a:extLst>
              </a:tr>
            </a:tbl>
          </a:graphicData>
        </a:graphic>
      </p:graphicFrame>
    </p:spTree>
    <p:extLst>
      <p:ext uri="{BB962C8B-B14F-4D97-AF65-F5344CB8AC3E}">
        <p14:creationId xmlns:p14="http://schemas.microsoft.com/office/powerpoint/2010/main" val="2556883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Huffman code Introduction </a:t>
            </a:r>
          </a:p>
        </p:txBody>
      </p:sp>
      <p:sp>
        <p:nvSpPr>
          <p:cNvPr id="3" name="Content Placeholder 2"/>
          <p:cNvSpPr>
            <a:spLocks noGrp="1"/>
          </p:cNvSpPr>
          <p:nvPr>
            <p:ph idx="1"/>
          </p:nvPr>
        </p:nvSpPr>
        <p:spPr/>
        <p:txBody>
          <a:bodyPr/>
          <a:lstStyle/>
          <a:p>
            <a:r>
              <a:rPr lang="en-US" dirty="0"/>
              <a:t>Huffman Coding is a technique of compressing data to reduce its size </a:t>
            </a:r>
            <a:r>
              <a:rPr lang="en-US" dirty="0">
                <a:solidFill>
                  <a:srgbClr val="C00000"/>
                </a:solidFill>
              </a:rPr>
              <a:t>without losing </a:t>
            </a:r>
            <a:r>
              <a:rPr lang="en-US" dirty="0"/>
              <a:t>any of the details. It was first developed by David Huffman.</a:t>
            </a:r>
          </a:p>
          <a:p>
            <a:r>
              <a:rPr lang="en-US" dirty="0"/>
              <a:t>Huffman Coding is generally useful to </a:t>
            </a:r>
            <a:r>
              <a:rPr lang="en-US" dirty="0">
                <a:solidFill>
                  <a:srgbClr val="C00000"/>
                </a:solidFill>
              </a:rPr>
              <a:t>compress the data </a:t>
            </a:r>
            <a:r>
              <a:rPr lang="en-US" dirty="0"/>
              <a:t>where  character comes frequently.</a:t>
            </a:r>
          </a:p>
          <a:p>
            <a:r>
              <a:rPr lang="en-US" dirty="0"/>
              <a:t>Huffman invented a greedy algorithm that constructs </a:t>
            </a:r>
            <a:r>
              <a:rPr lang="en-US" dirty="0">
                <a:solidFill>
                  <a:srgbClr val="AD1457"/>
                </a:solidFill>
              </a:rPr>
              <a:t>an optimal prefix code </a:t>
            </a:r>
            <a:r>
              <a:rPr lang="en-US" dirty="0"/>
              <a:t>called a Huffman code.</a:t>
            </a:r>
          </a:p>
          <a:p>
            <a:r>
              <a:rPr lang="en-US" dirty="0"/>
              <a:t>Huffman coding is a </a:t>
            </a:r>
            <a:r>
              <a:rPr lang="en-US" dirty="0">
                <a:solidFill>
                  <a:srgbClr val="AD1457"/>
                </a:solidFill>
              </a:rPr>
              <a:t>lossless data compression </a:t>
            </a:r>
            <a:r>
              <a:rPr lang="en-US" dirty="0"/>
              <a:t>algorithm. </a:t>
            </a:r>
          </a:p>
          <a:p>
            <a:r>
              <a:rPr lang="en-US" dirty="0"/>
              <a:t>It assigns </a:t>
            </a:r>
            <a:r>
              <a:rPr lang="en-US" dirty="0">
                <a:solidFill>
                  <a:srgbClr val="AD1457"/>
                </a:solidFill>
              </a:rPr>
              <a:t>variable-length codes </a:t>
            </a:r>
            <a:r>
              <a:rPr lang="en-US" dirty="0"/>
              <a:t>to input characters.</a:t>
            </a:r>
          </a:p>
          <a:p>
            <a:r>
              <a:rPr lang="en-US" dirty="0"/>
              <a:t>Lengths of the assigned codes are based on the </a:t>
            </a:r>
            <a:r>
              <a:rPr lang="en-US" dirty="0">
                <a:solidFill>
                  <a:srgbClr val="AD1457"/>
                </a:solidFill>
              </a:rPr>
              <a:t>frequencies of corresponding characters. </a:t>
            </a:r>
          </a:p>
          <a:p>
            <a:r>
              <a:rPr lang="en-US" dirty="0"/>
              <a:t>The </a:t>
            </a:r>
            <a:r>
              <a:rPr lang="en-US" dirty="0">
                <a:solidFill>
                  <a:schemeClr val="accent5"/>
                </a:solidFill>
              </a:rPr>
              <a:t>most frequent character gets the smallest code </a:t>
            </a:r>
            <a:r>
              <a:rPr lang="en-US" dirty="0"/>
              <a:t>and the </a:t>
            </a:r>
            <a:r>
              <a:rPr lang="en-US" dirty="0">
                <a:solidFill>
                  <a:srgbClr val="0066FF"/>
                </a:solidFill>
              </a:rPr>
              <a:t>least frequent character gets the largest code.</a:t>
            </a:r>
          </a:p>
          <a:p>
            <a:r>
              <a:rPr lang="en-US" dirty="0"/>
              <a:t>The variable-length codes assigned to input characters are </a:t>
            </a:r>
            <a:r>
              <a:rPr lang="en-US" dirty="0">
                <a:solidFill>
                  <a:srgbClr val="AD1457"/>
                </a:solidFill>
              </a:rPr>
              <a:t>Prefix Codes</a:t>
            </a:r>
            <a:r>
              <a:rPr lang="en-US" dirty="0">
                <a:solidFill>
                  <a:srgbClr val="FF0000"/>
                </a:solidFill>
              </a:rPr>
              <a:t>.</a:t>
            </a:r>
          </a:p>
          <a:p>
            <a:endParaRPr lang="en-US" dirty="0"/>
          </a:p>
        </p:txBody>
      </p:sp>
    </p:spTree>
    <p:extLst>
      <p:ext uri="{BB962C8B-B14F-4D97-AF65-F5344CB8AC3E}">
        <p14:creationId xmlns:p14="http://schemas.microsoft.com/office/powerpoint/2010/main" val="2605328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Huffman Codes</a:t>
            </a:r>
          </a:p>
        </p:txBody>
      </p:sp>
      <p:sp>
        <p:nvSpPr>
          <p:cNvPr id="3" name="Content Placeholder 2"/>
          <p:cNvSpPr>
            <a:spLocks noGrp="1"/>
          </p:cNvSpPr>
          <p:nvPr>
            <p:ph idx="1"/>
          </p:nvPr>
        </p:nvSpPr>
        <p:spPr/>
        <p:txBody>
          <a:bodyPr/>
          <a:lstStyle/>
          <a:p>
            <a:r>
              <a:rPr lang="en-US" dirty="0"/>
              <a:t>In Prefix codes, the codes are assigned in such a way that the code assigned to one character </a:t>
            </a:r>
            <a:r>
              <a:rPr lang="en-US" b="1" dirty="0">
                <a:solidFill>
                  <a:srgbClr val="AD1457"/>
                </a:solidFill>
              </a:rPr>
              <a:t>is not a prefix of code </a:t>
            </a:r>
            <a:r>
              <a:rPr lang="en-US" dirty="0"/>
              <a:t>assigned to any other character. </a:t>
            </a:r>
          </a:p>
          <a:p>
            <a:r>
              <a:rPr lang="en-US" dirty="0"/>
              <a:t>For example,  </a:t>
            </a:r>
          </a:p>
          <a:p>
            <a:endParaRPr lang="en-US" dirty="0"/>
          </a:p>
          <a:p>
            <a:endParaRPr lang="en-US" dirty="0"/>
          </a:p>
          <a:p>
            <a:r>
              <a:rPr lang="en-US" dirty="0"/>
              <a:t>Now assume that the generated bitstream is 001, while decoding the code it can be written as follows:</a:t>
            </a:r>
          </a:p>
          <a:p>
            <a:pPr marL="0" indent="0">
              <a:buNone/>
            </a:pPr>
            <a:r>
              <a:rPr lang="en-US" dirty="0"/>
              <a:t>		0 0 1 = </a:t>
            </a:r>
            <a:r>
              <a:rPr lang="en-US" dirty="0" err="1"/>
              <a:t>aab</a:t>
            </a:r>
            <a:r>
              <a:rPr lang="en-US" dirty="0"/>
              <a:t>  ..?</a:t>
            </a:r>
          </a:p>
          <a:p>
            <a:pPr marL="0" indent="0">
              <a:buNone/>
            </a:pPr>
            <a:r>
              <a:rPr lang="en-US" dirty="0"/>
              <a:t>		0 01  = ac  ..?</a:t>
            </a:r>
          </a:p>
          <a:p>
            <a:r>
              <a:rPr lang="en-US" dirty="0"/>
              <a:t>This is how Huffman Coding makes sure that there is </a:t>
            </a:r>
            <a:r>
              <a:rPr lang="en-US" b="1" dirty="0">
                <a:solidFill>
                  <a:srgbClr val="AD1457"/>
                </a:solidFill>
              </a:rPr>
              <a:t>no ambiguity </a:t>
            </a:r>
            <a:r>
              <a:rPr lang="en-US" dirty="0"/>
              <a:t>when decoding the generated bit stream.</a:t>
            </a:r>
          </a:p>
          <a:p>
            <a:r>
              <a:rPr lang="en-US" dirty="0"/>
              <a:t>There are mainly two major parts in Huffman Coding</a:t>
            </a:r>
          </a:p>
          <a:p>
            <a:pPr marL="914400" lvl="1" indent="-457200">
              <a:buFont typeface="+mj-lt"/>
              <a:buAutoNum type="arabicPeriod"/>
            </a:pPr>
            <a:r>
              <a:rPr lang="en-US" dirty="0">
                <a:solidFill>
                  <a:srgbClr val="AD1457"/>
                </a:solidFill>
              </a:rPr>
              <a:t>Build a Huffman Tree from input characters.</a:t>
            </a:r>
          </a:p>
          <a:p>
            <a:pPr marL="914400" lvl="1" indent="-457200">
              <a:buFont typeface="+mj-lt"/>
              <a:buAutoNum type="arabicPeriod"/>
            </a:pPr>
            <a:r>
              <a:rPr lang="en-US" dirty="0">
                <a:solidFill>
                  <a:srgbClr val="AD1457"/>
                </a:solidFill>
              </a:rPr>
              <a:t>Traverse the Huffman Tree and assign codes to characters.</a:t>
            </a:r>
          </a:p>
          <a:p>
            <a:endParaRPr lang="en-US" dirty="0"/>
          </a:p>
        </p:txBody>
      </p:sp>
      <p:sp>
        <p:nvSpPr>
          <p:cNvPr id="7" name="Rectangle 6"/>
          <p:cNvSpPr/>
          <p:nvPr/>
        </p:nvSpPr>
        <p:spPr>
          <a:xfrm>
            <a:off x="2528048" y="2164977"/>
            <a:ext cx="7046258" cy="658906"/>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t>a = 0,  b = 1  and c = 01</a:t>
            </a:r>
          </a:p>
        </p:txBody>
      </p:sp>
      <p:sp>
        <p:nvSpPr>
          <p:cNvPr id="4" name="TextBox 3"/>
          <p:cNvSpPr txBox="1"/>
          <p:nvPr/>
        </p:nvSpPr>
        <p:spPr>
          <a:xfrm>
            <a:off x="6911789" y="2263610"/>
            <a:ext cx="2590800" cy="461665"/>
          </a:xfrm>
          <a:prstGeom prst="rect">
            <a:avLst/>
          </a:prstGeom>
          <a:solidFill>
            <a:schemeClr val="accent2">
              <a:lumMod val="20000"/>
              <a:lumOff val="80000"/>
            </a:schemeClr>
          </a:solidFill>
        </p:spPr>
        <p:txBody>
          <a:bodyPr wrap="square" rtlCol="0">
            <a:spAutoFit/>
          </a:bodyPr>
          <a:lstStyle/>
          <a:p>
            <a:pPr algn="ctr"/>
            <a:r>
              <a:rPr lang="en-US" sz="2400" dirty="0">
                <a:solidFill>
                  <a:srgbClr val="AD1457"/>
                </a:solidFill>
              </a:rPr>
              <a:t>Not a prefix code</a:t>
            </a:r>
          </a:p>
        </p:txBody>
      </p:sp>
      <p:cxnSp>
        <p:nvCxnSpPr>
          <p:cNvPr id="6" name="Straight Connector 5"/>
          <p:cNvCxnSpPr/>
          <p:nvPr/>
        </p:nvCxnSpPr>
        <p:spPr>
          <a:xfrm>
            <a:off x="3090116" y="2686470"/>
            <a:ext cx="381000" cy="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5" name="Rounded Rectangle 4"/>
          <p:cNvSpPr/>
          <p:nvPr/>
        </p:nvSpPr>
        <p:spPr>
          <a:xfrm>
            <a:off x="5421734" y="2286000"/>
            <a:ext cx="365760" cy="411480"/>
          </a:xfrm>
          <a:prstGeom prst="round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63876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par>
                          <p:cTn id="28"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left)">
                                      <p:cBhvr>
                                        <p:cTn id="36" dur="1000"/>
                                        <p:tgtEl>
                                          <p:spTgt spid="6"/>
                                        </p:tgtEl>
                                      </p:cBhvr>
                                    </p:animEffect>
                                  </p:childTnLst>
                                </p:cTn>
                              </p:par>
                              <p:par>
                                <p:cTn id="37" presetID="21" presetClass="entr" presetSubtype="1" fill="hold" grpId="0" nodeType="with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wheel(1)">
                                      <p:cBhvr>
                                        <p:cTn id="39" dur="1000"/>
                                        <p:tgtEl>
                                          <p:spTgt spid="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fade">
                                      <p:cBhvr>
                                        <p:cTn id="44" dur="500"/>
                                        <p:tgtEl>
                                          <p:spTgt spid="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500"/>
                                        <p:tgtEl>
                                          <p:spTgt spid="3">
                                            <p:txEl>
                                              <p:pRg st="7" end="7"/>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
                                            <p:txEl>
                                              <p:pRg st="8" end="8"/>
                                            </p:txEl>
                                          </p:spTgt>
                                        </p:tgtEl>
                                        <p:attrNameLst>
                                          <p:attrName>style.visibility</p:attrName>
                                        </p:attrNameLst>
                                      </p:cBhvr>
                                      <p:to>
                                        <p:strVal val="visible"/>
                                      </p:to>
                                    </p:set>
                                    <p:animEffect transition="in" filter="fade">
                                      <p:cBhvr>
                                        <p:cTn id="54" dur="500"/>
                                        <p:tgtEl>
                                          <p:spTgt spid="3">
                                            <p:txEl>
                                              <p:pRg st="8" end="8"/>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3">
                                            <p:txEl>
                                              <p:pRg st="9" end="9"/>
                                            </p:txEl>
                                          </p:spTgt>
                                        </p:tgtEl>
                                        <p:attrNameLst>
                                          <p:attrName>style.visibility</p:attrName>
                                        </p:attrNameLst>
                                      </p:cBhvr>
                                      <p:to>
                                        <p:strVal val="visible"/>
                                      </p:to>
                                    </p:set>
                                    <p:animEffect transition="in" filter="fade">
                                      <p:cBhvr>
                                        <p:cTn id="59" dur="500"/>
                                        <p:tgtEl>
                                          <p:spTgt spid="3">
                                            <p:txEl>
                                              <p:pRg st="9" end="9"/>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3">
                                            <p:txEl>
                                              <p:pRg st="10" end="10"/>
                                            </p:txEl>
                                          </p:spTgt>
                                        </p:tgtEl>
                                        <p:attrNameLst>
                                          <p:attrName>style.visibility</p:attrName>
                                        </p:attrNameLst>
                                      </p:cBhvr>
                                      <p:to>
                                        <p:strVal val="visible"/>
                                      </p:to>
                                    </p:set>
                                    <p:animEffect transition="in" filter="fade">
                                      <p:cBhvr>
                                        <p:cTn id="64"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4" grpId="0" animBg="1"/>
      <p:bldP spid="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Huffman Codes - Example</a:t>
            </a:r>
          </a:p>
        </p:txBody>
      </p:sp>
      <p:sp>
        <p:nvSpPr>
          <p:cNvPr id="3" name="Content Placeholder 2"/>
          <p:cNvSpPr>
            <a:spLocks noGrp="1"/>
          </p:cNvSpPr>
          <p:nvPr>
            <p:ph idx="1"/>
          </p:nvPr>
        </p:nvSpPr>
        <p:spPr/>
        <p:txBody>
          <a:bodyPr/>
          <a:lstStyle/>
          <a:p>
            <a:r>
              <a:rPr lang="en-US" dirty="0"/>
              <a:t>Find the Huffman codes for the following characters.</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393472225"/>
              </p:ext>
            </p:extLst>
          </p:nvPr>
        </p:nvGraphicFramePr>
        <p:xfrm>
          <a:off x="2003613" y="1692283"/>
          <a:ext cx="9318810" cy="1035784"/>
        </p:xfrm>
        <a:graphic>
          <a:graphicData uri="http://schemas.openxmlformats.org/drawingml/2006/table">
            <a:tbl>
              <a:tblPr firstRow="1" firstCol="1" bandRow="1">
                <a:tableStyleId>{21E4AEA4-8DFA-4A89-87EB-49C32662AFE0}</a:tableStyleId>
              </a:tblPr>
              <a:tblGrid>
                <a:gridCol w="3131868">
                  <a:extLst>
                    <a:ext uri="{9D8B030D-6E8A-4147-A177-3AD203B41FA5}">
                      <a16:colId xmlns:a16="http://schemas.microsoft.com/office/drawing/2014/main" val="354366288"/>
                    </a:ext>
                  </a:extLst>
                </a:gridCol>
                <a:gridCol w="1031157">
                  <a:extLst>
                    <a:ext uri="{9D8B030D-6E8A-4147-A177-3AD203B41FA5}">
                      <a16:colId xmlns:a16="http://schemas.microsoft.com/office/drawing/2014/main" val="1307534128"/>
                    </a:ext>
                  </a:extLst>
                </a:gridCol>
                <a:gridCol w="1031157">
                  <a:extLst>
                    <a:ext uri="{9D8B030D-6E8A-4147-A177-3AD203B41FA5}">
                      <a16:colId xmlns:a16="http://schemas.microsoft.com/office/drawing/2014/main" val="1566708603"/>
                    </a:ext>
                  </a:extLst>
                </a:gridCol>
                <a:gridCol w="1031157">
                  <a:extLst>
                    <a:ext uri="{9D8B030D-6E8A-4147-A177-3AD203B41FA5}">
                      <a16:colId xmlns:a16="http://schemas.microsoft.com/office/drawing/2014/main" val="931776294"/>
                    </a:ext>
                  </a:extLst>
                </a:gridCol>
                <a:gridCol w="1031157">
                  <a:extLst>
                    <a:ext uri="{9D8B030D-6E8A-4147-A177-3AD203B41FA5}">
                      <a16:colId xmlns:a16="http://schemas.microsoft.com/office/drawing/2014/main" val="3173872714"/>
                    </a:ext>
                  </a:extLst>
                </a:gridCol>
                <a:gridCol w="1031157">
                  <a:extLst>
                    <a:ext uri="{9D8B030D-6E8A-4147-A177-3AD203B41FA5}">
                      <a16:colId xmlns:a16="http://schemas.microsoft.com/office/drawing/2014/main" val="699234910"/>
                    </a:ext>
                  </a:extLst>
                </a:gridCol>
                <a:gridCol w="1031157">
                  <a:extLst>
                    <a:ext uri="{9D8B030D-6E8A-4147-A177-3AD203B41FA5}">
                      <a16:colId xmlns:a16="http://schemas.microsoft.com/office/drawing/2014/main" val="2308475217"/>
                    </a:ext>
                  </a:extLst>
                </a:gridCol>
              </a:tblGrid>
              <a:tr h="517892">
                <a:tc>
                  <a:txBody>
                    <a:bodyPr/>
                    <a:lstStyle/>
                    <a:p>
                      <a:pPr marL="0" marR="0" algn="ctr">
                        <a:lnSpc>
                          <a:spcPct val="115000"/>
                        </a:lnSpc>
                        <a:spcBef>
                          <a:spcPts val="0"/>
                        </a:spcBef>
                        <a:spcAft>
                          <a:spcPts val="0"/>
                        </a:spcAft>
                      </a:pPr>
                      <a:r>
                        <a:rPr lang="en-US" sz="2400" b="0" dirty="0">
                          <a:solidFill>
                            <a:srgbClr val="C00000"/>
                          </a:solidFill>
                          <a:effectLst/>
                        </a:rPr>
                        <a:t>Characters</a:t>
                      </a:r>
                      <a:endParaRPr lang="en-US" sz="2400" b="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r>
                        <a:rPr lang="en-US" sz="2400" dirty="0">
                          <a:solidFill>
                            <a:srgbClr val="C00000"/>
                          </a:solidFill>
                          <a:effectLst/>
                        </a:rPr>
                        <a:t>a</a:t>
                      </a:r>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r>
                        <a:rPr lang="en-US" sz="2400" dirty="0">
                          <a:solidFill>
                            <a:srgbClr val="C00000"/>
                          </a:solidFill>
                          <a:effectLst/>
                        </a:rPr>
                        <a:t>b</a:t>
                      </a:r>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r>
                        <a:rPr lang="en-US" sz="2400" dirty="0">
                          <a:solidFill>
                            <a:srgbClr val="C00000"/>
                          </a:solidFill>
                          <a:effectLst/>
                        </a:rPr>
                        <a:t>c</a:t>
                      </a:r>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r>
                        <a:rPr lang="en-US" sz="2400" dirty="0">
                          <a:solidFill>
                            <a:srgbClr val="C00000"/>
                          </a:solidFill>
                          <a:effectLst/>
                        </a:rPr>
                        <a:t>d</a:t>
                      </a:r>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r>
                        <a:rPr lang="en-US" sz="2400" dirty="0">
                          <a:solidFill>
                            <a:srgbClr val="C00000"/>
                          </a:solidFill>
                          <a:effectLst/>
                        </a:rPr>
                        <a:t>e</a:t>
                      </a:r>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r>
                        <a:rPr lang="en-US" sz="2400" dirty="0">
                          <a:solidFill>
                            <a:srgbClr val="C00000"/>
                          </a:solidFill>
                          <a:effectLst/>
                        </a:rPr>
                        <a:t>f</a:t>
                      </a:r>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991759993"/>
                  </a:ext>
                </a:extLst>
              </a:tr>
              <a:tr h="517892">
                <a:tc>
                  <a:txBody>
                    <a:bodyPr/>
                    <a:lstStyle/>
                    <a:p>
                      <a:pPr marL="0" marR="0" algn="ctr">
                        <a:lnSpc>
                          <a:spcPct val="115000"/>
                        </a:lnSpc>
                        <a:spcBef>
                          <a:spcPts val="0"/>
                        </a:spcBef>
                        <a:spcAft>
                          <a:spcPts val="0"/>
                        </a:spcAft>
                      </a:pPr>
                      <a:r>
                        <a:rPr lang="en-US" sz="2400" b="0" dirty="0">
                          <a:solidFill>
                            <a:srgbClr val="C00000"/>
                          </a:solidFill>
                          <a:effectLst/>
                        </a:rPr>
                        <a:t>Frequency (in thousand)</a:t>
                      </a:r>
                      <a:endParaRPr lang="en-US" sz="2400" b="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15000"/>
                        </a:lnSpc>
                        <a:spcBef>
                          <a:spcPts val="0"/>
                        </a:spcBef>
                        <a:spcAft>
                          <a:spcPts val="0"/>
                        </a:spcAft>
                      </a:pPr>
                      <a:r>
                        <a:rPr lang="en-US" sz="2400" dirty="0">
                          <a:effectLst/>
                        </a:rPr>
                        <a:t>45</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rPr>
                        <a:t>13</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rPr>
                        <a:t>12</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rPr>
                        <a:t>16</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rPr>
                        <a:t>9</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rPr>
                        <a:t>5</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1834702"/>
                  </a:ext>
                </a:extLst>
              </a:tr>
            </a:tbl>
          </a:graphicData>
        </a:graphic>
      </p:graphicFrame>
      <p:sp>
        <p:nvSpPr>
          <p:cNvPr id="5" name="Rectangle 4"/>
          <p:cNvSpPr/>
          <p:nvPr/>
        </p:nvSpPr>
        <p:spPr>
          <a:xfrm>
            <a:off x="358142" y="3598956"/>
            <a:ext cx="1097280" cy="4572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D1457"/>
                </a:solidFill>
              </a:rPr>
              <a:t>Step 1: </a:t>
            </a:r>
          </a:p>
        </p:txBody>
      </p:sp>
      <p:sp>
        <p:nvSpPr>
          <p:cNvPr id="6" name="TextBox 5"/>
          <p:cNvSpPr txBox="1"/>
          <p:nvPr/>
        </p:nvSpPr>
        <p:spPr>
          <a:xfrm>
            <a:off x="1481547" y="3598956"/>
            <a:ext cx="8420100" cy="830997"/>
          </a:xfrm>
          <a:prstGeom prst="rect">
            <a:avLst/>
          </a:prstGeom>
          <a:noFill/>
        </p:spPr>
        <p:txBody>
          <a:bodyPr wrap="square" rtlCol="0">
            <a:spAutoFit/>
          </a:bodyPr>
          <a:lstStyle/>
          <a:p>
            <a:pPr algn="just"/>
            <a:r>
              <a:rPr lang="en-US" sz="2400" dirty="0"/>
              <a:t>Arrange the characters in the Ascending order of their frequency. </a:t>
            </a:r>
            <a:r>
              <a:rPr lang="en-US" sz="1400" dirty="0"/>
              <a:t>(These are stored in a priority queue Q/ min-heap.)</a:t>
            </a:r>
            <a:r>
              <a:rPr lang="en-US" sz="2400" dirty="0"/>
              <a:t> </a:t>
            </a:r>
          </a:p>
        </p:txBody>
      </p:sp>
      <p:sp>
        <p:nvSpPr>
          <p:cNvPr id="13" name="Rectangle 12"/>
          <p:cNvSpPr/>
          <p:nvPr/>
        </p:nvSpPr>
        <p:spPr>
          <a:xfrm>
            <a:off x="2586447" y="4815841"/>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f:5</a:t>
            </a:r>
          </a:p>
        </p:txBody>
      </p:sp>
      <p:sp>
        <p:nvSpPr>
          <p:cNvPr id="14" name="Rectangle 13"/>
          <p:cNvSpPr/>
          <p:nvPr/>
        </p:nvSpPr>
        <p:spPr>
          <a:xfrm>
            <a:off x="3881847" y="4815841"/>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e:9</a:t>
            </a:r>
          </a:p>
        </p:txBody>
      </p:sp>
      <p:sp>
        <p:nvSpPr>
          <p:cNvPr id="15" name="Rectangle 14"/>
          <p:cNvSpPr/>
          <p:nvPr/>
        </p:nvSpPr>
        <p:spPr>
          <a:xfrm>
            <a:off x="5249983" y="4815841"/>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c:12</a:t>
            </a:r>
          </a:p>
        </p:txBody>
      </p:sp>
      <p:sp>
        <p:nvSpPr>
          <p:cNvPr id="16" name="Rectangle 15"/>
          <p:cNvSpPr/>
          <p:nvPr/>
        </p:nvSpPr>
        <p:spPr>
          <a:xfrm>
            <a:off x="6586945" y="4815841"/>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b:13</a:t>
            </a:r>
          </a:p>
        </p:txBody>
      </p:sp>
      <p:sp>
        <p:nvSpPr>
          <p:cNvPr id="17" name="Rectangle 16"/>
          <p:cNvSpPr/>
          <p:nvPr/>
        </p:nvSpPr>
        <p:spPr>
          <a:xfrm>
            <a:off x="7920447" y="4815841"/>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d:16</a:t>
            </a:r>
          </a:p>
        </p:txBody>
      </p:sp>
      <p:sp>
        <p:nvSpPr>
          <p:cNvPr id="18" name="Rectangle 17"/>
          <p:cNvSpPr/>
          <p:nvPr/>
        </p:nvSpPr>
        <p:spPr>
          <a:xfrm>
            <a:off x="9292047" y="4815841"/>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a:45</a:t>
            </a:r>
          </a:p>
        </p:txBody>
      </p:sp>
    </p:spTree>
    <p:extLst>
      <p:ext uri="{BB962C8B-B14F-4D97-AF65-F5344CB8AC3E}">
        <p14:creationId xmlns:p14="http://schemas.microsoft.com/office/powerpoint/2010/main" val="4077548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13" grpId="0" animBg="1"/>
      <p:bldP spid="14" grpId="0" animBg="1"/>
      <p:bldP spid="15" grpId="0" animBg="1"/>
      <p:bldP spid="16" grpId="0" animBg="1"/>
      <p:bldP spid="17" grpId="0" animBg="1"/>
      <p:bldP spid="1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Huffman Codes - Example</a:t>
            </a:r>
          </a:p>
        </p:txBody>
      </p:sp>
      <p:sp>
        <p:nvSpPr>
          <p:cNvPr id="4" name="Rectangle 3"/>
          <p:cNvSpPr/>
          <p:nvPr/>
        </p:nvSpPr>
        <p:spPr>
          <a:xfrm>
            <a:off x="473529" y="990600"/>
            <a:ext cx="1097280" cy="4572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D1457"/>
                </a:solidFill>
              </a:rPr>
              <a:t>Step 2: </a:t>
            </a:r>
          </a:p>
        </p:txBody>
      </p:sp>
      <p:sp>
        <p:nvSpPr>
          <p:cNvPr id="5" name="TextBox 4"/>
          <p:cNvSpPr txBox="1"/>
          <p:nvPr/>
        </p:nvSpPr>
        <p:spPr>
          <a:xfrm>
            <a:off x="473528" y="1524000"/>
            <a:ext cx="11165477" cy="2308324"/>
          </a:xfrm>
          <a:prstGeom prst="rect">
            <a:avLst/>
          </a:prstGeom>
          <a:noFill/>
        </p:spPr>
        <p:txBody>
          <a:bodyPr wrap="square" rtlCol="0">
            <a:spAutoFit/>
          </a:bodyPr>
          <a:lstStyle/>
          <a:p>
            <a:pPr marL="342900" indent="-342900" algn="just">
              <a:buClr>
                <a:schemeClr val="accent6"/>
              </a:buClr>
              <a:buFont typeface="Wingdings" panose="05000000000000000000" pitchFamily="2" charset="2"/>
              <a:buChar char="ü"/>
            </a:pPr>
            <a:r>
              <a:rPr lang="en-US" sz="2400" dirty="0"/>
              <a:t>Extract two nodes with the minimum frequency from min heap.</a:t>
            </a:r>
          </a:p>
          <a:p>
            <a:pPr marL="342900" indent="-342900" algn="just">
              <a:buClr>
                <a:schemeClr val="accent6"/>
              </a:buClr>
              <a:buFont typeface="Wingdings" panose="05000000000000000000" pitchFamily="2" charset="2"/>
              <a:buChar char="ü"/>
            </a:pPr>
            <a:r>
              <a:rPr lang="en-US" sz="2400" dirty="0"/>
              <a:t>Create a new internal node with frequency equal to the sum of the two nodes frequencies. </a:t>
            </a:r>
          </a:p>
          <a:p>
            <a:pPr marL="342900" indent="-342900" algn="just">
              <a:buClr>
                <a:schemeClr val="accent6"/>
              </a:buClr>
              <a:buFont typeface="Wingdings" panose="05000000000000000000" pitchFamily="2" charset="2"/>
              <a:buChar char="ü"/>
            </a:pPr>
            <a:r>
              <a:rPr lang="en-US" sz="2400" dirty="0"/>
              <a:t>Make the first extracted node as its </a:t>
            </a:r>
            <a:r>
              <a:rPr lang="en-US" sz="2400" dirty="0">
                <a:solidFill>
                  <a:srgbClr val="C00000"/>
                </a:solidFill>
              </a:rPr>
              <a:t>left child </a:t>
            </a:r>
            <a:r>
              <a:rPr lang="en-US" sz="2400" dirty="0"/>
              <a:t>and the other extracted node as its right child. </a:t>
            </a:r>
          </a:p>
          <a:p>
            <a:pPr marL="342900" indent="-342900" algn="just">
              <a:buClr>
                <a:schemeClr val="accent6"/>
              </a:buClr>
              <a:buFont typeface="Wingdings" panose="05000000000000000000" pitchFamily="2" charset="2"/>
              <a:buChar char="ü"/>
            </a:pPr>
            <a:r>
              <a:rPr lang="en-US" sz="2400" dirty="0"/>
              <a:t>Add this node to the min-heap.</a:t>
            </a:r>
          </a:p>
        </p:txBody>
      </p:sp>
      <p:sp>
        <p:nvSpPr>
          <p:cNvPr id="6" name="Rectangle 5"/>
          <p:cNvSpPr/>
          <p:nvPr/>
        </p:nvSpPr>
        <p:spPr>
          <a:xfrm>
            <a:off x="2586447" y="5672490"/>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f:5</a:t>
            </a:r>
          </a:p>
        </p:txBody>
      </p:sp>
      <p:sp>
        <p:nvSpPr>
          <p:cNvPr id="7" name="Rectangle 6"/>
          <p:cNvSpPr/>
          <p:nvPr/>
        </p:nvSpPr>
        <p:spPr>
          <a:xfrm>
            <a:off x="3881847" y="5672490"/>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e:9</a:t>
            </a:r>
          </a:p>
        </p:txBody>
      </p:sp>
      <p:sp>
        <p:nvSpPr>
          <p:cNvPr id="8" name="Rectangle 7"/>
          <p:cNvSpPr/>
          <p:nvPr/>
        </p:nvSpPr>
        <p:spPr>
          <a:xfrm>
            <a:off x="5249983" y="5672490"/>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c:12</a:t>
            </a:r>
          </a:p>
        </p:txBody>
      </p:sp>
      <p:sp>
        <p:nvSpPr>
          <p:cNvPr id="9" name="Rectangle 8"/>
          <p:cNvSpPr/>
          <p:nvPr/>
        </p:nvSpPr>
        <p:spPr>
          <a:xfrm>
            <a:off x="6586945" y="5672490"/>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b:13</a:t>
            </a:r>
          </a:p>
        </p:txBody>
      </p:sp>
      <p:sp>
        <p:nvSpPr>
          <p:cNvPr id="10" name="Rectangle 9"/>
          <p:cNvSpPr/>
          <p:nvPr/>
        </p:nvSpPr>
        <p:spPr>
          <a:xfrm>
            <a:off x="7920447" y="5672490"/>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d:16</a:t>
            </a:r>
          </a:p>
        </p:txBody>
      </p:sp>
      <p:sp>
        <p:nvSpPr>
          <p:cNvPr id="11" name="Rectangle 10"/>
          <p:cNvSpPr/>
          <p:nvPr/>
        </p:nvSpPr>
        <p:spPr>
          <a:xfrm>
            <a:off x="9292047" y="5672490"/>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a:45</a:t>
            </a:r>
          </a:p>
        </p:txBody>
      </p:sp>
      <p:sp>
        <p:nvSpPr>
          <p:cNvPr id="12" name="Oval 11"/>
          <p:cNvSpPr/>
          <p:nvPr/>
        </p:nvSpPr>
        <p:spPr>
          <a:xfrm>
            <a:off x="3238696" y="4388861"/>
            <a:ext cx="822960" cy="822960"/>
          </a:xfrm>
          <a:prstGeom prst="ellipse">
            <a:avLst/>
          </a:prstGeom>
          <a:solidFill>
            <a:schemeClr val="accent2">
              <a:lumMod val="20000"/>
              <a:lumOff val="80000"/>
            </a:schemeClr>
          </a:solid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14</a:t>
            </a:r>
          </a:p>
        </p:txBody>
      </p:sp>
      <p:cxnSp>
        <p:nvCxnSpPr>
          <p:cNvPr id="13" name="Straight Connector 12"/>
          <p:cNvCxnSpPr>
            <a:stCxn id="12" idx="3"/>
            <a:endCxn id="6" idx="0"/>
          </p:cNvCxnSpPr>
          <p:nvPr/>
        </p:nvCxnSpPr>
        <p:spPr>
          <a:xfrm flipH="1">
            <a:off x="3043647" y="5091301"/>
            <a:ext cx="315569" cy="58118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12" idx="5"/>
            <a:endCxn id="7" idx="0"/>
          </p:cNvCxnSpPr>
          <p:nvPr/>
        </p:nvCxnSpPr>
        <p:spPr>
          <a:xfrm>
            <a:off x="3941136" y="5091301"/>
            <a:ext cx="397911" cy="58118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2875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Effect transition="in" filter="fade">
                                      <p:cBhvr>
                                        <p:cTn id="13" dur="500"/>
                                        <p:tgtEl>
                                          <p:spTgt spid="5">
                                            <p:txEl>
                                              <p:pRg st="0" end="0"/>
                                            </p:txEl>
                                          </p:spTgt>
                                        </p:tgtEl>
                                      </p:cBhvr>
                                    </p:animEffect>
                                  </p:childTnLst>
                                </p:cTn>
                              </p:par>
                            </p:childTnLst>
                          </p:cTn>
                        </p:par>
                        <p:par>
                          <p:cTn id="14" fill="hold">
                            <p:stCondLst>
                              <p:cond delay="500"/>
                            </p:stCondLst>
                            <p:childTnLst>
                              <p:par>
                                <p:cTn id="15" presetID="1" presetClass="emph" presetSubtype="2" fill="hold" nodeType="afterEffect">
                                  <p:stCondLst>
                                    <p:cond delay="0"/>
                                  </p:stCondLst>
                                  <p:childTnLst>
                                    <p:animClr clrSpc="rgb" dir="cw">
                                      <p:cBhvr>
                                        <p:cTn id="16" dur="2000" fill="hold"/>
                                        <p:tgtEl>
                                          <p:spTgt spid="6"/>
                                        </p:tgtEl>
                                        <p:attrNameLst>
                                          <p:attrName>fillcolor</p:attrName>
                                        </p:attrNameLst>
                                      </p:cBhvr>
                                      <p:to>
                                        <a:srgbClr val="92D050"/>
                                      </p:to>
                                    </p:animClr>
                                    <p:set>
                                      <p:cBhvr>
                                        <p:cTn id="17" dur="2000" fill="hold"/>
                                        <p:tgtEl>
                                          <p:spTgt spid="6"/>
                                        </p:tgtEl>
                                        <p:attrNameLst>
                                          <p:attrName>fill.type</p:attrName>
                                        </p:attrNameLst>
                                      </p:cBhvr>
                                      <p:to>
                                        <p:strVal val="solid"/>
                                      </p:to>
                                    </p:set>
                                    <p:set>
                                      <p:cBhvr>
                                        <p:cTn id="18" dur="2000" fill="hold"/>
                                        <p:tgtEl>
                                          <p:spTgt spid="6"/>
                                        </p:tgtEl>
                                        <p:attrNameLst>
                                          <p:attrName>fill.on</p:attrName>
                                        </p:attrNameLst>
                                      </p:cBhvr>
                                      <p:to>
                                        <p:strVal val="true"/>
                                      </p:to>
                                    </p:set>
                                  </p:childTnLst>
                                </p:cTn>
                              </p:par>
                              <p:par>
                                <p:cTn id="19" presetID="1" presetClass="emph" presetSubtype="2" fill="hold" nodeType="withEffect">
                                  <p:stCondLst>
                                    <p:cond delay="0"/>
                                  </p:stCondLst>
                                  <p:childTnLst>
                                    <p:animClr clrSpc="rgb" dir="cw">
                                      <p:cBhvr>
                                        <p:cTn id="20" dur="2000" fill="hold"/>
                                        <p:tgtEl>
                                          <p:spTgt spid="7"/>
                                        </p:tgtEl>
                                        <p:attrNameLst>
                                          <p:attrName>fillcolor</p:attrName>
                                        </p:attrNameLst>
                                      </p:cBhvr>
                                      <p:to>
                                        <a:srgbClr val="92D050"/>
                                      </p:to>
                                    </p:animClr>
                                    <p:set>
                                      <p:cBhvr>
                                        <p:cTn id="21" dur="2000" fill="hold"/>
                                        <p:tgtEl>
                                          <p:spTgt spid="7"/>
                                        </p:tgtEl>
                                        <p:attrNameLst>
                                          <p:attrName>fill.type</p:attrName>
                                        </p:attrNameLst>
                                      </p:cBhvr>
                                      <p:to>
                                        <p:strVal val="solid"/>
                                      </p:to>
                                    </p:set>
                                    <p:set>
                                      <p:cBhvr>
                                        <p:cTn id="22" dur="2000" fill="hold"/>
                                        <p:tgtEl>
                                          <p:spTgt spid="7"/>
                                        </p:tgtEl>
                                        <p:attrNameLst>
                                          <p:attrName>fill.on</p:attrName>
                                        </p:attrNameLst>
                                      </p:cBhvr>
                                      <p:to>
                                        <p:strVal val="tru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animEffect transition="in" filter="fade">
                                      <p:cBhvr>
                                        <p:cTn id="27" dur="500"/>
                                        <p:tgtEl>
                                          <p:spTgt spid="5">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2" end="2"/>
                                            </p:txEl>
                                          </p:spTgt>
                                        </p:tgtEl>
                                        <p:attrNameLst>
                                          <p:attrName>style.visibility</p:attrName>
                                        </p:attrNameLst>
                                      </p:cBhvr>
                                      <p:to>
                                        <p:strVal val="visible"/>
                                      </p:to>
                                    </p:set>
                                    <p:animEffect transition="in" filter="fade">
                                      <p:cBhvr>
                                        <p:cTn id="37" dur="500"/>
                                        <p:tgtEl>
                                          <p:spTgt spid="5">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
                                            <p:txEl>
                                              <p:pRg st="3" end="3"/>
                                            </p:txEl>
                                          </p:spTgt>
                                        </p:tgtEl>
                                        <p:attrNameLst>
                                          <p:attrName>style.visibility</p:attrName>
                                        </p:attrNameLst>
                                      </p:cBhvr>
                                      <p:to>
                                        <p:strVal val="visible"/>
                                      </p:to>
                                    </p:set>
                                    <p:animEffect transition="in" filter="fade">
                                      <p:cBhvr>
                                        <p:cTn id="42" dur="500"/>
                                        <p:tgtEl>
                                          <p:spTgt spid="5">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up)">
                                      <p:cBhvr>
                                        <p:cTn id="47" dur="500"/>
                                        <p:tgtEl>
                                          <p:spTgt spid="13"/>
                                        </p:tgtEl>
                                      </p:cBhvr>
                                    </p:animEffect>
                                  </p:childTnLst>
                                </p:cTn>
                              </p:par>
                              <p:par>
                                <p:cTn id="48" presetID="22" presetClass="entr" presetSubtype="1" fill="hold"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wipe(up)">
                                      <p:cBhvr>
                                        <p:cTn id="5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1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Huffman Codes - Example</a:t>
            </a:r>
          </a:p>
        </p:txBody>
      </p:sp>
      <p:sp>
        <p:nvSpPr>
          <p:cNvPr id="4" name="Rectangle 3"/>
          <p:cNvSpPr/>
          <p:nvPr/>
        </p:nvSpPr>
        <p:spPr>
          <a:xfrm>
            <a:off x="473529" y="990600"/>
            <a:ext cx="1097280" cy="4572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D1457"/>
                </a:solidFill>
              </a:rPr>
              <a:t>Step 3: </a:t>
            </a:r>
          </a:p>
        </p:txBody>
      </p:sp>
      <mc:AlternateContent xmlns:mc="http://schemas.openxmlformats.org/markup-compatibility/2006" xmlns:a14="http://schemas.microsoft.com/office/drawing/2010/main">
        <mc:Choice Requires="a14">
          <p:sp>
            <p:nvSpPr>
              <p:cNvPr id="5" name="TextBox 4"/>
              <p:cNvSpPr txBox="1"/>
              <p:nvPr/>
            </p:nvSpPr>
            <p:spPr>
              <a:xfrm>
                <a:off x="473528" y="1524000"/>
                <a:ext cx="11165477" cy="1200329"/>
              </a:xfrm>
              <a:prstGeom prst="rect">
                <a:avLst/>
              </a:prstGeom>
              <a:noFill/>
            </p:spPr>
            <p:txBody>
              <a:bodyPr wrap="square" rtlCol="0">
                <a:spAutoFit/>
              </a:bodyPr>
              <a:lstStyle/>
              <a:p>
                <a:pPr marL="342900" indent="-342900" algn="just">
                  <a:buClr>
                    <a:schemeClr val="accent6"/>
                  </a:buClr>
                  <a:buFont typeface="Wingdings" panose="05000000000000000000" pitchFamily="2" charset="2"/>
                  <a:buChar char="ü"/>
                </a:pPr>
                <a:r>
                  <a:rPr lang="en-US" sz="2400" dirty="0"/>
                  <a:t>Rearrange the tree in ascending order.</a:t>
                </a:r>
              </a:p>
              <a:p>
                <a:pPr marL="342900" indent="-342900" algn="just">
                  <a:buClr>
                    <a:schemeClr val="accent6"/>
                  </a:buClr>
                  <a:buFont typeface="Wingdings" panose="05000000000000000000" pitchFamily="2" charset="2"/>
                  <a:buChar char="ü"/>
                </a:pPr>
                <a:r>
                  <a:rPr lang="en-US" sz="2400" dirty="0"/>
                  <a:t>Assign </a:t>
                </a:r>
                <a14:m>
                  <m:oMath xmlns:m="http://schemas.openxmlformats.org/officeDocument/2006/math">
                    <m:r>
                      <a:rPr lang="en-US" sz="2400" b="1" i="1" dirty="0" smtClean="0">
                        <a:solidFill>
                          <a:srgbClr val="AD1457"/>
                        </a:solidFill>
                        <a:latin typeface="Cambria Math" panose="02040503050406030204" pitchFamily="18" charset="0"/>
                      </a:rPr>
                      <m:t>𝟎</m:t>
                    </m:r>
                    <m:r>
                      <a:rPr lang="en-US" sz="2400" i="1" dirty="0">
                        <a:solidFill>
                          <a:srgbClr val="FF0000"/>
                        </a:solidFill>
                        <a:latin typeface="Cambria Math" panose="02040503050406030204" pitchFamily="18" charset="0"/>
                      </a:rPr>
                      <m:t> </m:t>
                    </m:r>
                  </m:oMath>
                </a14:m>
                <a:r>
                  <a:rPr lang="en-US" sz="2400" dirty="0"/>
                  <a:t>to the left branch and </a:t>
                </a:r>
                <a14:m>
                  <m:oMath xmlns:m="http://schemas.openxmlformats.org/officeDocument/2006/math">
                    <m:r>
                      <a:rPr lang="en-US" sz="2400" b="1" i="1" dirty="0" smtClean="0">
                        <a:solidFill>
                          <a:srgbClr val="AD1457"/>
                        </a:solidFill>
                        <a:latin typeface="Cambria Math" panose="02040503050406030204" pitchFamily="18" charset="0"/>
                      </a:rPr>
                      <m:t>𝟏</m:t>
                    </m:r>
                    <m:r>
                      <a:rPr lang="en-US" sz="2400" i="1" dirty="0">
                        <a:solidFill>
                          <a:srgbClr val="FF0000"/>
                        </a:solidFill>
                        <a:latin typeface="Cambria Math" panose="02040503050406030204" pitchFamily="18" charset="0"/>
                      </a:rPr>
                      <m:t> </m:t>
                    </m:r>
                  </m:oMath>
                </a14:m>
                <a:r>
                  <a:rPr lang="en-US" sz="2400" dirty="0"/>
                  <a:t>to the right branch.</a:t>
                </a:r>
              </a:p>
              <a:p>
                <a:pPr marL="342900" indent="-342900" algn="just">
                  <a:buClr>
                    <a:schemeClr val="accent6"/>
                  </a:buClr>
                  <a:buFont typeface="Wingdings" panose="05000000000000000000" pitchFamily="2" charset="2"/>
                  <a:buChar char="ü"/>
                </a:pPr>
                <a:r>
                  <a:rPr lang="en-US" sz="2400" dirty="0"/>
                  <a:t>Repeat the process to complete the tree.</a:t>
                </a:r>
              </a:p>
            </p:txBody>
          </p:sp>
        </mc:Choice>
        <mc:Fallback xmlns="">
          <p:sp>
            <p:nvSpPr>
              <p:cNvPr id="5" name="TextBox 4"/>
              <p:cNvSpPr txBox="1">
                <a:spLocks noRot="1" noChangeAspect="1" noMove="1" noResize="1" noEditPoints="1" noAdjustHandles="1" noChangeArrowheads="1" noChangeShapeType="1" noTextEdit="1"/>
              </p:cNvSpPr>
              <p:nvPr/>
            </p:nvSpPr>
            <p:spPr>
              <a:xfrm>
                <a:off x="473528" y="1524000"/>
                <a:ext cx="11165477" cy="1200329"/>
              </a:xfrm>
              <a:prstGeom prst="rect">
                <a:avLst/>
              </a:prstGeom>
              <a:blipFill>
                <a:blip r:embed="rId2"/>
                <a:stretch>
                  <a:fillRect l="-765" t="-3553" b="-11168"/>
                </a:stretch>
              </a:blipFill>
            </p:spPr>
            <p:txBody>
              <a:bodyPr/>
              <a:lstStyle/>
              <a:p>
                <a:r>
                  <a:rPr lang="en-US">
                    <a:noFill/>
                  </a:rPr>
                  <a:t> </a:t>
                </a:r>
              </a:p>
            </p:txBody>
          </p:sp>
        </mc:Fallback>
      </mc:AlternateContent>
      <p:sp>
        <p:nvSpPr>
          <p:cNvPr id="8" name="Rectangle 7"/>
          <p:cNvSpPr/>
          <p:nvPr/>
        </p:nvSpPr>
        <p:spPr>
          <a:xfrm>
            <a:off x="5249983" y="4815841"/>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c:12</a:t>
            </a:r>
          </a:p>
        </p:txBody>
      </p:sp>
      <p:sp>
        <p:nvSpPr>
          <p:cNvPr id="9" name="Rectangle 8"/>
          <p:cNvSpPr/>
          <p:nvPr/>
        </p:nvSpPr>
        <p:spPr>
          <a:xfrm>
            <a:off x="6586945" y="4815841"/>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b:13</a:t>
            </a:r>
          </a:p>
        </p:txBody>
      </p:sp>
      <p:sp>
        <p:nvSpPr>
          <p:cNvPr id="10" name="Rectangle 9"/>
          <p:cNvSpPr/>
          <p:nvPr/>
        </p:nvSpPr>
        <p:spPr>
          <a:xfrm>
            <a:off x="7920447" y="4815841"/>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d:16</a:t>
            </a:r>
          </a:p>
        </p:txBody>
      </p:sp>
      <p:sp>
        <p:nvSpPr>
          <p:cNvPr id="11" name="Rectangle 10"/>
          <p:cNvSpPr/>
          <p:nvPr/>
        </p:nvSpPr>
        <p:spPr>
          <a:xfrm>
            <a:off x="9292047" y="4815841"/>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a:45</a:t>
            </a:r>
          </a:p>
        </p:txBody>
      </p:sp>
      <p:grpSp>
        <p:nvGrpSpPr>
          <p:cNvPr id="23" name="Group 22"/>
          <p:cNvGrpSpPr/>
          <p:nvPr/>
        </p:nvGrpSpPr>
        <p:grpSpPr>
          <a:xfrm>
            <a:off x="2586447" y="3532212"/>
            <a:ext cx="2209800" cy="1740829"/>
            <a:chOff x="2586447" y="3532212"/>
            <a:chExt cx="2209800" cy="1740829"/>
          </a:xfrm>
        </p:grpSpPr>
        <p:sp>
          <p:nvSpPr>
            <p:cNvPr id="6" name="Rectangle 5"/>
            <p:cNvSpPr/>
            <p:nvPr/>
          </p:nvSpPr>
          <p:spPr>
            <a:xfrm>
              <a:off x="2586447" y="4815841"/>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f:5</a:t>
              </a:r>
            </a:p>
          </p:txBody>
        </p:sp>
        <p:sp>
          <p:nvSpPr>
            <p:cNvPr id="7" name="Rectangle 6"/>
            <p:cNvSpPr/>
            <p:nvPr/>
          </p:nvSpPr>
          <p:spPr>
            <a:xfrm>
              <a:off x="3881847" y="4815841"/>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e:9</a:t>
              </a:r>
            </a:p>
          </p:txBody>
        </p:sp>
        <p:sp>
          <p:nvSpPr>
            <p:cNvPr id="12" name="Oval 11"/>
            <p:cNvSpPr/>
            <p:nvPr/>
          </p:nvSpPr>
          <p:spPr>
            <a:xfrm>
              <a:off x="3238696" y="3532212"/>
              <a:ext cx="822960" cy="822960"/>
            </a:xfrm>
            <a:prstGeom prst="ellipse">
              <a:avLst/>
            </a:prstGeom>
            <a:solidFill>
              <a:schemeClr val="accent2">
                <a:lumMod val="20000"/>
                <a:lumOff val="80000"/>
              </a:schemeClr>
            </a:solid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14</a:t>
              </a:r>
            </a:p>
          </p:txBody>
        </p:sp>
        <p:cxnSp>
          <p:nvCxnSpPr>
            <p:cNvPr id="13" name="Straight Connector 12"/>
            <p:cNvCxnSpPr>
              <a:stCxn id="12" idx="3"/>
              <a:endCxn id="6" idx="0"/>
            </p:cNvCxnSpPr>
            <p:nvPr/>
          </p:nvCxnSpPr>
          <p:spPr>
            <a:xfrm flipH="1">
              <a:off x="3043647" y="4234652"/>
              <a:ext cx="315569" cy="58118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12" idx="5"/>
              <a:endCxn id="7" idx="0"/>
            </p:cNvCxnSpPr>
            <p:nvPr/>
          </p:nvCxnSpPr>
          <p:spPr>
            <a:xfrm>
              <a:off x="3941136" y="4234652"/>
              <a:ext cx="397911" cy="58118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5556193" y="5436307"/>
            <a:ext cx="365760" cy="457200"/>
          </a:xfrm>
          <a:prstGeom prst="rect">
            <a:avLst/>
          </a:prstGeom>
          <a:noFill/>
        </p:spPr>
        <p:txBody>
          <a:bodyPr wrap="square" rtlCol="0">
            <a:spAutoFit/>
          </a:bodyPr>
          <a:lstStyle/>
          <a:p>
            <a:r>
              <a:rPr lang="en-US" sz="2400" dirty="0">
                <a:solidFill>
                  <a:srgbClr val="C00000"/>
                </a:solidFill>
              </a:rPr>
              <a:t>0</a:t>
            </a:r>
          </a:p>
        </p:txBody>
      </p:sp>
      <p:sp>
        <p:nvSpPr>
          <p:cNvPr id="22" name="TextBox 21"/>
          <p:cNvSpPr txBox="1"/>
          <p:nvPr/>
        </p:nvSpPr>
        <p:spPr>
          <a:xfrm>
            <a:off x="6712640" y="5436307"/>
            <a:ext cx="365760" cy="457200"/>
          </a:xfrm>
          <a:prstGeom prst="rect">
            <a:avLst/>
          </a:prstGeom>
          <a:noFill/>
        </p:spPr>
        <p:txBody>
          <a:bodyPr wrap="square" rtlCol="0">
            <a:spAutoFit/>
          </a:bodyPr>
          <a:lstStyle/>
          <a:p>
            <a:r>
              <a:rPr lang="en-US" sz="2400" dirty="0">
                <a:solidFill>
                  <a:srgbClr val="C00000"/>
                </a:solidFill>
              </a:rPr>
              <a:t>1</a:t>
            </a:r>
          </a:p>
        </p:txBody>
      </p:sp>
    </p:spTree>
    <p:extLst>
      <p:ext uri="{BB962C8B-B14F-4D97-AF65-F5344CB8AC3E}">
        <p14:creationId xmlns:p14="http://schemas.microsoft.com/office/powerpoint/2010/main" val="3941360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nodeType="with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fade">
                                      <p:cBhvr>
                                        <p:cTn id="14" dur="500"/>
                                        <p:tgtEl>
                                          <p:spTgt spid="5">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35" presetClass="path" presetSubtype="0" accel="50000" decel="50000" fill="hold" grpId="0" nodeType="clickEffect">
                                  <p:stCondLst>
                                    <p:cond delay="0"/>
                                  </p:stCondLst>
                                  <p:childTnLst>
                                    <p:animMotion origin="layout" path="M 1.04167E-6 1.85185E-6 L -0.21771 -0.00046 " pathEditMode="relative" rAng="0" ptsTypes="AA">
                                      <p:cBhvr>
                                        <p:cTn id="18" dur="2000" fill="hold"/>
                                        <p:tgtEl>
                                          <p:spTgt spid="8"/>
                                        </p:tgtEl>
                                        <p:attrNameLst>
                                          <p:attrName>ppt_x</p:attrName>
                                          <p:attrName>ppt_y</p:attrName>
                                        </p:attrNameLst>
                                      </p:cBhvr>
                                      <p:rCtr x="-10885" y="-23"/>
                                    </p:animMotion>
                                  </p:childTnLst>
                                </p:cTn>
                              </p:par>
                              <p:par>
                                <p:cTn id="19" presetID="50" presetClass="path" presetSubtype="0" accel="50000" decel="50000" fill="hold" nodeType="withEffect">
                                  <p:stCondLst>
                                    <p:cond delay="0"/>
                                  </p:stCondLst>
                                  <p:childTnLst>
                                    <p:animMotion origin="layout" path="M -4.375E-6 1.85185E-6 L 0.10834 1.85185E-6 C 0.15691 1.85185E-6 0.2168 0.04722 0.2168 0.08588 L 0.2168 0.17176 " pathEditMode="relative" rAng="0" ptsTypes="AAAA">
                                      <p:cBhvr>
                                        <p:cTn id="20" dur="2000" fill="hold"/>
                                        <p:tgtEl>
                                          <p:spTgt spid="23"/>
                                        </p:tgtEl>
                                        <p:attrNameLst>
                                          <p:attrName>ppt_x</p:attrName>
                                          <p:attrName>ppt_y</p:attrName>
                                        </p:attrNameLst>
                                      </p:cBhvr>
                                      <p:rCtr x="10833" y="8588"/>
                                    </p:animMotion>
                                  </p:childTnLst>
                                </p:cTn>
                              </p:par>
                              <p:par>
                                <p:cTn id="21" presetID="35" presetClass="path" presetSubtype="0" accel="50000" decel="50000" fill="hold" grpId="0" nodeType="withEffect">
                                  <p:stCondLst>
                                    <p:cond delay="0"/>
                                  </p:stCondLst>
                                  <p:childTnLst>
                                    <p:animMotion origin="layout" path="M -4.375E-6 1.85185E-6 L -0.22148 -0.00046 " pathEditMode="relative" rAng="0" ptsTypes="AA">
                                      <p:cBhvr>
                                        <p:cTn id="22" dur="2000" fill="hold"/>
                                        <p:tgtEl>
                                          <p:spTgt spid="9"/>
                                        </p:tgtEl>
                                        <p:attrNameLst>
                                          <p:attrName>ppt_x</p:attrName>
                                          <p:attrName>ppt_y</p:attrName>
                                        </p:attrNameLst>
                                      </p:cBhvr>
                                      <p:rCtr x="-11081" y="-23"/>
                                    </p:animMotion>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animEffect transition="in" filter="fade">
                                      <p:cBhvr>
                                        <p:cTn id="27" dur="500"/>
                                        <p:tgtEl>
                                          <p:spTgt spid="5">
                                            <p:txEl>
                                              <p:pRg st="1" end="1"/>
                                            </p:txEl>
                                          </p:spTgt>
                                        </p:tgtEl>
                                      </p:cBhvr>
                                    </p:animEffect>
                                  </p:childTnLst>
                                </p:cTn>
                              </p:par>
                            </p:childTnLst>
                          </p:cTn>
                        </p:par>
                        <p:par>
                          <p:cTn id="28"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5">
                                            <p:txEl>
                                              <p:pRg st="2" end="2"/>
                                            </p:txEl>
                                          </p:spTgt>
                                        </p:tgtEl>
                                        <p:attrNameLst>
                                          <p:attrName>style.visibility</p:attrName>
                                        </p:attrNameLst>
                                      </p:cBhvr>
                                      <p:to>
                                        <p:strVal val="visible"/>
                                      </p:to>
                                    </p:set>
                                    <p:animEffect transition="in" filter="fade">
                                      <p:cBhvr>
                                        <p:cTn id="39"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8" grpId="0" animBg="1"/>
      <p:bldP spid="9" grpId="0" animBg="1"/>
      <p:bldP spid="21" grpId="0"/>
      <p:bldP spid="2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Huffman Codes - Example</a:t>
            </a:r>
          </a:p>
        </p:txBody>
      </p:sp>
      <p:sp>
        <p:nvSpPr>
          <p:cNvPr id="4" name="Rectangle 3"/>
          <p:cNvSpPr/>
          <p:nvPr/>
        </p:nvSpPr>
        <p:spPr>
          <a:xfrm>
            <a:off x="473529" y="990600"/>
            <a:ext cx="1097280" cy="4572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D1457"/>
                </a:solidFill>
              </a:rPr>
              <a:t>Step 4: </a:t>
            </a:r>
          </a:p>
        </p:txBody>
      </p:sp>
      <p:sp>
        <p:nvSpPr>
          <p:cNvPr id="8" name="Rectangle 7"/>
          <p:cNvSpPr/>
          <p:nvPr/>
        </p:nvSpPr>
        <p:spPr>
          <a:xfrm>
            <a:off x="2721934" y="2163702"/>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c:12</a:t>
            </a:r>
          </a:p>
        </p:txBody>
      </p:sp>
      <p:sp>
        <p:nvSpPr>
          <p:cNvPr id="9" name="Rectangle 8"/>
          <p:cNvSpPr/>
          <p:nvPr/>
        </p:nvSpPr>
        <p:spPr>
          <a:xfrm>
            <a:off x="4058896" y="2163702"/>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b:13</a:t>
            </a:r>
          </a:p>
        </p:txBody>
      </p:sp>
      <p:sp>
        <p:nvSpPr>
          <p:cNvPr id="10" name="Rectangle 9"/>
          <p:cNvSpPr/>
          <p:nvPr/>
        </p:nvSpPr>
        <p:spPr>
          <a:xfrm>
            <a:off x="7853210" y="2136808"/>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d:16</a:t>
            </a:r>
          </a:p>
        </p:txBody>
      </p:sp>
      <p:sp>
        <p:nvSpPr>
          <p:cNvPr id="11" name="Rectangle 10"/>
          <p:cNvSpPr/>
          <p:nvPr/>
        </p:nvSpPr>
        <p:spPr>
          <a:xfrm>
            <a:off x="9224810" y="2136808"/>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a:45</a:t>
            </a:r>
          </a:p>
        </p:txBody>
      </p:sp>
      <p:grpSp>
        <p:nvGrpSpPr>
          <p:cNvPr id="29" name="Group 28"/>
          <p:cNvGrpSpPr/>
          <p:nvPr/>
        </p:nvGrpSpPr>
        <p:grpSpPr>
          <a:xfrm>
            <a:off x="5222069" y="2049967"/>
            <a:ext cx="2209800" cy="1740829"/>
            <a:chOff x="5222069" y="1945463"/>
            <a:chExt cx="2209800" cy="1740829"/>
          </a:xfrm>
        </p:grpSpPr>
        <p:grpSp>
          <p:nvGrpSpPr>
            <p:cNvPr id="3" name="Group 2"/>
            <p:cNvGrpSpPr/>
            <p:nvPr/>
          </p:nvGrpSpPr>
          <p:grpSpPr>
            <a:xfrm>
              <a:off x="5222069" y="1945463"/>
              <a:ext cx="2209800" cy="1740829"/>
              <a:chOff x="4912788" y="2846412"/>
              <a:chExt cx="2209800" cy="1740829"/>
            </a:xfrm>
          </p:grpSpPr>
          <p:sp>
            <p:nvSpPr>
              <p:cNvPr id="6" name="Rectangle 5"/>
              <p:cNvSpPr/>
              <p:nvPr/>
            </p:nvSpPr>
            <p:spPr>
              <a:xfrm>
                <a:off x="4912788" y="4130041"/>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f:5</a:t>
                </a:r>
              </a:p>
            </p:txBody>
          </p:sp>
          <p:sp>
            <p:nvSpPr>
              <p:cNvPr id="7" name="Rectangle 6"/>
              <p:cNvSpPr/>
              <p:nvPr/>
            </p:nvSpPr>
            <p:spPr>
              <a:xfrm>
                <a:off x="6208188" y="4130041"/>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e:9</a:t>
                </a:r>
              </a:p>
            </p:txBody>
          </p:sp>
          <p:sp>
            <p:nvSpPr>
              <p:cNvPr id="12" name="Oval 11"/>
              <p:cNvSpPr/>
              <p:nvPr/>
            </p:nvSpPr>
            <p:spPr>
              <a:xfrm>
                <a:off x="5565037" y="2846412"/>
                <a:ext cx="822960" cy="822960"/>
              </a:xfrm>
              <a:prstGeom prst="ellipse">
                <a:avLst/>
              </a:prstGeom>
              <a:solidFill>
                <a:schemeClr val="accent2">
                  <a:lumMod val="20000"/>
                  <a:lumOff val="80000"/>
                </a:schemeClr>
              </a:solid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14</a:t>
                </a:r>
              </a:p>
            </p:txBody>
          </p:sp>
          <p:cxnSp>
            <p:nvCxnSpPr>
              <p:cNvPr id="13" name="Straight Connector 12"/>
              <p:cNvCxnSpPr>
                <a:stCxn id="12" idx="3"/>
                <a:endCxn id="6" idx="0"/>
              </p:cNvCxnSpPr>
              <p:nvPr/>
            </p:nvCxnSpPr>
            <p:spPr>
              <a:xfrm flipH="1">
                <a:off x="5369988" y="3548852"/>
                <a:ext cx="315569" cy="58118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12" idx="5"/>
                <a:endCxn id="7" idx="0"/>
              </p:cNvCxnSpPr>
              <p:nvPr/>
            </p:nvCxnSpPr>
            <p:spPr>
              <a:xfrm>
                <a:off x="6267477" y="3548852"/>
                <a:ext cx="397911" cy="58118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5569638" y="2625876"/>
              <a:ext cx="365760" cy="457200"/>
            </a:xfrm>
            <a:prstGeom prst="rect">
              <a:avLst/>
            </a:prstGeom>
            <a:noFill/>
          </p:spPr>
          <p:txBody>
            <a:bodyPr wrap="square" rtlCol="0">
              <a:spAutoFit/>
            </a:bodyPr>
            <a:lstStyle/>
            <a:p>
              <a:r>
                <a:rPr lang="en-US" sz="2400" dirty="0">
                  <a:solidFill>
                    <a:srgbClr val="C00000"/>
                  </a:solidFill>
                </a:rPr>
                <a:t>0</a:t>
              </a:r>
            </a:p>
          </p:txBody>
        </p:sp>
        <p:sp>
          <p:nvSpPr>
            <p:cNvPr id="22" name="TextBox 21"/>
            <p:cNvSpPr txBox="1"/>
            <p:nvPr/>
          </p:nvSpPr>
          <p:spPr>
            <a:xfrm>
              <a:off x="6726085" y="2625876"/>
              <a:ext cx="365760" cy="457200"/>
            </a:xfrm>
            <a:prstGeom prst="rect">
              <a:avLst/>
            </a:prstGeom>
            <a:noFill/>
          </p:spPr>
          <p:txBody>
            <a:bodyPr wrap="square" rtlCol="0">
              <a:spAutoFit/>
            </a:bodyPr>
            <a:lstStyle/>
            <a:p>
              <a:r>
                <a:rPr lang="en-US" sz="2400" dirty="0">
                  <a:solidFill>
                    <a:srgbClr val="C00000"/>
                  </a:solidFill>
                </a:rPr>
                <a:t>1</a:t>
              </a:r>
            </a:p>
          </p:txBody>
        </p:sp>
      </p:grpSp>
      <p:sp>
        <p:nvSpPr>
          <p:cNvPr id="18" name="Oval 17"/>
          <p:cNvSpPr/>
          <p:nvPr/>
        </p:nvSpPr>
        <p:spPr>
          <a:xfrm>
            <a:off x="3400060" y="853181"/>
            <a:ext cx="822960" cy="822960"/>
          </a:xfrm>
          <a:prstGeom prst="ellipse">
            <a:avLst/>
          </a:prstGeom>
          <a:solidFill>
            <a:schemeClr val="accent2">
              <a:lumMod val="20000"/>
              <a:lumOff val="80000"/>
            </a:schemeClr>
          </a:solid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25</a:t>
            </a:r>
          </a:p>
        </p:txBody>
      </p:sp>
      <p:cxnSp>
        <p:nvCxnSpPr>
          <p:cNvPr id="19" name="Straight Connector 18"/>
          <p:cNvCxnSpPr>
            <a:stCxn id="18" idx="3"/>
            <a:endCxn id="8" idx="0"/>
          </p:cNvCxnSpPr>
          <p:nvPr/>
        </p:nvCxnSpPr>
        <p:spPr>
          <a:xfrm flipH="1">
            <a:off x="3179134" y="1555621"/>
            <a:ext cx="341446" cy="6080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18" idx="5"/>
            <a:endCxn id="9" idx="0"/>
          </p:cNvCxnSpPr>
          <p:nvPr/>
        </p:nvCxnSpPr>
        <p:spPr>
          <a:xfrm>
            <a:off x="4102500" y="1555621"/>
            <a:ext cx="413596" cy="6080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a:xfrm>
            <a:off x="2321987" y="4582112"/>
            <a:ext cx="2209800" cy="1740829"/>
            <a:chOff x="5222069" y="1945463"/>
            <a:chExt cx="2209800" cy="1740829"/>
          </a:xfrm>
        </p:grpSpPr>
        <p:grpSp>
          <p:nvGrpSpPr>
            <p:cNvPr id="31" name="Group 30"/>
            <p:cNvGrpSpPr/>
            <p:nvPr/>
          </p:nvGrpSpPr>
          <p:grpSpPr>
            <a:xfrm>
              <a:off x="5222069" y="1945463"/>
              <a:ext cx="2209800" cy="1740829"/>
              <a:chOff x="4912788" y="2846412"/>
              <a:chExt cx="2209800" cy="1740829"/>
            </a:xfrm>
          </p:grpSpPr>
          <p:sp>
            <p:nvSpPr>
              <p:cNvPr id="34" name="Rectangle 33"/>
              <p:cNvSpPr/>
              <p:nvPr/>
            </p:nvSpPr>
            <p:spPr>
              <a:xfrm>
                <a:off x="4912788" y="4130041"/>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f:5</a:t>
                </a:r>
              </a:p>
            </p:txBody>
          </p:sp>
          <p:sp>
            <p:nvSpPr>
              <p:cNvPr id="35" name="Rectangle 34"/>
              <p:cNvSpPr/>
              <p:nvPr/>
            </p:nvSpPr>
            <p:spPr>
              <a:xfrm>
                <a:off x="6208188" y="4130041"/>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e:9</a:t>
                </a:r>
              </a:p>
            </p:txBody>
          </p:sp>
          <p:sp>
            <p:nvSpPr>
              <p:cNvPr id="36" name="Oval 35"/>
              <p:cNvSpPr/>
              <p:nvPr/>
            </p:nvSpPr>
            <p:spPr>
              <a:xfrm>
                <a:off x="5565037" y="2846412"/>
                <a:ext cx="822960" cy="822960"/>
              </a:xfrm>
              <a:prstGeom prst="ellipse">
                <a:avLst/>
              </a:prstGeom>
              <a:solidFill>
                <a:schemeClr val="accent2">
                  <a:lumMod val="20000"/>
                  <a:lumOff val="80000"/>
                </a:schemeClr>
              </a:solid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14</a:t>
                </a:r>
              </a:p>
            </p:txBody>
          </p:sp>
          <p:cxnSp>
            <p:nvCxnSpPr>
              <p:cNvPr id="37" name="Straight Connector 36"/>
              <p:cNvCxnSpPr>
                <a:stCxn id="36" idx="3"/>
                <a:endCxn id="34" idx="0"/>
              </p:cNvCxnSpPr>
              <p:nvPr/>
            </p:nvCxnSpPr>
            <p:spPr>
              <a:xfrm flipH="1">
                <a:off x="5369988" y="3548852"/>
                <a:ext cx="315569" cy="58118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36" idx="5"/>
                <a:endCxn id="35" idx="0"/>
              </p:cNvCxnSpPr>
              <p:nvPr/>
            </p:nvCxnSpPr>
            <p:spPr>
              <a:xfrm>
                <a:off x="6267477" y="3548852"/>
                <a:ext cx="397911" cy="58118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2" name="TextBox 31"/>
            <p:cNvSpPr txBox="1"/>
            <p:nvPr/>
          </p:nvSpPr>
          <p:spPr>
            <a:xfrm>
              <a:off x="5569638" y="2625876"/>
              <a:ext cx="365760" cy="457200"/>
            </a:xfrm>
            <a:prstGeom prst="rect">
              <a:avLst/>
            </a:prstGeom>
            <a:noFill/>
          </p:spPr>
          <p:txBody>
            <a:bodyPr wrap="square" rtlCol="0">
              <a:spAutoFit/>
            </a:bodyPr>
            <a:lstStyle/>
            <a:p>
              <a:r>
                <a:rPr lang="en-US" sz="2400" dirty="0">
                  <a:solidFill>
                    <a:srgbClr val="C00000"/>
                  </a:solidFill>
                </a:rPr>
                <a:t>0</a:t>
              </a:r>
            </a:p>
          </p:txBody>
        </p:sp>
        <p:sp>
          <p:nvSpPr>
            <p:cNvPr id="33" name="TextBox 32"/>
            <p:cNvSpPr txBox="1"/>
            <p:nvPr/>
          </p:nvSpPr>
          <p:spPr>
            <a:xfrm>
              <a:off x="6726085" y="2625876"/>
              <a:ext cx="365760" cy="457200"/>
            </a:xfrm>
            <a:prstGeom prst="rect">
              <a:avLst/>
            </a:prstGeom>
            <a:noFill/>
          </p:spPr>
          <p:txBody>
            <a:bodyPr wrap="square" rtlCol="0">
              <a:spAutoFit/>
            </a:bodyPr>
            <a:lstStyle/>
            <a:p>
              <a:r>
                <a:rPr lang="en-US" sz="2400" dirty="0">
                  <a:solidFill>
                    <a:srgbClr val="C00000"/>
                  </a:solidFill>
                </a:rPr>
                <a:t>1</a:t>
              </a:r>
            </a:p>
          </p:txBody>
        </p:sp>
      </p:grpSp>
      <p:sp>
        <p:nvSpPr>
          <p:cNvPr id="39" name="Rectangle 38"/>
          <p:cNvSpPr/>
          <p:nvPr/>
        </p:nvSpPr>
        <p:spPr>
          <a:xfrm>
            <a:off x="5120256" y="4682401"/>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d:16</a:t>
            </a:r>
          </a:p>
        </p:txBody>
      </p:sp>
      <p:sp>
        <p:nvSpPr>
          <p:cNvPr id="40" name="Rectangle 39"/>
          <p:cNvSpPr/>
          <p:nvPr/>
        </p:nvSpPr>
        <p:spPr>
          <a:xfrm>
            <a:off x="9108269" y="4682401"/>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a:45</a:t>
            </a:r>
          </a:p>
        </p:txBody>
      </p:sp>
      <p:cxnSp>
        <p:nvCxnSpPr>
          <p:cNvPr id="41" name="Straight Connector 40"/>
          <p:cNvCxnSpPr/>
          <p:nvPr/>
        </p:nvCxnSpPr>
        <p:spPr>
          <a:xfrm>
            <a:off x="1380881" y="4109807"/>
            <a:ext cx="914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Elbow Connector 41"/>
          <p:cNvCxnSpPr/>
          <p:nvPr/>
        </p:nvCxnSpPr>
        <p:spPr>
          <a:xfrm rot="16200000" flipH="1">
            <a:off x="794411" y="3987241"/>
            <a:ext cx="1553943" cy="381003"/>
          </a:xfrm>
          <a:prstGeom prst="bentConnector3">
            <a:avLst>
              <a:gd name="adj1" fmla="val 10006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nvGrpSpPr>
          <p:cNvPr id="45" name="Group 44"/>
          <p:cNvGrpSpPr/>
          <p:nvPr/>
        </p:nvGrpSpPr>
        <p:grpSpPr>
          <a:xfrm>
            <a:off x="6684461" y="4555220"/>
            <a:ext cx="2251362" cy="1767721"/>
            <a:chOff x="5012416" y="4555221"/>
            <a:chExt cx="2251362" cy="1767721"/>
          </a:xfrm>
        </p:grpSpPr>
        <p:grpSp>
          <p:nvGrpSpPr>
            <p:cNvPr id="17" name="Group 16"/>
            <p:cNvGrpSpPr/>
            <p:nvPr/>
          </p:nvGrpSpPr>
          <p:grpSpPr>
            <a:xfrm>
              <a:off x="5012416" y="4555221"/>
              <a:ext cx="2251362" cy="1767721"/>
              <a:chOff x="1771675" y="3644277"/>
              <a:chExt cx="2251362" cy="1767721"/>
            </a:xfrm>
          </p:grpSpPr>
          <p:sp>
            <p:nvSpPr>
              <p:cNvPr id="24" name="Rectangle 23"/>
              <p:cNvSpPr/>
              <p:nvPr/>
            </p:nvSpPr>
            <p:spPr>
              <a:xfrm>
                <a:off x="1771675" y="4954798"/>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c:12</a:t>
                </a:r>
              </a:p>
            </p:txBody>
          </p:sp>
          <p:sp>
            <p:nvSpPr>
              <p:cNvPr id="25" name="Rectangle 24"/>
              <p:cNvSpPr/>
              <p:nvPr/>
            </p:nvSpPr>
            <p:spPr>
              <a:xfrm>
                <a:off x="3108637" y="4954798"/>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b:13</a:t>
                </a:r>
              </a:p>
            </p:txBody>
          </p:sp>
          <p:sp>
            <p:nvSpPr>
              <p:cNvPr id="26" name="Oval 25"/>
              <p:cNvSpPr/>
              <p:nvPr/>
            </p:nvSpPr>
            <p:spPr>
              <a:xfrm>
                <a:off x="2449801" y="3644277"/>
                <a:ext cx="822960" cy="822960"/>
              </a:xfrm>
              <a:prstGeom prst="ellipse">
                <a:avLst/>
              </a:prstGeom>
              <a:solidFill>
                <a:schemeClr val="accent2">
                  <a:lumMod val="20000"/>
                  <a:lumOff val="80000"/>
                </a:schemeClr>
              </a:solid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25</a:t>
                </a:r>
              </a:p>
            </p:txBody>
          </p:sp>
          <p:cxnSp>
            <p:nvCxnSpPr>
              <p:cNvPr id="27" name="Straight Connector 26"/>
              <p:cNvCxnSpPr>
                <a:stCxn id="26" idx="3"/>
                <a:endCxn id="24" idx="0"/>
              </p:cNvCxnSpPr>
              <p:nvPr/>
            </p:nvCxnSpPr>
            <p:spPr>
              <a:xfrm flipH="1">
                <a:off x="2228875" y="4346717"/>
                <a:ext cx="341446" cy="6080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26" idx="5"/>
                <a:endCxn id="25" idx="0"/>
              </p:cNvCxnSpPr>
              <p:nvPr/>
            </p:nvCxnSpPr>
            <p:spPr>
              <a:xfrm>
                <a:off x="3152241" y="4346717"/>
                <a:ext cx="413596" cy="6080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3" name="TextBox 42"/>
            <p:cNvSpPr txBox="1"/>
            <p:nvPr/>
          </p:nvSpPr>
          <p:spPr>
            <a:xfrm>
              <a:off x="5363450" y="5253560"/>
              <a:ext cx="365760" cy="457200"/>
            </a:xfrm>
            <a:prstGeom prst="rect">
              <a:avLst/>
            </a:prstGeom>
            <a:noFill/>
          </p:spPr>
          <p:txBody>
            <a:bodyPr wrap="square" rtlCol="0">
              <a:spAutoFit/>
            </a:bodyPr>
            <a:lstStyle/>
            <a:p>
              <a:r>
                <a:rPr lang="en-US" sz="2400" dirty="0">
                  <a:solidFill>
                    <a:srgbClr val="C00000"/>
                  </a:solidFill>
                </a:rPr>
                <a:t>0</a:t>
              </a:r>
            </a:p>
          </p:txBody>
        </p:sp>
        <p:sp>
          <p:nvSpPr>
            <p:cNvPr id="44" name="TextBox 43"/>
            <p:cNvSpPr txBox="1"/>
            <p:nvPr/>
          </p:nvSpPr>
          <p:spPr>
            <a:xfrm>
              <a:off x="6519897" y="5253560"/>
              <a:ext cx="365760" cy="457200"/>
            </a:xfrm>
            <a:prstGeom prst="rect">
              <a:avLst/>
            </a:prstGeom>
            <a:noFill/>
          </p:spPr>
          <p:txBody>
            <a:bodyPr wrap="square" rtlCol="0">
              <a:spAutoFit/>
            </a:bodyPr>
            <a:lstStyle/>
            <a:p>
              <a:r>
                <a:rPr lang="en-US" sz="2400" dirty="0">
                  <a:solidFill>
                    <a:srgbClr val="C00000"/>
                  </a:solidFill>
                </a:rPr>
                <a:t>1</a:t>
              </a:r>
            </a:p>
          </p:txBody>
        </p:sp>
      </p:grpSp>
    </p:spTree>
    <p:extLst>
      <p:ext uri="{BB962C8B-B14F-4D97-AF65-F5344CB8AC3E}">
        <p14:creationId xmlns:p14="http://schemas.microsoft.com/office/powerpoint/2010/main" val="1613404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par>
                                <p:cTn id="12" presetID="10" presetClass="entr" presetSubtype="0" fill="hold" nodeType="with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fade">
                                      <p:cBhvr>
                                        <p:cTn id="14" dur="500"/>
                                        <p:tgtEl>
                                          <p:spTgt spid="2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up)">
                                      <p:cBhvr>
                                        <p:cTn id="33" dur="500"/>
                                        <p:tgtEl>
                                          <p:spTgt spid="19"/>
                                        </p:tgtEl>
                                      </p:cBhvr>
                                    </p:animEffect>
                                  </p:childTnLst>
                                </p:cTn>
                              </p:par>
                              <p:par>
                                <p:cTn id="34" presetID="22" presetClass="entr" presetSubtype="1" fill="hold"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wipe(up)">
                                      <p:cBhvr>
                                        <p:cTn id="36" dur="500"/>
                                        <p:tgtEl>
                                          <p:spTgt spid="2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42"/>
                                        </p:tgtEl>
                                        <p:attrNameLst>
                                          <p:attrName>style.visibility</p:attrName>
                                        </p:attrNameLst>
                                      </p:cBhvr>
                                      <p:to>
                                        <p:strVal val="visible"/>
                                      </p:to>
                                    </p:set>
                                    <p:animEffect transition="in" filter="wipe(up)">
                                      <p:cBhvr>
                                        <p:cTn id="41" dur="500"/>
                                        <p:tgtEl>
                                          <p:spTgt spid="42"/>
                                        </p:tgtEl>
                                      </p:cBhvr>
                                    </p:animEffect>
                                  </p:childTnLst>
                                </p:cTn>
                              </p:par>
                              <p:par>
                                <p:cTn id="42" presetID="22" presetClass="entr" presetSubtype="8" fill="hold" nodeType="withEffect">
                                  <p:stCondLst>
                                    <p:cond delay="0"/>
                                  </p:stCondLst>
                                  <p:childTnLst>
                                    <p:set>
                                      <p:cBhvr>
                                        <p:cTn id="43" dur="1" fill="hold">
                                          <p:stCondLst>
                                            <p:cond delay="0"/>
                                          </p:stCondLst>
                                        </p:cTn>
                                        <p:tgtEl>
                                          <p:spTgt spid="41"/>
                                        </p:tgtEl>
                                        <p:attrNameLst>
                                          <p:attrName>style.visibility</p:attrName>
                                        </p:attrNameLst>
                                      </p:cBhvr>
                                      <p:to>
                                        <p:strVal val="visible"/>
                                      </p:to>
                                    </p:set>
                                    <p:animEffect transition="in" filter="wipe(left)">
                                      <p:cBhvr>
                                        <p:cTn id="44" dur="500"/>
                                        <p:tgtEl>
                                          <p:spTgt spid="41"/>
                                        </p:tgtEl>
                                      </p:cBhvr>
                                    </p:animEffect>
                                  </p:childTnLst>
                                </p:cTn>
                              </p:par>
                            </p:childTnLst>
                          </p:cTn>
                        </p:par>
                        <p:par>
                          <p:cTn id="45" fill="hold">
                            <p:stCondLst>
                              <p:cond delay="500"/>
                            </p:stCondLst>
                            <p:childTnLst>
                              <p:par>
                                <p:cTn id="46" presetID="22" presetClass="entr" presetSubtype="1" fill="hold" nodeType="after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wipe(up)">
                                      <p:cBhvr>
                                        <p:cTn id="48" dur="1500"/>
                                        <p:tgtEl>
                                          <p:spTgt spid="30"/>
                                        </p:tgtEl>
                                      </p:cBhvr>
                                    </p:animEffect>
                                  </p:childTnLst>
                                </p:cTn>
                              </p:par>
                              <p:par>
                                <p:cTn id="49" presetID="22" presetClass="entr" presetSubtype="1" fill="hold" grpId="0" nodeType="withEffect">
                                  <p:stCondLst>
                                    <p:cond delay="0"/>
                                  </p:stCondLst>
                                  <p:childTnLst>
                                    <p:set>
                                      <p:cBhvr>
                                        <p:cTn id="50" dur="1" fill="hold">
                                          <p:stCondLst>
                                            <p:cond delay="0"/>
                                          </p:stCondLst>
                                        </p:cTn>
                                        <p:tgtEl>
                                          <p:spTgt spid="39"/>
                                        </p:tgtEl>
                                        <p:attrNameLst>
                                          <p:attrName>style.visibility</p:attrName>
                                        </p:attrNameLst>
                                      </p:cBhvr>
                                      <p:to>
                                        <p:strVal val="visible"/>
                                      </p:to>
                                    </p:set>
                                    <p:animEffect transition="in" filter="wipe(up)">
                                      <p:cBhvr>
                                        <p:cTn id="51" dur="1500"/>
                                        <p:tgtEl>
                                          <p:spTgt spid="39"/>
                                        </p:tgtEl>
                                      </p:cBhvr>
                                    </p:animEffect>
                                  </p:childTnLst>
                                </p:cTn>
                              </p:par>
                              <p:par>
                                <p:cTn id="52" presetID="22" presetClass="entr" presetSubtype="1" fill="hold" nodeType="withEffect">
                                  <p:stCondLst>
                                    <p:cond delay="0"/>
                                  </p:stCondLst>
                                  <p:childTnLst>
                                    <p:set>
                                      <p:cBhvr>
                                        <p:cTn id="53" dur="1" fill="hold">
                                          <p:stCondLst>
                                            <p:cond delay="0"/>
                                          </p:stCondLst>
                                        </p:cTn>
                                        <p:tgtEl>
                                          <p:spTgt spid="45"/>
                                        </p:tgtEl>
                                        <p:attrNameLst>
                                          <p:attrName>style.visibility</p:attrName>
                                        </p:attrNameLst>
                                      </p:cBhvr>
                                      <p:to>
                                        <p:strVal val="visible"/>
                                      </p:to>
                                    </p:set>
                                    <p:animEffect transition="in" filter="wipe(up)">
                                      <p:cBhvr>
                                        <p:cTn id="54" dur="1500"/>
                                        <p:tgtEl>
                                          <p:spTgt spid="45"/>
                                        </p:tgtEl>
                                      </p:cBhvr>
                                    </p:animEffect>
                                  </p:childTnLst>
                                </p:cTn>
                              </p:par>
                              <p:par>
                                <p:cTn id="55" presetID="22" presetClass="entr" presetSubtype="1" fill="hold" grpId="0" nodeType="with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wipe(up)">
                                      <p:cBhvr>
                                        <p:cTn id="57" dur="1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9" grpId="0" animBg="1"/>
      <p:bldP spid="10" grpId="0" animBg="1"/>
      <p:bldP spid="11" grpId="0" animBg="1"/>
      <p:bldP spid="18" grpId="0" animBg="1"/>
      <p:bldP spid="39" grpId="0" animBg="1"/>
      <p:bldP spid="40"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Huffman Codes - Example</a:t>
            </a:r>
          </a:p>
        </p:txBody>
      </p:sp>
      <p:sp>
        <p:nvSpPr>
          <p:cNvPr id="4" name="Rectangle 3"/>
          <p:cNvSpPr/>
          <p:nvPr/>
        </p:nvSpPr>
        <p:spPr>
          <a:xfrm>
            <a:off x="473529" y="990600"/>
            <a:ext cx="1097280" cy="4572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D1457"/>
                </a:solidFill>
              </a:rPr>
              <a:t>Step 5: </a:t>
            </a:r>
          </a:p>
        </p:txBody>
      </p:sp>
      <p:grpSp>
        <p:nvGrpSpPr>
          <p:cNvPr id="30" name="Group 29"/>
          <p:cNvGrpSpPr/>
          <p:nvPr/>
        </p:nvGrpSpPr>
        <p:grpSpPr>
          <a:xfrm>
            <a:off x="2387301" y="1878097"/>
            <a:ext cx="2209800" cy="1740829"/>
            <a:chOff x="5222069" y="1945463"/>
            <a:chExt cx="2209800" cy="1740829"/>
          </a:xfrm>
        </p:grpSpPr>
        <p:grpSp>
          <p:nvGrpSpPr>
            <p:cNvPr id="31" name="Group 30"/>
            <p:cNvGrpSpPr/>
            <p:nvPr/>
          </p:nvGrpSpPr>
          <p:grpSpPr>
            <a:xfrm>
              <a:off x="5222069" y="1945463"/>
              <a:ext cx="2209800" cy="1740829"/>
              <a:chOff x="4912788" y="2846412"/>
              <a:chExt cx="2209800" cy="1740829"/>
            </a:xfrm>
          </p:grpSpPr>
          <p:sp>
            <p:nvSpPr>
              <p:cNvPr id="34" name="Rectangle 33"/>
              <p:cNvSpPr/>
              <p:nvPr/>
            </p:nvSpPr>
            <p:spPr>
              <a:xfrm>
                <a:off x="4912788" y="4130041"/>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f:5</a:t>
                </a:r>
              </a:p>
            </p:txBody>
          </p:sp>
          <p:sp>
            <p:nvSpPr>
              <p:cNvPr id="35" name="Rectangle 34"/>
              <p:cNvSpPr/>
              <p:nvPr/>
            </p:nvSpPr>
            <p:spPr>
              <a:xfrm>
                <a:off x="6208188" y="4130041"/>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e:9</a:t>
                </a:r>
              </a:p>
            </p:txBody>
          </p:sp>
          <p:sp>
            <p:nvSpPr>
              <p:cNvPr id="36" name="Oval 35"/>
              <p:cNvSpPr/>
              <p:nvPr/>
            </p:nvSpPr>
            <p:spPr>
              <a:xfrm>
                <a:off x="5565037" y="2846412"/>
                <a:ext cx="822960" cy="822960"/>
              </a:xfrm>
              <a:prstGeom prst="ellipse">
                <a:avLst/>
              </a:prstGeom>
              <a:solidFill>
                <a:schemeClr val="accent2">
                  <a:lumMod val="20000"/>
                  <a:lumOff val="80000"/>
                </a:schemeClr>
              </a:solid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14</a:t>
                </a:r>
              </a:p>
            </p:txBody>
          </p:sp>
          <p:cxnSp>
            <p:nvCxnSpPr>
              <p:cNvPr id="37" name="Straight Connector 36"/>
              <p:cNvCxnSpPr>
                <a:stCxn id="36" idx="3"/>
                <a:endCxn id="34" idx="0"/>
              </p:cNvCxnSpPr>
              <p:nvPr/>
            </p:nvCxnSpPr>
            <p:spPr>
              <a:xfrm flipH="1">
                <a:off x="5369988" y="3548852"/>
                <a:ext cx="315569" cy="58118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36" idx="5"/>
                <a:endCxn id="35" idx="0"/>
              </p:cNvCxnSpPr>
              <p:nvPr/>
            </p:nvCxnSpPr>
            <p:spPr>
              <a:xfrm>
                <a:off x="6267477" y="3548852"/>
                <a:ext cx="397911" cy="58118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2" name="TextBox 31"/>
            <p:cNvSpPr txBox="1"/>
            <p:nvPr/>
          </p:nvSpPr>
          <p:spPr>
            <a:xfrm>
              <a:off x="5569638" y="2625876"/>
              <a:ext cx="365760" cy="457200"/>
            </a:xfrm>
            <a:prstGeom prst="rect">
              <a:avLst/>
            </a:prstGeom>
            <a:noFill/>
          </p:spPr>
          <p:txBody>
            <a:bodyPr wrap="square" rtlCol="0">
              <a:spAutoFit/>
            </a:bodyPr>
            <a:lstStyle/>
            <a:p>
              <a:r>
                <a:rPr lang="en-US" sz="2400" dirty="0">
                  <a:solidFill>
                    <a:srgbClr val="C00000"/>
                  </a:solidFill>
                </a:rPr>
                <a:t>0</a:t>
              </a:r>
            </a:p>
          </p:txBody>
        </p:sp>
        <p:sp>
          <p:nvSpPr>
            <p:cNvPr id="33" name="TextBox 32"/>
            <p:cNvSpPr txBox="1"/>
            <p:nvPr/>
          </p:nvSpPr>
          <p:spPr>
            <a:xfrm>
              <a:off x="6726085" y="2625876"/>
              <a:ext cx="365760" cy="457200"/>
            </a:xfrm>
            <a:prstGeom prst="rect">
              <a:avLst/>
            </a:prstGeom>
            <a:noFill/>
          </p:spPr>
          <p:txBody>
            <a:bodyPr wrap="square" rtlCol="0">
              <a:spAutoFit/>
            </a:bodyPr>
            <a:lstStyle/>
            <a:p>
              <a:r>
                <a:rPr lang="en-US" sz="2400" dirty="0">
                  <a:solidFill>
                    <a:srgbClr val="C00000"/>
                  </a:solidFill>
                </a:rPr>
                <a:t>1</a:t>
              </a:r>
            </a:p>
          </p:txBody>
        </p:sp>
      </p:grpSp>
      <p:sp>
        <p:nvSpPr>
          <p:cNvPr id="39" name="Rectangle 38"/>
          <p:cNvSpPr/>
          <p:nvPr/>
        </p:nvSpPr>
        <p:spPr>
          <a:xfrm>
            <a:off x="4689182" y="2004511"/>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d:16</a:t>
            </a:r>
          </a:p>
        </p:txBody>
      </p:sp>
      <p:sp>
        <p:nvSpPr>
          <p:cNvPr id="40" name="Rectangle 39"/>
          <p:cNvSpPr/>
          <p:nvPr/>
        </p:nvSpPr>
        <p:spPr>
          <a:xfrm>
            <a:off x="8298369" y="1978386"/>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a:45</a:t>
            </a:r>
          </a:p>
        </p:txBody>
      </p:sp>
      <p:grpSp>
        <p:nvGrpSpPr>
          <p:cNvPr id="45" name="Group 44"/>
          <p:cNvGrpSpPr/>
          <p:nvPr/>
        </p:nvGrpSpPr>
        <p:grpSpPr>
          <a:xfrm>
            <a:off x="5874561" y="1851205"/>
            <a:ext cx="2251362" cy="1767721"/>
            <a:chOff x="5012416" y="4555221"/>
            <a:chExt cx="2251362" cy="1767721"/>
          </a:xfrm>
        </p:grpSpPr>
        <p:grpSp>
          <p:nvGrpSpPr>
            <p:cNvPr id="17" name="Group 16"/>
            <p:cNvGrpSpPr/>
            <p:nvPr/>
          </p:nvGrpSpPr>
          <p:grpSpPr>
            <a:xfrm>
              <a:off x="5012416" y="4555221"/>
              <a:ext cx="2251362" cy="1767721"/>
              <a:chOff x="1771675" y="3644277"/>
              <a:chExt cx="2251362" cy="1767721"/>
            </a:xfrm>
          </p:grpSpPr>
          <p:sp>
            <p:nvSpPr>
              <p:cNvPr id="24" name="Rectangle 23"/>
              <p:cNvSpPr/>
              <p:nvPr/>
            </p:nvSpPr>
            <p:spPr>
              <a:xfrm>
                <a:off x="1771675" y="4954798"/>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c:12</a:t>
                </a:r>
              </a:p>
            </p:txBody>
          </p:sp>
          <p:sp>
            <p:nvSpPr>
              <p:cNvPr id="25" name="Rectangle 24"/>
              <p:cNvSpPr/>
              <p:nvPr/>
            </p:nvSpPr>
            <p:spPr>
              <a:xfrm>
                <a:off x="3108637" y="4954798"/>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b:13</a:t>
                </a:r>
              </a:p>
            </p:txBody>
          </p:sp>
          <p:sp>
            <p:nvSpPr>
              <p:cNvPr id="26" name="Oval 25"/>
              <p:cNvSpPr/>
              <p:nvPr/>
            </p:nvSpPr>
            <p:spPr>
              <a:xfrm>
                <a:off x="2449801" y="3644277"/>
                <a:ext cx="822960" cy="822960"/>
              </a:xfrm>
              <a:prstGeom prst="ellipse">
                <a:avLst/>
              </a:prstGeom>
              <a:solidFill>
                <a:schemeClr val="accent2">
                  <a:lumMod val="20000"/>
                  <a:lumOff val="80000"/>
                </a:schemeClr>
              </a:solid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25</a:t>
                </a:r>
              </a:p>
            </p:txBody>
          </p:sp>
          <p:cxnSp>
            <p:nvCxnSpPr>
              <p:cNvPr id="27" name="Straight Connector 26"/>
              <p:cNvCxnSpPr>
                <a:stCxn id="26" idx="3"/>
                <a:endCxn id="24" idx="0"/>
              </p:cNvCxnSpPr>
              <p:nvPr/>
            </p:nvCxnSpPr>
            <p:spPr>
              <a:xfrm flipH="1">
                <a:off x="2228875" y="4346717"/>
                <a:ext cx="341446" cy="6080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26" idx="5"/>
                <a:endCxn id="25" idx="0"/>
              </p:cNvCxnSpPr>
              <p:nvPr/>
            </p:nvCxnSpPr>
            <p:spPr>
              <a:xfrm>
                <a:off x="3152241" y="4346717"/>
                <a:ext cx="413596" cy="6080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3" name="TextBox 42"/>
            <p:cNvSpPr txBox="1"/>
            <p:nvPr/>
          </p:nvSpPr>
          <p:spPr>
            <a:xfrm>
              <a:off x="5363450" y="5253560"/>
              <a:ext cx="365760" cy="457200"/>
            </a:xfrm>
            <a:prstGeom prst="rect">
              <a:avLst/>
            </a:prstGeom>
            <a:noFill/>
          </p:spPr>
          <p:txBody>
            <a:bodyPr wrap="square" rtlCol="0">
              <a:spAutoFit/>
            </a:bodyPr>
            <a:lstStyle/>
            <a:p>
              <a:r>
                <a:rPr lang="en-US" sz="2400" dirty="0">
                  <a:solidFill>
                    <a:srgbClr val="C00000"/>
                  </a:solidFill>
                </a:rPr>
                <a:t>0</a:t>
              </a:r>
            </a:p>
          </p:txBody>
        </p:sp>
        <p:sp>
          <p:nvSpPr>
            <p:cNvPr id="44" name="TextBox 43"/>
            <p:cNvSpPr txBox="1"/>
            <p:nvPr/>
          </p:nvSpPr>
          <p:spPr>
            <a:xfrm>
              <a:off x="6519897" y="5253560"/>
              <a:ext cx="365760" cy="457200"/>
            </a:xfrm>
            <a:prstGeom prst="rect">
              <a:avLst/>
            </a:prstGeom>
            <a:noFill/>
          </p:spPr>
          <p:txBody>
            <a:bodyPr wrap="square" rtlCol="0">
              <a:spAutoFit/>
            </a:bodyPr>
            <a:lstStyle/>
            <a:p>
              <a:r>
                <a:rPr lang="en-US" sz="2400" dirty="0">
                  <a:solidFill>
                    <a:srgbClr val="C00000"/>
                  </a:solidFill>
                </a:rPr>
                <a:t>1</a:t>
              </a:r>
            </a:p>
          </p:txBody>
        </p:sp>
      </p:grpSp>
      <p:sp>
        <p:nvSpPr>
          <p:cNvPr id="46" name="Oval 45"/>
          <p:cNvSpPr/>
          <p:nvPr/>
        </p:nvSpPr>
        <p:spPr>
          <a:xfrm>
            <a:off x="3800399" y="697567"/>
            <a:ext cx="822960" cy="822960"/>
          </a:xfrm>
          <a:prstGeom prst="ellipse">
            <a:avLst/>
          </a:prstGeom>
          <a:solidFill>
            <a:schemeClr val="accent2">
              <a:lumMod val="20000"/>
              <a:lumOff val="80000"/>
            </a:schemeClr>
          </a:solid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30</a:t>
            </a:r>
          </a:p>
        </p:txBody>
      </p:sp>
      <p:cxnSp>
        <p:nvCxnSpPr>
          <p:cNvPr id="47" name="Straight Connector 46"/>
          <p:cNvCxnSpPr>
            <a:stCxn id="46" idx="3"/>
            <a:endCxn id="36" idx="0"/>
          </p:cNvCxnSpPr>
          <p:nvPr/>
        </p:nvCxnSpPr>
        <p:spPr>
          <a:xfrm flipH="1">
            <a:off x="3451030" y="1400007"/>
            <a:ext cx="469889" cy="47809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46" idx="5"/>
            <a:endCxn id="39" idx="0"/>
          </p:cNvCxnSpPr>
          <p:nvPr/>
        </p:nvCxnSpPr>
        <p:spPr>
          <a:xfrm>
            <a:off x="4502839" y="1400007"/>
            <a:ext cx="643543" cy="6045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Rectangle 60"/>
          <p:cNvSpPr/>
          <p:nvPr/>
        </p:nvSpPr>
        <p:spPr>
          <a:xfrm>
            <a:off x="8359329" y="4064095"/>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a:45</a:t>
            </a:r>
          </a:p>
        </p:txBody>
      </p:sp>
      <p:grpSp>
        <p:nvGrpSpPr>
          <p:cNvPr id="62" name="Group 61"/>
          <p:cNvGrpSpPr/>
          <p:nvPr/>
        </p:nvGrpSpPr>
        <p:grpSpPr>
          <a:xfrm>
            <a:off x="2408549" y="3998122"/>
            <a:ext cx="2103120" cy="1645920"/>
            <a:chOff x="5012416" y="4555221"/>
            <a:chExt cx="2251362" cy="1767721"/>
          </a:xfrm>
        </p:grpSpPr>
        <p:grpSp>
          <p:nvGrpSpPr>
            <p:cNvPr id="63" name="Group 62"/>
            <p:cNvGrpSpPr/>
            <p:nvPr/>
          </p:nvGrpSpPr>
          <p:grpSpPr>
            <a:xfrm>
              <a:off x="5012416" y="4555221"/>
              <a:ext cx="2251362" cy="1767721"/>
              <a:chOff x="1771675" y="3644277"/>
              <a:chExt cx="2251362" cy="1767721"/>
            </a:xfrm>
          </p:grpSpPr>
          <p:sp>
            <p:nvSpPr>
              <p:cNvPr id="66" name="Rectangle 65"/>
              <p:cNvSpPr/>
              <p:nvPr/>
            </p:nvSpPr>
            <p:spPr>
              <a:xfrm>
                <a:off x="1771675" y="4954798"/>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c:12</a:t>
                </a:r>
              </a:p>
            </p:txBody>
          </p:sp>
          <p:sp>
            <p:nvSpPr>
              <p:cNvPr id="67" name="Rectangle 66"/>
              <p:cNvSpPr/>
              <p:nvPr/>
            </p:nvSpPr>
            <p:spPr>
              <a:xfrm>
                <a:off x="3108637" y="4954798"/>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b:13</a:t>
                </a:r>
              </a:p>
            </p:txBody>
          </p:sp>
          <p:sp>
            <p:nvSpPr>
              <p:cNvPr id="68" name="Oval 67"/>
              <p:cNvSpPr/>
              <p:nvPr/>
            </p:nvSpPr>
            <p:spPr>
              <a:xfrm>
                <a:off x="2449801" y="3644277"/>
                <a:ext cx="822960" cy="822960"/>
              </a:xfrm>
              <a:prstGeom prst="ellipse">
                <a:avLst/>
              </a:prstGeom>
              <a:solidFill>
                <a:schemeClr val="accent2">
                  <a:lumMod val="20000"/>
                  <a:lumOff val="80000"/>
                </a:schemeClr>
              </a:solid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25</a:t>
                </a:r>
              </a:p>
            </p:txBody>
          </p:sp>
          <p:cxnSp>
            <p:nvCxnSpPr>
              <p:cNvPr id="69" name="Straight Connector 68"/>
              <p:cNvCxnSpPr>
                <a:stCxn id="68" idx="3"/>
                <a:endCxn id="66" idx="0"/>
              </p:cNvCxnSpPr>
              <p:nvPr/>
            </p:nvCxnSpPr>
            <p:spPr>
              <a:xfrm flipH="1">
                <a:off x="2228875" y="4346717"/>
                <a:ext cx="341446" cy="6080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a:stCxn id="68" idx="5"/>
                <a:endCxn id="67" idx="0"/>
              </p:cNvCxnSpPr>
              <p:nvPr/>
            </p:nvCxnSpPr>
            <p:spPr>
              <a:xfrm>
                <a:off x="3152241" y="4346717"/>
                <a:ext cx="413596" cy="60808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4" name="TextBox 63"/>
            <p:cNvSpPr txBox="1"/>
            <p:nvPr/>
          </p:nvSpPr>
          <p:spPr>
            <a:xfrm>
              <a:off x="5363450" y="5253560"/>
              <a:ext cx="365760" cy="457200"/>
            </a:xfrm>
            <a:prstGeom prst="rect">
              <a:avLst/>
            </a:prstGeom>
            <a:noFill/>
          </p:spPr>
          <p:txBody>
            <a:bodyPr wrap="square" rtlCol="0">
              <a:spAutoFit/>
            </a:bodyPr>
            <a:lstStyle/>
            <a:p>
              <a:r>
                <a:rPr lang="en-US" sz="2400" dirty="0">
                  <a:solidFill>
                    <a:srgbClr val="C00000"/>
                  </a:solidFill>
                </a:rPr>
                <a:t>0</a:t>
              </a:r>
            </a:p>
          </p:txBody>
        </p:sp>
        <p:sp>
          <p:nvSpPr>
            <p:cNvPr id="65" name="TextBox 64"/>
            <p:cNvSpPr txBox="1"/>
            <p:nvPr/>
          </p:nvSpPr>
          <p:spPr>
            <a:xfrm>
              <a:off x="6519897" y="5253560"/>
              <a:ext cx="365760" cy="457200"/>
            </a:xfrm>
            <a:prstGeom prst="rect">
              <a:avLst/>
            </a:prstGeom>
            <a:noFill/>
          </p:spPr>
          <p:txBody>
            <a:bodyPr wrap="square" rtlCol="0">
              <a:spAutoFit/>
            </a:bodyPr>
            <a:lstStyle/>
            <a:p>
              <a:r>
                <a:rPr lang="en-US" sz="2400" dirty="0">
                  <a:solidFill>
                    <a:srgbClr val="C00000"/>
                  </a:solidFill>
                </a:rPr>
                <a:t>1</a:t>
              </a:r>
            </a:p>
          </p:txBody>
        </p:sp>
      </p:grpSp>
      <p:grpSp>
        <p:nvGrpSpPr>
          <p:cNvPr id="76" name="Group 75"/>
          <p:cNvGrpSpPr/>
          <p:nvPr/>
        </p:nvGrpSpPr>
        <p:grpSpPr>
          <a:xfrm>
            <a:off x="4799574" y="3998122"/>
            <a:ext cx="3017520" cy="2560320"/>
            <a:chOff x="2539701" y="3998122"/>
            <a:chExt cx="3216281" cy="2921359"/>
          </a:xfrm>
        </p:grpSpPr>
        <p:sp>
          <p:nvSpPr>
            <p:cNvPr id="53" name="TextBox 52"/>
            <p:cNvSpPr txBox="1"/>
            <p:nvPr/>
          </p:nvSpPr>
          <p:spPr>
            <a:xfrm>
              <a:off x="2887270" y="5859065"/>
              <a:ext cx="365760" cy="457200"/>
            </a:xfrm>
            <a:prstGeom prst="rect">
              <a:avLst/>
            </a:prstGeom>
            <a:noFill/>
          </p:spPr>
          <p:txBody>
            <a:bodyPr wrap="square" rtlCol="0">
              <a:spAutoFit/>
            </a:bodyPr>
            <a:lstStyle/>
            <a:p>
              <a:r>
                <a:rPr lang="en-US" sz="2400" dirty="0">
                  <a:solidFill>
                    <a:srgbClr val="C00000"/>
                  </a:solidFill>
                </a:rPr>
                <a:t>0</a:t>
              </a:r>
            </a:p>
          </p:txBody>
        </p:sp>
        <p:sp>
          <p:nvSpPr>
            <p:cNvPr id="54" name="TextBox 53"/>
            <p:cNvSpPr txBox="1"/>
            <p:nvPr/>
          </p:nvSpPr>
          <p:spPr>
            <a:xfrm>
              <a:off x="4043717" y="5859065"/>
              <a:ext cx="365760" cy="457200"/>
            </a:xfrm>
            <a:prstGeom prst="rect">
              <a:avLst/>
            </a:prstGeom>
            <a:noFill/>
          </p:spPr>
          <p:txBody>
            <a:bodyPr wrap="square" rtlCol="0">
              <a:spAutoFit/>
            </a:bodyPr>
            <a:lstStyle/>
            <a:p>
              <a:r>
                <a:rPr lang="en-US" sz="2400" dirty="0">
                  <a:solidFill>
                    <a:srgbClr val="C00000"/>
                  </a:solidFill>
                </a:rPr>
                <a:t>1</a:t>
              </a:r>
            </a:p>
          </p:txBody>
        </p:sp>
        <p:sp>
          <p:nvSpPr>
            <p:cNvPr id="60" name="Rectangle 59"/>
            <p:cNvSpPr/>
            <p:nvPr/>
          </p:nvSpPr>
          <p:spPr>
            <a:xfrm>
              <a:off x="4841582" y="5305066"/>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d:16</a:t>
              </a:r>
            </a:p>
          </p:txBody>
        </p:sp>
        <p:sp>
          <p:nvSpPr>
            <p:cNvPr id="55" name="Rectangle 54"/>
            <p:cNvSpPr/>
            <p:nvPr/>
          </p:nvSpPr>
          <p:spPr>
            <a:xfrm>
              <a:off x="2539701" y="6462281"/>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f:5</a:t>
              </a:r>
            </a:p>
          </p:txBody>
        </p:sp>
        <p:sp>
          <p:nvSpPr>
            <p:cNvPr id="56" name="Rectangle 55"/>
            <p:cNvSpPr/>
            <p:nvPr/>
          </p:nvSpPr>
          <p:spPr>
            <a:xfrm>
              <a:off x="3835101" y="6462281"/>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e:9</a:t>
              </a:r>
            </a:p>
          </p:txBody>
        </p:sp>
        <p:sp>
          <p:nvSpPr>
            <p:cNvPr id="57" name="Oval 56"/>
            <p:cNvSpPr/>
            <p:nvPr/>
          </p:nvSpPr>
          <p:spPr>
            <a:xfrm>
              <a:off x="3191950" y="5178652"/>
              <a:ext cx="822960" cy="822960"/>
            </a:xfrm>
            <a:prstGeom prst="ellipse">
              <a:avLst/>
            </a:prstGeom>
            <a:solidFill>
              <a:schemeClr val="accent2">
                <a:lumMod val="20000"/>
                <a:lumOff val="80000"/>
              </a:schemeClr>
            </a:solid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14</a:t>
              </a:r>
            </a:p>
          </p:txBody>
        </p:sp>
        <p:cxnSp>
          <p:nvCxnSpPr>
            <p:cNvPr id="58" name="Straight Connector 57"/>
            <p:cNvCxnSpPr>
              <a:stCxn id="57" idx="3"/>
              <a:endCxn id="55" idx="0"/>
            </p:cNvCxnSpPr>
            <p:nvPr/>
          </p:nvCxnSpPr>
          <p:spPr>
            <a:xfrm flipH="1">
              <a:off x="2996901" y="5881092"/>
              <a:ext cx="315569" cy="58118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57" idx="5"/>
              <a:endCxn id="56" idx="0"/>
            </p:cNvCxnSpPr>
            <p:nvPr/>
          </p:nvCxnSpPr>
          <p:spPr>
            <a:xfrm>
              <a:off x="3894390" y="5881092"/>
              <a:ext cx="397911" cy="58118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Oval 70"/>
            <p:cNvSpPr/>
            <p:nvPr/>
          </p:nvSpPr>
          <p:spPr>
            <a:xfrm>
              <a:off x="3952799" y="3998122"/>
              <a:ext cx="822960" cy="822960"/>
            </a:xfrm>
            <a:prstGeom prst="ellipse">
              <a:avLst/>
            </a:prstGeom>
            <a:solidFill>
              <a:schemeClr val="accent2">
                <a:lumMod val="20000"/>
                <a:lumOff val="80000"/>
              </a:schemeClr>
            </a:solid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30</a:t>
              </a:r>
            </a:p>
          </p:txBody>
        </p:sp>
        <p:cxnSp>
          <p:nvCxnSpPr>
            <p:cNvPr id="72" name="Straight Connector 71"/>
            <p:cNvCxnSpPr>
              <a:stCxn id="71" idx="3"/>
              <a:endCxn id="57" idx="0"/>
            </p:cNvCxnSpPr>
            <p:nvPr/>
          </p:nvCxnSpPr>
          <p:spPr>
            <a:xfrm flipH="1">
              <a:off x="3603430" y="4700562"/>
              <a:ext cx="469889" cy="47809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71" idx="5"/>
              <a:endCxn id="60" idx="0"/>
            </p:cNvCxnSpPr>
            <p:nvPr/>
          </p:nvCxnSpPr>
          <p:spPr>
            <a:xfrm>
              <a:off x="4655239" y="4700562"/>
              <a:ext cx="643543" cy="60450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8" name="Straight Connector 77"/>
          <p:cNvCxnSpPr/>
          <p:nvPr/>
        </p:nvCxnSpPr>
        <p:spPr>
          <a:xfrm>
            <a:off x="1380881" y="3848547"/>
            <a:ext cx="914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Elbow Connector 78"/>
          <p:cNvCxnSpPr/>
          <p:nvPr/>
        </p:nvCxnSpPr>
        <p:spPr>
          <a:xfrm rot="16200000" flipH="1">
            <a:off x="794411" y="3725981"/>
            <a:ext cx="1553943" cy="381003"/>
          </a:xfrm>
          <a:prstGeom prst="bentConnector3">
            <a:avLst>
              <a:gd name="adj1" fmla="val 10006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80" name="TextBox 79"/>
          <p:cNvSpPr txBox="1"/>
          <p:nvPr/>
        </p:nvSpPr>
        <p:spPr>
          <a:xfrm>
            <a:off x="5744583" y="4500527"/>
            <a:ext cx="365760" cy="457200"/>
          </a:xfrm>
          <a:prstGeom prst="rect">
            <a:avLst/>
          </a:prstGeom>
          <a:noFill/>
        </p:spPr>
        <p:txBody>
          <a:bodyPr wrap="square" rtlCol="0">
            <a:spAutoFit/>
          </a:bodyPr>
          <a:lstStyle/>
          <a:p>
            <a:r>
              <a:rPr lang="en-US" sz="2400" dirty="0">
                <a:solidFill>
                  <a:srgbClr val="C00000"/>
                </a:solidFill>
              </a:rPr>
              <a:t>0</a:t>
            </a:r>
          </a:p>
        </p:txBody>
      </p:sp>
      <p:sp>
        <p:nvSpPr>
          <p:cNvPr id="81" name="TextBox 80"/>
          <p:cNvSpPr txBox="1"/>
          <p:nvPr/>
        </p:nvSpPr>
        <p:spPr>
          <a:xfrm>
            <a:off x="6954818" y="4500527"/>
            <a:ext cx="365760" cy="457200"/>
          </a:xfrm>
          <a:prstGeom prst="rect">
            <a:avLst/>
          </a:prstGeom>
          <a:noFill/>
        </p:spPr>
        <p:txBody>
          <a:bodyPr wrap="square" rtlCol="0">
            <a:spAutoFit/>
          </a:bodyPr>
          <a:lstStyle/>
          <a:p>
            <a:r>
              <a:rPr lang="en-US" sz="2400" dirty="0">
                <a:solidFill>
                  <a:srgbClr val="C00000"/>
                </a:solidFill>
              </a:rPr>
              <a:t>1</a:t>
            </a:r>
          </a:p>
        </p:txBody>
      </p:sp>
    </p:spTree>
    <p:extLst>
      <p:ext uri="{BB962C8B-B14F-4D97-AF65-F5344CB8AC3E}">
        <p14:creationId xmlns:p14="http://schemas.microsoft.com/office/powerpoint/2010/main" val="55431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wipe(up)">
                                      <p:cBhvr>
                                        <p:cTn id="11" dur="1500"/>
                                        <p:tgtEl>
                                          <p:spTgt spid="30"/>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39"/>
                                        </p:tgtEl>
                                        <p:attrNameLst>
                                          <p:attrName>style.visibility</p:attrName>
                                        </p:attrNameLst>
                                      </p:cBhvr>
                                      <p:to>
                                        <p:strVal val="visible"/>
                                      </p:to>
                                    </p:set>
                                    <p:animEffect transition="in" filter="wipe(up)">
                                      <p:cBhvr>
                                        <p:cTn id="14" dur="1500"/>
                                        <p:tgtEl>
                                          <p:spTgt spid="39"/>
                                        </p:tgtEl>
                                      </p:cBhvr>
                                    </p:animEffect>
                                  </p:childTnLst>
                                </p:cTn>
                              </p:par>
                              <p:par>
                                <p:cTn id="15" presetID="22" presetClass="entr" presetSubtype="1" fill="hold" nodeType="with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wipe(up)">
                                      <p:cBhvr>
                                        <p:cTn id="17" dur="1500"/>
                                        <p:tgtEl>
                                          <p:spTgt spid="45"/>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40"/>
                                        </p:tgtEl>
                                        <p:attrNameLst>
                                          <p:attrName>style.visibility</p:attrName>
                                        </p:attrNameLst>
                                      </p:cBhvr>
                                      <p:to>
                                        <p:strVal val="visible"/>
                                      </p:to>
                                    </p:set>
                                    <p:animEffect transition="in" filter="wipe(up)">
                                      <p:cBhvr>
                                        <p:cTn id="20" dur="1500"/>
                                        <p:tgtEl>
                                          <p:spTgt spid="4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fade">
                                      <p:cBhvr>
                                        <p:cTn id="25" dur="500"/>
                                        <p:tgtEl>
                                          <p:spTgt spid="4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47"/>
                                        </p:tgtEl>
                                        <p:attrNameLst>
                                          <p:attrName>style.visibility</p:attrName>
                                        </p:attrNameLst>
                                      </p:cBhvr>
                                      <p:to>
                                        <p:strVal val="visible"/>
                                      </p:to>
                                    </p:set>
                                    <p:animEffect transition="in" filter="wipe(up)">
                                      <p:cBhvr>
                                        <p:cTn id="30" dur="500"/>
                                        <p:tgtEl>
                                          <p:spTgt spid="47"/>
                                        </p:tgtEl>
                                      </p:cBhvr>
                                    </p:animEffect>
                                  </p:childTnLst>
                                </p:cTn>
                              </p:par>
                              <p:par>
                                <p:cTn id="31" presetID="22" presetClass="entr" presetSubtype="1" fill="hold" nodeType="withEffect">
                                  <p:stCondLst>
                                    <p:cond delay="0"/>
                                  </p:stCondLst>
                                  <p:childTnLst>
                                    <p:set>
                                      <p:cBhvr>
                                        <p:cTn id="32" dur="1" fill="hold">
                                          <p:stCondLst>
                                            <p:cond delay="0"/>
                                          </p:stCondLst>
                                        </p:cTn>
                                        <p:tgtEl>
                                          <p:spTgt spid="48"/>
                                        </p:tgtEl>
                                        <p:attrNameLst>
                                          <p:attrName>style.visibility</p:attrName>
                                        </p:attrNameLst>
                                      </p:cBhvr>
                                      <p:to>
                                        <p:strVal val="visible"/>
                                      </p:to>
                                    </p:set>
                                    <p:animEffect transition="in" filter="wipe(up)">
                                      <p:cBhvr>
                                        <p:cTn id="33" dur="500"/>
                                        <p:tgtEl>
                                          <p:spTgt spid="4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79"/>
                                        </p:tgtEl>
                                        <p:attrNameLst>
                                          <p:attrName>style.visibility</p:attrName>
                                        </p:attrNameLst>
                                      </p:cBhvr>
                                      <p:to>
                                        <p:strVal val="visible"/>
                                      </p:to>
                                    </p:set>
                                    <p:animEffect transition="in" filter="wipe(up)">
                                      <p:cBhvr>
                                        <p:cTn id="38" dur="500"/>
                                        <p:tgtEl>
                                          <p:spTgt spid="79"/>
                                        </p:tgtEl>
                                      </p:cBhvr>
                                    </p:animEffect>
                                  </p:childTnLst>
                                </p:cTn>
                              </p:par>
                              <p:par>
                                <p:cTn id="39" presetID="22" presetClass="entr" presetSubtype="8" fill="hold" nodeType="withEffect">
                                  <p:stCondLst>
                                    <p:cond delay="0"/>
                                  </p:stCondLst>
                                  <p:childTnLst>
                                    <p:set>
                                      <p:cBhvr>
                                        <p:cTn id="40" dur="1" fill="hold">
                                          <p:stCondLst>
                                            <p:cond delay="0"/>
                                          </p:stCondLst>
                                        </p:cTn>
                                        <p:tgtEl>
                                          <p:spTgt spid="78"/>
                                        </p:tgtEl>
                                        <p:attrNameLst>
                                          <p:attrName>style.visibility</p:attrName>
                                        </p:attrNameLst>
                                      </p:cBhvr>
                                      <p:to>
                                        <p:strVal val="visible"/>
                                      </p:to>
                                    </p:set>
                                    <p:animEffect transition="in" filter="wipe(left)">
                                      <p:cBhvr>
                                        <p:cTn id="41" dur="500"/>
                                        <p:tgtEl>
                                          <p:spTgt spid="7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61"/>
                                        </p:tgtEl>
                                        <p:attrNameLst>
                                          <p:attrName>style.visibility</p:attrName>
                                        </p:attrNameLst>
                                      </p:cBhvr>
                                      <p:to>
                                        <p:strVal val="visible"/>
                                      </p:to>
                                    </p:set>
                                    <p:animEffect transition="in" filter="wipe(up)">
                                      <p:cBhvr>
                                        <p:cTn id="46" dur="1500"/>
                                        <p:tgtEl>
                                          <p:spTgt spid="61"/>
                                        </p:tgtEl>
                                      </p:cBhvr>
                                    </p:animEffect>
                                  </p:childTnLst>
                                </p:cTn>
                              </p:par>
                              <p:par>
                                <p:cTn id="47" presetID="22" presetClass="entr" presetSubtype="1" fill="hold" nodeType="withEffect">
                                  <p:stCondLst>
                                    <p:cond delay="0"/>
                                  </p:stCondLst>
                                  <p:childTnLst>
                                    <p:set>
                                      <p:cBhvr>
                                        <p:cTn id="48" dur="1" fill="hold">
                                          <p:stCondLst>
                                            <p:cond delay="0"/>
                                          </p:stCondLst>
                                        </p:cTn>
                                        <p:tgtEl>
                                          <p:spTgt spid="62"/>
                                        </p:tgtEl>
                                        <p:attrNameLst>
                                          <p:attrName>style.visibility</p:attrName>
                                        </p:attrNameLst>
                                      </p:cBhvr>
                                      <p:to>
                                        <p:strVal val="visible"/>
                                      </p:to>
                                    </p:set>
                                    <p:animEffect transition="in" filter="wipe(up)">
                                      <p:cBhvr>
                                        <p:cTn id="49" dur="1500"/>
                                        <p:tgtEl>
                                          <p:spTgt spid="62"/>
                                        </p:tgtEl>
                                      </p:cBhvr>
                                    </p:animEffect>
                                  </p:childTnLst>
                                </p:cTn>
                              </p:par>
                              <p:par>
                                <p:cTn id="50" presetID="22" presetClass="entr" presetSubtype="1" fill="hold" nodeType="withEffect">
                                  <p:stCondLst>
                                    <p:cond delay="0"/>
                                  </p:stCondLst>
                                  <p:childTnLst>
                                    <p:set>
                                      <p:cBhvr>
                                        <p:cTn id="51" dur="1" fill="hold">
                                          <p:stCondLst>
                                            <p:cond delay="0"/>
                                          </p:stCondLst>
                                        </p:cTn>
                                        <p:tgtEl>
                                          <p:spTgt spid="76"/>
                                        </p:tgtEl>
                                        <p:attrNameLst>
                                          <p:attrName>style.visibility</p:attrName>
                                        </p:attrNameLst>
                                      </p:cBhvr>
                                      <p:to>
                                        <p:strVal val="visible"/>
                                      </p:to>
                                    </p:set>
                                    <p:animEffect transition="in" filter="wipe(up)">
                                      <p:cBhvr>
                                        <p:cTn id="52" dur="1500"/>
                                        <p:tgtEl>
                                          <p:spTgt spid="7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81"/>
                                        </p:tgtEl>
                                        <p:attrNameLst>
                                          <p:attrName>style.visibility</p:attrName>
                                        </p:attrNameLst>
                                      </p:cBhvr>
                                      <p:to>
                                        <p:strVal val="visible"/>
                                      </p:to>
                                    </p:set>
                                    <p:animEffect transition="in" filter="fade">
                                      <p:cBhvr>
                                        <p:cTn id="57" dur="500"/>
                                        <p:tgtEl>
                                          <p:spTgt spid="8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80"/>
                                        </p:tgtEl>
                                        <p:attrNameLst>
                                          <p:attrName>style.visibility</p:attrName>
                                        </p:attrNameLst>
                                      </p:cBhvr>
                                      <p:to>
                                        <p:strVal val="visible"/>
                                      </p:to>
                                    </p:set>
                                    <p:animEffect transition="in" filter="fade">
                                      <p:cBhvr>
                                        <p:cTn id="60"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9" grpId="0" animBg="1"/>
      <p:bldP spid="40" grpId="0" animBg="1"/>
      <p:bldP spid="46" grpId="0" animBg="1"/>
      <p:bldP spid="61" grpId="0" animBg="1"/>
      <p:bldP spid="80" grpId="0"/>
      <p:bldP spid="81"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Huffman Codes - Example</a:t>
            </a:r>
          </a:p>
        </p:txBody>
      </p:sp>
      <p:sp>
        <p:nvSpPr>
          <p:cNvPr id="4" name="Rectangle 3"/>
          <p:cNvSpPr/>
          <p:nvPr/>
        </p:nvSpPr>
        <p:spPr>
          <a:xfrm>
            <a:off x="473529" y="990600"/>
            <a:ext cx="1097280" cy="4572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D1457"/>
                </a:solidFill>
              </a:rPr>
              <a:t>Step 6: </a:t>
            </a:r>
          </a:p>
        </p:txBody>
      </p:sp>
      <p:sp>
        <p:nvSpPr>
          <p:cNvPr id="46" name="Oval 45"/>
          <p:cNvSpPr/>
          <p:nvPr/>
        </p:nvSpPr>
        <p:spPr>
          <a:xfrm>
            <a:off x="4674457" y="1692651"/>
            <a:ext cx="822960" cy="822960"/>
          </a:xfrm>
          <a:prstGeom prst="ellipse">
            <a:avLst/>
          </a:prstGeom>
          <a:solidFill>
            <a:schemeClr val="accent2">
              <a:lumMod val="20000"/>
              <a:lumOff val="80000"/>
            </a:schemeClr>
          </a:solid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55</a:t>
            </a:r>
          </a:p>
        </p:txBody>
      </p:sp>
      <p:cxnSp>
        <p:nvCxnSpPr>
          <p:cNvPr id="47" name="Straight Connector 46"/>
          <p:cNvCxnSpPr>
            <a:stCxn id="46" idx="3"/>
            <a:endCxn id="68" idx="0"/>
          </p:cNvCxnSpPr>
          <p:nvPr/>
        </p:nvCxnSpPr>
        <p:spPr>
          <a:xfrm flipH="1">
            <a:off x="3514919" y="2395091"/>
            <a:ext cx="1280058" cy="97102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46" idx="5"/>
            <a:endCxn id="71" idx="0"/>
          </p:cNvCxnSpPr>
          <p:nvPr/>
        </p:nvCxnSpPr>
        <p:spPr>
          <a:xfrm>
            <a:off x="5376897" y="2395091"/>
            <a:ext cx="1238246" cy="97102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Rectangle 60"/>
          <p:cNvSpPr/>
          <p:nvPr/>
        </p:nvSpPr>
        <p:spPr>
          <a:xfrm>
            <a:off x="8359329" y="3432086"/>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a:45</a:t>
            </a:r>
          </a:p>
        </p:txBody>
      </p:sp>
      <p:grpSp>
        <p:nvGrpSpPr>
          <p:cNvPr id="9" name="Group 8"/>
          <p:cNvGrpSpPr/>
          <p:nvPr/>
        </p:nvGrpSpPr>
        <p:grpSpPr>
          <a:xfrm>
            <a:off x="2408549" y="3366113"/>
            <a:ext cx="2286000" cy="1828800"/>
            <a:chOff x="2408549" y="3366113"/>
            <a:chExt cx="2286000" cy="1828800"/>
          </a:xfrm>
        </p:grpSpPr>
        <p:sp>
          <p:nvSpPr>
            <p:cNvPr id="66" name="Rectangle 65"/>
            <p:cNvSpPr/>
            <p:nvPr/>
          </p:nvSpPr>
          <p:spPr>
            <a:xfrm>
              <a:off x="2408549" y="4721916"/>
              <a:ext cx="928468" cy="472997"/>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c:12</a:t>
              </a:r>
            </a:p>
          </p:txBody>
        </p:sp>
        <p:sp>
          <p:nvSpPr>
            <p:cNvPr id="67" name="Rectangle 66"/>
            <p:cNvSpPr/>
            <p:nvPr/>
          </p:nvSpPr>
          <p:spPr>
            <a:xfrm>
              <a:off x="3766081" y="4721916"/>
              <a:ext cx="928468" cy="472997"/>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b:13</a:t>
              </a:r>
            </a:p>
          </p:txBody>
        </p:sp>
        <p:sp>
          <p:nvSpPr>
            <p:cNvPr id="68" name="Oval 67"/>
            <p:cNvSpPr/>
            <p:nvPr/>
          </p:nvSpPr>
          <p:spPr>
            <a:xfrm>
              <a:off x="3097108" y="3366113"/>
              <a:ext cx="835622" cy="851395"/>
            </a:xfrm>
            <a:prstGeom prst="ellipse">
              <a:avLst/>
            </a:prstGeom>
            <a:solidFill>
              <a:schemeClr val="accent2">
                <a:lumMod val="20000"/>
                <a:lumOff val="80000"/>
              </a:schemeClr>
            </a:solid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25</a:t>
              </a:r>
            </a:p>
          </p:txBody>
        </p:sp>
        <p:cxnSp>
          <p:nvCxnSpPr>
            <p:cNvPr id="69" name="Straight Connector 68"/>
            <p:cNvCxnSpPr>
              <a:stCxn id="68" idx="3"/>
              <a:endCxn id="66" idx="0"/>
            </p:cNvCxnSpPr>
            <p:nvPr/>
          </p:nvCxnSpPr>
          <p:spPr>
            <a:xfrm flipH="1">
              <a:off x="2872783" y="4092824"/>
              <a:ext cx="346699" cy="62909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a:stCxn id="68" idx="5"/>
              <a:endCxn id="67" idx="0"/>
            </p:cNvCxnSpPr>
            <p:nvPr/>
          </p:nvCxnSpPr>
          <p:spPr>
            <a:xfrm>
              <a:off x="3810355" y="4092824"/>
              <a:ext cx="419959" cy="62909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2764984" y="4088581"/>
              <a:ext cx="371387" cy="472997"/>
            </a:xfrm>
            <a:prstGeom prst="rect">
              <a:avLst/>
            </a:prstGeom>
            <a:noFill/>
          </p:spPr>
          <p:txBody>
            <a:bodyPr wrap="square" rtlCol="0">
              <a:spAutoFit/>
            </a:bodyPr>
            <a:lstStyle/>
            <a:p>
              <a:r>
                <a:rPr lang="en-US" sz="2400" dirty="0">
                  <a:solidFill>
                    <a:srgbClr val="C00000"/>
                  </a:solidFill>
                </a:rPr>
                <a:t>0</a:t>
              </a:r>
            </a:p>
          </p:txBody>
        </p:sp>
        <p:sp>
          <p:nvSpPr>
            <p:cNvPr id="65" name="TextBox 64"/>
            <p:cNvSpPr txBox="1"/>
            <p:nvPr/>
          </p:nvSpPr>
          <p:spPr>
            <a:xfrm>
              <a:off x="3939223" y="4088581"/>
              <a:ext cx="371387" cy="472997"/>
            </a:xfrm>
            <a:prstGeom prst="rect">
              <a:avLst/>
            </a:prstGeom>
            <a:noFill/>
          </p:spPr>
          <p:txBody>
            <a:bodyPr wrap="square" rtlCol="0">
              <a:spAutoFit/>
            </a:bodyPr>
            <a:lstStyle/>
            <a:p>
              <a:r>
                <a:rPr lang="en-US" sz="2400" dirty="0">
                  <a:solidFill>
                    <a:srgbClr val="C00000"/>
                  </a:solidFill>
                </a:rPr>
                <a:t>1</a:t>
              </a:r>
            </a:p>
          </p:txBody>
        </p:sp>
      </p:grpSp>
      <p:grpSp>
        <p:nvGrpSpPr>
          <p:cNvPr id="10" name="Group 9"/>
          <p:cNvGrpSpPr/>
          <p:nvPr/>
        </p:nvGrpSpPr>
        <p:grpSpPr>
          <a:xfrm>
            <a:off x="4799574" y="3366113"/>
            <a:ext cx="3200400" cy="2743200"/>
            <a:chOff x="4799574" y="3366113"/>
            <a:chExt cx="3200400" cy="2743200"/>
          </a:xfrm>
        </p:grpSpPr>
        <p:sp>
          <p:nvSpPr>
            <p:cNvPr id="53" name="TextBox 52"/>
            <p:cNvSpPr txBox="1"/>
            <p:nvPr/>
          </p:nvSpPr>
          <p:spPr>
            <a:xfrm>
              <a:off x="5145427" y="5113566"/>
              <a:ext cx="363954" cy="429318"/>
            </a:xfrm>
            <a:prstGeom prst="rect">
              <a:avLst/>
            </a:prstGeom>
            <a:noFill/>
          </p:spPr>
          <p:txBody>
            <a:bodyPr wrap="square" rtlCol="0">
              <a:spAutoFit/>
            </a:bodyPr>
            <a:lstStyle/>
            <a:p>
              <a:r>
                <a:rPr lang="en-US" sz="2400" dirty="0">
                  <a:solidFill>
                    <a:srgbClr val="C00000"/>
                  </a:solidFill>
                </a:rPr>
                <a:t>0</a:t>
              </a:r>
            </a:p>
          </p:txBody>
        </p:sp>
        <p:sp>
          <p:nvSpPr>
            <p:cNvPr id="54" name="TextBox 53"/>
            <p:cNvSpPr txBox="1"/>
            <p:nvPr/>
          </p:nvSpPr>
          <p:spPr>
            <a:xfrm>
              <a:off x="6296164" y="5113566"/>
              <a:ext cx="363954" cy="429318"/>
            </a:xfrm>
            <a:prstGeom prst="rect">
              <a:avLst/>
            </a:prstGeom>
            <a:noFill/>
          </p:spPr>
          <p:txBody>
            <a:bodyPr wrap="square" rtlCol="0">
              <a:spAutoFit/>
            </a:bodyPr>
            <a:lstStyle/>
            <a:p>
              <a:r>
                <a:rPr lang="en-US" sz="2400" dirty="0">
                  <a:solidFill>
                    <a:srgbClr val="C00000"/>
                  </a:solidFill>
                </a:rPr>
                <a:t>1</a:t>
              </a:r>
            </a:p>
          </p:txBody>
        </p:sp>
        <p:sp>
          <p:nvSpPr>
            <p:cNvPr id="60" name="Rectangle 59"/>
            <p:cNvSpPr/>
            <p:nvPr/>
          </p:nvSpPr>
          <p:spPr>
            <a:xfrm>
              <a:off x="7090089" y="4593353"/>
              <a:ext cx="909885" cy="429318"/>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d:16</a:t>
              </a:r>
            </a:p>
          </p:txBody>
        </p:sp>
        <p:sp>
          <p:nvSpPr>
            <p:cNvPr id="55" name="Rectangle 54"/>
            <p:cNvSpPr/>
            <p:nvPr/>
          </p:nvSpPr>
          <p:spPr>
            <a:xfrm>
              <a:off x="4799574" y="5679995"/>
              <a:ext cx="909885" cy="429318"/>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f:5</a:t>
              </a:r>
            </a:p>
          </p:txBody>
        </p:sp>
        <p:sp>
          <p:nvSpPr>
            <p:cNvPr id="56" name="Rectangle 55"/>
            <p:cNvSpPr/>
            <p:nvPr/>
          </p:nvSpPr>
          <p:spPr>
            <a:xfrm>
              <a:off x="6088578" y="5679995"/>
              <a:ext cx="909885" cy="429318"/>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e:9</a:t>
              </a:r>
            </a:p>
          </p:txBody>
        </p:sp>
        <p:sp>
          <p:nvSpPr>
            <p:cNvPr id="57" name="Oval 56"/>
            <p:cNvSpPr/>
            <p:nvPr/>
          </p:nvSpPr>
          <p:spPr>
            <a:xfrm>
              <a:off x="5448602" y="4474648"/>
              <a:ext cx="818896" cy="772772"/>
            </a:xfrm>
            <a:prstGeom prst="ellipse">
              <a:avLst/>
            </a:prstGeom>
            <a:solidFill>
              <a:schemeClr val="accent2">
                <a:lumMod val="20000"/>
                <a:lumOff val="80000"/>
              </a:schemeClr>
            </a:solid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14</a:t>
              </a:r>
            </a:p>
          </p:txBody>
        </p:sp>
        <p:cxnSp>
          <p:nvCxnSpPr>
            <p:cNvPr id="58" name="Straight Connector 57"/>
            <p:cNvCxnSpPr>
              <a:stCxn id="57" idx="3"/>
              <a:endCxn id="55" idx="0"/>
            </p:cNvCxnSpPr>
            <p:nvPr/>
          </p:nvCxnSpPr>
          <p:spPr>
            <a:xfrm flipH="1">
              <a:off x="5254516" y="5134250"/>
              <a:ext cx="314011" cy="54574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57" idx="5"/>
              <a:endCxn id="56" idx="0"/>
            </p:cNvCxnSpPr>
            <p:nvPr/>
          </p:nvCxnSpPr>
          <p:spPr>
            <a:xfrm>
              <a:off x="6147574" y="5134250"/>
              <a:ext cx="395946" cy="54574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Oval 70"/>
            <p:cNvSpPr/>
            <p:nvPr/>
          </p:nvSpPr>
          <p:spPr>
            <a:xfrm>
              <a:off x="6205695" y="3366113"/>
              <a:ext cx="818896" cy="772772"/>
            </a:xfrm>
            <a:prstGeom prst="ellipse">
              <a:avLst/>
            </a:prstGeom>
            <a:solidFill>
              <a:schemeClr val="accent2">
                <a:lumMod val="20000"/>
                <a:lumOff val="80000"/>
              </a:schemeClr>
            </a:solid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30</a:t>
              </a:r>
            </a:p>
          </p:txBody>
        </p:sp>
        <p:cxnSp>
          <p:nvCxnSpPr>
            <p:cNvPr id="72" name="Straight Connector 71"/>
            <p:cNvCxnSpPr>
              <a:stCxn id="71" idx="3"/>
              <a:endCxn id="57" idx="0"/>
            </p:cNvCxnSpPr>
            <p:nvPr/>
          </p:nvCxnSpPr>
          <p:spPr>
            <a:xfrm flipH="1">
              <a:off x="5858051" y="4025715"/>
              <a:ext cx="467569" cy="44893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71" idx="5"/>
              <a:endCxn id="60" idx="0"/>
            </p:cNvCxnSpPr>
            <p:nvPr/>
          </p:nvCxnSpPr>
          <p:spPr>
            <a:xfrm>
              <a:off x="6904666" y="4025715"/>
              <a:ext cx="640365" cy="5676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TextBox 79"/>
            <p:cNvSpPr txBox="1"/>
            <p:nvPr/>
          </p:nvSpPr>
          <p:spPr>
            <a:xfrm>
              <a:off x="5782235" y="3939988"/>
              <a:ext cx="328108" cy="461665"/>
            </a:xfrm>
            <a:prstGeom prst="rect">
              <a:avLst/>
            </a:prstGeom>
            <a:noFill/>
          </p:spPr>
          <p:txBody>
            <a:bodyPr wrap="square" rtlCol="0">
              <a:spAutoFit/>
            </a:bodyPr>
            <a:lstStyle/>
            <a:p>
              <a:r>
                <a:rPr lang="en-US" sz="2400" dirty="0">
                  <a:solidFill>
                    <a:srgbClr val="C00000"/>
                  </a:solidFill>
                </a:rPr>
                <a:t>0</a:t>
              </a:r>
            </a:p>
          </p:txBody>
        </p:sp>
        <p:sp>
          <p:nvSpPr>
            <p:cNvPr id="81" name="TextBox 80"/>
            <p:cNvSpPr txBox="1"/>
            <p:nvPr/>
          </p:nvSpPr>
          <p:spPr>
            <a:xfrm>
              <a:off x="7129629" y="3922306"/>
              <a:ext cx="365760" cy="457200"/>
            </a:xfrm>
            <a:prstGeom prst="rect">
              <a:avLst/>
            </a:prstGeom>
            <a:noFill/>
          </p:spPr>
          <p:txBody>
            <a:bodyPr wrap="square" rtlCol="0">
              <a:spAutoFit/>
            </a:bodyPr>
            <a:lstStyle/>
            <a:p>
              <a:r>
                <a:rPr lang="en-US" sz="2400" dirty="0">
                  <a:solidFill>
                    <a:srgbClr val="C00000"/>
                  </a:solidFill>
                </a:rPr>
                <a:t>1</a:t>
              </a:r>
            </a:p>
          </p:txBody>
        </p:sp>
      </p:grpSp>
      <p:sp>
        <p:nvSpPr>
          <p:cNvPr id="74" name="TextBox 73"/>
          <p:cNvSpPr txBox="1"/>
          <p:nvPr/>
        </p:nvSpPr>
        <p:spPr>
          <a:xfrm>
            <a:off x="3808201" y="2604489"/>
            <a:ext cx="365760" cy="457200"/>
          </a:xfrm>
          <a:prstGeom prst="rect">
            <a:avLst/>
          </a:prstGeom>
          <a:noFill/>
        </p:spPr>
        <p:txBody>
          <a:bodyPr wrap="square" rtlCol="0">
            <a:spAutoFit/>
          </a:bodyPr>
          <a:lstStyle/>
          <a:p>
            <a:r>
              <a:rPr lang="en-US" sz="2400" dirty="0">
                <a:solidFill>
                  <a:srgbClr val="C00000"/>
                </a:solidFill>
              </a:rPr>
              <a:t>0</a:t>
            </a:r>
          </a:p>
        </p:txBody>
      </p:sp>
      <p:sp>
        <p:nvSpPr>
          <p:cNvPr id="75" name="TextBox 74"/>
          <p:cNvSpPr txBox="1"/>
          <p:nvPr/>
        </p:nvSpPr>
        <p:spPr>
          <a:xfrm>
            <a:off x="6040413" y="2631383"/>
            <a:ext cx="365760" cy="457200"/>
          </a:xfrm>
          <a:prstGeom prst="rect">
            <a:avLst/>
          </a:prstGeom>
          <a:noFill/>
        </p:spPr>
        <p:txBody>
          <a:bodyPr wrap="square" rtlCol="0">
            <a:spAutoFit/>
          </a:bodyPr>
          <a:lstStyle/>
          <a:p>
            <a:r>
              <a:rPr lang="en-US" sz="2400" dirty="0">
                <a:solidFill>
                  <a:srgbClr val="C00000"/>
                </a:solidFill>
              </a:rPr>
              <a:t>1</a:t>
            </a:r>
          </a:p>
        </p:txBody>
      </p:sp>
    </p:spTree>
    <p:extLst>
      <p:ext uri="{BB962C8B-B14F-4D97-AF65-F5344CB8AC3E}">
        <p14:creationId xmlns:p14="http://schemas.microsoft.com/office/powerpoint/2010/main" val="2885683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1500"/>
                                        <p:tgtEl>
                                          <p:spTgt spid="9"/>
                                        </p:tgtEl>
                                      </p:cBhvr>
                                    </p:animEffect>
                                  </p:childTnLst>
                                </p:cTn>
                              </p:par>
                              <p:par>
                                <p:cTn id="13" presetID="22" presetClass="entr" presetSubtype="4"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down)">
                                      <p:cBhvr>
                                        <p:cTn id="15" dur="1500"/>
                                        <p:tgtEl>
                                          <p:spTgt spid="10"/>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61"/>
                                        </p:tgtEl>
                                        <p:attrNameLst>
                                          <p:attrName>style.visibility</p:attrName>
                                        </p:attrNameLst>
                                      </p:cBhvr>
                                      <p:to>
                                        <p:strVal val="visible"/>
                                      </p:to>
                                    </p:set>
                                    <p:animEffect transition="in" filter="wipe(down)">
                                      <p:cBhvr>
                                        <p:cTn id="18" dur="1500"/>
                                        <p:tgtEl>
                                          <p:spTgt spid="6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6"/>
                                        </p:tgtEl>
                                        <p:attrNameLst>
                                          <p:attrName>style.visibility</p:attrName>
                                        </p:attrNameLst>
                                      </p:cBhvr>
                                      <p:to>
                                        <p:strVal val="visible"/>
                                      </p:to>
                                    </p:set>
                                    <p:animEffect transition="in" filter="fade">
                                      <p:cBhvr>
                                        <p:cTn id="23" dur="500"/>
                                        <p:tgtEl>
                                          <p:spTgt spid="4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47"/>
                                        </p:tgtEl>
                                        <p:attrNameLst>
                                          <p:attrName>style.visibility</p:attrName>
                                        </p:attrNameLst>
                                      </p:cBhvr>
                                      <p:to>
                                        <p:strVal val="visible"/>
                                      </p:to>
                                    </p:set>
                                    <p:animEffect transition="in" filter="wipe(up)">
                                      <p:cBhvr>
                                        <p:cTn id="28" dur="500"/>
                                        <p:tgtEl>
                                          <p:spTgt spid="47"/>
                                        </p:tgtEl>
                                      </p:cBhvr>
                                    </p:animEffect>
                                  </p:childTnLst>
                                </p:cTn>
                              </p:par>
                              <p:par>
                                <p:cTn id="29" presetID="22" presetClass="entr" presetSubtype="1" fill="hold" nodeType="with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wipe(up)">
                                      <p:cBhvr>
                                        <p:cTn id="31" dur="500"/>
                                        <p:tgtEl>
                                          <p:spTgt spid="48"/>
                                        </p:tgtEl>
                                      </p:cBhvr>
                                    </p:animEffect>
                                  </p:childTnLst>
                                </p:cTn>
                              </p:par>
                            </p:childTnLst>
                          </p:cTn>
                        </p:par>
                      </p:childTnLst>
                    </p:cTn>
                  </p:par>
                  <p:par>
                    <p:cTn id="32" fill="hold">
                      <p:stCondLst>
                        <p:cond delay="indefinite"/>
                      </p:stCondLst>
                      <p:childTnLst>
                        <p:par>
                          <p:cTn id="33" fill="hold">
                            <p:stCondLst>
                              <p:cond delay="0"/>
                            </p:stCondLst>
                            <p:childTnLst>
                              <p:par>
                                <p:cTn id="34" presetID="64" presetClass="path" presetSubtype="0" accel="50000" decel="50000" fill="hold" grpId="1" nodeType="clickEffect">
                                  <p:stCondLst>
                                    <p:cond delay="0"/>
                                  </p:stCondLst>
                                  <p:childTnLst>
                                    <p:animMotion origin="layout" path="M 2.91667E-6 3.7037E-6 L -0.5125 -0.23774 " pathEditMode="relative" rAng="0" ptsTypes="AA">
                                      <p:cBhvr>
                                        <p:cTn id="35" dur="2000" fill="hold"/>
                                        <p:tgtEl>
                                          <p:spTgt spid="61"/>
                                        </p:tgtEl>
                                        <p:attrNameLst>
                                          <p:attrName>ppt_x</p:attrName>
                                          <p:attrName>ppt_y</p:attrName>
                                        </p:attrNameLst>
                                      </p:cBhvr>
                                      <p:rCtr x="-25625" y="-11898"/>
                                    </p:animMotion>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75"/>
                                        </p:tgtEl>
                                        <p:attrNameLst>
                                          <p:attrName>style.visibility</p:attrName>
                                        </p:attrNameLst>
                                      </p:cBhvr>
                                      <p:to>
                                        <p:strVal val="visible"/>
                                      </p:to>
                                    </p:set>
                                    <p:animEffect transition="in" filter="fade">
                                      <p:cBhvr>
                                        <p:cTn id="40" dur="500"/>
                                        <p:tgtEl>
                                          <p:spTgt spid="7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74"/>
                                        </p:tgtEl>
                                        <p:attrNameLst>
                                          <p:attrName>style.visibility</p:attrName>
                                        </p:attrNameLst>
                                      </p:cBhvr>
                                      <p:to>
                                        <p:strVal val="visible"/>
                                      </p:to>
                                    </p:set>
                                    <p:animEffect transition="in" filter="fade">
                                      <p:cBhvr>
                                        <p:cTn id="43"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6" grpId="0" animBg="1"/>
      <p:bldP spid="61" grpId="0" animBg="1"/>
      <p:bldP spid="61" grpId="1" animBg="1"/>
      <p:bldP spid="74" grpId="0"/>
      <p:bldP spid="7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Huffman Codes - Example</a:t>
            </a:r>
          </a:p>
        </p:txBody>
      </p:sp>
      <p:sp>
        <p:nvSpPr>
          <p:cNvPr id="4" name="Rectangle 3"/>
          <p:cNvSpPr/>
          <p:nvPr/>
        </p:nvSpPr>
        <p:spPr>
          <a:xfrm>
            <a:off x="473529" y="990600"/>
            <a:ext cx="1097280" cy="4572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D1457"/>
                </a:solidFill>
              </a:rPr>
              <a:t>Step 7: </a:t>
            </a:r>
          </a:p>
        </p:txBody>
      </p:sp>
      <p:sp>
        <p:nvSpPr>
          <p:cNvPr id="61" name="Rectangle 60"/>
          <p:cNvSpPr/>
          <p:nvPr/>
        </p:nvSpPr>
        <p:spPr>
          <a:xfrm>
            <a:off x="2603985" y="2114273"/>
            <a:ext cx="914400" cy="457200"/>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a:45</a:t>
            </a:r>
          </a:p>
        </p:txBody>
      </p:sp>
      <p:grpSp>
        <p:nvGrpSpPr>
          <p:cNvPr id="9" name="Group 8"/>
          <p:cNvGrpSpPr/>
          <p:nvPr/>
        </p:nvGrpSpPr>
        <p:grpSpPr>
          <a:xfrm>
            <a:off x="2973323" y="3688841"/>
            <a:ext cx="2286000" cy="1828800"/>
            <a:chOff x="2408549" y="3366113"/>
            <a:chExt cx="2286000" cy="1828800"/>
          </a:xfrm>
        </p:grpSpPr>
        <p:sp>
          <p:nvSpPr>
            <p:cNvPr id="66" name="Rectangle 65"/>
            <p:cNvSpPr/>
            <p:nvPr/>
          </p:nvSpPr>
          <p:spPr>
            <a:xfrm>
              <a:off x="2408549" y="4721916"/>
              <a:ext cx="928468" cy="472997"/>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c:12</a:t>
              </a:r>
            </a:p>
          </p:txBody>
        </p:sp>
        <p:sp>
          <p:nvSpPr>
            <p:cNvPr id="67" name="Rectangle 66"/>
            <p:cNvSpPr/>
            <p:nvPr/>
          </p:nvSpPr>
          <p:spPr>
            <a:xfrm>
              <a:off x="3766081" y="4721916"/>
              <a:ext cx="928468" cy="472997"/>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b:13</a:t>
              </a:r>
            </a:p>
          </p:txBody>
        </p:sp>
        <p:sp>
          <p:nvSpPr>
            <p:cNvPr id="68" name="Oval 67"/>
            <p:cNvSpPr/>
            <p:nvPr/>
          </p:nvSpPr>
          <p:spPr>
            <a:xfrm>
              <a:off x="3097108" y="3366113"/>
              <a:ext cx="835622" cy="851395"/>
            </a:xfrm>
            <a:prstGeom prst="ellipse">
              <a:avLst/>
            </a:prstGeom>
            <a:solidFill>
              <a:schemeClr val="accent2">
                <a:lumMod val="20000"/>
                <a:lumOff val="80000"/>
              </a:schemeClr>
            </a:solid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25</a:t>
              </a:r>
            </a:p>
          </p:txBody>
        </p:sp>
        <p:cxnSp>
          <p:nvCxnSpPr>
            <p:cNvPr id="69" name="Straight Connector 68"/>
            <p:cNvCxnSpPr>
              <a:stCxn id="68" idx="3"/>
              <a:endCxn id="66" idx="0"/>
            </p:cNvCxnSpPr>
            <p:nvPr/>
          </p:nvCxnSpPr>
          <p:spPr>
            <a:xfrm flipH="1">
              <a:off x="2872783" y="4092824"/>
              <a:ext cx="346699" cy="62909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a:stCxn id="68" idx="5"/>
              <a:endCxn id="67" idx="0"/>
            </p:cNvCxnSpPr>
            <p:nvPr/>
          </p:nvCxnSpPr>
          <p:spPr>
            <a:xfrm>
              <a:off x="3810355" y="4092824"/>
              <a:ext cx="419959" cy="62909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2764984" y="4088581"/>
              <a:ext cx="371387" cy="472997"/>
            </a:xfrm>
            <a:prstGeom prst="rect">
              <a:avLst/>
            </a:prstGeom>
            <a:noFill/>
          </p:spPr>
          <p:txBody>
            <a:bodyPr wrap="square" rtlCol="0">
              <a:spAutoFit/>
            </a:bodyPr>
            <a:lstStyle/>
            <a:p>
              <a:r>
                <a:rPr lang="en-US" sz="2400" dirty="0">
                  <a:solidFill>
                    <a:srgbClr val="C00000"/>
                  </a:solidFill>
                </a:rPr>
                <a:t>0</a:t>
              </a:r>
            </a:p>
          </p:txBody>
        </p:sp>
        <p:sp>
          <p:nvSpPr>
            <p:cNvPr id="65" name="TextBox 64"/>
            <p:cNvSpPr txBox="1"/>
            <p:nvPr/>
          </p:nvSpPr>
          <p:spPr>
            <a:xfrm>
              <a:off x="3939223" y="4088581"/>
              <a:ext cx="371387" cy="472997"/>
            </a:xfrm>
            <a:prstGeom prst="rect">
              <a:avLst/>
            </a:prstGeom>
            <a:noFill/>
          </p:spPr>
          <p:txBody>
            <a:bodyPr wrap="square" rtlCol="0">
              <a:spAutoFit/>
            </a:bodyPr>
            <a:lstStyle/>
            <a:p>
              <a:r>
                <a:rPr lang="en-US" sz="2400" dirty="0">
                  <a:solidFill>
                    <a:srgbClr val="C00000"/>
                  </a:solidFill>
                </a:rPr>
                <a:t>1</a:t>
              </a:r>
            </a:p>
          </p:txBody>
        </p:sp>
      </p:grpSp>
      <p:grpSp>
        <p:nvGrpSpPr>
          <p:cNvPr id="10" name="Group 9"/>
          <p:cNvGrpSpPr/>
          <p:nvPr/>
        </p:nvGrpSpPr>
        <p:grpSpPr>
          <a:xfrm>
            <a:off x="5364348" y="3688841"/>
            <a:ext cx="3200400" cy="2743200"/>
            <a:chOff x="4799574" y="3366113"/>
            <a:chExt cx="3200400" cy="2743200"/>
          </a:xfrm>
        </p:grpSpPr>
        <p:sp>
          <p:nvSpPr>
            <p:cNvPr id="53" name="TextBox 52"/>
            <p:cNvSpPr txBox="1"/>
            <p:nvPr/>
          </p:nvSpPr>
          <p:spPr>
            <a:xfrm>
              <a:off x="5145427" y="5113566"/>
              <a:ext cx="363954" cy="429318"/>
            </a:xfrm>
            <a:prstGeom prst="rect">
              <a:avLst/>
            </a:prstGeom>
            <a:noFill/>
          </p:spPr>
          <p:txBody>
            <a:bodyPr wrap="square" rtlCol="0">
              <a:spAutoFit/>
            </a:bodyPr>
            <a:lstStyle/>
            <a:p>
              <a:r>
                <a:rPr lang="en-US" sz="2400" dirty="0">
                  <a:solidFill>
                    <a:srgbClr val="C00000"/>
                  </a:solidFill>
                </a:rPr>
                <a:t>0</a:t>
              </a:r>
            </a:p>
          </p:txBody>
        </p:sp>
        <p:sp>
          <p:nvSpPr>
            <p:cNvPr id="54" name="TextBox 53"/>
            <p:cNvSpPr txBox="1"/>
            <p:nvPr/>
          </p:nvSpPr>
          <p:spPr>
            <a:xfrm>
              <a:off x="6296164" y="5113566"/>
              <a:ext cx="363954" cy="429318"/>
            </a:xfrm>
            <a:prstGeom prst="rect">
              <a:avLst/>
            </a:prstGeom>
            <a:noFill/>
          </p:spPr>
          <p:txBody>
            <a:bodyPr wrap="square" rtlCol="0">
              <a:spAutoFit/>
            </a:bodyPr>
            <a:lstStyle/>
            <a:p>
              <a:r>
                <a:rPr lang="en-US" sz="2400" dirty="0">
                  <a:solidFill>
                    <a:srgbClr val="C00000"/>
                  </a:solidFill>
                </a:rPr>
                <a:t>1</a:t>
              </a:r>
            </a:p>
          </p:txBody>
        </p:sp>
        <p:sp>
          <p:nvSpPr>
            <p:cNvPr id="60" name="Rectangle 59"/>
            <p:cNvSpPr/>
            <p:nvPr/>
          </p:nvSpPr>
          <p:spPr>
            <a:xfrm>
              <a:off x="7090089" y="4593353"/>
              <a:ext cx="909885" cy="429318"/>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d:16</a:t>
              </a:r>
            </a:p>
          </p:txBody>
        </p:sp>
        <p:sp>
          <p:nvSpPr>
            <p:cNvPr id="55" name="Rectangle 54"/>
            <p:cNvSpPr/>
            <p:nvPr/>
          </p:nvSpPr>
          <p:spPr>
            <a:xfrm>
              <a:off x="4799574" y="5679995"/>
              <a:ext cx="909885" cy="429318"/>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f:5</a:t>
              </a:r>
            </a:p>
          </p:txBody>
        </p:sp>
        <p:sp>
          <p:nvSpPr>
            <p:cNvPr id="56" name="Rectangle 55"/>
            <p:cNvSpPr/>
            <p:nvPr/>
          </p:nvSpPr>
          <p:spPr>
            <a:xfrm>
              <a:off x="6088578" y="5679995"/>
              <a:ext cx="909885" cy="429318"/>
            </a:xfrm>
            <a:prstGeom prst="rect">
              <a:avLst/>
            </a:prstGeom>
            <a:solidFill>
              <a:schemeClr val="accent2">
                <a:lumMod val="20000"/>
                <a:lumOff val="80000"/>
              </a:schemeClr>
            </a:solidFill>
            <a:ln>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e:9</a:t>
              </a:r>
            </a:p>
          </p:txBody>
        </p:sp>
        <p:sp>
          <p:nvSpPr>
            <p:cNvPr id="57" name="Oval 56"/>
            <p:cNvSpPr/>
            <p:nvPr/>
          </p:nvSpPr>
          <p:spPr>
            <a:xfrm>
              <a:off x="5448602" y="4474648"/>
              <a:ext cx="818896" cy="772772"/>
            </a:xfrm>
            <a:prstGeom prst="ellipse">
              <a:avLst/>
            </a:prstGeom>
            <a:solidFill>
              <a:schemeClr val="accent2">
                <a:lumMod val="20000"/>
                <a:lumOff val="80000"/>
              </a:schemeClr>
            </a:solid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14</a:t>
              </a:r>
            </a:p>
          </p:txBody>
        </p:sp>
        <p:cxnSp>
          <p:nvCxnSpPr>
            <p:cNvPr id="58" name="Straight Connector 57"/>
            <p:cNvCxnSpPr>
              <a:stCxn id="57" idx="3"/>
              <a:endCxn id="55" idx="0"/>
            </p:cNvCxnSpPr>
            <p:nvPr/>
          </p:nvCxnSpPr>
          <p:spPr>
            <a:xfrm flipH="1">
              <a:off x="5254516" y="5134250"/>
              <a:ext cx="314011" cy="54574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57" idx="5"/>
              <a:endCxn id="56" idx="0"/>
            </p:cNvCxnSpPr>
            <p:nvPr/>
          </p:nvCxnSpPr>
          <p:spPr>
            <a:xfrm>
              <a:off x="6147574" y="5134250"/>
              <a:ext cx="395946" cy="54574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Oval 70"/>
            <p:cNvSpPr/>
            <p:nvPr/>
          </p:nvSpPr>
          <p:spPr>
            <a:xfrm>
              <a:off x="6205695" y="3366113"/>
              <a:ext cx="818896" cy="772772"/>
            </a:xfrm>
            <a:prstGeom prst="ellipse">
              <a:avLst/>
            </a:prstGeom>
            <a:solidFill>
              <a:schemeClr val="accent2">
                <a:lumMod val="20000"/>
                <a:lumOff val="80000"/>
              </a:schemeClr>
            </a:solid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30</a:t>
              </a:r>
            </a:p>
          </p:txBody>
        </p:sp>
        <p:cxnSp>
          <p:nvCxnSpPr>
            <p:cNvPr id="72" name="Straight Connector 71"/>
            <p:cNvCxnSpPr>
              <a:stCxn id="71" idx="3"/>
              <a:endCxn id="57" idx="0"/>
            </p:cNvCxnSpPr>
            <p:nvPr/>
          </p:nvCxnSpPr>
          <p:spPr>
            <a:xfrm flipH="1">
              <a:off x="5858051" y="4025715"/>
              <a:ext cx="467569" cy="44893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71" idx="5"/>
              <a:endCxn id="60" idx="0"/>
            </p:cNvCxnSpPr>
            <p:nvPr/>
          </p:nvCxnSpPr>
          <p:spPr>
            <a:xfrm>
              <a:off x="6904666" y="4025715"/>
              <a:ext cx="640365" cy="5676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TextBox 79"/>
            <p:cNvSpPr txBox="1"/>
            <p:nvPr/>
          </p:nvSpPr>
          <p:spPr>
            <a:xfrm>
              <a:off x="5782235" y="3939988"/>
              <a:ext cx="328108" cy="461665"/>
            </a:xfrm>
            <a:prstGeom prst="rect">
              <a:avLst/>
            </a:prstGeom>
            <a:noFill/>
          </p:spPr>
          <p:txBody>
            <a:bodyPr wrap="square" rtlCol="0">
              <a:spAutoFit/>
            </a:bodyPr>
            <a:lstStyle/>
            <a:p>
              <a:r>
                <a:rPr lang="en-US" sz="2400" dirty="0">
                  <a:solidFill>
                    <a:srgbClr val="C00000"/>
                  </a:solidFill>
                </a:rPr>
                <a:t>0</a:t>
              </a:r>
            </a:p>
          </p:txBody>
        </p:sp>
        <p:sp>
          <p:nvSpPr>
            <p:cNvPr id="81" name="TextBox 80"/>
            <p:cNvSpPr txBox="1"/>
            <p:nvPr/>
          </p:nvSpPr>
          <p:spPr>
            <a:xfrm>
              <a:off x="7129629" y="3922306"/>
              <a:ext cx="365760" cy="457200"/>
            </a:xfrm>
            <a:prstGeom prst="rect">
              <a:avLst/>
            </a:prstGeom>
            <a:noFill/>
          </p:spPr>
          <p:txBody>
            <a:bodyPr wrap="square" rtlCol="0">
              <a:spAutoFit/>
            </a:bodyPr>
            <a:lstStyle/>
            <a:p>
              <a:r>
                <a:rPr lang="en-US" sz="2400" dirty="0">
                  <a:solidFill>
                    <a:srgbClr val="C00000"/>
                  </a:solidFill>
                </a:rPr>
                <a:t>1</a:t>
              </a:r>
            </a:p>
          </p:txBody>
        </p:sp>
      </p:grpSp>
      <p:grpSp>
        <p:nvGrpSpPr>
          <p:cNvPr id="3" name="Group 2"/>
          <p:cNvGrpSpPr/>
          <p:nvPr/>
        </p:nvGrpSpPr>
        <p:grpSpPr>
          <a:xfrm>
            <a:off x="4079693" y="2015379"/>
            <a:ext cx="3100224" cy="1673462"/>
            <a:chOff x="3514919" y="1692651"/>
            <a:chExt cx="3100224" cy="1673462"/>
          </a:xfrm>
        </p:grpSpPr>
        <p:sp>
          <p:nvSpPr>
            <p:cNvPr id="46" name="Oval 45"/>
            <p:cNvSpPr/>
            <p:nvPr/>
          </p:nvSpPr>
          <p:spPr>
            <a:xfrm>
              <a:off x="4674457" y="1692651"/>
              <a:ext cx="822960" cy="822960"/>
            </a:xfrm>
            <a:prstGeom prst="ellipse">
              <a:avLst/>
            </a:prstGeom>
            <a:solidFill>
              <a:schemeClr val="accent2">
                <a:lumMod val="20000"/>
                <a:lumOff val="80000"/>
              </a:schemeClr>
            </a:solid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55</a:t>
              </a:r>
            </a:p>
          </p:txBody>
        </p:sp>
        <p:cxnSp>
          <p:nvCxnSpPr>
            <p:cNvPr id="47" name="Straight Connector 46"/>
            <p:cNvCxnSpPr>
              <a:stCxn id="46" idx="3"/>
              <a:endCxn id="68" idx="0"/>
            </p:cNvCxnSpPr>
            <p:nvPr/>
          </p:nvCxnSpPr>
          <p:spPr>
            <a:xfrm flipH="1">
              <a:off x="3514919" y="2395091"/>
              <a:ext cx="1280058" cy="97102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46" idx="5"/>
              <a:endCxn id="71" idx="0"/>
            </p:cNvCxnSpPr>
            <p:nvPr/>
          </p:nvCxnSpPr>
          <p:spPr>
            <a:xfrm>
              <a:off x="5376897" y="2395091"/>
              <a:ext cx="1238246" cy="97102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TextBox 73"/>
            <p:cNvSpPr txBox="1"/>
            <p:nvPr/>
          </p:nvSpPr>
          <p:spPr>
            <a:xfrm>
              <a:off x="3808201" y="2604489"/>
              <a:ext cx="365760" cy="457200"/>
            </a:xfrm>
            <a:prstGeom prst="rect">
              <a:avLst/>
            </a:prstGeom>
            <a:noFill/>
          </p:spPr>
          <p:txBody>
            <a:bodyPr wrap="square" rtlCol="0">
              <a:spAutoFit/>
            </a:bodyPr>
            <a:lstStyle/>
            <a:p>
              <a:r>
                <a:rPr lang="en-US" sz="2400" dirty="0">
                  <a:solidFill>
                    <a:srgbClr val="C00000"/>
                  </a:solidFill>
                </a:rPr>
                <a:t>0</a:t>
              </a:r>
            </a:p>
          </p:txBody>
        </p:sp>
        <p:sp>
          <p:nvSpPr>
            <p:cNvPr id="75" name="TextBox 74"/>
            <p:cNvSpPr txBox="1"/>
            <p:nvPr/>
          </p:nvSpPr>
          <p:spPr>
            <a:xfrm>
              <a:off x="6040413" y="2631383"/>
              <a:ext cx="365760" cy="457200"/>
            </a:xfrm>
            <a:prstGeom prst="rect">
              <a:avLst/>
            </a:prstGeom>
            <a:noFill/>
          </p:spPr>
          <p:txBody>
            <a:bodyPr wrap="square" rtlCol="0">
              <a:spAutoFit/>
            </a:bodyPr>
            <a:lstStyle/>
            <a:p>
              <a:r>
                <a:rPr lang="en-US" sz="2400" dirty="0">
                  <a:solidFill>
                    <a:srgbClr val="C00000"/>
                  </a:solidFill>
                </a:rPr>
                <a:t>1</a:t>
              </a:r>
            </a:p>
          </p:txBody>
        </p:sp>
      </p:grpSp>
      <p:sp>
        <p:nvSpPr>
          <p:cNvPr id="33" name="Oval 32"/>
          <p:cNvSpPr/>
          <p:nvPr/>
        </p:nvSpPr>
        <p:spPr>
          <a:xfrm>
            <a:off x="3961764" y="751356"/>
            <a:ext cx="914400" cy="914400"/>
          </a:xfrm>
          <a:prstGeom prst="ellipse">
            <a:avLst/>
          </a:prstGeom>
          <a:solidFill>
            <a:schemeClr val="accent2">
              <a:lumMod val="20000"/>
              <a:lumOff val="80000"/>
            </a:schemeClr>
          </a:solidFill>
          <a:ln w="28575">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100</a:t>
            </a:r>
          </a:p>
        </p:txBody>
      </p:sp>
      <p:cxnSp>
        <p:nvCxnSpPr>
          <p:cNvPr id="34" name="Straight Connector 33"/>
          <p:cNvCxnSpPr>
            <a:stCxn id="33" idx="3"/>
            <a:endCxn id="61" idx="0"/>
          </p:cNvCxnSpPr>
          <p:nvPr/>
        </p:nvCxnSpPr>
        <p:spPr>
          <a:xfrm flipH="1">
            <a:off x="3061185" y="1531845"/>
            <a:ext cx="1034490" cy="58242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33" idx="5"/>
            <a:endCxn id="46" idx="0"/>
          </p:cNvCxnSpPr>
          <p:nvPr/>
        </p:nvCxnSpPr>
        <p:spPr>
          <a:xfrm>
            <a:off x="4742253" y="1531845"/>
            <a:ext cx="908458" cy="48353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3324107" y="1461489"/>
            <a:ext cx="365760" cy="457200"/>
          </a:xfrm>
          <a:prstGeom prst="rect">
            <a:avLst/>
          </a:prstGeom>
          <a:noFill/>
        </p:spPr>
        <p:txBody>
          <a:bodyPr wrap="square" rtlCol="0">
            <a:spAutoFit/>
          </a:bodyPr>
          <a:lstStyle/>
          <a:p>
            <a:r>
              <a:rPr lang="en-US" sz="2400" dirty="0">
                <a:solidFill>
                  <a:srgbClr val="C00000"/>
                </a:solidFill>
              </a:rPr>
              <a:t>0</a:t>
            </a:r>
          </a:p>
        </p:txBody>
      </p:sp>
      <p:sp>
        <p:nvSpPr>
          <p:cNvPr id="39" name="TextBox 38"/>
          <p:cNvSpPr txBox="1"/>
          <p:nvPr/>
        </p:nvSpPr>
        <p:spPr>
          <a:xfrm>
            <a:off x="5193249" y="1461490"/>
            <a:ext cx="365760" cy="457200"/>
          </a:xfrm>
          <a:prstGeom prst="rect">
            <a:avLst/>
          </a:prstGeom>
          <a:noFill/>
        </p:spPr>
        <p:txBody>
          <a:bodyPr wrap="square" rtlCol="0">
            <a:spAutoFit/>
          </a:bodyPr>
          <a:lstStyle/>
          <a:p>
            <a:r>
              <a:rPr lang="en-US" sz="2400" dirty="0">
                <a:solidFill>
                  <a:srgbClr val="C00000"/>
                </a:solidFill>
              </a:rPr>
              <a:t>1</a:t>
            </a:r>
          </a:p>
        </p:txBody>
      </p:sp>
    </p:spTree>
    <p:extLst>
      <p:ext uri="{BB962C8B-B14F-4D97-AF65-F5344CB8AC3E}">
        <p14:creationId xmlns:p14="http://schemas.microsoft.com/office/powerpoint/2010/main" val="2519052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1000"/>
                                        <p:tgtEl>
                                          <p:spTgt spid="9"/>
                                        </p:tgtEl>
                                      </p:cBhvr>
                                    </p:animEffect>
                                  </p:childTnLst>
                                </p:cTn>
                              </p:par>
                              <p:par>
                                <p:cTn id="13" presetID="22" presetClass="entr" presetSubtype="4"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down)">
                                      <p:cBhvr>
                                        <p:cTn id="15" dur="1000"/>
                                        <p:tgtEl>
                                          <p:spTgt spid="10"/>
                                        </p:tgtEl>
                                      </p:cBhvr>
                                    </p:animEffect>
                                  </p:childTnLst>
                                </p:cTn>
                              </p:par>
                            </p:childTnLst>
                          </p:cTn>
                        </p:par>
                        <p:par>
                          <p:cTn id="16" fill="hold">
                            <p:stCondLst>
                              <p:cond delay="1000"/>
                            </p:stCondLst>
                            <p:childTnLst>
                              <p:par>
                                <p:cTn id="17" presetID="22" presetClass="entr" presetSubtype="4"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down)">
                                      <p:cBhvr>
                                        <p:cTn id="19" dur="1000"/>
                                        <p:tgtEl>
                                          <p:spTgt spid="3"/>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61"/>
                                        </p:tgtEl>
                                        <p:attrNameLst>
                                          <p:attrName>style.visibility</p:attrName>
                                        </p:attrNameLst>
                                      </p:cBhvr>
                                      <p:to>
                                        <p:strVal val="visible"/>
                                      </p:to>
                                    </p:set>
                                    <p:animEffect transition="in" filter="wipe(down)">
                                      <p:cBhvr>
                                        <p:cTn id="22" dur="1000"/>
                                        <p:tgtEl>
                                          <p:spTgt spid="6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wipe(up)">
                                      <p:cBhvr>
                                        <p:cTn id="32" dur="500"/>
                                        <p:tgtEl>
                                          <p:spTgt spid="34"/>
                                        </p:tgtEl>
                                      </p:cBhvr>
                                    </p:animEffect>
                                  </p:childTnLst>
                                </p:cTn>
                              </p:par>
                              <p:par>
                                <p:cTn id="33" presetID="22" presetClass="entr" presetSubtype="1" fill="hold" nodeType="with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wipe(up)">
                                      <p:cBhvr>
                                        <p:cTn id="35" dur="500"/>
                                        <p:tgtEl>
                                          <p:spTgt spid="3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9"/>
                                        </p:tgtEl>
                                        <p:attrNameLst>
                                          <p:attrName>style.visibility</p:attrName>
                                        </p:attrNameLst>
                                      </p:cBhvr>
                                      <p:to>
                                        <p:strVal val="visible"/>
                                      </p:to>
                                    </p:set>
                                    <p:animEffect transition="in" filter="fade">
                                      <p:cBhvr>
                                        <p:cTn id="40" dur="500"/>
                                        <p:tgtEl>
                                          <p:spTgt spid="3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fade">
                                      <p:cBhvr>
                                        <p:cTn id="4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1" grpId="0" animBg="1"/>
      <p:bldP spid="33" grpId="0" animBg="1"/>
      <p:bldP spid="38" grpId="0"/>
      <p:bldP spid="39"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Huffman Codes - Example</a:t>
            </a:r>
          </a:p>
        </p:txBody>
      </p:sp>
      <p:sp>
        <p:nvSpPr>
          <p:cNvPr id="4" name="Rectangle 3"/>
          <p:cNvSpPr/>
          <p:nvPr/>
        </p:nvSpPr>
        <p:spPr>
          <a:xfrm>
            <a:off x="473529" y="990600"/>
            <a:ext cx="1097280" cy="4572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AD1457"/>
                </a:solidFill>
              </a:rPr>
              <a:t>Step 8: </a:t>
            </a:r>
          </a:p>
        </p:txBody>
      </p:sp>
      <p:pic>
        <p:nvPicPr>
          <p:cNvPr id="5" name="Picture 4"/>
          <p:cNvPicPr>
            <a:picLocks noChangeAspect="1"/>
          </p:cNvPicPr>
          <p:nvPr/>
        </p:nvPicPr>
        <p:blipFill>
          <a:blip r:embed="rId2"/>
          <a:stretch>
            <a:fillRect/>
          </a:stretch>
        </p:blipFill>
        <p:spPr>
          <a:xfrm>
            <a:off x="455502" y="2030506"/>
            <a:ext cx="4480560" cy="4485065"/>
          </a:xfrm>
          <a:prstGeom prst="rect">
            <a:avLst/>
          </a:prstGeom>
        </p:spPr>
      </p:pic>
      <p:graphicFrame>
        <p:nvGraphicFramePr>
          <p:cNvPr id="40" name="Table 39"/>
          <p:cNvGraphicFramePr>
            <a:graphicFrameLocks noGrp="1"/>
          </p:cNvGraphicFramePr>
          <p:nvPr>
            <p:extLst>
              <p:ext uri="{D42A27DB-BD31-4B8C-83A1-F6EECF244321}">
                <p14:modId xmlns:p14="http://schemas.microsoft.com/office/powerpoint/2010/main" val="524838255"/>
              </p:ext>
            </p:extLst>
          </p:nvPr>
        </p:nvGraphicFramePr>
        <p:xfrm>
          <a:off x="2649072" y="831672"/>
          <a:ext cx="9318810" cy="1035784"/>
        </p:xfrm>
        <a:graphic>
          <a:graphicData uri="http://schemas.openxmlformats.org/drawingml/2006/table">
            <a:tbl>
              <a:tblPr firstRow="1" firstCol="1" bandRow="1">
                <a:tableStyleId>{21E4AEA4-8DFA-4A89-87EB-49C32662AFE0}</a:tableStyleId>
              </a:tblPr>
              <a:tblGrid>
                <a:gridCol w="3131868">
                  <a:extLst>
                    <a:ext uri="{9D8B030D-6E8A-4147-A177-3AD203B41FA5}">
                      <a16:colId xmlns:a16="http://schemas.microsoft.com/office/drawing/2014/main" val="354366288"/>
                    </a:ext>
                  </a:extLst>
                </a:gridCol>
                <a:gridCol w="1031157">
                  <a:extLst>
                    <a:ext uri="{9D8B030D-6E8A-4147-A177-3AD203B41FA5}">
                      <a16:colId xmlns:a16="http://schemas.microsoft.com/office/drawing/2014/main" val="1307534128"/>
                    </a:ext>
                  </a:extLst>
                </a:gridCol>
                <a:gridCol w="1031157">
                  <a:extLst>
                    <a:ext uri="{9D8B030D-6E8A-4147-A177-3AD203B41FA5}">
                      <a16:colId xmlns:a16="http://schemas.microsoft.com/office/drawing/2014/main" val="1566708603"/>
                    </a:ext>
                  </a:extLst>
                </a:gridCol>
                <a:gridCol w="1031157">
                  <a:extLst>
                    <a:ext uri="{9D8B030D-6E8A-4147-A177-3AD203B41FA5}">
                      <a16:colId xmlns:a16="http://schemas.microsoft.com/office/drawing/2014/main" val="931776294"/>
                    </a:ext>
                  </a:extLst>
                </a:gridCol>
                <a:gridCol w="1031157">
                  <a:extLst>
                    <a:ext uri="{9D8B030D-6E8A-4147-A177-3AD203B41FA5}">
                      <a16:colId xmlns:a16="http://schemas.microsoft.com/office/drawing/2014/main" val="3173872714"/>
                    </a:ext>
                  </a:extLst>
                </a:gridCol>
                <a:gridCol w="1031157">
                  <a:extLst>
                    <a:ext uri="{9D8B030D-6E8A-4147-A177-3AD203B41FA5}">
                      <a16:colId xmlns:a16="http://schemas.microsoft.com/office/drawing/2014/main" val="699234910"/>
                    </a:ext>
                  </a:extLst>
                </a:gridCol>
                <a:gridCol w="1031157">
                  <a:extLst>
                    <a:ext uri="{9D8B030D-6E8A-4147-A177-3AD203B41FA5}">
                      <a16:colId xmlns:a16="http://schemas.microsoft.com/office/drawing/2014/main" val="2308475217"/>
                    </a:ext>
                  </a:extLst>
                </a:gridCol>
              </a:tblGrid>
              <a:tr h="517892">
                <a:tc>
                  <a:txBody>
                    <a:bodyPr/>
                    <a:lstStyle/>
                    <a:p>
                      <a:pPr marL="0" marR="0" algn="ctr">
                        <a:lnSpc>
                          <a:spcPct val="115000"/>
                        </a:lnSpc>
                        <a:spcBef>
                          <a:spcPts val="0"/>
                        </a:spcBef>
                        <a:spcAft>
                          <a:spcPts val="0"/>
                        </a:spcAft>
                      </a:pPr>
                      <a:r>
                        <a:rPr lang="en-US" sz="2400" b="0" dirty="0">
                          <a:solidFill>
                            <a:srgbClr val="C00000"/>
                          </a:solidFill>
                          <a:effectLst/>
                        </a:rPr>
                        <a:t>Characters</a:t>
                      </a:r>
                      <a:endParaRPr lang="en-US" sz="2400" b="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r>
                        <a:rPr lang="en-US" sz="2400" dirty="0">
                          <a:solidFill>
                            <a:srgbClr val="C00000"/>
                          </a:solidFill>
                          <a:effectLst/>
                        </a:rPr>
                        <a:t>a</a:t>
                      </a:r>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r>
                        <a:rPr lang="en-US" sz="2400" dirty="0">
                          <a:solidFill>
                            <a:srgbClr val="C00000"/>
                          </a:solidFill>
                          <a:effectLst/>
                        </a:rPr>
                        <a:t>b</a:t>
                      </a:r>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r>
                        <a:rPr lang="en-US" sz="2400" dirty="0">
                          <a:solidFill>
                            <a:srgbClr val="C00000"/>
                          </a:solidFill>
                          <a:effectLst/>
                        </a:rPr>
                        <a:t>c</a:t>
                      </a:r>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r>
                        <a:rPr lang="en-US" sz="2400" dirty="0">
                          <a:solidFill>
                            <a:srgbClr val="C00000"/>
                          </a:solidFill>
                          <a:effectLst/>
                        </a:rPr>
                        <a:t>d</a:t>
                      </a:r>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r>
                        <a:rPr lang="en-US" sz="2400" dirty="0">
                          <a:solidFill>
                            <a:srgbClr val="C00000"/>
                          </a:solidFill>
                          <a:effectLst/>
                        </a:rPr>
                        <a:t>e</a:t>
                      </a:r>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algn="ctr">
                        <a:lnSpc>
                          <a:spcPct val="115000"/>
                        </a:lnSpc>
                        <a:spcBef>
                          <a:spcPts val="0"/>
                        </a:spcBef>
                        <a:spcAft>
                          <a:spcPts val="0"/>
                        </a:spcAft>
                      </a:pPr>
                      <a:r>
                        <a:rPr lang="en-US" sz="2400" dirty="0">
                          <a:solidFill>
                            <a:srgbClr val="C00000"/>
                          </a:solidFill>
                          <a:effectLst/>
                        </a:rPr>
                        <a:t>f</a:t>
                      </a:r>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991759993"/>
                  </a:ext>
                </a:extLst>
              </a:tr>
              <a:tr h="517892">
                <a:tc>
                  <a:txBody>
                    <a:bodyPr/>
                    <a:lstStyle/>
                    <a:p>
                      <a:pPr marL="0" marR="0" algn="ctr">
                        <a:lnSpc>
                          <a:spcPct val="115000"/>
                        </a:lnSpc>
                        <a:spcBef>
                          <a:spcPts val="0"/>
                        </a:spcBef>
                        <a:spcAft>
                          <a:spcPts val="0"/>
                        </a:spcAft>
                      </a:pPr>
                      <a:r>
                        <a:rPr lang="en-US" sz="2400" b="0" dirty="0">
                          <a:solidFill>
                            <a:srgbClr val="C00000"/>
                          </a:solidFill>
                          <a:effectLst/>
                        </a:rPr>
                        <a:t>Frequency (in thousand)</a:t>
                      </a:r>
                      <a:endParaRPr lang="en-US" sz="2400" b="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algn="ctr">
                        <a:lnSpc>
                          <a:spcPct val="115000"/>
                        </a:lnSpc>
                        <a:spcBef>
                          <a:spcPts val="0"/>
                        </a:spcBef>
                        <a:spcAft>
                          <a:spcPts val="0"/>
                        </a:spcAft>
                      </a:pPr>
                      <a:r>
                        <a:rPr lang="en-US" sz="2400" dirty="0">
                          <a:effectLst/>
                        </a:rPr>
                        <a:t>45</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rPr>
                        <a:t>13</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rPr>
                        <a:t>12</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rPr>
                        <a:t>16</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rPr>
                        <a:t>9</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rPr>
                        <a:t>5</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1834702"/>
                  </a:ext>
                </a:extLst>
              </a:tr>
            </a:tbl>
          </a:graphicData>
        </a:graphic>
      </p:graphicFrame>
      <p:sp>
        <p:nvSpPr>
          <p:cNvPr id="41" name="Rectangle 40"/>
          <p:cNvSpPr/>
          <p:nvPr/>
        </p:nvSpPr>
        <p:spPr>
          <a:xfrm>
            <a:off x="5803494" y="1937745"/>
            <a:ext cx="1042416" cy="457200"/>
          </a:xfrm>
          <a:prstGeom prst="rect">
            <a:avLst/>
          </a:prstGeom>
          <a:solidFill>
            <a:schemeClr val="accent5">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AD1457"/>
                </a:solidFill>
              </a:rPr>
              <a:t>0</a:t>
            </a:r>
          </a:p>
        </p:txBody>
      </p:sp>
      <p:sp>
        <p:nvSpPr>
          <p:cNvPr id="42" name="Rectangle 41"/>
          <p:cNvSpPr/>
          <p:nvPr/>
        </p:nvSpPr>
        <p:spPr>
          <a:xfrm>
            <a:off x="6800343" y="1937745"/>
            <a:ext cx="1042416" cy="457200"/>
          </a:xfrm>
          <a:prstGeom prst="rect">
            <a:avLst/>
          </a:prstGeom>
          <a:solidFill>
            <a:schemeClr val="accent5">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AD1457"/>
                </a:solidFill>
              </a:rPr>
              <a:t>101</a:t>
            </a:r>
          </a:p>
        </p:txBody>
      </p:sp>
      <p:sp>
        <p:nvSpPr>
          <p:cNvPr id="43" name="Rectangle 42"/>
          <p:cNvSpPr/>
          <p:nvPr/>
        </p:nvSpPr>
        <p:spPr>
          <a:xfrm>
            <a:off x="7810255" y="1937745"/>
            <a:ext cx="1042416" cy="457200"/>
          </a:xfrm>
          <a:prstGeom prst="rect">
            <a:avLst/>
          </a:prstGeom>
          <a:solidFill>
            <a:schemeClr val="accent5">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AD1457"/>
                </a:solidFill>
              </a:rPr>
              <a:t>100</a:t>
            </a:r>
          </a:p>
        </p:txBody>
      </p:sp>
      <p:sp>
        <p:nvSpPr>
          <p:cNvPr id="44" name="Rectangle 43"/>
          <p:cNvSpPr/>
          <p:nvPr/>
        </p:nvSpPr>
        <p:spPr>
          <a:xfrm>
            <a:off x="8859355" y="1937745"/>
            <a:ext cx="1042416" cy="457200"/>
          </a:xfrm>
          <a:prstGeom prst="rect">
            <a:avLst/>
          </a:prstGeom>
          <a:solidFill>
            <a:schemeClr val="accent5">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AD1457"/>
                </a:solidFill>
              </a:rPr>
              <a:t>111</a:t>
            </a:r>
          </a:p>
        </p:txBody>
      </p:sp>
      <p:sp>
        <p:nvSpPr>
          <p:cNvPr id="45" name="Rectangle 44"/>
          <p:cNvSpPr/>
          <p:nvPr/>
        </p:nvSpPr>
        <p:spPr>
          <a:xfrm>
            <a:off x="9882330" y="1937745"/>
            <a:ext cx="1042416" cy="457200"/>
          </a:xfrm>
          <a:prstGeom prst="rect">
            <a:avLst/>
          </a:prstGeom>
          <a:solidFill>
            <a:schemeClr val="accent5">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AD1457"/>
                </a:solidFill>
              </a:rPr>
              <a:t>1101</a:t>
            </a:r>
          </a:p>
        </p:txBody>
      </p:sp>
      <p:sp>
        <p:nvSpPr>
          <p:cNvPr id="49" name="Rectangle 48"/>
          <p:cNvSpPr/>
          <p:nvPr/>
        </p:nvSpPr>
        <p:spPr>
          <a:xfrm>
            <a:off x="10918369" y="1937745"/>
            <a:ext cx="1042416" cy="457200"/>
          </a:xfrm>
          <a:prstGeom prst="rect">
            <a:avLst/>
          </a:prstGeom>
          <a:solidFill>
            <a:schemeClr val="accent5">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AD1457"/>
                </a:solidFill>
              </a:rPr>
              <a:t>1100</a:t>
            </a:r>
          </a:p>
        </p:txBody>
      </p:sp>
      <p:sp>
        <p:nvSpPr>
          <p:cNvPr id="50" name="Rectangle 49"/>
          <p:cNvSpPr/>
          <p:nvPr/>
        </p:nvSpPr>
        <p:spPr>
          <a:xfrm>
            <a:off x="478469" y="3064833"/>
            <a:ext cx="685800" cy="33528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990599" y="2604248"/>
            <a:ext cx="304800" cy="304800"/>
          </a:xfrm>
          <a:prstGeom prst="ellipse">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1779494" y="5316967"/>
            <a:ext cx="685800" cy="33528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p:cNvSpPr/>
          <p:nvPr/>
        </p:nvSpPr>
        <p:spPr>
          <a:xfrm>
            <a:off x="2375847" y="2595684"/>
            <a:ext cx="304800" cy="30480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1765443" y="3711991"/>
            <a:ext cx="304800" cy="30480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p:cNvSpPr/>
          <p:nvPr/>
        </p:nvSpPr>
        <p:spPr>
          <a:xfrm>
            <a:off x="1864658" y="4832378"/>
            <a:ext cx="304800" cy="30480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7" name="Straight Arrow Connector 76"/>
          <p:cNvCxnSpPr>
            <a:stCxn id="62" idx="4"/>
            <a:endCxn id="63" idx="7"/>
          </p:cNvCxnSpPr>
          <p:nvPr/>
        </p:nvCxnSpPr>
        <p:spPr>
          <a:xfrm flipH="1">
            <a:off x="2025606" y="2900484"/>
            <a:ext cx="502641" cy="856144"/>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63" idx="4"/>
            <a:endCxn id="76" idx="0"/>
          </p:cNvCxnSpPr>
          <p:nvPr/>
        </p:nvCxnSpPr>
        <p:spPr>
          <a:xfrm>
            <a:off x="1917843" y="4016791"/>
            <a:ext cx="99215" cy="815587"/>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79" name="Rectangle 78"/>
          <p:cNvSpPr/>
          <p:nvPr/>
        </p:nvSpPr>
        <p:spPr>
          <a:xfrm>
            <a:off x="749356" y="5312191"/>
            <a:ext cx="713232" cy="329184"/>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4200165" y="5204012"/>
            <a:ext cx="694944" cy="33528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p:cNvSpPr/>
          <p:nvPr/>
        </p:nvSpPr>
        <p:spPr>
          <a:xfrm>
            <a:off x="3469341" y="6029661"/>
            <a:ext cx="676656" cy="33528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p:cNvSpPr/>
          <p:nvPr/>
        </p:nvSpPr>
        <p:spPr>
          <a:xfrm>
            <a:off x="2518544" y="6043108"/>
            <a:ext cx="694944" cy="33528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6984906" y="2675141"/>
            <a:ext cx="3735530" cy="707886"/>
          </a:xfrm>
          <a:prstGeom prst="rect">
            <a:avLst/>
          </a:prstGeom>
          <a:noFill/>
        </p:spPr>
        <p:txBody>
          <a:bodyPr wrap="square" rtlCol="0">
            <a:spAutoFit/>
          </a:bodyPr>
          <a:lstStyle/>
          <a:p>
            <a:pPr algn="ctr"/>
            <a:r>
              <a:rPr lang="en-IN" sz="4000" dirty="0"/>
              <a:t>Total bits: 224</a:t>
            </a:r>
          </a:p>
        </p:txBody>
      </p:sp>
    </p:spTree>
    <p:extLst>
      <p:ext uri="{BB962C8B-B14F-4D97-AF65-F5344CB8AC3E}">
        <p14:creationId xmlns:p14="http://schemas.microsoft.com/office/powerpoint/2010/main" val="3792920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500"/>
                                        <p:tgtEl>
                                          <p:spTgt spid="40"/>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up)">
                                      <p:cBhvr>
                                        <p:cTn id="16" dur="1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50"/>
                                        </p:tgtEl>
                                        <p:attrNameLst>
                                          <p:attrName>style.visibility</p:attrName>
                                        </p:attrNameLst>
                                      </p:cBhvr>
                                      <p:to>
                                        <p:strVal val="visible"/>
                                      </p:to>
                                    </p:set>
                                    <p:animEffect transition="in" filter="wipe(down)">
                                      <p:cBhvr>
                                        <p:cTn id="21" dur="500"/>
                                        <p:tgtEl>
                                          <p:spTgt spid="50"/>
                                        </p:tgtEl>
                                      </p:cBhvr>
                                    </p:animEffect>
                                  </p:childTnLst>
                                </p:cTn>
                              </p:par>
                            </p:childTnLst>
                          </p:cTn>
                        </p:par>
                        <p:par>
                          <p:cTn id="22" fill="hold">
                            <p:stCondLst>
                              <p:cond delay="500"/>
                            </p:stCondLst>
                            <p:childTnLst>
                              <p:par>
                                <p:cTn id="23" presetID="21" presetClass="entr" presetSubtype="1" fill="hold" grpId="0" nodeType="afterEffect">
                                  <p:stCondLst>
                                    <p:cond delay="0"/>
                                  </p:stCondLst>
                                  <p:childTnLst>
                                    <p:set>
                                      <p:cBhvr>
                                        <p:cTn id="24" dur="1" fill="hold">
                                          <p:stCondLst>
                                            <p:cond delay="0"/>
                                          </p:stCondLst>
                                        </p:cTn>
                                        <p:tgtEl>
                                          <p:spTgt spid="51"/>
                                        </p:tgtEl>
                                        <p:attrNameLst>
                                          <p:attrName>style.visibility</p:attrName>
                                        </p:attrNameLst>
                                      </p:cBhvr>
                                      <p:to>
                                        <p:strVal val="visible"/>
                                      </p:to>
                                    </p:set>
                                    <p:animEffect transition="in" filter="wheel(1)">
                                      <p:cBhvr>
                                        <p:cTn id="25" dur="1000"/>
                                        <p:tgtEl>
                                          <p:spTgt spid="5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1"/>
                                        </p:tgtEl>
                                        <p:attrNameLst>
                                          <p:attrName>style.visibility</p:attrName>
                                        </p:attrNameLst>
                                      </p:cBhvr>
                                      <p:to>
                                        <p:strVal val="visible"/>
                                      </p:to>
                                    </p:set>
                                    <p:animEffect transition="in" filter="fade">
                                      <p:cBhvr>
                                        <p:cTn id="30" dur="500"/>
                                        <p:tgtEl>
                                          <p:spTgt spid="41"/>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51"/>
                                        </p:tgtEl>
                                        <p:attrNameLst>
                                          <p:attrName>style.visibility</p:attrName>
                                        </p:attrNameLst>
                                      </p:cBhvr>
                                      <p:to>
                                        <p:strVal val="hidden"/>
                                      </p:to>
                                    </p:set>
                                  </p:childTnLst>
                                </p:cTn>
                              </p:par>
                              <p:par>
                                <p:cTn id="35" presetID="22" presetClass="entr" presetSubtype="4" fill="hold" grpId="0" nodeType="withEffect">
                                  <p:stCondLst>
                                    <p:cond delay="0"/>
                                  </p:stCondLst>
                                  <p:childTnLst>
                                    <p:set>
                                      <p:cBhvr>
                                        <p:cTn id="36" dur="1" fill="hold">
                                          <p:stCondLst>
                                            <p:cond delay="0"/>
                                          </p:stCondLst>
                                        </p:cTn>
                                        <p:tgtEl>
                                          <p:spTgt spid="52"/>
                                        </p:tgtEl>
                                        <p:attrNameLst>
                                          <p:attrName>style.visibility</p:attrName>
                                        </p:attrNameLst>
                                      </p:cBhvr>
                                      <p:to>
                                        <p:strVal val="visible"/>
                                      </p:to>
                                    </p:set>
                                    <p:animEffect transition="in" filter="wipe(down)">
                                      <p:cBhvr>
                                        <p:cTn id="37" dur="500"/>
                                        <p:tgtEl>
                                          <p:spTgt spid="5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62"/>
                                        </p:tgtEl>
                                        <p:attrNameLst>
                                          <p:attrName>style.visibility</p:attrName>
                                        </p:attrNameLst>
                                      </p:cBhvr>
                                      <p:to>
                                        <p:strVal val="visible"/>
                                      </p:to>
                                    </p:set>
                                    <p:animEffect transition="in" filter="wipe(down)">
                                      <p:cBhvr>
                                        <p:cTn id="42" dur="500"/>
                                        <p:tgtEl>
                                          <p:spTgt spid="62"/>
                                        </p:tgtEl>
                                      </p:cBhvr>
                                    </p:animEffect>
                                  </p:childTnLst>
                                </p:cTn>
                              </p:par>
                            </p:childTnLst>
                          </p:cTn>
                        </p:par>
                        <p:par>
                          <p:cTn id="43" fill="hold">
                            <p:stCondLst>
                              <p:cond delay="500"/>
                            </p:stCondLst>
                            <p:childTnLst>
                              <p:par>
                                <p:cTn id="44" presetID="22" presetClass="entr" presetSubtype="1" fill="hold" nodeType="afterEffect">
                                  <p:stCondLst>
                                    <p:cond delay="0"/>
                                  </p:stCondLst>
                                  <p:childTnLst>
                                    <p:set>
                                      <p:cBhvr>
                                        <p:cTn id="45" dur="1" fill="hold">
                                          <p:stCondLst>
                                            <p:cond delay="0"/>
                                          </p:stCondLst>
                                        </p:cTn>
                                        <p:tgtEl>
                                          <p:spTgt spid="77"/>
                                        </p:tgtEl>
                                        <p:attrNameLst>
                                          <p:attrName>style.visibility</p:attrName>
                                        </p:attrNameLst>
                                      </p:cBhvr>
                                      <p:to>
                                        <p:strVal val="visible"/>
                                      </p:to>
                                    </p:set>
                                    <p:animEffect transition="in" filter="wipe(up)">
                                      <p:cBhvr>
                                        <p:cTn id="46" dur="500"/>
                                        <p:tgtEl>
                                          <p:spTgt spid="77"/>
                                        </p:tgtEl>
                                      </p:cBhvr>
                                    </p:animEffect>
                                  </p:childTnLst>
                                </p:cTn>
                              </p:par>
                            </p:childTnLst>
                          </p:cTn>
                        </p:par>
                        <p:par>
                          <p:cTn id="47" fill="hold">
                            <p:stCondLst>
                              <p:cond delay="1000"/>
                            </p:stCondLst>
                            <p:childTnLst>
                              <p:par>
                                <p:cTn id="48" presetID="22" presetClass="entr" presetSubtype="4" fill="hold" grpId="0" nodeType="afterEffect">
                                  <p:stCondLst>
                                    <p:cond delay="0"/>
                                  </p:stCondLst>
                                  <p:childTnLst>
                                    <p:set>
                                      <p:cBhvr>
                                        <p:cTn id="49" dur="1" fill="hold">
                                          <p:stCondLst>
                                            <p:cond delay="0"/>
                                          </p:stCondLst>
                                        </p:cTn>
                                        <p:tgtEl>
                                          <p:spTgt spid="63"/>
                                        </p:tgtEl>
                                        <p:attrNameLst>
                                          <p:attrName>style.visibility</p:attrName>
                                        </p:attrNameLst>
                                      </p:cBhvr>
                                      <p:to>
                                        <p:strVal val="visible"/>
                                      </p:to>
                                    </p:set>
                                    <p:animEffect transition="in" filter="wipe(down)">
                                      <p:cBhvr>
                                        <p:cTn id="50" dur="500"/>
                                        <p:tgtEl>
                                          <p:spTgt spid="63"/>
                                        </p:tgtEl>
                                      </p:cBhvr>
                                    </p:animEffect>
                                  </p:childTnLst>
                                </p:cTn>
                              </p:par>
                              <p:par>
                                <p:cTn id="51" presetID="22" presetClass="entr" presetSubtype="1" fill="hold" nodeType="withEffect">
                                  <p:stCondLst>
                                    <p:cond delay="0"/>
                                  </p:stCondLst>
                                  <p:childTnLst>
                                    <p:set>
                                      <p:cBhvr>
                                        <p:cTn id="52" dur="1" fill="hold">
                                          <p:stCondLst>
                                            <p:cond delay="0"/>
                                          </p:stCondLst>
                                        </p:cTn>
                                        <p:tgtEl>
                                          <p:spTgt spid="78"/>
                                        </p:tgtEl>
                                        <p:attrNameLst>
                                          <p:attrName>style.visibility</p:attrName>
                                        </p:attrNameLst>
                                      </p:cBhvr>
                                      <p:to>
                                        <p:strVal val="visible"/>
                                      </p:to>
                                    </p:set>
                                    <p:animEffect transition="in" filter="wipe(up)">
                                      <p:cBhvr>
                                        <p:cTn id="53" dur="500"/>
                                        <p:tgtEl>
                                          <p:spTgt spid="78"/>
                                        </p:tgtEl>
                                      </p:cBhvr>
                                    </p:animEffect>
                                  </p:childTnLst>
                                </p:cTn>
                              </p:par>
                            </p:childTnLst>
                          </p:cTn>
                        </p:par>
                        <p:par>
                          <p:cTn id="54" fill="hold">
                            <p:stCondLst>
                              <p:cond delay="1500"/>
                            </p:stCondLst>
                            <p:childTnLst>
                              <p:par>
                                <p:cTn id="55" presetID="22" presetClass="entr" presetSubtype="4" fill="hold" grpId="0" nodeType="afterEffect">
                                  <p:stCondLst>
                                    <p:cond delay="0"/>
                                  </p:stCondLst>
                                  <p:childTnLst>
                                    <p:set>
                                      <p:cBhvr>
                                        <p:cTn id="56" dur="1" fill="hold">
                                          <p:stCondLst>
                                            <p:cond delay="0"/>
                                          </p:stCondLst>
                                        </p:cTn>
                                        <p:tgtEl>
                                          <p:spTgt spid="76"/>
                                        </p:tgtEl>
                                        <p:attrNameLst>
                                          <p:attrName>style.visibility</p:attrName>
                                        </p:attrNameLst>
                                      </p:cBhvr>
                                      <p:to>
                                        <p:strVal val="visible"/>
                                      </p:to>
                                    </p:set>
                                    <p:animEffect transition="in" filter="wipe(down)">
                                      <p:cBhvr>
                                        <p:cTn id="57" dur="500"/>
                                        <p:tgtEl>
                                          <p:spTgt spid="7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2"/>
                                        </p:tgtEl>
                                        <p:attrNameLst>
                                          <p:attrName>style.visibility</p:attrName>
                                        </p:attrNameLst>
                                      </p:cBhvr>
                                      <p:to>
                                        <p:strVal val="visible"/>
                                      </p:to>
                                    </p:set>
                                    <p:animEffect transition="in" filter="fade">
                                      <p:cBhvr>
                                        <p:cTn id="62" dur="500"/>
                                        <p:tgtEl>
                                          <p:spTgt spid="4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79"/>
                                        </p:tgtEl>
                                        <p:attrNameLst>
                                          <p:attrName>style.visibility</p:attrName>
                                        </p:attrNameLst>
                                      </p:cBhvr>
                                      <p:to>
                                        <p:strVal val="visible"/>
                                      </p:to>
                                    </p:set>
                                    <p:animEffect transition="in" filter="wipe(down)">
                                      <p:cBhvr>
                                        <p:cTn id="67" dur="500"/>
                                        <p:tgtEl>
                                          <p:spTgt spid="79"/>
                                        </p:tgtEl>
                                      </p:cBhvr>
                                    </p:animEffect>
                                  </p:childTnLst>
                                </p:cTn>
                              </p:par>
                              <p:par>
                                <p:cTn id="68" presetID="1" presetClass="exit" presetSubtype="0" fill="hold" grpId="1" nodeType="withEffect">
                                  <p:stCondLst>
                                    <p:cond delay="0"/>
                                  </p:stCondLst>
                                  <p:childTnLst>
                                    <p:set>
                                      <p:cBhvr>
                                        <p:cTn id="69" dur="1" fill="hold">
                                          <p:stCondLst>
                                            <p:cond delay="0"/>
                                          </p:stCondLst>
                                        </p:cTn>
                                        <p:tgtEl>
                                          <p:spTgt spid="62"/>
                                        </p:tgtEl>
                                        <p:attrNameLst>
                                          <p:attrName>style.visibility</p:attrName>
                                        </p:attrNameLst>
                                      </p:cBhvr>
                                      <p:to>
                                        <p:strVal val="hidden"/>
                                      </p:to>
                                    </p:set>
                                  </p:childTnLst>
                                </p:cTn>
                              </p:par>
                              <p:par>
                                <p:cTn id="70" presetID="1" presetClass="exit" presetSubtype="0" fill="hold" nodeType="withEffect">
                                  <p:stCondLst>
                                    <p:cond delay="0"/>
                                  </p:stCondLst>
                                  <p:childTnLst>
                                    <p:set>
                                      <p:cBhvr>
                                        <p:cTn id="71" dur="1" fill="hold">
                                          <p:stCondLst>
                                            <p:cond delay="0"/>
                                          </p:stCondLst>
                                        </p:cTn>
                                        <p:tgtEl>
                                          <p:spTgt spid="77"/>
                                        </p:tgtEl>
                                        <p:attrNameLst>
                                          <p:attrName>style.visibility</p:attrName>
                                        </p:attrNameLst>
                                      </p:cBhvr>
                                      <p:to>
                                        <p:strVal val="hidden"/>
                                      </p:to>
                                    </p:set>
                                  </p:childTnLst>
                                </p:cTn>
                              </p:par>
                              <p:par>
                                <p:cTn id="72" presetID="1" presetClass="exit" presetSubtype="0" fill="hold" grpId="1" nodeType="withEffect">
                                  <p:stCondLst>
                                    <p:cond delay="0"/>
                                  </p:stCondLst>
                                  <p:childTnLst>
                                    <p:set>
                                      <p:cBhvr>
                                        <p:cTn id="73" dur="1" fill="hold">
                                          <p:stCondLst>
                                            <p:cond delay="0"/>
                                          </p:stCondLst>
                                        </p:cTn>
                                        <p:tgtEl>
                                          <p:spTgt spid="63"/>
                                        </p:tgtEl>
                                        <p:attrNameLst>
                                          <p:attrName>style.visibility</p:attrName>
                                        </p:attrNameLst>
                                      </p:cBhvr>
                                      <p:to>
                                        <p:strVal val="hidden"/>
                                      </p:to>
                                    </p:set>
                                  </p:childTnLst>
                                </p:cTn>
                              </p:par>
                              <p:par>
                                <p:cTn id="74" presetID="1" presetClass="exit" presetSubtype="0" fill="hold" nodeType="withEffect">
                                  <p:stCondLst>
                                    <p:cond delay="0"/>
                                  </p:stCondLst>
                                  <p:childTnLst>
                                    <p:set>
                                      <p:cBhvr>
                                        <p:cTn id="75" dur="1" fill="hold">
                                          <p:stCondLst>
                                            <p:cond delay="0"/>
                                          </p:stCondLst>
                                        </p:cTn>
                                        <p:tgtEl>
                                          <p:spTgt spid="78"/>
                                        </p:tgtEl>
                                        <p:attrNameLst>
                                          <p:attrName>style.visibility</p:attrName>
                                        </p:attrNameLst>
                                      </p:cBhvr>
                                      <p:to>
                                        <p:strVal val="hidden"/>
                                      </p:to>
                                    </p:set>
                                  </p:childTnLst>
                                </p:cTn>
                              </p:par>
                              <p:par>
                                <p:cTn id="76" presetID="1" presetClass="exit" presetSubtype="0" fill="hold" grpId="1" nodeType="withEffect">
                                  <p:stCondLst>
                                    <p:cond delay="0"/>
                                  </p:stCondLst>
                                  <p:childTnLst>
                                    <p:set>
                                      <p:cBhvr>
                                        <p:cTn id="77" dur="1" fill="hold">
                                          <p:stCondLst>
                                            <p:cond delay="0"/>
                                          </p:stCondLst>
                                        </p:cTn>
                                        <p:tgtEl>
                                          <p:spTgt spid="76"/>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43"/>
                                        </p:tgtEl>
                                        <p:attrNameLst>
                                          <p:attrName>style.visibility</p:attrName>
                                        </p:attrNameLst>
                                      </p:cBhvr>
                                      <p:to>
                                        <p:strVal val="visible"/>
                                      </p:to>
                                    </p:set>
                                    <p:animEffect transition="in" filter="fade">
                                      <p:cBhvr>
                                        <p:cTn id="82" dur="500"/>
                                        <p:tgtEl>
                                          <p:spTgt spid="43"/>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grpId="0" nodeType="clickEffect">
                                  <p:stCondLst>
                                    <p:cond delay="0"/>
                                  </p:stCondLst>
                                  <p:childTnLst>
                                    <p:set>
                                      <p:cBhvr>
                                        <p:cTn id="86" dur="1" fill="hold">
                                          <p:stCondLst>
                                            <p:cond delay="0"/>
                                          </p:stCondLst>
                                        </p:cTn>
                                        <p:tgtEl>
                                          <p:spTgt spid="82"/>
                                        </p:tgtEl>
                                        <p:attrNameLst>
                                          <p:attrName>style.visibility</p:attrName>
                                        </p:attrNameLst>
                                      </p:cBhvr>
                                      <p:to>
                                        <p:strVal val="visible"/>
                                      </p:to>
                                    </p:set>
                                    <p:animEffect transition="in" filter="wipe(down)">
                                      <p:cBhvr>
                                        <p:cTn id="87" dur="500"/>
                                        <p:tgtEl>
                                          <p:spTgt spid="82"/>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4"/>
                                        </p:tgtEl>
                                        <p:attrNameLst>
                                          <p:attrName>style.visibility</p:attrName>
                                        </p:attrNameLst>
                                      </p:cBhvr>
                                      <p:to>
                                        <p:strVal val="visible"/>
                                      </p:to>
                                    </p:set>
                                    <p:animEffect transition="in" filter="fade">
                                      <p:cBhvr>
                                        <p:cTn id="92" dur="500"/>
                                        <p:tgtEl>
                                          <p:spTgt spid="44"/>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4" fill="hold" grpId="0" nodeType="clickEffect">
                                  <p:stCondLst>
                                    <p:cond delay="0"/>
                                  </p:stCondLst>
                                  <p:childTnLst>
                                    <p:set>
                                      <p:cBhvr>
                                        <p:cTn id="96" dur="1" fill="hold">
                                          <p:stCondLst>
                                            <p:cond delay="0"/>
                                          </p:stCondLst>
                                        </p:cTn>
                                        <p:tgtEl>
                                          <p:spTgt spid="83"/>
                                        </p:tgtEl>
                                        <p:attrNameLst>
                                          <p:attrName>style.visibility</p:attrName>
                                        </p:attrNameLst>
                                      </p:cBhvr>
                                      <p:to>
                                        <p:strVal val="visible"/>
                                      </p:to>
                                    </p:set>
                                    <p:animEffect transition="in" filter="wipe(down)">
                                      <p:cBhvr>
                                        <p:cTn id="97" dur="500"/>
                                        <p:tgtEl>
                                          <p:spTgt spid="83"/>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45"/>
                                        </p:tgtEl>
                                        <p:attrNameLst>
                                          <p:attrName>style.visibility</p:attrName>
                                        </p:attrNameLst>
                                      </p:cBhvr>
                                      <p:to>
                                        <p:strVal val="visible"/>
                                      </p:to>
                                    </p:set>
                                    <p:animEffect transition="in" filter="fade">
                                      <p:cBhvr>
                                        <p:cTn id="102" dur="500"/>
                                        <p:tgtEl>
                                          <p:spTgt spid="45"/>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4" fill="hold" grpId="0" nodeType="clickEffect">
                                  <p:stCondLst>
                                    <p:cond delay="0"/>
                                  </p:stCondLst>
                                  <p:childTnLst>
                                    <p:set>
                                      <p:cBhvr>
                                        <p:cTn id="106" dur="1" fill="hold">
                                          <p:stCondLst>
                                            <p:cond delay="0"/>
                                          </p:stCondLst>
                                        </p:cTn>
                                        <p:tgtEl>
                                          <p:spTgt spid="84"/>
                                        </p:tgtEl>
                                        <p:attrNameLst>
                                          <p:attrName>style.visibility</p:attrName>
                                        </p:attrNameLst>
                                      </p:cBhvr>
                                      <p:to>
                                        <p:strVal val="visible"/>
                                      </p:to>
                                    </p:set>
                                    <p:animEffect transition="in" filter="wipe(down)">
                                      <p:cBhvr>
                                        <p:cTn id="107" dur="500"/>
                                        <p:tgtEl>
                                          <p:spTgt spid="84"/>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49"/>
                                        </p:tgtEl>
                                        <p:attrNameLst>
                                          <p:attrName>style.visibility</p:attrName>
                                        </p:attrNameLst>
                                      </p:cBhvr>
                                      <p:to>
                                        <p:strVal val="visible"/>
                                      </p:to>
                                    </p:set>
                                    <p:animEffect transition="in" filter="fade">
                                      <p:cBhvr>
                                        <p:cTn id="112" dur="500"/>
                                        <p:tgtEl>
                                          <p:spTgt spid="49"/>
                                        </p:tgtEl>
                                      </p:cBhvr>
                                    </p:animEffec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1" grpId="0" animBg="1"/>
      <p:bldP spid="42" grpId="0" animBg="1"/>
      <p:bldP spid="43" grpId="0" animBg="1"/>
      <p:bldP spid="44" grpId="0" animBg="1"/>
      <p:bldP spid="45" grpId="0" animBg="1"/>
      <p:bldP spid="49" grpId="0" animBg="1"/>
      <p:bldP spid="50" grpId="0" animBg="1"/>
      <p:bldP spid="51" grpId="0" animBg="1"/>
      <p:bldP spid="51" grpId="1" animBg="1"/>
      <p:bldP spid="52" grpId="0" animBg="1"/>
      <p:bldP spid="62" grpId="0" animBg="1"/>
      <p:bldP spid="62" grpId="1" animBg="1"/>
      <p:bldP spid="63" grpId="0" animBg="1"/>
      <p:bldP spid="63" grpId="1" animBg="1"/>
      <p:bldP spid="76" grpId="0" animBg="1"/>
      <p:bldP spid="76" grpId="1" animBg="1"/>
      <p:bldP spid="79" grpId="0" animBg="1"/>
      <p:bldP spid="82" grpId="0" animBg="1"/>
      <p:bldP spid="83" grpId="0" animBg="1"/>
      <p:bldP spid="84" grpId="0" animBg="1"/>
      <p:bldP spid="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Huffman Codes - Algorithm</a:t>
            </a:r>
          </a:p>
        </p:txBody>
      </p:sp>
      <p:sp>
        <p:nvSpPr>
          <p:cNvPr id="3" name="Content Placeholder 2"/>
          <p:cNvSpPr>
            <a:spLocks noGrp="1"/>
          </p:cNvSpPr>
          <p:nvPr>
            <p:ph idx="1"/>
          </p:nvPr>
        </p:nvSpPr>
        <p:spPr>
          <a:solidFill>
            <a:srgbClr val="424242"/>
          </a:solidFill>
        </p:spPr>
        <p:txBody>
          <a:bodyPr/>
          <a:lstStyle/>
          <a:p>
            <a:pPr marL="0" indent="0" algn="l">
              <a:spcAft>
                <a:spcPts val="0"/>
              </a:spcAft>
              <a:buNone/>
            </a:pPr>
            <a:r>
              <a:rPr lang="en-US" b="1" dirty="0">
                <a:solidFill>
                  <a:schemeClr val="tx2">
                    <a:lumMod val="60000"/>
                    <a:lumOff val="40000"/>
                  </a:schemeClr>
                </a:solidFill>
                <a:latin typeface="Consolas" pitchFamily="49" charset="0"/>
                <a:cs typeface="Consolas" pitchFamily="49" charset="0"/>
              </a:rPr>
              <a:t>Algorithm: HUFFMAN (C)</a:t>
            </a:r>
          </a:p>
          <a:p>
            <a:pPr marL="0" indent="0" algn="l">
              <a:spcAft>
                <a:spcPts val="0"/>
              </a:spcAft>
              <a:buNone/>
            </a:pPr>
            <a:r>
              <a:rPr lang="en-US" sz="1800" b="1" dirty="0">
                <a:solidFill>
                  <a:srgbClr val="C00000"/>
                </a:solidFill>
                <a:latin typeface="Consolas" pitchFamily="49" charset="0"/>
                <a:cs typeface="Consolas" pitchFamily="49" charset="0"/>
              </a:rPr>
              <a:t>create a priority queue Q consisting of each unique character.</a:t>
            </a:r>
          </a:p>
          <a:p>
            <a:pPr marL="0" indent="0" algn="l">
              <a:spcAft>
                <a:spcPts val="0"/>
              </a:spcAft>
              <a:buNone/>
            </a:pPr>
            <a:r>
              <a:rPr lang="en-US" sz="1800" b="1" dirty="0">
                <a:solidFill>
                  <a:srgbClr val="C00000"/>
                </a:solidFill>
                <a:latin typeface="Consolas" pitchFamily="49" charset="0"/>
                <a:cs typeface="Consolas" pitchFamily="49" charset="0"/>
              </a:rPr>
              <a:t>sort then in ascending order of their frequencies</a:t>
            </a:r>
          </a:p>
          <a:p>
            <a:pPr marL="0" indent="0" algn="l">
              <a:spcAft>
                <a:spcPts val="0"/>
              </a:spcAft>
              <a:buNone/>
            </a:pPr>
            <a:r>
              <a:rPr lang="en-US" b="1" dirty="0">
                <a:solidFill>
                  <a:srgbClr val="F9C5D7"/>
                </a:solidFill>
                <a:latin typeface="Consolas" pitchFamily="49" charset="0"/>
                <a:cs typeface="Consolas" pitchFamily="49" charset="0"/>
              </a:rPr>
              <a:t>n = |C|</a:t>
            </a:r>
          </a:p>
          <a:p>
            <a:pPr marL="0" indent="0" algn="l">
              <a:spcAft>
                <a:spcPts val="0"/>
              </a:spcAft>
              <a:buNone/>
            </a:pPr>
            <a:r>
              <a:rPr lang="en-US" b="1" dirty="0">
                <a:solidFill>
                  <a:srgbClr val="F9C5D7"/>
                </a:solidFill>
                <a:latin typeface="Consolas" pitchFamily="49" charset="0"/>
                <a:cs typeface="Consolas" pitchFamily="49" charset="0"/>
              </a:rPr>
              <a:t>Q = C</a:t>
            </a:r>
          </a:p>
          <a:p>
            <a:pPr marL="0" indent="0" algn="l">
              <a:spcAft>
                <a:spcPts val="0"/>
              </a:spcAft>
              <a:buNone/>
            </a:pPr>
            <a:r>
              <a:rPr lang="en-US" b="1" dirty="0">
                <a:solidFill>
                  <a:srgbClr val="F9C5D7"/>
                </a:solidFill>
                <a:latin typeface="Consolas" pitchFamily="49" charset="0"/>
                <a:cs typeface="Consolas" pitchFamily="49" charset="0"/>
              </a:rPr>
              <a:t>for </a:t>
            </a:r>
            <a:r>
              <a:rPr lang="en-US" b="1" dirty="0" err="1">
                <a:solidFill>
                  <a:srgbClr val="F9C5D7"/>
                </a:solidFill>
                <a:latin typeface="Consolas" pitchFamily="49" charset="0"/>
                <a:cs typeface="Consolas" pitchFamily="49" charset="0"/>
              </a:rPr>
              <a:t>i</a:t>
            </a:r>
            <a:r>
              <a:rPr lang="en-US" b="1" dirty="0">
                <a:solidFill>
                  <a:srgbClr val="F9C5D7"/>
                </a:solidFill>
                <a:latin typeface="Consolas" pitchFamily="49" charset="0"/>
                <a:cs typeface="Consolas" pitchFamily="49" charset="0"/>
              </a:rPr>
              <a:t> = 1 to n-1</a:t>
            </a:r>
          </a:p>
          <a:p>
            <a:pPr marL="0" indent="0" algn="l">
              <a:spcAft>
                <a:spcPts val="0"/>
              </a:spcAft>
              <a:buNone/>
            </a:pPr>
            <a:r>
              <a:rPr lang="en-US" b="1" dirty="0">
                <a:solidFill>
                  <a:srgbClr val="F9C5D7"/>
                </a:solidFill>
                <a:latin typeface="Consolas" pitchFamily="49" charset="0"/>
                <a:cs typeface="Consolas" pitchFamily="49" charset="0"/>
              </a:rPr>
              <a:t>        allocate a new node z</a:t>
            </a:r>
          </a:p>
          <a:p>
            <a:pPr marL="0" indent="0" algn="l">
              <a:spcAft>
                <a:spcPts val="0"/>
              </a:spcAft>
              <a:buNone/>
            </a:pPr>
            <a:r>
              <a:rPr lang="en-US" b="1" dirty="0">
                <a:solidFill>
                  <a:srgbClr val="F9C5D7"/>
                </a:solidFill>
                <a:latin typeface="Consolas" pitchFamily="49" charset="0"/>
                <a:cs typeface="Consolas" pitchFamily="49" charset="0"/>
              </a:rPr>
              <a:t>        </a:t>
            </a:r>
            <a:r>
              <a:rPr lang="en-US" b="1" dirty="0" err="1">
                <a:solidFill>
                  <a:srgbClr val="F9C5D7"/>
                </a:solidFill>
                <a:latin typeface="Consolas" pitchFamily="49" charset="0"/>
                <a:cs typeface="Consolas" pitchFamily="49" charset="0"/>
              </a:rPr>
              <a:t>z.left</a:t>
            </a:r>
            <a:r>
              <a:rPr lang="en-US" b="1" dirty="0">
                <a:solidFill>
                  <a:srgbClr val="F9C5D7"/>
                </a:solidFill>
                <a:latin typeface="Consolas" pitchFamily="49" charset="0"/>
                <a:cs typeface="Consolas" pitchFamily="49" charset="0"/>
              </a:rPr>
              <a:t> = x = EXTRACT-MIN(Q)</a:t>
            </a:r>
          </a:p>
          <a:p>
            <a:pPr marL="0" indent="0" algn="l">
              <a:spcAft>
                <a:spcPts val="0"/>
              </a:spcAft>
              <a:buNone/>
            </a:pPr>
            <a:r>
              <a:rPr lang="en-US" b="1" dirty="0">
                <a:solidFill>
                  <a:srgbClr val="F9C5D7"/>
                </a:solidFill>
                <a:latin typeface="Consolas" pitchFamily="49" charset="0"/>
                <a:cs typeface="Consolas" pitchFamily="49" charset="0"/>
              </a:rPr>
              <a:t>        </a:t>
            </a:r>
            <a:r>
              <a:rPr lang="en-US" b="1" dirty="0" err="1">
                <a:solidFill>
                  <a:srgbClr val="F9C5D7"/>
                </a:solidFill>
                <a:latin typeface="Consolas" pitchFamily="49" charset="0"/>
                <a:cs typeface="Consolas" pitchFamily="49" charset="0"/>
              </a:rPr>
              <a:t>z.right</a:t>
            </a:r>
            <a:r>
              <a:rPr lang="en-US" b="1" dirty="0">
                <a:solidFill>
                  <a:srgbClr val="F9C5D7"/>
                </a:solidFill>
                <a:latin typeface="Consolas" pitchFamily="49" charset="0"/>
                <a:cs typeface="Consolas" pitchFamily="49" charset="0"/>
              </a:rPr>
              <a:t> = y = EXTRACT-MIN(Q)</a:t>
            </a:r>
          </a:p>
          <a:p>
            <a:pPr marL="0" indent="0" algn="l">
              <a:spcAft>
                <a:spcPts val="0"/>
              </a:spcAft>
              <a:buNone/>
            </a:pPr>
            <a:r>
              <a:rPr lang="en-US" b="1" dirty="0">
                <a:solidFill>
                  <a:srgbClr val="F9C5D7"/>
                </a:solidFill>
                <a:latin typeface="Consolas" pitchFamily="49" charset="0"/>
                <a:cs typeface="Consolas" pitchFamily="49" charset="0"/>
              </a:rPr>
              <a:t>        </a:t>
            </a:r>
            <a:r>
              <a:rPr lang="en-US" b="1" dirty="0" err="1">
                <a:solidFill>
                  <a:srgbClr val="F9C5D7"/>
                </a:solidFill>
                <a:latin typeface="Consolas" pitchFamily="49" charset="0"/>
                <a:cs typeface="Consolas" pitchFamily="49" charset="0"/>
              </a:rPr>
              <a:t>z.freq</a:t>
            </a:r>
            <a:r>
              <a:rPr lang="en-US" b="1" dirty="0">
                <a:solidFill>
                  <a:srgbClr val="F9C5D7"/>
                </a:solidFill>
                <a:latin typeface="Consolas" pitchFamily="49" charset="0"/>
                <a:cs typeface="Consolas" pitchFamily="49" charset="0"/>
              </a:rPr>
              <a:t> = </a:t>
            </a:r>
            <a:r>
              <a:rPr lang="en-US" b="1" dirty="0" err="1">
                <a:solidFill>
                  <a:srgbClr val="F9C5D7"/>
                </a:solidFill>
                <a:latin typeface="Consolas" pitchFamily="49" charset="0"/>
                <a:cs typeface="Consolas" pitchFamily="49" charset="0"/>
              </a:rPr>
              <a:t>x.freq</a:t>
            </a:r>
            <a:r>
              <a:rPr lang="en-US" b="1" dirty="0">
                <a:solidFill>
                  <a:srgbClr val="F9C5D7"/>
                </a:solidFill>
                <a:latin typeface="Consolas" pitchFamily="49" charset="0"/>
                <a:cs typeface="Consolas" pitchFamily="49" charset="0"/>
              </a:rPr>
              <a:t> + </a:t>
            </a:r>
            <a:r>
              <a:rPr lang="en-US" b="1" dirty="0" err="1">
                <a:solidFill>
                  <a:srgbClr val="F9C5D7"/>
                </a:solidFill>
                <a:latin typeface="Consolas" pitchFamily="49" charset="0"/>
                <a:cs typeface="Consolas" pitchFamily="49" charset="0"/>
              </a:rPr>
              <a:t>y.freq</a:t>
            </a:r>
            <a:endParaRPr lang="en-US" b="1" dirty="0">
              <a:solidFill>
                <a:srgbClr val="F9C5D7"/>
              </a:solidFill>
              <a:latin typeface="Consolas" pitchFamily="49" charset="0"/>
              <a:cs typeface="Consolas" pitchFamily="49" charset="0"/>
            </a:endParaRPr>
          </a:p>
          <a:p>
            <a:pPr marL="0" indent="0" algn="l">
              <a:spcAft>
                <a:spcPts val="0"/>
              </a:spcAft>
              <a:buNone/>
            </a:pPr>
            <a:r>
              <a:rPr lang="en-US" b="1" dirty="0">
                <a:solidFill>
                  <a:srgbClr val="F9C5D7"/>
                </a:solidFill>
                <a:latin typeface="Consolas" pitchFamily="49" charset="0"/>
                <a:cs typeface="Consolas" pitchFamily="49" charset="0"/>
              </a:rPr>
              <a:t>        INSERT(</a:t>
            </a:r>
            <a:r>
              <a:rPr lang="en-US" b="1" dirty="0" err="1">
                <a:solidFill>
                  <a:srgbClr val="F9C5D7"/>
                </a:solidFill>
                <a:latin typeface="Consolas" pitchFamily="49" charset="0"/>
                <a:cs typeface="Consolas" pitchFamily="49" charset="0"/>
              </a:rPr>
              <a:t>Q,z</a:t>
            </a:r>
            <a:r>
              <a:rPr lang="en-US" b="1" dirty="0">
                <a:solidFill>
                  <a:srgbClr val="F9C5D7"/>
                </a:solidFill>
                <a:latin typeface="Consolas" pitchFamily="49" charset="0"/>
                <a:cs typeface="Consolas" pitchFamily="49" charset="0"/>
              </a:rPr>
              <a:t>)</a:t>
            </a:r>
          </a:p>
          <a:p>
            <a:pPr marL="0" indent="0" algn="l">
              <a:spcAft>
                <a:spcPts val="0"/>
              </a:spcAft>
              <a:buNone/>
            </a:pPr>
            <a:r>
              <a:rPr lang="en-US" b="1" dirty="0">
                <a:solidFill>
                  <a:srgbClr val="F9C5D7"/>
                </a:solidFill>
                <a:latin typeface="Consolas" pitchFamily="49" charset="0"/>
                <a:cs typeface="Consolas" pitchFamily="49" charset="0"/>
              </a:rPr>
              <a:t>return EXTRACT-MIN(Q)  // </a:t>
            </a:r>
            <a:r>
              <a:rPr lang="en-US" sz="2200" b="1" dirty="0">
                <a:solidFill>
                  <a:srgbClr val="F9C5D7"/>
                </a:solidFill>
                <a:latin typeface="Consolas" pitchFamily="49" charset="0"/>
                <a:cs typeface="Consolas" pitchFamily="49" charset="0"/>
              </a:rPr>
              <a:t>return the root of the tree</a:t>
            </a:r>
          </a:p>
          <a:p>
            <a:endParaRPr lang="en-US" dirty="0"/>
          </a:p>
        </p:txBody>
      </p:sp>
    </p:spTree>
    <p:extLst>
      <p:ext uri="{BB962C8B-B14F-4D97-AF65-F5344CB8AC3E}">
        <p14:creationId xmlns:p14="http://schemas.microsoft.com/office/powerpoint/2010/main" val="3102808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AAF0F-63DB-45E0-BB48-DB036999C030}"/>
              </a:ext>
            </a:extLst>
          </p:cNvPr>
          <p:cNvSpPr>
            <a:spLocks noGrp="1"/>
          </p:cNvSpPr>
          <p:nvPr>
            <p:ph type="title"/>
          </p:nvPr>
        </p:nvSpPr>
        <p:spPr/>
        <p:txBody>
          <a:bodyPr/>
          <a:lstStyle/>
          <a:p>
            <a:r>
              <a:rPr lang="en-IN" dirty="0"/>
              <a:t>Complexity analysis</a:t>
            </a:r>
          </a:p>
        </p:txBody>
      </p:sp>
      <p:sp>
        <p:nvSpPr>
          <p:cNvPr id="3" name="Content Placeholder 2">
            <a:extLst>
              <a:ext uri="{FF2B5EF4-FFF2-40B4-BE49-F238E27FC236}">
                <a16:creationId xmlns:a16="http://schemas.microsoft.com/office/drawing/2014/main" id="{D9EA7370-0037-40C0-851F-8CF9A6BEC3A0}"/>
              </a:ext>
            </a:extLst>
          </p:cNvPr>
          <p:cNvSpPr>
            <a:spLocks noGrp="1"/>
          </p:cNvSpPr>
          <p:nvPr>
            <p:ph idx="1"/>
          </p:nvPr>
        </p:nvSpPr>
        <p:spPr/>
        <p:txBody>
          <a:bodyPr/>
          <a:lstStyle/>
          <a:p>
            <a:pPr marL="0" indent="0">
              <a:buNone/>
            </a:pPr>
            <a:r>
              <a:rPr lang="en-US" dirty="0"/>
              <a:t>Time complexity: </a:t>
            </a:r>
            <a:r>
              <a:rPr lang="en-US" dirty="0">
                <a:solidFill>
                  <a:srgbClr val="C00000"/>
                </a:solidFill>
              </a:rPr>
              <a:t>O(N </a:t>
            </a:r>
            <a:r>
              <a:rPr lang="en-US" dirty="0" err="1">
                <a:solidFill>
                  <a:srgbClr val="C00000"/>
                </a:solidFill>
              </a:rPr>
              <a:t>logN</a:t>
            </a:r>
            <a:r>
              <a:rPr lang="en-US" dirty="0">
                <a:solidFill>
                  <a:srgbClr val="C00000"/>
                </a:solidFill>
              </a:rPr>
              <a:t>)</a:t>
            </a:r>
          </a:p>
          <a:p>
            <a:r>
              <a:rPr lang="en-US" dirty="0"/>
              <a:t>Sorting will take O(N </a:t>
            </a:r>
            <a:r>
              <a:rPr lang="en-US" dirty="0" err="1"/>
              <a:t>logN</a:t>
            </a:r>
            <a:r>
              <a:rPr lang="en-US" dirty="0"/>
              <a:t>)</a:t>
            </a:r>
          </a:p>
          <a:p>
            <a:r>
              <a:rPr lang="en-US" dirty="0"/>
              <a:t>The time taken for encoding each given unique character depending on its frequency is O(N </a:t>
            </a:r>
            <a:r>
              <a:rPr lang="en-US" dirty="0" err="1"/>
              <a:t>logN</a:t>
            </a:r>
            <a:r>
              <a:rPr lang="en-US" dirty="0"/>
              <a:t>) where N is the number of unique given characters.</a:t>
            </a:r>
          </a:p>
          <a:p>
            <a:r>
              <a:rPr lang="en-US" dirty="0"/>
              <a:t>Getting minimum from the priority queue(min-heap): time complexity is O(log N) since it calls </a:t>
            </a:r>
            <a:r>
              <a:rPr lang="en-US" dirty="0" err="1"/>
              <a:t>minHeapify</a:t>
            </a:r>
            <a:r>
              <a:rPr lang="en-US" dirty="0"/>
              <a:t> method.</a:t>
            </a:r>
          </a:p>
          <a:p>
            <a:r>
              <a:rPr lang="en-US" dirty="0" err="1"/>
              <a:t>extractmin</a:t>
            </a:r>
            <a:r>
              <a:rPr lang="en-US" dirty="0"/>
              <a:t>() is called for 2*(N-1) times i.e. 2*(N-1)*log N</a:t>
            </a:r>
          </a:p>
          <a:p>
            <a:r>
              <a:rPr lang="en-US" dirty="0" err="1"/>
              <a:t>Inertnode</a:t>
            </a:r>
            <a:r>
              <a:rPr lang="en-US" dirty="0"/>
              <a:t>() is called for (N-1) times </a:t>
            </a:r>
            <a:r>
              <a:rPr lang="en-US" dirty="0" err="1"/>
              <a:t>i.e</a:t>
            </a:r>
            <a:r>
              <a:rPr lang="en-US" dirty="0"/>
              <a:t> (N-1) * log N</a:t>
            </a:r>
          </a:p>
          <a:p>
            <a:r>
              <a:rPr lang="en-US"/>
              <a:t>Therefore, </a:t>
            </a:r>
            <a:r>
              <a:rPr lang="en-US" dirty="0"/>
              <a:t>the overall complexity of Huffman Coding is considered to be O(N </a:t>
            </a:r>
            <a:r>
              <a:rPr lang="en-US" dirty="0" err="1"/>
              <a:t>logN</a:t>
            </a:r>
            <a:r>
              <a:rPr lang="en-US" dirty="0"/>
              <a:t>).</a:t>
            </a:r>
          </a:p>
          <a:p>
            <a:r>
              <a:rPr lang="en-US" dirty="0"/>
              <a:t>Space Complexity: O(N)</a:t>
            </a:r>
          </a:p>
          <a:p>
            <a:r>
              <a:rPr lang="en-US" dirty="0"/>
              <a:t>The space complexity is O(N) because there are N characters used for storing them in a map/array while calculating their frequency.</a:t>
            </a:r>
            <a:endParaRPr lang="en-IN" dirty="0"/>
          </a:p>
        </p:txBody>
      </p:sp>
    </p:spTree>
    <p:extLst>
      <p:ext uri="{BB962C8B-B14F-4D97-AF65-F5344CB8AC3E}">
        <p14:creationId xmlns:p14="http://schemas.microsoft.com/office/powerpoint/2010/main" val="4097997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Exercises – Home Work</a:t>
            </a:r>
          </a:p>
        </p:txBody>
      </p:sp>
      <p:sp>
        <p:nvSpPr>
          <p:cNvPr id="3" name="Content Placeholder 2"/>
          <p:cNvSpPr>
            <a:spLocks noGrp="1"/>
          </p:cNvSpPr>
          <p:nvPr>
            <p:ph idx="1"/>
          </p:nvPr>
        </p:nvSpPr>
        <p:spPr/>
        <p:txBody>
          <a:bodyPr/>
          <a:lstStyle/>
          <a:p>
            <a:r>
              <a:rPr lang="en-US" dirty="0"/>
              <a:t>Find an optimal Huffman code for the following set of frequency. </a:t>
            </a:r>
          </a:p>
          <a:p>
            <a:pPr marL="457200" indent="-457200">
              <a:buFont typeface="+mj-lt"/>
              <a:buAutoNum type="arabicPeriod"/>
            </a:pPr>
            <a:r>
              <a:rPr lang="en-US" dirty="0"/>
              <a:t>a : 50,    b : 20, c : 15, d : 30.</a:t>
            </a:r>
          </a:p>
          <a:p>
            <a:pPr marL="457200" indent="-457200">
              <a:buFont typeface="+mj-lt"/>
              <a:buAutoNum type="arabicPeriod"/>
            </a:pPr>
            <a:r>
              <a:rPr lang="en-US" dirty="0"/>
              <a:t>Frequency </a:t>
            </a:r>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endParaRPr lang="en-US" dirty="0"/>
          </a:p>
          <a:p>
            <a:pPr marL="457200" indent="-457200">
              <a:buFont typeface="+mj-lt"/>
              <a:buAutoNum type="arabicPeriod"/>
            </a:pPr>
            <a:r>
              <a:rPr lang="en-US" dirty="0"/>
              <a:t>Frequency </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397945691"/>
              </p:ext>
            </p:extLst>
          </p:nvPr>
        </p:nvGraphicFramePr>
        <p:xfrm>
          <a:off x="1631576" y="2291123"/>
          <a:ext cx="8928849" cy="1035784"/>
        </p:xfrm>
        <a:graphic>
          <a:graphicData uri="http://schemas.openxmlformats.org/drawingml/2006/table">
            <a:tbl>
              <a:tblPr firstRow="1" firstCol="1" bandRow="1">
                <a:tableStyleId>{21E4AEA4-8DFA-4A89-87EB-49C32662AFE0}</a:tableStyleId>
              </a:tblPr>
              <a:tblGrid>
                <a:gridCol w="3240741">
                  <a:extLst>
                    <a:ext uri="{9D8B030D-6E8A-4147-A177-3AD203B41FA5}">
                      <a16:colId xmlns:a16="http://schemas.microsoft.com/office/drawing/2014/main" val="354366288"/>
                    </a:ext>
                  </a:extLst>
                </a:gridCol>
                <a:gridCol w="948018">
                  <a:extLst>
                    <a:ext uri="{9D8B030D-6E8A-4147-A177-3AD203B41FA5}">
                      <a16:colId xmlns:a16="http://schemas.microsoft.com/office/drawing/2014/main" val="1307534128"/>
                    </a:ext>
                  </a:extLst>
                </a:gridCol>
                <a:gridCol w="948018">
                  <a:extLst>
                    <a:ext uri="{9D8B030D-6E8A-4147-A177-3AD203B41FA5}">
                      <a16:colId xmlns:a16="http://schemas.microsoft.com/office/drawing/2014/main" val="1566708603"/>
                    </a:ext>
                  </a:extLst>
                </a:gridCol>
                <a:gridCol w="948018">
                  <a:extLst>
                    <a:ext uri="{9D8B030D-6E8A-4147-A177-3AD203B41FA5}">
                      <a16:colId xmlns:a16="http://schemas.microsoft.com/office/drawing/2014/main" val="931776294"/>
                    </a:ext>
                  </a:extLst>
                </a:gridCol>
                <a:gridCol w="948018">
                  <a:extLst>
                    <a:ext uri="{9D8B030D-6E8A-4147-A177-3AD203B41FA5}">
                      <a16:colId xmlns:a16="http://schemas.microsoft.com/office/drawing/2014/main" val="3173872714"/>
                    </a:ext>
                  </a:extLst>
                </a:gridCol>
                <a:gridCol w="948018">
                  <a:extLst>
                    <a:ext uri="{9D8B030D-6E8A-4147-A177-3AD203B41FA5}">
                      <a16:colId xmlns:a16="http://schemas.microsoft.com/office/drawing/2014/main" val="699234910"/>
                    </a:ext>
                  </a:extLst>
                </a:gridCol>
                <a:gridCol w="948018">
                  <a:extLst>
                    <a:ext uri="{9D8B030D-6E8A-4147-A177-3AD203B41FA5}">
                      <a16:colId xmlns:a16="http://schemas.microsoft.com/office/drawing/2014/main" val="2308475217"/>
                    </a:ext>
                  </a:extLst>
                </a:gridCol>
              </a:tblGrid>
              <a:tr h="517892">
                <a:tc>
                  <a:txBody>
                    <a:bodyPr/>
                    <a:lstStyle/>
                    <a:p>
                      <a:pPr marL="0" marR="0" algn="ctr">
                        <a:lnSpc>
                          <a:spcPct val="115000"/>
                        </a:lnSpc>
                        <a:spcBef>
                          <a:spcPts val="0"/>
                        </a:spcBef>
                        <a:spcAft>
                          <a:spcPts val="0"/>
                        </a:spcAft>
                      </a:pPr>
                      <a:r>
                        <a:rPr lang="en-US" sz="2400" b="0" dirty="0">
                          <a:solidFill>
                            <a:srgbClr val="C00000"/>
                          </a:solidFill>
                          <a:effectLst/>
                        </a:rPr>
                        <a:t>Characters</a:t>
                      </a:r>
                      <a:endParaRPr lang="en-US" sz="2400" b="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marR="0" algn="ctr">
                        <a:lnSpc>
                          <a:spcPct val="115000"/>
                        </a:lnSpc>
                        <a:spcBef>
                          <a:spcPts val="0"/>
                        </a:spcBef>
                        <a:spcAft>
                          <a:spcPts val="0"/>
                        </a:spcAft>
                      </a:pPr>
                      <a:r>
                        <a:rPr lang="en-US" sz="2400" dirty="0">
                          <a:solidFill>
                            <a:srgbClr val="C00000"/>
                          </a:solidFill>
                          <a:effectLst/>
                        </a:rPr>
                        <a:t>A</a:t>
                      </a:r>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marR="0" algn="ctr">
                        <a:lnSpc>
                          <a:spcPct val="115000"/>
                        </a:lnSpc>
                        <a:spcBef>
                          <a:spcPts val="0"/>
                        </a:spcBef>
                        <a:spcAft>
                          <a:spcPts val="0"/>
                        </a:spcAft>
                      </a:pPr>
                      <a:r>
                        <a:rPr lang="en-US" sz="2400" dirty="0">
                          <a:solidFill>
                            <a:srgbClr val="C00000"/>
                          </a:solidFill>
                          <a:effectLst/>
                          <a:latin typeface="+mn-lt"/>
                          <a:ea typeface="+mn-ea"/>
                          <a:cs typeface="+mn-cs"/>
                        </a:rPr>
                        <a:t>B</a:t>
                      </a:r>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marR="0" algn="ctr">
                        <a:lnSpc>
                          <a:spcPct val="115000"/>
                        </a:lnSpc>
                        <a:spcBef>
                          <a:spcPts val="0"/>
                        </a:spcBef>
                        <a:spcAft>
                          <a:spcPts val="0"/>
                        </a:spcAft>
                      </a:pPr>
                      <a:r>
                        <a:rPr lang="en-US" sz="2400" dirty="0">
                          <a:solidFill>
                            <a:srgbClr val="C00000"/>
                          </a:solidFill>
                          <a:effectLst/>
                        </a:rPr>
                        <a:t>C</a:t>
                      </a:r>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marR="0" algn="ctr">
                        <a:lnSpc>
                          <a:spcPct val="115000"/>
                        </a:lnSpc>
                        <a:spcBef>
                          <a:spcPts val="0"/>
                        </a:spcBef>
                        <a:spcAft>
                          <a:spcPts val="0"/>
                        </a:spcAft>
                      </a:pPr>
                      <a:r>
                        <a:rPr lang="en-US" sz="2400" dirty="0">
                          <a:solidFill>
                            <a:srgbClr val="C00000"/>
                          </a:solidFill>
                          <a:effectLst/>
                        </a:rPr>
                        <a:t>D</a:t>
                      </a:r>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marR="0" algn="ctr">
                        <a:lnSpc>
                          <a:spcPct val="115000"/>
                        </a:lnSpc>
                        <a:spcBef>
                          <a:spcPts val="0"/>
                        </a:spcBef>
                        <a:spcAft>
                          <a:spcPts val="0"/>
                        </a:spcAft>
                      </a:pPr>
                      <a:r>
                        <a:rPr lang="en-US" sz="2400" dirty="0">
                          <a:solidFill>
                            <a:srgbClr val="C00000"/>
                          </a:solidFill>
                          <a:effectLst/>
                        </a:rPr>
                        <a:t>E</a:t>
                      </a:r>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marR="0" algn="ctr">
                        <a:lnSpc>
                          <a:spcPct val="115000"/>
                        </a:lnSpc>
                        <a:spcBef>
                          <a:spcPts val="0"/>
                        </a:spcBef>
                        <a:spcAft>
                          <a:spcPts val="0"/>
                        </a:spcAft>
                      </a:pPr>
                      <a:r>
                        <a:rPr lang="en-US" sz="2400" dirty="0">
                          <a:solidFill>
                            <a:srgbClr val="C00000"/>
                          </a:solidFill>
                          <a:effectLst/>
                        </a:rPr>
                        <a:t>F</a:t>
                      </a:r>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extLst>
                  <a:ext uri="{0D108BD9-81ED-4DB2-BD59-A6C34878D82A}">
                    <a16:rowId xmlns:a16="http://schemas.microsoft.com/office/drawing/2014/main" val="3991759993"/>
                  </a:ext>
                </a:extLst>
              </a:tr>
              <a:tr h="517892">
                <a:tc>
                  <a:txBody>
                    <a:bodyPr/>
                    <a:lstStyle/>
                    <a:p>
                      <a:pPr marL="0" marR="0">
                        <a:lnSpc>
                          <a:spcPct val="115000"/>
                        </a:lnSpc>
                        <a:spcBef>
                          <a:spcPts val="0"/>
                        </a:spcBef>
                        <a:spcAft>
                          <a:spcPts val="0"/>
                        </a:spcAft>
                      </a:pPr>
                      <a:r>
                        <a:rPr lang="en-US" sz="2400" b="0" dirty="0">
                          <a:solidFill>
                            <a:srgbClr val="C00000"/>
                          </a:solidFill>
                          <a:effectLst/>
                        </a:rPr>
                        <a:t>Frequency (in thousand)</a:t>
                      </a:r>
                      <a:endParaRPr lang="en-US" sz="2400" b="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lumMod val="85000"/>
                      </a:schemeClr>
                    </a:solidFill>
                  </a:tcPr>
                </a:tc>
                <a:tc>
                  <a:txBody>
                    <a:bodyPr/>
                    <a:lstStyle/>
                    <a:p>
                      <a:pPr marL="0" marR="0" algn="ctr">
                        <a:lnSpc>
                          <a:spcPct val="115000"/>
                        </a:lnSpc>
                        <a:spcBef>
                          <a:spcPts val="0"/>
                        </a:spcBef>
                        <a:spcAft>
                          <a:spcPts val="0"/>
                        </a:spcAft>
                      </a:pPr>
                      <a:r>
                        <a:rPr lang="en-US" sz="2400" dirty="0">
                          <a:effectLst/>
                        </a:rPr>
                        <a:t>24</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2400" dirty="0">
                          <a:effectLst/>
                        </a:rPr>
                        <a:t>12</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2400" dirty="0">
                          <a:effectLst/>
                        </a:rPr>
                        <a:t>10</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2400" dirty="0">
                          <a:effectLst/>
                        </a:rPr>
                        <a:t>8</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2400" dirty="0">
                          <a:effectLst/>
                        </a:rPr>
                        <a:t>8</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2400" dirty="0">
                          <a:effectLst/>
                        </a:rPr>
                        <a:t>5</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1834702"/>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407397396"/>
              </p:ext>
            </p:extLst>
          </p:nvPr>
        </p:nvGraphicFramePr>
        <p:xfrm>
          <a:off x="1826557" y="4233100"/>
          <a:ext cx="8538886" cy="1035784"/>
        </p:xfrm>
        <a:graphic>
          <a:graphicData uri="http://schemas.openxmlformats.org/drawingml/2006/table">
            <a:tbl>
              <a:tblPr firstRow="1" firstCol="1" bandRow="1">
                <a:tableStyleId>{21E4AEA4-8DFA-4A89-87EB-49C32662AFE0}</a:tableStyleId>
              </a:tblPr>
              <a:tblGrid>
                <a:gridCol w="3142943">
                  <a:extLst>
                    <a:ext uri="{9D8B030D-6E8A-4147-A177-3AD203B41FA5}">
                      <a16:colId xmlns:a16="http://schemas.microsoft.com/office/drawing/2014/main" val="354366288"/>
                    </a:ext>
                  </a:extLst>
                </a:gridCol>
                <a:gridCol w="770849">
                  <a:extLst>
                    <a:ext uri="{9D8B030D-6E8A-4147-A177-3AD203B41FA5}">
                      <a16:colId xmlns:a16="http://schemas.microsoft.com/office/drawing/2014/main" val="1307534128"/>
                    </a:ext>
                  </a:extLst>
                </a:gridCol>
                <a:gridCol w="770849">
                  <a:extLst>
                    <a:ext uri="{9D8B030D-6E8A-4147-A177-3AD203B41FA5}">
                      <a16:colId xmlns:a16="http://schemas.microsoft.com/office/drawing/2014/main" val="1566708603"/>
                    </a:ext>
                  </a:extLst>
                </a:gridCol>
                <a:gridCol w="770849">
                  <a:extLst>
                    <a:ext uri="{9D8B030D-6E8A-4147-A177-3AD203B41FA5}">
                      <a16:colId xmlns:a16="http://schemas.microsoft.com/office/drawing/2014/main" val="931776294"/>
                    </a:ext>
                  </a:extLst>
                </a:gridCol>
                <a:gridCol w="770849">
                  <a:extLst>
                    <a:ext uri="{9D8B030D-6E8A-4147-A177-3AD203B41FA5}">
                      <a16:colId xmlns:a16="http://schemas.microsoft.com/office/drawing/2014/main" val="3173872714"/>
                    </a:ext>
                  </a:extLst>
                </a:gridCol>
                <a:gridCol w="770849">
                  <a:extLst>
                    <a:ext uri="{9D8B030D-6E8A-4147-A177-3AD203B41FA5}">
                      <a16:colId xmlns:a16="http://schemas.microsoft.com/office/drawing/2014/main" val="699234910"/>
                    </a:ext>
                  </a:extLst>
                </a:gridCol>
                <a:gridCol w="770849">
                  <a:extLst>
                    <a:ext uri="{9D8B030D-6E8A-4147-A177-3AD203B41FA5}">
                      <a16:colId xmlns:a16="http://schemas.microsoft.com/office/drawing/2014/main" val="2308475217"/>
                    </a:ext>
                  </a:extLst>
                </a:gridCol>
                <a:gridCol w="770849">
                  <a:extLst>
                    <a:ext uri="{9D8B030D-6E8A-4147-A177-3AD203B41FA5}">
                      <a16:colId xmlns:a16="http://schemas.microsoft.com/office/drawing/2014/main" val="4084856429"/>
                    </a:ext>
                  </a:extLst>
                </a:gridCol>
              </a:tblGrid>
              <a:tr h="517892">
                <a:tc>
                  <a:txBody>
                    <a:bodyPr/>
                    <a:lstStyle/>
                    <a:p>
                      <a:pPr marL="0" marR="0" algn="ctr">
                        <a:lnSpc>
                          <a:spcPct val="115000"/>
                        </a:lnSpc>
                        <a:spcBef>
                          <a:spcPts val="0"/>
                        </a:spcBef>
                        <a:spcAft>
                          <a:spcPts val="0"/>
                        </a:spcAft>
                      </a:pPr>
                      <a:r>
                        <a:rPr lang="en-US" sz="2400" b="0" dirty="0">
                          <a:solidFill>
                            <a:srgbClr val="C00000"/>
                          </a:solidFill>
                          <a:effectLst/>
                        </a:rPr>
                        <a:t>Characters</a:t>
                      </a:r>
                      <a:endParaRPr lang="en-US" sz="2400" b="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85000"/>
                      </a:schemeClr>
                    </a:solidFill>
                  </a:tcPr>
                </a:tc>
                <a:tc>
                  <a:txBody>
                    <a:bodyPr/>
                    <a:lstStyle/>
                    <a:p>
                      <a:pPr marL="0" marR="0" algn="ctr">
                        <a:lnSpc>
                          <a:spcPct val="115000"/>
                        </a:lnSpc>
                        <a:spcBef>
                          <a:spcPts val="0"/>
                        </a:spcBef>
                        <a:spcAft>
                          <a:spcPts val="0"/>
                        </a:spcAft>
                      </a:pPr>
                      <a:r>
                        <a:rPr lang="en-US" sz="2400" dirty="0">
                          <a:solidFill>
                            <a:srgbClr val="C00000"/>
                          </a:solidFill>
                          <a:effectLst/>
                          <a:latin typeface="+mn-lt"/>
                          <a:ea typeface="+mn-ea"/>
                          <a:cs typeface="+mn-cs"/>
                        </a:rPr>
                        <a:t>a</a:t>
                      </a:r>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85000"/>
                      </a:schemeClr>
                    </a:solidFill>
                  </a:tcPr>
                </a:tc>
                <a:tc>
                  <a:txBody>
                    <a:bodyPr/>
                    <a:lstStyle/>
                    <a:p>
                      <a:pPr marL="0" marR="0" algn="ctr">
                        <a:lnSpc>
                          <a:spcPct val="115000"/>
                        </a:lnSpc>
                        <a:spcBef>
                          <a:spcPts val="0"/>
                        </a:spcBef>
                        <a:spcAft>
                          <a:spcPts val="0"/>
                        </a:spcAft>
                      </a:pPr>
                      <a:r>
                        <a:rPr lang="en-US" sz="2400" dirty="0">
                          <a:solidFill>
                            <a:srgbClr val="C00000"/>
                          </a:solidFill>
                          <a:effectLst/>
                          <a:latin typeface="+mn-lt"/>
                          <a:ea typeface="+mn-ea"/>
                          <a:cs typeface="+mn-cs"/>
                        </a:rPr>
                        <a:t>b</a:t>
                      </a:r>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85000"/>
                      </a:schemeClr>
                    </a:solidFill>
                  </a:tcPr>
                </a:tc>
                <a:tc>
                  <a:txBody>
                    <a:bodyPr/>
                    <a:lstStyle/>
                    <a:p>
                      <a:pPr marL="0" marR="0" algn="ctr">
                        <a:lnSpc>
                          <a:spcPct val="115000"/>
                        </a:lnSpc>
                        <a:spcBef>
                          <a:spcPts val="0"/>
                        </a:spcBef>
                        <a:spcAft>
                          <a:spcPts val="0"/>
                        </a:spcAft>
                      </a:pPr>
                      <a:r>
                        <a:rPr lang="en-US" sz="2400" dirty="0">
                          <a:solidFill>
                            <a:srgbClr val="C00000"/>
                          </a:solidFill>
                          <a:effectLst/>
                        </a:rPr>
                        <a:t>c</a:t>
                      </a:r>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85000"/>
                      </a:schemeClr>
                    </a:solidFill>
                  </a:tcPr>
                </a:tc>
                <a:tc>
                  <a:txBody>
                    <a:bodyPr/>
                    <a:lstStyle/>
                    <a:p>
                      <a:pPr marL="0" marR="0" algn="ctr">
                        <a:lnSpc>
                          <a:spcPct val="115000"/>
                        </a:lnSpc>
                        <a:spcBef>
                          <a:spcPts val="0"/>
                        </a:spcBef>
                        <a:spcAft>
                          <a:spcPts val="0"/>
                        </a:spcAft>
                      </a:pPr>
                      <a:r>
                        <a:rPr lang="en-US" sz="2400" dirty="0">
                          <a:solidFill>
                            <a:srgbClr val="C00000"/>
                          </a:solidFill>
                          <a:effectLst/>
                        </a:rPr>
                        <a:t>d</a:t>
                      </a:r>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85000"/>
                      </a:schemeClr>
                    </a:solidFill>
                  </a:tcPr>
                </a:tc>
                <a:tc>
                  <a:txBody>
                    <a:bodyPr/>
                    <a:lstStyle/>
                    <a:p>
                      <a:pPr marL="0" marR="0" algn="ctr">
                        <a:lnSpc>
                          <a:spcPct val="115000"/>
                        </a:lnSpc>
                        <a:spcBef>
                          <a:spcPts val="0"/>
                        </a:spcBef>
                        <a:spcAft>
                          <a:spcPts val="0"/>
                        </a:spcAft>
                      </a:pPr>
                      <a:r>
                        <a:rPr lang="en-US" sz="2400" dirty="0">
                          <a:solidFill>
                            <a:srgbClr val="C00000"/>
                          </a:solidFill>
                          <a:effectLst/>
                        </a:rPr>
                        <a:t>e</a:t>
                      </a:r>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85000"/>
                      </a:schemeClr>
                    </a:solidFill>
                  </a:tcPr>
                </a:tc>
                <a:tc>
                  <a:txBody>
                    <a:bodyPr/>
                    <a:lstStyle/>
                    <a:p>
                      <a:pPr marL="0" marR="0" algn="ctr">
                        <a:lnSpc>
                          <a:spcPct val="115000"/>
                        </a:lnSpc>
                        <a:spcBef>
                          <a:spcPts val="0"/>
                        </a:spcBef>
                        <a:spcAft>
                          <a:spcPts val="0"/>
                        </a:spcAft>
                      </a:pPr>
                      <a:r>
                        <a:rPr lang="en-US" sz="2400" dirty="0">
                          <a:solidFill>
                            <a:srgbClr val="C00000"/>
                          </a:solidFill>
                          <a:effectLst/>
                        </a:rPr>
                        <a:t>f</a:t>
                      </a:r>
                      <a:endPar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85000"/>
                      </a:schemeClr>
                    </a:solidFill>
                  </a:tcPr>
                </a:tc>
                <a:tc>
                  <a:txBody>
                    <a:bodyPr/>
                    <a:lstStyle/>
                    <a:p>
                      <a:pPr marL="0" marR="0" algn="ctr">
                        <a:lnSpc>
                          <a:spcPct val="115000"/>
                        </a:lnSpc>
                        <a:spcBef>
                          <a:spcPts val="0"/>
                        </a:spcBef>
                        <a:spcAft>
                          <a:spcPts val="0"/>
                        </a:spcAft>
                      </a:pPr>
                      <a:r>
                        <a:rPr lang="en-US" sz="24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rPr>
                        <a:t>g</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85000"/>
                      </a:schemeClr>
                    </a:solidFill>
                  </a:tcPr>
                </a:tc>
                <a:extLst>
                  <a:ext uri="{0D108BD9-81ED-4DB2-BD59-A6C34878D82A}">
                    <a16:rowId xmlns:a16="http://schemas.microsoft.com/office/drawing/2014/main" val="3991759993"/>
                  </a:ext>
                </a:extLst>
              </a:tr>
              <a:tr h="517892">
                <a:tc>
                  <a:txBody>
                    <a:bodyPr/>
                    <a:lstStyle/>
                    <a:p>
                      <a:pPr marL="0" marR="0">
                        <a:lnSpc>
                          <a:spcPct val="115000"/>
                        </a:lnSpc>
                        <a:spcBef>
                          <a:spcPts val="0"/>
                        </a:spcBef>
                        <a:spcAft>
                          <a:spcPts val="0"/>
                        </a:spcAft>
                      </a:pPr>
                      <a:r>
                        <a:rPr lang="en-US" sz="2400" b="0" dirty="0">
                          <a:solidFill>
                            <a:srgbClr val="C00000"/>
                          </a:solidFill>
                          <a:effectLst/>
                        </a:rPr>
                        <a:t>Frequency (in thousand)</a:t>
                      </a:r>
                      <a:endParaRPr lang="en-US" sz="2400" b="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85000"/>
                      </a:schemeClr>
                    </a:solidFill>
                  </a:tcPr>
                </a:tc>
                <a:tc>
                  <a:txBody>
                    <a:bodyPr/>
                    <a:lstStyle/>
                    <a:p>
                      <a:pPr marL="0" marR="0" algn="ctr">
                        <a:lnSpc>
                          <a:spcPct val="115000"/>
                        </a:lnSpc>
                        <a:spcBef>
                          <a:spcPts val="0"/>
                        </a:spcBef>
                        <a:spcAft>
                          <a:spcPts val="0"/>
                        </a:spcAft>
                      </a:pPr>
                      <a:r>
                        <a:rPr lang="en-US" sz="2400" dirty="0">
                          <a:effectLst/>
                        </a:rPr>
                        <a:t>37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rPr>
                        <a:t>28</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rPr>
                        <a:t>29</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rPr>
                        <a:t>13</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rPr>
                        <a:t>30</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rPr>
                        <a:t>17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ea typeface="Times New Roman" panose="02020603050405020304" pitchFamily="18" charset="0"/>
                          <a:cs typeface="Shruti" panose="020B0502040204020203" pitchFamily="34" charset="0"/>
                        </a:rPr>
                        <a:t>6</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1834702"/>
                  </a:ext>
                </a:extLst>
              </a:tr>
            </a:tbl>
          </a:graphicData>
        </a:graphic>
      </p:graphicFrame>
    </p:spTree>
    <p:extLst>
      <p:ext uri="{BB962C8B-B14F-4D97-AF65-F5344CB8AC3E}">
        <p14:creationId xmlns:p14="http://schemas.microsoft.com/office/powerpoint/2010/main" val="2385320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ircle(in)">
                                      <p:cBhvr>
                                        <p:cTn id="12"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E131D-3C7A-4C93-B9B8-ABE10ABE6793}"/>
              </a:ext>
            </a:extLst>
          </p:cNvPr>
          <p:cNvSpPr>
            <a:spLocks noGrp="1"/>
          </p:cNvSpPr>
          <p:nvPr>
            <p:ph type="title"/>
          </p:nvPr>
        </p:nvSpPr>
        <p:spPr/>
        <p:txBody>
          <a:bodyPr/>
          <a:lstStyle/>
          <a:p>
            <a:r>
              <a:rPr lang="en-IN" dirty="0"/>
              <a:t>Important formula</a:t>
            </a:r>
          </a:p>
        </p:txBody>
      </p:sp>
      <p:pic>
        <p:nvPicPr>
          <p:cNvPr id="5" name="Content Placeholder 4" descr="Graphical user interface&#10;&#10;Description automatically generated with medium confidence">
            <a:extLst>
              <a:ext uri="{FF2B5EF4-FFF2-40B4-BE49-F238E27FC236}">
                <a16:creationId xmlns:a16="http://schemas.microsoft.com/office/drawing/2014/main" id="{DDC52667-A1D1-4123-9170-2B6DC06FA1F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50390" y="837204"/>
            <a:ext cx="7939142" cy="2002247"/>
          </a:xfrm>
        </p:spPr>
      </p:pic>
      <p:sp>
        <p:nvSpPr>
          <p:cNvPr id="7" name="TextBox 6">
            <a:extLst>
              <a:ext uri="{FF2B5EF4-FFF2-40B4-BE49-F238E27FC236}">
                <a16:creationId xmlns:a16="http://schemas.microsoft.com/office/drawing/2014/main" id="{D292F07A-2818-4553-A904-06CDBB27F38E}"/>
              </a:ext>
            </a:extLst>
          </p:cNvPr>
          <p:cNvSpPr txBox="1"/>
          <p:nvPr/>
        </p:nvSpPr>
        <p:spPr>
          <a:xfrm>
            <a:off x="1925053" y="3486082"/>
            <a:ext cx="9480883" cy="1631216"/>
          </a:xfrm>
          <a:prstGeom prst="rect">
            <a:avLst/>
          </a:prstGeom>
          <a:noFill/>
        </p:spPr>
        <p:txBody>
          <a:bodyPr wrap="square">
            <a:spAutoFit/>
          </a:bodyPr>
          <a:lstStyle/>
          <a:p>
            <a:r>
              <a:rPr lang="en-US" sz="2000" b="1" dirty="0"/>
              <a:t>Total number of bits in Huffman encoded message</a:t>
            </a:r>
          </a:p>
          <a:p>
            <a:endParaRPr lang="en-US" sz="2000" dirty="0"/>
          </a:p>
          <a:p>
            <a:r>
              <a:rPr lang="en-US" sz="2000" dirty="0"/>
              <a:t>= Total number of characters in the message x </a:t>
            </a:r>
            <a:r>
              <a:rPr lang="en-US" sz="2000" dirty="0">
                <a:solidFill>
                  <a:srgbClr val="C00000"/>
                </a:solidFill>
              </a:rPr>
              <a:t>Average code length per character</a:t>
            </a:r>
          </a:p>
          <a:p>
            <a:endParaRPr lang="en-US" sz="2000" dirty="0"/>
          </a:p>
          <a:p>
            <a:r>
              <a:rPr lang="en-US" sz="2000" dirty="0"/>
              <a:t>= ∑ ( </a:t>
            </a:r>
            <a:r>
              <a:rPr lang="en-US" sz="2000" dirty="0" err="1"/>
              <a:t>frequency</a:t>
            </a:r>
            <a:r>
              <a:rPr lang="en-US" sz="2000" baseline="-25000" dirty="0" err="1"/>
              <a:t>i</a:t>
            </a:r>
            <a:r>
              <a:rPr lang="en-US" sz="2000" dirty="0"/>
              <a:t> x </a:t>
            </a:r>
            <a:r>
              <a:rPr lang="en-US" sz="2000" dirty="0">
                <a:solidFill>
                  <a:srgbClr val="C00000"/>
                </a:solidFill>
              </a:rPr>
              <a:t>Avg Code </a:t>
            </a:r>
            <a:r>
              <a:rPr lang="en-US" sz="2000" dirty="0" err="1">
                <a:solidFill>
                  <a:srgbClr val="C00000"/>
                </a:solidFill>
              </a:rPr>
              <a:t>length</a:t>
            </a:r>
            <a:r>
              <a:rPr lang="en-US" sz="2000" baseline="-25000" dirty="0" err="1">
                <a:solidFill>
                  <a:srgbClr val="C00000"/>
                </a:solidFill>
              </a:rPr>
              <a:t>i</a:t>
            </a:r>
            <a:r>
              <a:rPr lang="en-US" sz="2000" dirty="0">
                <a:solidFill>
                  <a:srgbClr val="C00000"/>
                </a:solidFill>
              </a:rPr>
              <a:t> </a:t>
            </a:r>
            <a:r>
              <a:rPr lang="en-US" sz="2000" dirty="0"/>
              <a:t>)</a:t>
            </a:r>
            <a:endParaRPr lang="en-IN" sz="2000" dirty="0"/>
          </a:p>
        </p:txBody>
      </p:sp>
    </p:spTree>
    <p:extLst>
      <p:ext uri="{BB962C8B-B14F-4D97-AF65-F5344CB8AC3E}">
        <p14:creationId xmlns:p14="http://schemas.microsoft.com/office/powerpoint/2010/main" val="20314925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2EE0D-51F4-4D12-A05D-9787FF3D2A6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DC53C64-2C98-4740-BD6A-6C8830772743}"/>
              </a:ext>
            </a:extLst>
          </p:cNvPr>
          <p:cNvSpPr>
            <a:spLocks noGrp="1"/>
          </p:cNvSpPr>
          <p:nvPr>
            <p:ph idx="1"/>
          </p:nvPr>
        </p:nvSpPr>
        <p:spPr/>
        <p:txBody>
          <a:bodyPr/>
          <a:lstStyle/>
          <a:p>
            <a:pPr marL="0" indent="0">
              <a:buNone/>
            </a:pPr>
            <a:r>
              <a:rPr lang="en-US" b="1" u="sng" dirty="0">
                <a:effectLst/>
              </a:rPr>
              <a:t>1. Huffman Code For Characters-</a:t>
            </a:r>
            <a:r>
              <a:rPr lang="en-US" dirty="0"/>
              <a:t> </a:t>
            </a:r>
          </a:p>
          <a:p>
            <a:pPr marL="0" indent="0">
              <a:buNone/>
            </a:pPr>
            <a:r>
              <a:rPr lang="en-US" dirty="0"/>
              <a:t>To write Huffman Code for any character, traverse the Huffman Tree from root node to the leaf node of that character.</a:t>
            </a:r>
          </a:p>
          <a:p>
            <a:pPr marL="0" indent="0">
              <a:buNone/>
            </a:pPr>
            <a:r>
              <a:rPr lang="en-US" dirty="0"/>
              <a:t>Following this rule, the Huffman Code for each character is-</a:t>
            </a:r>
          </a:p>
          <a:p>
            <a:pPr lvl="1">
              <a:buFont typeface="Arial" panose="020B0604020202020204" pitchFamily="34" charset="0"/>
              <a:buChar char="•"/>
            </a:pPr>
            <a:r>
              <a:rPr lang="en-US" dirty="0"/>
              <a:t>a = 111      f:10</a:t>
            </a:r>
          </a:p>
          <a:p>
            <a:pPr lvl="1">
              <a:buFont typeface="Arial" panose="020B0604020202020204" pitchFamily="34" charset="0"/>
              <a:buChar char="•"/>
            </a:pPr>
            <a:r>
              <a:rPr lang="en-US" dirty="0"/>
              <a:t>e = 10        f:15</a:t>
            </a:r>
          </a:p>
          <a:p>
            <a:pPr lvl="1">
              <a:buFont typeface="Arial" panose="020B0604020202020204" pitchFamily="34" charset="0"/>
              <a:buChar char="•"/>
            </a:pPr>
            <a:r>
              <a:rPr lang="en-US" dirty="0" err="1"/>
              <a:t>i</a:t>
            </a:r>
            <a:r>
              <a:rPr lang="en-US" dirty="0"/>
              <a:t> = 00         f:12</a:t>
            </a:r>
          </a:p>
          <a:p>
            <a:pPr lvl="1">
              <a:buFont typeface="Arial" panose="020B0604020202020204" pitchFamily="34" charset="0"/>
              <a:buChar char="•"/>
            </a:pPr>
            <a:r>
              <a:rPr lang="en-US" dirty="0"/>
              <a:t>o = 11001 f:3</a:t>
            </a:r>
          </a:p>
          <a:p>
            <a:pPr lvl="1">
              <a:buFont typeface="Arial" panose="020B0604020202020204" pitchFamily="34" charset="0"/>
              <a:buChar char="•"/>
            </a:pPr>
            <a:r>
              <a:rPr lang="en-US" dirty="0"/>
              <a:t>u = 1101   f:4</a:t>
            </a:r>
          </a:p>
          <a:p>
            <a:pPr lvl="1">
              <a:buFont typeface="Arial" panose="020B0604020202020204" pitchFamily="34" charset="0"/>
              <a:buChar char="•"/>
            </a:pPr>
            <a:r>
              <a:rPr lang="en-US" dirty="0"/>
              <a:t>s = 01        f:13</a:t>
            </a:r>
          </a:p>
          <a:p>
            <a:pPr lvl="1">
              <a:buFont typeface="Arial" panose="020B0604020202020204" pitchFamily="34" charset="0"/>
              <a:buChar char="•"/>
            </a:pPr>
            <a:r>
              <a:rPr lang="en-US" dirty="0"/>
              <a:t>t = 11000  f:1</a:t>
            </a:r>
          </a:p>
          <a:p>
            <a:r>
              <a:rPr lang="en-US" dirty="0"/>
              <a:t>From here, we can observe-</a:t>
            </a:r>
          </a:p>
          <a:p>
            <a:pPr>
              <a:buFont typeface="Arial" panose="020B0604020202020204" pitchFamily="34" charset="0"/>
              <a:buChar char="•"/>
            </a:pPr>
            <a:r>
              <a:rPr lang="en-US" dirty="0"/>
              <a:t>Characters occurring less frequently in the text are assigned the larger code.</a:t>
            </a:r>
          </a:p>
          <a:p>
            <a:pPr>
              <a:buFont typeface="Arial" panose="020B0604020202020204" pitchFamily="34" charset="0"/>
              <a:buChar char="•"/>
            </a:pPr>
            <a:r>
              <a:rPr lang="en-US" dirty="0"/>
              <a:t>Characters occurring more frequently in the text are assigned the smaller code.</a:t>
            </a:r>
          </a:p>
          <a:p>
            <a:endParaRPr lang="en-IN" dirty="0"/>
          </a:p>
        </p:txBody>
      </p:sp>
    </p:spTree>
    <p:extLst>
      <p:ext uri="{BB962C8B-B14F-4D97-AF65-F5344CB8AC3E}">
        <p14:creationId xmlns:p14="http://schemas.microsoft.com/office/powerpoint/2010/main" val="30840521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E66AD-1BD5-4A9B-BACE-978C8D05C47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6229CC2-758A-4ABB-BEFF-4857B4F019B9}"/>
              </a:ext>
            </a:extLst>
          </p:cNvPr>
          <p:cNvSpPr>
            <a:spLocks noGrp="1"/>
          </p:cNvSpPr>
          <p:nvPr>
            <p:ph idx="1"/>
          </p:nvPr>
        </p:nvSpPr>
        <p:spPr/>
        <p:txBody>
          <a:bodyPr/>
          <a:lstStyle/>
          <a:p>
            <a:pPr marL="0" indent="0">
              <a:buNone/>
            </a:pPr>
            <a:r>
              <a:rPr lang="en-US" sz="2000" b="1" u="sng" dirty="0">
                <a:effectLst/>
              </a:rPr>
              <a:t>2. Average Code Length-</a:t>
            </a:r>
            <a:endParaRPr lang="en-US" sz="2000" dirty="0"/>
          </a:p>
          <a:p>
            <a:pPr marL="0" indent="0">
              <a:buNone/>
            </a:pPr>
            <a:r>
              <a:rPr lang="en-US" sz="2000" dirty="0"/>
              <a:t>Using formula-01, we have-</a:t>
            </a:r>
          </a:p>
          <a:p>
            <a:pPr marL="0" indent="0">
              <a:buNone/>
            </a:pPr>
            <a:r>
              <a:rPr lang="en-US" sz="2000" dirty="0"/>
              <a:t>Average code length</a:t>
            </a:r>
          </a:p>
          <a:p>
            <a:pPr marL="0" indent="0">
              <a:buNone/>
            </a:pPr>
            <a:r>
              <a:rPr lang="en-US" sz="2000" dirty="0"/>
              <a:t>= ∑ ( </a:t>
            </a:r>
            <a:r>
              <a:rPr lang="en-US" sz="2000" dirty="0" err="1"/>
              <a:t>frequency</a:t>
            </a:r>
            <a:r>
              <a:rPr lang="en-US" sz="2000" baseline="-25000" dirty="0" err="1"/>
              <a:t>i</a:t>
            </a:r>
            <a:r>
              <a:rPr lang="en-US" sz="2000" dirty="0"/>
              <a:t> x code </a:t>
            </a:r>
            <a:r>
              <a:rPr lang="en-US" sz="2000" dirty="0" err="1"/>
              <a:t>length</a:t>
            </a:r>
            <a:r>
              <a:rPr lang="en-US" sz="2000" baseline="-25000" dirty="0" err="1"/>
              <a:t>i</a:t>
            </a:r>
            <a:r>
              <a:rPr lang="en-US" sz="2000" dirty="0"/>
              <a:t> ) / ∑ ( </a:t>
            </a:r>
            <a:r>
              <a:rPr lang="en-US" sz="2000" dirty="0" err="1"/>
              <a:t>frequency</a:t>
            </a:r>
            <a:r>
              <a:rPr lang="en-US" sz="2000" baseline="-25000" dirty="0" err="1"/>
              <a:t>i</a:t>
            </a:r>
            <a:r>
              <a:rPr lang="en-US" sz="2000" dirty="0"/>
              <a:t> )</a:t>
            </a:r>
          </a:p>
          <a:p>
            <a:pPr marL="0" indent="0">
              <a:buNone/>
            </a:pPr>
            <a:r>
              <a:rPr lang="en-US" sz="2000" dirty="0"/>
              <a:t>= { (10 x 3) + (15 x 2) + (12 x 2) + (3 x 5) + (4 x 4) + (13 x 2) + (1 x 5) } / (10 + 15 + 12 + 3 + 4 + 13 + 1)</a:t>
            </a:r>
          </a:p>
          <a:p>
            <a:pPr marL="0" indent="0">
              <a:buNone/>
            </a:pPr>
            <a:r>
              <a:rPr lang="en-US" sz="2000" dirty="0"/>
              <a:t>= 2.52</a:t>
            </a:r>
          </a:p>
          <a:p>
            <a:pPr marL="0" indent="0">
              <a:buNone/>
            </a:pPr>
            <a:r>
              <a:rPr lang="en-US" sz="2000" b="1" u="sng" dirty="0">
                <a:effectLst/>
              </a:rPr>
              <a:t>3. Length of Huffman Encoded Message-</a:t>
            </a:r>
            <a:endParaRPr lang="en-US" sz="2000" dirty="0"/>
          </a:p>
          <a:p>
            <a:pPr marL="0" indent="0">
              <a:buNone/>
            </a:pPr>
            <a:r>
              <a:rPr lang="en-US" sz="2000" dirty="0"/>
              <a:t>Using formula-02, we have-</a:t>
            </a:r>
          </a:p>
          <a:p>
            <a:pPr marL="0" indent="0">
              <a:buNone/>
            </a:pPr>
            <a:r>
              <a:rPr lang="en-US" sz="2000" dirty="0"/>
              <a:t>Total number of bits in Huffman encoded message</a:t>
            </a:r>
          </a:p>
          <a:p>
            <a:pPr marL="0" indent="0">
              <a:buNone/>
            </a:pPr>
            <a:r>
              <a:rPr lang="en-US" sz="2000" dirty="0"/>
              <a:t>= Total number of characters in the message x Average code length per character</a:t>
            </a:r>
          </a:p>
          <a:p>
            <a:pPr marL="0" indent="0">
              <a:buNone/>
            </a:pPr>
            <a:r>
              <a:rPr lang="en-US" sz="2000" dirty="0"/>
              <a:t>= 58 x 2.52</a:t>
            </a:r>
          </a:p>
          <a:p>
            <a:pPr marL="0" indent="0">
              <a:buNone/>
            </a:pPr>
            <a:r>
              <a:rPr lang="en-US" sz="2000" dirty="0"/>
              <a:t>= 146.16</a:t>
            </a:r>
          </a:p>
          <a:p>
            <a:pPr marL="0" indent="0">
              <a:buNone/>
            </a:pPr>
            <a:r>
              <a:rPr lang="en-US" sz="2000" dirty="0"/>
              <a:t>≅ 147 bits</a:t>
            </a:r>
          </a:p>
          <a:p>
            <a:endParaRPr lang="en-IN" dirty="0"/>
          </a:p>
        </p:txBody>
      </p:sp>
    </p:spTree>
    <p:extLst>
      <p:ext uri="{BB962C8B-B14F-4D97-AF65-F5344CB8AC3E}">
        <p14:creationId xmlns:p14="http://schemas.microsoft.com/office/powerpoint/2010/main" val="32029519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41EB6-D294-46CE-8B2F-41BEE6BFCDD9}"/>
              </a:ext>
            </a:extLst>
          </p:cNvPr>
          <p:cNvSpPr>
            <a:spLocks noGrp="1"/>
          </p:cNvSpPr>
          <p:nvPr>
            <p:ph type="title"/>
          </p:nvPr>
        </p:nvSpPr>
        <p:spPr/>
        <p:txBody>
          <a:bodyPr>
            <a:normAutofit/>
          </a:bodyPr>
          <a:lstStyle/>
          <a:p>
            <a:r>
              <a:rPr lang="en-IN" dirty="0"/>
              <a:t>Applications of Huffman Coding</a:t>
            </a:r>
          </a:p>
        </p:txBody>
      </p:sp>
      <p:sp>
        <p:nvSpPr>
          <p:cNvPr id="3" name="Content Placeholder 2">
            <a:extLst>
              <a:ext uri="{FF2B5EF4-FFF2-40B4-BE49-F238E27FC236}">
                <a16:creationId xmlns:a16="http://schemas.microsoft.com/office/drawing/2014/main" id="{517FF85C-6F67-47D1-A8C9-F67836496D12}"/>
              </a:ext>
            </a:extLst>
          </p:cNvPr>
          <p:cNvSpPr>
            <a:spLocks noGrp="1"/>
          </p:cNvSpPr>
          <p:nvPr>
            <p:ph idx="1"/>
          </p:nvPr>
        </p:nvSpPr>
        <p:spPr/>
        <p:txBody>
          <a:bodyPr/>
          <a:lstStyle/>
          <a:p>
            <a:r>
              <a:rPr lang="en-US" dirty="0"/>
              <a:t>Huffman Coding is frequently used by conventional compression formats like PKZIP, GZIP, etc.</a:t>
            </a:r>
          </a:p>
          <a:p>
            <a:r>
              <a:rPr lang="en-US" dirty="0"/>
              <a:t>For data transmission using fax and text, Huffman Coding is used because it reduces the size and improves the speed of transmission.</a:t>
            </a:r>
          </a:p>
          <a:p>
            <a:r>
              <a:rPr lang="en-US" dirty="0"/>
              <a:t>Many multimedia storage like JPEG, PNG, and MP3 use Huffman encoding(especially the prefix codes) for compressing the files.</a:t>
            </a:r>
          </a:p>
          <a:p>
            <a:r>
              <a:rPr lang="en-US" dirty="0"/>
              <a:t>Image compression is mostly done using Huffman Coding.</a:t>
            </a:r>
          </a:p>
          <a:p>
            <a:r>
              <a:rPr lang="en-US" dirty="0"/>
              <a:t>It is more useful in some cases where there is a series of frequently occurring characters to be transmitted.</a:t>
            </a:r>
            <a:endParaRPr lang="en-IN" dirty="0"/>
          </a:p>
        </p:txBody>
      </p:sp>
    </p:spTree>
    <p:extLst>
      <p:ext uri="{BB962C8B-B14F-4D97-AF65-F5344CB8AC3E}">
        <p14:creationId xmlns:p14="http://schemas.microsoft.com/office/powerpoint/2010/main" val="756602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Minimum Spanning Tree</a:t>
            </a:r>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6675410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10736-194E-4FAD-AD80-89A28B050913}"/>
              </a:ext>
            </a:extLst>
          </p:cNvPr>
          <p:cNvSpPr>
            <a:spLocks noGrp="1"/>
          </p:cNvSpPr>
          <p:nvPr>
            <p:ph type="title"/>
          </p:nvPr>
        </p:nvSpPr>
        <p:spPr/>
        <p:txBody>
          <a:bodyPr/>
          <a:lstStyle/>
          <a:p>
            <a:r>
              <a:rPr lang="en-IN" dirty="0"/>
              <a:t>Spanning tree</a:t>
            </a:r>
          </a:p>
        </p:txBody>
      </p:sp>
      <p:sp>
        <p:nvSpPr>
          <p:cNvPr id="3" name="Content Placeholder 2">
            <a:extLst>
              <a:ext uri="{FF2B5EF4-FFF2-40B4-BE49-F238E27FC236}">
                <a16:creationId xmlns:a16="http://schemas.microsoft.com/office/drawing/2014/main" id="{1E3D723E-16D5-4A2C-9C3C-CC6D35983EB6}"/>
              </a:ext>
            </a:extLst>
          </p:cNvPr>
          <p:cNvSpPr>
            <a:spLocks noGrp="1"/>
          </p:cNvSpPr>
          <p:nvPr>
            <p:ph idx="1"/>
          </p:nvPr>
        </p:nvSpPr>
        <p:spPr/>
        <p:txBody>
          <a:bodyPr/>
          <a:lstStyle/>
          <a:p>
            <a:r>
              <a:rPr lang="en-US" dirty="0"/>
              <a:t>A spanning tree is a sub-graph that connects all the vertices of a graph with the minimum possible number of edges. It may or may not be weighted and does not have cycles.</a:t>
            </a:r>
          </a:p>
          <a:p>
            <a:r>
              <a:rPr lang="en-US" dirty="0"/>
              <a:t>Let us understand what is spanning tree with an interesting example.</a:t>
            </a:r>
          </a:p>
          <a:p>
            <a:endParaRPr lang="en-US" dirty="0"/>
          </a:p>
          <a:p>
            <a:r>
              <a:rPr lang="en-US" dirty="0"/>
              <a:t>Consider a situation where a cable television network company is laying the cable to a new neighborhood. If the company is constrained to bury the cable only along certain paths for example along the roads then the problem is to find the minimum amount of cable that the company requires to complete the wiring of the television network</a:t>
            </a:r>
            <a:endParaRPr lang="en-IN" dirty="0"/>
          </a:p>
        </p:txBody>
      </p:sp>
    </p:spTree>
    <p:extLst>
      <p:ext uri="{BB962C8B-B14F-4D97-AF65-F5344CB8AC3E}">
        <p14:creationId xmlns:p14="http://schemas.microsoft.com/office/powerpoint/2010/main" val="1736522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A5C65-B0B8-4C80-93A7-42955384F37B}"/>
              </a:ext>
            </a:extLst>
          </p:cNvPr>
          <p:cNvSpPr>
            <a:spLocks noGrp="1"/>
          </p:cNvSpPr>
          <p:nvPr>
            <p:ph type="title"/>
          </p:nvPr>
        </p:nvSpPr>
        <p:spPr/>
        <p:txBody>
          <a:bodyPr/>
          <a:lstStyle/>
          <a:p>
            <a:r>
              <a:rPr lang="en-IN" dirty="0"/>
              <a:t>Spanning tree</a:t>
            </a:r>
          </a:p>
        </p:txBody>
      </p:sp>
      <p:sp>
        <p:nvSpPr>
          <p:cNvPr id="3" name="Content Placeholder 2">
            <a:extLst>
              <a:ext uri="{FF2B5EF4-FFF2-40B4-BE49-F238E27FC236}">
                <a16:creationId xmlns:a16="http://schemas.microsoft.com/office/drawing/2014/main" id="{6B27E3A3-D9A0-4D98-A0B3-FDF7D1836DB2}"/>
              </a:ext>
            </a:extLst>
          </p:cNvPr>
          <p:cNvSpPr>
            <a:spLocks noGrp="1"/>
          </p:cNvSpPr>
          <p:nvPr>
            <p:ph idx="1"/>
          </p:nvPr>
        </p:nvSpPr>
        <p:spPr/>
        <p:txBody>
          <a:bodyPr/>
          <a:lstStyle/>
          <a:p>
            <a:r>
              <a:rPr lang="en-US" dirty="0"/>
              <a:t>A Spanning tree always contains n-1 edges, where n is the total number of vertices in the graph G.</a:t>
            </a:r>
          </a:p>
          <a:p>
            <a:r>
              <a:rPr lang="en-US" dirty="0"/>
              <a:t>The total number of spanning trees that a complete graph of n vertices can have is n(n-2).</a:t>
            </a:r>
          </a:p>
          <a:p>
            <a:r>
              <a:rPr lang="en-US" dirty="0"/>
              <a:t>We can construct a spanning tree by removing </a:t>
            </a:r>
            <a:r>
              <a:rPr lang="en-US" dirty="0" err="1"/>
              <a:t>atmost</a:t>
            </a:r>
            <a:r>
              <a:rPr lang="en-US" dirty="0"/>
              <a:t> e-n+1 edges from a complete graph G, where e is the number of edges and n is the number of vertices in graph G.</a:t>
            </a:r>
            <a:endParaRPr lang="en-IN" dirty="0"/>
          </a:p>
        </p:txBody>
      </p:sp>
    </p:spTree>
    <p:extLst>
      <p:ext uri="{BB962C8B-B14F-4D97-AF65-F5344CB8AC3E}">
        <p14:creationId xmlns:p14="http://schemas.microsoft.com/office/powerpoint/2010/main" val="689774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04E5B-56F3-481E-9916-DDACFD58AAB6}"/>
              </a:ext>
            </a:extLst>
          </p:cNvPr>
          <p:cNvSpPr>
            <a:spLocks noGrp="1"/>
          </p:cNvSpPr>
          <p:nvPr>
            <p:ph type="title"/>
          </p:nvPr>
        </p:nvSpPr>
        <p:spPr/>
        <p:txBody>
          <a:bodyPr/>
          <a:lstStyle/>
          <a:p>
            <a:r>
              <a:rPr lang="en-IN" dirty="0"/>
              <a:t>Spanning tree</a:t>
            </a:r>
          </a:p>
        </p:txBody>
      </p:sp>
      <p:sp>
        <p:nvSpPr>
          <p:cNvPr id="3" name="Content Placeholder 2">
            <a:extLst>
              <a:ext uri="{FF2B5EF4-FFF2-40B4-BE49-F238E27FC236}">
                <a16:creationId xmlns:a16="http://schemas.microsoft.com/office/drawing/2014/main" id="{FBF924B5-D729-4225-AC00-E71C4767EFEB}"/>
              </a:ext>
            </a:extLst>
          </p:cNvPr>
          <p:cNvSpPr>
            <a:spLocks noGrp="1"/>
          </p:cNvSpPr>
          <p:nvPr>
            <p:ph idx="1"/>
          </p:nvPr>
        </p:nvSpPr>
        <p:spPr/>
        <p:txBody>
          <a:bodyPr/>
          <a:lstStyle/>
          <a:p>
            <a:r>
              <a:rPr lang="en-US" dirty="0"/>
              <a:t>A complete undirected graph G can have a maximum n</a:t>
            </a:r>
            <a:r>
              <a:rPr lang="en-US" baseline="30000" dirty="0"/>
              <a:t>n-2</a:t>
            </a:r>
            <a:r>
              <a:rPr lang="en-US" dirty="0"/>
              <a:t> number of spanning trees, where n is the number of nodes in a given graph G. Let us Consider a complete graph G with 3 vertices, then the total number of spanning trees this graph can have is 3</a:t>
            </a:r>
            <a:r>
              <a:rPr lang="en-US" baseline="30000" dirty="0"/>
              <a:t>(3-2)</a:t>
            </a:r>
            <a:r>
              <a:rPr lang="en-US" dirty="0"/>
              <a:t>=3 which are shown in the image below.</a:t>
            </a:r>
            <a:endParaRPr lang="en-IN" dirty="0"/>
          </a:p>
        </p:txBody>
      </p:sp>
      <p:pic>
        <p:nvPicPr>
          <p:cNvPr id="5" name="Picture 4">
            <a:extLst>
              <a:ext uri="{FF2B5EF4-FFF2-40B4-BE49-F238E27FC236}">
                <a16:creationId xmlns:a16="http://schemas.microsoft.com/office/drawing/2014/main" id="{B01769D5-5012-43FD-BEFE-4D7E5D5EA3B4}"/>
              </a:ext>
            </a:extLst>
          </p:cNvPr>
          <p:cNvPicPr>
            <a:picLocks noChangeAspect="1"/>
          </p:cNvPicPr>
          <p:nvPr/>
        </p:nvPicPr>
        <p:blipFill>
          <a:blip r:embed="rId2"/>
          <a:stretch>
            <a:fillRect/>
          </a:stretch>
        </p:blipFill>
        <p:spPr>
          <a:xfrm>
            <a:off x="2716957" y="2334266"/>
            <a:ext cx="6168780" cy="3431266"/>
          </a:xfrm>
          <a:prstGeom prst="rect">
            <a:avLst/>
          </a:prstGeom>
        </p:spPr>
      </p:pic>
    </p:spTree>
    <p:extLst>
      <p:ext uri="{BB962C8B-B14F-4D97-AF65-F5344CB8AC3E}">
        <p14:creationId xmlns:p14="http://schemas.microsoft.com/office/powerpoint/2010/main" val="24715096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Minimum Spanning Tree (MST)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Let </a:t>
                </a:r>
                <a14:m>
                  <m:oMath xmlns:m="http://schemas.openxmlformats.org/officeDocument/2006/math">
                    <m:r>
                      <a:rPr lang="en-US" i="1" dirty="0">
                        <a:latin typeface="Cambria Math" panose="02040503050406030204" pitchFamily="18" charset="0"/>
                      </a:rPr>
                      <m:t>𝐺</m:t>
                    </m:r>
                    <m:r>
                      <a:rPr lang="en-US" i="1" dirty="0">
                        <a:latin typeface="Cambria Math" panose="02040503050406030204" pitchFamily="18" charset="0"/>
                      </a:rPr>
                      <m:t> = </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𝑁</m:t>
                        </m:r>
                        <m:r>
                          <a:rPr lang="en-US" i="1" dirty="0">
                            <a:latin typeface="Cambria Math" panose="02040503050406030204" pitchFamily="18" charset="0"/>
                          </a:rPr>
                          <m:t>,</m:t>
                        </m:r>
                        <m:d>
                          <m:dPr>
                            <m:begChr m:val=""/>
                            <m:endChr m:val="⟩"/>
                            <m:ctrlPr>
                              <a:rPr lang="en-US" i="1" dirty="0">
                                <a:latin typeface="Cambria Math" panose="02040503050406030204" pitchFamily="18" charset="0"/>
                              </a:rPr>
                            </m:ctrlPr>
                          </m:dPr>
                          <m:e>
                            <m:r>
                              <a:rPr lang="en-US" i="1" dirty="0">
                                <a:latin typeface="Cambria Math" panose="02040503050406030204" pitchFamily="18" charset="0"/>
                              </a:rPr>
                              <m:t>𝐴</m:t>
                            </m:r>
                          </m:e>
                        </m:d>
                      </m:e>
                    </m:d>
                    <m:r>
                      <a:rPr lang="en-US" i="1" dirty="0">
                        <a:latin typeface="Cambria Math" panose="02040503050406030204" pitchFamily="18" charset="0"/>
                      </a:rPr>
                      <m:t> </m:t>
                    </m:r>
                  </m:oMath>
                </a14:m>
                <a:r>
                  <a:rPr lang="en-US" dirty="0"/>
                  <a:t>be a </a:t>
                </a:r>
                <a:r>
                  <a:rPr lang="en-US" b="1" dirty="0"/>
                  <a:t>connected, undirected graph </a:t>
                </a:r>
                <a:r>
                  <a:rPr lang="en-US" dirty="0"/>
                  <a:t>where,</a:t>
                </a:r>
              </a:p>
              <a:p>
                <a:pPr marL="857250" lvl="1" indent="-457200">
                  <a:buFont typeface="+mj-lt"/>
                  <a:buAutoNum type="arabicPeriod"/>
                </a:pPr>
                <a14:m>
                  <m:oMath xmlns:m="http://schemas.openxmlformats.org/officeDocument/2006/math">
                    <m:r>
                      <m:rPr>
                        <m:sty m:val="p"/>
                      </m:rPr>
                      <a:rPr lang="en-US" i="0" dirty="0" smtClean="0">
                        <a:solidFill>
                          <a:srgbClr val="0066FF"/>
                        </a:solidFill>
                        <a:latin typeface="Cambria Math" panose="02040503050406030204" pitchFamily="18" charset="0"/>
                      </a:rPr>
                      <m:t>N</m:t>
                    </m:r>
                  </m:oMath>
                </a14:m>
                <a:r>
                  <a:rPr lang="en-US" dirty="0">
                    <a:solidFill>
                      <a:srgbClr val="0066FF"/>
                    </a:solidFill>
                  </a:rPr>
                  <a:t> is the set of nodes and </a:t>
                </a:r>
              </a:p>
              <a:p>
                <a:pPr marL="857250" lvl="1" indent="-457200">
                  <a:buFont typeface="+mj-lt"/>
                  <a:buAutoNum type="arabicPeriod"/>
                </a:pPr>
                <a14:m>
                  <m:oMath xmlns:m="http://schemas.openxmlformats.org/officeDocument/2006/math">
                    <m:r>
                      <m:rPr>
                        <m:sty m:val="p"/>
                      </m:rPr>
                      <a:rPr lang="en-US" i="0" dirty="0">
                        <a:solidFill>
                          <a:srgbClr val="0066FF"/>
                        </a:solidFill>
                        <a:latin typeface="Cambria Math" panose="02040503050406030204" pitchFamily="18" charset="0"/>
                      </a:rPr>
                      <m:t>A</m:t>
                    </m:r>
                  </m:oMath>
                </a14:m>
                <a:r>
                  <a:rPr lang="en-US" dirty="0">
                    <a:solidFill>
                      <a:srgbClr val="0066FF"/>
                    </a:solidFill>
                  </a:rPr>
                  <a:t> is the set of edges. </a:t>
                </a:r>
              </a:p>
              <a:p>
                <a:r>
                  <a:rPr lang="en-US" dirty="0"/>
                  <a:t>Each edge has a given </a:t>
                </a:r>
                <a:r>
                  <a:rPr lang="en-US" b="1" dirty="0"/>
                  <a:t>positive length or weight</a:t>
                </a:r>
                <a:r>
                  <a:rPr lang="en-US" dirty="0"/>
                  <a:t>. </a:t>
                </a:r>
              </a:p>
              <a:p>
                <a:r>
                  <a:rPr lang="en-US" dirty="0"/>
                  <a:t>A spanning tree of a graph </a:t>
                </a:r>
                <a14:m>
                  <m:oMath xmlns:m="http://schemas.openxmlformats.org/officeDocument/2006/math">
                    <m:r>
                      <a:rPr lang="en-US" i="1" dirty="0">
                        <a:latin typeface="Cambria Math" panose="02040503050406030204" pitchFamily="18" charset="0"/>
                      </a:rPr>
                      <m:t>𝐺</m:t>
                    </m:r>
                  </m:oMath>
                </a14:m>
                <a:r>
                  <a:rPr lang="en-US" dirty="0"/>
                  <a:t> </a:t>
                </a:r>
                <a:r>
                  <a:rPr lang="en-US" b="1" dirty="0"/>
                  <a:t>is a sub-graph </a:t>
                </a:r>
                <a:r>
                  <a:rPr lang="en-US" dirty="0"/>
                  <a:t>which is basically a tree and</a:t>
                </a:r>
                <a:r>
                  <a:rPr lang="en-US" dirty="0">
                    <a:solidFill>
                      <a:srgbClr val="FF0000"/>
                    </a:solidFill>
                  </a:rPr>
                  <a:t> </a:t>
                </a:r>
                <a:r>
                  <a:rPr lang="en-US" dirty="0"/>
                  <a:t>it contains all the vertices of </a:t>
                </a:r>
                <a14:m>
                  <m:oMath xmlns:m="http://schemas.openxmlformats.org/officeDocument/2006/math">
                    <m:r>
                      <a:rPr lang="en-US" dirty="0">
                        <a:latin typeface="Cambria Math" panose="02040503050406030204" pitchFamily="18" charset="0"/>
                      </a:rPr>
                      <m:t>𝐺</m:t>
                    </m:r>
                  </m:oMath>
                </a14:m>
                <a:r>
                  <a:rPr lang="en-US" dirty="0"/>
                  <a:t> but </a:t>
                </a:r>
                <a:r>
                  <a:rPr lang="en-US" dirty="0">
                    <a:solidFill>
                      <a:srgbClr val="AD1457"/>
                    </a:solidFill>
                  </a:rPr>
                  <a:t>does not contain cycle</a:t>
                </a:r>
                <a:r>
                  <a:rPr lang="en-US" dirty="0"/>
                  <a:t>.</a:t>
                </a:r>
              </a:p>
              <a:p>
                <a:r>
                  <a:rPr lang="en-US" dirty="0"/>
                  <a:t>A minimum spanning tree (MST) of a </a:t>
                </a:r>
                <a:r>
                  <a:rPr lang="en-US" b="1" dirty="0"/>
                  <a:t>weighted connected graph </a:t>
                </a:r>
                <a14:m>
                  <m:oMath xmlns:m="http://schemas.openxmlformats.org/officeDocument/2006/math">
                    <m:r>
                      <a:rPr lang="en-US" i="1" dirty="0">
                        <a:latin typeface="Cambria Math" panose="02040503050406030204" pitchFamily="18" charset="0"/>
                      </a:rPr>
                      <m:t>𝐺</m:t>
                    </m:r>
                  </m:oMath>
                </a14:m>
                <a:r>
                  <a:rPr lang="en-US" dirty="0"/>
                  <a:t> is a spanning tree with </a:t>
                </a:r>
                <a:r>
                  <a:rPr lang="en-US" dirty="0">
                    <a:solidFill>
                      <a:srgbClr val="AD1457"/>
                    </a:solidFill>
                  </a:rPr>
                  <a:t>minimum or smallest weight of edges</a:t>
                </a:r>
                <a:r>
                  <a:rPr lang="en-US" dirty="0"/>
                  <a:t>.</a:t>
                </a:r>
              </a:p>
              <a:p>
                <a:r>
                  <a:rPr lang="en-US" dirty="0"/>
                  <a:t>Two Algorithms for </a:t>
                </a:r>
                <a:r>
                  <a:rPr lang="en-US" b="1" dirty="0"/>
                  <a:t>constructing </a:t>
                </a:r>
                <a:r>
                  <a:rPr lang="en-US" dirty="0"/>
                  <a:t>minimum spanning tree are,</a:t>
                </a:r>
              </a:p>
              <a:p>
                <a:pPr marL="914400" lvl="1" indent="-457200">
                  <a:buFont typeface="+mj-lt"/>
                  <a:buAutoNum type="arabicPeriod"/>
                </a:pPr>
                <a:r>
                  <a:rPr lang="en-US" dirty="0" err="1">
                    <a:solidFill>
                      <a:srgbClr val="0066FF"/>
                    </a:solidFill>
                  </a:rPr>
                  <a:t>Kruskal’s</a:t>
                </a:r>
                <a:r>
                  <a:rPr lang="en-US" dirty="0">
                    <a:solidFill>
                      <a:srgbClr val="0066FF"/>
                    </a:solidFill>
                  </a:rPr>
                  <a:t> Algorithm</a:t>
                </a:r>
              </a:p>
              <a:p>
                <a:pPr marL="914400" lvl="1" indent="-457200">
                  <a:buFont typeface="+mj-lt"/>
                  <a:buAutoNum type="arabicPeriod"/>
                </a:pPr>
                <a:r>
                  <a:rPr lang="en-US" dirty="0">
                    <a:solidFill>
                      <a:srgbClr val="0066FF"/>
                    </a:solidFill>
                  </a:rPr>
                  <a:t>Prim’s Algorithm</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6" t="-11341" r="-818"/>
                </a:stretch>
              </a:blipFill>
            </p:spPr>
            <p:txBody>
              <a:bodyPr/>
              <a:lstStyle/>
              <a:p>
                <a:r>
                  <a:rPr lang="en-US">
                    <a:noFill/>
                  </a:rPr>
                  <a:t> </a:t>
                </a:r>
              </a:p>
            </p:txBody>
          </p:sp>
        </mc:Fallback>
      </mc:AlternateContent>
    </p:spTree>
    <p:extLst>
      <p:ext uri="{BB962C8B-B14F-4D97-AF65-F5344CB8AC3E}">
        <p14:creationId xmlns:p14="http://schemas.microsoft.com/office/powerpoint/2010/main" val="4016536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Spanning Tree Examples </a:t>
            </a:r>
          </a:p>
        </p:txBody>
      </p:sp>
      <p:sp>
        <p:nvSpPr>
          <p:cNvPr id="4" name="Oval 3"/>
          <p:cNvSpPr/>
          <p:nvPr/>
        </p:nvSpPr>
        <p:spPr>
          <a:xfrm>
            <a:off x="2841807" y="990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sp>
        <p:nvSpPr>
          <p:cNvPr id="5" name="Oval 4"/>
          <p:cNvSpPr/>
          <p:nvPr/>
        </p:nvSpPr>
        <p:spPr>
          <a:xfrm>
            <a:off x="2232207" y="15240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6" name="Oval 5"/>
          <p:cNvSpPr/>
          <p:nvPr/>
        </p:nvSpPr>
        <p:spPr>
          <a:xfrm>
            <a:off x="3527607" y="15240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7" name="Oval 6"/>
          <p:cNvSpPr/>
          <p:nvPr/>
        </p:nvSpPr>
        <p:spPr>
          <a:xfrm>
            <a:off x="1775007" y="2133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8" name="Oval 7"/>
          <p:cNvSpPr/>
          <p:nvPr/>
        </p:nvSpPr>
        <p:spPr>
          <a:xfrm>
            <a:off x="2613207" y="2133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sp>
        <p:nvSpPr>
          <p:cNvPr id="9" name="Oval 8"/>
          <p:cNvSpPr/>
          <p:nvPr/>
        </p:nvSpPr>
        <p:spPr>
          <a:xfrm>
            <a:off x="3222807" y="2133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p>
        </p:txBody>
      </p:sp>
      <p:sp>
        <p:nvSpPr>
          <p:cNvPr id="10" name="Oval 9"/>
          <p:cNvSpPr/>
          <p:nvPr/>
        </p:nvSpPr>
        <p:spPr>
          <a:xfrm>
            <a:off x="3984807" y="2133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G</a:t>
            </a:r>
          </a:p>
        </p:txBody>
      </p:sp>
      <p:sp>
        <p:nvSpPr>
          <p:cNvPr id="11" name="Oval 10"/>
          <p:cNvSpPr/>
          <p:nvPr/>
        </p:nvSpPr>
        <p:spPr>
          <a:xfrm>
            <a:off x="2841807" y="3276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H</a:t>
            </a:r>
          </a:p>
        </p:txBody>
      </p:sp>
      <p:cxnSp>
        <p:nvCxnSpPr>
          <p:cNvPr id="12" name="Straight Connector 11"/>
          <p:cNvCxnSpPr>
            <a:stCxn id="4" idx="3"/>
            <a:endCxn id="5" idx="7"/>
          </p:cNvCxnSpPr>
          <p:nvPr/>
        </p:nvCxnSpPr>
        <p:spPr>
          <a:xfrm flipH="1">
            <a:off x="2557411" y="1315804"/>
            <a:ext cx="340192" cy="263992"/>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13" name="Straight Connector 12"/>
          <p:cNvCxnSpPr>
            <a:stCxn id="4" idx="5"/>
            <a:endCxn id="6" idx="1"/>
          </p:cNvCxnSpPr>
          <p:nvPr/>
        </p:nvCxnSpPr>
        <p:spPr>
          <a:xfrm>
            <a:off x="3167011" y="1315804"/>
            <a:ext cx="416392" cy="263992"/>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14" name="Straight Connector 13"/>
          <p:cNvCxnSpPr>
            <a:stCxn id="5" idx="3"/>
            <a:endCxn id="7" idx="0"/>
          </p:cNvCxnSpPr>
          <p:nvPr/>
        </p:nvCxnSpPr>
        <p:spPr>
          <a:xfrm flipH="1">
            <a:off x="1965507" y="1849204"/>
            <a:ext cx="322496" cy="284396"/>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15" name="Straight Connector 14"/>
          <p:cNvCxnSpPr>
            <a:stCxn id="5" idx="5"/>
            <a:endCxn id="8" idx="0"/>
          </p:cNvCxnSpPr>
          <p:nvPr/>
        </p:nvCxnSpPr>
        <p:spPr>
          <a:xfrm>
            <a:off x="2557411" y="1849204"/>
            <a:ext cx="246296" cy="284396"/>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16" name="Straight Connector 15"/>
          <p:cNvCxnSpPr>
            <a:stCxn id="6" idx="3"/>
            <a:endCxn id="9" idx="0"/>
          </p:cNvCxnSpPr>
          <p:nvPr/>
        </p:nvCxnSpPr>
        <p:spPr>
          <a:xfrm flipH="1">
            <a:off x="3413307" y="1849204"/>
            <a:ext cx="170096" cy="284396"/>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17" name="Straight Connector 16"/>
          <p:cNvCxnSpPr>
            <a:stCxn id="6" idx="5"/>
            <a:endCxn id="10" idx="0"/>
          </p:cNvCxnSpPr>
          <p:nvPr/>
        </p:nvCxnSpPr>
        <p:spPr>
          <a:xfrm>
            <a:off x="3852811" y="1849204"/>
            <a:ext cx="322496" cy="284396"/>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18" name="Straight Connector 17"/>
          <p:cNvCxnSpPr>
            <a:stCxn id="7" idx="4"/>
            <a:endCxn id="11" idx="2"/>
          </p:cNvCxnSpPr>
          <p:nvPr/>
        </p:nvCxnSpPr>
        <p:spPr>
          <a:xfrm>
            <a:off x="1965507" y="2514600"/>
            <a:ext cx="876300" cy="952500"/>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19" name="Straight Connector 18"/>
          <p:cNvCxnSpPr>
            <a:stCxn id="8" idx="4"/>
            <a:endCxn id="11" idx="1"/>
          </p:cNvCxnSpPr>
          <p:nvPr/>
        </p:nvCxnSpPr>
        <p:spPr>
          <a:xfrm>
            <a:off x="2803707" y="2514600"/>
            <a:ext cx="93896" cy="817796"/>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20" name="Straight Connector 19"/>
          <p:cNvCxnSpPr>
            <a:stCxn id="9" idx="4"/>
            <a:endCxn id="11" idx="7"/>
          </p:cNvCxnSpPr>
          <p:nvPr/>
        </p:nvCxnSpPr>
        <p:spPr>
          <a:xfrm flipH="1">
            <a:off x="3167011" y="2514600"/>
            <a:ext cx="246296" cy="817796"/>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21" name="Straight Connector 20"/>
          <p:cNvCxnSpPr>
            <a:stCxn id="10" idx="4"/>
            <a:endCxn id="11" idx="6"/>
          </p:cNvCxnSpPr>
          <p:nvPr/>
        </p:nvCxnSpPr>
        <p:spPr>
          <a:xfrm flipH="1">
            <a:off x="3222807" y="2514600"/>
            <a:ext cx="952500" cy="952500"/>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
        <p:nvSpPr>
          <p:cNvPr id="22" name="Oval 21"/>
          <p:cNvSpPr/>
          <p:nvPr/>
        </p:nvSpPr>
        <p:spPr>
          <a:xfrm>
            <a:off x="7871007" y="990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sp>
        <p:nvSpPr>
          <p:cNvPr id="23" name="Oval 22"/>
          <p:cNvSpPr/>
          <p:nvPr/>
        </p:nvSpPr>
        <p:spPr>
          <a:xfrm>
            <a:off x="7261407" y="15240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24" name="Oval 23"/>
          <p:cNvSpPr/>
          <p:nvPr/>
        </p:nvSpPr>
        <p:spPr>
          <a:xfrm>
            <a:off x="8556807" y="15240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25" name="Oval 24"/>
          <p:cNvSpPr/>
          <p:nvPr/>
        </p:nvSpPr>
        <p:spPr>
          <a:xfrm>
            <a:off x="6804207" y="2133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26" name="Oval 25"/>
          <p:cNvSpPr/>
          <p:nvPr/>
        </p:nvSpPr>
        <p:spPr>
          <a:xfrm>
            <a:off x="7642407" y="2133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sp>
        <p:nvSpPr>
          <p:cNvPr id="27" name="Oval 26"/>
          <p:cNvSpPr/>
          <p:nvPr/>
        </p:nvSpPr>
        <p:spPr>
          <a:xfrm>
            <a:off x="8252007" y="2133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p>
        </p:txBody>
      </p:sp>
      <p:sp>
        <p:nvSpPr>
          <p:cNvPr id="28" name="Oval 27"/>
          <p:cNvSpPr/>
          <p:nvPr/>
        </p:nvSpPr>
        <p:spPr>
          <a:xfrm>
            <a:off x="9014007" y="2133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G</a:t>
            </a:r>
          </a:p>
        </p:txBody>
      </p:sp>
      <p:sp>
        <p:nvSpPr>
          <p:cNvPr id="29" name="Oval 28"/>
          <p:cNvSpPr/>
          <p:nvPr/>
        </p:nvSpPr>
        <p:spPr>
          <a:xfrm>
            <a:off x="7871007" y="3276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H</a:t>
            </a:r>
          </a:p>
        </p:txBody>
      </p:sp>
      <p:cxnSp>
        <p:nvCxnSpPr>
          <p:cNvPr id="30" name="Straight Connector 29"/>
          <p:cNvCxnSpPr>
            <a:stCxn id="22" idx="3"/>
            <a:endCxn id="23" idx="7"/>
          </p:cNvCxnSpPr>
          <p:nvPr/>
        </p:nvCxnSpPr>
        <p:spPr>
          <a:xfrm flipH="1">
            <a:off x="7586611" y="1315804"/>
            <a:ext cx="340192" cy="263992"/>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31" name="Straight Connector 30"/>
          <p:cNvCxnSpPr>
            <a:stCxn id="23" idx="3"/>
            <a:endCxn id="25" idx="0"/>
          </p:cNvCxnSpPr>
          <p:nvPr/>
        </p:nvCxnSpPr>
        <p:spPr>
          <a:xfrm flipH="1">
            <a:off x="6994707" y="1849204"/>
            <a:ext cx="322496" cy="284396"/>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32" name="Straight Connector 31"/>
          <p:cNvCxnSpPr>
            <a:stCxn id="24" idx="3"/>
            <a:endCxn id="27" idx="0"/>
          </p:cNvCxnSpPr>
          <p:nvPr/>
        </p:nvCxnSpPr>
        <p:spPr>
          <a:xfrm flipH="1">
            <a:off x="8442507" y="1849204"/>
            <a:ext cx="170096" cy="284396"/>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33" name="Straight Connector 32"/>
          <p:cNvCxnSpPr>
            <a:stCxn id="24" idx="5"/>
            <a:endCxn id="28" idx="0"/>
          </p:cNvCxnSpPr>
          <p:nvPr/>
        </p:nvCxnSpPr>
        <p:spPr>
          <a:xfrm>
            <a:off x="8882011" y="1849204"/>
            <a:ext cx="322496" cy="284396"/>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34" name="Straight Connector 33"/>
          <p:cNvCxnSpPr>
            <a:stCxn id="25" idx="4"/>
            <a:endCxn id="29" idx="2"/>
          </p:cNvCxnSpPr>
          <p:nvPr/>
        </p:nvCxnSpPr>
        <p:spPr>
          <a:xfrm>
            <a:off x="6994707" y="2514600"/>
            <a:ext cx="876300" cy="952500"/>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35" name="Straight Connector 34"/>
          <p:cNvCxnSpPr>
            <a:stCxn id="26" idx="4"/>
            <a:endCxn id="29" idx="1"/>
          </p:cNvCxnSpPr>
          <p:nvPr/>
        </p:nvCxnSpPr>
        <p:spPr>
          <a:xfrm>
            <a:off x="7832907" y="2514600"/>
            <a:ext cx="93896" cy="817796"/>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36" name="Straight Connector 35"/>
          <p:cNvCxnSpPr>
            <a:stCxn id="27" idx="4"/>
            <a:endCxn id="29" idx="7"/>
          </p:cNvCxnSpPr>
          <p:nvPr/>
        </p:nvCxnSpPr>
        <p:spPr>
          <a:xfrm flipH="1">
            <a:off x="8196211" y="2514600"/>
            <a:ext cx="246296" cy="817796"/>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37" name="Straight Connector 36"/>
          <p:cNvCxnSpPr/>
          <p:nvPr/>
        </p:nvCxnSpPr>
        <p:spPr>
          <a:xfrm flipV="1">
            <a:off x="1066800" y="3845017"/>
            <a:ext cx="10058400"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38" name="Oval 37"/>
          <p:cNvSpPr/>
          <p:nvPr/>
        </p:nvSpPr>
        <p:spPr>
          <a:xfrm>
            <a:off x="2308407" y="4564296"/>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sp>
        <p:nvSpPr>
          <p:cNvPr id="39" name="Oval 38"/>
          <p:cNvSpPr/>
          <p:nvPr/>
        </p:nvSpPr>
        <p:spPr>
          <a:xfrm>
            <a:off x="1775007" y="5135796"/>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40" name="Oval 39"/>
          <p:cNvSpPr/>
          <p:nvPr/>
        </p:nvSpPr>
        <p:spPr>
          <a:xfrm>
            <a:off x="2918007" y="5135796"/>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41" name="Oval 40"/>
          <p:cNvSpPr/>
          <p:nvPr/>
        </p:nvSpPr>
        <p:spPr>
          <a:xfrm>
            <a:off x="2308407" y="57150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42" name="Oval 41"/>
          <p:cNvSpPr/>
          <p:nvPr/>
        </p:nvSpPr>
        <p:spPr>
          <a:xfrm>
            <a:off x="4213407" y="5135796"/>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sp>
        <p:nvSpPr>
          <p:cNvPr id="43" name="Oval 42"/>
          <p:cNvSpPr/>
          <p:nvPr/>
        </p:nvSpPr>
        <p:spPr>
          <a:xfrm>
            <a:off x="3527607" y="57150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p>
        </p:txBody>
      </p:sp>
      <p:cxnSp>
        <p:nvCxnSpPr>
          <p:cNvPr id="44" name="Straight Connector 43"/>
          <p:cNvCxnSpPr>
            <a:stCxn id="38" idx="3"/>
            <a:endCxn id="39" idx="7"/>
          </p:cNvCxnSpPr>
          <p:nvPr/>
        </p:nvCxnSpPr>
        <p:spPr>
          <a:xfrm flipH="1">
            <a:off x="2100211" y="4889500"/>
            <a:ext cx="263992" cy="302092"/>
          </a:xfrm>
          <a:prstGeom prst="line">
            <a:avLst/>
          </a:prstGeom>
        </p:spPr>
        <p:style>
          <a:lnRef idx="2">
            <a:schemeClr val="accent2"/>
          </a:lnRef>
          <a:fillRef idx="0">
            <a:schemeClr val="accent2"/>
          </a:fillRef>
          <a:effectRef idx="1">
            <a:schemeClr val="accent2"/>
          </a:effectRef>
          <a:fontRef idx="minor">
            <a:schemeClr val="tx1"/>
          </a:fontRef>
        </p:style>
      </p:cxnSp>
      <p:cxnSp>
        <p:nvCxnSpPr>
          <p:cNvPr id="45" name="Straight Connector 44"/>
          <p:cNvCxnSpPr>
            <a:stCxn id="38" idx="5"/>
            <a:endCxn id="40" idx="1"/>
          </p:cNvCxnSpPr>
          <p:nvPr/>
        </p:nvCxnSpPr>
        <p:spPr>
          <a:xfrm>
            <a:off x="2633611" y="4889500"/>
            <a:ext cx="340192" cy="302092"/>
          </a:xfrm>
          <a:prstGeom prst="line">
            <a:avLst/>
          </a:prstGeom>
        </p:spPr>
        <p:style>
          <a:lnRef idx="2">
            <a:schemeClr val="accent2"/>
          </a:lnRef>
          <a:fillRef idx="0">
            <a:schemeClr val="accent2"/>
          </a:fillRef>
          <a:effectRef idx="1">
            <a:schemeClr val="accent2"/>
          </a:effectRef>
          <a:fontRef idx="minor">
            <a:schemeClr val="tx1"/>
          </a:fontRef>
        </p:style>
      </p:cxnSp>
      <p:cxnSp>
        <p:nvCxnSpPr>
          <p:cNvPr id="46" name="Straight Connector 45"/>
          <p:cNvCxnSpPr>
            <a:stCxn id="39" idx="5"/>
            <a:endCxn id="41" idx="2"/>
          </p:cNvCxnSpPr>
          <p:nvPr/>
        </p:nvCxnSpPr>
        <p:spPr>
          <a:xfrm>
            <a:off x="2100211" y="5461000"/>
            <a:ext cx="208196" cy="444500"/>
          </a:xfrm>
          <a:prstGeom prst="line">
            <a:avLst/>
          </a:prstGeom>
        </p:spPr>
        <p:style>
          <a:lnRef idx="2">
            <a:schemeClr val="accent2"/>
          </a:lnRef>
          <a:fillRef idx="0">
            <a:schemeClr val="accent2"/>
          </a:fillRef>
          <a:effectRef idx="1">
            <a:schemeClr val="accent2"/>
          </a:effectRef>
          <a:fontRef idx="minor">
            <a:schemeClr val="tx1"/>
          </a:fontRef>
        </p:style>
      </p:cxnSp>
      <p:cxnSp>
        <p:nvCxnSpPr>
          <p:cNvPr id="47" name="Straight Connector 46"/>
          <p:cNvCxnSpPr>
            <a:stCxn id="41" idx="6"/>
            <a:endCxn id="40" idx="3"/>
          </p:cNvCxnSpPr>
          <p:nvPr/>
        </p:nvCxnSpPr>
        <p:spPr>
          <a:xfrm flipV="1">
            <a:off x="2689407" y="5461000"/>
            <a:ext cx="284396" cy="444500"/>
          </a:xfrm>
          <a:prstGeom prst="line">
            <a:avLst/>
          </a:prstGeom>
        </p:spPr>
        <p:style>
          <a:lnRef idx="2">
            <a:schemeClr val="accent2"/>
          </a:lnRef>
          <a:fillRef idx="0">
            <a:schemeClr val="accent2"/>
          </a:fillRef>
          <a:effectRef idx="1">
            <a:schemeClr val="accent2"/>
          </a:effectRef>
          <a:fontRef idx="minor">
            <a:schemeClr val="tx1"/>
          </a:fontRef>
        </p:style>
      </p:cxnSp>
      <p:cxnSp>
        <p:nvCxnSpPr>
          <p:cNvPr id="48" name="Straight Connector 47"/>
          <p:cNvCxnSpPr>
            <a:stCxn id="40" idx="6"/>
            <a:endCxn id="42" idx="2"/>
          </p:cNvCxnSpPr>
          <p:nvPr/>
        </p:nvCxnSpPr>
        <p:spPr>
          <a:xfrm>
            <a:off x="3299007" y="5326296"/>
            <a:ext cx="914400"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49" name="Straight Connector 48"/>
          <p:cNvCxnSpPr>
            <a:stCxn id="40" idx="5"/>
            <a:endCxn id="43" idx="1"/>
          </p:cNvCxnSpPr>
          <p:nvPr/>
        </p:nvCxnSpPr>
        <p:spPr>
          <a:xfrm>
            <a:off x="3243211" y="5461000"/>
            <a:ext cx="340192" cy="309796"/>
          </a:xfrm>
          <a:prstGeom prst="line">
            <a:avLst/>
          </a:prstGeom>
        </p:spPr>
        <p:style>
          <a:lnRef idx="2">
            <a:schemeClr val="accent2"/>
          </a:lnRef>
          <a:fillRef idx="0">
            <a:schemeClr val="accent2"/>
          </a:fillRef>
          <a:effectRef idx="1">
            <a:schemeClr val="accent2"/>
          </a:effectRef>
          <a:fontRef idx="minor">
            <a:schemeClr val="tx1"/>
          </a:fontRef>
        </p:style>
      </p:cxnSp>
      <p:cxnSp>
        <p:nvCxnSpPr>
          <p:cNvPr id="50" name="Straight Connector 49"/>
          <p:cNvCxnSpPr>
            <a:stCxn id="42" idx="3"/>
            <a:endCxn id="43" idx="6"/>
          </p:cNvCxnSpPr>
          <p:nvPr/>
        </p:nvCxnSpPr>
        <p:spPr>
          <a:xfrm flipH="1">
            <a:off x="3908607" y="5461000"/>
            <a:ext cx="360596" cy="444500"/>
          </a:xfrm>
          <a:prstGeom prst="line">
            <a:avLst/>
          </a:prstGeom>
        </p:spPr>
        <p:style>
          <a:lnRef idx="2">
            <a:schemeClr val="accent2"/>
          </a:lnRef>
          <a:fillRef idx="0">
            <a:schemeClr val="accent2"/>
          </a:fillRef>
          <a:effectRef idx="1">
            <a:schemeClr val="accent2"/>
          </a:effectRef>
          <a:fontRef idx="minor">
            <a:schemeClr val="tx1"/>
          </a:fontRef>
        </p:style>
      </p:cxnSp>
      <p:sp>
        <p:nvSpPr>
          <p:cNvPr id="51" name="Oval 50"/>
          <p:cNvSpPr/>
          <p:nvPr/>
        </p:nvSpPr>
        <p:spPr>
          <a:xfrm>
            <a:off x="7337607" y="4411896"/>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sp>
        <p:nvSpPr>
          <p:cNvPr id="52" name="Oval 51"/>
          <p:cNvSpPr/>
          <p:nvPr/>
        </p:nvSpPr>
        <p:spPr>
          <a:xfrm>
            <a:off x="6804207" y="4983396"/>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53" name="Oval 52"/>
          <p:cNvSpPr/>
          <p:nvPr/>
        </p:nvSpPr>
        <p:spPr>
          <a:xfrm>
            <a:off x="7947207" y="4983396"/>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54" name="Oval 53"/>
          <p:cNvSpPr/>
          <p:nvPr/>
        </p:nvSpPr>
        <p:spPr>
          <a:xfrm>
            <a:off x="7337607" y="5562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55" name="Oval 54"/>
          <p:cNvSpPr/>
          <p:nvPr/>
        </p:nvSpPr>
        <p:spPr>
          <a:xfrm>
            <a:off x="9242607" y="4983396"/>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sp>
        <p:nvSpPr>
          <p:cNvPr id="56" name="Oval 55"/>
          <p:cNvSpPr/>
          <p:nvPr/>
        </p:nvSpPr>
        <p:spPr>
          <a:xfrm>
            <a:off x="8556807" y="5562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p>
        </p:txBody>
      </p:sp>
      <p:cxnSp>
        <p:nvCxnSpPr>
          <p:cNvPr id="57" name="Straight Connector 56"/>
          <p:cNvCxnSpPr>
            <a:stCxn id="51" idx="3"/>
            <a:endCxn id="52" idx="7"/>
          </p:cNvCxnSpPr>
          <p:nvPr/>
        </p:nvCxnSpPr>
        <p:spPr>
          <a:xfrm flipH="1">
            <a:off x="7129411" y="4737100"/>
            <a:ext cx="263992" cy="302092"/>
          </a:xfrm>
          <a:prstGeom prst="line">
            <a:avLst/>
          </a:prstGeom>
        </p:spPr>
        <p:style>
          <a:lnRef idx="2">
            <a:schemeClr val="accent2"/>
          </a:lnRef>
          <a:fillRef idx="0">
            <a:schemeClr val="accent2"/>
          </a:fillRef>
          <a:effectRef idx="1">
            <a:schemeClr val="accent2"/>
          </a:effectRef>
          <a:fontRef idx="minor">
            <a:schemeClr val="tx1"/>
          </a:fontRef>
        </p:style>
      </p:cxnSp>
      <p:cxnSp>
        <p:nvCxnSpPr>
          <p:cNvPr id="58" name="Straight Connector 57"/>
          <p:cNvCxnSpPr>
            <a:stCxn id="52" idx="5"/>
            <a:endCxn id="54" idx="2"/>
          </p:cNvCxnSpPr>
          <p:nvPr/>
        </p:nvCxnSpPr>
        <p:spPr>
          <a:xfrm>
            <a:off x="7129411" y="5308600"/>
            <a:ext cx="208196" cy="444500"/>
          </a:xfrm>
          <a:prstGeom prst="line">
            <a:avLst/>
          </a:prstGeom>
        </p:spPr>
        <p:style>
          <a:lnRef idx="2">
            <a:schemeClr val="accent2"/>
          </a:lnRef>
          <a:fillRef idx="0">
            <a:schemeClr val="accent2"/>
          </a:fillRef>
          <a:effectRef idx="1">
            <a:schemeClr val="accent2"/>
          </a:effectRef>
          <a:fontRef idx="minor">
            <a:schemeClr val="tx1"/>
          </a:fontRef>
        </p:style>
      </p:cxnSp>
      <p:cxnSp>
        <p:nvCxnSpPr>
          <p:cNvPr id="59" name="Straight Connector 58"/>
          <p:cNvCxnSpPr>
            <a:stCxn id="54" idx="7"/>
            <a:endCxn id="53" idx="3"/>
          </p:cNvCxnSpPr>
          <p:nvPr/>
        </p:nvCxnSpPr>
        <p:spPr>
          <a:xfrm flipV="1">
            <a:off x="7662811" y="5308600"/>
            <a:ext cx="340192" cy="309796"/>
          </a:xfrm>
          <a:prstGeom prst="line">
            <a:avLst/>
          </a:prstGeom>
        </p:spPr>
        <p:style>
          <a:lnRef idx="2">
            <a:schemeClr val="accent2"/>
          </a:lnRef>
          <a:fillRef idx="0">
            <a:schemeClr val="accent2"/>
          </a:fillRef>
          <a:effectRef idx="1">
            <a:schemeClr val="accent2"/>
          </a:effectRef>
          <a:fontRef idx="minor">
            <a:schemeClr val="tx1"/>
          </a:fontRef>
        </p:style>
      </p:cxnSp>
      <p:cxnSp>
        <p:nvCxnSpPr>
          <p:cNvPr id="60" name="Straight Connector 59"/>
          <p:cNvCxnSpPr>
            <a:stCxn id="53" idx="5"/>
            <a:endCxn id="56" idx="1"/>
          </p:cNvCxnSpPr>
          <p:nvPr/>
        </p:nvCxnSpPr>
        <p:spPr>
          <a:xfrm>
            <a:off x="8272411" y="5308600"/>
            <a:ext cx="340192" cy="309796"/>
          </a:xfrm>
          <a:prstGeom prst="line">
            <a:avLst/>
          </a:prstGeom>
        </p:spPr>
        <p:style>
          <a:lnRef idx="2">
            <a:schemeClr val="accent2"/>
          </a:lnRef>
          <a:fillRef idx="0">
            <a:schemeClr val="accent2"/>
          </a:fillRef>
          <a:effectRef idx="1">
            <a:schemeClr val="accent2"/>
          </a:effectRef>
          <a:fontRef idx="minor">
            <a:schemeClr val="tx1"/>
          </a:fontRef>
        </p:style>
      </p:cxnSp>
      <p:cxnSp>
        <p:nvCxnSpPr>
          <p:cNvPr id="61" name="Straight Connector 60"/>
          <p:cNvCxnSpPr>
            <a:stCxn id="55" idx="3"/>
            <a:endCxn id="56" idx="6"/>
          </p:cNvCxnSpPr>
          <p:nvPr/>
        </p:nvCxnSpPr>
        <p:spPr>
          <a:xfrm flipH="1">
            <a:off x="8937807" y="5308600"/>
            <a:ext cx="360596" cy="444500"/>
          </a:xfrm>
          <a:prstGeom prst="line">
            <a:avLst/>
          </a:prstGeom>
        </p:spPr>
        <p:style>
          <a:lnRef idx="2">
            <a:schemeClr val="accent2"/>
          </a:lnRef>
          <a:fillRef idx="0">
            <a:schemeClr val="accent2"/>
          </a:fillRef>
          <a:effectRef idx="1">
            <a:schemeClr val="accent2"/>
          </a:effectRef>
          <a:fontRef idx="minor">
            <a:schemeClr val="tx1"/>
          </a:fontRef>
        </p:style>
      </p:cxnSp>
      <p:sp>
        <p:nvSpPr>
          <p:cNvPr id="62" name="TextBox 61"/>
          <p:cNvSpPr txBox="1"/>
          <p:nvPr/>
        </p:nvSpPr>
        <p:spPr>
          <a:xfrm>
            <a:off x="1165407" y="999795"/>
            <a:ext cx="956582" cy="461665"/>
          </a:xfrm>
          <a:prstGeom prst="rect">
            <a:avLst/>
          </a:prstGeom>
          <a:solidFill>
            <a:schemeClr val="bg1">
              <a:lumMod val="85000"/>
            </a:schemeClr>
          </a:solidFill>
        </p:spPr>
        <p:txBody>
          <a:bodyPr wrap="square" rtlCol="0">
            <a:spAutoFit/>
          </a:bodyPr>
          <a:lstStyle/>
          <a:p>
            <a:r>
              <a:rPr lang="en-US" sz="2400" dirty="0">
                <a:solidFill>
                  <a:srgbClr val="C00000"/>
                </a:solidFill>
              </a:rPr>
              <a:t>Graph </a:t>
            </a:r>
          </a:p>
        </p:txBody>
      </p:sp>
      <p:sp>
        <p:nvSpPr>
          <p:cNvPr id="63" name="TextBox 62"/>
          <p:cNvSpPr txBox="1"/>
          <p:nvPr/>
        </p:nvSpPr>
        <p:spPr>
          <a:xfrm>
            <a:off x="1165407" y="3983896"/>
            <a:ext cx="956582" cy="461665"/>
          </a:xfrm>
          <a:prstGeom prst="rect">
            <a:avLst/>
          </a:prstGeom>
          <a:solidFill>
            <a:schemeClr val="bg1">
              <a:lumMod val="85000"/>
            </a:schemeClr>
          </a:solidFill>
        </p:spPr>
        <p:txBody>
          <a:bodyPr wrap="square" rtlCol="0">
            <a:spAutoFit/>
          </a:bodyPr>
          <a:lstStyle/>
          <a:p>
            <a:r>
              <a:rPr lang="en-US" sz="2400" dirty="0">
                <a:solidFill>
                  <a:srgbClr val="C00000"/>
                </a:solidFill>
              </a:rPr>
              <a:t>Graph </a:t>
            </a:r>
          </a:p>
        </p:txBody>
      </p:sp>
      <p:sp>
        <p:nvSpPr>
          <p:cNvPr id="64" name="Rectangle 63"/>
          <p:cNvSpPr/>
          <p:nvPr/>
        </p:nvSpPr>
        <p:spPr>
          <a:xfrm>
            <a:off x="4660154" y="1030572"/>
            <a:ext cx="1712264" cy="400110"/>
          </a:xfrm>
          <a:prstGeom prst="rect">
            <a:avLst/>
          </a:prstGeom>
          <a:solidFill>
            <a:schemeClr val="accent6">
              <a:lumMod val="20000"/>
              <a:lumOff val="80000"/>
            </a:schemeClr>
          </a:solidFill>
        </p:spPr>
        <p:txBody>
          <a:bodyPr wrap="none">
            <a:spAutoFit/>
          </a:bodyPr>
          <a:lstStyle/>
          <a:p>
            <a:r>
              <a:rPr lang="en-US" sz="2000" dirty="0"/>
              <a:t>Spanning Tree </a:t>
            </a:r>
          </a:p>
        </p:txBody>
      </p:sp>
      <p:sp>
        <p:nvSpPr>
          <p:cNvPr id="65" name="Rectangle 64"/>
          <p:cNvSpPr/>
          <p:nvPr/>
        </p:nvSpPr>
        <p:spPr>
          <a:xfrm>
            <a:off x="4583954" y="4014714"/>
            <a:ext cx="1712264" cy="400110"/>
          </a:xfrm>
          <a:prstGeom prst="rect">
            <a:avLst/>
          </a:prstGeom>
          <a:solidFill>
            <a:schemeClr val="accent6">
              <a:lumMod val="20000"/>
              <a:lumOff val="80000"/>
            </a:schemeClr>
          </a:solidFill>
        </p:spPr>
        <p:txBody>
          <a:bodyPr wrap="none">
            <a:spAutoFit/>
          </a:bodyPr>
          <a:lstStyle/>
          <a:p>
            <a:r>
              <a:rPr lang="en-US" sz="2000" dirty="0"/>
              <a:t>Spanning Tree </a:t>
            </a:r>
          </a:p>
        </p:txBody>
      </p:sp>
      <p:cxnSp>
        <p:nvCxnSpPr>
          <p:cNvPr id="66" name="Elbow Connector 65"/>
          <p:cNvCxnSpPr>
            <a:stCxn id="64" idx="2"/>
          </p:cNvCxnSpPr>
          <p:nvPr/>
        </p:nvCxnSpPr>
        <p:spPr>
          <a:xfrm rot="16200000" flipH="1">
            <a:off x="5315017" y="1631951"/>
            <a:ext cx="1212850" cy="810312"/>
          </a:xfrm>
          <a:prstGeom prst="bentConnector3">
            <a:avLst>
              <a:gd name="adj1" fmla="val 100637"/>
            </a:avLst>
          </a:prstGeom>
          <a:ln w="28575">
            <a:solidFill>
              <a:srgbClr val="AD1457"/>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67" name="Left Brace 66"/>
          <p:cNvSpPr/>
          <p:nvPr/>
        </p:nvSpPr>
        <p:spPr>
          <a:xfrm>
            <a:off x="6270807" y="1615052"/>
            <a:ext cx="381000" cy="2077804"/>
          </a:xfrm>
          <a:prstGeom prst="leftBrace">
            <a:avLst/>
          </a:prstGeom>
          <a:ln w="28575">
            <a:solidFill>
              <a:srgbClr val="AD145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AD1457"/>
              </a:solidFill>
            </a:endParaRPr>
          </a:p>
        </p:txBody>
      </p:sp>
      <p:cxnSp>
        <p:nvCxnSpPr>
          <p:cNvPr id="68" name="Elbow Connector 67"/>
          <p:cNvCxnSpPr>
            <a:stCxn id="65" idx="2"/>
            <a:endCxn id="69" idx="1"/>
          </p:cNvCxnSpPr>
          <p:nvPr/>
        </p:nvCxnSpPr>
        <p:spPr>
          <a:xfrm rot="16200000" flipH="1">
            <a:off x="5440702" y="4414207"/>
            <a:ext cx="924455" cy="925687"/>
          </a:xfrm>
          <a:prstGeom prst="bentConnector2">
            <a:avLst/>
          </a:prstGeom>
          <a:ln w="28575">
            <a:solidFill>
              <a:srgbClr val="AD1457"/>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
        <p:nvSpPr>
          <p:cNvPr id="69" name="Left Brace 68"/>
          <p:cNvSpPr/>
          <p:nvPr/>
        </p:nvSpPr>
        <p:spPr>
          <a:xfrm>
            <a:off x="6365773" y="4430158"/>
            <a:ext cx="381000" cy="1818242"/>
          </a:xfrm>
          <a:prstGeom prst="leftBrace">
            <a:avLst/>
          </a:prstGeom>
          <a:ln w="28575">
            <a:solidFill>
              <a:srgbClr val="AD145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680694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64"/>
                                        </p:tgtEl>
                                        <p:attrNameLst>
                                          <p:attrName>style.visibility</p:attrName>
                                        </p:attrNameLst>
                                      </p:cBhvr>
                                      <p:to>
                                        <p:strVal val="visible"/>
                                      </p:to>
                                    </p:set>
                                    <p:animEffect transition="in" filter="fade">
                                      <p:cBhvr>
                                        <p:cTn id="49" dur="500"/>
                                        <p:tgtEl>
                                          <p:spTgt spid="64"/>
                                        </p:tgtEl>
                                      </p:cBhvr>
                                    </p:animEffect>
                                  </p:childTnLst>
                                </p:cTn>
                              </p:par>
                            </p:childTnLst>
                          </p:cTn>
                        </p:par>
                        <p:par>
                          <p:cTn id="50" fill="hold">
                            <p:stCondLst>
                              <p:cond delay="500"/>
                            </p:stCondLst>
                            <p:childTnLst>
                              <p:par>
                                <p:cTn id="51" presetID="22" presetClass="entr" presetSubtype="1" fill="hold" nodeType="afterEffect">
                                  <p:stCondLst>
                                    <p:cond delay="0"/>
                                  </p:stCondLst>
                                  <p:childTnLst>
                                    <p:set>
                                      <p:cBhvr>
                                        <p:cTn id="52" dur="1" fill="hold">
                                          <p:stCondLst>
                                            <p:cond delay="0"/>
                                          </p:stCondLst>
                                        </p:cTn>
                                        <p:tgtEl>
                                          <p:spTgt spid="66"/>
                                        </p:tgtEl>
                                        <p:attrNameLst>
                                          <p:attrName>style.visibility</p:attrName>
                                        </p:attrNameLst>
                                      </p:cBhvr>
                                      <p:to>
                                        <p:strVal val="visible"/>
                                      </p:to>
                                    </p:set>
                                    <p:animEffect transition="in" filter="wipe(up)">
                                      <p:cBhvr>
                                        <p:cTn id="53" dur="500"/>
                                        <p:tgtEl>
                                          <p:spTgt spid="66"/>
                                        </p:tgtEl>
                                      </p:cBhvr>
                                    </p:animEffect>
                                  </p:childTnLst>
                                </p:cTn>
                              </p:par>
                            </p:childTnLst>
                          </p:cTn>
                        </p:par>
                        <p:par>
                          <p:cTn id="54" fill="hold">
                            <p:stCondLst>
                              <p:cond delay="1000"/>
                            </p:stCondLst>
                            <p:childTnLst>
                              <p:par>
                                <p:cTn id="55" presetID="22" presetClass="entr" presetSubtype="8" fill="hold" grpId="0" nodeType="afterEffect">
                                  <p:stCondLst>
                                    <p:cond delay="0"/>
                                  </p:stCondLst>
                                  <p:childTnLst>
                                    <p:set>
                                      <p:cBhvr>
                                        <p:cTn id="56" dur="1" fill="hold">
                                          <p:stCondLst>
                                            <p:cond delay="0"/>
                                          </p:stCondLst>
                                        </p:cTn>
                                        <p:tgtEl>
                                          <p:spTgt spid="67"/>
                                        </p:tgtEl>
                                        <p:attrNameLst>
                                          <p:attrName>style.visibility</p:attrName>
                                        </p:attrNameLst>
                                      </p:cBhvr>
                                      <p:to>
                                        <p:strVal val="visible"/>
                                      </p:to>
                                    </p:set>
                                    <p:animEffect transition="in" filter="wipe(left)">
                                      <p:cBhvr>
                                        <p:cTn id="57" dur="500"/>
                                        <p:tgtEl>
                                          <p:spTgt spid="67"/>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22"/>
                                        </p:tgtEl>
                                        <p:attrNameLst>
                                          <p:attrName>style.visibility</p:attrName>
                                        </p:attrNameLst>
                                      </p:cBhvr>
                                      <p:to>
                                        <p:strVal val="visible"/>
                                      </p:to>
                                    </p:set>
                                  </p:childTnLst>
                                </p:cTn>
                              </p:par>
                            </p:childTnLst>
                          </p:cTn>
                        </p:par>
                        <p:par>
                          <p:cTn id="62" fill="hold">
                            <p:stCondLst>
                              <p:cond delay="0"/>
                            </p:stCondLst>
                            <p:childTnLst>
                              <p:par>
                                <p:cTn id="63" presetID="22" presetClass="entr" presetSubtype="2" fill="hold" nodeType="after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wipe(right)">
                                      <p:cBhvr>
                                        <p:cTn id="65" dur="500"/>
                                        <p:tgtEl>
                                          <p:spTgt spid="30"/>
                                        </p:tgtEl>
                                      </p:cBhvr>
                                    </p:animEffect>
                                  </p:childTnLst>
                                </p:cTn>
                              </p:par>
                            </p:childTnLst>
                          </p:cTn>
                        </p:par>
                        <p:par>
                          <p:cTn id="66" fill="hold">
                            <p:stCondLst>
                              <p:cond delay="500"/>
                            </p:stCondLst>
                            <p:childTnLst>
                              <p:par>
                                <p:cTn id="67" presetID="1" presetClass="entr" presetSubtype="0" fill="hold" grpId="0" nodeType="after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childTnLst>
                          </p:cTn>
                        </p:par>
                        <p:par>
                          <p:cTn id="69" fill="hold">
                            <p:stCondLst>
                              <p:cond delay="500"/>
                            </p:stCondLst>
                            <p:childTnLst>
                              <p:par>
                                <p:cTn id="70" presetID="22" presetClass="entr" presetSubtype="2" fill="hold" nodeType="after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wipe(right)">
                                      <p:cBhvr>
                                        <p:cTn id="72" dur="500"/>
                                        <p:tgtEl>
                                          <p:spTgt spid="31"/>
                                        </p:tgtEl>
                                      </p:cBhvr>
                                    </p:animEffect>
                                  </p:childTnLst>
                                </p:cTn>
                              </p:par>
                            </p:childTnLst>
                          </p:cTn>
                        </p:par>
                        <p:par>
                          <p:cTn id="73" fill="hold">
                            <p:stCondLst>
                              <p:cond delay="1000"/>
                            </p:stCondLst>
                            <p:childTnLst>
                              <p:par>
                                <p:cTn id="74" presetID="1" presetClass="entr" presetSubtype="0" fill="hold" grpId="0" nodeType="afterEffect">
                                  <p:stCondLst>
                                    <p:cond delay="0"/>
                                  </p:stCondLst>
                                  <p:childTnLst>
                                    <p:set>
                                      <p:cBhvr>
                                        <p:cTn id="75" dur="1" fill="hold">
                                          <p:stCondLst>
                                            <p:cond delay="0"/>
                                          </p:stCondLst>
                                        </p:cTn>
                                        <p:tgtEl>
                                          <p:spTgt spid="25"/>
                                        </p:tgtEl>
                                        <p:attrNameLst>
                                          <p:attrName>style.visibility</p:attrName>
                                        </p:attrNameLst>
                                      </p:cBhvr>
                                      <p:to>
                                        <p:strVal val="visible"/>
                                      </p:to>
                                    </p:set>
                                  </p:childTnLst>
                                </p:cTn>
                              </p:par>
                            </p:childTnLst>
                          </p:cTn>
                        </p:par>
                        <p:par>
                          <p:cTn id="76" fill="hold">
                            <p:stCondLst>
                              <p:cond delay="1000"/>
                            </p:stCondLst>
                            <p:childTnLst>
                              <p:par>
                                <p:cTn id="77" presetID="22" presetClass="entr" presetSubtype="1" fill="hold" nodeType="afterEffect">
                                  <p:stCondLst>
                                    <p:cond delay="0"/>
                                  </p:stCondLst>
                                  <p:childTnLst>
                                    <p:set>
                                      <p:cBhvr>
                                        <p:cTn id="78" dur="1" fill="hold">
                                          <p:stCondLst>
                                            <p:cond delay="0"/>
                                          </p:stCondLst>
                                        </p:cTn>
                                        <p:tgtEl>
                                          <p:spTgt spid="34"/>
                                        </p:tgtEl>
                                        <p:attrNameLst>
                                          <p:attrName>style.visibility</p:attrName>
                                        </p:attrNameLst>
                                      </p:cBhvr>
                                      <p:to>
                                        <p:strVal val="visible"/>
                                      </p:to>
                                    </p:set>
                                    <p:animEffect transition="in" filter="wipe(up)">
                                      <p:cBhvr>
                                        <p:cTn id="79" dur="500"/>
                                        <p:tgtEl>
                                          <p:spTgt spid="34"/>
                                        </p:tgtEl>
                                      </p:cBhvr>
                                    </p:animEffect>
                                  </p:childTnLst>
                                </p:cTn>
                              </p:par>
                            </p:childTnLst>
                          </p:cTn>
                        </p:par>
                        <p:par>
                          <p:cTn id="80" fill="hold">
                            <p:stCondLst>
                              <p:cond delay="1500"/>
                            </p:stCondLst>
                            <p:childTnLst>
                              <p:par>
                                <p:cTn id="81" presetID="1" presetClass="entr" presetSubtype="0" fill="hold" grpId="0" nodeType="afterEffect">
                                  <p:stCondLst>
                                    <p:cond delay="0"/>
                                  </p:stCondLst>
                                  <p:childTnLst>
                                    <p:set>
                                      <p:cBhvr>
                                        <p:cTn id="82" dur="1" fill="hold">
                                          <p:stCondLst>
                                            <p:cond delay="0"/>
                                          </p:stCondLst>
                                        </p:cTn>
                                        <p:tgtEl>
                                          <p:spTgt spid="29"/>
                                        </p:tgtEl>
                                        <p:attrNameLst>
                                          <p:attrName>style.visibility</p:attrName>
                                        </p:attrNameLst>
                                      </p:cBhvr>
                                      <p:to>
                                        <p:strVal val="visible"/>
                                      </p:to>
                                    </p:set>
                                  </p:childTnLst>
                                </p:cTn>
                              </p:par>
                            </p:childTnLst>
                          </p:cTn>
                        </p:par>
                        <p:par>
                          <p:cTn id="83" fill="hold">
                            <p:stCondLst>
                              <p:cond delay="1500"/>
                            </p:stCondLst>
                            <p:childTnLst>
                              <p:par>
                                <p:cTn id="84" presetID="22" presetClass="entr" presetSubtype="4" fill="hold" nodeType="afterEffect">
                                  <p:stCondLst>
                                    <p:cond delay="0"/>
                                  </p:stCondLst>
                                  <p:childTnLst>
                                    <p:set>
                                      <p:cBhvr>
                                        <p:cTn id="85" dur="1" fill="hold">
                                          <p:stCondLst>
                                            <p:cond delay="0"/>
                                          </p:stCondLst>
                                        </p:cTn>
                                        <p:tgtEl>
                                          <p:spTgt spid="35"/>
                                        </p:tgtEl>
                                        <p:attrNameLst>
                                          <p:attrName>style.visibility</p:attrName>
                                        </p:attrNameLst>
                                      </p:cBhvr>
                                      <p:to>
                                        <p:strVal val="visible"/>
                                      </p:to>
                                    </p:set>
                                    <p:animEffect transition="in" filter="wipe(down)">
                                      <p:cBhvr>
                                        <p:cTn id="86" dur="500"/>
                                        <p:tgtEl>
                                          <p:spTgt spid="35"/>
                                        </p:tgtEl>
                                      </p:cBhvr>
                                    </p:animEffect>
                                  </p:childTnLst>
                                </p:cTn>
                              </p:par>
                            </p:childTnLst>
                          </p:cTn>
                        </p:par>
                        <p:par>
                          <p:cTn id="87" fill="hold">
                            <p:stCondLst>
                              <p:cond delay="2000"/>
                            </p:stCondLst>
                            <p:childTnLst>
                              <p:par>
                                <p:cTn id="88" presetID="1" presetClass="entr" presetSubtype="0" fill="hold" grpId="0" nodeType="afterEffect">
                                  <p:stCondLst>
                                    <p:cond delay="0"/>
                                  </p:stCondLst>
                                  <p:childTnLst>
                                    <p:set>
                                      <p:cBhvr>
                                        <p:cTn id="89" dur="1" fill="hold">
                                          <p:stCondLst>
                                            <p:cond delay="0"/>
                                          </p:stCondLst>
                                        </p:cTn>
                                        <p:tgtEl>
                                          <p:spTgt spid="26"/>
                                        </p:tgtEl>
                                        <p:attrNameLst>
                                          <p:attrName>style.visibility</p:attrName>
                                        </p:attrNameLst>
                                      </p:cBhvr>
                                      <p:to>
                                        <p:strVal val="visible"/>
                                      </p:to>
                                    </p:set>
                                  </p:childTnLst>
                                </p:cTn>
                              </p:par>
                            </p:childTnLst>
                          </p:cTn>
                        </p:par>
                        <p:par>
                          <p:cTn id="90" fill="hold">
                            <p:stCondLst>
                              <p:cond delay="2000"/>
                            </p:stCondLst>
                            <p:childTnLst>
                              <p:par>
                                <p:cTn id="91" presetID="22" presetClass="entr" presetSubtype="4" fill="hold" nodeType="afterEffect">
                                  <p:stCondLst>
                                    <p:cond delay="0"/>
                                  </p:stCondLst>
                                  <p:childTnLst>
                                    <p:set>
                                      <p:cBhvr>
                                        <p:cTn id="92" dur="1" fill="hold">
                                          <p:stCondLst>
                                            <p:cond delay="0"/>
                                          </p:stCondLst>
                                        </p:cTn>
                                        <p:tgtEl>
                                          <p:spTgt spid="36"/>
                                        </p:tgtEl>
                                        <p:attrNameLst>
                                          <p:attrName>style.visibility</p:attrName>
                                        </p:attrNameLst>
                                      </p:cBhvr>
                                      <p:to>
                                        <p:strVal val="visible"/>
                                      </p:to>
                                    </p:set>
                                    <p:animEffect transition="in" filter="wipe(down)">
                                      <p:cBhvr>
                                        <p:cTn id="93" dur="500"/>
                                        <p:tgtEl>
                                          <p:spTgt spid="36"/>
                                        </p:tgtEl>
                                      </p:cBhvr>
                                    </p:animEffect>
                                  </p:childTnLst>
                                </p:cTn>
                              </p:par>
                            </p:childTnLst>
                          </p:cTn>
                        </p:par>
                        <p:par>
                          <p:cTn id="94" fill="hold">
                            <p:stCondLst>
                              <p:cond delay="2500"/>
                            </p:stCondLst>
                            <p:childTnLst>
                              <p:par>
                                <p:cTn id="95" presetID="1" presetClass="entr" presetSubtype="0" fill="hold" grpId="0" nodeType="afterEffect">
                                  <p:stCondLst>
                                    <p:cond delay="0"/>
                                  </p:stCondLst>
                                  <p:childTnLst>
                                    <p:set>
                                      <p:cBhvr>
                                        <p:cTn id="96" dur="1" fill="hold">
                                          <p:stCondLst>
                                            <p:cond delay="0"/>
                                          </p:stCondLst>
                                        </p:cTn>
                                        <p:tgtEl>
                                          <p:spTgt spid="27"/>
                                        </p:tgtEl>
                                        <p:attrNameLst>
                                          <p:attrName>style.visibility</p:attrName>
                                        </p:attrNameLst>
                                      </p:cBhvr>
                                      <p:to>
                                        <p:strVal val="visible"/>
                                      </p:to>
                                    </p:set>
                                  </p:childTnLst>
                                </p:cTn>
                              </p:par>
                            </p:childTnLst>
                          </p:cTn>
                        </p:par>
                        <p:par>
                          <p:cTn id="97" fill="hold">
                            <p:stCondLst>
                              <p:cond delay="2500"/>
                            </p:stCondLst>
                            <p:childTnLst>
                              <p:par>
                                <p:cTn id="98" presetID="22" presetClass="entr" presetSubtype="4" fill="hold" nodeType="afterEffect">
                                  <p:stCondLst>
                                    <p:cond delay="0"/>
                                  </p:stCondLst>
                                  <p:childTnLst>
                                    <p:set>
                                      <p:cBhvr>
                                        <p:cTn id="99" dur="1" fill="hold">
                                          <p:stCondLst>
                                            <p:cond delay="0"/>
                                          </p:stCondLst>
                                        </p:cTn>
                                        <p:tgtEl>
                                          <p:spTgt spid="32"/>
                                        </p:tgtEl>
                                        <p:attrNameLst>
                                          <p:attrName>style.visibility</p:attrName>
                                        </p:attrNameLst>
                                      </p:cBhvr>
                                      <p:to>
                                        <p:strVal val="visible"/>
                                      </p:to>
                                    </p:set>
                                    <p:animEffect transition="in" filter="wipe(down)">
                                      <p:cBhvr>
                                        <p:cTn id="100" dur="500"/>
                                        <p:tgtEl>
                                          <p:spTgt spid="32"/>
                                        </p:tgtEl>
                                      </p:cBhvr>
                                    </p:animEffect>
                                  </p:childTnLst>
                                </p:cTn>
                              </p:par>
                            </p:childTnLst>
                          </p:cTn>
                        </p:par>
                        <p:par>
                          <p:cTn id="101" fill="hold">
                            <p:stCondLst>
                              <p:cond delay="3000"/>
                            </p:stCondLst>
                            <p:childTnLst>
                              <p:par>
                                <p:cTn id="102" presetID="1" presetClass="entr" presetSubtype="0" fill="hold" grpId="0" nodeType="afterEffect">
                                  <p:stCondLst>
                                    <p:cond delay="0"/>
                                  </p:stCondLst>
                                  <p:childTnLst>
                                    <p:set>
                                      <p:cBhvr>
                                        <p:cTn id="103" dur="1" fill="hold">
                                          <p:stCondLst>
                                            <p:cond delay="0"/>
                                          </p:stCondLst>
                                        </p:cTn>
                                        <p:tgtEl>
                                          <p:spTgt spid="24"/>
                                        </p:tgtEl>
                                        <p:attrNameLst>
                                          <p:attrName>style.visibility</p:attrName>
                                        </p:attrNameLst>
                                      </p:cBhvr>
                                      <p:to>
                                        <p:strVal val="visible"/>
                                      </p:to>
                                    </p:set>
                                  </p:childTnLst>
                                </p:cTn>
                              </p:par>
                            </p:childTnLst>
                          </p:cTn>
                        </p:par>
                        <p:par>
                          <p:cTn id="104" fill="hold">
                            <p:stCondLst>
                              <p:cond delay="3000"/>
                            </p:stCondLst>
                            <p:childTnLst>
                              <p:par>
                                <p:cTn id="105" presetID="22" presetClass="entr" presetSubtype="1" fill="hold" nodeType="afterEffect">
                                  <p:stCondLst>
                                    <p:cond delay="0"/>
                                  </p:stCondLst>
                                  <p:childTnLst>
                                    <p:set>
                                      <p:cBhvr>
                                        <p:cTn id="106" dur="1" fill="hold">
                                          <p:stCondLst>
                                            <p:cond delay="0"/>
                                          </p:stCondLst>
                                        </p:cTn>
                                        <p:tgtEl>
                                          <p:spTgt spid="33"/>
                                        </p:tgtEl>
                                        <p:attrNameLst>
                                          <p:attrName>style.visibility</p:attrName>
                                        </p:attrNameLst>
                                      </p:cBhvr>
                                      <p:to>
                                        <p:strVal val="visible"/>
                                      </p:to>
                                    </p:set>
                                    <p:animEffect transition="in" filter="wipe(up)">
                                      <p:cBhvr>
                                        <p:cTn id="107" dur="500"/>
                                        <p:tgtEl>
                                          <p:spTgt spid="33"/>
                                        </p:tgtEl>
                                      </p:cBhvr>
                                    </p:animEffect>
                                  </p:childTnLst>
                                </p:cTn>
                              </p:par>
                            </p:childTnLst>
                          </p:cTn>
                        </p:par>
                        <p:par>
                          <p:cTn id="108" fill="hold">
                            <p:stCondLst>
                              <p:cond delay="3500"/>
                            </p:stCondLst>
                            <p:childTnLst>
                              <p:par>
                                <p:cTn id="109" presetID="1" presetClass="entr" presetSubtype="0" fill="hold" grpId="0" nodeType="afterEffect">
                                  <p:stCondLst>
                                    <p:cond delay="0"/>
                                  </p:stCondLst>
                                  <p:childTnLst>
                                    <p:set>
                                      <p:cBhvr>
                                        <p:cTn id="110" dur="1" fill="hold">
                                          <p:stCondLst>
                                            <p:cond delay="0"/>
                                          </p:stCondLst>
                                        </p:cTn>
                                        <p:tgtEl>
                                          <p:spTgt spid="28"/>
                                        </p:tgtEl>
                                        <p:attrNameLst>
                                          <p:attrName>style.visibility</p:attrName>
                                        </p:attrNameLst>
                                      </p:cBhvr>
                                      <p:to>
                                        <p:strVal val="visible"/>
                                      </p:to>
                                    </p:set>
                                  </p:childTnLst>
                                </p:cTn>
                              </p:par>
                            </p:childTnLst>
                          </p:cTn>
                        </p:par>
                        <p:par>
                          <p:cTn id="111" fill="hold">
                            <p:stCondLst>
                              <p:cond delay="3500"/>
                            </p:stCondLst>
                            <p:childTnLst>
                              <p:par>
                                <p:cTn id="112" presetID="22" presetClass="entr" presetSubtype="8" fill="hold" nodeType="afterEffect">
                                  <p:stCondLst>
                                    <p:cond delay="0"/>
                                  </p:stCondLst>
                                  <p:childTnLst>
                                    <p:set>
                                      <p:cBhvr>
                                        <p:cTn id="113" dur="1" fill="hold">
                                          <p:stCondLst>
                                            <p:cond delay="0"/>
                                          </p:stCondLst>
                                        </p:cTn>
                                        <p:tgtEl>
                                          <p:spTgt spid="37"/>
                                        </p:tgtEl>
                                        <p:attrNameLst>
                                          <p:attrName>style.visibility</p:attrName>
                                        </p:attrNameLst>
                                      </p:cBhvr>
                                      <p:to>
                                        <p:strVal val="visible"/>
                                      </p:to>
                                    </p:set>
                                    <p:animEffect transition="in" filter="wipe(left)">
                                      <p:cBhvr>
                                        <p:cTn id="114" dur="500"/>
                                        <p:tgtEl>
                                          <p:spTgt spid="37"/>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grpId="0" nodeType="clickEffect">
                                  <p:stCondLst>
                                    <p:cond delay="0"/>
                                  </p:stCondLst>
                                  <p:childTnLst>
                                    <p:set>
                                      <p:cBhvr>
                                        <p:cTn id="118" dur="1" fill="hold">
                                          <p:stCondLst>
                                            <p:cond delay="0"/>
                                          </p:stCondLst>
                                        </p:cTn>
                                        <p:tgtEl>
                                          <p:spTgt spid="63"/>
                                        </p:tgtEl>
                                        <p:attrNameLst>
                                          <p:attrName>style.visibility</p:attrName>
                                        </p:attrNameLst>
                                      </p:cBhvr>
                                      <p:to>
                                        <p:strVal val="visible"/>
                                      </p:to>
                                    </p:set>
                                    <p:animEffect transition="in" filter="fade">
                                      <p:cBhvr>
                                        <p:cTn id="119" dur="500"/>
                                        <p:tgtEl>
                                          <p:spTgt spid="63"/>
                                        </p:tgtEl>
                                      </p:cBhvr>
                                    </p:animEffect>
                                  </p:childTnLst>
                                </p:cTn>
                              </p:par>
                            </p:childTnLst>
                          </p:cTn>
                        </p:par>
                        <p:par>
                          <p:cTn id="120" fill="hold">
                            <p:stCondLst>
                              <p:cond delay="500"/>
                            </p:stCondLst>
                            <p:childTnLst>
                              <p:par>
                                <p:cTn id="121" presetID="1" presetClass="entr" presetSubtype="0" fill="hold" grpId="0" nodeType="afterEffect">
                                  <p:stCondLst>
                                    <p:cond delay="0"/>
                                  </p:stCondLst>
                                  <p:childTnLst>
                                    <p:set>
                                      <p:cBhvr>
                                        <p:cTn id="122" dur="1" fill="hold">
                                          <p:stCondLst>
                                            <p:cond delay="0"/>
                                          </p:stCondLst>
                                        </p:cTn>
                                        <p:tgtEl>
                                          <p:spTgt spid="38"/>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39"/>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40"/>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41"/>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42"/>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43"/>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44"/>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45"/>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46"/>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47"/>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48"/>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49"/>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50"/>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0" presetClass="entr" presetSubtype="0" fill="hold" grpId="0" nodeType="clickEffect">
                                  <p:stCondLst>
                                    <p:cond delay="0"/>
                                  </p:stCondLst>
                                  <p:childTnLst>
                                    <p:set>
                                      <p:cBhvr>
                                        <p:cTn id="150" dur="1" fill="hold">
                                          <p:stCondLst>
                                            <p:cond delay="0"/>
                                          </p:stCondLst>
                                        </p:cTn>
                                        <p:tgtEl>
                                          <p:spTgt spid="65"/>
                                        </p:tgtEl>
                                        <p:attrNameLst>
                                          <p:attrName>style.visibility</p:attrName>
                                        </p:attrNameLst>
                                      </p:cBhvr>
                                      <p:to>
                                        <p:strVal val="visible"/>
                                      </p:to>
                                    </p:set>
                                    <p:animEffect transition="in" filter="fade">
                                      <p:cBhvr>
                                        <p:cTn id="151" dur="500"/>
                                        <p:tgtEl>
                                          <p:spTgt spid="65"/>
                                        </p:tgtEl>
                                      </p:cBhvr>
                                    </p:animEffect>
                                  </p:childTnLst>
                                </p:cTn>
                              </p:par>
                            </p:childTnLst>
                          </p:cTn>
                        </p:par>
                        <p:par>
                          <p:cTn id="152" fill="hold">
                            <p:stCondLst>
                              <p:cond delay="500"/>
                            </p:stCondLst>
                            <p:childTnLst>
                              <p:par>
                                <p:cTn id="153" presetID="22" presetClass="entr" presetSubtype="1" fill="hold" nodeType="afterEffect">
                                  <p:stCondLst>
                                    <p:cond delay="0"/>
                                  </p:stCondLst>
                                  <p:childTnLst>
                                    <p:set>
                                      <p:cBhvr>
                                        <p:cTn id="154" dur="1" fill="hold">
                                          <p:stCondLst>
                                            <p:cond delay="0"/>
                                          </p:stCondLst>
                                        </p:cTn>
                                        <p:tgtEl>
                                          <p:spTgt spid="68"/>
                                        </p:tgtEl>
                                        <p:attrNameLst>
                                          <p:attrName>style.visibility</p:attrName>
                                        </p:attrNameLst>
                                      </p:cBhvr>
                                      <p:to>
                                        <p:strVal val="visible"/>
                                      </p:to>
                                    </p:set>
                                    <p:animEffect transition="in" filter="wipe(up)">
                                      <p:cBhvr>
                                        <p:cTn id="155" dur="500"/>
                                        <p:tgtEl>
                                          <p:spTgt spid="68"/>
                                        </p:tgtEl>
                                      </p:cBhvr>
                                    </p:animEffect>
                                  </p:childTnLst>
                                </p:cTn>
                              </p:par>
                            </p:childTnLst>
                          </p:cTn>
                        </p:par>
                        <p:par>
                          <p:cTn id="156" fill="hold">
                            <p:stCondLst>
                              <p:cond delay="1000"/>
                            </p:stCondLst>
                            <p:childTnLst>
                              <p:par>
                                <p:cTn id="157" presetID="22" presetClass="entr" presetSubtype="8" fill="hold" grpId="0" nodeType="afterEffect">
                                  <p:stCondLst>
                                    <p:cond delay="0"/>
                                  </p:stCondLst>
                                  <p:childTnLst>
                                    <p:set>
                                      <p:cBhvr>
                                        <p:cTn id="158" dur="1" fill="hold">
                                          <p:stCondLst>
                                            <p:cond delay="0"/>
                                          </p:stCondLst>
                                        </p:cTn>
                                        <p:tgtEl>
                                          <p:spTgt spid="69"/>
                                        </p:tgtEl>
                                        <p:attrNameLst>
                                          <p:attrName>style.visibility</p:attrName>
                                        </p:attrNameLst>
                                      </p:cBhvr>
                                      <p:to>
                                        <p:strVal val="visible"/>
                                      </p:to>
                                    </p:set>
                                    <p:animEffect transition="in" filter="wipe(left)">
                                      <p:cBhvr>
                                        <p:cTn id="159" dur="500"/>
                                        <p:tgtEl>
                                          <p:spTgt spid="69"/>
                                        </p:tgtEl>
                                      </p:cBhvr>
                                    </p:animEffect>
                                  </p:childTnLst>
                                </p:cTn>
                              </p:par>
                            </p:childTnLst>
                          </p:cTn>
                        </p:par>
                        <p:par>
                          <p:cTn id="160" fill="hold">
                            <p:stCondLst>
                              <p:cond delay="1500"/>
                            </p:stCondLst>
                            <p:childTnLst>
                              <p:par>
                                <p:cTn id="161" presetID="1" presetClass="entr" presetSubtype="0" fill="hold" grpId="0" nodeType="afterEffect">
                                  <p:stCondLst>
                                    <p:cond delay="0"/>
                                  </p:stCondLst>
                                  <p:childTnLst>
                                    <p:set>
                                      <p:cBhvr>
                                        <p:cTn id="162" dur="1" fill="hold">
                                          <p:stCondLst>
                                            <p:cond delay="0"/>
                                          </p:stCondLst>
                                        </p:cTn>
                                        <p:tgtEl>
                                          <p:spTgt spid="51"/>
                                        </p:tgtEl>
                                        <p:attrNameLst>
                                          <p:attrName>style.visibility</p:attrName>
                                        </p:attrNameLst>
                                      </p:cBhvr>
                                      <p:to>
                                        <p:strVal val="visible"/>
                                      </p:to>
                                    </p:set>
                                  </p:childTnLst>
                                </p:cTn>
                              </p:par>
                            </p:childTnLst>
                          </p:cTn>
                        </p:par>
                        <p:par>
                          <p:cTn id="163" fill="hold">
                            <p:stCondLst>
                              <p:cond delay="1500"/>
                            </p:stCondLst>
                            <p:childTnLst>
                              <p:par>
                                <p:cTn id="164" presetID="22" presetClass="entr" presetSubtype="1" fill="hold" nodeType="afterEffect">
                                  <p:stCondLst>
                                    <p:cond delay="0"/>
                                  </p:stCondLst>
                                  <p:childTnLst>
                                    <p:set>
                                      <p:cBhvr>
                                        <p:cTn id="165" dur="1" fill="hold">
                                          <p:stCondLst>
                                            <p:cond delay="0"/>
                                          </p:stCondLst>
                                        </p:cTn>
                                        <p:tgtEl>
                                          <p:spTgt spid="57"/>
                                        </p:tgtEl>
                                        <p:attrNameLst>
                                          <p:attrName>style.visibility</p:attrName>
                                        </p:attrNameLst>
                                      </p:cBhvr>
                                      <p:to>
                                        <p:strVal val="visible"/>
                                      </p:to>
                                    </p:set>
                                    <p:animEffect transition="in" filter="wipe(up)">
                                      <p:cBhvr>
                                        <p:cTn id="166" dur="500"/>
                                        <p:tgtEl>
                                          <p:spTgt spid="57"/>
                                        </p:tgtEl>
                                      </p:cBhvr>
                                    </p:animEffect>
                                  </p:childTnLst>
                                </p:cTn>
                              </p:par>
                            </p:childTnLst>
                          </p:cTn>
                        </p:par>
                        <p:par>
                          <p:cTn id="167" fill="hold">
                            <p:stCondLst>
                              <p:cond delay="2000"/>
                            </p:stCondLst>
                            <p:childTnLst>
                              <p:par>
                                <p:cTn id="168" presetID="1" presetClass="entr" presetSubtype="0" fill="hold" grpId="0" nodeType="afterEffect">
                                  <p:stCondLst>
                                    <p:cond delay="0"/>
                                  </p:stCondLst>
                                  <p:childTnLst>
                                    <p:set>
                                      <p:cBhvr>
                                        <p:cTn id="169" dur="1" fill="hold">
                                          <p:stCondLst>
                                            <p:cond delay="0"/>
                                          </p:stCondLst>
                                        </p:cTn>
                                        <p:tgtEl>
                                          <p:spTgt spid="52"/>
                                        </p:tgtEl>
                                        <p:attrNameLst>
                                          <p:attrName>style.visibility</p:attrName>
                                        </p:attrNameLst>
                                      </p:cBhvr>
                                      <p:to>
                                        <p:strVal val="visible"/>
                                      </p:to>
                                    </p:set>
                                  </p:childTnLst>
                                </p:cTn>
                              </p:par>
                            </p:childTnLst>
                          </p:cTn>
                        </p:par>
                        <p:par>
                          <p:cTn id="170" fill="hold">
                            <p:stCondLst>
                              <p:cond delay="2000"/>
                            </p:stCondLst>
                            <p:childTnLst>
                              <p:par>
                                <p:cTn id="171" presetID="22" presetClass="entr" presetSubtype="1" fill="hold" nodeType="afterEffect">
                                  <p:stCondLst>
                                    <p:cond delay="0"/>
                                  </p:stCondLst>
                                  <p:childTnLst>
                                    <p:set>
                                      <p:cBhvr>
                                        <p:cTn id="172" dur="1" fill="hold">
                                          <p:stCondLst>
                                            <p:cond delay="0"/>
                                          </p:stCondLst>
                                        </p:cTn>
                                        <p:tgtEl>
                                          <p:spTgt spid="58"/>
                                        </p:tgtEl>
                                        <p:attrNameLst>
                                          <p:attrName>style.visibility</p:attrName>
                                        </p:attrNameLst>
                                      </p:cBhvr>
                                      <p:to>
                                        <p:strVal val="visible"/>
                                      </p:to>
                                    </p:set>
                                    <p:animEffect transition="in" filter="wipe(up)">
                                      <p:cBhvr>
                                        <p:cTn id="173" dur="500"/>
                                        <p:tgtEl>
                                          <p:spTgt spid="58"/>
                                        </p:tgtEl>
                                      </p:cBhvr>
                                    </p:animEffect>
                                  </p:childTnLst>
                                </p:cTn>
                              </p:par>
                            </p:childTnLst>
                          </p:cTn>
                        </p:par>
                        <p:par>
                          <p:cTn id="174" fill="hold">
                            <p:stCondLst>
                              <p:cond delay="2500"/>
                            </p:stCondLst>
                            <p:childTnLst>
                              <p:par>
                                <p:cTn id="175" presetID="1" presetClass="entr" presetSubtype="0" fill="hold" grpId="0" nodeType="afterEffect">
                                  <p:stCondLst>
                                    <p:cond delay="0"/>
                                  </p:stCondLst>
                                  <p:childTnLst>
                                    <p:set>
                                      <p:cBhvr>
                                        <p:cTn id="176" dur="1" fill="hold">
                                          <p:stCondLst>
                                            <p:cond delay="0"/>
                                          </p:stCondLst>
                                        </p:cTn>
                                        <p:tgtEl>
                                          <p:spTgt spid="54"/>
                                        </p:tgtEl>
                                        <p:attrNameLst>
                                          <p:attrName>style.visibility</p:attrName>
                                        </p:attrNameLst>
                                      </p:cBhvr>
                                      <p:to>
                                        <p:strVal val="visible"/>
                                      </p:to>
                                    </p:set>
                                  </p:childTnLst>
                                </p:cTn>
                              </p:par>
                            </p:childTnLst>
                          </p:cTn>
                        </p:par>
                        <p:par>
                          <p:cTn id="177" fill="hold">
                            <p:stCondLst>
                              <p:cond delay="2500"/>
                            </p:stCondLst>
                            <p:childTnLst>
                              <p:par>
                                <p:cTn id="178" presetID="22" presetClass="entr" presetSubtype="4" fill="hold" nodeType="afterEffect">
                                  <p:stCondLst>
                                    <p:cond delay="0"/>
                                  </p:stCondLst>
                                  <p:childTnLst>
                                    <p:set>
                                      <p:cBhvr>
                                        <p:cTn id="179" dur="1" fill="hold">
                                          <p:stCondLst>
                                            <p:cond delay="0"/>
                                          </p:stCondLst>
                                        </p:cTn>
                                        <p:tgtEl>
                                          <p:spTgt spid="59"/>
                                        </p:tgtEl>
                                        <p:attrNameLst>
                                          <p:attrName>style.visibility</p:attrName>
                                        </p:attrNameLst>
                                      </p:cBhvr>
                                      <p:to>
                                        <p:strVal val="visible"/>
                                      </p:to>
                                    </p:set>
                                    <p:animEffect transition="in" filter="wipe(down)">
                                      <p:cBhvr>
                                        <p:cTn id="180" dur="500"/>
                                        <p:tgtEl>
                                          <p:spTgt spid="59"/>
                                        </p:tgtEl>
                                      </p:cBhvr>
                                    </p:animEffect>
                                  </p:childTnLst>
                                </p:cTn>
                              </p:par>
                            </p:childTnLst>
                          </p:cTn>
                        </p:par>
                        <p:par>
                          <p:cTn id="181" fill="hold">
                            <p:stCondLst>
                              <p:cond delay="3000"/>
                            </p:stCondLst>
                            <p:childTnLst>
                              <p:par>
                                <p:cTn id="182" presetID="1" presetClass="entr" presetSubtype="0" fill="hold" grpId="0" nodeType="afterEffect">
                                  <p:stCondLst>
                                    <p:cond delay="0"/>
                                  </p:stCondLst>
                                  <p:childTnLst>
                                    <p:set>
                                      <p:cBhvr>
                                        <p:cTn id="183" dur="1" fill="hold">
                                          <p:stCondLst>
                                            <p:cond delay="0"/>
                                          </p:stCondLst>
                                        </p:cTn>
                                        <p:tgtEl>
                                          <p:spTgt spid="53"/>
                                        </p:tgtEl>
                                        <p:attrNameLst>
                                          <p:attrName>style.visibility</p:attrName>
                                        </p:attrNameLst>
                                      </p:cBhvr>
                                      <p:to>
                                        <p:strVal val="visible"/>
                                      </p:to>
                                    </p:set>
                                  </p:childTnLst>
                                </p:cTn>
                              </p:par>
                            </p:childTnLst>
                          </p:cTn>
                        </p:par>
                        <p:par>
                          <p:cTn id="184" fill="hold">
                            <p:stCondLst>
                              <p:cond delay="3000"/>
                            </p:stCondLst>
                            <p:childTnLst>
                              <p:par>
                                <p:cTn id="185" presetID="22" presetClass="entr" presetSubtype="1" fill="hold" nodeType="afterEffect">
                                  <p:stCondLst>
                                    <p:cond delay="0"/>
                                  </p:stCondLst>
                                  <p:childTnLst>
                                    <p:set>
                                      <p:cBhvr>
                                        <p:cTn id="186" dur="1" fill="hold">
                                          <p:stCondLst>
                                            <p:cond delay="0"/>
                                          </p:stCondLst>
                                        </p:cTn>
                                        <p:tgtEl>
                                          <p:spTgt spid="60"/>
                                        </p:tgtEl>
                                        <p:attrNameLst>
                                          <p:attrName>style.visibility</p:attrName>
                                        </p:attrNameLst>
                                      </p:cBhvr>
                                      <p:to>
                                        <p:strVal val="visible"/>
                                      </p:to>
                                    </p:set>
                                    <p:animEffect transition="in" filter="wipe(up)">
                                      <p:cBhvr>
                                        <p:cTn id="187" dur="500"/>
                                        <p:tgtEl>
                                          <p:spTgt spid="60"/>
                                        </p:tgtEl>
                                      </p:cBhvr>
                                    </p:animEffect>
                                  </p:childTnLst>
                                </p:cTn>
                              </p:par>
                            </p:childTnLst>
                          </p:cTn>
                        </p:par>
                        <p:par>
                          <p:cTn id="188" fill="hold">
                            <p:stCondLst>
                              <p:cond delay="3500"/>
                            </p:stCondLst>
                            <p:childTnLst>
                              <p:par>
                                <p:cTn id="189" presetID="1" presetClass="entr" presetSubtype="0" fill="hold" grpId="0" nodeType="afterEffect">
                                  <p:stCondLst>
                                    <p:cond delay="0"/>
                                  </p:stCondLst>
                                  <p:childTnLst>
                                    <p:set>
                                      <p:cBhvr>
                                        <p:cTn id="190" dur="1" fill="hold">
                                          <p:stCondLst>
                                            <p:cond delay="0"/>
                                          </p:stCondLst>
                                        </p:cTn>
                                        <p:tgtEl>
                                          <p:spTgt spid="56"/>
                                        </p:tgtEl>
                                        <p:attrNameLst>
                                          <p:attrName>style.visibility</p:attrName>
                                        </p:attrNameLst>
                                      </p:cBhvr>
                                      <p:to>
                                        <p:strVal val="visible"/>
                                      </p:to>
                                    </p:set>
                                  </p:childTnLst>
                                </p:cTn>
                              </p:par>
                            </p:childTnLst>
                          </p:cTn>
                        </p:par>
                        <p:par>
                          <p:cTn id="191" fill="hold">
                            <p:stCondLst>
                              <p:cond delay="3500"/>
                            </p:stCondLst>
                            <p:childTnLst>
                              <p:par>
                                <p:cTn id="192" presetID="22" presetClass="entr" presetSubtype="4" fill="hold" nodeType="afterEffect">
                                  <p:stCondLst>
                                    <p:cond delay="0"/>
                                  </p:stCondLst>
                                  <p:childTnLst>
                                    <p:set>
                                      <p:cBhvr>
                                        <p:cTn id="193" dur="1" fill="hold">
                                          <p:stCondLst>
                                            <p:cond delay="0"/>
                                          </p:stCondLst>
                                        </p:cTn>
                                        <p:tgtEl>
                                          <p:spTgt spid="61"/>
                                        </p:tgtEl>
                                        <p:attrNameLst>
                                          <p:attrName>style.visibility</p:attrName>
                                        </p:attrNameLst>
                                      </p:cBhvr>
                                      <p:to>
                                        <p:strVal val="visible"/>
                                      </p:to>
                                    </p:set>
                                    <p:animEffect transition="in" filter="wipe(down)">
                                      <p:cBhvr>
                                        <p:cTn id="194" dur="500"/>
                                        <p:tgtEl>
                                          <p:spTgt spid="61"/>
                                        </p:tgtEl>
                                      </p:cBhvr>
                                    </p:animEffect>
                                  </p:childTnLst>
                                </p:cTn>
                              </p:par>
                            </p:childTnLst>
                          </p:cTn>
                        </p:par>
                        <p:par>
                          <p:cTn id="195" fill="hold">
                            <p:stCondLst>
                              <p:cond delay="4000"/>
                            </p:stCondLst>
                            <p:childTnLst>
                              <p:par>
                                <p:cTn id="196" presetID="1" presetClass="entr" presetSubtype="0" fill="hold" grpId="0" nodeType="afterEffect">
                                  <p:stCondLst>
                                    <p:cond delay="0"/>
                                  </p:stCondLst>
                                  <p:childTnLst>
                                    <p:set>
                                      <p:cBhvr>
                                        <p:cTn id="197"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22" grpId="0" animBg="1"/>
      <p:bldP spid="23" grpId="0" animBg="1"/>
      <p:bldP spid="24" grpId="0" animBg="1"/>
      <p:bldP spid="25" grpId="0" animBg="1"/>
      <p:bldP spid="26" grpId="0" animBg="1"/>
      <p:bldP spid="27" grpId="0" animBg="1"/>
      <p:bldP spid="28" grpId="0" animBg="1"/>
      <p:bldP spid="29" grpId="0" animBg="1"/>
      <p:bldP spid="38" grpId="0" animBg="1"/>
      <p:bldP spid="39" grpId="0" animBg="1"/>
      <p:bldP spid="40" grpId="0" animBg="1"/>
      <p:bldP spid="41" grpId="0" animBg="1"/>
      <p:bldP spid="42" grpId="0" animBg="1"/>
      <p:bldP spid="43" grpId="0" animBg="1"/>
      <p:bldP spid="51" grpId="0" animBg="1"/>
      <p:bldP spid="52" grpId="0" animBg="1"/>
      <p:bldP spid="53" grpId="0" animBg="1"/>
      <p:bldP spid="54" grpId="0" animBg="1"/>
      <p:bldP spid="55" grpId="0" animBg="1"/>
      <p:bldP spid="56" grpId="0" animBg="1"/>
      <p:bldP spid="62" grpId="0" animBg="1"/>
      <p:bldP spid="63" grpId="0" animBg="1"/>
      <p:bldP spid="64" grpId="0" animBg="1"/>
      <p:bldP spid="65" grpId="0" animBg="1"/>
      <p:bldP spid="67" grpId="0" animBg="1"/>
      <p:bldP spid="69"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Kruskal’s</a:t>
            </a:r>
            <a:r>
              <a:rPr lang="en-US" dirty="0"/>
              <a:t> Algorithm for MST – Example 1</a:t>
            </a:r>
          </a:p>
        </p:txBody>
      </p:sp>
      <p:sp>
        <p:nvSpPr>
          <p:cNvPr id="4" name="Oval 3"/>
          <p:cNvSpPr/>
          <p:nvPr/>
        </p:nvSpPr>
        <p:spPr>
          <a:xfrm>
            <a:off x="1559857" y="9906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sp>
        <p:nvSpPr>
          <p:cNvPr id="5" name="Oval 4"/>
          <p:cNvSpPr/>
          <p:nvPr/>
        </p:nvSpPr>
        <p:spPr>
          <a:xfrm>
            <a:off x="569257" y="19050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6" name="Oval 5"/>
          <p:cNvSpPr/>
          <p:nvPr/>
        </p:nvSpPr>
        <p:spPr>
          <a:xfrm>
            <a:off x="1102657" y="31242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7" name="Oval 6"/>
          <p:cNvSpPr/>
          <p:nvPr/>
        </p:nvSpPr>
        <p:spPr>
          <a:xfrm>
            <a:off x="2245657" y="31242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8" name="Oval 7"/>
          <p:cNvSpPr/>
          <p:nvPr/>
        </p:nvSpPr>
        <p:spPr>
          <a:xfrm>
            <a:off x="2626657" y="18288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cxnSp>
        <p:nvCxnSpPr>
          <p:cNvPr id="9" name="Straight Connector 8"/>
          <p:cNvCxnSpPr>
            <a:stCxn id="4" idx="2"/>
            <a:endCxn id="5" idx="0"/>
          </p:cNvCxnSpPr>
          <p:nvPr/>
        </p:nvCxnSpPr>
        <p:spPr>
          <a:xfrm flipH="1">
            <a:off x="759757" y="1181100"/>
            <a:ext cx="800100" cy="723900"/>
          </a:xfrm>
          <a:prstGeom prst="line">
            <a:avLst/>
          </a:prstGeom>
        </p:spPr>
        <p:style>
          <a:lnRef idx="2">
            <a:schemeClr val="accent2"/>
          </a:lnRef>
          <a:fillRef idx="0">
            <a:schemeClr val="accent2"/>
          </a:fillRef>
          <a:effectRef idx="1">
            <a:schemeClr val="accent2"/>
          </a:effectRef>
          <a:fontRef idx="minor">
            <a:schemeClr val="tx1"/>
          </a:fontRef>
        </p:style>
      </p:cxnSp>
      <p:cxnSp>
        <p:nvCxnSpPr>
          <p:cNvPr id="10" name="Straight Connector 9"/>
          <p:cNvCxnSpPr>
            <a:stCxn id="5" idx="3"/>
            <a:endCxn id="6" idx="2"/>
          </p:cNvCxnSpPr>
          <p:nvPr/>
        </p:nvCxnSpPr>
        <p:spPr>
          <a:xfrm>
            <a:off x="625053" y="2230204"/>
            <a:ext cx="477604" cy="1084496"/>
          </a:xfrm>
          <a:prstGeom prst="line">
            <a:avLst/>
          </a:prstGeom>
        </p:spPr>
        <p:style>
          <a:lnRef idx="2">
            <a:schemeClr val="accent2"/>
          </a:lnRef>
          <a:fillRef idx="0">
            <a:schemeClr val="accent2"/>
          </a:fillRef>
          <a:effectRef idx="1">
            <a:schemeClr val="accent2"/>
          </a:effectRef>
          <a:fontRef idx="minor">
            <a:schemeClr val="tx1"/>
          </a:fontRef>
        </p:style>
      </p:cxnSp>
      <p:cxnSp>
        <p:nvCxnSpPr>
          <p:cNvPr id="11" name="Straight Connector 10"/>
          <p:cNvCxnSpPr>
            <a:stCxn id="6" idx="5"/>
            <a:endCxn id="7" idx="3"/>
          </p:cNvCxnSpPr>
          <p:nvPr/>
        </p:nvCxnSpPr>
        <p:spPr>
          <a:xfrm>
            <a:off x="1427861" y="3449404"/>
            <a:ext cx="873592"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2" name="Straight Connector 11"/>
          <p:cNvCxnSpPr>
            <a:stCxn id="4" idx="6"/>
            <a:endCxn id="8" idx="0"/>
          </p:cNvCxnSpPr>
          <p:nvPr/>
        </p:nvCxnSpPr>
        <p:spPr>
          <a:xfrm>
            <a:off x="1940857" y="1181100"/>
            <a:ext cx="876300" cy="647700"/>
          </a:xfrm>
          <a:prstGeom prst="line">
            <a:avLst/>
          </a:prstGeom>
        </p:spPr>
        <p:style>
          <a:lnRef idx="2">
            <a:schemeClr val="accent2"/>
          </a:lnRef>
          <a:fillRef idx="0">
            <a:schemeClr val="accent2"/>
          </a:fillRef>
          <a:effectRef idx="1">
            <a:schemeClr val="accent2"/>
          </a:effectRef>
          <a:fontRef idx="minor">
            <a:schemeClr val="tx1"/>
          </a:fontRef>
        </p:style>
      </p:cxnSp>
      <p:cxnSp>
        <p:nvCxnSpPr>
          <p:cNvPr id="13" name="Straight Connector 12"/>
          <p:cNvCxnSpPr>
            <a:stCxn id="8" idx="5"/>
            <a:endCxn id="7" idx="6"/>
          </p:cNvCxnSpPr>
          <p:nvPr/>
        </p:nvCxnSpPr>
        <p:spPr>
          <a:xfrm flipH="1">
            <a:off x="2626657" y="2154004"/>
            <a:ext cx="325204" cy="1160696"/>
          </a:xfrm>
          <a:prstGeom prst="line">
            <a:avLst/>
          </a:prstGeom>
        </p:spPr>
        <p:style>
          <a:lnRef idx="2">
            <a:schemeClr val="accent2"/>
          </a:lnRef>
          <a:fillRef idx="0">
            <a:schemeClr val="accent2"/>
          </a:fillRef>
          <a:effectRef idx="1">
            <a:schemeClr val="accent2"/>
          </a:effectRef>
          <a:fontRef idx="minor">
            <a:schemeClr val="tx1"/>
          </a:fontRef>
        </p:style>
      </p:cxnSp>
      <p:cxnSp>
        <p:nvCxnSpPr>
          <p:cNvPr id="14" name="Straight Connector 13"/>
          <p:cNvCxnSpPr>
            <a:stCxn id="4" idx="3"/>
            <a:endCxn id="6" idx="0"/>
          </p:cNvCxnSpPr>
          <p:nvPr/>
        </p:nvCxnSpPr>
        <p:spPr>
          <a:xfrm flipH="1">
            <a:off x="1293157" y="1315804"/>
            <a:ext cx="322496" cy="1808396"/>
          </a:xfrm>
          <a:prstGeom prst="line">
            <a:avLst/>
          </a:prstGeom>
        </p:spPr>
        <p:style>
          <a:lnRef idx="2">
            <a:schemeClr val="accent2"/>
          </a:lnRef>
          <a:fillRef idx="0">
            <a:schemeClr val="accent2"/>
          </a:fillRef>
          <a:effectRef idx="1">
            <a:schemeClr val="accent2"/>
          </a:effectRef>
          <a:fontRef idx="minor">
            <a:schemeClr val="tx1"/>
          </a:fontRef>
        </p:style>
      </p:cxnSp>
      <p:cxnSp>
        <p:nvCxnSpPr>
          <p:cNvPr id="15" name="Straight Connector 14"/>
          <p:cNvCxnSpPr>
            <a:stCxn id="4" idx="5"/>
            <a:endCxn id="7" idx="0"/>
          </p:cNvCxnSpPr>
          <p:nvPr/>
        </p:nvCxnSpPr>
        <p:spPr>
          <a:xfrm>
            <a:off x="1885061" y="1315804"/>
            <a:ext cx="551096" cy="1808396"/>
          </a:xfrm>
          <a:prstGeom prst="line">
            <a:avLst/>
          </a:prstGeom>
        </p:spPr>
        <p:style>
          <a:lnRef idx="2">
            <a:schemeClr val="accent2"/>
          </a:lnRef>
          <a:fillRef idx="0">
            <a:schemeClr val="accent2"/>
          </a:fillRef>
          <a:effectRef idx="1">
            <a:schemeClr val="accent2"/>
          </a:effectRef>
          <a:fontRef idx="minor">
            <a:schemeClr val="tx1"/>
          </a:fontRef>
        </p:style>
      </p:cxnSp>
      <p:cxnSp>
        <p:nvCxnSpPr>
          <p:cNvPr id="16" name="Straight Connector 15"/>
          <p:cNvCxnSpPr>
            <a:stCxn id="6" idx="6"/>
            <a:endCxn id="8" idx="3"/>
          </p:cNvCxnSpPr>
          <p:nvPr/>
        </p:nvCxnSpPr>
        <p:spPr>
          <a:xfrm flipV="1">
            <a:off x="1483657" y="2154004"/>
            <a:ext cx="1198796" cy="1160696"/>
          </a:xfrm>
          <a:prstGeom prst="line">
            <a:avLst/>
          </a:prstGeom>
        </p:spPr>
        <p:style>
          <a:lnRef idx="2">
            <a:schemeClr val="accent2"/>
          </a:lnRef>
          <a:fillRef idx="0">
            <a:schemeClr val="accent2"/>
          </a:fillRef>
          <a:effectRef idx="1">
            <a:schemeClr val="accent2"/>
          </a:effectRef>
          <a:fontRef idx="minor">
            <a:schemeClr val="tx1"/>
          </a:fontRef>
        </p:style>
      </p:cxnSp>
      <p:cxnSp>
        <p:nvCxnSpPr>
          <p:cNvPr id="17" name="Straight Connector 16"/>
          <p:cNvCxnSpPr>
            <a:stCxn id="5" idx="6"/>
            <a:endCxn id="8" idx="2"/>
          </p:cNvCxnSpPr>
          <p:nvPr/>
        </p:nvCxnSpPr>
        <p:spPr>
          <a:xfrm flipV="1">
            <a:off x="950257" y="2019300"/>
            <a:ext cx="1676400" cy="76200"/>
          </a:xfrm>
          <a:prstGeom prst="line">
            <a:avLst/>
          </a:prstGeom>
        </p:spPr>
        <p:style>
          <a:lnRef idx="2">
            <a:schemeClr val="accent2"/>
          </a:lnRef>
          <a:fillRef idx="0">
            <a:schemeClr val="accent2"/>
          </a:fillRef>
          <a:effectRef idx="1">
            <a:schemeClr val="accent2"/>
          </a:effectRef>
          <a:fontRef idx="minor">
            <a:schemeClr val="tx1"/>
          </a:fontRef>
        </p:style>
      </p:cxnSp>
      <p:sp>
        <p:nvSpPr>
          <p:cNvPr id="18" name="TextBox 17"/>
          <p:cNvSpPr txBox="1"/>
          <p:nvPr/>
        </p:nvSpPr>
        <p:spPr>
          <a:xfrm>
            <a:off x="908291" y="1246573"/>
            <a:ext cx="301686" cy="369332"/>
          </a:xfrm>
          <a:prstGeom prst="rect">
            <a:avLst/>
          </a:prstGeom>
          <a:noFill/>
        </p:spPr>
        <p:txBody>
          <a:bodyPr wrap="none" rtlCol="0">
            <a:spAutoFit/>
          </a:bodyPr>
          <a:lstStyle/>
          <a:p>
            <a:pPr algn="ctr"/>
            <a:r>
              <a:rPr lang="en-IN" b="1" dirty="0"/>
              <a:t>4</a:t>
            </a:r>
            <a:endParaRPr lang="en-US" b="1" dirty="0"/>
          </a:p>
        </p:txBody>
      </p:sp>
      <p:sp>
        <p:nvSpPr>
          <p:cNvPr id="19" name="TextBox 18"/>
          <p:cNvSpPr txBox="1"/>
          <p:nvPr/>
        </p:nvSpPr>
        <p:spPr>
          <a:xfrm>
            <a:off x="625053" y="2667000"/>
            <a:ext cx="301686" cy="369332"/>
          </a:xfrm>
          <a:prstGeom prst="rect">
            <a:avLst/>
          </a:prstGeom>
          <a:noFill/>
        </p:spPr>
        <p:txBody>
          <a:bodyPr wrap="none" rtlCol="0">
            <a:spAutoFit/>
          </a:bodyPr>
          <a:lstStyle/>
          <a:p>
            <a:pPr algn="ctr"/>
            <a:r>
              <a:rPr lang="en-IN" b="1" dirty="0"/>
              <a:t>2</a:t>
            </a:r>
            <a:endParaRPr lang="en-US" b="1" dirty="0"/>
          </a:p>
        </p:txBody>
      </p:sp>
      <p:sp>
        <p:nvSpPr>
          <p:cNvPr id="20" name="TextBox 19"/>
          <p:cNvSpPr txBox="1"/>
          <p:nvPr/>
        </p:nvSpPr>
        <p:spPr>
          <a:xfrm>
            <a:off x="2801018" y="2574324"/>
            <a:ext cx="301686" cy="369332"/>
          </a:xfrm>
          <a:prstGeom prst="rect">
            <a:avLst/>
          </a:prstGeom>
          <a:noFill/>
        </p:spPr>
        <p:txBody>
          <a:bodyPr wrap="none" rtlCol="0">
            <a:spAutoFit/>
          </a:bodyPr>
          <a:lstStyle/>
          <a:p>
            <a:pPr algn="ctr"/>
            <a:r>
              <a:rPr lang="en-IN" b="1" dirty="0"/>
              <a:t>7</a:t>
            </a:r>
            <a:endParaRPr lang="en-US" b="1" dirty="0"/>
          </a:p>
        </p:txBody>
      </p:sp>
      <p:sp>
        <p:nvSpPr>
          <p:cNvPr id="21" name="TextBox 20"/>
          <p:cNvSpPr txBox="1"/>
          <p:nvPr/>
        </p:nvSpPr>
        <p:spPr>
          <a:xfrm>
            <a:off x="2344584" y="1204780"/>
            <a:ext cx="301686" cy="369332"/>
          </a:xfrm>
          <a:prstGeom prst="rect">
            <a:avLst/>
          </a:prstGeom>
          <a:noFill/>
        </p:spPr>
        <p:txBody>
          <a:bodyPr wrap="none" rtlCol="0">
            <a:spAutoFit/>
          </a:bodyPr>
          <a:lstStyle/>
          <a:p>
            <a:pPr algn="ctr"/>
            <a:r>
              <a:rPr lang="en-IN" b="1" dirty="0"/>
              <a:t>5</a:t>
            </a:r>
            <a:endParaRPr lang="en-US" b="1" dirty="0"/>
          </a:p>
        </p:txBody>
      </p:sp>
      <p:sp>
        <p:nvSpPr>
          <p:cNvPr id="22" name="TextBox 21"/>
          <p:cNvSpPr txBox="1"/>
          <p:nvPr/>
        </p:nvSpPr>
        <p:spPr>
          <a:xfrm>
            <a:off x="1713814" y="1992868"/>
            <a:ext cx="301686" cy="369332"/>
          </a:xfrm>
          <a:prstGeom prst="rect">
            <a:avLst/>
          </a:prstGeom>
          <a:noFill/>
        </p:spPr>
        <p:txBody>
          <a:bodyPr wrap="none" rtlCol="0">
            <a:spAutoFit/>
          </a:bodyPr>
          <a:lstStyle/>
          <a:p>
            <a:pPr algn="ctr"/>
            <a:r>
              <a:rPr lang="en-IN" b="1" dirty="0"/>
              <a:t>3</a:t>
            </a:r>
            <a:endParaRPr lang="en-US" b="1" dirty="0"/>
          </a:p>
        </p:txBody>
      </p:sp>
      <p:sp>
        <p:nvSpPr>
          <p:cNvPr id="23" name="TextBox 22"/>
          <p:cNvSpPr txBox="1"/>
          <p:nvPr/>
        </p:nvSpPr>
        <p:spPr>
          <a:xfrm>
            <a:off x="1286501" y="1504950"/>
            <a:ext cx="301686" cy="369332"/>
          </a:xfrm>
          <a:prstGeom prst="rect">
            <a:avLst/>
          </a:prstGeom>
          <a:noFill/>
        </p:spPr>
        <p:txBody>
          <a:bodyPr wrap="none" rtlCol="0">
            <a:spAutoFit/>
          </a:bodyPr>
          <a:lstStyle/>
          <a:p>
            <a:pPr algn="ctr"/>
            <a:r>
              <a:rPr lang="en-IN" b="1" dirty="0"/>
              <a:t>6</a:t>
            </a:r>
            <a:endParaRPr lang="en-US" b="1" dirty="0"/>
          </a:p>
        </p:txBody>
      </p:sp>
      <p:sp>
        <p:nvSpPr>
          <p:cNvPr id="24" name="TextBox 23"/>
          <p:cNvSpPr txBox="1"/>
          <p:nvPr/>
        </p:nvSpPr>
        <p:spPr>
          <a:xfrm>
            <a:off x="1945528" y="1476461"/>
            <a:ext cx="301686" cy="369332"/>
          </a:xfrm>
          <a:prstGeom prst="rect">
            <a:avLst/>
          </a:prstGeom>
          <a:noFill/>
        </p:spPr>
        <p:txBody>
          <a:bodyPr wrap="none" rtlCol="0">
            <a:spAutoFit/>
          </a:bodyPr>
          <a:lstStyle/>
          <a:p>
            <a:pPr algn="ctr"/>
            <a:r>
              <a:rPr lang="en-IN" b="1" dirty="0"/>
              <a:t>6</a:t>
            </a:r>
            <a:endParaRPr lang="en-US" b="1" dirty="0"/>
          </a:p>
        </p:txBody>
      </p:sp>
      <p:sp>
        <p:nvSpPr>
          <p:cNvPr id="25" name="TextBox 24"/>
          <p:cNvSpPr txBox="1"/>
          <p:nvPr/>
        </p:nvSpPr>
        <p:spPr>
          <a:xfrm>
            <a:off x="1750357" y="2549686"/>
            <a:ext cx="301686" cy="369332"/>
          </a:xfrm>
          <a:prstGeom prst="rect">
            <a:avLst/>
          </a:prstGeom>
          <a:noFill/>
        </p:spPr>
        <p:txBody>
          <a:bodyPr wrap="none" rtlCol="0">
            <a:spAutoFit/>
          </a:bodyPr>
          <a:lstStyle/>
          <a:p>
            <a:pPr algn="ctr"/>
            <a:r>
              <a:rPr lang="en-IN" b="1" dirty="0"/>
              <a:t>5</a:t>
            </a:r>
            <a:endParaRPr lang="en-US" b="1" dirty="0"/>
          </a:p>
        </p:txBody>
      </p:sp>
      <p:sp>
        <p:nvSpPr>
          <p:cNvPr id="26" name="Rectangle 25"/>
          <p:cNvSpPr/>
          <p:nvPr/>
        </p:nvSpPr>
        <p:spPr>
          <a:xfrm>
            <a:off x="833973" y="4230469"/>
            <a:ext cx="1945084" cy="646331"/>
          </a:xfrm>
          <a:prstGeom prst="rect">
            <a:avLst/>
          </a:prstGeom>
        </p:spPr>
        <p:txBody>
          <a:bodyPr wrap="none">
            <a:spAutoFit/>
          </a:bodyPr>
          <a:lstStyle/>
          <a:p>
            <a:pPr algn="ctr"/>
            <a:r>
              <a:rPr lang="en-IN" b="1" dirty="0"/>
              <a:t>Step 1: </a:t>
            </a:r>
            <a:r>
              <a:rPr lang="en-IN" dirty="0"/>
              <a:t>Taking min </a:t>
            </a:r>
          </a:p>
          <a:p>
            <a:pPr algn="ctr"/>
            <a:r>
              <a:rPr lang="en-IN" dirty="0"/>
              <a:t>edge (C,D)</a:t>
            </a:r>
            <a:endParaRPr lang="en-US" dirty="0"/>
          </a:p>
        </p:txBody>
      </p:sp>
      <p:sp>
        <p:nvSpPr>
          <p:cNvPr id="27" name="TextBox 26"/>
          <p:cNvSpPr txBox="1"/>
          <p:nvPr/>
        </p:nvSpPr>
        <p:spPr>
          <a:xfrm>
            <a:off x="1615653" y="3416319"/>
            <a:ext cx="301686" cy="369332"/>
          </a:xfrm>
          <a:prstGeom prst="rect">
            <a:avLst/>
          </a:prstGeom>
          <a:noFill/>
        </p:spPr>
        <p:txBody>
          <a:bodyPr wrap="none" rtlCol="0">
            <a:spAutoFit/>
          </a:bodyPr>
          <a:lstStyle/>
          <a:p>
            <a:pPr algn="ctr"/>
            <a:r>
              <a:rPr lang="en-IN" b="1" dirty="0"/>
              <a:t>1</a:t>
            </a:r>
            <a:endParaRPr lang="en-US" b="1" dirty="0"/>
          </a:p>
        </p:txBody>
      </p:sp>
      <p:sp>
        <p:nvSpPr>
          <p:cNvPr id="28" name="Oval 27"/>
          <p:cNvSpPr/>
          <p:nvPr/>
        </p:nvSpPr>
        <p:spPr>
          <a:xfrm>
            <a:off x="950257" y="51054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29" name="Oval 28"/>
          <p:cNvSpPr/>
          <p:nvPr/>
        </p:nvSpPr>
        <p:spPr>
          <a:xfrm>
            <a:off x="2093257" y="51054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cxnSp>
        <p:nvCxnSpPr>
          <p:cNvPr id="30" name="Straight Connector 29"/>
          <p:cNvCxnSpPr>
            <a:stCxn id="28" idx="5"/>
            <a:endCxn id="29" idx="3"/>
          </p:cNvCxnSpPr>
          <p:nvPr/>
        </p:nvCxnSpPr>
        <p:spPr>
          <a:xfrm>
            <a:off x="1275461" y="5430604"/>
            <a:ext cx="873592" cy="0"/>
          </a:xfrm>
          <a:prstGeom prst="line">
            <a:avLst/>
          </a:prstGeom>
        </p:spPr>
        <p:style>
          <a:lnRef idx="2">
            <a:schemeClr val="accent2"/>
          </a:lnRef>
          <a:fillRef idx="0">
            <a:schemeClr val="accent2"/>
          </a:fillRef>
          <a:effectRef idx="1">
            <a:schemeClr val="accent2"/>
          </a:effectRef>
          <a:fontRef idx="minor">
            <a:schemeClr val="tx1"/>
          </a:fontRef>
        </p:style>
      </p:cxnSp>
      <p:sp>
        <p:nvSpPr>
          <p:cNvPr id="31" name="TextBox 30"/>
          <p:cNvSpPr txBox="1"/>
          <p:nvPr/>
        </p:nvSpPr>
        <p:spPr>
          <a:xfrm>
            <a:off x="1463253" y="5397519"/>
            <a:ext cx="301686" cy="369332"/>
          </a:xfrm>
          <a:prstGeom prst="rect">
            <a:avLst/>
          </a:prstGeom>
          <a:noFill/>
        </p:spPr>
        <p:txBody>
          <a:bodyPr wrap="none" rtlCol="0">
            <a:spAutoFit/>
          </a:bodyPr>
          <a:lstStyle/>
          <a:p>
            <a:pPr algn="ctr"/>
            <a:r>
              <a:rPr lang="en-IN" b="1" dirty="0"/>
              <a:t>1</a:t>
            </a:r>
            <a:endParaRPr lang="en-US" b="1" dirty="0"/>
          </a:p>
        </p:txBody>
      </p:sp>
      <p:sp>
        <p:nvSpPr>
          <p:cNvPr id="32" name="Rectangle 31"/>
          <p:cNvSpPr/>
          <p:nvPr/>
        </p:nvSpPr>
        <p:spPr>
          <a:xfrm>
            <a:off x="3973331" y="1106269"/>
            <a:ext cx="2006126" cy="646331"/>
          </a:xfrm>
          <a:prstGeom prst="rect">
            <a:avLst/>
          </a:prstGeom>
        </p:spPr>
        <p:txBody>
          <a:bodyPr wrap="none">
            <a:spAutoFit/>
          </a:bodyPr>
          <a:lstStyle/>
          <a:p>
            <a:pPr algn="ctr"/>
            <a:r>
              <a:rPr lang="en-US" b="1" dirty="0"/>
              <a:t>Step 2:</a:t>
            </a:r>
            <a:r>
              <a:rPr lang="en-US" dirty="0"/>
              <a:t> Taking next </a:t>
            </a:r>
          </a:p>
          <a:p>
            <a:pPr algn="ctr"/>
            <a:r>
              <a:rPr lang="en-US" dirty="0"/>
              <a:t>min edge (B,C)</a:t>
            </a:r>
          </a:p>
        </p:txBody>
      </p:sp>
      <p:sp>
        <p:nvSpPr>
          <p:cNvPr id="33" name="Oval 32"/>
          <p:cNvSpPr/>
          <p:nvPr/>
        </p:nvSpPr>
        <p:spPr>
          <a:xfrm>
            <a:off x="3866261" y="19050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34" name="Oval 33"/>
          <p:cNvSpPr/>
          <p:nvPr/>
        </p:nvSpPr>
        <p:spPr>
          <a:xfrm>
            <a:off x="4247261" y="28194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35" name="Oval 34"/>
          <p:cNvSpPr/>
          <p:nvPr/>
        </p:nvSpPr>
        <p:spPr>
          <a:xfrm>
            <a:off x="5390261" y="28194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cxnSp>
        <p:nvCxnSpPr>
          <p:cNvPr id="36" name="Straight Connector 35"/>
          <p:cNvCxnSpPr>
            <a:stCxn id="33" idx="3"/>
            <a:endCxn id="34" idx="2"/>
          </p:cNvCxnSpPr>
          <p:nvPr/>
        </p:nvCxnSpPr>
        <p:spPr>
          <a:xfrm>
            <a:off x="3922057" y="2230204"/>
            <a:ext cx="325204" cy="779696"/>
          </a:xfrm>
          <a:prstGeom prst="line">
            <a:avLst/>
          </a:prstGeom>
        </p:spPr>
        <p:style>
          <a:lnRef idx="2">
            <a:schemeClr val="accent2"/>
          </a:lnRef>
          <a:fillRef idx="0">
            <a:schemeClr val="accent2"/>
          </a:fillRef>
          <a:effectRef idx="1">
            <a:schemeClr val="accent2"/>
          </a:effectRef>
          <a:fontRef idx="minor">
            <a:schemeClr val="tx1"/>
          </a:fontRef>
        </p:style>
      </p:cxnSp>
      <p:cxnSp>
        <p:nvCxnSpPr>
          <p:cNvPr id="37" name="Straight Connector 36"/>
          <p:cNvCxnSpPr>
            <a:stCxn id="34" idx="5"/>
            <a:endCxn id="35" idx="3"/>
          </p:cNvCxnSpPr>
          <p:nvPr/>
        </p:nvCxnSpPr>
        <p:spPr>
          <a:xfrm>
            <a:off x="4572465" y="3144604"/>
            <a:ext cx="873592" cy="0"/>
          </a:xfrm>
          <a:prstGeom prst="line">
            <a:avLst/>
          </a:prstGeom>
        </p:spPr>
        <p:style>
          <a:lnRef idx="2">
            <a:schemeClr val="accent2"/>
          </a:lnRef>
          <a:fillRef idx="0">
            <a:schemeClr val="accent2"/>
          </a:fillRef>
          <a:effectRef idx="1">
            <a:schemeClr val="accent2"/>
          </a:effectRef>
          <a:fontRef idx="minor">
            <a:schemeClr val="tx1"/>
          </a:fontRef>
        </p:style>
      </p:cxnSp>
      <p:sp>
        <p:nvSpPr>
          <p:cNvPr id="38" name="TextBox 37"/>
          <p:cNvSpPr txBox="1"/>
          <p:nvPr/>
        </p:nvSpPr>
        <p:spPr>
          <a:xfrm>
            <a:off x="3769657" y="2526268"/>
            <a:ext cx="301686" cy="369332"/>
          </a:xfrm>
          <a:prstGeom prst="rect">
            <a:avLst/>
          </a:prstGeom>
          <a:noFill/>
        </p:spPr>
        <p:txBody>
          <a:bodyPr wrap="none" rtlCol="0">
            <a:spAutoFit/>
          </a:bodyPr>
          <a:lstStyle/>
          <a:p>
            <a:pPr algn="ctr"/>
            <a:r>
              <a:rPr lang="en-IN" b="1" dirty="0"/>
              <a:t>2</a:t>
            </a:r>
            <a:endParaRPr lang="en-US" b="1" dirty="0"/>
          </a:p>
        </p:txBody>
      </p:sp>
      <p:sp>
        <p:nvSpPr>
          <p:cNvPr id="39" name="TextBox 38"/>
          <p:cNvSpPr txBox="1"/>
          <p:nvPr/>
        </p:nvSpPr>
        <p:spPr>
          <a:xfrm>
            <a:off x="4760257" y="3111519"/>
            <a:ext cx="301686" cy="369332"/>
          </a:xfrm>
          <a:prstGeom prst="rect">
            <a:avLst/>
          </a:prstGeom>
          <a:noFill/>
        </p:spPr>
        <p:txBody>
          <a:bodyPr wrap="none" rtlCol="0">
            <a:spAutoFit/>
          </a:bodyPr>
          <a:lstStyle/>
          <a:p>
            <a:pPr algn="ctr"/>
            <a:r>
              <a:rPr lang="en-IN" b="1" dirty="0"/>
              <a:t>1</a:t>
            </a:r>
            <a:endParaRPr lang="en-US" b="1" dirty="0"/>
          </a:p>
        </p:txBody>
      </p:sp>
      <p:sp>
        <p:nvSpPr>
          <p:cNvPr id="40" name="Rectangle 39"/>
          <p:cNvSpPr/>
          <p:nvPr/>
        </p:nvSpPr>
        <p:spPr>
          <a:xfrm>
            <a:off x="3769657" y="3773269"/>
            <a:ext cx="2191520" cy="646331"/>
          </a:xfrm>
          <a:prstGeom prst="rect">
            <a:avLst/>
          </a:prstGeom>
        </p:spPr>
        <p:txBody>
          <a:bodyPr wrap="square">
            <a:spAutoFit/>
          </a:bodyPr>
          <a:lstStyle/>
          <a:p>
            <a:pPr algn="ctr"/>
            <a:r>
              <a:rPr lang="en-US" b="1" dirty="0"/>
              <a:t>Step 3:</a:t>
            </a:r>
            <a:r>
              <a:rPr lang="en-US" dirty="0"/>
              <a:t> Taking next</a:t>
            </a:r>
          </a:p>
          <a:p>
            <a:pPr algn="ctr"/>
            <a:r>
              <a:rPr lang="en-US" dirty="0"/>
              <a:t> min edge (B,E)</a:t>
            </a:r>
          </a:p>
        </p:txBody>
      </p:sp>
      <p:sp>
        <p:nvSpPr>
          <p:cNvPr id="41" name="Oval 40"/>
          <p:cNvSpPr/>
          <p:nvPr/>
        </p:nvSpPr>
        <p:spPr>
          <a:xfrm>
            <a:off x="3617257" y="44958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42" name="Oval 41"/>
          <p:cNvSpPr/>
          <p:nvPr/>
        </p:nvSpPr>
        <p:spPr>
          <a:xfrm>
            <a:off x="4150657" y="53340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43" name="Oval 42"/>
          <p:cNvSpPr/>
          <p:nvPr/>
        </p:nvSpPr>
        <p:spPr>
          <a:xfrm>
            <a:off x="5293657" y="53340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44" name="Oval 43"/>
          <p:cNvSpPr/>
          <p:nvPr/>
        </p:nvSpPr>
        <p:spPr>
          <a:xfrm>
            <a:off x="5674657" y="4494259"/>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cxnSp>
        <p:nvCxnSpPr>
          <p:cNvPr id="45" name="Straight Connector 44"/>
          <p:cNvCxnSpPr>
            <a:stCxn id="41" idx="3"/>
            <a:endCxn id="42" idx="2"/>
          </p:cNvCxnSpPr>
          <p:nvPr/>
        </p:nvCxnSpPr>
        <p:spPr>
          <a:xfrm>
            <a:off x="3673053" y="4821004"/>
            <a:ext cx="477604" cy="703496"/>
          </a:xfrm>
          <a:prstGeom prst="line">
            <a:avLst/>
          </a:prstGeom>
        </p:spPr>
        <p:style>
          <a:lnRef idx="2">
            <a:schemeClr val="accent2"/>
          </a:lnRef>
          <a:fillRef idx="0">
            <a:schemeClr val="accent2"/>
          </a:fillRef>
          <a:effectRef idx="1">
            <a:schemeClr val="accent2"/>
          </a:effectRef>
          <a:fontRef idx="minor">
            <a:schemeClr val="tx1"/>
          </a:fontRef>
        </p:style>
      </p:cxnSp>
      <p:cxnSp>
        <p:nvCxnSpPr>
          <p:cNvPr id="46" name="Straight Connector 45"/>
          <p:cNvCxnSpPr>
            <a:stCxn id="42" idx="5"/>
            <a:endCxn id="43" idx="3"/>
          </p:cNvCxnSpPr>
          <p:nvPr/>
        </p:nvCxnSpPr>
        <p:spPr>
          <a:xfrm>
            <a:off x="4475861" y="5659204"/>
            <a:ext cx="873592"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47" name="Straight Connector 46"/>
          <p:cNvCxnSpPr>
            <a:stCxn id="41" idx="6"/>
            <a:endCxn id="44" idx="2"/>
          </p:cNvCxnSpPr>
          <p:nvPr/>
        </p:nvCxnSpPr>
        <p:spPr>
          <a:xfrm flipV="1">
            <a:off x="3998257" y="4684759"/>
            <a:ext cx="1676400" cy="1541"/>
          </a:xfrm>
          <a:prstGeom prst="line">
            <a:avLst/>
          </a:prstGeom>
        </p:spPr>
        <p:style>
          <a:lnRef idx="2">
            <a:schemeClr val="accent2"/>
          </a:lnRef>
          <a:fillRef idx="0">
            <a:schemeClr val="accent2"/>
          </a:fillRef>
          <a:effectRef idx="1">
            <a:schemeClr val="accent2"/>
          </a:effectRef>
          <a:fontRef idx="minor">
            <a:schemeClr val="tx1"/>
          </a:fontRef>
        </p:style>
      </p:cxnSp>
      <p:sp>
        <p:nvSpPr>
          <p:cNvPr id="48" name="TextBox 47"/>
          <p:cNvSpPr txBox="1"/>
          <p:nvPr/>
        </p:nvSpPr>
        <p:spPr>
          <a:xfrm>
            <a:off x="3673053" y="5105400"/>
            <a:ext cx="301686" cy="369332"/>
          </a:xfrm>
          <a:prstGeom prst="rect">
            <a:avLst/>
          </a:prstGeom>
          <a:noFill/>
        </p:spPr>
        <p:txBody>
          <a:bodyPr wrap="none" rtlCol="0">
            <a:spAutoFit/>
          </a:bodyPr>
          <a:lstStyle/>
          <a:p>
            <a:pPr algn="ctr"/>
            <a:r>
              <a:rPr lang="en-IN" b="1" dirty="0"/>
              <a:t>2</a:t>
            </a:r>
            <a:endParaRPr lang="en-US" b="1" dirty="0"/>
          </a:p>
        </p:txBody>
      </p:sp>
      <p:sp>
        <p:nvSpPr>
          <p:cNvPr id="49" name="TextBox 48"/>
          <p:cNvSpPr txBox="1"/>
          <p:nvPr/>
        </p:nvSpPr>
        <p:spPr>
          <a:xfrm>
            <a:off x="4684057" y="4736068"/>
            <a:ext cx="301686" cy="369332"/>
          </a:xfrm>
          <a:prstGeom prst="rect">
            <a:avLst/>
          </a:prstGeom>
          <a:noFill/>
        </p:spPr>
        <p:txBody>
          <a:bodyPr wrap="none" rtlCol="0">
            <a:spAutoFit/>
          </a:bodyPr>
          <a:lstStyle/>
          <a:p>
            <a:pPr algn="ctr"/>
            <a:r>
              <a:rPr lang="en-IN" b="1" dirty="0"/>
              <a:t>3</a:t>
            </a:r>
            <a:endParaRPr lang="en-US" b="1" dirty="0"/>
          </a:p>
        </p:txBody>
      </p:sp>
      <p:sp>
        <p:nvSpPr>
          <p:cNvPr id="50" name="TextBox 49"/>
          <p:cNvSpPr txBox="1"/>
          <p:nvPr/>
        </p:nvSpPr>
        <p:spPr>
          <a:xfrm>
            <a:off x="4663653" y="5626119"/>
            <a:ext cx="301686" cy="369332"/>
          </a:xfrm>
          <a:prstGeom prst="rect">
            <a:avLst/>
          </a:prstGeom>
          <a:noFill/>
        </p:spPr>
        <p:txBody>
          <a:bodyPr wrap="none" rtlCol="0">
            <a:spAutoFit/>
          </a:bodyPr>
          <a:lstStyle/>
          <a:p>
            <a:pPr algn="ctr"/>
            <a:r>
              <a:rPr lang="en-IN" b="1" dirty="0"/>
              <a:t>1</a:t>
            </a:r>
            <a:endParaRPr lang="en-US" b="1" dirty="0"/>
          </a:p>
        </p:txBody>
      </p:sp>
      <p:sp>
        <p:nvSpPr>
          <p:cNvPr id="51" name="Rectangle 50"/>
          <p:cNvSpPr/>
          <p:nvPr/>
        </p:nvSpPr>
        <p:spPr>
          <a:xfrm>
            <a:off x="6893857" y="1135297"/>
            <a:ext cx="2143496" cy="646331"/>
          </a:xfrm>
          <a:prstGeom prst="rect">
            <a:avLst/>
          </a:prstGeom>
        </p:spPr>
        <p:txBody>
          <a:bodyPr wrap="square">
            <a:spAutoFit/>
          </a:bodyPr>
          <a:lstStyle/>
          <a:p>
            <a:pPr algn="ctr"/>
            <a:r>
              <a:rPr lang="en-US" b="1" dirty="0"/>
              <a:t>Step 4:</a:t>
            </a:r>
            <a:r>
              <a:rPr lang="en-US" dirty="0"/>
              <a:t> Taking next </a:t>
            </a:r>
          </a:p>
          <a:p>
            <a:pPr algn="ctr"/>
            <a:r>
              <a:rPr lang="en-US" dirty="0"/>
              <a:t>min edge (A,B)</a:t>
            </a:r>
          </a:p>
        </p:txBody>
      </p:sp>
      <p:sp>
        <p:nvSpPr>
          <p:cNvPr id="52" name="Oval 51"/>
          <p:cNvSpPr/>
          <p:nvPr/>
        </p:nvSpPr>
        <p:spPr>
          <a:xfrm>
            <a:off x="6911670" y="2954104"/>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53" name="Oval 52"/>
          <p:cNvSpPr/>
          <p:nvPr/>
        </p:nvSpPr>
        <p:spPr>
          <a:xfrm>
            <a:off x="7427257" y="4064838"/>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t>C</a:t>
            </a:r>
            <a:endParaRPr lang="en-US" sz="2400" b="1" dirty="0"/>
          </a:p>
        </p:txBody>
      </p:sp>
      <p:sp>
        <p:nvSpPr>
          <p:cNvPr id="54" name="Oval 53"/>
          <p:cNvSpPr/>
          <p:nvPr/>
        </p:nvSpPr>
        <p:spPr>
          <a:xfrm>
            <a:off x="8570257" y="4064838"/>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55" name="Oval 54"/>
          <p:cNvSpPr/>
          <p:nvPr/>
        </p:nvSpPr>
        <p:spPr>
          <a:xfrm>
            <a:off x="8969070" y="2952563"/>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cxnSp>
        <p:nvCxnSpPr>
          <p:cNvPr id="56" name="Straight Connector 55"/>
          <p:cNvCxnSpPr>
            <a:stCxn id="52" idx="3"/>
            <a:endCxn id="53" idx="2"/>
          </p:cNvCxnSpPr>
          <p:nvPr/>
        </p:nvCxnSpPr>
        <p:spPr>
          <a:xfrm>
            <a:off x="6967466" y="3279308"/>
            <a:ext cx="459791" cy="976030"/>
          </a:xfrm>
          <a:prstGeom prst="line">
            <a:avLst/>
          </a:prstGeom>
        </p:spPr>
        <p:style>
          <a:lnRef idx="2">
            <a:schemeClr val="accent2"/>
          </a:lnRef>
          <a:fillRef idx="0">
            <a:schemeClr val="accent2"/>
          </a:fillRef>
          <a:effectRef idx="1">
            <a:schemeClr val="accent2"/>
          </a:effectRef>
          <a:fontRef idx="minor">
            <a:schemeClr val="tx1"/>
          </a:fontRef>
        </p:style>
      </p:cxnSp>
      <p:cxnSp>
        <p:nvCxnSpPr>
          <p:cNvPr id="57" name="Straight Connector 56"/>
          <p:cNvCxnSpPr>
            <a:stCxn id="53" idx="5"/>
            <a:endCxn id="54" idx="3"/>
          </p:cNvCxnSpPr>
          <p:nvPr/>
        </p:nvCxnSpPr>
        <p:spPr>
          <a:xfrm>
            <a:off x="7752461" y="4390042"/>
            <a:ext cx="873592"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58" name="Straight Connector 57"/>
          <p:cNvCxnSpPr>
            <a:stCxn id="52" idx="6"/>
            <a:endCxn id="55" idx="2"/>
          </p:cNvCxnSpPr>
          <p:nvPr/>
        </p:nvCxnSpPr>
        <p:spPr>
          <a:xfrm flipV="1">
            <a:off x="7292670" y="3143063"/>
            <a:ext cx="1676400" cy="1541"/>
          </a:xfrm>
          <a:prstGeom prst="line">
            <a:avLst/>
          </a:prstGeom>
        </p:spPr>
        <p:style>
          <a:lnRef idx="2">
            <a:schemeClr val="accent2"/>
          </a:lnRef>
          <a:fillRef idx="0">
            <a:schemeClr val="accent2"/>
          </a:fillRef>
          <a:effectRef idx="1">
            <a:schemeClr val="accent2"/>
          </a:effectRef>
          <a:fontRef idx="minor">
            <a:schemeClr val="tx1"/>
          </a:fontRef>
        </p:style>
      </p:cxnSp>
      <p:sp>
        <p:nvSpPr>
          <p:cNvPr id="59" name="TextBox 58"/>
          <p:cNvSpPr txBox="1"/>
          <p:nvPr/>
        </p:nvSpPr>
        <p:spPr>
          <a:xfrm>
            <a:off x="6893857" y="3563704"/>
            <a:ext cx="301686" cy="369332"/>
          </a:xfrm>
          <a:prstGeom prst="rect">
            <a:avLst/>
          </a:prstGeom>
          <a:noFill/>
        </p:spPr>
        <p:txBody>
          <a:bodyPr wrap="none" rtlCol="0">
            <a:spAutoFit/>
          </a:bodyPr>
          <a:lstStyle/>
          <a:p>
            <a:pPr algn="ctr"/>
            <a:r>
              <a:rPr lang="en-IN" b="1" dirty="0"/>
              <a:t>2</a:t>
            </a:r>
            <a:endParaRPr lang="en-US" b="1" dirty="0"/>
          </a:p>
        </p:txBody>
      </p:sp>
      <p:sp>
        <p:nvSpPr>
          <p:cNvPr id="60" name="TextBox 59"/>
          <p:cNvSpPr txBox="1"/>
          <p:nvPr/>
        </p:nvSpPr>
        <p:spPr>
          <a:xfrm>
            <a:off x="7978470" y="3194372"/>
            <a:ext cx="301686" cy="369332"/>
          </a:xfrm>
          <a:prstGeom prst="rect">
            <a:avLst/>
          </a:prstGeom>
          <a:noFill/>
        </p:spPr>
        <p:txBody>
          <a:bodyPr wrap="none" rtlCol="0">
            <a:spAutoFit/>
          </a:bodyPr>
          <a:lstStyle/>
          <a:p>
            <a:pPr algn="ctr"/>
            <a:r>
              <a:rPr lang="en-IN" b="1" dirty="0"/>
              <a:t>3</a:t>
            </a:r>
            <a:endParaRPr lang="en-US" b="1" dirty="0"/>
          </a:p>
        </p:txBody>
      </p:sp>
      <p:sp>
        <p:nvSpPr>
          <p:cNvPr id="61" name="TextBox 60"/>
          <p:cNvSpPr txBox="1"/>
          <p:nvPr/>
        </p:nvSpPr>
        <p:spPr>
          <a:xfrm>
            <a:off x="8038414" y="4507468"/>
            <a:ext cx="301686" cy="369332"/>
          </a:xfrm>
          <a:prstGeom prst="rect">
            <a:avLst/>
          </a:prstGeom>
          <a:noFill/>
        </p:spPr>
        <p:txBody>
          <a:bodyPr wrap="none" rtlCol="0">
            <a:spAutoFit/>
          </a:bodyPr>
          <a:lstStyle/>
          <a:p>
            <a:pPr algn="ctr"/>
            <a:r>
              <a:rPr lang="en-IN" b="1" dirty="0"/>
              <a:t>1</a:t>
            </a:r>
            <a:endParaRPr lang="en-US" b="1" dirty="0"/>
          </a:p>
        </p:txBody>
      </p:sp>
      <p:sp>
        <p:nvSpPr>
          <p:cNvPr id="62" name="Oval 61"/>
          <p:cNvSpPr/>
          <p:nvPr/>
        </p:nvSpPr>
        <p:spPr>
          <a:xfrm>
            <a:off x="7884457" y="1981200"/>
            <a:ext cx="381000" cy="3810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cxnSp>
        <p:nvCxnSpPr>
          <p:cNvPr id="63" name="Straight Connector 62"/>
          <p:cNvCxnSpPr>
            <a:stCxn id="62" idx="2"/>
            <a:endCxn id="52" idx="0"/>
          </p:cNvCxnSpPr>
          <p:nvPr/>
        </p:nvCxnSpPr>
        <p:spPr>
          <a:xfrm flipH="1">
            <a:off x="7102170" y="2171700"/>
            <a:ext cx="782287" cy="782404"/>
          </a:xfrm>
          <a:prstGeom prst="line">
            <a:avLst/>
          </a:prstGeom>
        </p:spPr>
        <p:style>
          <a:lnRef idx="2">
            <a:schemeClr val="accent2"/>
          </a:lnRef>
          <a:fillRef idx="0">
            <a:schemeClr val="accent2"/>
          </a:fillRef>
          <a:effectRef idx="1">
            <a:schemeClr val="accent2"/>
          </a:effectRef>
          <a:fontRef idx="minor">
            <a:schemeClr val="tx1"/>
          </a:fontRef>
        </p:style>
      </p:cxnSp>
      <p:sp>
        <p:nvSpPr>
          <p:cNvPr id="64" name="TextBox 63"/>
          <p:cNvSpPr txBox="1"/>
          <p:nvPr/>
        </p:nvSpPr>
        <p:spPr>
          <a:xfrm>
            <a:off x="7232891" y="2237173"/>
            <a:ext cx="301686" cy="369332"/>
          </a:xfrm>
          <a:prstGeom prst="rect">
            <a:avLst/>
          </a:prstGeom>
          <a:noFill/>
        </p:spPr>
        <p:txBody>
          <a:bodyPr wrap="none" rtlCol="0">
            <a:spAutoFit/>
          </a:bodyPr>
          <a:lstStyle/>
          <a:p>
            <a:pPr algn="ctr"/>
            <a:r>
              <a:rPr lang="en-IN" b="1" dirty="0"/>
              <a:t>4</a:t>
            </a:r>
            <a:endParaRPr lang="en-US" b="1" dirty="0"/>
          </a:p>
        </p:txBody>
      </p:sp>
      <p:cxnSp>
        <p:nvCxnSpPr>
          <p:cNvPr id="65" name="Straight Connector 64"/>
          <p:cNvCxnSpPr/>
          <p:nvPr/>
        </p:nvCxnSpPr>
        <p:spPr>
          <a:xfrm>
            <a:off x="3312457" y="990600"/>
            <a:ext cx="0" cy="5257800"/>
          </a:xfrm>
          <a:prstGeom prst="line">
            <a:avLst/>
          </a:prstGeom>
          <a:ln w="28575">
            <a:solidFill>
              <a:schemeClr val="accent5"/>
            </a:solidFill>
          </a:ln>
        </p:spPr>
        <p:style>
          <a:lnRef idx="2">
            <a:schemeClr val="dk1"/>
          </a:lnRef>
          <a:fillRef idx="0">
            <a:schemeClr val="dk1"/>
          </a:fillRef>
          <a:effectRef idx="1">
            <a:schemeClr val="dk1"/>
          </a:effectRef>
          <a:fontRef idx="minor">
            <a:schemeClr val="tx1"/>
          </a:fontRef>
        </p:style>
      </p:cxnSp>
      <p:cxnSp>
        <p:nvCxnSpPr>
          <p:cNvPr id="66" name="Straight Connector 65"/>
          <p:cNvCxnSpPr/>
          <p:nvPr/>
        </p:nvCxnSpPr>
        <p:spPr>
          <a:xfrm>
            <a:off x="6360457" y="1002475"/>
            <a:ext cx="0" cy="5257800"/>
          </a:xfrm>
          <a:prstGeom prst="line">
            <a:avLst/>
          </a:prstGeom>
          <a:ln w="28575">
            <a:solidFill>
              <a:schemeClr val="accent5"/>
            </a:solidFill>
          </a:ln>
        </p:spPr>
        <p:style>
          <a:lnRef idx="2">
            <a:schemeClr val="dk1"/>
          </a:lnRef>
          <a:fillRef idx="0">
            <a:schemeClr val="dk1"/>
          </a:fillRef>
          <a:effectRef idx="1">
            <a:schemeClr val="dk1"/>
          </a:effectRef>
          <a:fontRef idx="minor">
            <a:schemeClr val="tx1"/>
          </a:fontRef>
        </p:style>
      </p:cxnSp>
      <p:cxnSp>
        <p:nvCxnSpPr>
          <p:cNvPr id="67" name="Straight Connector 66"/>
          <p:cNvCxnSpPr/>
          <p:nvPr/>
        </p:nvCxnSpPr>
        <p:spPr>
          <a:xfrm>
            <a:off x="557382" y="3963776"/>
            <a:ext cx="2743200" cy="0"/>
          </a:xfrm>
          <a:prstGeom prst="line">
            <a:avLst/>
          </a:prstGeom>
          <a:ln w="28575">
            <a:solidFill>
              <a:schemeClr val="accent5"/>
            </a:solidFill>
          </a:ln>
        </p:spPr>
        <p:style>
          <a:lnRef idx="2">
            <a:schemeClr val="dk1"/>
          </a:lnRef>
          <a:fillRef idx="0">
            <a:schemeClr val="dk1"/>
          </a:fillRef>
          <a:effectRef idx="1">
            <a:schemeClr val="dk1"/>
          </a:effectRef>
          <a:fontRef idx="minor">
            <a:schemeClr val="tx1"/>
          </a:fontRef>
        </p:style>
      </p:cxnSp>
      <p:cxnSp>
        <p:nvCxnSpPr>
          <p:cNvPr id="68" name="Straight Connector 67"/>
          <p:cNvCxnSpPr/>
          <p:nvPr/>
        </p:nvCxnSpPr>
        <p:spPr>
          <a:xfrm>
            <a:off x="3300582" y="3619500"/>
            <a:ext cx="3059875" cy="0"/>
          </a:xfrm>
          <a:prstGeom prst="line">
            <a:avLst/>
          </a:prstGeom>
          <a:ln w="28575">
            <a:solidFill>
              <a:schemeClr val="accent5"/>
            </a:solidFill>
          </a:ln>
        </p:spPr>
        <p:style>
          <a:lnRef idx="2">
            <a:schemeClr val="dk1"/>
          </a:lnRef>
          <a:fillRef idx="0">
            <a:schemeClr val="dk1"/>
          </a:fillRef>
          <a:effectRef idx="1">
            <a:schemeClr val="dk1"/>
          </a:effectRef>
          <a:fontRef idx="minor">
            <a:schemeClr val="tx1"/>
          </a:fontRef>
        </p:style>
      </p:cxnSp>
      <p:cxnSp>
        <p:nvCxnSpPr>
          <p:cNvPr id="69" name="Straight Connector 68"/>
          <p:cNvCxnSpPr/>
          <p:nvPr/>
        </p:nvCxnSpPr>
        <p:spPr>
          <a:xfrm>
            <a:off x="6380861" y="4920734"/>
            <a:ext cx="3103796" cy="0"/>
          </a:xfrm>
          <a:prstGeom prst="line">
            <a:avLst/>
          </a:prstGeom>
          <a:ln w="28575">
            <a:solidFill>
              <a:schemeClr val="accent5"/>
            </a:solidFill>
          </a:ln>
        </p:spPr>
        <p:style>
          <a:lnRef idx="2">
            <a:schemeClr val="dk1"/>
          </a:lnRef>
          <a:fillRef idx="0">
            <a:schemeClr val="dk1"/>
          </a:fillRef>
          <a:effectRef idx="1">
            <a:schemeClr val="dk1"/>
          </a:effectRef>
          <a:fontRef idx="minor">
            <a:schemeClr val="tx1"/>
          </a:fontRef>
        </p:style>
      </p:cxnSp>
      <p:sp>
        <p:nvSpPr>
          <p:cNvPr id="70" name="TextBox 69"/>
          <p:cNvSpPr txBox="1"/>
          <p:nvPr/>
        </p:nvSpPr>
        <p:spPr>
          <a:xfrm>
            <a:off x="6393958" y="4951926"/>
            <a:ext cx="2839687" cy="1446550"/>
          </a:xfrm>
          <a:prstGeom prst="rect">
            <a:avLst/>
          </a:prstGeom>
          <a:solidFill>
            <a:schemeClr val="bg1">
              <a:lumMod val="85000"/>
            </a:schemeClr>
          </a:solidFill>
        </p:spPr>
        <p:txBody>
          <a:bodyPr wrap="square" rtlCol="0">
            <a:spAutoFit/>
          </a:bodyPr>
          <a:lstStyle/>
          <a:p>
            <a:pPr algn="ctr"/>
            <a:r>
              <a:rPr lang="en-US" sz="2200" dirty="0">
                <a:solidFill>
                  <a:srgbClr val="AD1457"/>
                </a:solidFill>
              </a:rPr>
              <a:t>So, we obtained a minimum</a:t>
            </a:r>
          </a:p>
          <a:p>
            <a:pPr algn="ctr"/>
            <a:r>
              <a:rPr lang="en-US" sz="2200" dirty="0">
                <a:solidFill>
                  <a:srgbClr val="AD1457"/>
                </a:solidFill>
              </a:rPr>
              <a:t>spanning tree of cost</a:t>
            </a:r>
            <a:r>
              <a:rPr lang="en-US" sz="2200" b="1" dirty="0">
                <a:solidFill>
                  <a:srgbClr val="AD1457"/>
                </a:solidFill>
              </a:rPr>
              <a:t>: </a:t>
            </a:r>
          </a:p>
          <a:p>
            <a:pPr algn="ctr"/>
            <a:r>
              <a:rPr lang="en-US" sz="2200" b="1" dirty="0">
                <a:solidFill>
                  <a:srgbClr val="AD1457"/>
                </a:solidFill>
              </a:rPr>
              <a:t>4 + 2 + 1 + 3 = 10</a:t>
            </a:r>
            <a:endParaRPr lang="en-US" sz="2200" dirty="0">
              <a:solidFill>
                <a:srgbClr val="AD1457"/>
              </a:solidFill>
            </a:endParaRPr>
          </a:p>
        </p:txBody>
      </p:sp>
    </p:spTree>
    <p:extLst>
      <p:ext uri="{BB962C8B-B14F-4D97-AF65-F5344CB8AC3E}">
        <p14:creationId xmlns:p14="http://schemas.microsoft.com/office/powerpoint/2010/main" val="1683013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67"/>
                                        </p:tgtEl>
                                        <p:attrNameLst>
                                          <p:attrName>style.visibility</p:attrName>
                                        </p:attrNameLst>
                                      </p:cBhvr>
                                      <p:to>
                                        <p:strVal val="visible"/>
                                      </p:to>
                                    </p:set>
                                    <p:animEffect transition="in" filter="wipe(left)">
                                      <p:cBhvr>
                                        <p:cTn id="55" dur="500"/>
                                        <p:tgtEl>
                                          <p:spTgt spid="67"/>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6"/>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28"/>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29"/>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30"/>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31"/>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nodeType="clickEffect">
                                  <p:stCondLst>
                                    <p:cond delay="0"/>
                                  </p:stCondLst>
                                  <p:childTnLst>
                                    <p:set>
                                      <p:cBhvr>
                                        <p:cTn id="73" dur="1" fill="hold">
                                          <p:stCondLst>
                                            <p:cond delay="0"/>
                                          </p:stCondLst>
                                        </p:cTn>
                                        <p:tgtEl>
                                          <p:spTgt spid="65"/>
                                        </p:tgtEl>
                                        <p:attrNameLst>
                                          <p:attrName>style.visibility</p:attrName>
                                        </p:attrNameLst>
                                      </p:cBhvr>
                                      <p:to>
                                        <p:strVal val="visible"/>
                                      </p:to>
                                    </p:set>
                                    <p:animEffect transition="in" filter="wipe(down)">
                                      <p:cBhvr>
                                        <p:cTn id="74" dur="500"/>
                                        <p:tgtEl>
                                          <p:spTgt spid="65"/>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4"/>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37"/>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35"/>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22" presetClass="entr" presetSubtype="4" fill="hold" nodeType="clickEffect">
                                  <p:stCondLst>
                                    <p:cond delay="0"/>
                                  </p:stCondLst>
                                  <p:childTnLst>
                                    <p:set>
                                      <p:cBhvr>
                                        <p:cTn id="92" dur="1" fill="hold">
                                          <p:stCondLst>
                                            <p:cond delay="0"/>
                                          </p:stCondLst>
                                        </p:cTn>
                                        <p:tgtEl>
                                          <p:spTgt spid="36"/>
                                        </p:tgtEl>
                                        <p:attrNameLst>
                                          <p:attrName>style.visibility</p:attrName>
                                        </p:attrNameLst>
                                      </p:cBhvr>
                                      <p:to>
                                        <p:strVal val="visible"/>
                                      </p:to>
                                    </p:set>
                                    <p:animEffect transition="in" filter="wipe(down)">
                                      <p:cBhvr>
                                        <p:cTn id="93" dur="500"/>
                                        <p:tgtEl>
                                          <p:spTgt spid="36"/>
                                        </p:tgtEl>
                                      </p:cBhvr>
                                    </p:animEffec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33"/>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38"/>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nodeType="clickEffect">
                                  <p:stCondLst>
                                    <p:cond delay="0"/>
                                  </p:stCondLst>
                                  <p:childTnLst>
                                    <p:set>
                                      <p:cBhvr>
                                        <p:cTn id="105" dur="1" fill="hold">
                                          <p:stCondLst>
                                            <p:cond delay="0"/>
                                          </p:stCondLst>
                                        </p:cTn>
                                        <p:tgtEl>
                                          <p:spTgt spid="68"/>
                                        </p:tgtEl>
                                        <p:attrNameLst>
                                          <p:attrName>style.visibility</p:attrName>
                                        </p:attrNameLst>
                                      </p:cBhvr>
                                      <p:to>
                                        <p:strVal val="visible"/>
                                      </p:to>
                                    </p:set>
                                    <p:animEffect transition="in" filter="wipe(left)">
                                      <p:cBhvr>
                                        <p:cTn id="106" dur="500"/>
                                        <p:tgtEl>
                                          <p:spTgt spid="68"/>
                                        </p:tgtEl>
                                      </p:cBhvr>
                                    </p:animEffec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40"/>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45"/>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41"/>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48"/>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42"/>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50"/>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46"/>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43"/>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nodeType="clickEffect">
                                  <p:stCondLst>
                                    <p:cond delay="0"/>
                                  </p:stCondLst>
                                  <p:childTnLst>
                                    <p:set>
                                      <p:cBhvr>
                                        <p:cTn id="130" dur="1" fill="hold">
                                          <p:stCondLst>
                                            <p:cond delay="0"/>
                                          </p:stCondLst>
                                        </p:cTn>
                                        <p:tgtEl>
                                          <p:spTgt spid="47"/>
                                        </p:tgtEl>
                                        <p:attrNameLst>
                                          <p:attrName>style.visibility</p:attrName>
                                        </p:attrNameLst>
                                      </p:cBhvr>
                                      <p:to>
                                        <p:strVal val="visible"/>
                                      </p:to>
                                    </p:set>
                                    <p:animEffect transition="in" filter="wipe(left)">
                                      <p:cBhvr>
                                        <p:cTn id="131" dur="500"/>
                                        <p:tgtEl>
                                          <p:spTgt spid="47"/>
                                        </p:tgtEl>
                                      </p:cBhvr>
                                    </p:animEffec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grpId="0" nodeType="clickEffect">
                                  <p:stCondLst>
                                    <p:cond delay="0"/>
                                  </p:stCondLst>
                                  <p:childTnLst>
                                    <p:set>
                                      <p:cBhvr>
                                        <p:cTn id="135" dur="1" fill="hold">
                                          <p:stCondLst>
                                            <p:cond delay="0"/>
                                          </p:stCondLst>
                                        </p:cTn>
                                        <p:tgtEl>
                                          <p:spTgt spid="44"/>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grpId="0" nodeType="clickEffect">
                                  <p:stCondLst>
                                    <p:cond delay="0"/>
                                  </p:stCondLst>
                                  <p:childTnLst>
                                    <p:set>
                                      <p:cBhvr>
                                        <p:cTn id="139" dur="1" fill="hold">
                                          <p:stCondLst>
                                            <p:cond delay="0"/>
                                          </p:stCondLst>
                                        </p:cTn>
                                        <p:tgtEl>
                                          <p:spTgt spid="49"/>
                                        </p:tgtEl>
                                        <p:attrNameLst>
                                          <p:attrName>style.visibility</p:attrName>
                                        </p:attrNameLst>
                                      </p:cBhvr>
                                      <p:to>
                                        <p:strVal val="visible"/>
                                      </p:to>
                                    </p:set>
                                  </p:childTnLst>
                                </p:cTn>
                              </p:par>
                            </p:childTnLst>
                          </p:cTn>
                        </p:par>
                      </p:childTnLst>
                    </p:cTn>
                  </p:par>
                  <p:par>
                    <p:cTn id="140" fill="hold">
                      <p:stCondLst>
                        <p:cond delay="indefinite"/>
                      </p:stCondLst>
                      <p:childTnLst>
                        <p:par>
                          <p:cTn id="141" fill="hold">
                            <p:stCondLst>
                              <p:cond delay="0"/>
                            </p:stCondLst>
                            <p:childTnLst>
                              <p:par>
                                <p:cTn id="142" presetID="22" presetClass="entr" presetSubtype="4" fill="hold" nodeType="clickEffect">
                                  <p:stCondLst>
                                    <p:cond delay="0"/>
                                  </p:stCondLst>
                                  <p:childTnLst>
                                    <p:set>
                                      <p:cBhvr>
                                        <p:cTn id="143" dur="1" fill="hold">
                                          <p:stCondLst>
                                            <p:cond delay="0"/>
                                          </p:stCondLst>
                                        </p:cTn>
                                        <p:tgtEl>
                                          <p:spTgt spid="66"/>
                                        </p:tgtEl>
                                        <p:attrNameLst>
                                          <p:attrName>style.visibility</p:attrName>
                                        </p:attrNameLst>
                                      </p:cBhvr>
                                      <p:to>
                                        <p:strVal val="visible"/>
                                      </p:to>
                                    </p:set>
                                    <p:animEffect transition="in" filter="wipe(down)">
                                      <p:cBhvr>
                                        <p:cTn id="144" dur="500"/>
                                        <p:tgtEl>
                                          <p:spTgt spid="66"/>
                                        </p:tgtEl>
                                      </p:cBhvr>
                                    </p:animEffec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51"/>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58"/>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60"/>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59"/>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56"/>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57"/>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61"/>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54"/>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53"/>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55"/>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52"/>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22" presetClass="entr" presetSubtype="4" fill="hold" nodeType="clickEffect">
                                  <p:stCondLst>
                                    <p:cond delay="0"/>
                                  </p:stCondLst>
                                  <p:childTnLst>
                                    <p:set>
                                      <p:cBhvr>
                                        <p:cTn id="174" dur="1" fill="hold">
                                          <p:stCondLst>
                                            <p:cond delay="0"/>
                                          </p:stCondLst>
                                        </p:cTn>
                                        <p:tgtEl>
                                          <p:spTgt spid="63"/>
                                        </p:tgtEl>
                                        <p:attrNameLst>
                                          <p:attrName>style.visibility</p:attrName>
                                        </p:attrNameLst>
                                      </p:cBhvr>
                                      <p:to>
                                        <p:strVal val="visible"/>
                                      </p:to>
                                    </p:set>
                                    <p:animEffect transition="in" filter="wipe(down)">
                                      <p:cBhvr>
                                        <p:cTn id="175" dur="500"/>
                                        <p:tgtEl>
                                          <p:spTgt spid="63"/>
                                        </p:tgtEl>
                                      </p:cBhvr>
                                    </p:animEffect>
                                  </p:childTnLst>
                                </p:cTn>
                              </p:par>
                            </p:childTnLst>
                          </p:cTn>
                        </p:par>
                      </p:childTnLst>
                    </p:cTn>
                  </p:par>
                  <p:par>
                    <p:cTn id="176" fill="hold">
                      <p:stCondLst>
                        <p:cond delay="indefinite"/>
                      </p:stCondLst>
                      <p:childTnLst>
                        <p:par>
                          <p:cTn id="177" fill="hold">
                            <p:stCondLst>
                              <p:cond delay="0"/>
                            </p:stCondLst>
                            <p:childTnLst>
                              <p:par>
                                <p:cTn id="178" presetID="1" presetClass="entr" presetSubtype="0" fill="hold" grpId="0" nodeType="clickEffect">
                                  <p:stCondLst>
                                    <p:cond delay="0"/>
                                  </p:stCondLst>
                                  <p:childTnLst>
                                    <p:set>
                                      <p:cBhvr>
                                        <p:cTn id="179" dur="1" fill="hold">
                                          <p:stCondLst>
                                            <p:cond delay="0"/>
                                          </p:stCondLst>
                                        </p:cTn>
                                        <p:tgtEl>
                                          <p:spTgt spid="62"/>
                                        </p:tgtEl>
                                        <p:attrNameLst>
                                          <p:attrName>style.visibility</p:attrName>
                                        </p:attrNameLst>
                                      </p:cBhvr>
                                      <p:to>
                                        <p:strVal val="visible"/>
                                      </p:to>
                                    </p:set>
                                  </p:childTnLst>
                                </p:cTn>
                              </p:par>
                            </p:childTnLst>
                          </p:cTn>
                        </p:par>
                      </p:childTnLst>
                    </p:cTn>
                  </p:par>
                  <p:par>
                    <p:cTn id="180" fill="hold">
                      <p:stCondLst>
                        <p:cond delay="indefinite"/>
                      </p:stCondLst>
                      <p:childTnLst>
                        <p:par>
                          <p:cTn id="181" fill="hold">
                            <p:stCondLst>
                              <p:cond delay="0"/>
                            </p:stCondLst>
                            <p:childTnLst>
                              <p:par>
                                <p:cTn id="182" presetID="1" presetClass="entr" presetSubtype="0" fill="hold" grpId="0" nodeType="clickEffect">
                                  <p:stCondLst>
                                    <p:cond delay="0"/>
                                  </p:stCondLst>
                                  <p:childTnLst>
                                    <p:set>
                                      <p:cBhvr>
                                        <p:cTn id="183" dur="1" fill="hold">
                                          <p:stCondLst>
                                            <p:cond delay="0"/>
                                          </p:stCondLst>
                                        </p:cTn>
                                        <p:tgtEl>
                                          <p:spTgt spid="64"/>
                                        </p:tgtEl>
                                        <p:attrNameLst>
                                          <p:attrName>style.visibility</p:attrName>
                                        </p:attrNameLst>
                                      </p:cBhvr>
                                      <p:to>
                                        <p:strVal val="visible"/>
                                      </p:to>
                                    </p:set>
                                  </p:childTnLst>
                                </p:cTn>
                              </p:par>
                            </p:childTnLst>
                          </p:cTn>
                        </p:par>
                      </p:childTnLst>
                    </p:cTn>
                  </p:par>
                  <p:par>
                    <p:cTn id="184" fill="hold">
                      <p:stCondLst>
                        <p:cond delay="indefinite"/>
                      </p:stCondLst>
                      <p:childTnLst>
                        <p:par>
                          <p:cTn id="185" fill="hold">
                            <p:stCondLst>
                              <p:cond delay="0"/>
                            </p:stCondLst>
                            <p:childTnLst>
                              <p:par>
                                <p:cTn id="186" presetID="22" presetClass="entr" presetSubtype="8" fill="hold" nodeType="clickEffect">
                                  <p:stCondLst>
                                    <p:cond delay="0"/>
                                  </p:stCondLst>
                                  <p:childTnLst>
                                    <p:set>
                                      <p:cBhvr>
                                        <p:cTn id="187" dur="1" fill="hold">
                                          <p:stCondLst>
                                            <p:cond delay="0"/>
                                          </p:stCondLst>
                                        </p:cTn>
                                        <p:tgtEl>
                                          <p:spTgt spid="69"/>
                                        </p:tgtEl>
                                        <p:attrNameLst>
                                          <p:attrName>style.visibility</p:attrName>
                                        </p:attrNameLst>
                                      </p:cBhvr>
                                      <p:to>
                                        <p:strVal val="visible"/>
                                      </p:to>
                                    </p:set>
                                    <p:animEffect transition="in" filter="wipe(left)">
                                      <p:cBhvr>
                                        <p:cTn id="188" dur="500"/>
                                        <p:tgtEl>
                                          <p:spTgt spid="69"/>
                                        </p:tgtEl>
                                      </p:cBhvr>
                                    </p:animEffect>
                                  </p:childTnLst>
                                </p:cTn>
                              </p:par>
                            </p:childTnLst>
                          </p:cTn>
                        </p:par>
                      </p:childTnLst>
                    </p:cTn>
                  </p:par>
                  <p:par>
                    <p:cTn id="189" fill="hold">
                      <p:stCondLst>
                        <p:cond delay="indefinite"/>
                      </p:stCondLst>
                      <p:childTnLst>
                        <p:par>
                          <p:cTn id="190" fill="hold">
                            <p:stCondLst>
                              <p:cond delay="0"/>
                            </p:stCondLst>
                            <p:childTnLst>
                              <p:par>
                                <p:cTn id="191" presetID="10" presetClass="entr" presetSubtype="0" fill="hold" grpId="0" nodeType="clickEffect">
                                  <p:stCondLst>
                                    <p:cond delay="0"/>
                                  </p:stCondLst>
                                  <p:childTnLst>
                                    <p:set>
                                      <p:cBhvr>
                                        <p:cTn id="192" dur="1" fill="hold">
                                          <p:stCondLst>
                                            <p:cond delay="0"/>
                                          </p:stCondLst>
                                        </p:cTn>
                                        <p:tgtEl>
                                          <p:spTgt spid="70"/>
                                        </p:tgtEl>
                                        <p:attrNameLst>
                                          <p:attrName>style.visibility</p:attrName>
                                        </p:attrNameLst>
                                      </p:cBhvr>
                                      <p:to>
                                        <p:strVal val="visible"/>
                                      </p:to>
                                    </p:set>
                                    <p:animEffect transition="in" filter="fade">
                                      <p:cBhvr>
                                        <p:cTn id="193"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8" grpId="0"/>
      <p:bldP spid="19" grpId="0"/>
      <p:bldP spid="20" grpId="0"/>
      <p:bldP spid="21" grpId="0"/>
      <p:bldP spid="22" grpId="0"/>
      <p:bldP spid="23" grpId="0"/>
      <p:bldP spid="24" grpId="0"/>
      <p:bldP spid="25" grpId="0"/>
      <p:bldP spid="26" grpId="0"/>
      <p:bldP spid="27" grpId="0"/>
      <p:bldP spid="28" grpId="0" animBg="1"/>
      <p:bldP spid="29" grpId="0" animBg="1"/>
      <p:bldP spid="31" grpId="0"/>
      <p:bldP spid="32" grpId="0"/>
      <p:bldP spid="33" grpId="0" animBg="1"/>
      <p:bldP spid="34" grpId="0" animBg="1"/>
      <p:bldP spid="35" grpId="0" animBg="1"/>
      <p:bldP spid="38" grpId="0"/>
      <p:bldP spid="39" grpId="0"/>
      <p:bldP spid="40" grpId="0"/>
      <p:bldP spid="41" grpId="0" animBg="1"/>
      <p:bldP spid="42" grpId="0" animBg="1"/>
      <p:bldP spid="43" grpId="0" animBg="1"/>
      <p:bldP spid="44" grpId="0" animBg="1"/>
      <p:bldP spid="48" grpId="0"/>
      <p:bldP spid="49" grpId="0"/>
      <p:bldP spid="50" grpId="0"/>
      <p:bldP spid="51" grpId="0"/>
      <p:bldP spid="52" grpId="0" animBg="1"/>
      <p:bldP spid="53" grpId="0" animBg="1"/>
      <p:bldP spid="54" grpId="0" animBg="1"/>
      <p:bldP spid="55" grpId="0" animBg="1"/>
      <p:bldP spid="59" grpId="0"/>
      <p:bldP spid="60" grpId="0"/>
      <p:bldP spid="61" grpId="0"/>
      <p:bldP spid="62" grpId="0" animBg="1"/>
      <p:bldP spid="64" grpId="0"/>
      <p:bldP spid="70"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6096000" y="0"/>
            <a:ext cx="6096000" cy="6588000"/>
          </a:xfrm>
          <a:prstGeom prst="rect">
            <a:avLst/>
          </a:prstGeom>
          <a:gradFill flip="none" rotWithShape="1">
            <a:gsLst>
              <a:gs pos="55000">
                <a:srgbClr val="B21266"/>
              </a:gs>
              <a:gs pos="30000">
                <a:srgbClr val="A3115D">
                  <a:lumMod val="100000"/>
                </a:srgbClr>
              </a:gs>
              <a:gs pos="100000">
                <a:srgbClr val="ED6D9B"/>
              </a:gs>
            </a:gsLst>
            <a:path path="circle">
              <a:fillToRect r="100000" b="100000"/>
            </a:path>
            <a:tileRect l="-100000" t="-100000"/>
          </a:gradFill>
          <a:ln>
            <a:noFill/>
          </a:ln>
        </p:spPr>
        <p:txBody>
          <a:bodyPr vert="horz" wrap="square" lIns="91440" tIns="45720" rIns="91440" bIns="45720" numCol="1" anchor="t" anchorCtr="0" compatLnSpc="1">
            <a:prstTxWarp prst="textNoShape">
              <a:avLst/>
            </a:prstTxWarp>
          </a:bodyPr>
          <a:lstStyle/>
          <a:p>
            <a:pPr algn="just"/>
            <a:endParaRPr lang="en-US" altLang="en-US" sz="2400" dirty="0">
              <a:solidFill>
                <a:schemeClr val="bg1"/>
              </a:solidFill>
            </a:endParaRPr>
          </a:p>
        </p:txBody>
      </p:sp>
      <p:sp>
        <p:nvSpPr>
          <p:cNvPr id="5" name="TextBox 4"/>
          <p:cNvSpPr txBox="1"/>
          <p:nvPr/>
        </p:nvSpPr>
        <p:spPr>
          <a:xfrm>
            <a:off x="-1" y="6976"/>
            <a:ext cx="6217920" cy="738664"/>
          </a:xfrm>
          <a:prstGeom prst="rect">
            <a:avLst/>
          </a:prstGeom>
          <a:noFill/>
        </p:spPr>
        <p:txBody>
          <a:bodyPr wrap="square" lIns="274320" rtlCol="0" anchor="ctr">
            <a:spAutoFit/>
          </a:bodyPr>
          <a:lstStyle/>
          <a:p>
            <a:pPr>
              <a:lnSpc>
                <a:spcPct val="150000"/>
              </a:lnSpc>
            </a:pPr>
            <a:r>
              <a:rPr lang="en-US" sz="2800" dirty="0" err="1"/>
              <a:t>Kruskal’s</a:t>
            </a:r>
            <a:r>
              <a:rPr lang="en-US" sz="2800" dirty="0"/>
              <a:t> Algorithm for MST – Example 2</a:t>
            </a:r>
            <a:endParaRPr lang="en-US" sz="2800" b="1" dirty="0">
              <a:solidFill>
                <a:srgbClr val="424242"/>
              </a:solidFill>
            </a:endParaRPr>
          </a:p>
        </p:txBody>
      </p:sp>
      <p:sp>
        <p:nvSpPr>
          <p:cNvPr id="6" name="Oval 5"/>
          <p:cNvSpPr/>
          <p:nvPr/>
        </p:nvSpPr>
        <p:spPr>
          <a:xfrm>
            <a:off x="685800" y="15109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1</a:t>
            </a:r>
          </a:p>
        </p:txBody>
      </p:sp>
      <p:sp>
        <p:nvSpPr>
          <p:cNvPr id="7" name="Oval 6"/>
          <p:cNvSpPr/>
          <p:nvPr/>
        </p:nvSpPr>
        <p:spPr>
          <a:xfrm>
            <a:off x="2667000" y="15109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2</a:t>
            </a:r>
          </a:p>
        </p:txBody>
      </p:sp>
      <p:sp>
        <p:nvSpPr>
          <p:cNvPr id="8" name="Oval 7"/>
          <p:cNvSpPr/>
          <p:nvPr/>
        </p:nvSpPr>
        <p:spPr>
          <a:xfrm>
            <a:off x="4724400" y="15109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3</a:t>
            </a:r>
          </a:p>
        </p:txBody>
      </p:sp>
      <p:sp>
        <p:nvSpPr>
          <p:cNvPr id="9" name="Oval 8"/>
          <p:cNvSpPr/>
          <p:nvPr/>
        </p:nvSpPr>
        <p:spPr>
          <a:xfrm>
            <a:off x="685800" y="33397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4</a:t>
            </a:r>
          </a:p>
        </p:txBody>
      </p:sp>
      <p:sp>
        <p:nvSpPr>
          <p:cNvPr id="10" name="Oval 9"/>
          <p:cNvSpPr/>
          <p:nvPr/>
        </p:nvSpPr>
        <p:spPr>
          <a:xfrm>
            <a:off x="2743200" y="33397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5</a:t>
            </a:r>
          </a:p>
        </p:txBody>
      </p:sp>
      <p:sp>
        <p:nvSpPr>
          <p:cNvPr id="11" name="Oval 10"/>
          <p:cNvSpPr/>
          <p:nvPr/>
        </p:nvSpPr>
        <p:spPr>
          <a:xfrm>
            <a:off x="4807527" y="33397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6</a:t>
            </a:r>
          </a:p>
        </p:txBody>
      </p:sp>
      <p:sp>
        <p:nvSpPr>
          <p:cNvPr id="12" name="Oval 11"/>
          <p:cNvSpPr/>
          <p:nvPr/>
        </p:nvSpPr>
        <p:spPr>
          <a:xfrm>
            <a:off x="2819400" y="51685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7</a:t>
            </a:r>
          </a:p>
        </p:txBody>
      </p:sp>
      <p:cxnSp>
        <p:nvCxnSpPr>
          <p:cNvPr id="13" name="Straight Connector 12"/>
          <p:cNvCxnSpPr>
            <a:stCxn id="6" idx="6"/>
            <a:endCxn id="7" idx="2"/>
          </p:cNvCxnSpPr>
          <p:nvPr/>
        </p:nvCxnSpPr>
        <p:spPr>
          <a:xfrm>
            <a:off x="1325880" y="1830980"/>
            <a:ext cx="134112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7" idx="6"/>
            <a:endCxn id="8" idx="2"/>
          </p:cNvCxnSpPr>
          <p:nvPr/>
        </p:nvCxnSpPr>
        <p:spPr>
          <a:xfrm>
            <a:off x="3307080" y="1830980"/>
            <a:ext cx="141732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9" idx="6"/>
            <a:endCxn id="10" idx="2"/>
          </p:cNvCxnSpPr>
          <p:nvPr/>
        </p:nvCxnSpPr>
        <p:spPr>
          <a:xfrm>
            <a:off x="1325880" y="3659780"/>
            <a:ext cx="141732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0" idx="6"/>
            <a:endCxn id="11" idx="2"/>
          </p:cNvCxnSpPr>
          <p:nvPr/>
        </p:nvCxnSpPr>
        <p:spPr>
          <a:xfrm>
            <a:off x="3383280" y="3659780"/>
            <a:ext cx="1424247"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6" idx="4"/>
            <a:endCxn id="9" idx="0"/>
          </p:cNvCxnSpPr>
          <p:nvPr/>
        </p:nvCxnSpPr>
        <p:spPr>
          <a:xfrm>
            <a:off x="1005840" y="2151020"/>
            <a:ext cx="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7" idx="4"/>
          </p:cNvCxnSpPr>
          <p:nvPr/>
        </p:nvCxnSpPr>
        <p:spPr>
          <a:xfrm>
            <a:off x="2987040" y="2151020"/>
            <a:ext cx="2286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8" idx="4"/>
          </p:cNvCxnSpPr>
          <p:nvPr/>
        </p:nvCxnSpPr>
        <p:spPr>
          <a:xfrm>
            <a:off x="5044440" y="2151020"/>
            <a:ext cx="2286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9" idx="7"/>
            <a:endCxn id="7" idx="3"/>
          </p:cNvCxnSpPr>
          <p:nvPr/>
        </p:nvCxnSpPr>
        <p:spPr>
          <a:xfrm flipV="1">
            <a:off x="1232142" y="2057282"/>
            <a:ext cx="1528596" cy="1376196"/>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0" idx="7"/>
            <a:endCxn id="8" idx="3"/>
          </p:cNvCxnSpPr>
          <p:nvPr/>
        </p:nvCxnSpPr>
        <p:spPr>
          <a:xfrm flipV="1">
            <a:off x="3289542" y="2057282"/>
            <a:ext cx="1528596" cy="1376196"/>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1" idx="3"/>
            <a:endCxn id="12" idx="6"/>
          </p:cNvCxnSpPr>
          <p:nvPr/>
        </p:nvCxnSpPr>
        <p:spPr>
          <a:xfrm flipH="1">
            <a:off x="3459480" y="3886082"/>
            <a:ext cx="1441785" cy="1602498"/>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9" idx="4"/>
            <a:endCxn id="12" idx="2"/>
          </p:cNvCxnSpPr>
          <p:nvPr/>
        </p:nvCxnSpPr>
        <p:spPr>
          <a:xfrm>
            <a:off x="1005840" y="3979820"/>
            <a:ext cx="1813560" cy="150876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10" idx="4"/>
          </p:cNvCxnSpPr>
          <p:nvPr/>
        </p:nvCxnSpPr>
        <p:spPr>
          <a:xfrm>
            <a:off x="3063240" y="3979820"/>
            <a:ext cx="2286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735874" y="2425340"/>
            <a:ext cx="361950" cy="461665"/>
          </a:xfrm>
          <a:prstGeom prst="rect">
            <a:avLst/>
          </a:prstGeom>
          <a:noFill/>
        </p:spPr>
        <p:txBody>
          <a:bodyPr wrap="square" rtlCol="0">
            <a:spAutoFit/>
          </a:bodyPr>
          <a:lstStyle/>
          <a:p>
            <a:r>
              <a:rPr lang="en-US" sz="2400" dirty="0">
                <a:solidFill>
                  <a:srgbClr val="AD1457"/>
                </a:solidFill>
              </a:rPr>
              <a:t>4</a:t>
            </a:r>
          </a:p>
        </p:txBody>
      </p:sp>
      <p:sp>
        <p:nvSpPr>
          <p:cNvPr id="26" name="TextBox 25"/>
          <p:cNvSpPr txBox="1"/>
          <p:nvPr/>
        </p:nvSpPr>
        <p:spPr>
          <a:xfrm>
            <a:off x="2076450" y="2497075"/>
            <a:ext cx="361950" cy="461665"/>
          </a:xfrm>
          <a:prstGeom prst="rect">
            <a:avLst/>
          </a:prstGeom>
          <a:noFill/>
        </p:spPr>
        <p:txBody>
          <a:bodyPr wrap="square" rtlCol="0">
            <a:spAutoFit/>
          </a:bodyPr>
          <a:lstStyle/>
          <a:p>
            <a:r>
              <a:rPr lang="en-US" sz="2400" dirty="0">
                <a:solidFill>
                  <a:srgbClr val="AD1457"/>
                </a:solidFill>
              </a:rPr>
              <a:t>6</a:t>
            </a:r>
          </a:p>
        </p:txBody>
      </p:sp>
      <p:sp>
        <p:nvSpPr>
          <p:cNvPr id="27" name="TextBox 26"/>
          <p:cNvSpPr txBox="1"/>
          <p:nvPr/>
        </p:nvSpPr>
        <p:spPr>
          <a:xfrm>
            <a:off x="2990850" y="2494843"/>
            <a:ext cx="361950" cy="461665"/>
          </a:xfrm>
          <a:prstGeom prst="rect">
            <a:avLst/>
          </a:prstGeom>
          <a:noFill/>
        </p:spPr>
        <p:txBody>
          <a:bodyPr wrap="square" rtlCol="0">
            <a:spAutoFit/>
          </a:bodyPr>
          <a:lstStyle/>
          <a:p>
            <a:r>
              <a:rPr lang="en-US" sz="2400" dirty="0">
                <a:solidFill>
                  <a:srgbClr val="AD1457"/>
                </a:solidFill>
              </a:rPr>
              <a:t>4</a:t>
            </a:r>
          </a:p>
        </p:txBody>
      </p:sp>
      <p:sp>
        <p:nvSpPr>
          <p:cNvPr id="28" name="TextBox 27"/>
          <p:cNvSpPr txBox="1"/>
          <p:nvPr/>
        </p:nvSpPr>
        <p:spPr>
          <a:xfrm>
            <a:off x="4114800" y="2497075"/>
            <a:ext cx="361950" cy="461665"/>
          </a:xfrm>
          <a:prstGeom prst="rect">
            <a:avLst/>
          </a:prstGeom>
          <a:noFill/>
        </p:spPr>
        <p:txBody>
          <a:bodyPr wrap="square" rtlCol="0">
            <a:spAutoFit/>
          </a:bodyPr>
          <a:lstStyle/>
          <a:p>
            <a:r>
              <a:rPr lang="en-US" sz="2400" dirty="0">
                <a:solidFill>
                  <a:srgbClr val="AD1457"/>
                </a:solidFill>
              </a:rPr>
              <a:t>5</a:t>
            </a:r>
          </a:p>
        </p:txBody>
      </p:sp>
      <p:sp>
        <p:nvSpPr>
          <p:cNvPr id="29" name="TextBox 28"/>
          <p:cNvSpPr txBox="1"/>
          <p:nvPr/>
        </p:nvSpPr>
        <p:spPr>
          <a:xfrm>
            <a:off x="4982935" y="2420875"/>
            <a:ext cx="361950" cy="461665"/>
          </a:xfrm>
          <a:prstGeom prst="rect">
            <a:avLst/>
          </a:prstGeom>
          <a:noFill/>
        </p:spPr>
        <p:txBody>
          <a:bodyPr wrap="square" rtlCol="0">
            <a:spAutoFit/>
          </a:bodyPr>
          <a:lstStyle/>
          <a:p>
            <a:r>
              <a:rPr lang="en-US" sz="2400" dirty="0">
                <a:solidFill>
                  <a:srgbClr val="AD1457"/>
                </a:solidFill>
              </a:rPr>
              <a:t>6</a:t>
            </a:r>
          </a:p>
        </p:txBody>
      </p:sp>
      <p:sp>
        <p:nvSpPr>
          <p:cNvPr id="30" name="TextBox 29"/>
          <p:cNvSpPr txBox="1"/>
          <p:nvPr/>
        </p:nvSpPr>
        <p:spPr>
          <a:xfrm>
            <a:off x="2057400" y="3568340"/>
            <a:ext cx="361950" cy="461665"/>
          </a:xfrm>
          <a:prstGeom prst="rect">
            <a:avLst/>
          </a:prstGeom>
          <a:noFill/>
        </p:spPr>
        <p:txBody>
          <a:bodyPr wrap="square" rtlCol="0">
            <a:spAutoFit/>
          </a:bodyPr>
          <a:lstStyle/>
          <a:p>
            <a:r>
              <a:rPr lang="en-US" sz="2400" dirty="0">
                <a:solidFill>
                  <a:srgbClr val="AD1457"/>
                </a:solidFill>
              </a:rPr>
              <a:t>3</a:t>
            </a:r>
          </a:p>
        </p:txBody>
      </p:sp>
      <p:sp>
        <p:nvSpPr>
          <p:cNvPr id="31" name="TextBox 30"/>
          <p:cNvSpPr txBox="1"/>
          <p:nvPr/>
        </p:nvSpPr>
        <p:spPr>
          <a:xfrm>
            <a:off x="3981450" y="3568340"/>
            <a:ext cx="361950" cy="461665"/>
          </a:xfrm>
          <a:prstGeom prst="rect">
            <a:avLst/>
          </a:prstGeom>
          <a:noFill/>
        </p:spPr>
        <p:txBody>
          <a:bodyPr wrap="square" rtlCol="0">
            <a:spAutoFit/>
          </a:bodyPr>
          <a:lstStyle/>
          <a:p>
            <a:r>
              <a:rPr lang="en-US" sz="2400" dirty="0">
                <a:solidFill>
                  <a:srgbClr val="AD1457"/>
                </a:solidFill>
              </a:rPr>
              <a:t>8</a:t>
            </a:r>
          </a:p>
        </p:txBody>
      </p:sp>
      <p:sp>
        <p:nvSpPr>
          <p:cNvPr id="32" name="TextBox 31"/>
          <p:cNvSpPr txBox="1"/>
          <p:nvPr/>
        </p:nvSpPr>
        <p:spPr>
          <a:xfrm>
            <a:off x="1600200" y="4554475"/>
            <a:ext cx="361950" cy="461665"/>
          </a:xfrm>
          <a:prstGeom prst="rect">
            <a:avLst/>
          </a:prstGeom>
          <a:noFill/>
        </p:spPr>
        <p:txBody>
          <a:bodyPr wrap="square" rtlCol="0">
            <a:spAutoFit/>
          </a:bodyPr>
          <a:lstStyle/>
          <a:p>
            <a:r>
              <a:rPr lang="en-US" sz="2400" dirty="0">
                <a:solidFill>
                  <a:srgbClr val="AD1457"/>
                </a:solidFill>
              </a:rPr>
              <a:t>4</a:t>
            </a:r>
          </a:p>
        </p:txBody>
      </p:sp>
      <p:sp>
        <p:nvSpPr>
          <p:cNvPr id="33" name="TextBox 32"/>
          <p:cNvSpPr txBox="1"/>
          <p:nvPr/>
        </p:nvSpPr>
        <p:spPr>
          <a:xfrm>
            <a:off x="3067050" y="4249675"/>
            <a:ext cx="361950" cy="461665"/>
          </a:xfrm>
          <a:prstGeom prst="rect">
            <a:avLst/>
          </a:prstGeom>
          <a:noFill/>
        </p:spPr>
        <p:txBody>
          <a:bodyPr wrap="square" rtlCol="0">
            <a:spAutoFit/>
          </a:bodyPr>
          <a:lstStyle/>
          <a:p>
            <a:r>
              <a:rPr lang="en-US" sz="2400" dirty="0">
                <a:solidFill>
                  <a:srgbClr val="AD1457"/>
                </a:solidFill>
              </a:rPr>
              <a:t>7</a:t>
            </a:r>
          </a:p>
        </p:txBody>
      </p:sp>
      <p:sp>
        <p:nvSpPr>
          <p:cNvPr id="34" name="TextBox 33"/>
          <p:cNvSpPr txBox="1"/>
          <p:nvPr/>
        </p:nvSpPr>
        <p:spPr>
          <a:xfrm>
            <a:off x="4191000" y="4482740"/>
            <a:ext cx="361950" cy="461665"/>
          </a:xfrm>
          <a:prstGeom prst="rect">
            <a:avLst/>
          </a:prstGeom>
          <a:noFill/>
        </p:spPr>
        <p:txBody>
          <a:bodyPr wrap="square" rtlCol="0">
            <a:spAutoFit/>
          </a:bodyPr>
          <a:lstStyle/>
          <a:p>
            <a:r>
              <a:rPr lang="en-US" sz="2400" dirty="0">
                <a:solidFill>
                  <a:srgbClr val="AD1457"/>
                </a:solidFill>
              </a:rPr>
              <a:t>3</a:t>
            </a:r>
          </a:p>
        </p:txBody>
      </p:sp>
      <p:sp>
        <p:nvSpPr>
          <p:cNvPr id="35" name="TextBox 34"/>
          <p:cNvSpPr txBox="1"/>
          <p:nvPr/>
        </p:nvSpPr>
        <p:spPr>
          <a:xfrm>
            <a:off x="1924050" y="1434740"/>
            <a:ext cx="361950" cy="461665"/>
          </a:xfrm>
          <a:prstGeom prst="rect">
            <a:avLst/>
          </a:prstGeom>
          <a:noFill/>
        </p:spPr>
        <p:txBody>
          <a:bodyPr wrap="square" rtlCol="0">
            <a:spAutoFit/>
          </a:bodyPr>
          <a:lstStyle/>
          <a:p>
            <a:r>
              <a:rPr lang="en-US" sz="2400" dirty="0">
                <a:solidFill>
                  <a:srgbClr val="AD1457"/>
                </a:solidFill>
              </a:rPr>
              <a:t>1</a:t>
            </a:r>
          </a:p>
        </p:txBody>
      </p:sp>
      <p:sp>
        <p:nvSpPr>
          <p:cNvPr id="36" name="TextBox 35"/>
          <p:cNvSpPr txBox="1"/>
          <p:nvPr/>
        </p:nvSpPr>
        <p:spPr>
          <a:xfrm>
            <a:off x="3905250" y="1430275"/>
            <a:ext cx="361950" cy="461665"/>
          </a:xfrm>
          <a:prstGeom prst="rect">
            <a:avLst/>
          </a:prstGeom>
          <a:noFill/>
        </p:spPr>
        <p:txBody>
          <a:bodyPr wrap="square" rtlCol="0">
            <a:spAutoFit/>
          </a:bodyPr>
          <a:lstStyle/>
          <a:p>
            <a:r>
              <a:rPr lang="en-US" sz="2400" dirty="0">
                <a:solidFill>
                  <a:srgbClr val="AD1457"/>
                </a:solidFill>
              </a:rPr>
              <a:t>2</a:t>
            </a:r>
          </a:p>
        </p:txBody>
      </p:sp>
      <p:sp>
        <p:nvSpPr>
          <p:cNvPr id="37" name="TextBox 36"/>
          <p:cNvSpPr txBox="1"/>
          <p:nvPr/>
        </p:nvSpPr>
        <p:spPr>
          <a:xfrm>
            <a:off x="6107974" y="0"/>
            <a:ext cx="859594" cy="400110"/>
          </a:xfrm>
          <a:prstGeom prst="rect">
            <a:avLst/>
          </a:prstGeom>
          <a:noFill/>
          <a:ln w="28575">
            <a:solidFill>
              <a:schemeClr val="accent5"/>
            </a:solidFill>
          </a:ln>
        </p:spPr>
        <p:txBody>
          <a:bodyPr wrap="none" rtlCol="0">
            <a:spAutoFit/>
          </a:bodyPr>
          <a:lstStyle/>
          <a:p>
            <a:r>
              <a:rPr lang="en-IN" sz="2000" b="1" dirty="0">
                <a:solidFill>
                  <a:schemeClr val="bg1"/>
                </a:solidFill>
              </a:rPr>
              <a:t>Step:1</a:t>
            </a:r>
            <a:endParaRPr lang="en-US" sz="2000" b="1" dirty="0">
              <a:solidFill>
                <a:schemeClr val="bg1"/>
              </a:solidFill>
            </a:endParaRPr>
          </a:p>
        </p:txBody>
      </p:sp>
      <p:sp>
        <p:nvSpPr>
          <p:cNvPr id="38" name="TextBox 37"/>
          <p:cNvSpPr txBox="1"/>
          <p:nvPr/>
        </p:nvSpPr>
        <p:spPr>
          <a:xfrm>
            <a:off x="6094911" y="418597"/>
            <a:ext cx="5829300" cy="430887"/>
          </a:xfrm>
          <a:prstGeom prst="rect">
            <a:avLst/>
          </a:prstGeom>
          <a:noFill/>
        </p:spPr>
        <p:txBody>
          <a:bodyPr wrap="square" rtlCol="0">
            <a:spAutoFit/>
          </a:bodyPr>
          <a:lstStyle/>
          <a:p>
            <a:pPr algn="ctr"/>
            <a:r>
              <a:rPr lang="en-US" sz="2200" b="1" dirty="0">
                <a:solidFill>
                  <a:schemeClr val="accent5"/>
                </a:solidFill>
              </a:rPr>
              <a:t>Sort the edges in increasing order of their weight.</a:t>
            </a:r>
          </a:p>
        </p:txBody>
      </p:sp>
      <p:graphicFrame>
        <p:nvGraphicFramePr>
          <p:cNvPr id="39" name="Table 38"/>
          <p:cNvGraphicFramePr>
            <a:graphicFrameLocks noGrp="1"/>
          </p:cNvGraphicFramePr>
          <p:nvPr>
            <p:extLst>
              <p:ext uri="{D42A27DB-BD31-4B8C-83A1-F6EECF244321}">
                <p14:modId xmlns:p14="http://schemas.microsoft.com/office/powerpoint/2010/main" val="3586740246"/>
              </p:ext>
            </p:extLst>
          </p:nvPr>
        </p:nvGraphicFramePr>
        <p:xfrm>
          <a:off x="7747363" y="1023737"/>
          <a:ext cx="2638567" cy="5429312"/>
        </p:xfrm>
        <a:graphic>
          <a:graphicData uri="http://schemas.openxmlformats.org/drawingml/2006/table">
            <a:tbl>
              <a:tblPr firstRow="1" bandRow="1">
                <a:tableStyleId>{5C22544A-7EE6-4342-B048-85BDC9FD1C3A}</a:tableStyleId>
              </a:tblPr>
              <a:tblGrid>
                <a:gridCol w="952500">
                  <a:extLst>
                    <a:ext uri="{9D8B030D-6E8A-4147-A177-3AD203B41FA5}">
                      <a16:colId xmlns:a16="http://schemas.microsoft.com/office/drawing/2014/main" val="1582560717"/>
                    </a:ext>
                  </a:extLst>
                </a:gridCol>
                <a:gridCol w="1088046">
                  <a:extLst>
                    <a:ext uri="{9D8B030D-6E8A-4147-A177-3AD203B41FA5}">
                      <a16:colId xmlns:a16="http://schemas.microsoft.com/office/drawing/2014/main" val="511824500"/>
                    </a:ext>
                  </a:extLst>
                </a:gridCol>
                <a:gridCol w="598021">
                  <a:extLst>
                    <a:ext uri="{9D8B030D-6E8A-4147-A177-3AD203B41FA5}">
                      <a16:colId xmlns:a16="http://schemas.microsoft.com/office/drawing/2014/main" val="3593019890"/>
                    </a:ext>
                  </a:extLst>
                </a:gridCol>
              </a:tblGrid>
              <a:tr h="392804">
                <a:tc>
                  <a:txBody>
                    <a:bodyPr/>
                    <a:lstStyle/>
                    <a:p>
                      <a:pPr algn="ctr"/>
                      <a:r>
                        <a:rPr lang="en-US" dirty="0">
                          <a:solidFill>
                            <a:schemeClr val="accent2">
                              <a:lumMod val="60000"/>
                              <a:lumOff val="40000"/>
                            </a:schemeClr>
                          </a:solidFill>
                        </a:rPr>
                        <a:t>Edges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accent2">
                              <a:lumMod val="60000"/>
                              <a:lumOff val="40000"/>
                            </a:schemeClr>
                          </a:solidFill>
                        </a:rPr>
                        <a:t>Weight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6574443"/>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{1, 2}</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rPr>
                        <a:t>1</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604744"/>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{2, 3}</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2</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7217928"/>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{4, 5}</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3</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4933460"/>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{6, 7}</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3</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772278"/>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{1, 4}</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4</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955693"/>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{2,</a:t>
                      </a:r>
                      <a:r>
                        <a:rPr lang="en-US" sz="2000" b="1" baseline="0" dirty="0">
                          <a:solidFill>
                            <a:schemeClr val="accent3"/>
                          </a:solidFill>
                          <a:latin typeface="+mn-lt"/>
                          <a:ea typeface="Times New Roman" panose="02020603050405020304" pitchFamily="18" charset="0"/>
                          <a:cs typeface="Times New Roman" panose="02020603050405020304" pitchFamily="18" charset="0"/>
                        </a:rPr>
                        <a:t> </a:t>
                      </a:r>
                      <a:r>
                        <a:rPr lang="en-US" sz="2000" b="1" dirty="0">
                          <a:solidFill>
                            <a:schemeClr val="accent3"/>
                          </a:solidFill>
                          <a:latin typeface="+mn-lt"/>
                          <a:ea typeface="Times New Roman" panose="02020603050405020304" pitchFamily="18" charset="0"/>
                          <a:cs typeface="Times New Roman" panose="02020603050405020304" pitchFamily="18" charset="0"/>
                        </a:rPr>
                        <a:t>5}</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4</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8600405"/>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{4, 7}</a:t>
                      </a:r>
                      <a:r>
                        <a:rPr lang="en-US" sz="2000" b="1" baseline="0" dirty="0">
                          <a:solidFill>
                            <a:schemeClr val="accent3"/>
                          </a:solidFill>
                          <a:latin typeface="+mn-lt"/>
                          <a:ea typeface="Times New Roman" panose="02020603050405020304" pitchFamily="18" charset="0"/>
                          <a:cs typeface="Times New Roman" panose="02020603050405020304" pitchFamily="18" charset="0"/>
                        </a:rPr>
                        <a:t> </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4</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4576407"/>
                  </a:ext>
                </a:extLst>
              </a:tr>
              <a:tr h="41970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{3, 5)</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5</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7516510"/>
                  </a:ext>
                </a:extLst>
              </a:tr>
              <a:tr h="41970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{2, 4} </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6</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3537154"/>
                  </a:ext>
                </a:extLst>
              </a:tr>
              <a:tr h="41970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{3, 6} </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6</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5540063"/>
                  </a:ext>
                </a:extLst>
              </a:tr>
              <a:tr h="41970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{5, 7} </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7</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2767037"/>
                  </a:ext>
                </a:extLst>
              </a:tr>
              <a:tr h="41970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{5, 6}</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8</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1878199"/>
                  </a:ext>
                </a:extLst>
              </a:tr>
            </a:tbl>
          </a:graphicData>
        </a:graphic>
      </p:graphicFrame>
    </p:spTree>
    <p:extLst>
      <p:ext uri="{BB962C8B-B14F-4D97-AF65-F5344CB8AC3E}">
        <p14:creationId xmlns:p14="http://schemas.microsoft.com/office/powerpoint/2010/main" val="350710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5"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vertical)">
                                      <p:cBhvr>
                                        <p:cTn id="12" dur="1000"/>
                                        <p:tgtEl>
                                          <p:spTgt spid="6"/>
                                        </p:tgtEl>
                                      </p:cBhvr>
                                    </p:animEffect>
                                  </p:childTnLst>
                                </p:cTn>
                              </p:par>
                              <p:par>
                                <p:cTn id="13" presetID="14" presetClass="entr" presetSubtype="5"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randombar(vertical)">
                                      <p:cBhvr>
                                        <p:cTn id="15" dur="1000"/>
                                        <p:tgtEl>
                                          <p:spTgt spid="7"/>
                                        </p:tgtEl>
                                      </p:cBhvr>
                                    </p:animEffect>
                                  </p:childTnLst>
                                </p:cTn>
                              </p:par>
                              <p:par>
                                <p:cTn id="16" presetID="14" presetClass="entr" presetSubtype="5"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randombar(vertical)">
                                      <p:cBhvr>
                                        <p:cTn id="18" dur="1000"/>
                                        <p:tgtEl>
                                          <p:spTgt spid="8"/>
                                        </p:tgtEl>
                                      </p:cBhvr>
                                    </p:animEffect>
                                  </p:childTnLst>
                                </p:cTn>
                              </p:par>
                              <p:par>
                                <p:cTn id="19" presetID="14" presetClass="entr" presetSubtype="5"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randombar(vertical)">
                                      <p:cBhvr>
                                        <p:cTn id="21" dur="1000"/>
                                        <p:tgtEl>
                                          <p:spTgt spid="9"/>
                                        </p:tgtEl>
                                      </p:cBhvr>
                                    </p:animEffect>
                                  </p:childTnLst>
                                </p:cTn>
                              </p:par>
                              <p:par>
                                <p:cTn id="22" presetID="14" presetClass="entr" presetSubtype="5"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randombar(vertical)">
                                      <p:cBhvr>
                                        <p:cTn id="24" dur="1000"/>
                                        <p:tgtEl>
                                          <p:spTgt spid="10"/>
                                        </p:tgtEl>
                                      </p:cBhvr>
                                    </p:animEffect>
                                  </p:childTnLst>
                                </p:cTn>
                              </p:par>
                              <p:par>
                                <p:cTn id="25" presetID="14" presetClass="entr" presetSubtype="5"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randombar(vertical)">
                                      <p:cBhvr>
                                        <p:cTn id="27" dur="1000"/>
                                        <p:tgtEl>
                                          <p:spTgt spid="11"/>
                                        </p:tgtEl>
                                      </p:cBhvr>
                                    </p:animEffect>
                                  </p:childTnLst>
                                </p:cTn>
                              </p:par>
                              <p:par>
                                <p:cTn id="28" presetID="14" presetClass="entr" presetSubtype="5"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randombar(vertical)">
                                      <p:cBhvr>
                                        <p:cTn id="30" dur="10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5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5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par>
                                <p:cTn id="60" presetID="10" presetClass="entr" presetSubtype="0" fill="hold"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par>
                                <p:cTn id="63" presetID="10" presetClass="entr" presetSubtype="0" fill="hold" nodeType="withEffect">
                                  <p:stCondLst>
                                    <p:cond delay="0"/>
                                  </p:stCondLst>
                                  <p:childTnLst>
                                    <p:set>
                                      <p:cBhvr>
                                        <p:cTn id="64" dur="1" fill="hold">
                                          <p:stCondLst>
                                            <p:cond delay="0"/>
                                          </p:stCondLst>
                                        </p:cTn>
                                        <p:tgtEl>
                                          <p:spTgt spid="15"/>
                                        </p:tgtEl>
                                        <p:attrNameLst>
                                          <p:attrName>style.visibility</p:attrName>
                                        </p:attrNameLst>
                                      </p:cBhvr>
                                      <p:to>
                                        <p:strVal val="visible"/>
                                      </p:to>
                                    </p:set>
                                    <p:animEffect transition="in" filter="fade">
                                      <p:cBhvr>
                                        <p:cTn id="65" dur="500"/>
                                        <p:tgtEl>
                                          <p:spTgt spid="15"/>
                                        </p:tgtEl>
                                      </p:cBhvr>
                                    </p:animEffect>
                                  </p:childTnLst>
                                </p:cTn>
                              </p:par>
                              <p:par>
                                <p:cTn id="66" presetID="10" presetClass="entr" presetSubtype="0" fill="hold" nodeType="with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500"/>
                                        <p:tgtEl>
                                          <p:spTgt spid="1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00"/>
                                        <p:tgtEl>
                                          <p:spTgt spid="2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00"/>
                                        <p:tgtEl>
                                          <p:spTgt spid="2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500"/>
                                        <p:tgtEl>
                                          <p:spTgt spid="2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500"/>
                                        <p:tgtEl>
                                          <p:spTgt spid="2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500"/>
                                        <p:tgtEl>
                                          <p:spTgt spid="2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500"/>
                                        <p:tgtEl>
                                          <p:spTgt spid="3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500"/>
                                        <p:tgtEl>
                                          <p:spTgt spid="3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500"/>
                                        <p:tgtEl>
                                          <p:spTgt spid="3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fade">
                                      <p:cBhvr>
                                        <p:cTn id="95" dur="500"/>
                                        <p:tgtEl>
                                          <p:spTgt spid="33"/>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4"/>
                                        </p:tgtEl>
                                        <p:attrNameLst>
                                          <p:attrName>style.visibility</p:attrName>
                                        </p:attrNameLst>
                                      </p:cBhvr>
                                      <p:to>
                                        <p:strVal val="visible"/>
                                      </p:to>
                                    </p:set>
                                    <p:animEffect transition="in" filter="fade">
                                      <p:cBhvr>
                                        <p:cTn id="98" dur="500"/>
                                        <p:tgtEl>
                                          <p:spTgt spid="3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fade">
                                      <p:cBhvr>
                                        <p:cTn id="101" dur="500"/>
                                        <p:tgtEl>
                                          <p:spTgt spid="3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500"/>
                                        <p:tgtEl>
                                          <p:spTgt spid="36"/>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37"/>
                                        </p:tgtEl>
                                        <p:attrNameLst>
                                          <p:attrName>style.visibility</p:attrName>
                                        </p:attrNameLst>
                                      </p:cBhvr>
                                      <p:to>
                                        <p:strVal val="visible"/>
                                      </p:to>
                                    </p:set>
                                    <p:animEffect transition="in" filter="fade">
                                      <p:cBhvr>
                                        <p:cTn id="109" dur="500"/>
                                        <p:tgtEl>
                                          <p:spTgt spid="37"/>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8"/>
                                        </p:tgtEl>
                                        <p:attrNameLst>
                                          <p:attrName>style.visibility</p:attrName>
                                        </p:attrNameLst>
                                      </p:cBhvr>
                                      <p:to>
                                        <p:strVal val="visible"/>
                                      </p:to>
                                    </p:set>
                                    <p:animEffect transition="in" filter="fade">
                                      <p:cBhvr>
                                        <p:cTn id="112" dur="500"/>
                                        <p:tgtEl>
                                          <p:spTgt spid="38"/>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1" fill="hold" nodeType="clickEffect">
                                  <p:stCondLst>
                                    <p:cond delay="0"/>
                                  </p:stCondLst>
                                  <p:childTnLst>
                                    <p:set>
                                      <p:cBhvr>
                                        <p:cTn id="116" dur="1" fill="hold">
                                          <p:stCondLst>
                                            <p:cond delay="0"/>
                                          </p:stCondLst>
                                        </p:cTn>
                                        <p:tgtEl>
                                          <p:spTgt spid="39"/>
                                        </p:tgtEl>
                                        <p:attrNameLst>
                                          <p:attrName>style.visibility</p:attrName>
                                        </p:attrNameLst>
                                      </p:cBhvr>
                                      <p:to>
                                        <p:strVal val="visible"/>
                                      </p:to>
                                    </p:set>
                                    <p:animEffect transition="in" filter="wipe(up)">
                                      <p:cBhvr>
                                        <p:cTn id="117" dur="3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25" grpId="0"/>
      <p:bldP spid="26" grpId="0"/>
      <p:bldP spid="27" grpId="0"/>
      <p:bldP spid="28" grpId="0"/>
      <p:bldP spid="29" grpId="0"/>
      <p:bldP spid="30" grpId="0"/>
      <p:bldP spid="31" grpId="0"/>
      <p:bldP spid="32" grpId="0"/>
      <p:bldP spid="33" grpId="0"/>
      <p:bldP spid="34" grpId="0"/>
      <p:bldP spid="35" grpId="0"/>
      <p:bldP spid="36" grpId="0"/>
      <p:bldP spid="37" grpId="0" animBg="1"/>
      <p:bldP spid="38"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6096000" y="0"/>
            <a:ext cx="6096000" cy="6588000"/>
          </a:xfrm>
          <a:prstGeom prst="rect">
            <a:avLst/>
          </a:prstGeom>
          <a:gradFill flip="none" rotWithShape="1">
            <a:gsLst>
              <a:gs pos="55000">
                <a:srgbClr val="B21266"/>
              </a:gs>
              <a:gs pos="30000">
                <a:srgbClr val="A3115D">
                  <a:lumMod val="100000"/>
                </a:srgbClr>
              </a:gs>
              <a:gs pos="100000">
                <a:srgbClr val="ED6D9B"/>
              </a:gs>
            </a:gsLst>
            <a:path path="circle">
              <a:fillToRect r="100000" b="100000"/>
            </a:path>
            <a:tileRect l="-100000" t="-100000"/>
          </a:gradFill>
          <a:ln>
            <a:noFill/>
          </a:ln>
        </p:spPr>
        <p:txBody>
          <a:bodyPr vert="horz" wrap="square" lIns="91440" tIns="45720" rIns="91440" bIns="45720" numCol="1" anchor="t" anchorCtr="0" compatLnSpc="1">
            <a:prstTxWarp prst="textNoShape">
              <a:avLst/>
            </a:prstTxWarp>
          </a:bodyPr>
          <a:lstStyle/>
          <a:p>
            <a:pPr algn="just"/>
            <a:endParaRPr lang="en-US" altLang="en-US" sz="2400" dirty="0">
              <a:solidFill>
                <a:schemeClr val="bg1"/>
              </a:solidFill>
            </a:endParaRPr>
          </a:p>
        </p:txBody>
      </p:sp>
      <p:sp>
        <p:nvSpPr>
          <p:cNvPr id="5" name="TextBox 4"/>
          <p:cNvSpPr txBox="1"/>
          <p:nvPr/>
        </p:nvSpPr>
        <p:spPr>
          <a:xfrm>
            <a:off x="-1" y="6976"/>
            <a:ext cx="6217920" cy="738664"/>
          </a:xfrm>
          <a:prstGeom prst="rect">
            <a:avLst/>
          </a:prstGeom>
          <a:noFill/>
        </p:spPr>
        <p:txBody>
          <a:bodyPr wrap="square" lIns="274320" rtlCol="0" anchor="ctr">
            <a:spAutoFit/>
          </a:bodyPr>
          <a:lstStyle/>
          <a:p>
            <a:pPr>
              <a:lnSpc>
                <a:spcPct val="150000"/>
              </a:lnSpc>
            </a:pPr>
            <a:r>
              <a:rPr lang="en-US" sz="2800" dirty="0" err="1"/>
              <a:t>Kruskal’s</a:t>
            </a:r>
            <a:r>
              <a:rPr lang="en-US" sz="2800" dirty="0"/>
              <a:t> Algorithm for MST – Example 2</a:t>
            </a:r>
            <a:endParaRPr lang="en-US" sz="2800" b="1" dirty="0">
              <a:solidFill>
                <a:srgbClr val="424242"/>
              </a:solidFill>
            </a:endParaRPr>
          </a:p>
        </p:txBody>
      </p:sp>
      <p:sp>
        <p:nvSpPr>
          <p:cNvPr id="6" name="Oval 5"/>
          <p:cNvSpPr/>
          <p:nvPr/>
        </p:nvSpPr>
        <p:spPr>
          <a:xfrm>
            <a:off x="685800" y="15109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1</a:t>
            </a:r>
          </a:p>
        </p:txBody>
      </p:sp>
      <p:sp>
        <p:nvSpPr>
          <p:cNvPr id="7" name="Oval 6"/>
          <p:cNvSpPr/>
          <p:nvPr/>
        </p:nvSpPr>
        <p:spPr>
          <a:xfrm>
            <a:off x="2667000" y="15109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2</a:t>
            </a:r>
          </a:p>
        </p:txBody>
      </p:sp>
      <p:sp>
        <p:nvSpPr>
          <p:cNvPr id="8" name="Oval 7"/>
          <p:cNvSpPr/>
          <p:nvPr/>
        </p:nvSpPr>
        <p:spPr>
          <a:xfrm>
            <a:off x="4724400" y="15109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3</a:t>
            </a:r>
          </a:p>
        </p:txBody>
      </p:sp>
      <p:sp>
        <p:nvSpPr>
          <p:cNvPr id="9" name="Oval 8"/>
          <p:cNvSpPr/>
          <p:nvPr/>
        </p:nvSpPr>
        <p:spPr>
          <a:xfrm>
            <a:off x="685800" y="33397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4</a:t>
            </a:r>
          </a:p>
        </p:txBody>
      </p:sp>
      <p:sp>
        <p:nvSpPr>
          <p:cNvPr id="10" name="Oval 9"/>
          <p:cNvSpPr/>
          <p:nvPr/>
        </p:nvSpPr>
        <p:spPr>
          <a:xfrm>
            <a:off x="2743200" y="33397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5</a:t>
            </a:r>
          </a:p>
        </p:txBody>
      </p:sp>
      <p:sp>
        <p:nvSpPr>
          <p:cNvPr id="11" name="Oval 10"/>
          <p:cNvSpPr/>
          <p:nvPr/>
        </p:nvSpPr>
        <p:spPr>
          <a:xfrm>
            <a:off x="4807527" y="33397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6</a:t>
            </a:r>
          </a:p>
        </p:txBody>
      </p:sp>
      <p:sp>
        <p:nvSpPr>
          <p:cNvPr id="12" name="Oval 11"/>
          <p:cNvSpPr/>
          <p:nvPr/>
        </p:nvSpPr>
        <p:spPr>
          <a:xfrm>
            <a:off x="2819400" y="51685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7</a:t>
            </a:r>
          </a:p>
        </p:txBody>
      </p:sp>
      <p:cxnSp>
        <p:nvCxnSpPr>
          <p:cNvPr id="13" name="Straight Connector 12"/>
          <p:cNvCxnSpPr>
            <a:stCxn id="6" idx="6"/>
            <a:endCxn id="7" idx="2"/>
          </p:cNvCxnSpPr>
          <p:nvPr/>
        </p:nvCxnSpPr>
        <p:spPr>
          <a:xfrm>
            <a:off x="1325880" y="1830980"/>
            <a:ext cx="134112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7" idx="6"/>
            <a:endCxn id="8" idx="2"/>
          </p:cNvCxnSpPr>
          <p:nvPr/>
        </p:nvCxnSpPr>
        <p:spPr>
          <a:xfrm>
            <a:off x="3307080" y="1830980"/>
            <a:ext cx="141732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9" idx="6"/>
            <a:endCxn id="10" idx="2"/>
          </p:cNvCxnSpPr>
          <p:nvPr/>
        </p:nvCxnSpPr>
        <p:spPr>
          <a:xfrm>
            <a:off x="1325880" y="3659780"/>
            <a:ext cx="141732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0" idx="6"/>
            <a:endCxn id="11" idx="2"/>
          </p:cNvCxnSpPr>
          <p:nvPr/>
        </p:nvCxnSpPr>
        <p:spPr>
          <a:xfrm>
            <a:off x="3383280" y="3659780"/>
            <a:ext cx="1424247"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6" idx="4"/>
            <a:endCxn id="9" idx="0"/>
          </p:cNvCxnSpPr>
          <p:nvPr/>
        </p:nvCxnSpPr>
        <p:spPr>
          <a:xfrm>
            <a:off x="1005840" y="2151020"/>
            <a:ext cx="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7" idx="4"/>
          </p:cNvCxnSpPr>
          <p:nvPr/>
        </p:nvCxnSpPr>
        <p:spPr>
          <a:xfrm>
            <a:off x="2987040" y="2151020"/>
            <a:ext cx="2286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8" idx="4"/>
          </p:cNvCxnSpPr>
          <p:nvPr/>
        </p:nvCxnSpPr>
        <p:spPr>
          <a:xfrm>
            <a:off x="5044440" y="2151020"/>
            <a:ext cx="2286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9" idx="7"/>
            <a:endCxn id="7" idx="3"/>
          </p:cNvCxnSpPr>
          <p:nvPr/>
        </p:nvCxnSpPr>
        <p:spPr>
          <a:xfrm flipV="1">
            <a:off x="1232142" y="2057282"/>
            <a:ext cx="1528596" cy="1376196"/>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0" idx="7"/>
            <a:endCxn id="8" idx="3"/>
          </p:cNvCxnSpPr>
          <p:nvPr/>
        </p:nvCxnSpPr>
        <p:spPr>
          <a:xfrm flipV="1">
            <a:off x="3289542" y="2057282"/>
            <a:ext cx="1528596" cy="1376196"/>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1" idx="3"/>
            <a:endCxn id="12" idx="6"/>
          </p:cNvCxnSpPr>
          <p:nvPr/>
        </p:nvCxnSpPr>
        <p:spPr>
          <a:xfrm flipH="1">
            <a:off x="3459480" y="3886082"/>
            <a:ext cx="1441785" cy="1602498"/>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9" idx="4"/>
            <a:endCxn id="12" idx="2"/>
          </p:cNvCxnSpPr>
          <p:nvPr/>
        </p:nvCxnSpPr>
        <p:spPr>
          <a:xfrm>
            <a:off x="1005840" y="3979820"/>
            <a:ext cx="1813560" cy="150876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10" idx="4"/>
          </p:cNvCxnSpPr>
          <p:nvPr/>
        </p:nvCxnSpPr>
        <p:spPr>
          <a:xfrm>
            <a:off x="3063240" y="3979820"/>
            <a:ext cx="2286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735874" y="2425340"/>
            <a:ext cx="361950" cy="461665"/>
          </a:xfrm>
          <a:prstGeom prst="rect">
            <a:avLst/>
          </a:prstGeom>
          <a:noFill/>
        </p:spPr>
        <p:txBody>
          <a:bodyPr wrap="square" rtlCol="0">
            <a:spAutoFit/>
          </a:bodyPr>
          <a:lstStyle/>
          <a:p>
            <a:r>
              <a:rPr lang="en-US" sz="2400" dirty="0">
                <a:solidFill>
                  <a:srgbClr val="AD1457"/>
                </a:solidFill>
              </a:rPr>
              <a:t>4</a:t>
            </a:r>
          </a:p>
        </p:txBody>
      </p:sp>
      <p:sp>
        <p:nvSpPr>
          <p:cNvPr id="26" name="TextBox 25"/>
          <p:cNvSpPr txBox="1"/>
          <p:nvPr/>
        </p:nvSpPr>
        <p:spPr>
          <a:xfrm>
            <a:off x="2076450" y="2497075"/>
            <a:ext cx="361950" cy="461665"/>
          </a:xfrm>
          <a:prstGeom prst="rect">
            <a:avLst/>
          </a:prstGeom>
          <a:noFill/>
        </p:spPr>
        <p:txBody>
          <a:bodyPr wrap="square" rtlCol="0">
            <a:spAutoFit/>
          </a:bodyPr>
          <a:lstStyle/>
          <a:p>
            <a:r>
              <a:rPr lang="en-US" sz="2400" dirty="0">
                <a:solidFill>
                  <a:srgbClr val="AD1457"/>
                </a:solidFill>
              </a:rPr>
              <a:t>6</a:t>
            </a:r>
          </a:p>
        </p:txBody>
      </p:sp>
      <p:sp>
        <p:nvSpPr>
          <p:cNvPr id="27" name="TextBox 26"/>
          <p:cNvSpPr txBox="1"/>
          <p:nvPr/>
        </p:nvSpPr>
        <p:spPr>
          <a:xfrm>
            <a:off x="2990850" y="2494843"/>
            <a:ext cx="361950" cy="461665"/>
          </a:xfrm>
          <a:prstGeom prst="rect">
            <a:avLst/>
          </a:prstGeom>
          <a:noFill/>
        </p:spPr>
        <p:txBody>
          <a:bodyPr wrap="square" rtlCol="0">
            <a:spAutoFit/>
          </a:bodyPr>
          <a:lstStyle/>
          <a:p>
            <a:r>
              <a:rPr lang="en-US" sz="2400" dirty="0">
                <a:solidFill>
                  <a:srgbClr val="AD1457"/>
                </a:solidFill>
              </a:rPr>
              <a:t>4</a:t>
            </a:r>
          </a:p>
        </p:txBody>
      </p:sp>
      <p:sp>
        <p:nvSpPr>
          <p:cNvPr id="28" name="TextBox 27"/>
          <p:cNvSpPr txBox="1"/>
          <p:nvPr/>
        </p:nvSpPr>
        <p:spPr>
          <a:xfrm>
            <a:off x="4114800" y="2497075"/>
            <a:ext cx="361950" cy="461665"/>
          </a:xfrm>
          <a:prstGeom prst="rect">
            <a:avLst/>
          </a:prstGeom>
          <a:noFill/>
        </p:spPr>
        <p:txBody>
          <a:bodyPr wrap="square" rtlCol="0">
            <a:spAutoFit/>
          </a:bodyPr>
          <a:lstStyle/>
          <a:p>
            <a:r>
              <a:rPr lang="en-US" sz="2400" dirty="0">
                <a:solidFill>
                  <a:srgbClr val="AD1457"/>
                </a:solidFill>
              </a:rPr>
              <a:t>5</a:t>
            </a:r>
          </a:p>
        </p:txBody>
      </p:sp>
      <p:sp>
        <p:nvSpPr>
          <p:cNvPr id="29" name="TextBox 28"/>
          <p:cNvSpPr txBox="1"/>
          <p:nvPr/>
        </p:nvSpPr>
        <p:spPr>
          <a:xfrm>
            <a:off x="4982935" y="2420875"/>
            <a:ext cx="361950" cy="461665"/>
          </a:xfrm>
          <a:prstGeom prst="rect">
            <a:avLst/>
          </a:prstGeom>
          <a:noFill/>
        </p:spPr>
        <p:txBody>
          <a:bodyPr wrap="square" rtlCol="0">
            <a:spAutoFit/>
          </a:bodyPr>
          <a:lstStyle/>
          <a:p>
            <a:r>
              <a:rPr lang="en-US" sz="2400" dirty="0">
                <a:solidFill>
                  <a:srgbClr val="AD1457"/>
                </a:solidFill>
              </a:rPr>
              <a:t>6</a:t>
            </a:r>
          </a:p>
        </p:txBody>
      </p:sp>
      <p:sp>
        <p:nvSpPr>
          <p:cNvPr id="30" name="TextBox 29"/>
          <p:cNvSpPr txBox="1"/>
          <p:nvPr/>
        </p:nvSpPr>
        <p:spPr>
          <a:xfrm>
            <a:off x="2057400" y="3568340"/>
            <a:ext cx="361950" cy="461665"/>
          </a:xfrm>
          <a:prstGeom prst="rect">
            <a:avLst/>
          </a:prstGeom>
          <a:noFill/>
        </p:spPr>
        <p:txBody>
          <a:bodyPr wrap="square" rtlCol="0">
            <a:spAutoFit/>
          </a:bodyPr>
          <a:lstStyle/>
          <a:p>
            <a:r>
              <a:rPr lang="en-US" sz="2400" dirty="0">
                <a:solidFill>
                  <a:srgbClr val="AD1457"/>
                </a:solidFill>
              </a:rPr>
              <a:t>3</a:t>
            </a:r>
          </a:p>
        </p:txBody>
      </p:sp>
      <p:sp>
        <p:nvSpPr>
          <p:cNvPr id="31" name="TextBox 30"/>
          <p:cNvSpPr txBox="1"/>
          <p:nvPr/>
        </p:nvSpPr>
        <p:spPr>
          <a:xfrm>
            <a:off x="3981450" y="3568340"/>
            <a:ext cx="361950" cy="461665"/>
          </a:xfrm>
          <a:prstGeom prst="rect">
            <a:avLst/>
          </a:prstGeom>
          <a:noFill/>
        </p:spPr>
        <p:txBody>
          <a:bodyPr wrap="square" rtlCol="0">
            <a:spAutoFit/>
          </a:bodyPr>
          <a:lstStyle/>
          <a:p>
            <a:r>
              <a:rPr lang="en-US" sz="2400" dirty="0">
                <a:solidFill>
                  <a:srgbClr val="AD1457"/>
                </a:solidFill>
              </a:rPr>
              <a:t>8</a:t>
            </a:r>
          </a:p>
        </p:txBody>
      </p:sp>
      <p:sp>
        <p:nvSpPr>
          <p:cNvPr id="32" name="TextBox 31"/>
          <p:cNvSpPr txBox="1"/>
          <p:nvPr/>
        </p:nvSpPr>
        <p:spPr>
          <a:xfrm>
            <a:off x="1600200" y="4554475"/>
            <a:ext cx="361950" cy="461665"/>
          </a:xfrm>
          <a:prstGeom prst="rect">
            <a:avLst/>
          </a:prstGeom>
          <a:noFill/>
        </p:spPr>
        <p:txBody>
          <a:bodyPr wrap="square" rtlCol="0">
            <a:spAutoFit/>
          </a:bodyPr>
          <a:lstStyle/>
          <a:p>
            <a:r>
              <a:rPr lang="en-US" sz="2400" dirty="0">
                <a:solidFill>
                  <a:srgbClr val="AD1457"/>
                </a:solidFill>
              </a:rPr>
              <a:t>4</a:t>
            </a:r>
          </a:p>
        </p:txBody>
      </p:sp>
      <p:sp>
        <p:nvSpPr>
          <p:cNvPr id="33" name="TextBox 32"/>
          <p:cNvSpPr txBox="1"/>
          <p:nvPr/>
        </p:nvSpPr>
        <p:spPr>
          <a:xfrm>
            <a:off x="3067050" y="4249675"/>
            <a:ext cx="361950" cy="461665"/>
          </a:xfrm>
          <a:prstGeom prst="rect">
            <a:avLst/>
          </a:prstGeom>
          <a:noFill/>
        </p:spPr>
        <p:txBody>
          <a:bodyPr wrap="square" rtlCol="0">
            <a:spAutoFit/>
          </a:bodyPr>
          <a:lstStyle/>
          <a:p>
            <a:r>
              <a:rPr lang="en-US" sz="2400" dirty="0">
                <a:solidFill>
                  <a:srgbClr val="AD1457"/>
                </a:solidFill>
              </a:rPr>
              <a:t>7</a:t>
            </a:r>
          </a:p>
        </p:txBody>
      </p:sp>
      <p:sp>
        <p:nvSpPr>
          <p:cNvPr id="34" name="TextBox 33"/>
          <p:cNvSpPr txBox="1"/>
          <p:nvPr/>
        </p:nvSpPr>
        <p:spPr>
          <a:xfrm>
            <a:off x="4191000" y="4482740"/>
            <a:ext cx="361950" cy="461665"/>
          </a:xfrm>
          <a:prstGeom prst="rect">
            <a:avLst/>
          </a:prstGeom>
          <a:noFill/>
        </p:spPr>
        <p:txBody>
          <a:bodyPr wrap="square" rtlCol="0">
            <a:spAutoFit/>
          </a:bodyPr>
          <a:lstStyle/>
          <a:p>
            <a:r>
              <a:rPr lang="en-US" sz="2400" dirty="0">
                <a:solidFill>
                  <a:srgbClr val="AD1457"/>
                </a:solidFill>
              </a:rPr>
              <a:t>3</a:t>
            </a:r>
          </a:p>
        </p:txBody>
      </p:sp>
      <p:sp>
        <p:nvSpPr>
          <p:cNvPr id="35" name="TextBox 34"/>
          <p:cNvSpPr txBox="1"/>
          <p:nvPr/>
        </p:nvSpPr>
        <p:spPr>
          <a:xfrm>
            <a:off x="1924050" y="1434740"/>
            <a:ext cx="361950" cy="461665"/>
          </a:xfrm>
          <a:prstGeom prst="rect">
            <a:avLst/>
          </a:prstGeom>
          <a:noFill/>
        </p:spPr>
        <p:txBody>
          <a:bodyPr wrap="square" rtlCol="0">
            <a:spAutoFit/>
          </a:bodyPr>
          <a:lstStyle/>
          <a:p>
            <a:r>
              <a:rPr lang="en-US" sz="2400" dirty="0">
                <a:solidFill>
                  <a:srgbClr val="AD1457"/>
                </a:solidFill>
              </a:rPr>
              <a:t>1</a:t>
            </a:r>
          </a:p>
        </p:txBody>
      </p:sp>
      <p:sp>
        <p:nvSpPr>
          <p:cNvPr id="36" name="TextBox 35"/>
          <p:cNvSpPr txBox="1"/>
          <p:nvPr/>
        </p:nvSpPr>
        <p:spPr>
          <a:xfrm>
            <a:off x="3905250" y="1430275"/>
            <a:ext cx="361950" cy="461665"/>
          </a:xfrm>
          <a:prstGeom prst="rect">
            <a:avLst/>
          </a:prstGeom>
          <a:noFill/>
        </p:spPr>
        <p:txBody>
          <a:bodyPr wrap="square" rtlCol="0">
            <a:spAutoFit/>
          </a:bodyPr>
          <a:lstStyle/>
          <a:p>
            <a:r>
              <a:rPr lang="en-US" sz="2400" dirty="0">
                <a:solidFill>
                  <a:srgbClr val="AD1457"/>
                </a:solidFill>
              </a:rPr>
              <a:t>2</a:t>
            </a:r>
          </a:p>
        </p:txBody>
      </p:sp>
      <p:sp>
        <p:nvSpPr>
          <p:cNvPr id="37" name="TextBox 36"/>
          <p:cNvSpPr txBox="1"/>
          <p:nvPr/>
        </p:nvSpPr>
        <p:spPr>
          <a:xfrm>
            <a:off x="6107974" y="0"/>
            <a:ext cx="851515" cy="400110"/>
          </a:xfrm>
          <a:prstGeom prst="rect">
            <a:avLst/>
          </a:prstGeom>
          <a:noFill/>
          <a:ln w="28575">
            <a:solidFill>
              <a:schemeClr val="accent5"/>
            </a:solidFill>
          </a:ln>
        </p:spPr>
        <p:txBody>
          <a:bodyPr wrap="none" rtlCol="0">
            <a:spAutoFit/>
          </a:bodyPr>
          <a:lstStyle/>
          <a:p>
            <a:r>
              <a:rPr lang="en-IN" sz="2000" b="1" dirty="0">
                <a:solidFill>
                  <a:schemeClr val="bg1"/>
                </a:solidFill>
              </a:rPr>
              <a:t>Step:2</a:t>
            </a:r>
            <a:endParaRPr lang="en-US" sz="2000" b="1" dirty="0">
              <a:solidFill>
                <a:schemeClr val="bg1"/>
              </a:solidFill>
            </a:endParaRPr>
          </a:p>
        </p:txBody>
      </p:sp>
      <p:sp>
        <p:nvSpPr>
          <p:cNvPr id="38" name="TextBox 37"/>
          <p:cNvSpPr txBox="1"/>
          <p:nvPr/>
        </p:nvSpPr>
        <p:spPr>
          <a:xfrm>
            <a:off x="6094911" y="418597"/>
            <a:ext cx="5829300" cy="430887"/>
          </a:xfrm>
          <a:prstGeom prst="rect">
            <a:avLst/>
          </a:prstGeom>
          <a:noFill/>
        </p:spPr>
        <p:txBody>
          <a:bodyPr wrap="square" rtlCol="0">
            <a:spAutoFit/>
          </a:bodyPr>
          <a:lstStyle/>
          <a:p>
            <a:pPr algn="ctr"/>
            <a:r>
              <a:rPr lang="en-US" sz="2200" b="1" dirty="0">
                <a:solidFill>
                  <a:schemeClr val="accent5"/>
                </a:solidFill>
              </a:rPr>
              <a:t>Select the minimum weight edge but no cycle.</a:t>
            </a:r>
          </a:p>
        </p:txBody>
      </p:sp>
      <p:graphicFrame>
        <p:nvGraphicFramePr>
          <p:cNvPr id="39" name="Table 38"/>
          <p:cNvGraphicFramePr>
            <a:graphicFrameLocks noGrp="1"/>
          </p:cNvGraphicFramePr>
          <p:nvPr/>
        </p:nvGraphicFramePr>
        <p:xfrm>
          <a:off x="7747363" y="1023737"/>
          <a:ext cx="2638567" cy="5429312"/>
        </p:xfrm>
        <a:graphic>
          <a:graphicData uri="http://schemas.openxmlformats.org/drawingml/2006/table">
            <a:tbl>
              <a:tblPr firstRow="1" bandRow="1">
                <a:tableStyleId>{5C22544A-7EE6-4342-B048-85BDC9FD1C3A}</a:tableStyleId>
              </a:tblPr>
              <a:tblGrid>
                <a:gridCol w="952500">
                  <a:extLst>
                    <a:ext uri="{9D8B030D-6E8A-4147-A177-3AD203B41FA5}">
                      <a16:colId xmlns:a16="http://schemas.microsoft.com/office/drawing/2014/main" val="1582560717"/>
                    </a:ext>
                  </a:extLst>
                </a:gridCol>
                <a:gridCol w="1088046">
                  <a:extLst>
                    <a:ext uri="{9D8B030D-6E8A-4147-A177-3AD203B41FA5}">
                      <a16:colId xmlns:a16="http://schemas.microsoft.com/office/drawing/2014/main" val="511824500"/>
                    </a:ext>
                  </a:extLst>
                </a:gridCol>
                <a:gridCol w="598021">
                  <a:extLst>
                    <a:ext uri="{9D8B030D-6E8A-4147-A177-3AD203B41FA5}">
                      <a16:colId xmlns:a16="http://schemas.microsoft.com/office/drawing/2014/main" val="3593019890"/>
                    </a:ext>
                  </a:extLst>
                </a:gridCol>
              </a:tblGrid>
              <a:tr h="392804">
                <a:tc>
                  <a:txBody>
                    <a:bodyPr/>
                    <a:lstStyle/>
                    <a:p>
                      <a:pPr algn="ctr"/>
                      <a:r>
                        <a:rPr lang="en-US" dirty="0">
                          <a:solidFill>
                            <a:schemeClr val="accent2">
                              <a:lumMod val="60000"/>
                              <a:lumOff val="40000"/>
                            </a:schemeClr>
                          </a:solidFill>
                        </a:rPr>
                        <a:t>Edges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accent2">
                              <a:lumMod val="60000"/>
                              <a:lumOff val="40000"/>
                            </a:schemeClr>
                          </a:solidFill>
                        </a:rPr>
                        <a:t>Weight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6574443"/>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{1, 2}</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rPr>
                        <a:t>1</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604744"/>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{2, 3}</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2</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7217928"/>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{4, 5}</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3</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4933460"/>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{6, 7}</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3</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772278"/>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{1, 4}</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4</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955693"/>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{2,</a:t>
                      </a:r>
                      <a:r>
                        <a:rPr lang="en-US" sz="2000" b="1" baseline="0" dirty="0">
                          <a:solidFill>
                            <a:schemeClr val="accent3"/>
                          </a:solidFill>
                          <a:latin typeface="+mn-lt"/>
                          <a:ea typeface="Times New Roman" panose="02020603050405020304" pitchFamily="18" charset="0"/>
                          <a:cs typeface="Times New Roman" panose="02020603050405020304" pitchFamily="18" charset="0"/>
                        </a:rPr>
                        <a:t> </a:t>
                      </a:r>
                      <a:r>
                        <a:rPr lang="en-US" sz="2000" b="1" dirty="0">
                          <a:solidFill>
                            <a:schemeClr val="accent3"/>
                          </a:solidFill>
                          <a:latin typeface="+mn-lt"/>
                          <a:ea typeface="Times New Roman" panose="02020603050405020304" pitchFamily="18" charset="0"/>
                          <a:cs typeface="Times New Roman" panose="02020603050405020304" pitchFamily="18" charset="0"/>
                        </a:rPr>
                        <a:t>5}</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4</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8600405"/>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{4, 7}</a:t>
                      </a:r>
                      <a:r>
                        <a:rPr lang="en-US" sz="2000" b="1" baseline="0" dirty="0">
                          <a:solidFill>
                            <a:schemeClr val="accent3"/>
                          </a:solidFill>
                          <a:latin typeface="+mn-lt"/>
                          <a:ea typeface="Times New Roman" panose="02020603050405020304" pitchFamily="18" charset="0"/>
                          <a:cs typeface="Times New Roman" panose="02020603050405020304" pitchFamily="18" charset="0"/>
                        </a:rPr>
                        <a:t> </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4</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4576407"/>
                  </a:ext>
                </a:extLst>
              </a:tr>
              <a:tr h="41970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{3, 5)</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5</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7516510"/>
                  </a:ext>
                </a:extLst>
              </a:tr>
              <a:tr h="41970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{2, 4} </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6</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3537154"/>
                  </a:ext>
                </a:extLst>
              </a:tr>
              <a:tr h="41970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{3, 6} </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6</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5540063"/>
                  </a:ext>
                </a:extLst>
              </a:tr>
              <a:tr h="41970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{5, 7} </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7</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2767037"/>
                  </a:ext>
                </a:extLst>
              </a:tr>
              <a:tr h="41970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{5, 6}</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8</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1878199"/>
                  </a:ext>
                </a:extLst>
              </a:tr>
            </a:tbl>
          </a:graphicData>
        </a:graphic>
      </p:graphicFrame>
      <p:sp>
        <p:nvSpPr>
          <p:cNvPr id="40" name="Rounded Rectangle 39"/>
          <p:cNvSpPr/>
          <p:nvPr/>
        </p:nvSpPr>
        <p:spPr>
          <a:xfrm>
            <a:off x="9818917" y="1410789"/>
            <a:ext cx="457200" cy="41809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20000"/>
              </a:spcBef>
              <a:spcAft>
                <a:spcPct val="0"/>
              </a:spcAft>
              <a:defRPr/>
            </a:pPr>
            <a:r>
              <a:rPr lang="en-US" altLang="en-US" sz="2400" b="1" i="1" dirty="0">
                <a:solidFill>
                  <a:srgbClr val="F19D19"/>
                </a:solidFill>
                <a:latin typeface="Times New Roman" panose="02020603050405020304" pitchFamily="18" charset="0"/>
                <a:sym typeface="Symbol" panose="05050102010706020507" pitchFamily="18" charset="2"/>
              </a:rPr>
              <a:t></a:t>
            </a:r>
            <a:r>
              <a:rPr lang="en-US" altLang="en-US" sz="2400" b="1" dirty="0">
                <a:solidFill>
                  <a:srgbClr val="F19D19"/>
                </a:solidFill>
                <a:sym typeface="Symbol" panose="05050102010706020507" pitchFamily="18" charset="2"/>
              </a:rPr>
              <a:t> </a:t>
            </a:r>
          </a:p>
        </p:txBody>
      </p:sp>
      <p:sp>
        <p:nvSpPr>
          <p:cNvPr id="41" name="Rounded Rectangle 40"/>
          <p:cNvSpPr/>
          <p:nvPr/>
        </p:nvSpPr>
        <p:spPr>
          <a:xfrm>
            <a:off x="9818917" y="1830890"/>
            <a:ext cx="457200" cy="41809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20000"/>
              </a:spcBef>
              <a:spcAft>
                <a:spcPct val="0"/>
              </a:spcAft>
              <a:defRPr/>
            </a:pPr>
            <a:r>
              <a:rPr lang="en-US" altLang="en-US" sz="2400" b="1" i="1" dirty="0">
                <a:solidFill>
                  <a:srgbClr val="F19D19"/>
                </a:solidFill>
                <a:latin typeface="Times New Roman" panose="02020603050405020304" pitchFamily="18" charset="0"/>
                <a:sym typeface="Symbol" panose="05050102010706020507" pitchFamily="18" charset="2"/>
              </a:rPr>
              <a:t></a:t>
            </a:r>
            <a:r>
              <a:rPr lang="en-US" altLang="en-US" sz="2400" b="1" dirty="0">
                <a:solidFill>
                  <a:srgbClr val="F19D19"/>
                </a:solidFill>
                <a:sym typeface="Symbol" panose="05050102010706020507" pitchFamily="18" charset="2"/>
              </a:rPr>
              <a:t> </a:t>
            </a:r>
          </a:p>
        </p:txBody>
      </p:sp>
      <p:sp>
        <p:nvSpPr>
          <p:cNvPr id="42" name="Rounded Rectangle 41"/>
          <p:cNvSpPr/>
          <p:nvPr/>
        </p:nvSpPr>
        <p:spPr>
          <a:xfrm>
            <a:off x="9818917" y="2248989"/>
            <a:ext cx="457200" cy="41809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20000"/>
              </a:spcBef>
              <a:spcAft>
                <a:spcPct val="0"/>
              </a:spcAft>
              <a:defRPr/>
            </a:pPr>
            <a:r>
              <a:rPr lang="en-US" altLang="en-US" sz="2400" b="1" i="1" dirty="0">
                <a:solidFill>
                  <a:srgbClr val="F19D19"/>
                </a:solidFill>
                <a:latin typeface="Times New Roman" panose="02020603050405020304" pitchFamily="18" charset="0"/>
                <a:sym typeface="Symbol" panose="05050102010706020507" pitchFamily="18" charset="2"/>
              </a:rPr>
              <a:t></a:t>
            </a:r>
            <a:r>
              <a:rPr lang="en-US" altLang="en-US" sz="2400" b="1" dirty="0">
                <a:solidFill>
                  <a:srgbClr val="F19D19"/>
                </a:solidFill>
                <a:sym typeface="Symbol" panose="05050102010706020507" pitchFamily="18" charset="2"/>
              </a:rPr>
              <a:t> </a:t>
            </a:r>
          </a:p>
        </p:txBody>
      </p:sp>
      <p:sp>
        <p:nvSpPr>
          <p:cNvPr id="43" name="Rounded Rectangle 42"/>
          <p:cNvSpPr/>
          <p:nvPr/>
        </p:nvSpPr>
        <p:spPr>
          <a:xfrm>
            <a:off x="9818917" y="2629989"/>
            <a:ext cx="457200" cy="41809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20000"/>
              </a:spcBef>
              <a:spcAft>
                <a:spcPct val="0"/>
              </a:spcAft>
              <a:defRPr/>
            </a:pPr>
            <a:r>
              <a:rPr lang="en-US" altLang="en-US" sz="2400" b="1" i="1" dirty="0">
                <a:solidFill>
                  <a:srgbClr val="F19D19"/>
                </a:solidFill>
                <a:latin typeface="Times New Roman" panose="02020603050405020304" pitchFamily="18" charset="0"/>
                <a:sym typeface="Symbol" panose="05050102010706020507" pitchFamily="18" charset="2"/>
              </a:rPr>
              <a:t></a:t>
            </a:r>
            <a:r>
              <a:rPr lang="en-US" altLang="en-US" sz="2400" b="1" dirty="0">
                <a:solidFill>
                  <a:srgbClr val="F19D19"/>
                </a:solidFill>
                <a:sym typeface="Symbol" panose="05050102010706020507" pitchFamily="18" charset="2"/>
              </a:rPr>
              <a:t> </a:t>
            </a:r>
          </a:p>
        </p:txBody>
      </p:sp>
      <p:sp>
        <p:nvSpPr>
          <p:cNvPr id="44" name="Rounded Rectangle 43"/>
          <p:cNvSpPr/>
          <p:nvPr/>
        </p:nvSpPr>
        <p:spPr>
          <a:xfrm>
            <a:off x="9818917" y="3094116"/>
            <a:ext cx="457200" cy="45027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20000"/>
              </a:spcBef>
              <a:spcAft>
                <a:spcPct val="0"/>
              </a:spcAft>
              <a:defRPr/>
            </a:pPr>
            <a:r>
              <a:rPr lang="en-US" altLang="en-US" sz="2400" b="1" i="1" dirty="0">
                <a:solidFill>
                  <a:srgbClr val="F19D19"/>
                </a:solidFill>
                <a:latin typeface="Times New Roman" panose="02020603050405020304" pitchFamily="18" charset="0"/>
                <a:sym typeface="Symbol" panose="05050102010706020507" pitchFamily="18" charset="2"/>
              </a:rPr>
              <a:t></a:t>
            </a:r>
            <a:r>
              <a:rPr lang="en-US" altLang="en-US" sz="2400" b="1" dirty="0">
                <a:solidFill>
                  <a:srgbClr val="F19D19"/>
                </a:solidFill>
                <a:sym typeface="Symbol" panose="05050102010706020507" pitchFamily="18" charset="2"/>
              </a:rPr>
              <a:t> </a:t>
            </a:r>
          </a:p>
        </p:txBody>
      </p:sp>
      <p:sp>
        <p:nvSpPr>
          <p:cNvPr id="45" name="Rounded Rectangle 44"/>
          <p:cNvSpPr/>
          <p:nvPr/>
        </p:nvSpPr>
        <p:spPr>
          <a:xfrm>
            <a:off x="9818917" y="3914416"/>
            <a:ext cx="457200" cy="41809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20000"/>
              </a:spcBef>
              <a:spcAft>
                <a:spcPct val="0"/>
              </a:spcAft>
              <a:defRPr/>
            </a:pPr>
            <a:r>
              <a:rPr lang="en-US" altLang="en-US" sz="2400" b="1" i="1" dirty="0">
                <a:solidFill>
                  <a:srgbClr val="F19D19"/>
                </a:solidFill>
                <a:latin typeface="Times New Roman" panose="02020603050405020304" pitchFamily="18" charset="0"/>
                <a:sym typeface="Symbol" panose="05050102010706020507" pitchFamily="18" charset="2"/>
              </a:rPr>
              <a:t></a:t>
            </a:r>
            <a:r>
              <a:rPr lang="en-US" altLang="en-US" sz="2400" b="1" dirty="0">
                <a:solidFill>
                  <a:srgbClr val="F19D19"/>
                </a:solidFill>
                <a:sym typeface="Symbol" panose="05050102010706020507" pitchFamily="18" charset="2"/>
              </a:rPr>
              <a:t> </a:t>
            </a:r>
          </a:p>
        </p:txBody>
      </p:sp>
      <p:cxnSp>
        <p:nvCxnSpPr>
          <p:cNvPr id="46" name="Straight Connector 45"/>
          <p:cNvCxnSpPr/>
          <p:nvPr/>
        </p:nvCxnSpPr>
        <p:spPr>
          <a:xfrm>
            <a:off x="7747363" y="3751455"/>
            <a:ext cx="2638567" cy="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47" name="Rounded Rectangle 46"/>
          <p:cNvSpPr/>
          <p:nvPr/>
        </p:nvSpPr>
        <p:spPr>
          <a:xfrm>
            <a:off x="7812759" y="3570514"/>
            <a:ext cx="1905000" cy="304800"/>
          </a:xfrm>
          <a:prstGeom prst="roundRect">
            <a:avLst/>
          </a:prstGeom>
          <a:noFill/>
          <a:ln w="2857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 50"/>
          <p:cNvGrpSpPr/>
          <p:nvPr/>
        </p:nvGrpSpPr>
        <p:grpSpPr>
          <a:xfrm>
            <a:off x="2815046" y="2447109"/>
            <a:ext cx="381000" cy="609600"/>
            <a:chOff x="5257800" y="4876800"/>
            <a:chExt cx="381000" cy="609600"/>
          </a:xfrm>
        </p:grpSpPr>
        <p:cxnSp>
          <p:nvCxnSpPr>
            <p:cNvPr id="52" name="Straight Connector 51"/>
            <p:cNvCxnSpPr/>
            <p:nvPr/>
          </p:nvCxnSpPr>
          <p:spPr>
            <a:xfrm flipH="1">
              <a:off x="5334000" y="4876800"/>
              <a:ext cx="228600" cy="609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5257800" y="4953000"/>
              <a:ext cx="381000" cy="4572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0333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500"/>
                                        <p:tgtEl>
                                          <p:spTgt spid="3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fade">
                                      <p:cBhvr>
                                        <p:cTn id="15" dur="500"/>
                                        <p:tgtEl>
                                          <p:spTgt spid="40"/>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mph" presetSubtype="2" fill="hold" nodeType="clickEffect">
                                  <p:stCondLst>
                                    <p:cond delay="0"/>
                                  </p:stCondLst>
                                  <p:childTnLst>
                                    <p:animClr clrSpc="rgb" dir="cw">
                                      <p:cBhvr>
                                        <p:cTn id="19" dur="1000" fill="hold"/>
                                        <p:tgtEl>
                                          <p:spTgt spid="6"/>
                                        </p:tgtEl>
                                        <p:attrNameLst>
                                          <p:attrName>fillcolor</p:attrName>
                                        </p:attrNameLst>
                                      </p:cBhvr>
                                      <p:to>
                                        <a:srgbClr val="8BC145"/>
                                      </p:to>
                                    </p:animClr>
                                    <p:set>
                                      <p:cBhvr>
                                        <p:cTn id="20" dur="1000" fill="hold"/>
                                        <p:tgtEl>
                                          <p:spTgt spid="6"/>
                                        </p:tgtEl>
                                        <p:attrNameLst>
                                          <p:attrName>fill.type</p:attrName>
                                        </p:attrNameLst>
                                      </p:cBhvr>
                                      <p:to>
                                        <p:strVal val="solid"/>
                                      </p:to>
                                    </p:set>
                                    <p:set>
                                      <p:cBhvr>
                                        <p:cTn id="21" dur="1000" fill="hold"/>
                                        <p:tgtEl>
                                          <p:spTgt spid="6"/>
                                        </p:tgtEl>
                                        <p:attrNameLst>
                                          <p:attrName>fill.on</p:attrName>
                                        </p:attrNameLst>
                                      </p:cBhvr>
                                      <p:to>
                                        <p:strVal val="true"/>
                                      </p:to>
                                    </p:set>
                                  </p:childTnLst>
                                </p:cTn>
                              </p:par>
                              <p:par>
                                <p:cTn id="22" presetID="1" presetClass="emph" presetSubtype="2" fill="hold" nodeType="withEffect">
                                  <p:stCondLst>
                                    <p:cond delay="0"/>
                                  </p:stCondLst>
                                  <p:childTnLst>
                                    <p:animClr clrSpc="rgb" dir="cw">
                                      <p:cBhvr>
                                        <p:cTn id="23" dur="1000" fill="hold"/>
                                        <p:tgtEl>
                                          <p:spTgt spid="7"/>
                                        </p:tgtEl>
                                        <p:attrNameLst>
                                          <p:attrName>fillcolor</p:attrName>
                                        </p:attrNameLst>
                                      </p:cBhvr>
                                      <p:to>
                                        <a:srgbClr val="8BC145"/>
                                      </p:to>
                                    </p:animClr>
                                    <p:set>
                                      <p:cBhvr>
                                        <p:cTn id="24" dur="1000" fill="hold"/>
                                        <p:tgtEl>
                                          <p:spTgt spid="7"/>
                                        </p:tgtEl>
                                        <p:attrNameLst>
                                          <p:attrName>fill.type</p:attrName>
                                        </p:attrNameLst>
                                      </p:cBhvr>
                                      <p:to>
                                        <p:strVal val="solid"/>
                                      </p:to>
                                    </p:set>
                                    <p:set>
                                      <p:cBhvr>
                                        <p:cTn id="25" dur="1000" fill="hold"/>
                                        <p:tgtEl>
                                          <p:spTgt spid="7"/>
                                        </p:tgtEl>
                                        <p:attrNameLst>
                                          <p:attrName>fill.on</p:attrName>
                                        </p:attrNameLst>
                                      </p:cBhvr>
                                      <p:to>
                                        <p:strVal val="true"/>
                                      </p:to>
                                    </p:set>
                                  </p:childTnLst>
                                </p:cTn>
                              </p:par>
                              <p:par>
                                <p:cTn id="26" presetID="7" presetClass="emph" presetSubtype="2" fill="hold" nodeType="withEffect">
                                  <p:stCondLst>
                                    <p:cond delay="0"/>
                                  </p:stCondLst>
                                  <p:childTnLst>
                                    <p:animClr clrSpc="rgb" dir="cw">
                                      <p:cBhvr>
                                        <p:cTn id="27" dur="1000" fill="hold"/>
                                        <p:tgtEl>
                                          <p:spTgt spid="13"/>
                                        </p:tgtEl>
                                        <p:attrNameLst>
                                          <p:attrName>stroke.color</p:attrName>
                                        </p:attrNameLst>
                                      </p:cBhvr>
                                      <p:to>
                                        <a:srgbClr val="B84742"/>
                                      </p:to>
                                    </p:animClr>
                                    <p:set>
                                      <p:cBhvr>
                                        <p:cTn id="28" dur="1000" fill="hold"/>
                                        <p:tgtEl>
                                          <p:spTgt spid="13"/>
                                        </p:tgtEl>
                                        <p:attrNameLst>
                                          <p:attrName>stroke.on</p:attrName>
                                        </p:attrNameLst>
                                      </p:cBhvr>
                                      <p:to>
                                        <p:strVal val="true"/>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41"/>
                                        </p:tgtEl>
                                        <p:attrNameLst>
                                          <p:attrName>style.visibility</p:attrName>
                                        </p:attrNameLst>
                                      </p:cBhvr>
                                      <p:to>
                                        <p:strVal val="visible"/>
                                      </p:to>
                                    </p:set>
                                    <p:animEffect transition="in" filter="fade">
                                      <p:cBhvr>
                                        <p:cTn id="33" dur="500"/>
                                        <p:tgtEl>
                                          <p:spTgt spid="41"/>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mph" presetSubtype="2" fill="hold" nodeType="clickEffect">
                                  <p:stCondLst>
                                    <p:cond delay="0"/>
                                  </p:stCondLst>
                                  <p:childTnLst>
                                    <p:animClr clrSpc="rgb" dir="cw">
                                      <p:cBhvr>
                                        <p:cTn id="37" dur="1000" fill="hold"/>
                                        <p:tgtEl>
                                          <p:spTgt spid="8"/>
                                        </p:tgtEl>
                                        <p:attrNameLst>
                                          <p:attrName>fillcolor</p:attrName>
                                        </p:attrNameLst>
                                      </p:cBhvr>
                                      <p:to>
                                        <a:srgbClr val="8BC145"/>
                                      </p:to>
                                    </p:animClr>
                                    <p:set>
                                      <p:cBhvr>
                                        <p:cTn id="38" dur="1000" fill="hold"/>
                                        <p:tgtEl>
                                          <p:spTgt spid="8"/>
                                        </p:tgtEl>
                                        <p:attrNameLst>
                                          <p:attrName>fill.type</p:attrName>
                                        </p:attrNameLst>
                                      </p:cBhvr>
                                      <p:to>
                                        <p:strVal val="solid"/>
                                      </p:to>
                                    </p:set>
                                    <p:set>
                                      <p:cBhvr>
                                        <p:cTn id="39" dur="1000" fill="hold"/>
                                        <p:tgtEl>
                                          <p:spTgt spid="8"/>
                                        </p:tgtEl>
                                        <p:attrNameLst>
                                          <p:attrName>fill.on</p:attrName>
                                        </p:attrNameLst>
                                      </p:cBhvr>
                                      <p:to>
                                        <p:strVal val="true"/>
                                      </p:to>
                                    </p:set>
                                  </p:childTnLst>
                                </p:cTn>
                              </p:par>
                              <p:par>
                                <p:cTn id="40" presetID="7" presetClass="emph" presetSubtype="2" fill="hold" nodeType="withEffect">
                                  <p:stCondLst>
                                    <p:cond delay="0"/>
                                  </p:stCondLst>
                                  <p:childTnLst>
                                    <p:animClr clrSpc="rgb" dir="cw">
                                      <p:cBhvr>
                                        <p:cTn id="41" dur="1000" fill="hold"/>
                                        <p:tgtEl>
                                          <p:spTgt spid="14"/>
                                        </p:tgtEl>
                                        <p:attrNameLst>
                                          <p:attrName>stroke.color</p:attrName>
                                        </p:attrNameLst>
                                      </p:cBhvr>
                                      <p:to>
                                        <a:srgbClr val="B84742"/>
                                      </p:to>
                                    </p:animClr>
                                    <p:set>
                                      <p:cBhvr>
                                        <p:cTn id="42" dur="1000" fill="hold"/>
                                        <p:tgtEl>
                                          <p:spTgt spid="14"/>
                                        </p:tgtEl>
                                        <p:attrNameLst>
                                          <p:attrName>stroke.on</p:attrName>
                                        </p:attrNameLst>
                                      </p:cBhvr>
                                      <p:to>
                                        <p:strVal val="tru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fade">
                                      <p:cBhvr>
                                        <p:cTn id="47" dur="500"/>
                                        <p:tgtEl>
                                          <p:spTgt spid="42"/>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mph" presetSubtype="2" fill="hold" nodeType="clickEffect">
                                  <p:stCondLst>
                                    <p:cond delay="0"/>
                                  </p:stCondLst>
                                  <p:childTnLst>
                                    <p:animClr clrSpc="rgb" dir="cw">
                                      <p:cBhvr>
                                        <p:cTn id="51" dur="1000" fill="hold"/>
                                        <p:tgtEl>
                                          <p:spTgt spid="9"/>
                                        </p:tgtEl>
                                        <p:attrNameLst>
                                          <p:attrName>fillcolor</p:attrName>
                                        </p:attrNameLst>
                                      </p:cBhvr>
                                      <p:to>
                                        <a:srgbClr val="8BC145"/>
                                      </p:to>
                                    </p:animClr>
                                    <p:set>
                                      <p:cBhvr>
                                        <p:cTn id="52" dur="1000" fill="hold"/>
                                        <p:tgtEl>
                                          <p:spTgt spid="9"/>
                                        </p:tgtEl>
                                        <p:attrNameLst>
                                          <p:attrName>fill.type</p:attrName>
                                        </p:attrNameLst>
                                      </p:cBhvr>
                                      <p:to>
                                        <p:strVal val="solid"/>
                                      </p:to>
                                    </p:set>
                                    <p:set>
                                      <p:cBhvr>
                                        <p:cTn id="53" dur="1000" fill="hold"/>
                                        <p:tgtEl>
                                          <p:spTgt spid="9"/>
                                        </p:tgtEl>
                                        <p:attrNameLst>
                                          <p:attrName>fill.on</p:attrName>
                                        </p:attrNameLst>
                                      </p:cBhvr>
                                      <p:to>
                                        <p:strVal val="true"/>
                                      </p:to>
                                    </p:set>
                                  </p:childTnLst>
                                </p:cTn>
                              </p:par>
                              <p:par>
                                <p:cTn id="54" presetID="1" presetClass="emph" presetSubtype="2" fill="hold" nodeType="withEffect">
                                  <p:stCondLst>
                                    <p:cond delay="0"/>
                                  </p:stCondLst>
                                  <p:childTnLst>
                                    <p:animClr clrSpc="rgb" dir="cw">
                                      <p:cBhvr>
                                        <p:cTn id="55" dur="1000" fill="hold"/>
                                        <p:tgtEl>
                                          <p:spTgt spid="10"/>
                                        </p:tgtEl>
                                        <p:attrNameLst>
                                          <p:attrName>fillcolor</p:attrName>
                                        </p:attrNameLst>
                                      </p:cBhvr>
                                      <p:to>
                                        <a:srgbClr val="8BC145"/>
                                      </p:to>
                                    </p:animClr>
                                    <p:set>
                                      <p:cBhvr>
                                        <p:cTn id="56" dur="1000" fill="hold"/>
                                        <p:tgtEl>
                                          <p:spTgt spid="10"/>
                                        </p:tgtEl>
                                        <p:attrNameLst>
                                          <p:attrName>fill.type</p:attrName>
                                        </p:attrNameLst>
                                      </p:cBhvr>
                                      <p:to>
                                        <p:strVal val="solid"/>
                                      </p:to>
                                    </p:set>
                                    <p:set>
                                      <p:cBhvr>
                                        <p:cTn id="57" dur="1000" fill="hold"/>
                                        <p:tgtEl>
                                          <p:spTgt spid="10"/>
                                        </p:tgtEl>
                                        <p:attrNameLst>
                                          <p:attrName>fill.on</p:attrName>
                                        </p:attrNameLst>
                                      </p:cBhvr>
                                      <p:to>
                                        <p:strVal val="true"/>
                                      </p:to>
                                    </p:set>
                                  </p:childTnLst>
                                </p:cTn>
                              </p:par>
                              <p:par>
                                <p:cTn id="58" presetID="7" presetClass="emph" presetSubtype="2" fill="hold" nodeType="withEffect">
                                  <p:stCondLst>
                                    <p:cond delay="0"/>
                                  </p:stCondLst>
                                  <p:childTnLst>
                                    <p:animClr clrSpc="rgb" dir="cw">
                                      <p:cBhvr>
                                        <p:cTn id="59" dur="1000" fill="hold"/>
                                        <p:tgtEl>
                                          <p:spTgt spid="15"/>
                                        </p:tgtEl>
                                        <p:attrNameLst>
                                          <p:attrName>stroke.color</p:attrName>
                                        </p:attrNameLst>
                                      </p:cBhvr>
                                      <p:to>
                                        <a:srgbClr val="B84742"/>
                                      </p:to>
                                    </p:animClr>
                                    <p:set>
                                      <p:cBhvr>
                                        <p:cTn id="60" dur="1000" fill="hold"/>
                                        <p:tgtEl>
                                          <p:spTgt spid="15"/>
                                        </p:tgtEl>
                                        <p:attrNameLst>
                                          <p:attrName>stroke.on</p:attrName>
                                        </p:attrNameLst>
                                      </p:cBhvr>
                                      <p:to>
                                        <p:strVal val="true"/>
                                      </p:to>
                                    </p:se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43"/>
                                        </p:tgtEl>
                                        <p:attrNameLst>
                                          <p:attrName>style.visibility</p:attrName>
                                        </p:attrNameLst>
                                      </p:cBhvr>
                                      <p:to>
                                        <p:strVal val="visible"/>
                                      </p:to>
                                    </p:set>
                                    <p:animEffect transition="in" filter="fade">
                                      <p:cBhvr>
                                        <p:cTn id="65" dur="500"/>
                                        <p:tgtEl>
                                          <p:spTgt spid="43"/>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mph" presetSubtype="2" fill="hold" nodeType="clickEffect">
                                  <p:stCondLst>
                                    <p:cond delay="0"/>
                                  </p:stCondLst>
                                  <p:childTnLst>
                                    <p:animClr clrSpc="rgb" dir="cw">
                                      <p:cBhvr>
                                        <p:cTn id="69" dur="1000" fill="hold"/>
                                        <p:tgtEl>
                                          <p:spTgt spid="11"/>
                                        </p:tgtEl>
                                        <p:attrNameLst>
                                          <p:attrName>fillcolor</p:attrName>
                                        </p:attrNameLst>
                                      </p:cBhvr>
                                      <p:to>
                                        <a:srgbClr val="8BC145"/>
                                      </p:to>
                                    </p:animClr>
                                    <p:set>
                                      <p:cBhvr>
                                        <p:cTn id="70" dur="1000" fill="hold"/>
                                        <p:tgtEl>
                                          <p:spTgt spid="11"/>
                                        </p:tgtEl>
                                        <p:attrNameLst>
                                          <p:attrName>fill.type</p:attrName>
                                        </p:attrNameLst>
                                      </p:cBhvr>
                                      <p:to>
                                        <p:strVal val="solid"/>
                                      </p:to>
                                    </p:set>
                                    <p:set>
                                      <p:cBhvr>
                                        <p:cTn id="71" dur="1000" fill="hold"/>
                                        <p:tgtEl>
                                          <p:spTgt spid="11"/>
                                        </p:tgtEl>
                                        <p:attrNameLst>
                                          <p:attrName>fill.on</p:attrName>
                                        </p:attrNameLst>
                                      </p:cBhvr>
                                      <p:to>
                                        <p:strVal val="true"/>
                                      </p:to>
                                    </p:set>
                                  </p:childTnLst>
                                </p:cTn>
                              </p:par>
                              <p:par>
                                <p:cTn id="72" presetID="1" presetClass="emph" presetSubtype="2" fill="hold" nodeType="withEffect">
                                  <p:stCondLst>
                                    <p:cond delay="0"/>
                                  </p:stCondLst>
                                  <p:childTnLst>
                                    <p:animClr clrSpc="rgb" dir="cw">
                                      <p:cBhvr>
                                        <p:cTn id="73" dur="1000" fill="hold"/>
                                        <p:tgtEl>
                                          <p:spTgt spid="12"/>
                                        </p:tgtEl>
                                        <p:attrNameLst>
                                          <p:attrName>fillcolor</p:attrName>
                                        </p:attrNameLst>
                                      </p:cBhvr>
                                      <p:to>
                                        <a:srgbClr val="8BC145"/>
                                      </p:to>
                                    </p:animClr>
                                    <p:set>
                                      <p:cBhvr>
                                        <p:cTn id="74" dur="1000" fill="hold"/>
                                        <p:tgtEl>
                                          <p:spTgt spid="12"/>
                                        </p:tgtEl>
                                        <p:attrNameLst>
                                          <p:attrName>fill.type</p:attrName>
                                        </p:attrNameLst>
                                      </p:cBhvr>
                                      <p:to>
                                        <p:strVal val="solid"/>
                                      </p:to>
                                    </p:set>
                                    <p:set>
                                      <p:cBhvr>
                                        <p:cTn id="75" dur="1000" fill="hold"/>
                                        <p:tgtEl>
                                          <p:spTgt spid="12"/>
                                        </p:tgtEl>
                                        <p:attrNameLst>
                                          <p:attrName>fill.on</p:attrName>
                                        </p:attrNameLst>
                                      </p:cBhvr>
                                      <p:to>
                                        <p:strVal val="true"/>
                                      </p:to>
                                    </p:set>
                                  </p:childTnLst>
                                </p:cTn>
                              </p:par>
                              <p:par>
                                <p:cTn id="76" presetID="7" presetClass="emph" presetSubtype="2" fill="hold" nodeType="withEffect">
                                  <p:stCondLst>
                                    <p:cond delay="0"/>
                                  </p:stCondLst>
                                  <p:childTnLst>
                                    <p:animClr clrSpc="rgb" dir="cw">
                                      <p:cBhvr>
                                        <p:cTn id="77" dur="1000" fill="hold"/>
                                        <p:tgtEl>
                                          <p:spTgt spid="22"/>
                                        </p:tgtEl>
                                        <p:attrNameLst>
                                          <p:attrName>stroke.color</p:attrName>
                                        </p:attrNameLst>
                                      </p:cBhvr>
                                      <p:to>
                                        <a:srgbClr val="B84742"/>
                                      </p:to>
                                    </p:animClr>
                                    <p:set>
                                      <p:cBhvr>
                                        <p:cTn id="78" dur="1000" fill="hold"/>
                                        <p:tgtEl>
                                          <p:spTgt spid="22"/>
                                        </p:tgtEl>
                                        <p:attrNameLst>
                                          <p:attrName>stroke.on</p:attrName>
                                        </p:attrNameLst>
                                      </p:cBhvr>
                                      <p:to>
                                        <p:strVal val="true"/>
                                      </p:to>
                                    </p:se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44"/>
                                        </p:tgtEl>
                                        <p:attrNameLst>
                                          <p:attrName>style.visibility</p:attrName>
                                        </p:attrNameLst>
                                      </p:cBhvr>
                                      <p:to>
                                        <p:strVal val="visible"/>
                                      </p:to>
                                    </p:set>
                                    <p:animEffect transition="in" filter="fade">
                                      <p:cBhvr>
                                        <p:cTn id="83" dur="500"/>
                                        <p:tgtEl>
                                          <p:spTgt spid="44"/>
                                        </p:tgtEl>
                                      </p:cBhvr>
                                    </p:animEffect>
                                  </p:childTnLst>
                                </p:cTn>
                              </p:par>
                            </p:childTnLst>
                          </p:cTn>
                        </p:par>
                      </p:childTnLst>
                    </p:cTn>
                  </p:par>
                  <p:par>
                    <p:cTn id="84" fill="hold">
                      <p:stCondLst>
                        <p:cond delay="indefinite"/>
                      </p:stCondLst>
                      <p:childTnLst>
                        <p:par>
                          <p:cTn id="85" fill="hold">
                            <p:stCondLst>
                              <p:cond delay="0"/>
                            </p:stCondLst>
                            <p:childTnLst>
                              <p:par>
                                <p:cTn id="86" presetID="7" presetClass="emph" presetSubtype="2" fill="hold" nodeType="clickEffect">
                                  <p:stCondLst>
                                    <p:cond delay="0"/>
                                  </p:stCondLst>
                                  <p:childTnLst>
                                    <p:animClr clrSpc="rgb" dir="cw">
                                      <p:cBhvr>
                                        <p:cTn id="87" dur="1000" fill="hold"/>
                                        <p:tgtEl>
                                          <p:spTgt spid="17"/>
                                        </p:tgtEl>
                                        <p:attrNameLst>
                                          <p:attrName>stroke.color</p:attrName>
                                        </p:attrNameLst>
                                      </p:cBhvr>
                                      <p:to>
                                        <a:srgbClr val="B84742"/>
                                      </p:to>
                                    </p:animClr>
                                    <p:set>
                                      <p:cBhvr>
                                        <p:cTn id="88" dur="1000" fill="hold"/>
                                        <p:tgtEl>
                                          <p:spTgt spid="17"/>
                                        </p:tgtEl>
                                        <p:attrNameLst>
                                          <p:attrName>stroke.on</p:attrName>
                                        </p:attrNameLst>
                                      </p:cBhvr>
                                      <p:to>
                                        <p:strVal val="true"/>
                                      </p:to>
                                    </p:set>
                                  </p:childTnLst>
                                </p:cTn>
                              </p:par>
                            </p:childTnLst>
                          </p:cTn>
                        </p:par>
                      </p:childTnLst>
                    </p:cTn>
                  </p:par>
                  <p:par>
                    <p:cTn id="89" fill="hold">
                      <p:stCondLst>
                        <p:cond delay="indefinite"/>
                      </p:stCondLst>
                      <p:childTnLst>
                        <p:par>
                          <p:cTn id="90" fill="hold">
                            <p:stCondLst>
                              <p:cond delay="0"/>
                            </p:stCondLst>
                            <p:childTnLst>
                              <p:par>
                                <p:cTn id="91" presetID="21" presetClass="entr" presetSubtype="1" fill="hold" grpId="0" nodeType="clickEffect">
                                  <p:stCondLst>
                                    <p:cond delay="0"/>
                                  </p:stCondLst>
                                  <p:childTnLst>
                                    <p:set>
                                      <p:cBhvr>
                                        <p:cTn id="92" dur="1" fill="hold">
                                          <p:stCondLst>
                                            <p:cond delay="0"/>
                                          </p:stCondLst>
                                        </p:cTn>
                                        <p:tgtEl>
                                          <p:spTgt spid="47"/>
                                        </p:tgtEl>
                                        <p:attrNameLst>
                                          <p:attrName>style.visibility</p:attrName>
                                        </p:attrNameLst>
                                      </p:cBhvr>
                                      <p:to>
                                        <p:strVal val="visible"/>
                                      </p:to>
                                    </p:set>
                                    <p:animEffect transition="in" filter="wheel(1)">
                                      <p:cBhvr>
                                        <p:cTn id="93" dur="2000"/>
                                        <p:tgtEl>
                                          <p:spTgt spid="47"/>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nodeType="clickEffect">
                                  <p:stCondLst>
                                    <p:cond delay="0"/>
                                  </p:stCondLst>
                                  <p:childTnLst>
                                    <p:set>
                                      <p:cBhvr>
                                        <p:cTn id="97" dur="1" fill="hold">
                                          <p:stCondLst>
                                            <p:cond delay="0"/>
                                          </p:stCondLst>
                                        </p:cTn>
                                        <p:tgtEl>
                                          <p:spTgt spid="46"/>
                                        </p:tgtEl>
                                        <p:attrNameLst>
                                          <p:attrName>style.visibility</p:attrName>
                                        </p:attrNameLst>
                                      </p:cBhvr>
                                      <p:to>
                                        <p:strVal val="visible"/>
                                      </p:to>
                                    </p:set>
                                    <p:animEffect transition="in" filter="wipe(left)">
                                      <p:cBhvr>
                                        <p:cTn id="98" dur="500"/>
                                        <p:tgtEl>
                                          <p:spTgt spid="46"/>
                                        </p:tgtEl>
                                      </p:cBhvr>
                                    </p:animEffect>
                                  </p:childTnLst>
                                </p:cTn>
                              </p:par>
                              <p:par>
                                <p:cTn id="99" presetID="22" presetClass="entr" presetSubtype="1" fill="hold" nodeType="withEffect">
                                  <p:stCondLst>
                                    <p:cond delay="0"/>
                                  </p:stCondLst>
                                  <p:childTnLst>
                                    <p:set>
                                      <p:cBhvr>
                                        <p:cTn id="100" dur="1" fill="hold">
                                          <p:stCondLst>
                                            <p:cond delay="0"/>
                                          </p:stCondLst>
                                        </p:cTn>
                                        <p:tgtEl>
                                          <p:spTgt spid="51"/>
                                        </p:tgtEl>
                                        <p:attrNameLst>
                                          <p:attrName>style.visibility</p:attrName>
                                        </p:attrNameLst>
                                      </p:cBhvr>
                                      <p:to>
                                        <p:strVal val="visible"/>
                                      </p:to>
                                    </p:set>
                                    <p:animEffect transition="in" filter="wipe(up)">
                                      <p:cBhvr>
                                        <p:cTn id="101" dur="1000"/>
                                        <p:tgtEl>
                                          <p:spTgt spid="51"/>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45"/>
                                        </p:tgtEl>
                                        <p:attrNameLst>
                                          <p:attrName>style.visibility</p:attrName>
                                        </p:attrNameLst>
                                      </p:cBhvr>
                                      <p:to>
                                        <p:strVal val="visible"/>
                                      </p:to>
                                    </p:set>
                                    <p:animEffect transition="in" filter="fade">
                                      <p:cBhvr>
                                        <p:cTn id="106" dur="500"/>
                                        <p:tgtEl>
                                          <p:spTgt spid="45"/>
                                        </p:tgtEl>
                                      </p:cBhvr>
                                    </p:animEffect>
                                  </p:childTnLst>
                                </p:cTn>
                              </p:par>
                            </p:childTnLst>
                          </p:cTn>
                        </p:par>
                      </p:childTnLst>
                    </p:cTn>
                  </p:par>
                  <p:par>
                    <p:cTn id="107" fill="hold">
                      <p:stCondLst>
                        <p:cond delay="indefinite"/>
                      </p:stCondLst>
                      <p:childTnLst>
                        <p:par>
                          <p:cTn id="108" fill="hold">
                            <p:stCondLst>
                              <p:cond delay="0"/>
                            </p:stCondLst>
                            <p:childTnLst>
                              <p:par>
                                <p:cTn id="109" presetID="7" presetClass="emph" presetSubtype="2" fill="hold" nodeType="clickEffect">
                                  <p:stCondLst>
                                    <p:cond delay="0"/>
                                  </p:stCondLst>
                                  <p:childTnLst>
                                    <p:animClr clrSpc="rgb" dir="cw">
                                      <p:cBhvr>
                                        <p:cTn id="110" dur="1000" fill="hold"/>
                                        <p:tgtEl>
                                          <p:spTgt spid="23"/>
                                        </p:tgtEl>
                                        <p:attrNameLst>
                                          <p:attrName>stroke.color</p:attrName>
                                        </p:attrNameLst>
                                      </p:cBhvr>
                                      <p:to>
                                        <a:srgbClr val="B84742"/>
                                      </p:to>
                                    </p:animClr>
                                    <p:set>
                                      <p:cBhvr>
                                        <p:cTn id="111" dur="1000" fill="hold"/>
                                        <p:tgtEl>
                                          <p:spTgt spid="23"/>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p:bldP spid="40" grpId="0"/>
      <p:bldP spid="41" grpId="0"/>
      <p:bldP spid="42" grpId="0"/>
      <p:bldP spid="43" grpId="0"/>
      <p:bldP spid="44" grpId="0"/>
      <p:bldP spid="45" grpId="0"/>
      <p:bldP spid="47"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6096000" y="0"/>
            <a:ext cx="6096000" cy="6588000"/>
          </a:xfrm>
          <a:prstGeom prst="rect">
            <a:avLst/>
          </a:prstGeom>
          <a:gradFill flip="none" rotWithShape="1">
            <a:gsLst>
              <a:gs pos="55000">
                <a:srgbClr val="B21266"/>
              </a:gs>
              <a:gs pos="30000">
                <a:srgbClr val="A3115D">
                  <a:lumMod val="100000"/>
                </a:srgbClr>
              </a:gs>
              <a:gs pos="100000">
                <a:srgbClr val="ED6D9B"/>
              </a:gs>
            </a:gsLst>
            <a:path path="circle">
              <a:fillToRect r="100000" b="100000"/>
            </a:path>
            <a:tileRect l="-100000" t="-100000"/>
          </a:gradFill>
          <a:ln>
            <a:noFill/>
          </a:ln>
        </p:spPr>
        <p:txBody>
          <a:bodyPr vert="horz" wrap="square" lIns="91440" tIns="45720" rIns="91440" bIns="45720" numCol="1" anchor="t" anchorCtr="0" compatLnSpc="1">
            <a:prstTxWarp prst="textNoShape">
              <a:avLst/>
            </a:prstTxWarp>
          </a:bodyPr>
          <a:lstStyle/>
          <a:p>
            <a:pPr algn="just"/>
            <a:endParaRPr lang="en-US" altLang="en-US" sz="2400" dirty="0">
              <a:solidFill>
                <a:schemeClr val="bg1"/>
              </a:solidFill>
            </a:endParaRPr>
          </a:p>
        </p:txBody>
      </p:sp>
      <p:sp>
        <p:nvSpPr>
          <p:cNvPr id="5" name="TextBox 4"/>
          <p:cNvSpPr txBox="1"/>
          <p:nvPr/>
        </p:nvSpPr>
        <p:spPr>
          <a:xfrm>
            <a:off x="-1" y="6976"/>
            <a:ext cx="6217920" cy="738664"/>
          </a:xfrm>
          <a:prstGeom prst="rect">
            <a:avLst/>
          </a:prstGeom>
          <a:noFill/>
        </p:spPr>
        <p:txBody>
          <a:bodyPr wrap="square" lIns="274320" rtlCol="0" anchor="ctr">
            <a:spAutoFit/>
          </a:bodyPr>
          <a:lstStyle/>
          <a:p>
            <a:pPr>
              <a:lnSpc>
                <a:spcPct val="150000"/>
              </a:lnSpc>
            </a:pPr>
            <a:r>
              <a:rPr lang="en-US" sz="2800" dirty="0" err="1"/>
              <a:t>Kruskal’s</a:t>
            </a:r>
            <a:r>
              <a:rPr lang="en-US" sz="2800" dirty="0"/>
              <a:t> Algorithm for MST – Example 2</a:t>
            </a:r>
            <a:endParaRPr lang="en-US" sz="2800" b="1" dirty="0">
              <a:solidFill>
                <a:srgbClr val="424242"/>
              </a:solidFill>
            </a:endParaRPr>
          </a:p>
        </p:txBody>
      </p:sp>
      <p:sp>
        <p:nvSpPr>
          <p:cNvPr id="6" name="Oval 5"/>
          <p:cNvSpPr/>
          <p:nvPr/>
        </p:nvSpPr>
        <p:spPr>
          <a:xfrm>
            <a:off x="685800" y="1510940"/>
            <a:ext cx="640080" cy="640080"/>
          </a:xfrm>
          <a:prstGeom prst="ellipse">
            <a:avLst/>
          </a:prstGeom>
          <a:solidFill>
            <a:srgbClr val="8BC145"/>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1</a:t>
            </a:r>
          </a:p>
        </p:txBody>
      </p:sp>
      <p:sp>
        <p:nvSpPr>
          <p:cNvPr id="7" name="Oval 6"/>
          <p:cNvSpPr/>
          <p:nvPr/>
        </p:nvSpPr>
        <p:spPr>
          <a:xfrm>
            <a:off x="2667000" y="1510940"/>
            <a:ext cx="640080" cy="640080"/>
          </a:xfrm>
          <a:prstGeom prst="ellipse">
            <a:avLst/>
          </a:prstGeom>
          <a:solidFill>
            <a:srgbClr val="8BC145"/>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2</a:t>
            </a:r>
          </a:p>
        </p:txBody>
      </p:sp>
      <p:sp>
        <p:nvSpPr>
          <p:cNvPr id="8" name="Oval 7"/>
          <p:cNvSpPr/>
          <p:nvPr/>
        </p:nvSpPr>
        <p:spPr>
          <a:xfrm>
            <a:off x="4724400" y="1510940"/>
            <a:ext cx="640080" cy="640080"/>
          </a:xfrm>
          <a:prstGeom prst="ellipse">
            <a:avLst/>
          </a:prstGeom>
          <a:solidFill>
            <a:srgbClr val="8BC145"/>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3</a:t>
            </a:r>
          </a:p>
        </p:txBody>
      </p:sp>
      <p:sp>
        <p:nvSpPr>
          <p:cNvPr id="9" name="Oval 8"/>
          <p:cNvSpPr/>
          <p:nvPr/>
        </p:nvSpPr>
        <p:spPr>
          <a:xfrm>
            <a:off x="685800" y="3339740"/>
            <a:ext cx="640080" cy="640080"/>
          </a:xfrm>
          <a:prstGeom prst="ellipse">
            <a:avLst/>
          </a:prstGeom>
          <a:solidFill>
            <a:srgbClr val="8BC145"/>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4</a:t>
            </a:r>
          </a:p>
        </p:txBody>
      </p:sp>
      <p:sp>
        <p:nvSpPr>
          <p:cNvPr id="10" name="Oval 9"/>
          <p:cNvSpPr/>
          <p:nvPr/>
        </p:nvSpPr>
        <p:spPr>
          <a:xfrm>
            <a:off x="2743200" y="3339740"/>
            <a:ext cx="640080" cy="640080"/>
          </a:xfrm>
          <a:prstGeom prst="ellipse">
            <a:avLst/>
          </a:prstGeom>
          <a:solidFill>
            <a:srgbClr val="8BC145"/>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5</a:t>
            </a:r>
          </a:p>
        </p:txBody>
      </p:sp>
      <p:sp>
        <p:nvSpPr>
          <p:cNvPr id="11" name="Oval 10"/>
          <p:cNvSpPr/>
          <p:nvPr/>
        </p:nvSpPr>
        <p:spPr>
          <a:xfrm>
            <a:off x="4807527" y="3339740"/>
            <a:ext cx="640080" cy="640080"/>
          </a:xfrm>
          <a:prstGeom prst="ellipse">
            <a:avLst/>
          </a:prstGeom>
          <a:solidFill>
            <a:srgbClr val="8BC145"/>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6</a:t>
            </a:r>
          </a:p>
        </p:txBody>
      </p:sp>
      <p:sp>
        <p:nvSpPr>
          <p:cNvPr id="12" name="Oval 11"/>
          <p:cNvSpPr/>
          <p:nvPr/>
        </p:nvSpPr>
        <p:spPr>
          <a:xfrm>
            <a:off x="2819400" y="5168540"/>
            <a:ext cx="640080" cy="640080"/>
          </a:xfrm>
          <a:prstGeom prst="ellipse">
            <a:avLst/>
          </a:prstGeom>
          <a:solidFill>
            <a:srgbClr val="8BC145"/>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7</a:t>
            </a:r>
          </a:p>
        </p:txBody>
      </p:sp>
      <p:cxnSp>
        <p:nvCxnSpPr>
          <p:cNvPr id="13" name="Straight Connector 12"/>
          <p:cNvCxnSpPr>
            <a:stCxn id="6" idx="6"/>
            <a:endCxn id="7" idx="2"/>
          </p:cNvCxnSpPr>
          <p:nvPr/>
        </p:nvCxnSpPr>
        <p:spPr>
          <a:xfrm>
            <a:off x="1325880" y="1830980"/>
            <a:ext cx="134112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7" idx="6"/>
            <a:endCxn id="8" idx="2"/>
          </p:cNvCxnSpPr>
          <p:nvPr/>
        </p:nvCxnSpPr>
        <p:spPr>
          <a:xfrm>
            <a:off x="3307080" y="1830980"/>
            <a:ext cx="141732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9" idx="6"/>
            <a:endCxn id="10" idx="2"/>
          </p:cNvCxnSpPr>
          <p:nvPr/>
        </p:nvCxnSpPr>
        <p:spPr>
          <a:xfrm>
            <a:off x="1325880" y="3659780"/>
            <a:ext cx="141732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6" idx="4"/>
            <a:endCxn id="9" idx="0"/>
          </p:cNvCxnSpPr>
          <p:nvPr/>
        </p:nvCxnSpPr>
        <p:spPr>
          <a:xfrm>
            <a:off x="1005840" y="2151020"/>
            <a:ext cx="0" cy="118872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1" idx="3"/>
            <a:endCxn id="12" idx="6"/>
          </p:cNvCxnSpPr>
          <p:nvPr/>
        </p:nvCxnSpPr>
        <p:spPr>
          <a:xfrm flipH="1">
            <a:off x="3459480" y="3886082"/>
            <a:ext cx="1441785" cy="1602498"/>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9" idx="4"/>
            <a:endCxn id="12" idx="2"/>
          </p:cNvCxnSpPr>
          <p:nvPr/>
        </p:nvCxnSpPr>
        <p:spPr>
          <a:xfrm>
            <a:off x="1005840" y="3979820"/>
            <a:ext cx="1813560" cy="150876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735874" y="2425340"/>
            <a:ext cx="361950" cy="461665"/>
          </a:xfrm>
          <a:prstGeom prst="rect">
            <a:avLst/>
          </a:prstGeom>
          <a:noFill/>
        </p:spPr>
        <p:txBody>
          <a:bodyPr wrap="square" rtlCol="0">
            <a:spAutoFit/>
          </a:bodyPr>
          <a:lstStyle/>
          <a:p>
            <a:r>
              <a:rPr lang="en-US" sz="2400" dirty="0">
                <a:solidFill>
                  <a:srgbClr val="AD1457"/>
                </a:solidFill>
              </a:rPr>
              <a:t>4</a:t>
            </a:r>
          </a:p>
        </p:txBody>
      </p:sp>
      <p:sp>
        <p:nvSpPr>
          <p:cNvPr id="30" name="TextBox 29"/>
          <p:cNvSpPr txBox="1"/>
          <p:nvPr/>
        </p:nvSpPr>
        <p:spPr>
          <a:xfrm>
            <a:off x="2057400" y="3568340"/>
            <a:ext cx="361950" cy="461665"/>
          </a:xfrm>
          <a:prstGeom prst="rect">
            <a:avLst/>
          </a:prstGeom>
          <a:noFill/>
        </p:spPr>
        <p:txBody>
          <a:bodyPr wrap="square" rtlCol="0">
            <a:spAutoFit/>
          </a:bodyPr>
          <a:lstStyle/>
          <a:p>
            <a:r>
              <a:rPr lang="en-US" sz="2400" dirty="0">
                <a:solidFill>
                  <a:srgbClr val="AD1457"/>
                </a:solidFill>
              </a:rPr>
              <a:t>3</a:t>
            </a:r>
          </a:p>
        </p:txBody>
      </p:sp>
      <p:sp>
        <p:nvSpPr>
          <p:cNvPr id="32" name="TextBox 31"/>
          <p:cNvSpPr txBox="1"/>
          <p:nvPr/>
        </p:nvSpPr>
        <p:spPr>
          <a:xfrm>
            <a:off x="1600200" y="4554475"/>
            <a:ext cx="361950" cy="461665"/>
          </a:xfrm>
          <a:prstGeom prst="rect">
            <a:avLst/>
          </a:prstGeom>
          <a:noFill/>
        </p:spPr>
        <p:txBody>
          <a:bodyPr wrap="square" rtlCol="0">
            <a:spAutoFit/>
          </a:bodyPr>
          <a:lstStyle/>
          <a:p>
            <a:r>
              <a:rPr lang="en-US" sz="2400" dirty="0">
                <a:solidFill>
                  <a:srgbClr val="AD1457"/>
                </a:solidFill>
              </a:rPr>
              <a:t>4</a:t>
            </a:r>
          </a:p>
        </p:txBody>
      </p:sp>
      <p:sp>
        <p:nvSpPr>
          <p:cNvPr id="34" name="TextBox 33"/>
          <p:cNvSpPr txBox="1"/>
          <p:nvPr/>
        </p:nvSpPr>
        <p:spPr>
          <a:xfrm>
            <a:off x="4191000" y="4482740"/>
            <a:ext cx="361950" cy="461665"/>
          </a:xfrm>
          <a:prstGeom prst="rect">
            <a:avLst/>
          </a:prstGeom>
          <a:noFill/>
        </p:spPr>
        <p:txBody>
          <a:bodyPr wrap="square" rtlCol="0">
            <a:spAutoFit/>
          </a:bodyPr>
          <a:lstStyle/>
          <a:p>
            <a:r>
              <a:rPr lang="en-US" sz="2400" dirty="0">
                <a:solidFill>
                  <a:srgbClr val="AD1457"/>
                </a:solidFill>
              </a:rPr>
              <a:t>3</a:t>
            </a:r>
          </a:p>
        </p:txBody>
      </p:sp>
      <p:sp>
        <p:nvSpPr>
          <p:cNvPr id="35" name="TextBox 34"/>
          <p:cNvSpPr txBox="1"/>
          <p:nvPr/>
        </p:nvSpPr>
        <p:spPr>
          <a:xfrm>
            <a:off x="1924050" y="1434740"/>
            <a:ext cx="361950" cy="461665"/>
          </a:xfrm>
          <a:prstGeom prst="rect">
            <a:avLst/>
          </a:prstGeom>
          <a:noFill/>
        </p:spPr>
        <p:txBody>
          <a:bodyPr wrap="square" rtlCol="0">
            <a:spAutoFit/>
          </a:bodyPr>
          <a:lstStyle/>
          <a:p>
            <a:r>
              <a:rPr lang="en-US" sz="2400" dirty="0">
                <a:solidFill>
                  <a:srgbClr val="AD1457"/>
                </a:solidFill>
              </a:rPr>
              <a:t>1</a:t>
            </a:r>
          </a:p>
        </p:txBody>
      </p:sp>
      <p:sp>
        <p:nvSpPr>
          <p:cNvPr id="36" name="TextBox 35"/>
          <p:cNvSpPr txBox="1"/>
          <p:nvPr/>
        </p:nvSpPr>
        <p:spPr>
          <a:xfrm>
            <a:off x="3905250" y="1430275"/>
            <a:ext cx="361950" cy="461665"/>
          </a:xfrm>
          <a:prstGeom prst="rect">
            <a:avLst/>
          </a:prstGeom>
          <a:noFill/>
        </p:spPr>
        <p:txBody>
          <a:bodyPr wrap="square" rtlCol="0">
            <a:spAutoFit/>
          </a:bodyPr>
          <a:lstStyle/>
          <a:p>
            <a:r>
              <a:rPr lang="en-US" sz="2400" dirty="0">
                <a:solidFill>
                  <a:srgbClr val="AD1457"/>
                </a:solidFill>
              </a:rPr>
              <a:t>2</a:t>
            </a:r>
          </a:p>
        </p:txBody>
      </p:sp>
      <p:sp>
        <p:nvSpPr>
          <p:cNvPr id="37" name="TextBox 36"/>
          <p:cNvSpPr txBox="1"/>
          <p:nvPr/>
        </p:nvSpPr>
        <p:spPr>
          <a:xfrm>
            <a:off x="6107974" y="0"/>
            <a:ext cx="851515" cy="400110"/>
          </a:xfrm>
          <a:prstGeom prst="rect">
            <a:avLst/>
          </a:prstGeom>
          <a:noFill/>
          <a:ln w="28575">
            <a:solidFill>
              <a:schemeClr val="accent5"/>
            </a:solidFill>
          </a:ln>
        </p:spPr>
        <p:txBody>
          <a:bodyPr wrap="none" rtlCol="0">
            <a:spAutoFit/>
          </a:bodyPr>
          <a:lstStyle/>
          <a:p>
            <a:r>
              <a:rPr lang="en-IN" sz="2000" b="1" dirty="0">
                <a:solidFill>
                  <a:schemeClr val="bg1"/>
                </a:solidFill>
              </a:rPr>
              <a:t>Step:3</a:t>
            </a:r>
            <a:endParaRPr lang="en-US" sz="2000" b="1" dirty="0">
              <a:solidFill>
                <a:schemeClr val="bg1"/>
              </a:solidFill>
            </a:endParaRPr>
          </a:p>
        </p:txBody>
      </p:sp>
      <p:sp>
        <p:nvSpPr>
          <p:cNvPr id="38" name="TextBox 37"/>
          <p:cNvSpPr txBox="1"/>
          <p:nvPr/>
        </p:nvSpPr>
        <p:spPr>
          <a:xfrm>
            <a:off x="6094911" y="418597"/>
            <a:ext cx="5829300" cy="430887"/>
          </a:xfrm>
          <a:prstGeom prst="rect">
            <a:avLst/>
          </a:prstGeom>
          <a:noFill/>
        </p:spPr>
        <p:txBody>
          <a:bodyPr wrap="square" rtlCol="0">
            <a:spAutoFit/>
          </a:bodyPr>
          <a:lstStyle/>
          <a:p>
            <a:pPr algn="ctr"/>
            <a:r>
              <a:rPr lang="en-US" sz="2200" b="1" dirty="0">
                <a:solidFill>
                  <a:schemeClr val="accent5"/>
                </a:solidFill>
              </a:rPr>
              <a:t>The minimum spanning tree for the given graph.</a:t>
            </a:r>
          </a:p>
        </p:txBody>
      </p:sp>
      <p:graphicFrame>
        <p:nvGraphicFramePr>
          <p:cNvPr id="39" name="Table 38"/>
          <p:cNvGraphicFramePr>
            <a:graphicFrameLocks noGrp="1"/>
          </p:cNvGraphicFramePr>
          <p:nvPr>
            <p:extLst>
              <p:ext uri="{D42A27DB-BD31-4B8C-83A1-F6EECF244321}">
                <p14:modId xmlns:p14="http://schemas.microsoft.com/office/powerpoint/2010/main" val="3672390158"/>
              </p:ext>
            </p:extLst>
          </p:nvPr>
        </p:nvGraphicFramePr>
        <p:xfrm>
          <a:off x="7747363" y="1023737"/>
          <a:ext cx="2638567" cy="2911058"/>
        </p:xfrm>
        <a:graphic>
          <a:graphicData uri="http://schemas.openxmlformats.org/drawingml/2006/table">
            <a:tbl>
              <a:tblPr firstRow="1" bandRow="1">
                <a:tableStyleId>{5C22544A-7EE6-4342-B048-85BDC9FD1C3A}</a:tableStyleId>
              </a:tblPr>
              <a:tblGrid>
                <a:gridCol w="952500">
                  <a:extLst>
                    <a:ext uri="{9D8B030D-6E8A-4147-A177-3AD203B41FA5}">
                      <a16:colId xmlns:a16="http://schemas.microsoft.com/office/drawing/2014/main" val="1582560717"/>
                    </a:ext>
                  </a:extLst>
                </a:gridCol>
                <a:gridCol w="1088046">
                  <a:extLst>
                    <a:ext uri="{9D8B030D-6E8A-4147-A177-3AD203B41FA5}">
                      <a16:colId xmlns:a16="http://schemas.microsoft.com/office/drawing/2014/main" val="511824500"/>
                    </a:ext>
                  </a:extLst>
                </a:gridCol>
                <a:gridCol w="598021">
                  <a:extLst>
                    <a:ext uri="{9D8B030D-6E8A-4147-A177-3AD203B41FA5}">
                      <a16:colId xmlns:a16="http://schemas.microsoft.com/office/drawing/2014/main" val="3593019890"/>
                    </a:ext>
                  </a:extLst>
                </a:gridCol>
              </a:tblGrid>
              <a:tr h="392804">
                <a:tc>
                  <a:txBody>
                    <a:bodyPr/>
                    <a:lstStyle/>
                    <a:p>
                      <a:pPr algn="ctr"/>
                      <a:r>
                        <a:rPr lang="en-US" dirty="0">
                          <a:solidFill>
                            <a:schemeClr val="accent2">
                              <a:lumMod val="60000"/>
                              <a:lumOff val="40000"/>
                            </a:schemeClr>
                          </a:solidFill>
                        </a:rPr>
                        <a:t>Edges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accent2">
                              <a:lumMod val="60000"/>
                              <a:lumOff val="40000"/>
                            </a:schemeClr>
                          </a:solidFill>
                        </a:rPr>
                        <a:t>Weight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6574443"/>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{1, 2}</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rPr>
                        <a:t>1</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604744"/>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{2, 3}</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2</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7217928"/>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{4, 5}</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3</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4933460"/>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{6, 7}</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3</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772278"/>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{1, 4}</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4</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955693"/>
                  </a:ext>
                </a:extLst>
              </a:tr>
              <a:tr h="419709">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000" b="1" dirty="0">
                          <a:solidFill>
                            <a:schemeClr val="accent3"/>
                          </a:solidFill>
                          <a:latin typeface="+mn-lt"/>
                          <a:ea typeface="Times New Roman" panose="02020603050405020304" pitchFamily="18" charset="0"/>
                          <a:cs typeface="Times New Roman" panose="02020603050405020304" pitchFamily="18" charset="0"/>
                        </a:rPr>
                        <a:t>{4, 7}</a:t>
                      </a:r>
                      <a:r>
                        <a:rPr lang="en-US" sz="2000" b="1" baseline="0" dirty="0">
                          <a:solidFill>
                            <a:schemeClr val="accent3"/>
                          </a:solidFill>
                          <a:latin typeface="+mn-lt"/>
                          <a:ea typeface="Times New Roman" panose="02020603050405020304" pitchFamily="18" charset="0"/>
                          <a:cs typeface="Times New Roman" panose="02020603050405020304" pitchFamily="18" charset="0"/>
                        </a:rPr>
                        <a:t> </a:t>
                      </a:r>
                      <a:endParaRPr kumimoji="0" lang="en-US" altLang="en-US" sz="2000" b="1" i="0" u="none" strike="noStrike" cap="none" normalizeH="0" baseline="0" dirty="0">
                        <a:ln>
                          <a:noFill/>
                        </a:ln>
                        <a:solidFill>
                          <a:schemeClr val="accent3"/>
                        </a:solidFill>
                        <a:effectLst/>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accent3"/>
                          </a:solidFill>
                          <a:effectLst/>
                          <a:latin typeface="+mn-lt"/>
                          <a:sym typeface="Symbol" panose="05050102010706020507" pitchFamily="18" charset="2"/>
                        </a:rPr>
                        <a:t>4</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000" dirty="0">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4576407"/>
                  </a:ext>
                </a:extLst>
              </a:tr>
            </a:tbl>
          </a:graphicData>
        </a:graphic>
      </p:graphicFrame>
      <p:sp>
        <p:nvSpPr>
          <p:cNvPr id="40" name="Rounded Rectangle 39"/>
          <p:cNvSpPr/>
          <p:nvPr/>
        </p:nvSpPr>
        <p:spPr>
          <a:xfrm>
            <a:off x="9818917" y="1410789"/>
            <a:ext cx="457200" cy="41809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20000"/>
              </a:spcBef>
              <a:spcAft>
                <a:spcPct val="0"/>
              </a:spcAft>
              <a:defRPr/>
            </a:pPr>
            <a:r>
              <a:rPr lang="en-US" altLang="en-US" sz="2400" b="1" i="1" dirty="0">
                <a:solidFill>
                  <a:srgbClr val="F19D19"/>
                </a:solidFill>
                <a:latin typeface="Times New Roman" panose="02020603050405020304" pitchFamily="18" charset="0"/>
                <a:sym typeface="Symbol" panose="05050102010706020507" pitchFamily="18" charset="2"/>
              </a:rPr>
              <a:t></a:t>
            </a:r>
            <a:r>
              <a:rPr lang="en-US" altLang="en-US" sz="2400" b="1" dirty="0">
                <a:solidFill>
                  <a:srgbClr val="F19D19"/>
                </a:solidFill>
                <a:sym typeface="Symbol" panose="05050102010706020507" pitchFamily="18" charset="2"/>
              </a:rPr>
              <a:t> </a:t>
            </a:r>
          </a:p>
        </p:txBody>
      </p:sp>
      <p:sp>
        <p:nvSpPr>
          <p:cNvPr id="41" name="Rounded Rectangle 40"/>
          <p:cNvSpPr/>
          <p:nvPr/>
        </p:nvSpPr>
        <p:spPr>
          <a:xfrm>
            <a:off x="9818917" y="1830890"/>
            <a:ext cx="457200" cy="41809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20000"/>
              </a:spcBef>
              <a:spcAft>
                <a:spcPct val="0"/>
              </a:spcAft>
              <a:defRPr/>
            </a:pPr>
            <a:r>
              <a:rPr lang="en-US" altLang="en-US" sz="2400" b="1" i="1" dirty="0">
                <a:solidFill>
                  <a:srgbClr val="F19D19"/>
                </a:solidFill>
                <a:latin typeface="Times New Roman" panose="02020603050405020304" pitchFamily="18" charset="0"/>
                <a:sym typeface="Symbol" panose="05050102010706020507" pitchFamily="18" charset="2"/>
              </a:rPr>
              <a:t></a:t>
            </a:r>
            <a:r>
              <a:rPr lang="en-US" altLang="en-US" sz="2400" b="1" dirty="0">
                <a:solidFill>
                  <a:srgbClr val="F19D19"/>
                </a:solidFill>
                <a:sym typeface="Symbol" panose="05050102010706020507" pitchFamily="18" charset="2"/>
              </a:rPr>
              <a:t> </a:t>
            </a:r>
          </a:p>
        </p:txBody>
      </p:sp>
      <p:sp>
        <p:nvSpPr>
          <p:cNvPr id="42" name="Rounded Rectangle 41"/>
          <p:cNvSpPr/>
          <p:nvPr/>
        </p:nvSpPr>
        <p:spPr>
          <a:xfrm>
            <a:off x="9818917" y="2248989"/>
            <a:ext cx="457200" cy="41809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20000"/>
              </a:spcBef>
              <a:spcAft>
                <a:spcPct val="0"/>
              </a:spcAft>
              <a:defRPr/>
            </a:pPr>
            <a:r>
              <a:rPr lang="en-US" altLang="en-US" sz="2400" b="1" i="1" dirty="0">
                <a:solidFill>
                  <a:srgbClr val="F19D19"/>
                </a:solidFill>
                <a:latin typeface="Times New Roman" panose="02020603050405020304" pitchFamily="18" charset="0"/>
                <a:sym typeface="Symbol" panose="05050102010706020507" pitchFamily="18" charset="2"/>
              </a:rPr>
              <a:t></a:t>
            </a:r>
            <a:r>
              <a:rPr lang="en-US" altLang="en-US" sz="2400" b="1" dirty="0">
                <a:solidFill>
                  <a:srgbClr val="F19D19"/>
                </a:solidFill>
                <a:sym typeface="Symbol" panose="05050102010706020507" pitchFamily="18" charset="2"/>
              </a:rPr>
              <a:t> </a:t>
            </a:r>
          </a:p>
        </p:txBody>
      </p:sp>
      <p:sp>
        <p:nvSpPr>
          <p:cNvPr id="43" name="Rounded Rectangle 42"/>
          <p:cNvSpPr/>
          <p:nvPr/>
        </p:nvSpPr>
        <p:spPr>
          <a:xfrm>
            <a:off x="9818917" y="2629989"/>
            <a:ext cx="457200" cy="41809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20000"/>
              </a:spcBef>
              <a:spcAft>
                <a:spcPct val="0"/>
              </a:spcAft>
              <a:defRPr/>
            </a:pPr>
            <a:r>
              <a:rPr lang="en-US" altLang="en-US" sz="2400" b="1" i="1" dirty="0">
                <a:solidFill>
                  <a:srgbClr val="F19D19"/>
                </a:solidFill>
                <a:latin typeface="Times New Roman" panose="02020603050405020304" pitchFamily="18" charset="0"/>
                <a:sym typeface="Symbol" panose="05050102010706020507" pitchFamily="18" charset="2"/>
              </a:rPr>
              <a:t></a:t>
            </a:r>
            <a:r>
              <a:rPr lang="en-US" altLang="en-US" sz="2400" b="1" dirty="0">
                <a:solidFill>
                  <a:srgbClr val="F19D19"/>
                </a:solidFill>
                <a:sym typeface="Symbol" panose="05050102010706020507" pitchFamily="18" charset="2"/>
              </a:rPr>
              <a:t> </a:t>
            </a:r>
          </a:p>
        </p:txBody>
      </p:sp>
      <p:sp>
        <p:nvSpPr>
          <p:cNvPr id="44" name="Rounded Rectangle 43"/>
          <p:cNvSpPr/>
          <p:nvPr/>
        </p:nvSpPr>
        <p:spPr>
          <a:xfrm>
            <a:off x="9818917" y="3094116"/>
            <a:ext cx="457200" cy="45027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20000"/>
              </a:spcBef>
              <a:spcAft>
                <a:spcPct val="0"/>
              </a:spcAft>
              <a:defRPr/>
            </a:pPr>
            <a:r>
              <a:rPr lang="en-US" altLang="en-US" sz="2400" b="1" i="1" dirty="0">
                <a:solidFill>
                  <a:srgbClr val="F19D19"/>
                </a:solidFill>
                <a:latin typeface="Times New Roman" panose="02020603050405020304" pitchFamily="18" charset="0"/>
                <a:sym typeface="Symbol" panose="05050102010706020507" pitchFamily="18" charset="2"/>
              </a:rPr>
              <a:t></a:t>
            </a:r>
            <a:r>
              <a:rPr lang="en-US" altLang="en-US" sz="2400" b="1" dirty="0">
                <a:solidFill>
                  <a:srgbClr val="F19D19"/>
                </a:solidFill>
                <a:sym typeface="Symbol" panose="05050102010706020507" pitchFamily="18" charset="2"/>
              </a:rPr>
              <a:t> </a:t>
            </a:r>
          </a:p>
        </p:txBody>
      </p:sp>
      <p:sp>
        <p:nvSpPr>
          <p:cNvPr id="45" name="Rounded Rectangle 44"/>
          <p:cNvSpPr/>
          <p:nvPr/>
        </p:nvSpPr>
        <p:spPr>
          <a:xfrm>
            <a:off x="9805854" y="3522528"/>
            <a:ext cx="457200" cy="41809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spcBef>
                <a:spcPct val="20000"/>
              </a:spcBef>
              <a:spcAft>
                <a:spcPct val="0"/>
              </a:spcAft>
              <a:defRPr/>
            </a:pPr>
            <a:r>
              <a:rPr lang="en-US" altLang="en-US" sz="2400" b="1" i="1" dirty="0">
                <a:solidFill>
                  <a:srgbClr val="F19D19"/>
                </a:solidFill>
                <a:latin typeface="Times New Roman" panose="02020603050405020304" pitchFamily="18" charset="0"/>
                <a:sym typeface="Symbol" panose="05050102010706020507" pitchFamily="18" charset="2"/>
              </a:rPr>
              <a:t></a:t>
            </a:r>
            <a:r>
              <a:rPr lang="en-US" altLang="en-US" sz="2400" b="1" dirty="0">
                <a:solidFill>
                  <a:srgbClr val="F19D19"/>
                </a:solidFill>
                <a:sym typeface="Symbol" panose="05050102010706020507" pitchFamily="18" charset="2"/>
              </a:rPr>
              <a:t> </a:t>
            </a:r>
          </a:p>
        </p:txBody>
      </p:sp>
      <p:sp>
        <p:nvSpPr>
          <p:cNvPr id="49" name="Rectangle 48"/>
          <p:cNvSpPr/>
          <p:nvPr/>
        </p:nvSpPr>
        <p:spPr>
          <a:xfrm>
            <a:off x="8075023" y="4428894"/>
            <a:ext cx="2133918" cy="461665"/>
          </a:xfrm>
          <a:prstGeom prst="rect">
            <a:avLst/>
          </a:prstGeom>
          <a:solidFill>
            <a:srgbClr val="F9C5D7"/>
          </a:solidFill>
        </p:spPr>
        <p:txBody>
          <a:bodyPr wrap="none">
            <a:spAutoFit/>
          </a:bodyPr>
          <a:lstStyle/>
          <a:p>
            <a:r>
              <a:rPr lang="en-US" sz="2400" b="1" dirty="0">
                <a:solidFill>
                  <a:srgbClr val="AD1457"/>
                </a:solidFill>
              </a:rPr>
              <a:t>Total Cost  = 17</a:t>
            </a:r>
          </a:p>
        </p:txBody>
      </p:sp>
    </p:spTree>
    <p:extLst>
      <p:ext uri="{BB962C8B-B14F-4D97-AF65-F5344CB8AC3E}">
        <p14:creationId xmlns:p14="http://schemas.microsoft.com/office/powerpoint/2010/main" val="1095296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500"/>
                                        <p:tgtEl>
                                          <p:spTgt spid="38"/>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49"/>
                                        </p:tgtEl>
                                        <p:attrNameLst>
                                          <p:attrName>style.visibility</p:attrName>
                                        </p:attrNameLst>
                                      </p:cBhvr>
                                      <p:to>
                                        <p:strVal val="visible"/>
                                      </p:to>
                                    </p:set>
                                    <p:animEffect transition="in" filter="fade">
                                      <p:cBhvr>
                                        <p:cTn id="14"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p:bldP spid="49"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Kruskal’s</a:t>
            </a:r>
            <a:r>
              <a:rPr lang="en-US" dirty="0"/>
              <a:t> Algorithm – Example 2</a:t>
            </a:r>
          </a:p>
        </p:txBody>
      </p:sp>
      <p:graphicFrame>
        <p:nvGraphicFramePr>
          <p:cNvPr id="4" name="Content Placeholder 5"/>
          <p:cNvGraphicFramePr>
            <a:graphicFrameLocks/>
          </p:cNvGraphicFramePr>
          <p:nvPr>
            <p:extLst>
              <p:ext uri="{D42A27DB-BD31-4B8C-83A1-F6EECF244321}">
                <p14:modId xmlns:p14="http://schemas.microsoft.com/office/powerpoint/2010/main" val="2003306024"/>
              </p:ext>
            </p:extLst>
          </p:nvPr>
        </p:nvGraphicFramePr>
        <p:xfrm>
          <a:off x="831797" y="1031965"/>
          <a:ext cx="6445622" cy="4502622"/>
        </p:xfrm>
        <a:graphic>
          <a:graphicData uri="http://schemas.openxmlformats.org/drawingml/2006/table">
            <a:tbl>
              <a:tblPr firstRow="1" firstCol="1" bandRow="1">
                <a:tableStyleId>{5C22544A-7EE6-4342-B048-85BDC9FD1C3A}</a:tableStyleId>
              </a:tblPr>
              <a:tblGrid>
                <a:gridCol w="805703">
                  <a:extLst>
                    <a:ext uri="{9D8B030D-6E8A-4147-A177-3AD203B41FA5}">
                      <a16:colId xmlns:a16="http://schemas.microsoft.com/office/drawing/2014/main" val="3927548896"/>
                    </a:ext>
                  </a:extLst>
                </a:gridCol>
                <a:gridCol w="2175397">
                  <a:extLst>
                    <a:ext uri="{9D8B030D-6E8A-4147-A177-3AD203B41FA5}">
                      <a16:colId xmlns:a16="http://schemas.microsoft.com/office/drawing/2014/main" val="4102646267"/>
                    </a:ext>
                  </a:extLst>
                </a:gridCol>
                <a:gridCol w="3464522">
                  <a:extLst>
                    <a:ext uri="{9D8B030D-6E8A-4147-A177-3AD203B41FA5}">
                      <a16:colId xmlns:a16="http://schemas.microsoft.com/office/drawing/2014/main" val="4119773957"/>
                    </a:ext>
                  </a:extLst>
                </a:gridCol>
              </a:tblGrid>
              <a:tr h="731521">
                <a:tc>
                  <a:txBody>
                    <a:bodyPr/>
                    <a:lstStyle/>
                    <a:p>
                      <a:pPr marL="0" marR="0" algn="ctr">
                        <a:lnSpc>
                          <a:spcPct val="115000"/>
                        </a:lnSpc>
                        <a:spcBef>
                          <a:spcPts val="0"/>
                        </a:spcBef>
                        <a:spcAft>
                          <a:spcPts val="0"/>
                        </a:spcAft>
                      </a:pPr>
                      <a:r>
                        <a:rPr lang="en-US" sz="2000" dirty="0">
                          <a:solidFill>
                            <a:srgbClr val="AD1457"/>
                          </a:solidFill>
                          <a:effectLst/>
                        </a:rPr>
                        <a:t>Step</a:t>
                      </a:r>
                      <a:endParaRPr lang="en-US" sz="2000" dirty="0">
                        <a:solidFill>
                          <a:srgbClr val="AD1457"/>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85000"/>
                      </a:schemeClr>
                    </a:solidFill>
                  </a:tcPr>
                </a:tc>
                <a:tc>
                  <a:txBody>
                    <a:bodyPr/>
                    <a:lstStyle/>
                    <a:p>
                      <a:pPr marL="0" marR="0" algn="ctr">
                        <a:lnSpc>
                          <a:spcPct val="115000"/>
                        </a:lnSpc>
                        <a:spcBef>
                          <a:spcPts val="0"/>
                        </a:spcBef>
                        <a:spcAft>
                          <a:spcPts val="0"/>
                        </a:spcAft>
                      </a:pPr>
                      <a:r>
                        <a:rPr lang="en-US" sz="2000" dirty="0">
                          <a:solidFill>
                            <a:srgbClr val="AD1457"/>
                          </a:solidFill>
                          <a:effectLst/>
                        </a:rPr>
                        <a:t>Edges considered - {u, v}</a:t>
                      </a:r>
                      <a:endParaRPr lang="en-US" sz="2000" dirty="0">
                        <a:solidFill>
                          <a:srgbClr val="AD1457"/>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85000"/>
                      </a:schemeClr>
                    </a:solidFill>
                  </a:tcPr>
                </a:tc>
                <a:tc>
                  <a:txBody>
                    <a:bodyPr/>
                    <a:lstStyle/>
                    <a:p>
                      <a:pPr marL="0" marR="0" algn="ctr">
                        <a:lnSpc>
                          <a:spcPct val="115000"/>
                        </a:lnSpc>
                        <a:spcBef>
                          <a:spcPts val="0"/>
                        </a:spcBef>
                        <a:spcAft>
                          <a:spcPts val="0"/>
                        </a:spcAft>
                      </a:pPr>
                      <a:r>
                        <a:rPr lang="en-US" sz="2000" dirty="0">
                          <a:solidFill>
                            <a:srgbClr val="AD1457"/>
                          </a:solidFill>
                          <a:effectLst/>
                        </a:rPr>
                        <a:t>Connected Components</a:t>
                      </a:r>
                      <a:endParaRPr lang="en-US" sz="2000" dirty="0">
                        <a:solidFill>
                          <a:srgbClr val="AD1457"/>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85000"/>
                      </a:schemeClr>
                    </a:solidFill>
                  </a:tcPr>
                </a:tc>
                <a:extLst>
                  <a:ext uri="{0D108BD9-81ED-4DB2-BD59-A6C34878D82A}">
                    <a16:rowId xmlns:a16="http://schemas.microsoft.com/office/drawing/2014/main" val="2462586495"/>
                  </a:ext>
                </a:extLst>
              </a:tr>
              <a:tr h="511978">
                <a:tc>
                  <a:txBody>
                    <a:bodyPr/>
                    <a:lstStyle/>
                    <a:p>
                      <a:pPr marL="0" marR="0" algn="ctr">
                        <a:lnSpc>
                          <a:spcPct val="115000"/>
                        </a:lnSpc>
                        <a:spcBef>
                          <a:spcPts val="0"/>
                        </a:spcBef>
                        <a:spcAft>
                          <a:spcPts val="0"/>
                        </a:spcAft>
                      </a:pPr>
                      <a:r>
                        <a:rPr lang="en-US" sz="2400" b="0" dirty="0" err="1">
                          <a:solidFill>
                            <a:schemeClr val="tx1"/>
                          </a:solidFill>
                          <a:effectLst/>
                          <a:latin typeface="Calibri" panose="020F0502020204030204" pitchFamily="34" charset="0"/>
                          <a:ea typeface="Times New Roman" panose="02020603050405020304" pitchFamily="18" charset="0"/>
                          <a:cs typeface="Shruti" panose="020B0502040204020203" pitchFamily="34" charset="0"/>
                        </a:rPr>
                        <a:t>Init.</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chemeClr val="tx1"/>
                          </a:solidFill>
                          <a:effectLst/>
                          <a:latin typeface="Calibri" panose="020F0502020204030204" pitchFamily="34" charset="0"/>
                        </a:rPr>
                        <a:t>-</a:t>
                      </a:r>
                      <a:endParaRPr lang="en-US" sz="24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rPr>
                        <a:t>{1} {2} {3} {4} {5} {6} {7}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9465674"/>
                  </a:ext>
                </a:extLst>
              </a:tr>
              <a:tr h="465589">
                <a:tc>
                  <a:txBody>
                    <a:bodyPr/>
                    <a:lstStyle/>
                    <a:p>
                      <a:pPr marL="0" marR="0" algn="ctr">
                        <a:lnSpc>
                          <a:spcPct val="115000"/>
                        </a:lnSpc>
                        <a:spcBef>
                          <a:spcPts val="0"/>
                        </a:spcBef>
                        <a:spcAft>
                          <a:spcPts val="0"/>
                        </a:spcAft>
                      </a:pPr>
                      <a:r>
                        <a:rPr lang="en-US" sz="2400" b="0" dirty="0">
                          <a:solidFill>
                            <a:schemeClr val="tx1"/>
                          </a:solidFill>
                          <a:effectLst/>
                          <a:latin typeface="Calibri" panose="020F0502020204030204" pitchFamily="34" charset="0"/>
                        </a:rPr>
                        <a:t>1</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chemeClr val="tx1"/>
                          </a:solidFill>
                          <a:effectLst/>
                          <a:latin typeface="Calibri" panose="020F0502020204030204" pitchFamily="34" charset="0"/>
                        </a:rPr>
                        <a:t>{1,2}</a:t>
                      </a:r>
                      <a:endParaRPr lang="en-US" sz="24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rPr>
                        <a:t>{1,2} (3} {4} {5} {6} {7}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15384"/>
                  </a:ext>
                </a:extLst>
              </a:tr>
              <a:tr h="465589">
                <a:tc>
                  <a:txBody>
                    <a:bodyPr/>
                    <a:lstStyle/>
                    <a:p>
                      <a:pPr marL="0" marR="0" algn="ctr">
                        <a:lnSpc>
                          <a:spcPct val="115000"/>
                        </a:lnSpc>
                        <a:spcBef>
                          <a:spcPts val="0"/>
                        </a:spcBef>
                        <a:spcAft>
                          <a:spcPts val="0"/>
                        </a:spcAft>
                      </a:pPr>
                      <a:r>
                        <a:rPr lang="en-US" sz="2400" b="0" dirty="0">
                          <a:solidFill>
                            <a:schemeClr val="tx1"/>
                          </a:solidFill>
                          <a:effectLst/>
                          <a:latin typeface="Calibri" panose="020F0502020204030204" pitchFamily="34" charset="0"/>
                        </a:rPr>
                        <a:t>2</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chemeClr val="tx1"/>
                          </a:solidFill>
                          <a:effectLst/>
                          <a:latin typeface="Calibri" panose="020F0502020204030204" pitchFamily="34" charset="0"/>
                        </a:rPr>
                        <a:t>{2,3}</a:t>
                      </a:r>
                      <a:endParaRPr lang="en-US" sz="24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rPr>
                        <a:t>{1,2,3} {4} {5} {6} {7}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4312553"/>
                  </a:ext>
                </a:extLst>
              </a:tr>
              <a:tr h="465589">
                <a:tc>
                  <a:txBody>
                    <a:bodyPr/>
                    <a:lstStyle/>
                    <a:p>
                      <a:pPr marL="0" marR="0" algn="ctr">
                        <a:lnSpc>
                          <a:spcPct val="115000"/>
                        </a:lnSpc>
                        <a:spcBef>
                          <a:spcPts val="0"/>
                        </a:spcBef>
                        <a:spcAft>
                          <a:spcPts val="0"/>
                        </a:spcAft>
                      </a:pPr>
                      <a:r>
                        <a:rPr lang="en-US" sz="2400" b="0" dirty="0">
                          <a:solidFill>
                            <a:schemeClr val="tx1"/>
                          </a:solidFill>
                          <a:effectLst/>
                          <a:latin typeface="Calibri" panose="020F0502020204030204" pitchFamily="34" charset="0"/>
                        </a:rPr>
                        <a:t>3</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chemeClr val="tx1"/>
                          </a:solidFill>
                          <a:effectLst/>
                          <a:latin typeface="Calibri" panose="020F0502020204030204" pitchFamily="34" charset="0"/>
                        </a:rPr>
                        <a:t>{4,5}</a:t>
                      </a:r>
                      <a:endParaRPr lang="en-US" sz="24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rPr>
                        <a:t>{1,2,3} {4,5} {6} {7}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0105355"/>
                  </a:ext>
                </a:extLst>
              </a:tr>
              <a:tr h="465589">
                <a:tc>
                  <a:txBody>
                    <a:bodyPr/>
                    <a:lstStyle/>
                    <a:p>
                      <a:pPr marL="0" marR="0" algn="ctr">
                        <a:lnSpc>
                          <a:spcPct val="115000"/>
                        </a:lnSpc>
                        <a:spcBef>
                          <a:spcPts val="0"/>
                        </a:spcBef>
                        <a:spcAft>
                          <a:spcPts val="0"/>
                        </a:spcAft>
                      </a:pPr>
                      <a:r>
                        <a:rPr lang="en-US" sz="2400" b="0" dirty="0">
                          <a:solidFill>
                            <a:schemeClr val="tx1"/>
                          </a:solidFill>
                          <a:effectLst/>
                          <a:latin typeface="Calibri" panose="020F0502020204030204" pitchFamily="34" charset="0"/>
                        </a:rPr>
                        <a:t>4</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chemeClr val="tx1"/>
                          </a:solidFill>
                          <a:effectLst/>
                          <a:latin typeface="Calibri" panose="020F0502020204030204" pitchFamily="34" charset="0"/>
                        </a:rPr>
                        <a:t>{6,7}</a:t>
                      </a:r>
                      <a:endParaRPr lang="en-US" sz="24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rPr>
                        <a:t>{1,2,3} {4,5} {6,7}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1938409"/>
                  </a:ext>
                </a:extLst>
              </a:tr>
              <a:tr h="465589">
                <a:tc>
                  <a:txBody>
                    <a:bodyPr/>
                    <a:lstStyle/>
                    <a:p>
                      <a:pPr marL="0" marR="0" algn="ctr">
                        <a:lnSpc>
                          <a:spcPct val="115000"/>
                        </a:lnSpc>
                        <a:spcBef>
                          <a:spcPts val="0"/>
                        </a:spcBef>
                        <a:spcAft>
                          <a:spcPts val="0"/>
                        </a:spcAft>
                      </a:pPr>
                      <a:r>
                        <a:rPr lang="en-US" sz="2400" b="0" dirty="0">
                          <a:solidFill>
                            <a:schemeClr val="tx1"/>
                          </a:solidFill>
                          <a:effectLst/>
                          <a:latin typeface="Calibri" panose="020F0502020204030204" pitchFamily="34" charset="0"/>
                        </a:rPr>
                        <a:t>5</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chemeClr val="tx1"/>
                          </a:solidFill>
                          <a:effectLst/>
                          <a:latin typeface="Calibri" panose="020F0502020204030204" pitchFamily="34" charset="0"/>
                        </a:rPr>
                        <a:t>{1,4}</a:t>
                      </a:r>
                      <a:endParaRPr lang="en-US" sz="24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rPr>
                        <a:t>{1,2,3,4,5} {6,7}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9004122"/>
                  </a:ext>
                </a:extLst>
              </a:tr>
              <a:tr h="465589">
                <a:tc>
                  <a:txBody>
                    <a:bodyPr/>
                    <a:lstStyle/>
                    <a:p>
                      <a:pPr marL="0" marR="0" algn="ctr">
                        <a:lnSpc>
                          <a:spcPct val="115000"/>
                        </a:lnSpc>
                        <a:spcBef>
                          <a:spcPts val="0"/>
                        </a:spcBef>
                        <a:spcAft>
                          <a:spcPts val="0"/>
                        </a:spcAft>
                      </a:pPr>
                      <a:r>
                        <a:rPr lang="en-US" sz="2400" b="0" dirty="0">
                          <a:solidFill>
                            <a:schemeClr val="tx1"/>
                          </a:solidFill>
                          <a:effectLst/>
                          <a:latin typeface="Calibri" panose="020F0502020204030204" pitchFamily="34" charset="0"/>
                        </a:rPr>
                        <a:t>6</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solidFill>
                            <a:schemeClr val="tx1"/>
                          </a:solidFill>
                          <a:effectLst/>
                          <a:latin typeface="Calibri" panose="020F0502020204030204" pitchFamily="34" charset="0"/>
                        </a:rPr>
                        <a:t>{2,5}</a:t>
                      </a:r>
                      <a:endParaRPr lang="en-US" sz="24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b="1" dirty="0">
                          <a:solidFill>
                            <a:srgbClr val="C00000"/>
                          </a:solidFill>
                          <a:effectLst/>
                          <a:latin typeface="Calibri" panose="020F0502020204030204" pitchFamily="34" charset="0"/>
                        </a:rPr>
                        <a:t>Rejected </a:t>
                      </a:r>
                      <a:endParaRPr lang="en-US" sz="2400" b="1"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9108372"/>
                  </a:ext>
                </a:extLst>
              </a:tr>
              <a:tr h="465589">
                <a:tc>
                  <a:txBody>
                    <a:bodyPr/>
                    <a:lstStyle/>
                    <a:p>
                      <a:pPr marL="0" marR="0" algn="ctr">
                        <a:lnSpc>
                          <a:spcPct val="115000"/>
                        </a:lnSpc>
                        <a:spcBef>
                          <a:spcPts val="0"/>
                        </a:spcBef>
                        <a:spcAft>
                          <a:spcPts val="0"/>
                        </a:spcAft>
                      </a:pPr>
                      <a:r>
                        <a:rPr lang="en-US" sz="2400" b="0" dirty="0">
                          <a:solidFill>
                            <a:schemeClr val="tx1"/>
                          </a:solidFill>
                          <a:effectLst/>
                          <a:latin typeface="Calibri" panose="020F0502020204030204" pitchFamily="34" charset="0"/>
                        </a:rPr>
                        <a:t>7</a:t>
                      </a:r>
                      <a:endParaRPr lang="en-US" sz="24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rPr>
                        <a:t>{4,7}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400" dirty="0">
                          <a:effectLst/>
                          <a:latin typeface="Calibri" panose="020F0502020204030204" pitchFamily="34" charset="0"/>
                        </a:rPr>
                        <a:t>{1,2,3,4,5,6,7}</a:t>
                      </a:r>
                      <a:endParaRPr lang="en-US" sz="2400" dirty="0">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0144893"/>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185629519"/>
              </p:ext>
            </p:extLst>
          </p:nvPr>
        </p:nvGraphicFramePr>
        <p:xfrm>
          <a:off x="8062856" y="1031965"/>
          <a:ext cx="2468880" cy="3486649"/>
        </p:xfrm>
        <a:graphic>
          <a:graphicData uri="http://schemas.openxmlformats.org/drawingml/2006/table">
            <a:tbl>
              <a:tblPr firstRow="1" bandRow="1">
                <a:tableStyleId>{5C22544A-7EE6-4342-B048-85BDC9FD1C3A}</a:tableStyleId>
              </a:tblPr>
              <a:tblGrid>
                <a:gridCol w="1070936">
                  <a:extLst>
                    <a:ext uri="{9D8B030D-6E8A-4147-A177-3AD203B41FA5}">
                      <a16:colId xmlns:a16="http://schemas.microsoft.com/office/drawing/2014/main" val="1582560717"/>
                    </a:ext>
                  </a:extLst>
                </a:gridCol>
                <a:gridCol w="1397944">
                  <a:extLst>
                    <a:ext uri="{9D8B030D-6E8A-4147-A177-3AD203B41FA5}">
                      <a16:colId xmlns:a16="http://schemas.microsoft.com/office/drawing/2014/main" val="511824500"/>
                    </a:ext>
                  </a:extLst>
                </a:gridCol>
              </a:tblGrid>
              <a:tr h="598585">
                <a:tc>
                  <a:txBody>
                    <a:bodyPr/>
                    <a:lstStyle/>
                    <a:p>
                      <a:pPr algn="ctr"/>
                      <a:r>
                        <a:rPr lang="en-US" sz="2400" dirty="0">
                          <a:solidFill>
                            <a:srgbClr val="AD1457"/>
                          </a:solidFill>
                        </a:rPr>
                        <a:t>Edges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n-US" sz="2400" dirty="0">
                          <a:solidFill>
                            <a:srgbClr val="AD1457"/>
                          </a:solidFill>
                        </a:rPr>
                        <a:t>Weight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106574443"/>
                  </a:ext>
                </a:extLst>
              </a:tr>
              <a:tr h="481344">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400" dirty="0">
                          <a:latin typeface="+mn-lt"/>
                          <a:ea typeface="Times New Roman" panose="02020603050405020304" pitchFamily="18" charset="0"/>
                          <a:cs typeface="Times New Roman" panose="02020603050405020304" pitchFamily="18" charset="0"/>
                        </a:rPr>
                        <a:t>{1, 2}</a:t>
                      </a:r>
                      <a:endParaRPr kumimoji="0" lang="en-US" altLang="en-US" sz="2400" b="0"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mn-lt"/>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604744"/>
                  </a:ext>
                </a:extLst>
              </a:tr>
              <a:tr h="481344">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400" dirty="0">
                          <a:latin typeface="+mn-lt"/>
                          <a:ea typeface="Times New Roman" panose="02020603050405020304" pitchFamily="18" charset="0"/>
                          <a:cs typeface="Times New Roman" panose="02020603050405020304" pitchFamily="18" charset="0"/>
                        </a:rPr>
                        <a:t>{2, 3}</a:t>
                      </a:r>
                      <a:endParaRPr kumimoji="0" lang="en-US" altLang="en-US" sz="2400" b="0"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mn-lt"/>
                          <a:sym typeface="Symbol" panose="05050102010706020507" pitchFamily="18" charset="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7217928"/>
                  </a:ext>
                </a:extLst>
              </a:tr>
              <a:tr h="481344">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400" dirty="0">
                          <a:latin typeface="+mn-lt"/>
                          <a:ea typeface="Times New Roman" panose="02020603050405020304" pitchFamily="18" charset="0"/>
                          <a:cs typeface="Times New Roman" panose="02020603050405020304" pitchFamily="18" charset="0"/>
                        </a:rPr>
                        <a:t>{4, 5}</a:t>
                      </a:r>
                      <a:endParaRPr kumimoji="0" lang="en-US" altLang="en-US" sz="2400" b="0"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mn-lt"/>
                          <a:sym typeface="Symbol" panose="05050102010706020507" pitchFamily="18" charset="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4933460"/>
                  </a:ext>
                </a:extLst>
              </a:tr>
              <a:tr h="481344">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400" dirty="0">
                          <a:latin typeface="+mn-lt"/>
                          <a:ea typeface="Times New Roman" panose="02020603050405020304" pitchFamily="18" charset="0"/>
                          <a:cs typeface="Times New Roman" panose="02020603050405020304" pitchFamily="18" charset="0"/>
                        </a:rPr>
                        <a:t>{6, 7}</a:t>
                      </a:r>
                      <a:endParaRPr kumimoji="0" lang="en-US" altLang="en-US" sz="2400" b="0"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mn-lt"/>
                          <a:sym typeface="Symbol" panose="05050102010706020507" pitchFamily="18" charset="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772278"/>
                  </a:ext>
                </a:extLst>
              </a:tr>
              <a:tr h="481344">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400" dirty="0">
                          <a:latin typeface="+mn-lt"/>
                          <a:ea typeface="Times New Roman" panose="02020603050405020304" pitchFamily="18" charset="0"/>
                          <a:cs typeface="Times New Roman" panose="02020603050405020304" pitchFamily="18" charset="0"/>
                        </a:rPr>
                        <a:t>{1, 4}</a:t>
                      </a:r>
                      <a:endParaRPr kumimoji="0" lang="en-US" altLang="en-US" sz="2400" b="0"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mn-lt"/>
                          <a:sym typeface="Symbol" panose="05050102010706020507" pitchFamily="18" charset="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955693"/>
                  </a:ext>
                </a:extLst>
              </a:tr>
              <a:tr h="481344">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400" dirty="0">
                          <a:latin typeface="+mn-lt"/>
                          <a:ea typeface="Times New Roman" panose="02020603050405020304" pitchFamily="18" charset="0"/>
                          <a:cs typeface="Times New Roman" panose="02020603050405020304" pitchFamily="18" charset="0"/>
                        </a:rPr>
                        <a:t>{4, 7}</a:t>
                      </a:r>
                      <a:r>
                        <a:rPr lang="en-US" sz="2400" baseline="0" dirty="0">
                          <a:latin typeface="+mn-lt"/>
                          <a:ea typeface="Times New Roman" panose="02020603050405020304" pitchFamily="18" charset="0"/>
                          <a:cs typeface="Times New Roman" panose="02020603050405020304" pitchFamily="18" charset="0"/>
                        </a:rPr>
                        <a:t> </a:t>
                      </a:r>
                      <a:endParaRPr kumimoji="0" lang="en-US" altLang="en-US" sz="2400" b="0"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400" b="0" i="0" u="none" strike="noStrike" cap="none" normalizeH="0" baseline="0" dirty="0">
                          <a:ln>
                            <a:noFill/>
                          </a:ln>
                          <a:solidFill>
                            <a:schemeClr val="tx1"/>
                          </a:solidFill>
                          <a:effectLst/>
                          <a:latin typeface="+mn-lt"/>
                          <a:sym typeface="Symbol" panose="05050102010706020507" pitchFamily="18" charset="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4576407"/>
                  </a:ext>
                </a:extLst>
              </a:tr>
            </a:tbl>
          </a:graphicData>
        </a:graphic>
      </p:graphicFrame>
      <p:sp>
        <p:nvSpPr>
          <p:cNvPr id="44" name="Rectangle 43"/>
          <p:cNvSpPr/>
          <p:nvPr/>
        </p:nvSpPr>
        <p:spPr>
          <a:xfrm>
            <a:off x="8062856" y="4652441"/>
            <a:ext cx="2468880" cy="461665"/>
          </a:xfrm>
          <a:prstGeom prst="rect">
            <a:avLst/>
          </a:prstGeom>
          <a:solidFill>
            <a:schemeClr val="bg1">
              <a:lumMod val="85000"/>
            </a:schemeClr>
          </a:solidFill>
          <a:ln w="19050">
            <a:solidFill>
              <a:srgbClr val="002060"/>
            </a:solidFill>
          </a:ln>
        </p:spPr>
        <p:txBody>
          <a:bodyPr wrap="square">
            <a:spAutoFit/>
          </a:bodyPr>
          <a:lstStyle/>
          <a:p>
            <a:pPr algn="ctr"/>
            <a:r>
              <a:rPr lang="en-US" sz="2400" dirty="0">
                <a:solidFill>
                  <a:srgbClr val="AD1457"/>
                </a:solidFill>
              </a:rPr>
              <a:t>Total Cost  = 17</a:t>
            </a:r>
          </a:p>
        </p:txBody>
      </p:sp>
      <p:sp>
        <p:nvSpPr>
          <p:cNvPr id="3" name="Rectangle 2"/>
          <p:cNvSpPr/>
          <p:nvPr/>
        </p:nvSpPr>
        <p:spPr>
          <a:xfrm>
            <a:off x="962298" y="1815737"/>
            <a:ext cx="600891"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962298" y="2320834"/>
            <a:ext cx="600891"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62298" y="2778034"/>
            <a:ext cx="600891"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62298" y="3248297"/>
            <a:ext cx="600891"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962298" y="3753394"/>
            <a:ext cx="600891"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962298" y="4210594"/>
            <a:ext cx="600891"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962298" y="4672148"/>
            <a:ext cx="600891"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962298" y="5151119"/>
            <a:ext cx="600891"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2381794" y="1850571"/>
            <a:ext cx="731520"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2381794" y="2355668"/>
            <a:ext cx="731520"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2381794" y="2812868"/>
            <a:ext cx="731520"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2381794" y="3283131"/>
            <a:ext cx="731520"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2381794" y="3735976"/>
            <a:ext cx="731520"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2381794" y="4219302"/>
            <a:ext cx="731520"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2381794" y="4667793"/>
            <a:ext cx="731520"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2381794" y="5133701"/>
            <a:ext cx="731520"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4036423" y="1859280"/>
            <a:ext cx="3043646"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4023360" y="2312126"/>
            <a:ext cx="3043646"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3853544" y="2821577"/>
            <a:ext cx="3043646"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4167051" y="3278777"/>
            <a:ext cx="3043646"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3892732" y="3731622"/>
            <a:ext cx="3043646"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4075611" y="4201885"/>
            <a:ext cx="3043646"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3944983" y="4663438"/>
            <a:ext cx="3043646"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4114799" y="5129346"/>
            <a:ext cx="3043646"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9566367" y="1667691"/>
            <a:ext cx="600891"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216537" y="1676400"/>
            <a:ext cx="731520"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p:cNvSpPr/>
          <p:nvPr/>
        </p:nvSpPr>
        <p:spPr>
          <a:xfrm>
            <a:off x="9588138" y="2172788"/>
            <a:ext cx="600891"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8238308" y="2181497"/>
            <a:ext cx="731520"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9588139" y="2682239"/>
            <a:ext cx="600891"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p:cNvSpPr/>
          <p:nvPr/>
        </p:nvSpPr>
        <p:spPr>
          <a:xfrm>
            <a:off x="8238309" y="2690948"/>
            <a:ext cx="731520"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p:cNvSpPr/>
          <p:nvPr/>
        </p:nvSpPr>
        <p:spPr>
          <a:xfrm>
            <a:off x="9522824" y="3139439"/>
            <a:ext cx="600891"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p:nvSpPr>
        <p:spPr>
          <a:xfrm>
            <a:off x="8172994" y="3148148"/>
            <a:ext cx="731520"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9575075" y="3622765"/>
            <a:ext cx="600891"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8225245" y="3631474"/>
            <a:ext cx="731520"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9614264" y="4093023"/>
            <a:ext cx="600891"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p:cNvSpPr/>
          <p:nvPr/>
        </p:nvSpPr>
        <p:spPr>
          <a:xfrm>
            <a:off x="8264434" y="4101732"/>
            <a:ext cx="731520" cy="3526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p:nvPr/>
        </p:nvCxnSpPr>
        <p:spPr>
          <a:xfrm flipV="1">
            <a:off x="4206240" y="2677885"/>
            <a:ext cx="574766"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4254138" y="3143794"/>
            <a:ext cx="91440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flipV="1">
            <a:off x="5286103" y="3587931"/>
            <a:ext cx="574766"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V="1">
            <a:off x="5991498" y="4058194"/>
            <a:ext cx="574766"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flipV="1">
            <a:off x="4580708" y="4541519"/>
            <a:ext cx="128016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flipV="1">
            <a:off x="4685211" y="5468982"/>
            <a:ext cx="173736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9731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par>
                                <p:cTn id="8" presetID="14" presetClass="exit" presetSubtype="10" fill="hold" grpId="0" nodeType="withEffect">
                                  <p:stCondLst>
                                    <p:cond delay="0"/>
                                  </p:stCondLst>
                                  <p:childTnLst>
                                    <p:animEffect transition="out" filter="randombar(horizontal)">
                                      <p:cBhvr>
                                        <p:cTn id="9" dur="500"/>
                                        <p:tgtEl>
                                          <p:spTgt spid="15"/>
                                        </p:tgtEl>
                                      </p:cBhvr>
                                    </p:animEffect>
                                    <p:set>
                                      <p:cBhvr>
                                        <p:cTn id="10" dur="1" fill="hold">
                                          <p:stCondLst>
                                            <p:cond delay="499"/>
                                          </p:stCondLst>
                                        </p:cTn>
                                        <p:tgtEl>
                                          <p:spTgt spid="15"/>
                                        </p:tgtEl>
                                        <p:attrNameLst>
                                          <p:attrName>style.visibility</p:attrName>
                                        </p:attrNameLst>
                                      </p:cBhvr>
                                      <p:to>
                                        <p:strVal val="hidden"/>
                                      </p:to>
                                    </p:set>
                                  </p:childTnLst>
                                </p:cTn>
                              </p:par>
                              <p:par>
                                <p:cTn id="11" presetID="14" presetClass="exit" presetSubtype="10" fill="hold" grpId="0" nodeType="withEffect">
                                  <p:stCondLst>
                                    <p:cond delay="0"/>
                                  </p:stCondLst>
                                  <p:childTnLst>
                                    <p:animEffect transition="out" filter="randombar(horizontal)">
                                      <p:cBhvr>
                                        <p:cTn id="12" dur="500"/>
                                        <p:tgtEl>
                                          <p:spTgt spid="23"/>
                                        </p:tgtEl>
                                      </p:cBhvr>
                                    </p:animEffect>
                                    <p:set>
                                      <p:cBhvr>
                                        <p:cTn id="13" dur="1" fill="hold">
                                          <p:stCondLst>
                                            <p:cond delay="499"/>
                                          </p:stCondLst>
                                        </p:cTn>
                                        <p:tgtEl>
                                          <p:spTgt spid="23"/>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4" presetClass="exit" presetSubtype="10" fill="hold" grpId="0" nodeType="clickEffect">
                                  <p:stCondLst>
                                    <p:cond delay="0"/>
                                  </p:stCondLst>
                                  <p:childTnLst>
                                    <p:animEffect transition="out" filter="randombar(horizontal)">
                                      <p:cBhvr>
                                        <p:cTn id="17" dur="500"/>
                                        <p:tgtEl>
                                          <p:spTgt spid="7"/>
                                        </p:tgtEl>
                                      </p:cBhvr>
                                    </p:animEffect>
                                    <p:set>
                                      <p:cBhvr>
                                        <p:cTn id="18" dur="1" fill="hold">
                                          <p:stCondLst>
                                            <p:cond delay="499"/>
                                          </p:stCondLst>
                                        </p:cTn>
                                        <p:tgtEl>
                                          <p:spTgt spid="7"/>
                                        </p:tgtEl>
                                        <p:attrNameLst>
                                          <p:attrName>style.visibility</p:attrName>
                                        </p:attrNameLst>
                                      </p:cBhvr>
                                      <p:to>
                                        <p:strVal val="hidden"/>
                                      </p:to>
                                    </p:set>
                                  </p:childTnLst>
                                </p:cTn>
                              </p:par>
                              <p:par>
                                <p:cTn id="19" presetID="14" presetClass="exit" presetSubtype="10" fill="hold" grpId="0" nodeType="withEffect">
                                  <p:stCondLst>
                                    <p:cond delay="0"/>
                                  </p:stCondLst>
                                  <p:childTnLst>
                                    <p:animEffect transition="out" filter="randombar(horizontal)">
                                      <p:cBhvr>
                                        <p:cTn id="20" dur="500"/>
                                        <p:tgtEl>
                                          <p:spTgt spid="16"/>
                                        </p:tgtEl>
                                      </p:cBhvr>
                                    </p:animEffect>
                                    <p:set>
                                      <p:cBhvr>
                                        <p:cTn id="21" dur="1" fill="hold">
                                          <p:stCondLst>
                                            <p:cond delay="499"/>
                                          </p:stCondLst>
                                        </p:cTn>
                                        <p:tgtEl>
                                          <p:spTgt spid="16"/>
                                        </p:tgtEl>
                                        <p:attrNameLst>
                                          <p:attrName>style.visibility</p:attrName>
                                        </p:attrNameLst>
                                      </p:cBhvr>
                                      <p:to>
                                        <p:strVal val="hidden"/>
                                      </p:to>
                                    </p:set>
                                  </p:childTnLst>
                                </p:cTn>
                              </p:par>
                              <p:par>
                                <p:cTn id="22" presetID="14" presetClass="exit" presetSubtype="10" fill="hold" grpId="0" nodeType="withEffect">
                                  <p:stCondLst>
                                    <p:cond delay="0"/>
                                  </p:stCondLst>
                                  <p:childTnLst>
                                    <p:animEffect transition="out" filter="randombar(horizontal)">
                                      <p:cBhvr>
                                        <p:cTn id="23" dur="500"/>
                                        <p:tgtEl>
                                          <p:spTgt spid="24"/>
                                        </p:tgtEl>
                                      </p:cBhvr>
                                    </p:animEffect>
                                    <p:set>
                                      <p:cBhvr>
                                        <p:cTn id="24" dur="1" fill="hold">
                                          <p:stCondLst>
                                            <p:cond delay="499"/>
                                          </p:stCondLst>
                                        </p:cTn>
                                        <p:tgtEl>
                                          <p:spTgt spid="24"/>
                                        </p:tgtEl>
                                        <p:attrNameLst>
                                          <p:attrName>style.visibility</p:attrName>
                                        </p:attrNameLst>
                                      </p:cBhvr>
                                      <p:to>
                                        <p:strVal val="hidden"/>
                                      </p:to>
                                    </p:se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xit" presetSubtype="10" fill="hold" grpId="0" nodeType="clickEffect">
                                  <p:stCondLst>
                                    <p:cond delay="0"/>
                                  </p:stCondLst>
                                  <p:childTnLst>
                                    <p:animEffect transition="out" filter="randombar(horizontal)">
                                      <p:cBhvr>
                                        <p:cTn id="32" dur="500"/>
                                        <p:tgtEl>
                                          <p:spTgt spid="31"/>
                                        </p:tgtEl>
                                      </p:cBhvr>
                                    </p:animEffect>
                                    <p:set>
                                      <p:cBhvr>
                                        <p:cTn id="33" dur="1" fill="hold">
                                          <p:stCondLst>
                                            <p:cond delay="499"/>
                                          </p:stCondLst>
                                        </p:cTn>
                                        <p:tgtEl>
                                          <p:spTgt spid="31"/>
                                        </p:tgtEl>
                                        <p:attrNameLst>
                                          <p:attrName>style.visibility</p:attrName>
                                        </p:attrNameLst>
                                      </p:cBhvr>
                                      <p:to>
                                        <p:strVal val="hidden"/>
                                      </p:to>
                                    </p:set>
                                  </p:childTnLst>
                                </p:cTn>
                              </p:par>
                              <p:par>
                                <p:cTn id="34" presetID="14" presetClass="exit" presetSubtype="10" fill="hold" grpId="0" nodeType="withEffect">
                                  <p:stCondLst>
                                    <p:cond delay="0"/>
                                  </p:stCondLst>
                                  <p:childTnLst>
                                    <p:animEffect transition="out" filter="randombar(horizontal)">
                                      <p:cBhvr>
                                        <p:cTn id="35" dur="500"/>
                                        <p:tgtEl>
                                          <p:spTgt spid="32"/>
                                        </p:tgtEl>
                                      </p:cBhvr>
                                    </p:animEffect>
                                    <p:set>
                                      <p:cBhvr>
                                        <p:cTn id="36" dur="1" fill="hold">
                                          <p:stCondLst>
                                            <p:cond delay="499"/>
                                          </p:stCondLst>
                                        </p:cTn>
                                        <p:tgtEl>
                                          <p:spTgt spid="32"/>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4" presetClass="exit" presetSubtype="10" fill="hold" grpId="0" nodeType="clickEffect">
                                  <p:stCondLst>
                                    <p:cond delay="0"/>
                                  </p:stCondLst>
                                  <p:childTnLst>
                                    <p:animEffect transition="out" filter="randombar(horizontal)">
                                      <p:cBhvr>
                                        <p:cTn id="40" dur="500"/>
                                        <p:tgtEl>
                                          <p:spTgt spid="8"/>
                                        </p:tgtEl>
                                      </p:cBhvr>
                                    </p:animEffect>
                                    <p:set>
                                      <p:cBhvr>
                                        <p:cTn id="41" dur="1" fill="hold">
                                          <p:stCondLst>
                                            <p:cond delay="499"/>
                                          </p:stCondLst>
                                        </p:cTn>
                                        <p:tgtEl>
                                          <p:spTgt spid="8"/>
                                        </p:tgtEl>
                                        <p:attrNameLst>
                                          <p:attrName>style.visibility</p:attrName>
                                        </p:attrNameLst>
                                      </p:cBhvr>
                                      <p:to>
                                        <p:strVal val="hidden"/>
                                      </p:to>
                                    </p:set>
                                  </p:childTnLst>
                                </p:cTn>
                              </p:par>
                              <p:par>
                                <p:cTn id="42" presetID="14" presetClass="exit" presetSubtype="10" fill="hold" grpId="0" nodeType="withEffect">
                                  <p:stCondLst>
                                    <p:cond delay="0"/>
                                  </p:stCondLst>
                                  <p:childTnLst>
                                    <p:animEffect transition="out" filter="randombar(horizontal)">
                                      <p:cBhvr>
                                        <p:cTn id="43" dur="500"/>
                                        <p:tgtEl>
                                          <p:spTgt spid="17"/>
                                        </p:tgtEl>
                                      </p:cBhvr>
                                    </p:animEffect>
                                    <p:set>
                                      <p:cBhvr>
                                        <p:cTn id="44" dur="1" fill="hold">
                                          <p:stCondLst>
                                            <p:cond delay="499"/>
                                          </p:stCondLst>
                                        </p:cTn>
                                        <p:tgtEl>
                                          <p:spTgt spid="17"/>
                                        </p:tgtEl>
                                        <p:attrNameLst>
                                          <p:attrName>style.visibility</p:attrName>
                                        </p:attrNameLst>
                                      </p:cBhvr>
                                      <p:to>
                                        <p:strVal val="hidden"/>
                                      </p:to>
                                    </p:set>
                                  </p:childTnLst>
                                </p:cTn>
                              </p:par>
                              <p:par>
                                <p:cTn id="45" presetID="14" presetClass="exit" presetSubtype="10" fill="hold" grpId="0" nodeType="withEffect">
                                  <p:stCondLst>
                                    <p:cond delay="0"/>
                                  </p:stCondLst>
                                  <p:childTnLst>
                                    <p:animEffect transition="out" filter="randombar(horizontal)">
                                      <p:cBhvr>
                                        <p:cTn id="46" dur="500"/>
                                        <p:tgtEl>
                                          <p:spTgt spid="25"/>
                                        </p:tgtEl>
                                      </p:cBhvr>
                                    </p:animEffect>
                                    <p:set>
                                      <p:cBhvr>
                                        <p:cTn id="47" dur="1" fill="hold">
                                          <p:stCondLst>
                                            <p:cond delay="499"/>
                                          </p:stCondLst>
                                        </p:cTn>
                                        <p:tgtEl>
                                          <p:spTgt spid="25"/>
                                        </p:tgtEl>
                                        <p:attrNameLst>
                                          <p:attrName>style.visibility</p:attrName>
                                        </p:attrNameLst>
                                      </p:cBhvr>
                                      <p:to>
                                        <p:strVal val="hidden"/>
                                      </p:to>
                                    </p:set>
                                  </p:childTnLst>
                                </p:cTn>
                              </p:par>
                            </p:childTnLst>
                          </p:cTn>
                        </p:par>
                        <p:par>
                          <p:cTn id="48" fill="hold">
                            <p:stCondLst>
                              <p:cond delay="500"/>
                            </p:stCondLst>
                            <p:childTnLst>
                              <p:par>
                                <p:cTn id="49" presetID="22" presetClass="entr" presetSubtype="8" fill="hold" nodeType="afterEffect">
                                  <p:stCondLst>
                                    <p:cond delay="0"/>
                                  </p:stCondLst>
                                  <p:childTnLst>
                                    <p:set>
                                      <p:cBhvr>
                                        <p:cTn id="50" dur="1" fill="hold">
                                          <p:stCondLst>
                                            <p:cond delay="0"/>
                                          </p:stCondLst>
                                        </p:cTn>
                                        <p:tgtEl>
                                          <p:spTgt spid="46"/>
                                        </p:tgtEl>
                                        <p:attrNameLst>
                                          <p:attrName>style.visibility</p:attrName>
                                        </p:attrNameLst>
                                      </p:cBhvr>
                                      <p:to>
                                        <p:strVal val="visible"/>
                                      </p:to>
                                    </p:set>
                                    <p:animEffect transition="in" filter="wipe(left)">
                                      <p:cBhvr>
                                        <p:cTn id="51" dur="500"/>
                                        <p:tgtEl>
                                          <p:spTgt spid="46"/>
                                        </p:tgtEl>
                                      </p:cBhvr>
                                    </p:animEffect>
                                  </p:childTnLst>
                                </p:cTn>
                              </p:par>
                            </p:childTnLst>
                          </p:cTn>
                        </p:par>
                      </p:childTnLst>
                    </p:cTn>
                  </p:par>
                  <p:par>
                    <p:cTn id="52" fill="hold">
                      <p:stCondLst>
                        <p:cond delay="indefinite"/>
                      </p:stCondLst>
                      <p:childTnLst>
                        <p:par>
                          <p:cTn id="53" fill="hold">
                            <p:stCondLst>
                              <p:cond delay="0"/>
                            </p:stCondLst>
                            <p:childTnLst>
                              <p:par>
                                <p:cTn id="54" presetID="14" presetClass="exit" presetSubtype="10" fill="hold" grpId="0" nodeType="clickEffect">
                                  <p:stCondLst>
                                    <p:cond delay="0"/>
                                  </p:stCondLst>
                                  <p:childTnLst>
                                    <p:animEffect transition="out" filter="randombar(horizontal)">
                                      <p:cBhvr>
                                        <p:cTn id="55" dur="500"/>
                                        <p:tgtEl>
                                          <p:spTgt spid="33"/>
                                        </p:tgtEl>
                                      </p:cBhvr>
                                    </p:animEffect>
                                    <p:set>
                                      <p:cBhvr>
                                        <p:cTn id="56" dur="1" fill="hold">
                                          <p:stCondLst>
                                            <p:cond delay="499"/>
                                          </p:stCondLst>
                                        </p:cTn>
                                        <p:tgtEl>
                                          <p:spTgt spid="33"/>
                                        </p:tgtEl>
                                        <p:attrNameLst>
                                          <p:attrName>style.visibility</p:attrName>
                                        </p:attrNameLst>
                                      </p:cBhvr>
                                      <p:to>
                                        <p:strVal val="hidden"/>
                                      </p:to>
                                    </p:set>
                                  </p:childTnLst>
                                </p:cTn>
                              </p:par>
                              <p:par>
                                <p:cTn id="57" presetID="14" presetClass="exit" presetSubtype="10" fill="hold" grpId="0" nodeType="withEffect">
                                  <p:stCondLst>
                                    <p:cond delay="0"/>
                                  </p:stCondLst>
                                  <p:childTnLst>
                                    <p:animEffect transition="out" filter="randombar(horizontal)">
                                      <p:cBhvr>
                                        <p:cTn id="58" dur="500"/>
                                        <p:tgtEl>
                                          <p:spTgt spid="34"/>
                                        </p:tgtEl>
                                      </p:cBhvr>
                                    </p:animEffect>
                                    <p:set>
                                      <p:cBhvr>
                                        <p:cTn id="59" dur="1" fill="hold">
                                          <p:stCondLst>
                                            <p:cond delay="499"/>
                                          </p:stCondLst>
                                        </p:cTn>
                                        <p:tgtEl>
                                          <p:spTgt spid="34"/>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14" presetClass="exit" presetSubtype="10" fill="hold" grpId="0" nodeType="clickEffect">
                                  <p:stCondLst>
                                    <p:cond delay="0"/>
                                  </p:stCondLst>
                                  <p:childTnLst>
                                    <p:animEffect transition="out" filter="randombar(horizontal)">
                                      <p:cBhvr>
                                        <p:cTn id="63" dur="500"/>
                                        <p:tgtEl>
                                          <p:spTgt spid="9"/>
                                        </p:tgtEl>
                                      </p:cBhvr>
                                    </p:animEffect>
                                    <p:set>
                                      <p:cBhvr>
                                        <p:cTn id="64" dur="1" fill="hold">
                                          <p:stCondLst>
                                            <p:cond delay="499"/>
                                          </p:stCondLst>
                                        </p:cTn>
                                        <p:tgtEl>
                                          <p:spTgt spid="9"/>
                                        </p:tgtEl>
                                        <p:attrNameLst>
                                          <p:attrName>style.visibility</p:attrName>
                                        </p:attrNameLst>
                                      </p:cBhvr>
                                      <p:to>
                                        <p:strVal val="hidden"/>
                                      </p:to>
                                    </p:set>
                                  </p:childTnLst>
                                </p:cTn>
                              </p:par>
                              <p:par>
                                <p:cTn id="65" presetID="14" presetClass="exit" presetSubtype="10" fill="hold" grpId="0" nodeType="withEffect">
                                  <p:stCondLst>
                                    <p:cond delay="0"/>
                                  </p:stCondLst>
                                  <p:childTnLst>
                                    <p:animEffect transition="out" filter="randombar(horizontal)">
                                      <p:cBhvr>
                                        <p:cTn id="66" dur="500"/>
                                        <p:tgtEl>
                                          <p:spTgt spid="18"/>
                                        </p:tgtEl>
                                      </p:cBhvr>
                                    </p:animEffect>
                                    <p:set>
                                      <p:cBhvr>
                                        <p:cTn id="67" dur="1" fill="hold">
                                          <p:stCondLst>
                                            <p:cond delay="499"/>
                                          </p:stCondLst>
                                        </p:cTn>
                                        <p:tgtEl>
                                          <p:spTgt spid="18"/>
                                        </p:tgtEl>
                                        <p:attrNameLst>
                                          <p:attrName>style.visibility</p:attrName>
                                        </p:attrNameLst>
                                      </p:cBhvr>
                                      <p:to>
                                        <p:strVal val="hidden"/>
                                      </p:to>
                                    </p:set>
                                  </p:childTnLst>
                                </p:cTn>
                              </p:par>
                              <p:par>
                                <p:cTn id="68" presetID="14" presetClass="exit" presetSubtype="10" fill="hold" grpId="0" nodeType="withEffect">
                                  <p:stCondLst>
                                    <p:cond delay="0"/>
                                  </p:stCondLst>
                                  <p:childTnLst>
                                    <p:animEffect transition="out" filter="randombar(horizontal)">
                                      <p:cBhvr>
                                        <p:cTn id="69" dur="500"/>
                                        <p:tgtEl>
                                          <p:spTgt spid="26"/>
                                        </p:tgtEl>
                                      </p:cBhvr>
                                    </p:animEffect>
                                    <p:set>
                                      <p:cBhvr>
                                        <p:cTn id="70" dur="1" fill="hold">
                                          <p:stCondLst>
                                            <p:cond delay="499"/>
                                          </p:stCondLst>
                                        </p:cTn>
                                        <p:tgtEl>
                                          <p:spTgt spid="26"/>
                                        </p:tgtEl>
                                        <p:attrNameLst>
                                          <p:attrName>style.visibility</p:attrName>
                                        </p:attrNameLst>
                                      </p:cBhvr>
                                      <p:to>
                                        <p:strVal val="hidden"/>
                                      </p:to>
                                    </p:set>
                                  </p:childTnLst>
                                </p:cTn>
                              </p:par>
                            </p:childTnLst>
                          </p:cTn>
                        </p:par>
                        <p:par>
                          <p:cTn id="71" fill="hold">
                            <p:stCondLst>
                              <p:cond delay="500"/>
                            </p:stCondLst>
                            <p:childTnLst>
                              <p:par>
                                <p:cTn id="72" presetID="22" presetClass="entr" presetSubtype="8" fill="hold" nodeType="afterEffect">
                                  <p:stCondLst>
                                    <p:cond delay="0"/>
                                  </p:stCondLst>
                                  <p:childTnLst>
                                    <p:set>
                                      <p:cBhvr>
                                        <p:cTn id="73" dur="1" fill="hold">
                                          <p:stCondLst>
                                            <p:cond delay="0"/>
                                          </p:stCondLst>
                                        </p:cTn>
                                        <p:tgtEl>
                                          <p:spTgt spid="47"/>
                                        </p:tgtEl>
                                        <p:attrNameLst>
                                          <p:attrName>style.visibility</p:attrName>
                                        </p:attrNameLst>
                                      </p:cBhvr>
                                      <p:to>
                                        <p:strVal val="visible"/>
                                      </p:to>
                                    </p:set>
                                    <p:animEffect transition="in" filter="wipe(left)">
                                      <p:cBhvr>
                                        <p:cTn id="74" dur="500"/>
                                        <p:tgtEl>
                                          <p:spTgt spid="47"/>
                                        </p:tgtEl>
                                      </p:cBhvr>
                                    </p:animEffect>
                                  </p:childTnLst>
                                </p:cTn>
                              </p:par>
                            </p:childTnLst>
                          </p:cTn>
                        </p:par>
                      </p:childTnLst>
                    </p:cTn>
                  </p:par>
                  <p:par>
                    <p:cTn id="75" fill="hold">
                      <p:stCondLst>
                        <p:cond delay="indefinite"/>
                      </p:stCondLst>
                      <p:childTnLst>
                        <p:par>
                          <p:cTn id="76" fill="hold">
                            <p:stCondLst>
                              <p:cond delay="0"/>
                            </p:stCondLst>
                            <p:childTnLst>
                              <p:par>
                                <p:cTn id="77" presetID="14" presetClass="exit" presetSubtype="10" fill="hold" grpId="0" nodeType="clickEffect">
                                  <p:stCondLst>
                                    <p:cond delay="0"/>
                                  </p:stCondLst>
                                  <p:childTnLst>
                                    <p:animEffect transition="out" filter="randombar(horizontal)">
                                      <p:cBhvr>
                                        <p:cTn id="78" dur="500"/>
                                        <p:tgtEl>
                                          <p:spTgt spid="35"/>
                                        </p:tgtEl>
                                      </p:cBhvr>
                                    </p:animEffect>
                                    <p:set>
                                      <p:cBhvr>
                                        <p:cTn id="79" dur="1" fill="hold">
                                          <p:stCondLst>
                                            <p:cond delay="499"/>
                                          </p:stCondLst>
                                        </p:cTn>
                                        <p:tgtEl>
                                          <p:spTgt spid="35"/>
                                        </p:tgtEl>
                                        <p:attrNameLst>
                                          <p:attrName>style.visibility</p:attrName>
                                        </p:attrNameLst>
                                      </p:cBhvr>
                                      <p:to>
                                        <p:strVal val="hidden"/>
                                      </p:to>
                                    </p:set>
                                  </p:childTnLst>
                                </p:cTn>
                              </p:par>
                              <p:par>
                                <p:cTn id="80" presetID="14" presetClass="exit" presetSubtype="10" fill="hold" grpId="0" nodeType="withEffect">
                                  <p:stCondLst>
                                    <p:cond delay="0"/>
                                  </p:stCondLst>
                                  <p:childTnLst>
                                    <p:animEffect transition="out" filter="randombar(horizontal)">
                                      <p:cBhvr>
                                        <p:cTn id="81" dur="500"/>
                                        <p:tgtEl>
                                          <p:spTgt spid="36"/>
                                        </p:tgtEl>
                                      </p:cBhvr>
                                    </p:animEffect>
                                    <p:set>
                                      <p:cBhvr>
                                        <p:cTn id="82" dur="1" fill="hold">
                                          <p:stCondLst>
                                            <p:cond delay="499"/>
                                          </p:stCondLst>
                                        </p:cTn>
                                        <p:tgtEl>
                                          <p:spTgt spid="36"/>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14" presetClass="exit" presetSubtype="10" fill="hold" grpId="0" nodeType="clickEffect">
                                  <p:stCondLst>
                                    <p:cond delay="0"/>
                                  </p:stCondLst>
                                  <p:childTnLst>
                                    <p:animEffect transition="out" filter="randombar(horizontal)">
                                      <p:cBhvr>
                                        <p:cTn id="86" dur="500"/>
                                        <p:tgtEl>
                                          <p:spTgt spid="10"/>
                                        </p:tgtEl>
                                      </p:cBhvr>
                                    </p:animEffect>
                                    <p:set>
                                      <p:cBhvr>
                                        <p:cTn id="87" dur="1" fill="hold">
                                          <p:stCondLst>
                                            <p:cond delay="499"/>
                                          </p:stCondLst>
                                        </p:cTn>
                                        <p:tgtEl>
                                          <p:spTgt spid="10"/>
                                        </p:tgtEl>
                                        <p:attrNameLst>
                                          <p:attrName>style.visibility</p:attrName>
                                        </p:attrNameLst>
                                      </p:cBhvr>
                                      <p:to>
                                        <p:strVal val="hidden"/>
                                      </p:to>
                                    </p:set>
                                  </p:childTnLst>
                                </p:cTn>
                              </p:par>
                              <p:par>
                                <p:cTn id="88" presetID="14" presetClass="exit" presetSubtype="10" fill="hold" grpId="0" nodeType="withEffect">
                                  <p:stCondLst>
                                    <p:cond delay="0"/>
                                  </p:stCondLst>
                                  <p:childTnLst>
                                    <p:animEffect transition="out" filter="randombar(horizontal)">
                                      <p:cBhvr>
                                        <p:cTn id="89" dur="500"/>
                                        <p:tgtEl>
                                          <p:spTgt spid="19"/>
                                        </p:tgtEl>
                                      </p:cBhvr>
                                    </p:animEffect>
                                    <p:set>
                                      <p:cBhvr>
                                        <p:cTn id="90" dur="1" fill="hold">
                                          <p:stCondLst>
                                            <p:cond delay="499"/>
                                          </p:stCondLst>
                                        </p:cTn>
                                        <p:tgtEl>
                                          <p:spTgt spid="19"/>
                                        </p:tgtEl>
                                        <p:attrNameLst>
                                          <p:attrName>style.visibility</p:attrName>
                                        </p:attrNameLst>
                                      </p:cBhvr>
                                      <p:to>
                                        <p:strVal val="hidden"/>
                                      </p:to>
                                    </p:set>
                                  </p:childTnLst>
                                </p:cTn>
                              </p:par>
                              <p:par>
                                <p:cTn id="91" presetID="14" presetClass="exit" presetSubtype="10" fill="hold" grpId="0" nodeType="withEffect">
                                  <p:stCondLst>
                                    <p:cond delay="0"/>
                                  </p:stCondLst>
                                  <p:childTnLst>
                                    <p:animEffect transition="out" filter="randombar(horizontal)">
                                      <p:cBhvr>
                                        <p:cTn id="92" dur="500"/>
                                        <p:tgtEl>
                                          <p:spTgt spid="27"/>
                                        </p:tgtEl>
                                      </p:cBhvr>
                                    </p:animEffect>
                                    <p:set>
                                      <p:cBhvr>
                                        <p:cTn id="93" dur="1" fill="hold">
                                          <p:stCondLst>
                                            <p:cond delay="499"/>
                                          </p:stCondLst>
                                        </p:cTn>
                                        <p:tgtEl>
                                          <p:spTgt spid="27"/>
                                        </p:tgtEl>
                                        <p:attrNameLst>
                                          <p:attrName>style.visibility</p:attrName>
                                        </p:attrNameLst>
                                      </p:cBhvr>
                                      <p:to>
                                        <p:strVal val="hidden"/>
                                      </p:to>
                                    </p:set>
                                  </p:childTnLst>
                                </p:cTn>
                              </p:par>
                            </p:childTnLst>
                          </p:cTn>
                        </p:par>
                        <p:par>
                          <p:cTn id="94" fill="hold">
                            <p:stCondLst>
                              <p:cond delay="500"/>
                            </p:stCondLst>
                            <p:childTnLst>
                              <p:par>
                                <p:cTn id="95" presetID="22" presetClass="entr" presetSubtype="8" fill="hold" nodeType="afterEffect">
                                  <p:stCondLst>
                                    <p:cond delay="0"/>
                                  </p:stCondLst>
                                  <p:childTnLst>
                                    <p:set>
                                      <p:cBhvr>
                                        <p:cTn id="96" dur="1" fill="hold">
                                          <p:stCondLst>
                                            <p:cond delay="0"/>
                                          </p:stCondLst>
                                        </p:cTn>
                                        <p:tgtEl>
                                          <p:spTgt spid="48"/>
                                        </p:tgtEl>
                                        <p:attrNameLst>
                                          <p:attrName>style.visibility</p:attrName>
                                        </p:attrNameLst>
                                      </p:cBhvr>
                                      <p:to>
                                        <p:strVal val="visible"/>
                                      </p:to>
                                    </p:set>
                                    <p:animEffect transition="in" filter="wipe(left)">
                                      <p:cBhvr>
                                        <p:cTn id="97" dur="500"/>
                                        <p:tgtEl>
                                          <p:spTgt spid="48"/>
                                        </p:tgtEl>
                                      </p:cBhvr>
                                    </p:animEffect>
                                  </p:childTnLst>
                                </p:cTn>
                              </p:par>
                            </p:childTnLst>
                          </p:cTn>
                        </p:par>
                      </p:childTnLst>
                    </p:cTn>
                  </p:par>
                  <p:par>
                    <p:cTn id="98" fill="hold">
                      <p:stCondLst>
                        <p:cond delay="indefinite"/>
                      </p:stCondLst>
                      <p:childTnLst>
                        <p:par>
                          <p:cTn id="99" fill="hold">
                            <p:stCondLst>
                              <p:cond delay="0"/>
                            </p:stCondLst>
                            <p:childTnLst>
                              <p:par>
                                <p:cTn id="100" presetID="14" presetClass="exit" presetSubtype="10" fill="hold" grpId="0" nodeType="clickEffect">
                                  <p:stCondLst>
                                    <p:cond delay="0"/>
                                  </p:stCondLst>
                                  <p:childTnLst>
                                    <p:animEffect transition="out" filter="randombar(horizontal)">
                                      <p:cBhvr>
                                        <p:cTn id="101" dur="500"/>
                                        <p:tgtEl>
                                          <p:spTgt spid="37"/>
                                        </p:tgtEl>
                                      </p:cBhvr>
                                    </p:animEffect>
                                    <p:set>
                                      <p:cBhvr>
                                        <p:cTn id="102" dur="1" fill="hold">
                                          <p:stCondLst>
                                            <p:cond delay="499"/>
                                          </p:stCondLst>
                                        </p:cTn>
                                        <p:tgtEl>
                                          <p:spTgt spid="37"/>
                                        </p:tgtEl>
                                        <p:attrNameLst>
                                          <p:attrName>style.visibility</p:attrName>
                                        </p:attrNameLst>
                                      </p:cBhvr>
                                      <p:to>
                                        <p:strVal val="hidden"/>
                                      </p:to>
                                    </p:set>
                                  </p:childTnLst>
                                </p:cTn>
                              </p:par>
                              <p:par>
                                <p:cTn id="103" presetID="14" presetClass="exit" presetSubtype="10" fill="hold" grpId="0" nodeType="withEffect">
                                  <p:stCondLst>
                                    <p:cond delay="0"/>
                                  </p:stCondLst>
                                  <p:childTnLst>
                                    <p:animEffect transition="out" filter="randombar(horizontal)">
                                      <p:cBhvr>
                                        <p:cTn id="104" dur="500"/>
                                        <p:tgtEl>
                                          <p:spTgt spid="38"/>
                                        </p:tgtEl>
                                      </p:cBhvr>
                                    </p:animEffect>
                                    <p:set>
                                      <p:cBhvr>
                                        <p:cTn id="105" dur="1" fill="hold">
                                          <p:stCondLst>
                                            <p:cond delay="499"/>
                                          </p:stCondLst>
                                        </p:cTn>
                                        <p:tgtEl>
                                          <p:spTgt spid="38"/>
                                        </p:tgtEl>
                                        <p:attrNameLst>
                                          <p:attrName>style.visibility</p:attrName>
                                        </p:attrNameLst>
                                      </p:cBhvr>
                                      <p:to>
                                        <p:strVal val="hidden"/>
                                      </p:to>
                                    </p:set>
                                  </p:childTnLst>
                                </p:cTn>
                              </p:par>
                            </p:childTnLst>
                          </p:cTn>
                        </p:par>
                      </p:childTnLst>
                    </p:cTn>
                  </p:par>
                  <p:par>
                    <p:cTn id="106" fill="hold">
                      <p:stCondLst>
                        <p:cond delay="indefinite"/>
                      </p:stCondLst>
                      <p:childTnLst>
                        <p:par>
                          <p:cTn id="107" fill="hold">
                            <p:stCondLst>
                              <p:cond delay="0"/>
                            </p:stCondLst>
                            <p:childTnLst>
                              <p:par>
                                <p:cTn id="108" presetID="14" presetClass="exit" presetSubtype="10" fill="hold" grpId="0" nodeType="clickEffect">
                                  <p:stCondLst>
                                    <p:cond delay="0"/>
                                  </p:stCondLst>
                                  <p:childTnLst>
                                    <p:animEffect transition="out" filter="randombar(horizontal)">
                                      <p:cBhvr>
                                        <p:cTn id="109" dur="500"/>
                                        <p:tgtEl>
                                          <p:spTgt spid="11"/>
                                        </p:tgtEl>
                                      </p:cBhvr>
                                    </p:animEffect>
                                    <p:set>
                                      <p:cBhvr>
                                        <p:cTn id="110" dur="1" fill="hold">
                                          <p:stCondLst>
                                            <p:cond delay="499"/>
                                          </p:stCondLst>
                                        </p:cTn>
                                        <p:tgtEl>
                                          <p:spTgt spid="11"/>
                                        </p:tgtEl>
                                        <p:attrNameLst>
                                          <p:attrName>style.visibility</p:attrName>
                                        </p:attrNameLst>
                                      </p:cBhvr>
                                      <p:to>
                                        <p:strVal val="hidden"/>
                                      </p:to>
                                    </p:set>
                                  </p:childTnLst>
                                </p:cTn>
                              </p:par>
                              <p:par>
                                <p:cTn id="111" presetID="14" presetClass="exit" presetSubtype="10" fill="hold" grpId="0" nodeType="withEffect">
                                  <p:stCondLst>
                                    <p:cond delay="0"/>
                                  </p:stCondLst>
                                  <p:childTnLst>
                                    <p:animEffect transition="out" filter="randombar(horizontal)">
                                      <p:cBhvr>
                                        <p:cTn id="112" dur="500"/>
                                        <p:tgtEl>
                                          <p:spTgt spid="20"/>
                                        </p:tgtEl>
                                      </p:cBhvr>
                                    </p:animEffect>
                                    <p:set>
                                      <p:cBhvr>
                                        <p:cTn id="113" dur="1" fill="hold">
                                          <p:stCondLst>
                                            <p:cond delay="499"/>
                                          </p:stCondLst>
                                        </p:cTn>
                                        <p:tgtEl>
                                          <p:spTgt spid="20"/>
                                        </p:tgtEl>
                                        <p:attrNameLst>
                                          <p:attrName>style.visibility</p:attrName>
                                        </p:attrNameLst>
                                      </p:cBhvr>
                                      <p:to>
                                        <p:strVal val="hidden"/>
                                      </p:to>
                                    </p:set>
                                  </p:childTnLst>
                                </p:cTn>
                              </p:par>
                              <p:par>
                                <p:cTn id="114" presetID="14" presetClass="exit" presetSubtype="10" fill="hold" grpId="0" nodeType="withEffect">
                                  <p:stCondLst>
                                    <p:cond delay="0"/>
                                  </p:stCondLst>
                                  <p:childTnLst>
                                    <p:animEffect transition="out" filter="randombar(horizontal)">
                                      <p:cBhvr>
                                        <p:cTn id="115" dur="500"/>
                                        <p:tgtEl>
                                          <p:spTgt spid="28"/>
                                        </p:tgtEl>
                                      </p:cBhvr>
                                    </p:animEffect>
                                    <p:set>
                                      <p:cBhvr>
                                        <p:cTn id="116" dur="1" fill="hold">
                                          <p:stCondLst>
                                            <p:cond delay="499"/>
                                          </p:stCondLst>
                                        </p:cTn>
                                        <p:tgtEl>
                                          <p:spTgt spid="28"/>
                                        </p:tgtEl>
                                        <p:attrNameLst>
                                          <p:attrName>style.visibility</p:attrName>
                                        </p:attrNameLst>
                                      </p:cBhvr>
                                      <p:to>
                                        <p:strVal val="hidden"/>
                                      </p:to>
                                    </p:set>
                                  </p:childTnLst>
                                </p:cTn>
                              </p:par>
                            </p:childTnLst>
                          </p:cTn>
                        </p:par>
                        <p:par>
                          <p:cTn id="117" fill="hold">
                            <p:stCondLst>
                              <p:cond delay="500"/>
                            </p:stCondLst>
                            <p:childTnLst>
                              <p:par>
                                <p:cTn id="118" presetID="22" presetClass="entr" presetSubtype="8" fill="hold" nodeType="afterEffect">
                                  <p:stCondLst>
                                    <p:cond delay="0"/>
                                  </p:stCondLst>
                                  <p:childTnLst>
                                    <p:set>
                                      <p:cBhvr>
                                        <p:cTn id="119" dur="1" fill="hold">
                                          <p:stCondLst>
                                            <p:cond delay="0"/>
                                          </p:stCondLst>
                                        </p:cTn>
                                        <p:tgtEl>
                                          <p:spTgt spid="49"/>
                                        </p:tgtEl>
                                        <p:attrNameLst>
                                          <p:attrName>style.visibility</p:attrName>
                                        </p:attrNameLst>
                                      </p:cBhvr>
                                      <p:to>
                                        <p:strVal val="visible"/>
                                      </p:to>
                                    </p:set>
                                    <p:animEffect transition="in" filter="wipe(left)">
                                      <p:cBhvr>
                                        <p:cTn id="120" dur="500"/>
                                        <p:tgtEl>
                                          <p:spTgt spid="49"/>
                                        </p:tgtEl>
                                      </p:cBhvr>
                                    </p:animEffect>
                                  </p:childTnLst>
                                </p:cTn>
                              </p:par>
                            </p:childTnLst>
                          </p:cTn>
                        </p:par>
                      </p:childTnLst>
                    </p:cTn>
                  </p:par>
                  <p:par>
                    <p:cTn id="121" fill="hold">
                      <p:stCondLst>
                        <p:cond delay="indefinite"/>
                      </p:stCondLst>
                      <p:childTnLst>
                        <p:par>
                          <p:cTn id="122" fill="hold">
                            <p:stCondLst>
                              <p:cond delay="0"/>
                            </p:stCondLst>
                            <p:childTnLst>
                              <p:par>
                                <p:cTn id="123" presetID="14" presetClass="exit" presetSubtype="10" fill="hold" grpId="0" nodeType="clickEffect">
                                  <p:stCondLst>
                                    <p:cond delay="0"/>
                                  </p:stCondLst>
                                  <p:childTnLst>
                                    <p:animEffect transition="out" filter="randombar(horizontal)">
                                      <p:cBhvr>
                                        <p:cTn id="124" dur="500"/>
                                        <p:tgtEl>
                                          <p:spTgt spid="39"/>
                                        </p:tgtEl>
                                      </p:cBhvr>
                                    </p:animEffect>
                                    <p:set>
                                      <p:cBhvr>
                                        <p:cTn id="125" dur="1" fill="hold">
                                          <p:stCondLst>
                                            <p:cond delay="499"/>
                                          </p:stCondLst>
                                        </p:cTn>
                                        <p:tgtEl>
                                          <p:spTgt spid="39"/>
                                        </p:tgtEl>
                                        <p:attrNameLst>
                                          <p:attrName>style.visibility</p:attrName>
                                        </p:attrNameLst>
                                      </p:cBhvr>
                                      <p:to>
                                        <p:strVal val="hidden"/>
                                      </p:to>
                                    </p:set>
                                  </p:childTnLst>
                                </p:cTn>
                              </p:par>
                              <p:par>
                                <p:cTn id="126" presetID="14" presetClass="exit" presetSubtype="10" fill="hold" grpId="0" nodeType="withEffect">
                                  <p:stCondLst>
                                    <p:cond delay="0"/>
                                  </p:stCondLst>
                                  <p:childTnLst>
                                    <p:animEffect transition="out" filter="randombar(horizontal)">
                                      <p:cBhvr>
                                        <p:cTn id="127" dur="500"/>
                                        <p:tgtEl>
                                          <p:spTgt spid="40"/>
                                        </p:tgtEl>
                                      </p:cBhvr>
                                    </p:animEffect>
                                    <p:set>
                                      <p:cBhvr>
                                        <p:cTn id="128" dur="1" fill="hold">
                                          <p:stCondLst>
                                            <p:cond delay="499"/>
                                          </p:stCondLst>
                                        </p:cTn>
                                        <p:tgtEl>
                                          <p:spTgt spid="40"/>
                                        </p:tgtEl>
                                        <p:attrNameLst>
                                          <p:attrName>style.visibility</p:attrName>
                                        </p:attrNameLst>
                                      </p:cBhvr>
                                      <p:to>
                                        <p:strVal val="hidden"/>
                                      </p:to>
                                    </p:set>
                                  </p:childTnLst>
                                </p:cTn>
                              </p:par>
                            </p:childTnLst>
                          </p:cTn>
                        </p:par>
                      </p:childTnLst>
                    </p:cTn>
                  </p:par>
                  <p:par>
                    <p:cTn id="129" fill="hold">
                      <p:stCondLst>
                        <p:cond delay="indefinite"/>
                      </p:stCondLst>
                      <p:childTnLst>
                        <p:par>
                          <p:cTn id="130" fill="hold">
                            <p:stCondLst>
                              <p:cond delay="0"/>
                            </p:stCondLst>
                            <p:childTnLst>
                              <p:par>
                                <p:cTn id="131" presetID="14" presetClass="exit" presetSubtype="10" fill="hold" grpId="0" nodeType="clickEffect">
                                  <p:stCondLst>
                                    <p:cond delay="0"/>
                                  </p:stCondLst>
                                  <p:childTnLst>
                                    <p:animEffect transition="out" filter="randombar(horizontal)">
                                      <p:cBhvr>
                                        <p:cTn id="132" dur="500"/>
                                        <p:tgtEl>
                                          <p:spTgt spid="12"/>
                                        </p:tgtEl>
                                      </p:cBhvr>
                                    </p:animEffect>
                                    <p:set>
                                      <p:cBhvr>
                                        <p:cTn id="133" dur="1" fill="hold">
                                          <p:stCondLst>
                                            <p:cond delay="499"/>
                                          </p:stCondLst>
                                        </p:cTn>
                                        <p:tgtEl>
                                          <p:spTgt spid="12"/>
                                        </p:tgtEl>
                                        <p:attrNameLst>
                                          <p:attrName>style.visibility</p:attrName>
                                        </p:attrNameLst>
                                      </p:cBhvr>
                                      <p:to>
                                        <p:strVal val="hidden"/>
                                      </p:to>
                                    </p:set>
                                  </p:childTnLst>
                                </p:cTn>
                              </p:par>
                              <p:par>
                                <p:cTn id="134" presetID="14" presetClass="exit" presetSubtype="10" fill="hold" grpId="0" nodeType="withEffect">
                                  <p:stCondLst>
                                    <p:cond delay="0"/>
                                  </p:stCondLst>
                                  <p:childTnLst>
                                    <p:animEffect transition="out" filter="randombar(horizontal)">
                                      <p:cBhvr>
                                        <p:cTn id="135" dur="500"/>
                                        <p:tgtEl>
                                          <p:spTgt spid="21"/>
                                        </p:tgtEl>
                                      </p:cBhvr>
                                    </p:animEffect>
                                    <p:set>
                                      <p:cBhvr>
                                        <p:cTn id="136" dur="1" fill="hold">
                                          <p:stCondLst>
                                            <p:cond delay="499"/>
                                          </p:stCondLst>
                                        </p:cTn>
                                        <p:tgtEl>
                                          <p:spTgt spid="21"/>
                                        </p:tgtEl>
                                        <p:attrNameLst>
                                          <p:attrName>style.visibility</p:attrName>
                                        </p:attrNameLst>
                                      </p:cBhvr>
                                      <p:to>
                                        <p:strVal val="hidden"/>
                                      </p:to>
                                    </p:set>
                                  </p:childTnLst>
                                </p:cTn>
                              </p:par>
                              <p:par>
                                <p:cTn id="137" presetID="14" presetClass="exit" presetSubtype="10" fill="hold" grpId="0" nodeType="withEffect">
                                  <p:stCondLst>
                                    <p:cond delay="0"/>
                                  </p:stCondLst>
                                  <p:childTnLst>
                                    <p:animEffect transition="out" filter="randombar(horizontal)">
                                      <p:cBhvr>
                                        <p:cTn id="138" dur="500"/>
                                        <p:tgtEl>
                                          <p:spTgt spid="29"/>
                                        </p:tgtEl>
                                      </p:cBhvr>
                                    </p:animEffect>
                                    <p:set>
                                      <p:cBhvr>
                                        <p:cTn id="139" dur="1" fill="hold">
                                          <p:stCondLst>
                                            <p:cond delay="499"/>
                                          </p:stCondLst>
                                        </p:cTn>
                                        <p:tgtEl>
                                          <p:spTgt spid="29"/>
                                        </p:tgtEl>
                                        <p:attrNameLst>
                                          <p:attrName>style.visibility</p:attrName>
                                        </p:attrNameLst>
                                      </p:cBhvr>
                                      <p:to>
                                        <p:strVal val="hidden"/>
                                      </p:to>
                                    </p:set>
                                  </p:childTnLst>
                                </p:cTn>
                              </p:par>
                            </p:childTnLst>
                          </p:cTn>
                        </p:par>
                      </p:childTnLst>
                    </p:cTn>
                  </p:par>
                  <p:par>
                    <p:cTn id="140" fill="hold">
                      <p:stCondLst>
                        <p:cond delay="indefinite"/>
                      </p:stCondLst>
                      <p:childTnLst>
                        <p:par>
                          <p:cTn id="141" fill="hold">
                            <p:stCondLst>
                              <p:cond delay="0"/>
                            </p:stCondLst>
                            <p:childTnLst>
                              <p:par>
                                <p:cTn id="142" presetID="14" presetClass="exit" presetSubtype="10" fill="hold" grpId="0" nodeType="clickEffect">
                                  <p:stCondLst>
                                    <p:cond delay="0"/>
                                  </p:stCondLst>
                                  <p:childTnLst>
                                    <p:animEffect transition="out" filter="randombar(horizontal)">
                                      <p:cBhvr>
                                        <p:cTn id="143" dur="500"/>
                                        <p:tgtEl>
                                          <p:spTgt spid="13"/>
                                        </p:tgtEl>
                                      </p:cBhvr>
                                    </p:animEffect>
                                    <p:set>
                                      <p:cBhvr>
                                        <p:cTn id="144" dur="1" fill="hold">
                                          <p:stCondLst>
                                            <p:cond delay="499"/>
                                          </p:stCondLst>
                                        </p:cTn>
                                        <p:tgtEl>
                                          <p:spTgt spid="13"/>
                                        </p:tgtEl>
                                        <p:attrNameLst>
                                          <p:attrName>style.visibility</p:attrName>
                                        </p:attrNameLst>
                                      </p:cBhvr>
                                      <p:to>
                                        <p:strVal val="hidden"/>
                                      </p:to>
                                    </p:set>
                                  </p:childTnLst>
                                </p:cTn>
                              </p:par>
                              <p:par>
                                <p:cTn id="145" presetID="14" presetClass="exit" presetSubtype="10" fill="hold" grpId="0" nodeType="withEffect">
                                  <p:stCondLst>
                                    <p:cond delay="0"/>
                                  </p:stCondLst>
                                  <p:childTnLst>
                                    <p:animEffect transition="out" filter="randombar(horizontal)">
                                      <p:cBhvr>
                                        <p:cTn id="146" dur="500"/>
                                        <p:tgtEl>
                                          <p:spTgt spid="22"/>
                                        </p:tgtEl>
                                      </p:cBhvr>
                                    </p:animEffect>
                                    <p:set>
                                      <p:cBhvr>
                                        <p:cTn id="147" dur="1" fill="hold">
                                          <p:stCondLst>
                                            <p:cond delay="499"/>
                                          </p:stCondLst>
                                        </p:cTn>
                                        <p:tgtEl>
                                          <p:spTgt spid="22"/>
                                        </p:tgtEl>
                                        <p:attrNameLst>
                                          <p:attrName>style.visibility</p:attrName>
                                        </p:attrNameLst>
                                      </p:cBhvr>
                                      <p:to>
                                        <p:strVal val="hidden"/>
                                      </p:to>
                                    </p:set>
                                  </p:childTnLst>
                                </p:cTn>
                              </p:par>
                              <p:par>
                                <p:cTn id="148" presetID="14" presetClass="exit" presetSubtype="10" fill="hold" grpId="0" nodeType="withEffect">
                                  <p:stCondLst>
                                    <p:cond delay="0"/>
                                  </p:stCondLst>
                                  <p:childTnLst>
                                    <p:animEffect transition="out" filter="randombar(horizontal)">
                                      <p:cBhvr>
                                        <p:cTn id="149" dur="500"/>
                                        <p:tgtEl>
                                          <p:spTgt spid="30"/>
                                        </p:tgtEl>
                                      </p:cBhvr>
                                    </p:animEffect>
                                    <p:set>
                                      <p:cBhvr>
                                        <p:cTn id="150" dur="1" fill="hold">
                                          <p:stCondLst>
                                            <p:cond delay="499"/>
                                          </p:stCondLst>
                                        </p:cTn>
                                        <p:tgtEl>
                                          <p:spTgt spid="30"/>
                                        </p:tgtEl>
                                        <p:attrNameLst>
                                          <p:attrName>style.visibility</p:attrName>
                                        </p:attrNameLst>
                                      </p:cBhvr>
                                      <p:to>
                                        <p:strVal val="hidden"/>
                                      </p:to>
                                    </p:set>
                                  </p:childTnLst>
                                </p:cTn>
                              </p:par>
                            </p:childTnLst>
                          </p:cTn>
                        </p:par>
                        <p:par>
                          <p:cTn id="151" fill="hold">
                            <p:stCondLst>
                              <p:cond delay="500"/>
                            </p:stCondLst>
                            <p:childTnLst>
                              <p:par>
                                <p:cTn id="152" presetID="22" presetClass="entr" presetSubtype="8" fill="hold" nodeType="afterEffect">
                                  <p:stCondLst>
                                    <p:cond delay="0"/>
                                  </p:stCondLst>
                                  <p:childTnLst>
                                    <p:set>
                                      <p:cBhvr>
                                        <p:cTn id="153" dur="1" fill="hold">
                                          <p:stCondLst>
                                            <p:cond delay="0"/>
                                          </p:stCondLst>
                                        </p:cTn>
                                        <p:tgtEl>
                                          <p:spTgt spid="50"/>
                                        </p:tgtEl>
                                        <p:attrNameLst>
                                          <p:attrName>style.visibility</p:attrName>
                                        </p:attrNameLst>
                                      </p:cBhvr>
                                      <p:to>
                                        <p:strVal val="visible"/>
                                      </p:to>
                                    </p:set>
                                    <p:animEffect transition="in" filter="wipe(left)">
                                      <p:cBhvr>
                                        <p:cTn id="154" dur="500"/>
                                        <p:tgtEl>
                                          <p:spTgt spid="50"/>
                                        </p:tgtEl>
                                      </p:cBhvr>
                                    </p:animEffect>
                                  </p:childTnLst>
                                </p:cTn>
                              </p:par>
                            </p:childTnLst>
                          </p:cTn>
                        </p:par>
                      </p:childTnLst>
                    </p:cTn>
                  </p:par>
                  <p:par>
                    <p:cTn id="155" fill="hold">
                      <p:stCondLst>
                        <p:cond delay="indefinite"/>
                      </p:stCondLst>
                      <p:childTnLst>
                        <p:par>
                          <p:cTn id="156" fill="hold">
                            <p:stCondLst>
                              <p:cond delay="0"/>
                            </p:stCondLst>
                            <p:childTnLst>
                              <p:par>
                                <p:cTn id="157" presetID="14" presetClass="exit" presetSubtype="10" fill="hold" grpId="0" nodeType="clickEffect">
                                  <p:stCondLst>
                                    <p:cond delay="0"/>
                                  </p:stCondLst>
                                  <p:childTnLst>
                                    <p:animEffect transition="out" filter="randombar(horizontal)">
                                      <p:cBhvr>
                                        <p:cTn id="158" dur="500"/>
                                        <p:tgtEl>
                                          <p:spTgt spid="43"/>
                                        </p:tgtEl>
                                      </p:cBhvr>
                                    </p:animEffect>
                                    <p:set>
                                      <p:cBhvr>
                                        <p:cTn id="159" dur="1" fill="hold">
                                          <p:stCondLst>
                                            <p:cond delay="499"/>
                                          </p:stCondLst>
                                        </p:cTn>
                                        <p:tgtEl>
                                          <p:spTgt spid="43"/>
                                        </p:tgtEl>
                                        <p:attrNameLst>
                                          <p:attrName>style.visibility</p:attrName>
                                        </p:attrNameLst>
                                      </p:cBhvr>
                                      <p:to>
                                        <p:strVal val="hidden"/>
                                      </p:to>
                                    </p:set>
                                  </p:childTnLst>
                                </p:cTn>
                              </p:par>
                              <p:par>
                                <p:cTn id="160" presetID="14" presetClass="exit" presetSubtype="10" fill="hold" grpId="0" nodeType="withEffect">
                                  <p:stCondLst>
                                    <p:cond delay="0"/>
                                  </p:stCondLst>
                                  <p:childTnLst>
                                    <p:animEffect transition="out" filter="randombar(horizontal)">
                                      <p:cBhvr>
                                        <p:cTn id="161" dur="500"/>
                                        <p:tgtEl>
                                          <p:spTgt spid="45"/>
                                        </p:tgtEl>
                                      </p:cBhvr>
                                    </p:animEffect>
                                    <p:set>
                                      <p:cBhvr>
                                        <p:cTn id="162" dur="1" fill="hold">
                                          <p:stCondLst>
                                            <p:cond delay="499"/>
                                          </p:stCondLst>
                                        </p:cTn>
                                        <p:tgtEl>
                                          <p:spTgt spid="45"/>
                                        </p:tgtEl>
                                        <p:attrNameLst>
                                          <p:attrName>style.visibility</p:attrName>
                                        </p:attrNameLst>
                                      </p:cBhvr>
                                      <p:to>
                                        <p:strVal val="hidden"/>
                                      </p:to>
                                    </p:set>
                                  </p:childTnLst>
                                </p:cTn>
                              </p:par>
                            </p:childTnLst>
                          </p:cTn>
                        </p:par>
                        <p:par>
                          <p:cTn id="163" fill="hold">
                            <p:stCondLst>
                              <p:cond delay="500"/>
                            </p:stCondLst>
                            <p:childTnLst>
                              <p:par>
                                <p:cTn id="164" presetID="10" presetClass="entr" presetSubtype="0" fill="hold" grpId="0" nodeType="afterEffect">
                                  <p:stCondLst>
                                    <p:cond delay="0"/>
                                  </p:stCondLst>
                                  <p:childTnLst>
                                    <p:set>
                                      <p:cBhvr>
                                        <p:cTn id="165" dur="1" fill="hold">
                                          <p:stCondLst>
                                            <p:cond delay="0"/>
                                          </p:stCondLst>
                                        </p:cTn>
                                        <p:tgtEl>
                                          <p:spTgt spid="44"/>
                                        </p:tgtEl>
                                        <p:attrNameLst>
                                          <p:attrName>style.visibility</p:attrName>
                                        </p:attrNameLst>
                                      </p:cBhvr>
                                      <p:to>
                                        <p:strVal val="visible"/>
                                      </p:to>
                                    </p:set>
                                    <p:animEffect transition="in" filter="fade">
                                      <p:cBhvr>
                                        <p:cTn id="166"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3" grpId="0" animBg="1"/>
      <p:bldP spid="7" grpId="0" animBg="1"/>
      <p:bldP spid="8" grpId="0" animBg="1"/>
      <p:bldP spid="9" grpId="0" animBg="1"/>
      <p:bldP spid="10" grpId="0" animBg="1"/>
      <p:bldP spid="11" grpId="0" animBg="1"/>
      <p:bldP spid="12" grpId="0" animBg="1"/>
      <p:bldP spid="13"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3" grpId="0" animBg="1"/>
      <p:bldP spid="45"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Kruskal’s</a:t>
            </a:r>
            <a:r>
              <a:rPr lang="en-US" dirty="0"/>
              <a:t> Algorithm for MST </a:t>
            </a:r>
          </a:p>
        </p:txBody>
      </p:sp>
      <p:pic>
        <p:nvPicPr>
          <p:cNvPr id="9" name="Picture 8">
            <a:extLst>
              <a:ext uri="{FF2B5EF4-FFF2-40B4-BE49-F238E27FC236}">
                <a16:creationId xmlns:a16="http://schemas.microsoft.com/office/drawing/2014/main" id="{71EA9F35-EC46-4C67-8AC4-D5E889591D2C}"/>
              </a:ext>
            </a:extLst>
          </p:cNvPr>
          <p:cNvPicPr>
            <a:picLocks noChangeAspect="1"/>
          </p:cNvPicPr>
          <p:nvPr/>
        </p:nvPicPr>
        <p:blipFill>
          <a:blip r:embed="rId2"/>
          <a:stretch>
            <a:fillRect/>
          </a:stretch>
        </p:blipFill>
        <p:spPr>
          <a:xfrm>
            <a:off x="184072" y="821646"/>
            <a:ext cx="7769303" cy="3208603"/>
          </a:xfrm>
          <a:prstGeom prst="rect">
            <a:avLst/>
          </a:prstGeom>
        </p:spPr>
      </p:pic>
      <p:sp>
        <p:nvSpPr>
          <p:cNvPr id="10" name="TextBox 9">
            <a:extLst>
              <a:ext uri="{FF2B5EF4-FFF2-40B4-BE49-F238E27FC236}">
                <a16:creationId xmlns:a16="http://schemas.microsoft.com/office/drawing/2014/main" id="{D8ED3145-FEE3-4B70-A889-C5425FF90EF0}"/>
              </a:ext>
            </a:extLst>
          </p:cNvPr>
          <p:cNvSpPr txBox="1"/>
          <p:nvPr/>
        </p:nvSpPr>
        <p:spPr>
          <a:xfrm>
            <a:off x="184072" y="4687410"/>
            <a:ext cx="11765271" cy="1200329"/>
          </a:xfrm>
          <a:prstGeom prst="rect">
            <a:avLst/>
          </a:prstGeom>
          <a:noFill/>
        </p:spPr>
        <p:txBody>
          <a:bodyPr wrap="square" rtlCol="0">
            <a:spAutoFit/>
          </a:bodyPr>
          <a:lstStyle/>
          <a:p>
            <a:r>
              <a:rPr lang="en-US" b="1" dirty="0">
                <a:effectLst/>
                <a:latin typeface="Times New Roman" panose="02020603050405020304" pitchFamily="18" charset="0"/>
                <a:cs typeface="Times New Roman" panose="02020603050405020304" pitchFamily="18" charset="0"/>
              </a:rPr>
              <a:t>MAKE-SET</a:t>
            </a:r>
            <a:r>
              <a:rPr lang="en-US" b="1" dirty="0">
                <a:latin typeface="Times New Roman" panose="02020603050405020304" pitchFamily="18" charset="0"/>
                <a:cs typeface="Times New Roman" panose="02020603050405020304" pitchFamily="18" charset="0"/>
              </a:rPr>
              <a:t>(x)</a:t>
            </a:r>
            <a:r>
              <a:rPr lang="en-US" b="1" dirty="0">
                <a:effectLst/>
                <a:latin typeface="Times New Roman" panose="02020603050405020304" pitchFamily="18" charset="0"/>
                <a:cs typeface="Times New Roman" panose="02020603050405020304" pitchFamily="18" charset="0"/>
              </a:rPr>
              <a:t> </a:t>
            </a:r>
            <a:r>
              <a:rPr lang="en-US" dirty="0">
                <a:effectLst/>
                <a:latin typeface="Times New Roman" panose="02020603050405020304" pitchFamily="18" charset="0"/>
                <a:cs typeface="Times New Roman" panose="02020603050405020304" pitchFamily="18" charset="0"/>
              </a:rPr>
              <a:t>creates a new set whose only member (and thus representative) is x. Since the sets are disjoint, we require that x not already be in some other set.</a:t>
            </a:r>
          </a:p>
          <a:p>
            <a:r>
              <a:rPr lang="en-US" b="1" dirty="0">
                <a:effectLst/>
                <a:latin typeface="Times New Roman" panose="02020603050405020304" pitchFamily="18" charset="0"/>
                <a:cs typeface="Times New Roman" panose="02020603050405020304" pitchFamily="18" charset="0"/>
              </a:rPr>
              <a:t>FIND-SET</a:t>
            </a:r>
            <a:r>
              <a:rPr lang="en-US" b="1" dirty="0">
                <a:latin typeface="Times New Roman" panose="02020603050405020304" pitchFamily="18" charset="0"/>
                <a:cs typeface="Times New Roman" panose="02020603050405020304" pitchFamily="18" charset="0"/>
              </a:rPr>
              <a:t>(x)</a:t>
            </a:r>
            <a:r>
              <a:rPr lang="en-US" dirty="0">
                <a:effectLst/>
                <a:latin typeface="Times New Roman" panose="02020603050405020304" pitchFamily="18" charset="0"/>
                <a:cs typeface="Times New Roman" panose="02020603050405020304" pitchFamily="18" charset="0"/>
              </a:rPr>
              <a:t> returns a pointer to the representative of the (unique) set containing x.</a:t>
            </a:r>
          </a:p>
          <a:p>
            <a:r>
              <a:rPr lang="en-US" b="1" dirty="0">
                <a:effectLst/>
                <a:latin typeface="Times New Roman" panose="02020603050405020304" pitchFamily="18" charset="0"/>
                <a:cs typeface="Times New Roman" panose="02020603050405020304" pitchFamily="18" charset="0"/>
              </a:rPr>
              <a:t>UNION(</a:t>
            </a:r>
            <a:r>
              <a:rPr lang="en-US" b="1" dirty="0" err="1">
                <a:effectLst/>
                <a:latin typeface="Times New Roman" panose="02020603050405020304" pitchFamily="18" charset="0"/>
                <a:cs typeface="Times New Roman" panose="02020603050405020304" pitchFamily="18" charset="0"/>
              </a:rPr>
              <a:t>x,y</a:t>
            </a:r>
            <a:r>
              <a:rPr lang="en-US" b="1" dirty="0">
                <a:latin typeface="Times New Roman" panose="02020603050405020304" pitchFamily="18" charset="0"/>
                <a:cs typeface="Times New Roman" panose="02020603050405020304" pitchFamily="18" charset="0"/>
              </a:rPr>
              <a:t>)</a:t>
            </a:r>
            <a:r>
              <a:rPr lang="en-US" dirty="0">
                <a:effectLst/>
                <a:latin typeface="Times New Roman" panose="02020603050405020304" pitchFamily="18" charset="0"/>
                <a:cs typeface="Times New Roman" panose="02020603050405020304" pitchFamily="18" charset="0"/>
              </a:rPr>
              <a:t> unites the dynamic sets that contain x and 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882053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134EB-E8A3-4EB4-95CE-FD3420F2B80C}"/>
              </a:ext>
            </a:extLst>
          </p:cNvPr>
          <p:cNvSpPr>
            <a:spLocks noGrp="1"/>
          </p:cNvSpPr>
          <p:nvPr>
            <p:ph type="title"/>
          </p:nvPr>
        </p:nvSpPr>
        <p:spPr/>
        <p:txBody>
          <a:bodyPr/>
          <a:lstStyle/>
          <a:p>
            <a:r>
              <a:rPr lang="en-IN" dirty="0"/>
              <a:t>Complexity analysis</a:t>
            </a:r>
          </a:p>
        </p:txBody>
      </p:sp>
      <p:sp>
        <p:nvSpPr>
          <p:cNvPr id="3" name="Content Placeholder 2">
            <a:extLst>
              <a:ext uri="{FF2B5EF4-FFF2-40B4-BE49-F238E27FC236}">
                <a16:creationId xmlns:a16="http://schemas.microsoft.com/office/drawing/2014/main" id="{EA34154C-4F99-4D53-AB0C-D6F13F1B68C3}"/>
              </a:ext>
            </a:extLst>
          </p:cNvPr>
          <p:cNvSpPr>
            <a:spLocks noGrp="1"/>
          </p:cNvSpPr>
          <p:nvPr>
            <p:ph idx="1"/>
          </p:nvPr>
        </p:nvSpPr>
        <p:spPr>
          <a:xfrm>
            <a:off x="122740" y="711200"/>
            <a:ext cx="11946519" cy="5739429"/>
          </a:xfrm>
        </p:spPr>
        <p:txBody>
          <a:bodyPr/>
          <a:lstStyle/>
          <a:p>
            <a:pPr marL="0" indent="0">
              <a:buNone/>
            </a:pPr>
            <a:r>
              <a:rPr lang="en-US" dirty="0"/>
              <a:t>Implemented Using linear array/list</a:t>
            </a:r>
          </a:p>
          <a:p>
            <a:r>
              <a:rPr lang="en-US" dirty="0">
                <a:latin typeface="Arial Narrow" panose="020B0606020202030204" pitchFamily="34" charset="0"/>
              </a:rPr>
              <a:t>Initializing the set A in line 1 takes O(1) time</a:t>
            </a:r>
          </a:p>
          <a:p>
            <a:r>
              <a:rPr lang="en-US" dirty="0">
                <a:latin typeface="Arial Narrow" panose="020B0606020202030204" pitchFamily="34" charset="0"/>
              </a:rPr>
              <a:t>For vertex we need to call </a:t>
            </a:r>
            <a:r>
              <a:rPr lang="en-US" dirty="0" err="1">
                <a:latin typeface="Arial Narrow" panose="020B0606020202030204" pitchFamily="34" charset="0"/>
              </a:rPr>
              <a:t>make_set</a:t>
            </a:r>
            <a:r>
              <a:rPr lang="en-US" dirty="0">
                <a:latin typeface="Arial Narrow" panose="020B0606020202030204" pitchFamily="34" charset="0"/>
              </a:rPr>
              <a:t>() i.e. O(V)</a:t>
            </a:r>
          </a:p>
          <a:p>
            <a:r>
              <a:rPr lang="en-US" dirty="0">
                <a:latin typeface="Arial Narrow" panose="020B0606020202030204" pitchFamily="34" charset="0"/>
              </a:rPr>
              <a:t>Sorting edges O(E log E)</a:t>
            </a:r>
          </a:p>
          <a:p>
            <a:r>
              <a:rPr lang="en-US" dirty="0">
                <a:latin typeface="Arial Narrow" panose="020B0606020202030204" pitchFamily="34" charset="0"/>
              </a:rPr>
              <a:t>FIND_SET() and UNION() operation takes O(V) or improvised O(log V)</a:t>
            </a:r>
          </a:p>
          <a:p>
            <a:r>
              <a:rPr lang="en-US" dirty="0">
                <a:solidFill>
                  <a:srgbClr val="AD1457"/>
                </a:solidFill>
              </a:rPr>
              <a:t>Total running time: </a:t>
            </a:r>
            <a:r>
              <a:rPr lang="en-US" dirty="0"/>
              <a:t>O(E log E)</a:t>
            </a:r>
          </a:p>
          <a:p>
            <a:endParaRPr lang="en-US" dirty="0"/>
          </a:p>
          <a:p>
            <a:pPr marL="0" indent="0">
              <a:buNone/>
            </a:pPr>
            <a:r>
              <a:rPr lang="en-US" dirty="0"/>
              <a:t>Implemented using Heap</a:t>
            </a:r>
          </a:p>
          <a:p>
            <a:r>
              <a:rPr lang="en-US" dirty="0"/>
              <a:t>If we use </a:t>
            </a:r>
            <a:r>
              <a:rPr lang="en-US" dirty="0" err="1"/>
              <a:t>min_heap</a:t>
            </a:r>
            <a:r>
              <a:rPr lang="en-US" dirty="0"/>
              <a:t> with E edges and we take out one edge and add in the spanning tree:</a:t>
            </a:r>
          </a:p>
          <a:p>
            <a:pPr marL="0" indent="0">
              <a:buNone/>
            </a:pPr>
            <a:r>
              <a:rPr lang="en-US" b="1" dirty="0">
                <a:latin typeface="Arial Narrow" panose="020B0606020202030204" pitchFamily="34" charset="0"/>
              </a:rPr>
              <a:t>Best case: </a:t>
            </a:r>
            <a:r>
              <a:rPr lang="en-US" dirty="0">
                <a:latin typeface="Arial Narrow" panose="020B0606020202030204" pitchFamily="34" charset="0"/>
              </a:rPr>
              <a:t>Total (V-1) edges we take out, and our spanning tree is completed</a:t>
            </a:r>
          </a:p>
          <a:p>
            <a:pPr marL="0" indent="0">
              <a:buNone/>
            </a:pPr>
            <a:r>
              <a:rPr lang="en-US" b="1" dirty="0">
                <a:latin typeface="Arial Narrow" panose="020B0606020202030204" pitchFamily="34" charset="0"/>
              </a:rPr>
              <a:t>Worst case</a:t>
            </a:r>
            <a:r>
              <a:rPr lang="en-US" dirty="0">
                <a:latin typeface="Arial Narrow" panose="020B0606020202030204" pitchFamily="34" charset="0"/>
              </a:rPr>
              <a:t>: All E edges we need to check</a:t>
            </a:r>
          </a:p>
          <a:p>
            <a:pPr marL="0" indent="0">
              <a:buNone/>
            </a:pPr>
            <a:r>
              <a:rPr lang="en-US" dirty="0">
                <a:latin typeface="Arial Narrow" panose="020B0606020202030204" pitchFamily="34" charset="0"/>
              </a:rPr>
              <a:t>And each time we take out one edge from heap we need to adjust the heap in (log E) time</a:t>
            </a:r>
          </a:p>
          <a:p>
            <a:pPr marL="0" indent="0">
              <a:buNone/>
            </a:pPr>
            <a:r>
              <a:rPr lang="en-US" b="1" dirty="0">
                <a:latin typeface="Arial Narrow" panose="020B0606020202030204" pitchFamily="34" charset="0"/>
              </a:rPr>
              <a:t>Best: </a:t>
            </a:r>
            <a:r>
              <a:rPr lang="en-US" b="1" dirty="0">
                <a:solidFill>
                  <a:srgbClr val="AD1457"/>
                </a:solidFill>
                <a:latin typeface="Arial Narrow" panose="020B0606020202030204" pitchFamily="34" charset="0"/>
              </a:rPr>
              <a:t>V log E </a:t>
            </a:r>
            <a:r>
              <a:rPr lang="en-US" b="1" dirty="0">
                <a:latin typeface="Arial Narrow" panose="020B0606020202030204" pitchFamily="34" charset="0"/>
              </a:rPr>
              <a:t>and Worst: </a:t>
            </a:r>
            <a:r>
              <a:rPr lang="en-US" b="1" dirty="0">
                <a:solidFill>
                  <a:srgbClr val="AD1457"/>
                </a:solidFill>
                <a:latin typeface="Arial Narrow" panose="020B0606020202030204" pitchFamily="34" charset="0"/>
              </a:rPr>
              <a:t>E log E</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3043455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500"/>
                                        <p:tgtEl>
                                          <p:spTgt spid="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fade">
                                      <p:cBhvr>
                                        <p:cTn id="57" dur="500"/>
                                        <p:tgtEl>
                                          <p:spTgt spid="3">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2" end="12"/>
                                            </p:txEl>
                                          </p:spTgt>
                                        </p:tgtEl>
                                        <p:attrNameLst>
                                          <p:attrName>style.visibility</p:attrName>
                                        </p:attrNameLst>
                                      </p:cBhvr>
                                      <p:to>
                                        <p:strVal val="visible"/>
                                      </p:to>
                                    </p:set>
                                    <p:animEffect transition="in" filter="fade">
                                      <p:cBhvr>
                                        <p:cTn id="62"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Exercises – Home Work</a:t>
            </a:r>
          </a:p>
        </p:txBody>
      </p:sp>
      <p:sp>
        <p:nvSpPr>
          <p:cNvPr id="3" name="Content Placeholder 2"/>
          <p:cNvSpPr>
            <a:spLocks noGrp="1"/>
          </p:cNvSpPr>
          <p:nvPr>
            <p:ph idx="1"/>
          </p:nvPr>
        </p:nvSpPr>
        <p:spPr/>
        <p:txBody>
          <a:bodyPr/>
          <a:lstStyle/>
          <a:p>
            <a:r>
              <a:rPr lang="en-US" dirty="0"/>
              <a:t>Write the </a:t>
            </a:r>
            <a:r>
              <a:rPr lang="en-US" dirty="0" err="1"/>
              <a:t>kruskal’s</a:t>
            </a:r>
            <a:r>
              <a:rPr lang="en-US" dirty="0"/>
              <a:t> Algorithm to find out Minimum Spanning Tree. Apply the same and find MST for the graph given below.</a:t>
            </a:r>
          </a:p>
          <a:p>
            <a:endParaRPr lang="en-US" dirty="0"/>
          </a:p>
        </p:txBody>
      </p:sp>
      <p:sp>
        <p:nvSpPr>
          <p:cNvPr id="4" name="Text Box 56"/>
          <p:cNvSpPr txBox="1">
            <a:spLocks noChangeArrowheads="1"/>
          </p:cNvSpPr>
          <p:nvPr/>
        </p:nvSpPr>
        <p:spPr bwMode="auto">
          <a:xfrm>
            <a:off x="1556665" y="44061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5</a:t>
            </a:r>
          </a:p>
        </p:txBody>
      </p:sp>
      <p:sp>
        <p:nvSpPr>
          <p:cNvPr id="5" name="Line 57"/>
          <p:cNvSpPr>
            <a:spLocks noChangeShapeType="1"/>
          </p:cNvSpPr>
          <p:nvPr/>
        </p:nvSpPr>
        <p:spPr bwMode="auto">
          <a:xfrm flipH="1">
            <a:off x="4257003" y="4710948"/>
            <a:ext cx="381000" cy="76200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 name="Text Box 58"/>
          <p:cNvSpPr txBox="1">
            <a:spLocks noChangeArrowheads="1"/>
          </p:cNvSpPr>
          <p:nvPr/>
        </p:nvSpPr>
        <p:spPr bwMode="auto">
          <a:xfrm>
            <a:off x="4147465" y="5103616"/>
            <a:ext cx="47942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   1</a:t>
            </a:r>
          </a:p>
        </p:txBody>
      </p:sp>
      <p:sp>
        <p:nvSpPr>
          <p:cNvPr id="7" name="Line 59"/>
          <p:cNvSpPr>
            <a:spLocks noChangeShapeType="1"/>
          </p:cNvSpPr>
          <p:nvPr/>
        </p:nvSpPr>
        <p:spPr bwMode="auto">
          <a:xfrm>
            <a:off x="3004465" y="3758448"/>
            <a:ext cx="152400" cy="68580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60"/>
          <p:cNvSpPr>
            <a:spLocks noChangeShapeType="1"/>
          </p:cNvSpPr>
          <p:nvPr/>
        </p:nvSpPr>
        <p:spPr bwMode="auto">
          <a:xfrm flipV="1">
            <a:off x="3309265" y="3872748"/>
            <a:ext cx="533400" cy="76200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61"/>
          <p:cNvSpPr>
            <a:spLocks noChangeShapeType="1"/>
          </p:cNvSpPr>
          <p:nvPr/>
        </p:nvSpPr>
        <p:spPr bwMode="auto">
          <a:xfrm flipH="1" flipV="1">
            <a:off x="3156865" y="3796548"/>
            <a:ext cx="1219200" cy="83820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Line 62"/>
          <p:cNvSpPr>
            <a:spLocks noChangeShapeType="1"/>
          </p:cNvSpPr>
          <p:nvPr/>
        </p:nvSpPr>
        <p:spPr bwMode="auto">
          <a:xfrm flipV="1">
            <a:off x="1937665" y="4710947"/>
            <a:ext cx="1021894" cy="314429"/>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Line 63"/>
          <p:cNvSpPr>
            <a:spLocks noChangeShapeType="1"/>
          </p:cNvSpPr>
          <p:nvPr/>
        </p:nvSpPr>
        <p:spPr bwMode="auto">
          <a:xfrm flipV="1">
            <a:off x="2852065" y="4786037"/>
            <a:ext cx="1447800" cy="83931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Line 64"/>
          <p:cNvSpPr>
            <a:spLocks noChangeShapeType="1"/>
          </p:cNvSpPr>
          <p:nvPr/>
        </p:nvSpPr>
        <p:spPr bwMode="auto">
          <a:xfrm flipV="1">
            <a:off x="1785264" y="4329947"/>
            <a:ext cx="78607" cy="550251"/>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65"/>
          <p:cNvSpPr>
            <a:spLocks noChangeShapeType="1"/>
          </p:cNvSpPr>
          <p:nvPr/>
        </p:nvSpPr>
        <p:spPr bwMode="auto">
          <a:xfrm>
            <a:off x="2013864" y="4177547"/>
            <a:ext cx="943289" cy="393037"/>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66"/>
          <p:cNvSpPr>
            <a:spLocks noChangeShapeType="1"/>
          </p:cNvSpPr>
          <p:nvPr/>
        </p:nvSpPr>
        <p:spPr bwMode="auto">
          <a:xfrm>
            <a:off x="3201315" y="3601286"/>
            <a:ext cx="6096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67"/>
          <p:cNvSpPr>
            <a:spLocks noChangeShapeType="1"/>
          </p:cNvSpPr>
          <p:nvPr/>
        </p:nvSpPr>
        <p:spPr bwMode="auto">
          <a:xfrm>
            <a:off x="4071265" y="3872748"/>
            <a:ext cx="381000" cy="60960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Oval 68"/>
          <p:cNvSpPr>
            <a:spLocks noChangeArrowheads="1"/>
          </p:cNvSpPr>
          <p:nvPr/>
        </p:nvSpPr>
        <p:spPr bwMode="auto">
          <a:xfrm>
            <a:off x="1556665" y="4025148"/>
            <a:ext cx="533400" cy="53340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Oval 69"/>
          <p:cNvSpPr>
            <a:spLocks noChangeArrowheads="1"/>
          </p:cNvSpPr>
          <p:nvPr/>
        </p:nvSpPr>
        <p:spPr bwMode="auto">
          <a:xfrm>
            <a:off x="1709065" y="3872748"/>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dirty="0">
                <a:solidFill>
                  <a:schemeClr val="bg1"/>
                </a:solidFill>
              </a:rPr>
              <a:t>A</a:t>
            </a:r>
          </a:p>
        </p:txBody>
      </p:sp>
      <p:sp>
        <p:nvSpPr>
          <p:cNvPr id="18" name="Oval 70"/>
          <p:cNvSpPr>
            <a:spLocks noChangeArrowheads="1"/>
          </p:cNvSpPr>
          <p:nvPr/>
        </p:nvSpPr>
        <p:spPr bwMode="auto">
          <a:xfrm>
            <a:off x="1556665" y="4787148"/>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dirty="0">
                <a:solidFill>
                  <a:schemeClr val="bg1"/>
                </a:solidFill>
              </a:rPr>
              <a:t>H</a:t>
            </a:r>
          </a:p>
        </p:txBody>
      </p:sp>
      <p:sp>
        <p:nvSpPr>
          <p:cNvPr id="19" name="Oval 71"/>
          <p:cNvSpPr>
            <a:spLocks noChangeArrowheads="1"/>
          </p:cNvSpPr>
          <p:nvPr/>
        </p:nvSpPr>
        <p:spPr bwMode="auto">
          <a:xfrm>
            <a:off x="2928265" y="4406148"/>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a:solidFill>
                  <a:schemeClr val="bg1"/>
                </a:solidFill>
              </a:rPr>
              <a:t>B</a:t>
            </a:r>
          </a:p>
        </p:txBody>
      </p:sp>
      <p:sp>
        <p:nvSpPr>
          <p:cNvPr id="20" name="Oval 72"/>
          <p:cNvSpPr>
            <a:spLocks noChangeArrowheads="1"/>
          </p:cNvSpPr>
          <p:nvPr/>
        </p:nvSpPr>
        <p:spPr bwMode="auto">
          <a:xfrm>
            <a:off x="2775865" y="3415548"/>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a:solidFill>
                  <a:schemeClr val="bg1"/>
                </a:solidFill>
              </a:rPr>
              <a:t>F</a:t>
            </a:r>
          </a:p>
        </p:txBody>
      </p:sp>
      <p:sp>
        <p:nvSpPr>
          <p:cNvPr id="21" name="Oval 73"/>
          <p:cNvSpPr>
            <a:spLocks noChangeArrowheads="1"/>
          </p:cNvSpPr>
          <p:nvPr/>
        </p:nvSpPr>
        <p:spPr bwMode="auto">
          <a:xfrm>
            <a:off x="3842665" y="5396748"/>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a:solidFill>
                  <a:schemeClr val="bg1"/>
                </a:solidFill>
              </a:rPr>
              <a:t>E</a:t>
            </a:r>
          </a:p>
        </p:txBody>
      </p:sp>
      <p:sp>
        <p:nvSpPr>
          <p:cNvPr id="22" name="Oval 74"/>
          <p:cNvSpPr>
            <a:spLocks noChangeArrowheads="1"/>
          </p:cNvSpPr>
          <p:nvPr/>
        </p:nvSpPr>
        <p:spPr bwMode="auto">
          <a:xfrm>
            <a:off x="4299865" y="4482348"/>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dirty="0">
                <a:solidFill>
                  <a:schemeClr val="bg1"/>
                </a:solidFill>
              </a:rPr>
              <a:t>D</a:t>
            </a:r>
          </a:p>
        </p:txBody>
      </p:sp>
      <p:sp>
        <p:nvSpPr>
          <p:cNvPr id="23" name="Oval 75"/>
          <p:cNvSpPr>
            <a:spLocks noChangeArrowheads="1"/>
          </p:cNvSpPr>
          <p:nvPr/>
        </p:nvSpPr>
        <p:spPr bwMode="auto">
          <a:xfrm>
            <a:off x="3766465" y="3491748"/>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a:solidFill>
                  <a:schemeClr val="bg1"/>
                </a:solidFill>
              </a:rPr>
              <a:t>C</a:t>
            </a:r>
          </a:p>
        </p:txBody>
      </p:sp>
      <p:sp>
        <p:nvSpPr>
          <p:cNvPr id="24" name="Oval 76"/>
          <p:cNvSpPr>
            <a:spLocks noChangeArrowheads="1"/>
          </p:cNvSpPr>
          <p:nvPr/>
        </p:nvSpPr>
        <p:spPr bwMode="auto">
          <a:xfrm>
            <a:off x="2547265" y="5396748"/>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a:solidFill>
                  <a:schemeClr val="bg1"/>
                </a:solidFill>
              </a:rPr>
              <a:t>G</a:t>
            </a:r>
          </a:p>
        </p:txBody>
      </p:sp>
      <p:sp>
        <p:nvSpPr>
          <p:cNvPr id="25" name="Line 77"/>
          <p:cNvSpPr>
            <a:spLocks noChangeShapeType="1"/>
          </p:cNvSpPr>
          <p:nvPr/>
        </p:nvSpPr>
        <p:spPr bwMode="auto">
          <a:xfrm>
            <a:off x="3309265" y="4787147"/>
            <a:ext cx="609600" cy="674133"/>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78"/>
          <p:cNvSpPr>
            <a:spLocks noChangeShapeType="1"/>
          </p:cNvSpPr>
          <p:nvPr/>
        </p:nvSpPr>
        <p:spPr bwMode="auto">
          <a:xfrm flipH="1">
            <a:off x="3004465" y="5701548"/>
            <a:ext cx="838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79"/>
          <p:cNvSpPr>
            <a:spLocks noChangeShapeType="1"/>
          </p:cNvSpPr>
          <p:nvPr/>
        </p:nvSpPr>
        <p:spPr bwMode="auto">
          <a:xfrm flipH="1" flipV="1">
            <a:off x="1937664" y="5168147"/>
            <a:ext cx="628859" cy="393037"/>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Text Box 80"/>
          <p:cNvSpPr txBox="1">
            <a:spLocks noChangeArrowheads="1"/>
          </p:cNvSpPr>
          <p:nvPr/>
        </p:nvSpPr>
        <p:spPr bwMode="auto">
          <a:xfrm>
            <a:off x="3309265" y="56253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a:t>3</a:t>
            </a:r>
          </a:p>
        </p:txBody>
      </p:sp>
      <p:sp>
        <p:nvSpPr>
          <p:cNvPr id="29" name="Text Box 81"/>
          <p:cNvSpPr txBox="1">
            <a:spLocks noChangeArrowheads="1"/>
          </p:cNvSpPr>
          <p:nvPr/>
        </p:nvSpPr>
        <p:spPr bwMode="auto">
          <a:xfrm>
            <a:off x="3134640" y="50157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2</a:t>
            </a:r>
          </a:p>
        </p:txBody>
      </p:sp>
      <p:sp>
        <p:nvSpPr>
          <p:cNvPr id="30" name="Text Box 82"/>
          <p:cNvSpPr txBox="1">
            <a:spLocks noChangeArrowheads="1"/>
          </p:cNvSpPr>
          <p:nvPr/>
        </p:nvSpPr>
        <p:spPr bwMode="auto">
          <a:xfrm>
            <a:off x="3439440" y="4710948"/>
            <a:ext cx="47942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4</a:t>
            </a:r>
          </a:p>
        </p:txBody>
      </p:sp>
      <p:sp>
        <p:nvSpPr>
          <p:cNvPr id="31" name="Text Box 83"/>
          <p:cNvSpPr txBox="1">
            <a:spLocks noChangeArrowheads="1"/>
          </p:cNvSpPr>
          <p:nvPr/>
        </p:nvSpPr>
        <p:spPr bwMode="auto">
          <a:xfrm>
            <a:off x="3766465" y="4296611"/>
            <a:ext cx="468312"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a:t>6</a:t>
            </a:r>
          </a:p>
        </p:txBody>
      </p:sp>
      <p:sp>
        <p:nvSpPr>
          <p:cNvPr id="32" name="Text Box 84"/>
          <p:cNvSpPr txBox="1">
            <a:spLocks noChangeArrowheads="1"/>
          </p:cNvSpPr>
          <p:nvPr/>
        </p:nvSpPr>
        <p:spPr bwMode="auto">
          <a:xfrm>
            <a:off x="4223665" y="39489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3</a:t>
            </a:r>
          </a:p>
        </p:txBody>
      </p:sp>
      <p:sp>
        <p:nvSpPr>
          <p:cNvPr id="33" name="Text Box 85"/>
          <p:cNvSpPr txBox="1">
            <a:spLocks noChangeArrowheads="1"/>
          </p:cNvSpPr>
          <p:nvPr/>
        </p:nvSpPr>
        <p:spPr bwMode="auto">
          <a:xfrm>
            <a:off x="3298153" y="40251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4</a:t>
            </a:r>
          </a:p>
        </p:txBody>
      </p:sp>
      <p:sp>
        <p:nvSpPr>
          <p:cNvPr id="34" name="Text Box 88"/>
          <p:cNvSpPr txBox="1">
            <a:spLocks noChangeArrowheads="1"/>
          </p:cNvSpPr>
          <p:nvPr/>
        </p:nvSpPr>
        <p:spPr bwMode="auto">
          <a:xfrm>
            <a:off x="2463626" y="41013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a:t>8</a:t>
            </a:r>
          </a:p>
        </p:txBody>
      </p:sp>
      <p:sp>
        <p:nvSpPr>
          <p:cNvPr id="35" name="Text Box 89"/>
          <p:cNvSpPr txBox="1">
            <a:spLocks noChangeArrowheads="1"/>
          </p:cNvSpPr>
          <p:nvPr/>
        </p:nvSpPr>
        <p:spPr bwMode="auto">
          <a:xfrm>
            <a:off x="2242465" y="45585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a:t>4</a:t>
            </a:r>
          </a:p>
        </p:txBody>
      </p:sp>
      <p:sp>
        <p:nvSpPr>
          <p:cNvPr id="36" name="Text Box 90"/>
          <p:cNvSpPr txBox="1">
            <a:spLocks noChangeArrowheads="1"/>
          </p:cNvSpPr>
          <p:nvPr/>
        </p:nvSpPr>
        <p:spPr bwMode="auto">
          <a:xfrm>
            <a:off x="2078953" y="5311023"/>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a:t>3</a:t>
            </a:r>
          </a:p>
        </p:txBody>
      </p:sp>
      <p:sp>
        <p:nvSpPr>
          <p:cNvPr id="37" name="Line 91"/>
          <p:cNvSpPr>
            <a:spLocks noChangeShapeType="1"/>
          </p:cNvSpPr>
          <p:nvPr/>
        </p:nvSpPr>
        <p:spPr bwMode="auto">
          <a:xfrm flipV="1">
            <a:off x="2052244" y="3603204"/>
            <a:ext cx="725896" cy="280025"/>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 name="Text Box 92"/>
          <p:cNvSpPr txBox="1">
            <a:spLocks noChangeArrowheads="1"/>
          </p:cNvSpPr>
          <p:nvPr/>
        </p:nvSpPr>
        <p:spPr bwMode="auto">
          <a:xfrm>
            <a:off x="2166265" y="3415548"/>
            <a:ext cx="47942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10</a:t>
            </a:r>
          </a:p>
        </p:txBody>
      </p:sp>
      <p:sp>
        <p:nvSpPr>
          <p:cNvPr id="39" name="Text Box 84"/>
          <p:cNvSpPr txBox="1">
            <a:spLocks noChangeArrowheads="1"/>
          </p:cNvSpPr>
          <p:nvPr/>
        </p:nvSpPr>
        <p:spPr bwMode="auto">
          <a:xfrm>
            <a:off x="3309265" y="329704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3</a:t>
            </a:r>
          </a:p>
        </p:txBody>
      </p:sp>
      <p:sp>
        <p:nvSpPr>
          <p:cNvPr id="40" name="Text Box 87"/>
          <p:cNvSpPr txBox="1">
            <a:spLocks noChangeArrowheads="1"/>
          </p:cNvSpPr>
          <p:nvPr/>
        </p:nvSpPr>
        <p:spPr bwMode="auto">
          <a:xfrm>
            <a:off x="2852065" y="3948947"/>
            <a:ext cx="314429"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FontTx/>
              <a:buNone/>
            </a:pPr>
            <a:r>
              <a:rPr lang="en-US" altLang="en-US" b="1"/>
              <a:t>4</a:t>
            </a:r>
          </a:p>
        </p:txBody>
      </p:sp>
      <p:cxnSp>
        <p:nvCxnSpPr>
          <p:cNvPr id="41" name="Straight Connector 40"/>
          <p:cNvCxnSpPr/>
          <p:nvPr/>
        </p:nvCxnSpPr>
        <p:spPr>
          <a:xfrm flipH="1">
            <a:off x="5184750" y="3021485"/>
            <a:ext cx="908" cy="314094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TextBox 41"/>
              <p:cNvSpPr txBox="1"/>
              <p:nvPr/>
            </p:nvSpPr>
            <p:spPr>
              <a:xfrm>
                <a:off x="1556664" y="2801466"/>
                <a:ext cx="4572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rgbClr val="AD1457"/>
                          </a:solidFill>
                          <a:latin typeface="Cambria Math" panose="02040503050406030204" pitchFamily="18" charset="0"/>
                        </a:rPr>
                        <m:t>𝟏</m:t>
                      </m:r>
                      <m:r>
                        <a:rPr lang="en-US" sz="2400" b="1" i="1" dirty="0" smtClean="0">
                          <a:solidFill>
                            <a:srgbClr val="AD1457"/>
                          </a:solidFill>
                          <a:latin typeface="Cambria Math" panose="02040503050406030204" pitchFamily="18" charset="0"/>
                        </a:rPr>
                        <m:t>.</m:t>
                      </m:r>
                    </m:oMath>
                  </m:oMathPara>
                </a14:m>
                <a:endParaRPr lang="en-US" sz="2400" b="1" dirty="0">
                  <a:solidFill>
                    <a:srgbClr val="AD1457"/>
                  </a:solidFill>
                </a:endParaRPr>
              </a:p>
            </p:txBody>
          </p:sp>
        </mc:Choice>
        <mc:Fallback xmlns="">
          <p:sp>
            <p:nvSpPr>
              <p:cNvPr id="42" name="TextBox 41"/>
              <p:cNvSpPr txBox="1">
                <a:spLocks noRot="1" noChangeAspect="1" noMove="1" noResize="1" noEditPoints="1" noAdjustHandles="1" noChangeArrowheads="1" noChangeShapeType="1" noTextEdit="1"/>
              </p:cNvSpPr>
              <p:nvPr/>
            </p:nvSpPr>
            <p:spPr>
              <a:xfrm>
                <a:off x="1556664" y="2801466"/>
                <a:ext cx="457200" cy="461665"/>
              </a:xfrm>
              <a:prstGeom prst="rect">
                <a:avLst/>
              </a:prstGeom>
              <a:blipFill>
                <a:blip r:embed="rId3"/>
                <a:stretch>
                  <a:fillRect/>
                </a:stretch>
              </a:blipFill>
            </p:spPr>
            <p:txBody>
              <a:bodyPr/>
              <a:lstStyle/>
              <a:p>
                <a:r>
                  <a:rPr lang="en-US">
                    <a:noFill/>
                  </a:rPr>
                  <a:t> </a:t>
                </a:r>
              </a:p>
            </p:txBody>
          </p:sp>
        </mc:Fallback>
      </mc:AlternateContent>
      <p:sp>
        <p:nvSpPr>
          <p:cNvPr id="43" name="Oval 42"/>
          <p:cNvSpPr/>
          <p:nvPr/>
        </p:nvSpPr>
        <p:spPr>
          <a:xfrm>
            <a:off x="7424065" y="3263148"/>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sp>
        <p:nvSpPr>
          <p:cNvPr id="44" name="Oval 43"/>
          <p:cNvSpPr/>
          <p:nvPr/>
        </p:nvSpPr>
        <p:spPr>
          <a:xfrm>
            <a:off x="6814465" y="3796548"/>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45" name="Oval 44"/>
          <p:cNvSpPr/>
          <p:nvPr/>
        </p:nvSpPr>
        <p:spPr>
          <a:xfrm>
            <a:off x="8109865" y="3796548"/>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46" name="Oval 45"/>
          <p:cNvSpPr/>
          <p:nvPr/>
        </p:nvSpPr>
        <p:spPr>
          <a:xfrm>
            <a:off x="6357265" y="4406148"/>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47" name="Oval 46"/>
          <p:cNvSpPr/>
          <p:nvPr/>
        </p:nvSpPr>
        <p:spPr>
          <a:xfrm>
            <a:off x="7195465" y="4406148"/>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sp>
        <p:nvSpPr>
          <p:cNvPr id="48" name="Oval 47"/>
          <p:cNvSpPr/>
          <p:nvPr/>
        </p:nvSpPr>
        <p:spPr>
          <a:xfrm>
            <a:off x="7805065" y="4406148"/>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p>
        </p:txBody>
      </p:sp>
      <p:sp>
        <p:nvSpPr>
          <p:cNvPr id="49" name="Oval 48"/>
          <p:cNvSpPr/>
          <p:nvPr/>
        </p:nvSpPr>
        <p:spPr>
          <a:xfrm>
            <a:off x="8567065" y="4406148"/>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G</a:t>
            </a:r>
          </a:p>
        </p:txBody>
      </p:sp>
      <p:sp>
        <p:nvSpPr>
          <p:cNvPr id="50" name="Oval 49"/>
          <p:cNvSpPr/>
          <p:nvPr/>
        </p:nvSpPr>
        <p:spPr>
          <a:xfrm>
            <a:off x="7424065" y="5549148"/>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H</a:t>
            </a:r>
          </a:p>
        </p:txBody>
      </p:sp>
      <p:cxnSp>
        <p:nvCxnSpPr>
          <p:cNvPr id="51" name="Straight Connector 50"/>
          <p:cNvCxnSpPr>
            <a:stCxn id="43" idx="3"/>
            <a:endCxn id="44" idx="7"/>
          </p:cNvCxnSpPr>
          <p:nvPr/>
        </p:nvCxnSpPr>
        <p:spPr>
          <a:xfrm flipH="1">
            <a:off x="7204710" y="3653393"/>
            <a:ext cx="286310" cy="210110"/>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2" name="Straight Connector 51"/>
          <p:cNvCxnSpPr>
            <a:stCxn id="43" idx="5"/>
            <a:endCxn id="45" idx="1"/>
          </p:cNvCxnSpPr>
          <p:nvPr/>
        </p:nvCxnSpPr>
        <p:spPr>
          <a:xfrm>
            <a:off x="7814310" y="3653393"/>
            <a:ext cx="362510" cy="210110"/>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3" name="Straight Connector 52"/>
          <p:cNvCxnSpPr>
            <a:stCxn id="44" idx="3"/>
            <a:endCxn id="46" idx="0"/>
          </p:cNvCxnSpPr>
          <p:nvPr/>
        </p:nvCxnSpPr>
        <p:spPr>
          <a:xfrm flipH="1">
            <a:off x="6585865" y="4186793"/>
            <a:ext cx="295555" cy="219355"/>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4" name="Straight Connector 53"/>
          <p:cNvCxnSpPr>
            <a:stCxn id="44" idx="5"/>
            <a:endCxn id="47" idx="0"/>
          </p:cNvCxnSpPr>
          <p:nvPr/>
        </p:nvCxnSpPr>
        <p:spPr>
          <a:xfrm>
            <a:off x="7204710" y="4186793"/>
            <a:ext cx="219355" cy="219355"/>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5" name="Straight Connector 54"/>
          <p:cNvCxnSpPr>
            <a:stCxn id="45" idx="3"/>
            <a:endCxn id="48" idx="0"/>
          </p:cNvCxnSpPr>
          <p:nvPr/>
        </p:nvCxnSpPr>
        <p:spPr>
          <a:xfrm flipH="1">
            <a:off x="8033665" y="4186793"/>
            <a:ext cx="143155" cy="219355"/>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6" name="Straight Connector 55"/>
          <p:cNvCxnSpPr>
            <a:stCxn id="45" idx="5"/>
            <a:endCxn id="49" idx="0"/>
          </p:cNvCxnSpPr>
          <p:nvPr/>
        </p:nvCxnSpPr>
        <p:spPr>
          <a:xfrm>
            <a:off x="8500110" y="4186793"/>
            <a:ext cx="295555" cy="219355"/>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7" name="Straight Connector 56"/>
          <p:cNvCxnSpPr>
            <a:stCxn id="46" idx="4"/>
            <a:endCxn id="50" idx="2"/>
          </p:cNvCxnSpPr>
          <p:nvPr/>
        </p:nvCxnSpPr>
        <p:spPr>
          <a:xfrm>
            <a:off x="6585865" y="4863348"/>
            <a:ext cx="838200" cy="914400"/>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8" name="Straight Connector 57"/>
          <p:cNvCxnSpPr>
            <a:stCxn id="47" idx="4"/>
            <a:endCxn id="50" idx="1"/>
          </p:cNvCxnSpPr>
          <p:nvPr/>
        </p:nvCxnSpPr>
        <p:spPr>
          <a:xfrm>
            <a:off x="7424065" y="4863348"/>
            <a:ext cx="66955" cy="752755"/>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9" name="Straight Connector 58"/>
          <p:cNvCxnSpPr>
            <a:stCxn id="48" idx="4"/>
            <a:endCxn id="50" idx="7"/>
          </p:cNvCxnSpPr>
          <p:nvPr/>
        </p:nvCxnSpPr>
        <p:spPr>
          <a:xfrm flipH="1">
            <a:off x="7814310" y="4863348"/>
            <a:ext cx="219355" cy="752755"/>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60" name="Straight Connector 59"/>
          <p:cNvCxnSpPr>
            <a:stCxn id="49" idx="4"/>
            <a:endCxn id="50" idx="6"/>
          </p:cNvCxnSpPr>
          <p:nvPr/>
        </p:nvCxnSpPr>
        <p:spPr>
          <a:xfrm flipH="1">
            <a:off x="7881265" y="4863348"/>
            <a:ext cx="914400" cy="914400"/>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61" name="TextBox 60"/>
              <p:cNvSpPr txBox="1"/>
              <p:nvPr/>
            </p:nvSpPr>
            <p:spPr>
              <a:xfrm flipH="1">
                <a:off x="5690664" y="2801466"/>
                <a:ext cx="4572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rgbClr val="AD1457"/>
                          </a:solidFill>
                          <a:latin typeface="Cambria Math" panose="02040503050406030204" pitchFamily="18" charset="0"/>
                        </a:rPr>
                        <m:t>𝟐</m:t>
                      </m:r>
                      <m:r>
                        <a:rPr lang="en-US" sz="2400" b="1" i="1" dirty="0" smtClean="0">
                          <a:solidFill>
                            <a:srgbClr val="AD1457"/>
                          </a:solidFill>
                          <a:latin typeface="Cambria Math" panose="02040503050406030204" pitchFamily="18" charset="0"/>
                        </a:rPr>
                        <m:t>.</m:t>
                      </m:r>
                    </m:oMath>
                  </m:oMathPara>
                </a14:m>
                <a:endParaRPr lang="en-US" sz="2400" b="1" dirty="0">
                  <a:solidFill>
                    <a:srgbClr val="AD1457"/>
                  </a:solidFill>
                </a:endParaRPr>
              </a:p>
            </p:txBody>
          </p:sp>
        </mc:Choice>
        <mc:Fallback xmlns="">
          <p:sp>
            <p:nvSpPr>
              <p:cNvPr id="61" name="TextBox 60"/>
              <p:cNvSpPr txBox="1">
                <a:spLocks noRot="1" noChangeAspect="1" noMove="1" noResize="1" noEditPoints="1" noAdjustHandles="1" noChangeArrowheads="1" noChangeShapeType="1" noTextEdit="1"/>
              </p:cNvSpPr>
              <p:nvPr/>
            </p:nvSpPr>
            <p:spPr>
              <a:xfrm flipH="1">
                <a:off x="5690664" y="2801466"/>
                <a:ext cx="457200" cy="461665"/>
              </a:xfrm>
              <a:prstGeom prst="rect">
                <a:avLst/>
              </a:prstGeom>
              <a:blipFill>
                <a:blip r:embed="rId4"/>
                <a:stretch>
                  <a:fillRect l="-1333"/>
                </a:stretch>
              </a:blipFill>
            </p:spPr>
            <p:txBody>
              <a:bodyPr/>
              <a:lstStyle/>
              <a:p>
                <a:r>
                  <a:rPr lang="en-US">
                    <a:noFill/>
                  </a:rPr>
                  <a:t> </a:t>
                </a:r>
              </a:p>
            </p:txBody>
          </p:sp>
        </mc:Fallback>
      </mc:AlternateContent>
      <p:sp>
        <p:nvSpPr>
          <p:cNvPr id="62" name="Text Box 84"/>
          <p:cNvSpPr txBox="1">
            <a:spLocks noChangeArrowheads="1"/>
          </p:cNvSpPr>
          <p:nvPr/>
        </p:nvSpPr>
        <p:spPr bwMode="auto">
          <a:xfrm>
            <a:off x="7043065" y="341554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3</a:t>
            </a:r>
          </a:p>
        </p:txBody>
      </p:sp>
      <p:sp>
        <p:nvSpPr>
          <p:cNvPr id="63" name="Text Box 84"/>
          <p:cNvSpPr txBox="1">
            <a:spLocks noChangeArrowheads="1"/>
          </p:cNvSpPr>
          <p:nvPr/>
        </p:nvSpPr>
        <p:spPr bwMode="auto">
          <a:xfrm>
            <a:off x="7881265" y="3393596"/>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1</a:t>
            </a:r>
          </a:p>
        </p:txBody>
      </p:sp>
      <p:sp>
        <p:nvSpPr>
          <p:cNvPr id="64" name="Text Box 84"/>
          <p:cNvSpPr txBox="1">
            <a:spLocks noChangeArrowheads="1"/>
          </p:cNvSpPr>
          <p:nvPr/>
        </p:nvSpPr>
        <p:spPr bwMode="auto">
          <a:xfrm>
            <a:off x="8584761" y="3960615"/>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5</a:t>
            </a:r>
          </a:p>
        </p:txBody>
      </p:sp>
      <p:sp>
        <p:nvSpPr>
          <p:cNvPr id="65" name="Text Box 84"/>
          <p:cNvSpPr txBox="1">
            <a:spLocks noChangeArrowheads="1"/>
          </p:cNvSpPr>
          <p:nvPr/>
        </p:nvSpPr>
        <p:spPr bwMode="auto">
          <a:xfrm>
            <a:off x="6438316" y="399288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7</a:t>
            </a:r>
          </a:p>
        </p:txBody>
      </p:sp>
      <p:sp>
        <p:nvSpPr>
          <p:cNvPr id="66" name="Text Box 84"/>
          <p:cNvSpPr txBox="1">
            <a:spLocks noChangeArrowheads="1"/>
          </p:cNvSpPr>
          <p:nvPr/>
        </p:nvSpPr>
        <p:spPr bwMode="auto">
          <a:xfrm>
            <a:off x="7242897" y="399288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2</a:t>
            </a:r>
          </a:p>
        </p:txBody>
      </p:sp>
      <p:sp>
        <p:nvSpPr>
          <p:cNvPr id="67" name="Text Box 84"/>
          <p:cNvSpPr txBox="1">
            <a:spLocks noChangeArrowheads="1"/>
          </p:cNvSpPr>
          <p:nvPr/>
        </p:nvSpPr>
        <p:spPr bwMode="auto">
          <a:xfrm>
            <a:off x="7814397" y="3994437"/>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4</a:t>
            </a:r>
          </a:p>
        </p:txBody>
      </p:sp>
      <p:sp>
        <p:nvSpPr>
          <p:cNvPr id="68" name="Text Box 84"/>
          <p:cNvSpPr txBox="1">
            <a:spLocks noChangeArrowheads="1"/>
          </p:cNvSpPr>
          <p:nvPr/>
        </p:nvSpPr>
        <p:spPr bwMode="auto">
          <a:xfrm>
            <a:off x="6695331" y="5169284"/>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9</a:t>
            </a:r>
          </a:p>
        </p:txBody>
      </p:sp>
      <p:sp>
        <p:nvSpPr>
          <p:cNvPr id="69" name="Text Box 84"/>
          <p:cNvSpPr txBox="1">
            <a:spLocks noChangeArrowheads="1"/>
          </p:cNvSpPr>
          <p:nvPr/>
        </p:nvSpPr>
        <p:spPr bwMode="auto">
          <a:xfrm>
            <a:off x="7147163" y="4964432"/>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3</a:t>
            </a:r>
          </a:p>
        </p:txBody>
      </p:sp>
      <p:sp>
        <p:nvSpPr>
          <p:cNvPr id="70" name="Text Box 84"/>
          <p:cNvSpPr txBox="1">
            <a:spLocks noChangeArrowheads="1"/>
          </p:cNvSpPr>
          <p:nvPr/>
        </p:nvSpPr>
        <p:spPr bwMode="auto">
          <a:xfrm>
            <a:off x="7596869" y="4951154"/>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2</a:t>
            </a:r>
          </a:p>
        </p:txBody>
      </p:sp>
      <p:sp>
        <p:nvSpPr>
          <p:cNvPr id="71" name="Text Box 84"/>
          <p:cNvSpPr txBox="1">
            <a:spLocks noChangeArrowheads="1"/>
          </p:cNvSpPr>
          <p:nvPr/>
        </p:nvSpPr>
        <p:spPr bwMode="auto">
          <a:xfrm>
            <a:off x="8109865" y="4939547"/>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8</a:t>
            </a:r>
          </a:p>
        </p:txBody>
      </p:sp>
    </p:spTree>
    <p:extLst>
      <p:ext uri="{BB962C8B-B14F-4D97-AF65-F5344CB8AC3E}">
        <p14:creationId xmlns:p14="http://schemas.microsoft.com/office/powerpoint/2010/main" val="741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arn(inVertical)">
                                      <p:cBhvr>
                                        <p:cTn id="10" dur="500"/>
                                        <p:tgtEl>
                                          <p:spTgt spid="5"/>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arn(inVertical)">
                                      <p:cBhvr>
                                        <p:cTn id="16" dur="500"/>
                                        <p:tgtEl>
                                          <p:spTgt spid="7"/>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arn(inVertical)">
                                      <p:cBhvr>
                                        <p:cTn id="19" dur="500"/>
                                        <p:tgtEl>
                                          <p:spTgt spid="8"/>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arn(inVertical)">
                                      <p:cBhvr>
                                        <p:cTn id="22" dur="500"/>
                                        <p:tgtEl>
                                          <p:spTgt spid="9"/>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arn(inVertical)">
                                      <p:cBhvr>
                                        <p:cTn id="25" dur="500"/>
                                        <p:tgtEl>
                                          <p:spTgt spid="10"/>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barn(inVertical)">
                                      <p:cBhvr>
                                        <p:cTn id="28" dur="500"/>
                                        <p:tgtEl>
                                          <p:spTgt spid="11"/>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barn(inVertical)">
                                      <p:cBhvr>
                                        <p:cTn id="31" dur="500"/>
                                        <p:tgtEl>
                                          <p:spTgt spid="12"/>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barn(inVertical)">
                                      <p:cBhvr>
                                        <p:cTn id="34" dur="500"/>
                                        <p:tgtEl>
                                          <p:spTgt spid="13"/>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barn(inVertical)">
                                      <p:cBhvr>
                                        <p:cTn id="37" dur="500"/>
                                        <p:tgtEl>
                                          <p:spTgt spid="14"/>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barn(inVertical)">
                                      <p:cBhvr>
                                        <p:cTn id="40" dur="500"/>
                                        <p:tgtEl>
                                          <p:spTgt spid="15"/>
                                        </p:tgtEl>
                                      </p:cBhvr>
                                    </p:animEffect>
                                  </p:childTnLst>
                                </p:cTn>
                              </p:par>
                              <p:par>
                                <p:cTn id="41" presetID="16" presetClass="entr" presetSubtype="21" fill="hold" grpId="0" nodeType="withEffect" nodePh="1">
                                  <p:stCondLst>
                                    <p:cond delay="0"/>
                                  </p:stCondLst>
                                  <p:endCondLst>
                                    <p:cond evt="begin" delay="0">
                                      <p:tn val="41"/>
                                    </p:cond>
                                  </p:endCondLst>
                                  <p:childTnLst>
                                    <p:set>
                                      <p:cBhvr>
                                        <p:cTn id="42" dur="1" fill="hold">
                                          <p:stCondLst>
                                            <p:cond delay="0"/>
                                          </p:stCondLst>
                                        </p:cTn>
                                        <p:tgtEl>
                                          <p:spTgt spid="16"/>
                                        </p:tgtEl>
                                        <p:attrNameLst>
                                          <p:attrName>style.visibility</p:attrName>
                                        </p:attrNameLst>
                                      </p:cBhvr>
                                      <p:to>
                                        <p:strVal val="visible"/>
                                      </p:to>
                                    </p:set>
                                    <p:animEffect transition="in" filter="barn(inVertical)">
                                      <p:cBhvr>
                                        <p:cTn id="43" dur="500"/>
                                        <p:tgtEl>
                                          <p:spTgt spid="16"/>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barn(inVertical)">
                                      <p:cBhvr>
                                        <p:cTn id="46" dur="500"/>
                                        <p:tgtEl>
                                          <p:spTgt spid="17"/>
                                        </p:tgtEl>
                                      </p:cBhvr>
                                    </p:animEffect>
                                  </p:childTnLst>
                                </p:cTn>
                              </p:par>
                              <p:par>
                                <p:cTn id="47" presetID="16" presetClass="entr" presetSubtype="21"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barn(inVertical)">
                                      <p:cBhvr>
                                        <p:cTn id="49" dur="500"/>
                                        <p:tgtEl>
                                          <p:spTgt spid="18"/>
                                        </p:tgtEl>
                                      </p:cBhvr>
                                    </p:animEffect>
                                  </p:childTnLst>
                                </p:cTn>
                              </p:par>
                              <p:par>
                                <p:cTn id="50" presetID="16" presetClass="entr" presetSubtype="21"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barn(inVertical)">
                                      <p:cBhvr>
                                        <p:cTn id="52" dur="500"/>
                                        <p:tgtEl>
                                          <p:spTgt spid="19"/>
                                        </p:tgtEl>
                                      </p:cBhvr>
                                    </p:animEffect>
                                  </p:childTnLst>
                                </p:cTn>
                              </p:par>
                              <p:par>
                                <p:cTn id="53" presetID="16" presetClass="entr" presetSubtype="21"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barn(inVertical)">
                                      <p:cBhvr>
                                        <p:cTn id="55" dur="500"/>
                                        <p:tgtEl>
                                          <p:spTgt spid="20"/>
                                        </p:tgtEl>
                                      </p:cBhvr>
                                    </p:animEffect>
                                  </p:childTnLst>
                                </p:cTn>
                              </p:par>
                              <p:par>
                                <p:cTn id="56" presetID="16" presetClass="entr" presetSubtype="21"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barn(inVertical)">
                                      <p:cBhvr>
                                        <p:cTn id="58" dur="500"/>
                                        <p:tgtEl>
                                          <p:spTgt spid="21"/>
                                        </p:tgtEl>
                                      </p:cBhvr>
                                    </p:animEffect>
                                  </p:childTnLst>
                                </p:cTn>
                              </p:par>
                              <p:par>
                                <p:cTn id="59" presetID="16" presetClass="entr" presetSubtype="21"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barn(inVertical)">
                                      <p:cBhvr>
                                        <p:cTn id="61" dur="500"/>
                                        <p:tgtEl>
                                          <p:spTgt spid="22"/>
                                        </p:tgtEl>
                                      </p:cBhvr>
                                    </p:animEffect>
                                  </p:childTnLst>
                                </p:cTn>
                              </p:par>
                              <p:par>
                                <p:cTn id="62" presetID="16" presetClass="entr" presetSubtype="21"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barn(inVertical)">
                                      <p:cBhvr>
                                        <p:cTn id="64" dur="500"/>
                                        <p:tgtEl>
                                          <p:spTgt spid="23"/>
                                        </p:tgtEl>
                                      </p:cBhvr>
                                    </p:animEffect>
                                  </p:childTnLst>
                                </p:cTn>
                              </p:par>
                              <p:par>
                                <p:cTn id="65" presetID="16" presetClass="entr" presetSubtype="21"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barn(inVertical)">
                                      <p:cBhvr>
                                        <p:cTn id="67" dur="500"/>
                                        <p:tgtEl>
                                          <p:spTgt spid="24"/>
                                        </p:tgtEl>
                                      </p:cBhvr>
                                    </p:animEffect>
                                  </p:childTnLst>
                                </p:cTn>
                              </p:par>
                              <p:par>
                                <p:cTn id="68" presetID="16" presetClass="entr" presetSubtype="21"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barn(inVertical)">
                                      <p:cBhvr>
                                        <p:cTn id="70" dur="500"/>
                                        <p:tgtEl>
                                          <p:spTgt spid="25"/>
                                        </p:tgtEl>
                                      </p:cBhvr>
                                    </p:animEffect>
                                  </p:childTnLst>
                                </p:cTn>
                              </p:par>
                              <p:par>
                                <p:cTn id="71" presetID="16" presetClass="entr" presetSubtype="21"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barn(inVertical)">
                                      <p:cBhvr>
                                        <p:cTn id="73" dur="500"/>
                                        <p:tgtEl>
                                          <p:spTgt spid="26"/>
                                        </p:tgtEl>
                                      </p:cBhvr>
                                    </p:animEffect>
                                  </p:childTnLst>
                                </p:cTn>
                              </p:par>
                              <p:par>
                                <p:cTn id="74" presetID="16" presetClass="entr" presetSubtype="21"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barn(inVertical)">
                                      <p:cBhvr>
                                        <p:cTn id="76" dur="500"/>
                                        <p:tgtEl>
                                          <p:spTgt spid="27"/>
                                        </p:tgtEl>
                                      </p:cBhvr>
                                    </p:animEffect>
                                  </p:childTnLst>
                                </p:cTn>
                              </p:par>
                              <p:par>
                                <p:cTn id="77" presetID="16" presetClass="entr" presetSubtype="21"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barn(inVertical)">
                                      <p:cBhvr>
                                        <p:cTn id="79" dur="500"/>
                                        <p:tgtEl>
                                          <p:spTgt spid="28"/>
                                        </p:tgtEl>
                                      </p:cBhvr>
                                    </p:animEffect>
                                  </p:childTnLst>
                                </p:cTn>
                              </p:par>
                              <p:par>
                                <p:cTn id="80" presetID="16" presetClass="entr" presetSubtype="21"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barn(inVertical)">
                                      <p:cBhvr>
                                        <p:cTn id="82" dur="500"/>
                                        <p:tgtEl>
                                          <p:spTgt spid="29"/>
                                        </p:tgtEl>
                                      </p:cBhvr>
                                    </p:animEffect>
                                  </p:childTnLst>
                                </p:cTn>
                              </p:par>
                              <p:par>
                                <p:cTn id="83" presetID="16" presetClass="entr" presetSubtype="21"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barn(inVertical)">
                                      <p:cBhvr>
                                        <p:cTn id="85" dur="500"/>
                                        <p:tgtEl>
                                          <p:spTgt spid="30"/>
                                        </p:tgtEl>
                                      </p:cBhvr>
                                    </p:animEffect>
                                  </p:childTnLst>
                                </p:cTn>
                              </p:par>
                              <p:par>
                                <p:cTn id="86" presetID="16" presetClass="entr" presetSubtype="21"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barn(inVertical)">
                                      <p:cBhvr>
                                        <p:cTn id="88" dur="500"/>
                                        <p:tgtEl>
                                          <p:spTgt spid="31"/>
                                        </p:tgtEl>
                                      </p:cBhvr>
                                    </p:animEffect>
                                  </p:childTnLst>
                                </p:cTn>
                              </p:par>
                              <p:par>
                                <p:cTn id="89" presetID="16" presetClass="entr" presetSubtype="21"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barn(inVertical)">
                                      <p:cBhvr>
                                        <p:cTn id="91" dur="500"/>
                                        <p:tgtEl>
                                          <p:spTgt spid="32"/>
                                        </p:tgtEl>
                                      </p:cBhvr>
                                    </p:animEffect>
                                  </p:childTnLst>
                                </p:cTn>
                              </p:par>
                              <p:par>
                                <p:cTn id="92" presetID="16" presetClass="entr" presetSubtype="21" fill="hold" grpId="0" nodeType="with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barn(inVertical)">
                                      <p:cBhvr>
                                        <p:cTn id="94" dur="500"/>
                                        <p:tgtEl>
                                          <p:spTgt spid="33"/>
                                        </p:tgtEl>
                                      </p:cBhvr>
                                    </p:animEffect>
                                  </p:childTnLst>
                                </p:cTn>
                              </p:par>
                              <p:par>
                                <p:cTn id="95" presetID="16" presetClass="entr" presetSubtype="21"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barn(inVertical)">
                                      <p:cBhvr>
                                        <p:cTn id="97" dur="500"/>
                                        <p:tgtEl>
                                          <p:spTgt spid="34"/>
                                        </p:tgtEl>
                                      </p:cBhvr>
                                    </p:animEffect>
                                  </p:childTnLst>
                                </p:cTn>
                              </p:par>
                              <p:par>
                                <p:cTn id="98" presetID="16" presetClass="entr" presetSubtype="21" fill="hold" grpId="0" nodeType="with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barn(inVertical)">
                                      <p:cBhvr>
                                        <p:cTn id="100" dur="500"/>
                                        <p:tgtEl>
                                          <p:spTgt spid="35"/>
                                        </p:tgtEl>
                                      </p:cBhvr>
                                    </p:animEffect>
                                  </p:childTnLst>
                                </p:cTn>
                              </p:par>
                              <p:par>
                                <p:cTn id="101" presetID="16" presetClass="entr" presetSubtype="21" fill="hold" grpId="0" nodeType="withEffect">
                                  <p:stCondLst>
                                    <p:cond delay="0"/>
                                  </p:stCondLst>
                                  <p:childTnLst>
                                    <p:set>
                                      <p:cBhvr>
                                        <p:cTn id="102" dur="1" fill="hold">
                                          <p:stCondLst>
                                            <p:cond delay="0"/>
                                          </p:stCondLst>
                                        </p:cTn>
                                        <p:tgtEl>
                                          <p:spTgt spid="36"/>
                                        </p:tgtEl>
                                        <p:attrNameLst>
                                          <p:attrName>style.visibility</p:attrName>
                                        </p:attrNameLst>
                                      </p:cBhvr>
                                      <p:to>
                                        <p:strVal val="visible"/>
                                      </p:to>
                                    </p:set>
                                    <p:animEffect transition="in" filter="barn(inVertical)">
                                      <p:cBhvr>
                                        <p:cTn id="103" dur="500"/>
                                        <p:tgtEl>
                                          <p:spTgt spid="36"/>
                                        </p:tgtEl>
                                      </p:cBhvr>
                                    </p:animEffect>
                                  </p:childTnLst>
                                </p:cTn>
                              </p:par>
                              <p:par>
                                <p:cTn id="104" presetID="16" presetClass="entr" presetSubtype="21" fill="hold" grpId="0" nodeType="withEffect">
                                  <p:stCondLst>
                                    <p:cond delay="0"/>
                                  </p:stCondLst>
                                  <p:childTnLst>
                                    <p:set>
                                      <p:cBhvr>
                                        <p:cTn id="105" dur="1" fill="hold">
                                          <p:stCondLst>
                                            <p:cond delay="0"/>
                                          </p:stCondLst>
                                        </p:cTn>
                                        <p:tgtEl>
                                          <p:spTgt spid="37"/>
                                        </p:tgtEl>
                                        <p:attrNameLst>
                                          <p:attrName>style.visibility</p:attrName>
                                        </p:attrNameLst>
                                      </p:cBhvr>
                                      <p:to>
                                        <p:strVal val="visible"/>
                                      </p:to>
                                    </p:set>
                                    <p:animEffect transition="in" filter="barn(inVertical)">
                                      <p:cBhvr>
                                        <p:cTn id="106" dur="500"/>
                                        <p:tgtEl>
                                          <p:spTgt spid="37"/>
                                        </p:tgtEl>
                                      </p:cBhvr>
                                    </p:animEffect>
                                  </p:childTnLst>
                                </p:cTn>
                              </p:par>
                              <p:par>
                                <p:cTn id="107" presetID="16" presetClass="entr" presetSubtype="21" fill="hold" grpId="0" nodeType="withEffect">
                                  <p:stCondLst>
                                    <p:cond delay="0"/>
                                  </p:stCondLst>
                                  <p:childTnLst>
                                    <p:set>
                                      <p:cBhvr>
                                        <p:cTn id="108" dur="1" fill="hold">
                                          <p:stCondLst>
                                            <p:cond delay="0"/>
                                          </p:stCondLst>
                                        </p:cTn>
                                        <p:tgtEl>
                                          <p:spTgt spid="38"/>
                                        </p:tgtEl>
                                        <p:attrNameLst>
                                          <p:attrName>style.visibility</p:attrName>
                                        </p:attrNameLst>
                                      </p:cBhvr>
                                      <p:to>
                                        <p:strVal val="visible"/>
                                      </p:to>
                                    </p:set>
                                    <p:animEffect transition="in" filter="barn(inVertical)">
                                      <p:cBhvr>
                                        <p:cTn id="109" dur="500"/>
                                        <p:tgtEl>
                                          <p:spTgt spid="38"/>
                                        </p:tgtEl>
                                      </p:cBhvr>
                                    </p:animEffect>
                                  </p:childTnLst>
                                </p:cTn>
                              </p:par>
                              <p:par>
                                <p:cTn id="110" presetID="16" presetClass="entr" presetSubtype="21" fill="hold" grpId="0" nodeType="withEffect">
                                  <p:stCondLst>
                                    <p:cond delay="0"/>
                                  </p:stCondLst>
                                  <p:childTnLst>
                                    <p:set>
                                      <p:cBhvr>
                                        <p:cTn id="111" dur="1" fill="hold">
                                          <p:stCondLst>
                                            <p:cond delay="0"/>
                                          </p:stCondLst>
                                        </p:cTn>
                                        <p:tgtEl>
                                          <p:spTgt spid="39"/>
                                        </p:tgtEl>
                                        <p:attrNameLst>
                                          <p:attrName>style.visibility</p:attrName>
                                        </p:attrNameLst>
                                      </p:cBhvr>
                                      <p:to>
                                        <p:strVal val="visible"/>
                                      </p:to>
                                    </p:set>
                                    <p:animEffect transition="in" filter="barn(inVertical)">
                                      <p:cBhvr>
                                        <p:cTn id="112" dur="500"/>
                                        <p:tgtEl>
                                          <p:spTgt spid="39"/>
                                        </p:tgtEl>
                                      </p:cBhvr>
                                    </p:animEffect>
                                  </p:childTnLst>
                                </p:cTn>
                              </p:par>
                              <p:par>
                                <p:cTn id="113" presetID="16" presetClass="entr" presetSubtype="21" fill="hold" grpId="0" nodeType="withEffect">
                                  <p:stCondLst>
                                    <p:cond delay="0"/>
                                  </p:stCondLst>
                                  <p:childTnLst>
                                    <p:set>
                                      <p:cBhvr>
                                        <p:cTn id="114" dur="1" fill="hold">
                                          <p:stCondLst>
                                            <p:cond delay="0"/>
                                          </p:stCondLst>
                                        </p:cTn>
                                        <p:tgtEl>
                                          <p:spTgt spid="40"/>
                                        </p:tgtEl>
                                        <p:attrNameLst>
                                          <p:attrName>style.visibility</p:attrName>
                                        </p:attrNameLst>
                                      </p:cBhvr>
                                      <p:to>
                                        <p:strVal val="visible"/>
                                      </p:to>
                                    </p:set>
                                    <p:animEffect transition="in" filter="barn(inVertical)">
                                      <p:cBhvr>
                                        <p:cTn id="115" dur="500"/>
                                        <p:tgtEl>
                                          <p:spTgt spid="40"/>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4" fill="hold" nodeType="clickEffect">
                                  <p:stCondLst>
                                    <p:cond delay="0"/>
                                  </p:stCondLst>
                                  <p:childTnLst>
                                    <p:set>
                                      <p:cBhvr>
                                        <p:cTn id="119" dur="1" fill="hold">
                                          <p:stCondLst>
                                            <p:cond delay="0"/>
                                          </p:stCondLst>
                                        </p:cTn>
                                        <p:tgtEl>
                                          <p:spTgt spid="41"/>
                                        </p:tgtEl>
                                        <p:attrNameLst>
                                          <p:attrName>style.visibility</p:attrName>
                                        </p:attrNameLst>
                                      </p:cBhvr>
                                      <p:to>
                                        <p:strVal val="visible"/>
                                      </p:to>
                                    </p:set>
                                    <p:animEffect transition="in" filter="wipe(down)">
                                      <p:cBhvr>
                                        <p:cTn id="120" dur="500"/>
                                        <p:tgtEl>
                                          <p:spTgt spid="41"/>
                                        </p:tgtEl>
                                      </p:cBhvr>
                                    </p:animEffec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43"/>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44"/>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45"/>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46"/>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47"/>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48"/>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49"/>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50"/>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51"/>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52"/>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53"/>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54"/>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55"/>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56"/>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57"/>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58"/>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59"/>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60"/>
                                        </p:tgtEl>
                                        <p:attrNameLst>
                                          <p:attrName>style.visibility</p:attrName>
                                        </p:attrNameLst>
                                      </p:cBhvr>
                                      <p:to>
                                        <p:strVal val="visible"/>
                                      </p:to>
                                    </p:set>
                                  </p:childTnLst>
                                </p:cTn>
                              </p:par>
                              <p:par>
                                <p:cTn id="159" presetID="16" presetClass="entr" presetSubtype="21" fill="hold" grpId="0" nodeType="withEffect">
                                  <p:stCondLst>
                                    <p:cond delay="0"/>
                                  </p:stCondLst>
                                  <p:childTnLst>
                                    <p:set>
                                      <p:cBhvr>
                                        <p:cTn id="160" dur="1" fill="hold">
                                          <p:stCondLst>
                                            <p:cond delay="0"/>
                                          </p:stCondLst>
                                        </p:cTn>
                                        <p:tgtEl>
                                          <p:spTgt spid="62"/>
                                        </p:tgtEl>
                                        <p:attrNameLst>
                                          <p:attrName>style.visibility</p:attrName>
                                        </p:attrNameLst>
                                      </p:cBhvr>
                                      <p:to>
                                        <p:strVal val="visible"/>
                                      </p:to>
                                    </p:set>
                                    <p:animEffect transition="in" filter="barn(inVertical)">
                                      <p:cBhvr>
                                        <p:cTn id="161" dur="500"/>
                                        <p:tgtEl>
                                          <p:spTgt spid="62"/>
                                        </p:tgtEl>
                                      </p:cBhvr>
                                    </p:animEffect>
                                  </p:childTnLst>
                                </p:cTn>
                              </p:par>
                              <p:par>
                                <p:cTn id="162" presetID="16" presetClass="entr" presetSubtype="21" fill="hold" grpId="0" nodeType="withEffect">
                                  <p:stCondLst>
                                    <p:cond delay="0"/>
                                  </p:stCondLst>
                                  <p:childTnLst>
                                    <p:set>
                                      <p:cBhvr>
                                        <p:cTn id="163" dur="1" fill="hold">
                                          <p:stCondLst>
                                            <p:cond delay="0"/>
                                          </p:stCondLst>
                                        </p:cTn>
                                        <p:tgtEl>
                                          <p:spTgt spid="63"/>
                                        </p:tgtEl>
                                        <p:attrNameLst>
                                          <p:attrName>style.visibility</p:attrName>
                                        </p:attrNameLst>
                                      </p:cBhvr>
                                      <p:to>
                                        <p:strVal val="visible"/>
                                      </p:to>
                                    </p:set>
                                    <p:animEffect transition="in" filter="barn(inVertical)">
                                      <p:cBhvr>
                                        <p:cTn id="164" dur="500"/>
                                        <p:tgtEl>
                                          <p:spTgt spid="63"/>
                                        </p:tgtEl>
                                      </p:cBhvr>
                                    </p:animEffect>
                                  </p:childTnLst>
                                </p:cTn>
                              </p:par>
                              <p:par>
                                <p:cTn id="165" presetID="16" presetClass="entr" presetSubtype="21" fill="hold" grpId="0" nodeType="withEffect">
                                  <p:stCondLst>
                                    <p:cond delay="0"/>
                                  </p:stCondLst>
                                  <p:childTnLst>
                                    <p:set>
                                      <p:cBhvr>
                                        <p:cTn id="166" dur="1" fill="hold">
                                          <p:stCondLst>
                                            <p:cond delay="0"/>
                                          </p:stCondLst>
                                        </p:cTn>
                                        <p:tgtEl>
                                          <p:spTgt spid="64"/>
                                        </p:tgtEl>
                                        <p:attrNameLst>
                                          <p:attrName>style.visibility</p:attrName>
                                        </p:attrNameLst>
                                      </p:cBhvr>
                                      <p:to>
                                        <p:strVal val="visible"/>
                                      </p:to>
                                    </p:set>
                                    <p:animEffect transition="in" filter="barn(inVertical)">
                                      <p:cBhvr>
                                        <p:cTn id="167" dur="500"/>
                                        <p:tgtEl>
                                          <p:spTgt spid="64"/>
                                        </p:tgtEl>
                                      </p:cBhvr>
                                    </p:animEffect>
                                  </p:childTnLst>
                                </p:cTn>
                              </p:par>
                              <p:par>
                                <p:cTn id="168" presetID="16" presetClass="entr" presetSubtype="21" fill="hold" grpId="0" nodeType="withEffect">
                                  <p:stCondLst>
                                    <p:cond delay="0"/>
                                  </p:stCondLst>
                                  <p:childTnLst>
                                    <p:set>
                                      <p:cBhvr>
                                        <p:cTn id="169" dur="1" fill="hold">
                                          <p:stCondLst>
                                            <p:cond delay="0"/>
                                          </p:stCondLst>
                                        </p:cTn>
                                        <p:tgtEl>
                                          <p:spTgt spid="65"/>
                                        </p:tgtEl>
                                        <p:attrNameLst>
                                          <p:attrName>style.visibility</p:attrName>
                                        </p:attrNameLst>
                                      </p:cBhvr>
                                      <p:to>
                                        <p:strVal val="visible"/>
                                      </p:to>
                                    </p:set>
                                    <p:animEffect transition="in" filter="barn(inVertical)">
                                      <p:cBhvr>
                                        <p:cTn id="170" dur="500"/>
                                        <p:tgtEl>
                                          <p:spTgt spid="65"/>
                                        </p:tgtEl>
                                      </p:cBhvr>
                                    </p:animEffect>
                                  </p:childTnLst>
                                </p:cTn>
                              </p:par>
                              <p:par>
                                <p:cTn id="171" presetID="16" presetClass="entr" presetSubtype="21" fill="hold" grpId="0" nodeType="withEffect">
                                  <p:stCondLst>
                                    <p:cond delay="0"/>
                                  </p:stCondLst>
                                  <p:childTnLst>
                                    <p:set>
                                      <p:cBhvr>
                                        <p:cTn id="172" dur="1" fill="hold">
                                          <p:stCondLst>
                                            <p:cond delay="0"/>
                                          </p:stCondLst>
                                        </p:cTn>
                                        <p:tgtEl>
                                          <p:spTgt spid="66"/>
                                        </p:tgtEl>
                                        <p:attrNameLst>
                                          <p:attrName>style.visibility</p:attrName>
                                        </p:attrNameLst>
                                      </p:cBhvr>
                                      <p:to>
                                        <p:strVal val="visible"/>
                                      </p:to>
                                    </p:set>
                                    <p:animEffect transition="in" filter="barn(inVertical)">
                                      <p:cBhvr>
                                        <p:cTn id="173" dur="500"/>
                                        <p:tgtEl>
                                          <p:spTgt spid="66"/>
                                        </p:tgtEl>
                                      </p:cBhvr>
                                    </p:animEffect>
                                  </p:childTnLst>
                                </p:cTn>
                              </p:par>
                              <p:par>
                                <p:cTn id="174" presetID="16" presetClass="entr" presetSubtype="21" fill="hold" grpId="0" nodeType="withEffect">
                                  <p:stCondLst>
                                    <p:cond delay="0"/>
                                  </p:stCondLst>
                                  <p:childTnLst>
                                    <p:set>
                                      <p:cBhvr>
                                        <p:cTn id="175" dur="1" fill="hold">
                                          <p:stCondLst>
                                            <p:cond delay="0"/>
                                          </p:stCondLst>
                                        </p:cTn>
                                        <p:tgtEl>
                                          <p:spTgt spid="67"/>
                                        </p:tgtEl>
                                        <p:attrNameLst>
                                          <p:attrName>style.visibility</p:attrName>
                                        </p:attrNameLst>
                                      </p:cBhvr>
                                      <p:to>
                                        <p:strVal val="visible"/>
                                      </p:to>
                                    </p:set>
                                    <p:animEffect transition="in" filter="barn(inVertical)">
                                      <p:cBhvr>
                                        <p:cTn id="176" dur="500"/>
                                        <p:tgtEl>
                                          <p:spTgt spid="67"/>
                                        </p:tgtEl>
                                      </p:cBhvr>
                                    </p:animEffect>
                                  </p:childTnLst>
                                </p:cTn>
                              </p:par>
                              <p:par>
                                <p:cTn id="177" presetID="16" presetClass="entr" presetSubtype="21" fill="hold" grpId="0" nodeType="withEffect">
                                  <p:stCondLst>
                                    <p:cond delay="0"/>
                                  </p:stCondLst>
                                  <p:childTnLst>
                                    <p:set>
                                      <p:cBhvr>
                                        <p:cTn id="178" dur="1" fill="hold">
                                          <p:stCondLst>
                                            <p:cond delay="0"/>
                                          </p:stCondLst>
                                        </p:cTn>
                                        <p:tgtEl>
                                          <p:spTgt spid="68"/>
                                        </p:tgtEl>
                                        <p:attrNameLst>
                                          <p:attrName>style.visibility</p:attrName>
                                        </p:attrNameLst>
                                      </p:cBhvr>
                                      <p:to>
                                        <p:strVal val="visible"/>
                                      </p:to>
                                    </p:set>
                                    <p:animEffect transition="in" filter="barn(inVertical)">
                                      <p:cBhvr>
                                        <p:cTn id="179" dur="500"/>
                                        <p:tgtEl>
                                          <p:spTgt spid="68"/>
                                        </p:tgtEl>
                                      </p:cBhvr>
                                    </p:animEffect>
                                  </p:childTnLst>
                                </p:cTn>
                              </p:par>
                              <p:par>
                                <p:cTn id="180" presetID="16" presetClass="entr" presetSubtype="21" fill="hold" grpId="0" nodeType="withEffect">
                                  <p:stCondLst>
                                    <p:cond delay="0"/>
                                  </p:stCondLst>
                                  <p:childTnLst>
                                    <p:set>
                                      <p:cBhvr>
                                        <p:cTn id="181" dur="1" fill="hold">
                                          <p:stCondLst>
                                            <p:cond delay="0"/>
                                          </p:stCondLst>
                                        </p:cTn>
                                        <p:tgtEl>
                                          <p:spTgt spid="69"/>
                                        </p:tgtEl>
                                        <p:attrNameLst>
                                          <p:attrName>style.visibility</p:attrName>
                                        </p:attrNameLst>
                                      </p:cBhvr>
                                      <p:to>
                                        <p:strVal val="visible"/>
                                      </p:to>
                                    </p:set>
                                    <p:animEffect transition="in" filter="barn(inVertical)">
                                      <p:cBhvr>
                                        <p:cTn id="182" dur="500"/>
                                        <p:tgtEl>
                                          <p:spTgt spid="69"/>
                                        </p:tgtEl>
                                      </p:cBhvr>
                                    </p:animEffect>
                                  </p:childTnLst>
                                </p:cTn>
                              </p:par>
                              <p:par>
                                <p:cTn id="183" presetID="16" presetClass="entr" presetSubtype="21" fill="hold" grpId="0" nodeType="withEffect">
                                  <p:stCondLst>
                                    <p:cond delay="0"/>
                                  </p:stCondLst>
                                  <p:childTnLst>
                                    <p:set>
                                      <p:cBhvr>
                                        <p:cTn id="184" dur="1" fill="hold">
                                          <p:stCondLst>
                                            <p:cond delay="0"/>
                                          </p:stCondLst>
                                        </p:cTn>
                                        <p:tgtEl>
                                          <p:spTgt spid="70"/>
                                        </p:tgtEl>
                                        <p:attrNameLst>
                                          <p:attrName>style.visibility</p:attrName>
                                        </p:attrNameLst>
                                      </p:cBhvr>
                                      <p:to>
                                        <p:strVal val="visible"/>
                                      </p:to>
                                    </p:set>
                                    <p:animEffect transition="in" filter="barn(inVertical)">
                                      <p:cBhvr>
                                        <p:cTn id="185" dur="500"/>
                                        <p:tgtEl>
                                          <p:spTgt spid="70"/>
                                        </p:tgtEl>
                                      </p:cBhvr>
                                    </p:animEffect>
                                  </p:childTnLst>
                                </p:cTn>
                              </p:par>
                              <p:par>
                                <p:cTn id="186" presetID="16" presetClass="entr" presetSubtype="21" fill="hold" grpId="0" nodeType="withEffect">
                                  <p:stCondLst>
                                    <p:cond delay="0"/>
                                  </p:stCondLst>
                                  <p:childTnLst>
                                    <p:set>
                                      <p:cBhvr>
                                        <p:cTn id="187" dur="1" fill="hold">
                                          <p:stCondLst>
                                            <p:cond delay="0"/>
                                          </p:stCondLst>
                                        </p:cTn>
                                        <p:tgtEl>
                                          <p:spTgt spid="71"/>
                                        </p:tgtEl>
                                        <p:attrNameLst>
                                          <p:attrName>style.visibility</p:attrName>
                                        </p:attrNameLst>
                                      </p:cBhvr>
                                      <p:to>
                                        <p:strVal val="visible"/>
                                      </p:to>
                                    </p:set>
                                    <p:animEffect transition="in" filter="barn(inVertical)">
                                      <p:cBhvr>
                                        <p:cTn id="188"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animBg="1"/>
      <p:bldP spid="8" grpId="0" animBg="1"/>
      <p:bldP spid="9" grpId="0" animBg="1"/>
      <p:bldP spid="10" grpId="0" animBg="1"/>
      <p:bldP spid="11" grpId="0" animBg="1"/>
      <p:bldP spid="12" grpId="0" animBg="1"/>
      <p:bldP spid="13" grpId="0" animBg="1"/>
      <p:bldP spid="14" grpId="0" animBg="1"/>
      <p:bldP spid="15" grpId="0" animBg="1"/>
      <p:bldP spid="16" grpId="0"/>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p:bldP spid="29" grpId="0"/>
      <p:bldP spid="30" grpId="0"/>
      <p:bldP spid="31" grpId="0"/>
      <p:bldP spid="32" grpId="0"/>
      <p:bldP spid="33" grpId="0"/>
      <p:bldP spid="34" grpId="0"/>
      <p:bldP spid="35" grpId="0"/>
      <p:bldP spid="36" grpId="0"/>
      <p:bldP spid="37" grpId="0" animBg="1"/>
      <p:bldP spid="38" grpId="0"/>
      <p:bldP spid="39" grpId="0"/>
      <p:bldP spid="40" grpId="0"/>
      <p:bldP spid="43" grpId="0" animBg="1"/>
      <p:bldP spid="44" grpId="0" animBg="1"/>
      <p:bldP spid="45" grpId="0" animBg="1"/>
      <p:bldP spid="46" grpId="0" animBg="1"/>
      <p:bldP spid="47" grpId="0" animBg="1"/>
      <p:bldP spid="48" grpId="0" animBg="1"/>
      <p:bldP spid="49" grpId="0" animBg="1"/>
      <p:bldP spid="50" grpId="0" animBg="1"/>
      <p:bldP spid="62" grpId="0"/>
      <p:bldP spid="63" grpId="0"/>
      <p:bldP spid="64" grpId="0"/>
      <p:bldP spid="65" grpId="0"/>
      <p:bldP spid="66" grpId="0"/>
      <p:bldP spid="67" grpId="0"/>
      <p:bldP spid="68" grpId="0"/>
      <p:bldP spid="69" grpId="0"/>
      <p:bldP spid="70" grpId="0"/>
      <p:bldP spid="71"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Prim’s Algorithm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In Prim's algorithm, the minimum spanning </a:t>
                </a:r>
                <a:r>
                  <a:rPr lang="en-US" dirty="0">
                    <a:solidFill>
                      <a:srgbClr val="AD1457"/>
                    </a:solidFill>
                  </a:rPr>
                  <a:t>tree grows in a natural way</a:t>
                </a:r>
                <a:r>
                  <a:rPr lang="en-US" dirty="0"/>
                  <a:t>, starting from an arbitrary root. </a:t>
                </a:r>
              </a:p>
              <a:p>
                <a:r>
                  <a:rPr lang="en-US" dirty="0"/>
                  <a:t>At each stage we </a:t>
                </a:r>
                <a:r>
                  <a:rPr lang="en-US" dirty="0">
                    <a:solidFill>
                      <a:srgbClr val="AD1457"/>
                    </a:solidFill>
                  </a:rPr>
                  <a:t>add a new branch </a:t>
                </a:r>
                <a:r>
                  <a:rPr lang="en-US" dirty="0"/>
                  <a:t>to the tree already constructed; the algorithm stops when all the nodes have been reached.</a:t>
                </a:r>
              </a:p>
              <a:p>
                <a:r>
                  <a:rPr lang="en-US" dirty="0"/>
                  <a:t>The complexity for the Prim’s algorithm is </a:t>
                </a:r>
                <a14:m>
                  <m:oMath xmlns:m="http://schemas.openxmlformats.org/officeDocument/2006/math">
                    <m:r>
                      <a:rPr lang="el-GR" b="1" i="1" dirty="0" smtClean="0">
                        <a:solidFill>
                          <a:srgbClr val="AD1457"/>
                        </a:solidFill>
                        <a:latin typeface="Cambria Math" panose="02040503050406030204" pitchFamily="18" charset="0"/>
                        <a:ea typeface="Cambria Math" panose="02040503050406030204" pitchFamily="18" charset="0"/>
                      </a:rPr>
                      <m:t>𝜽</m:t>
                    </m:r>
                    <m:r>
                      <a:rPr lang="en-US" b="1" i="1" dirty="0">
                        <a:solidFill>
                          <a:srgbClr val="AD1457"/>
                        </a:solidFill>
                        <a:latin typeface="Cambria Math" panose="02040503050406030204" pitchFamily="18" charset="0"/>
                      </a:rPr>
                      <m:t>(</m:t>
                    </m:r>
                    <m:sSup>
                      <m:sSupPr>
                        <m:ctrlPr>
                          <a:rPr lang="en-US" b="1" i="1" dirty="0">
                            <a:solidFill>
                              <a:srgbClr val="AD1457"/>
                            </a:solidFill>
                            <a:latin typeface="Cambria Math" panose="02040503050406030204" pitchFamily="18" charset="0"/>
                          </a:rPr>
                        </m:ctrlPr>
                      </m:sSupPr>
                      <m:e>
                        <m:r>
                          <a:rPr lang="en-US" b="1" i="1" dirty="0">
                            <a:solidFill>
                              <a:srgbClr val="AD1457"/>
                            </a:solidFill>
                            <a:latin typeface="Cambria Math" panose="02040503050406030204" pitchFamily="18" charset="0"/>
                          </a:rPr>
                          <m:t>𝒏</m:t>
                        </m:r>
                      </m:e>
                      <m:sup>
                        <m:r>
                          <a:rPr lang="en-US" b="1" i="1" dirty="0">
                            <a:solidFill>
                              <a:srgbClr val="AD1457"/>
                            </a:solidFill>
                            <a:latin typeface="Cambria Math" panose="02040503050406030204" pitchFamily="18" charset="0"/>
                          </a:rPr>
                          <m:t>𝟐</m:t>
                        </m:r>
                      </m:sup>
                    </m:sSup>
                    <m:r>
                      <a:rPr lang="en-US" b="1" i="1" dirty="0">
                        <a:solidFill>
                          <a:srgbClr val="AD1457"/>
                        </a:solidFill>
                        <a:latin typeface="Cambria Math" panose="02040503050406030204" pitchFamily="18" charset="0"/>
                      </a:rPr>
                      <m:t>)</m:t>
                    </m:r>
                  </m:oMath>
                </a14:m>
                <a:r>
                  <a:rPr lang="en-US" b="1" dirty="0">
                    <a:solidFill>
                      <a:srgbClr val="AD1457"/>
                    </a:solidFill>
                  </a:rPr>
                  <a:t> </a:t>
                </a:r>
                <a:r>
                  <a:rPr lang="en-US" dirty="0"/>
                  <a:t>where </a:t>
                </a:r>
                <a14:m>
                  <m:oMath xmlns:m="http://schemas.openxmlformats.org/officeDocument/2006/math">
                    <m:r>
                      <a:rPr lang="en-US" i="1" dirty="0">
                        <a:latin typeface="Cambria Math" panose="02040503050406030204" pitchFamily="18" charset="0"/>
                      </a:rPr>
                      <m:t>𝑛</m:t>
                    </m:r>
                  </m:oMath>
                </a14:m>
                <a:r>
                  <a:rPr lang="en-US" dirty="0"/>
                  <a:t> is the total number of nodes in the graph </a:t>
                </a:r>
                <a14:m>
                  <m:oMath xmlns:m="http://schemas.openxmlformats.org/officeDocument/2006/math">
                    <m:r>
                      <a:rPr lang="en-US" i="1" dirty="0">
                        <a:latin typeface="Cambria Math" panose="02040503050406030204" pitchFamily="18" charset="0"/>
                      </a:rPr>
                      <m:t>𝐺</m:t>
                    </m:r>
                  </m:oMath>
                </a14:m>
                <a:r>
                  <a:rPr lang="en-US" dirty="0"/>
                  <a:t>.</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6" t="-1418" r="-818"/>
                </a:stretch>
              </a:blipFill>
            </p:spPr>
            <p:txBody>
              <a:bodyPr/>
              <a:lstStyle/>
              <a:p>
                <a:r>
                  <a:rPr lang="en-US">
                    <a:noFill/>
                  </a:rPr>
                  <a:t> </a:t>
                </a:r>
              </a:p>
            </p:txBody>
          </p:sp>
        </mc:Fallback>
      </mc:AlternateContent>
    </p:spTree>
    <p:extLst>
      <p:ext uri="{BB962C8B-B14F-4D97-AF65-F5344CB8AC3E}">
        <p14:creationId xmlns:p14="http://schemas.microsoft.com/office/powerpoint/2010/main" val="1731045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6096000" y="0"/>
            <a:ext cx="6096000" cy="6588000"/>
          </a:xfrm>
          <a:prstGeom prst="rect">
            <a:avLst/>
          </a:prstGeom>
          <a:gradFill flip="none" rotWithShape="1">
            <a:gsLst>
              <a:gs pos="55000">
                <a:srgbClr val="B21266"/>
              </a:gs>
              <a:gs pos="30000">
                <a:srgbClr val="A3115D">
                  <a:lumMod val="100000"/>
                </a:srgbClr>
              </a:gs>
              <a:gs pos="100000">
                <a:srgbClr val="ED6D9B"/>
              </a:gs>
            </a:gsLst>
            <a:path path="circle">
              <a:fillToRect r="100000" b="100000"/>
            </a:path>
            <a:tileRect l="-100000" t="-100000"/>
          </a:gradFill>
          <a:ln>
            <a:noFill/>
          </a:ln>
        </p:spPr>
        <p:txBody>
          <a:bodyPr vert="horz" wrap="square" lIns="91440" tIns="45720" rIns="91440" bIns="45720" numCol="1" anchor="t" anchorCtr="0" compatLnSpc="1">
            <a:prstTxWarp prst="textNoShape">
              <a:avLst/>
            </a:prstTxWarp>
          </a:bodyPr>
          <a:lstStyle/>
          <a:p>
            <a:pPr algn="just"/>
            <a:endParaRPr lang="en-US" altLang="en-US" sz="2400" dirty="0">
              <a:solidFill>
                <a:schemeClr val="bg1"/>
              </a:solidFill>
            </a:endParaRPr>
          </a:p>
        </p:txBody>
      </p:sp>
      <p:sp>
        <p:nvSpPr>
          <p:cNvPr id="5" name="TextBox 4"/>
          <p:cNvSpPr txBox="1"/>
          <p:nvPr/>
        </p:nvSpPr>
        <p:spPr>
          <a:xfrm>
            <a:off x="-1" y="6976"/>
            <a:ext cx="6217920" cy="738664"/>
          </a:xfrm>
          <a:prstGeom prst="rect">
            <a:avLst/>
          </a:prstGeom>
          <a:noFill/>
        </p:spPr>
        <p:txBody>
          <a:bodyPr wrap="square" lIns="274320" rtlCol="0" anchor="ctr">
            <a:spAutoFit/>
          </a:bodyPr>
          <a:lstStyle/>
          <a:p>
            <a:pPr>
              <a:lnSpc>
                <a:spcPct val="150000"/>
              </a:lnSpc>
            </a:pPr>
            <a:r>
              <a:rPr lang="en-US" sz="2800" dirty="0"/>
              <a:t>Prim’s Algorithm for MST – Example 1</a:t>
            </a:r>
            <a:endParaRPr lang="en-US" sz="2800" b="1" dirty="0">
              <a:solidFill>
                <a:srgbClr val="424242"/>
              </a:solidFill>
            </a:endParaRPr>
          </a:p>
        </p:txBody>
      </p:sp>
      <p:sp>
        <p:nvSpPr>
          <p:cNvPr id="6" name="Oval 5"/>
          <p:cNvSpPr/>
          <p:nvPr/>
        </p:nvSpPr>
        <p:spPr>
          <a:xfrm>
            <a:off x="685800" y="15109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1</a:t>
            </a:r>
          </a:p>
        </p:txBody>
      </p:sp>
      <p:sp>
        <p:nvSpPr>
          <p:cNvPr id="7" name="Oval 6"/>
          <p:cNvSpPr/>
          <p:nvPr/>
        </p:nvSpPr>
        <p:spPr>
          <a:xfrm>
            <a:off x="2667000" y="15109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2</a:t>
            </a:r>
          </a:p>
        </p:txBody>
      </p:sp>
      <p:sp>
        <p:nvSpPr>
          <p:cNvPr id="8" name="Oval 7"/>
          <p:cNvSpPr/>
          <p:nvPr/>
        </p:nvSpPr>
        <p:spPr>
          <a:xfrm>
            <a:off x="4724400" y="15109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3</a:t>
            </a:r>
          </a:p>
        </p:txBody>
      </p:sp>
      <p:sp>
        <p:nvSpPr>
          <p:cNvPr id="9" name="Oval 8"/>
          <p:cNvSpPr/>
          <p:nvPr/>
        </p:nvSpPr>
        <p:spPr>
          <a:xfrm>
            <a:off x="685800" y="33397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4</a:t>
            </a:r>
          </a:p>
        </p:txBody>
      </p:sp>
      <p:sp>
        <p:nvSpPr>
          <p:cNvPr id="10" name="Oval 9"/>
          <p:cNvSpPr/>
          <p:nvPr/>
        </p:nvSpPr>
        <p:spPr>
          <a:xfrm>
            <a:off x="2743200" y="33397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5</a:t>
            </a:r>
          </a:p>
        </p:txBody>
      </p:sp>
      <p:sp>
        <p:nvSpPr>
          <p:cNvPr id="11" name="Oval 10"/>
          <p:cNvSpPr/>
          <p:nvPr/>
        </p:nvSpPr>
        <p:spPr>
          <a:xfrm>
            <a:off x="4807527" y="33397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6</a:t>
            </a:r>
          </a:p>
        </p:txBody>
      </p:sp>
      <p:sp>
        <p:nvSpPr>
          <p:cNvPr id="12" name="Oval 11"/>
          <p:cNvSpPr/>
          <p:nvPr/>
        </p:nvSpPr>
        <p:spPr>
          <a:xfrm>
            <a:off x="2819400" y="51685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7</a:t>
            </a:r>
          </a:p>
        </p:txBody>
      </p:sp>
      <p:cxnSp>
        <p:nvCxnSpPr>
          <p:cNvPr id="13" name="Straight Connector 12"/>
          <p:cNvCxnSpPr>
            <a:stCxn id="6" idx="6"/>
            <a:endCxn id="7" idx="2"/>
          </p:cNvCxnSpPr>
          <p:nvPr/>
        </p:nvCxnSpPr>
        <p:spPr>
          <a:xfrm>
            <a:off x="1325880" y="1830980"/>
            <a:ext cx="134112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7" idx="6"/>
            <a:endCxn id="8" idx="2"/>
          </p:cNvCxnSpPr>
          <p:nvPr/>
        </p:nvCxnSpPr>
        <p:spPr>
          <a:xfrm>
            <a:off x="3307080" y="1830980"/>
            <a:ext cx="141732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9" idx="6"/>
            <a:endCxn id="10" idx="2"/>
          </p:cNvCxnSpPr>
          <p:nvPr/>
        </p:nvCxnSpPr>
        <p:spPr>
          <a:xfrm>
            <a:off x="1325880" y="3659780"/>
            <a:ext cx="141732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0" idx="6"/>
            <a:endCxn id="11" idx="2"/>
          </p:cNvCxnSpPr>
          <p:nvPr/>
        </p:nvCxnSpPr>
        <p:spPr>
          <a:xfrm>
            <a:off x="3383280" y="3659780"/>
            <a:ext cx="1424247"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6" idx="4"/>
            <a:endCxn id="9" idx="0"/>
          </p:cNvCxnSpPr>
          <p:nvPr/>
        </p:nvCxnSpPr>
        <p:spPr>
          <a:xfrm>
            <a:off x="1005840" y="2151020"/>
            <a:ext cx="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7" idx="4"/>
          </p:cNvCxnSpPr>
          <p:nvPr/>
        </p:nvCxnSpPr>
        <p:spPr>
          <a:xfrm>
            <a:off x="2987040" y="2151020"/>
            <a:ext cx="2286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8" idx="4"/>
          </p:cNvCxnSpPr>
          <p:nvPr/>
        </p:nvCxnSpPr>
        <p:spPr>
          <a:xfrm>
            <a:off x="5044440" y="2151020"/>
            <a:ext cx="2286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9" idx="7"/>
            <a:endCxn id="7" idx="3"/>
          </p:cNvCxnSpPr>
          <p:nvPr/>
        </p:nvCxnSpPr>
        <p:spPr>
          <a:xfrm flipV="1">
            <a:off x="1232142" y="2057282"/>
            <a:ext cx="1528596" cy="1376196"/>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0" idx="7"/>
            <a:endCxn id="8" idx="3"/>
          </p:cNvCxnSpPr>
          <p:nvPr/>
        </p:nvCxnSpPr>
        <p:spPr>
          <a:xfrm flipV="1">
            <a:off x="3289542" y="2057282"/>
            <a:ext cx="1528596" cy="1376196"/>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1" idx="3"/>
            <a:endCxn id="12" idx="6"/>
          </p:cNvCxnSpPr>
          <p:nvPr/>
        </p:nvCxnSpPr>
        <p:spPr>
          <a:xfrm flipH="1">
            <a:off x="3459480" y="3886082"/>
            <a:ext cx="1441785" cy="1602498"/>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9" idx="4"/>
            <a:endCxn id="12" idx="2"/>
          </p:cNvCxnSpPr>
          <p:nvPr/>
        </p:nvCxnSpPr>
        <p:spPr>
          <a:xfrm>
            <a:off x="1005840" y="3979820"/>
            <a:ext cx="1813560" cy="150876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10" idx="4"/>
          </p:cNvCxnSpPr>
          <p:nvPr/>
        </p:nvCxnSpPr>
        <p:spPr>
          <a:xfrm>
            <a:off x="3063240" y="3979820"/>
            <a:ext cx="2286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735874" y="2425340"/>
            <a:ext cx="361950" cy="461665"/>
          </a:xfrm>
          <a:prstGeom prst="rect">
            <a:avLst/>
          </a:prstGeom>
          <a:noFill/>
        </p:spPr>
        <p:txBody>
          <a:bodyPr wrap="square" rtlCol="0">
            <a:spAutoFit/>
          </a:bodyPr>
          <a:lstStyle/>
          <a:p>
            <a:r>
              <a:rPr lang="en-US" sz="2400" dirty="0">
                <a:solidFill>
                  <a:srgbClr val="AD1457"/>
                </a:solidFill>
              </a:rPr>
              <a:t>4</a:t>
            </a:r>
          </a:p>
        </p:txBody>
      </p:sp>
      <p:sp>
        <p:nvSpPr>
          <p:cNvPr id="26" name="TextBox 25"/>
          <p:cNvSpPr txBox="1"/>
          <p:nvPr/>
        </p:nvSpPr>
        <p:spPr>
          <a:xfrm>
            <a:off x="2076450" y="2497075"/>
            <a:ext cx="361950" cy="461665"/>
          </a:xfrm>
          <a:prstGeom prst="rect">
            <a:avLst/>
          </a:prstGeom>
          <a:noFill/>
        </p:spPr>
        <p:txBody>
          <a:bodyPr wrap="square" rtlCol="0">
            <a:spAutoFit/>
          </a:bodyPr>
          <a:lstStyle/>
          <a:p>
            <a:r>
              <a:rPr lang="en-US" sz="2400" dirty="0">
                <a:solidFill>
                  <a:srgbClr val="AD1457"/>
                </a:solidFill>
              </a:rPr>
              <a:t>6</a:t>
            </a:r>
          </a:p>
        </p:txBody>
      </p:sp>
      <p:sp>
        <p:nvSpPr>
          <p:cNvPr id="27" name="TextBox 26"/>
          <p:cNvSpPr txBox="1"/>
          <p:nvPr/>
        </p:nvSpPr>
        <p:spPr>
          <a:xfrm>
            <a:off x="2990850" y="2494843"/>
            <a:ext cx="361950" cy="461665"/>
          </a:xfrm>
          <a:prstGeom prst="rect">
            <a:avLst/>
          </a:prstGeom>
          <a:noFill/>
        </p:spPr>
        <p:txBody>
          <a:bodyPr wrap="square" rtlCol="0">
            <a:spAutoFit/>
          </a:bodyPr>
          <a:lstStyle/>
          <a:p>
            <a:r>
              <a:rPr lang="en-US" sz="2400" dirty="0">
                <a:solidFill>
                  <a:srgbClr val="AD1457"/>
                </a:solidFill>
              </a:rPr>
              <a:t>4</a:t>
            </a:r>
          </a:p>
        </p:txBody>
      </p:sp>
      <p:sp>
        <p:nvSpPr>
          <p:cNvPr id="28" name="TextBox 27"/>
          <p:cNvSpPr txBox="1"/>
          <p:nvPr/>
        </p:nvSpPr>
        <p:spPr>
          <a:xfrm>
            <a:off x="4114800" y="2497075"/>
            <a:ext cx="361950" cy="461665"/>
          </a:xfrm>
          <a:prstGeom prst="rect">
            <a:avLst/>
          </a:prstGeom>
          <a:noFill/>
        </p:spPr>
        <p:txBody>
          <a:bodyPr wrap="square" rtlCol="0">
            <a:spAutoFit/>
          </a:bodyPr>
          <a:lstStyle/>
          <a:p>
            <a:r>
              <a:rPr lang="en-US" sz="2400" dirty="0">
                <a:solidFill>
                  <a:srgbClr val="AD1457"/>
                </a:solidFill>
              </a:rPr>
              <a:t>5</a:t>
            </a:r>
          </a:p>
        </p:txBody>
      </p:sp>
      <p:sp>
        <p:nvSpPr>
          <p:cNvPr id="29" name="TextBox 28"/>
          <p:cNvSpPr txBox="1"/>
          <p:nvPr/>
        </p:nvSpPr>
        <p:spPr>
          <a:xfrm>
            <a:off x="4982935" y="2420875"/>
            <a:ext cx="361950" cy="461665"/>
          </a:xfrm>
          <a:prstGeom prst="rect">
            <a:avLst/>
          </a:prstGeom>
          <a:noFill/>
        </p:spPr>
        <p:txBody>
          <a:bodyPr wrap="square" rtlCol="0">
            <a:spAutoFit/>
          </a:bodyPr>
          <a:lstStyle/>
          <a:p>
            <a:r>
              <a:rPr lang="en-US" sz="2400" dirty="0">
                <a:solidFill>
                  <a:srgbClr val="AD1457"/>
                </a:solidFill>
              </a:rPr>
              <a:t>6</a:t>
            </a:r>
          </a:p>
        </p:txBody>
      </p:sp>
      <p:sp>
        <p:nvSpPr>
          <p:cNvPr id="30" name="TextBox 29"/>
          <p:cNvSpPr txBox="1"/>
          <p:nvPr/>
        </p:nvSpPr>
        <p:spPr>
          <a:xfrm>
            <a:off x="2057400" y="3568340"/>
            <a:ext cx="361950" cy="461665"/>
          </a:xfrm>
          <a:prstGeom prst="rect">
            <a:avLst/>
          </a:prstGeom>
          <a:noFill/>
        </p:spPr>
        <p:txBody>
          <a:bodyPr wrap="square" rtlCol="0">
            <a:spAutoFit/>
          </a:bodyPr>
          <a:lstStyle/>
          <a:p>
            <a:r>
              <a:rPr lang="en-US" sz="2400" dirty="0">
                <a:solidFill>
                  <a:srgbClr val="AD1457"/>
                </a:solidFill>
              </a:rPr>
              <a:t>3</a:t>
            </a:r>
          </a:p>
        </p:txBody>
      </p:sp>
      <p:sp>
        <p:nvSpPr>
          <p:cNvPr id="31" name="TextBox 30"/>
          <p:cNvSpPr txBox="1"/>
          <p:nvPr/>
        </p:nvSpPr>
        <p:spPr>
          <a:xfrm>
            <a:off x="3981450" y="3568340"/>
            <a:ext cx="361950" cy="461665"/>
          </a:xfrm>
          <a:prstGeom prst="rect">
            <a:avLst/>
          </a:prstGeom>
          <a:noFill/>
        </p:spPr>
        <p:txBody>
          <a:bodyPr wrap="square" rtlCol="0">
            <a:spAutoFit/>
          </a:bodyPr>
          <a:lstStyle/>
          <a:p>
            <a:r>
              <a:rPr lang="en-US" sz="2400" dirty="0">
                <a:solidFill>
                  <a:srgbClr val="AD1457"/>
                </a:solidFill>
              </a:rPr>
              <a:t>8</a:t>
            </a:r>
          </a:p>
        </p:txBody>
      </p:sp>
      <p:sp>
        <p:nvSpPr>
          <p:cNvPr id="32" name="TextBox 31"/>
          <p:cNvSpPr txBox="1"/>
          <p:nvPr/>
        </p:nvSpPr>
        <p:spPr>
          <a:xfrm>
            <a:off x="1600200" y="4554475"/>
            <a:ext cx="361950" cy="461665"/>
          </a:xfrm>
          <a:prstGeom prst="rect">
            <a:avLst/>
          </a:prstGeom>
          <a:noFill/>
        </p:spPr>
        <p:txBody>
          <a:bodyPr wrap="square" rtlCol="0">
            <a:spAutoFit/>
          </a:bodyPr>
          <a:lstStyle/>
          <a:p>
            <a:r>
              <a:rPr lang="en-US" sz="2400" dirty="0">
                <a:solidFill>
                  <a:srgbClr val="AD1457"/>
                </a:solidFill>
              </a:rPr>
              <a:t>4</a:t>
            </a:r>
          </a:p>
        </p:txBody>
      </p:sp>
      <p:sp>
        <p:nvSpPr>
          <p:cNvPr id="33" name="TextBox 32"/>
          <p:cNvSpPr txBox="1"/>
          <p:nvPr/>
        </p:nvSpPr>
        <p:spPr>
          <a:xfrm>
            <a:off x="3067050" y="4249675"/>
            <a:ext cx="361950" cy="461665"/>
          </a:xfrm>
          <a:prstGeom prst="rect">
            <a:avLst/>
          </a:prstGeom>
          <a:noFill/>
        </p:spPr>
        <p:txBody>
          <a:bodyPr wrap="square" rtlCol="0">
            <a:spAutoFit/>
          </a:bodyPr>
          <a:lstStyle/>
          <a:p>
            <a:r>
              <a:rPr lang="en-US" sz="2400" dirty="0">
                <a:solidFill>
                  <a:srgbClr val="AD1457"/>
                </a:solidFill>
              </a:rPr>
              <a:t>7</a:t>
            </a:r>
          </a:p>
        </p:txBody>
      </p:sp>
      <p:sp>
        <p:nvSpPr>
          <p:cNvPr id="34" name="TextBox 33"/>
          <p:cNvSpPr txBox="1"/>
          <p:nvPr/>
        </p:nvSpPr>
        <p:spPr>
          <a:xfrm>
            <a:off x="4191000" y="4482740"/>
            <a:ext cx="361950" cy="461665"/>
          </a:xfrm>
          <a:prstGeom prst="rect">
            <a:avLst/>
          </a:prstGeom>
          <a:noFill/>
        </p:spPr>
        <p:txBody>
          <a:bodyPr wrap="square" rtlCol="0">
            <a:spAutoFit/>
          </a:bodyPr>
          <a:lstStyle/>
          <a:p>
            <a:r>
              <a:rPr lang="en-US" sz="2400" dirty="0">
                <a:solidFill>
                  <a:srgbClr val="AD1457"/>
                </a:solidFill>
              </a:rPr>
              <a:t>3</a:t>
            </a:r>
          </a:p>
        </p:txBody>
      </p:sp>
      <p:sp>
        <p:nvSpPr>
          <p:cNvPr id="35" name="TextBox 34"/>
          <p:cNvSpPr txBox="1"/>
          <p:nvPr/>
        </p:nvSpPr>
        <p:spPr>
          <a:xfrm>
            <a:off x="1924050" y="1434740"/>
            <a:ext cx="361950" cy="461665"/>
          </a:xfrm>
          <a:prstGeom prst="rect">
            <a:avLst/>
          </a:prstGeom>
          <a:noFill/>
        </p:spPr>
        <p:txBody>
          <a:bodyPr wrap="square" rtlCol="0">
            <a:spAutoFit/>
          </a:bodyPr>
          <a:lstStyle/>
          <a:p>
            <a:r>
              <a:rPr lang="en-US" sz="2400" dirty="0">
                <a:solidFill>
                  <a:srgbClr val="AD1457"/>
                </a:solidFill>
              </a:rPr>
              <a:t>1</a:t>
            </a:r>
          </a:p>
        </p:txBody>
      </p:sp>
      <p:sp>
        <p:nvSpPr>
          <p:cNvPr id="36" name="TextBox 35"/>
          <p:cNvSpPr txBox="1"/>
          <p:nvPr/>
        </p:nvSpPr>
        <p:spPr>
          <a:xfrm>
            <a:off x="3905250" y="1430275"/>
            <a:ext cx="361950" cy="461665"/>
          </a:xfrm>
          <a:prstGeom prst="rect">
            <a:avLst/>
          </a:prstGeom>
          <a:noFill/>
        </p:spPr>
        <p:txBody>
          <a:bodyPr wrap="square" rtlCol="0">
            <a:spAutoFit/>
          </a:bodyPr>
          <a:lstStyle/>
          <a:p>
            <a:r>
              <a:rPr lang="en-US" sz="2400" dirty="0">
                <a:solidFill>
                  <a:srgbClr val="AD1457"/>
                </a:solidFill>
              </a:rPr>
              <a:t>2</a:t>
            </a:r>
          </a:p>
        </p:txBody>
      </p:sp>
      <p:sp>
        <p:nvSpPr>
          <p:cNvPr id="37" name="TextBox 36"/>
          <p:cNvSpPr txBox="1"/>
          <p:nvPr/>
        </p:nvSpPr>
        <p:spPr>
          <a:xfrm>
            <a:off x="6107974" y="151800"/>
            <a:ext cx="859594" cy="400110"/>
          </a:xfrm>
          <a:prstGeom prst="rect">
            <a:avLst/>
          </a:prstGeom>
          <a:noFill/>
          <a:ln w="28575">
            <a:solidFill>
              <a:schemeClr val="accent5"/>
            </a:solidFill>
          </a:ln>
        </p:spPr>
        <p:txBody>
          <a:bodyPr wrap="none" rtlCol="0">
            <a:spAutoFit/>
          </a:bodyPr>
          <a:lstStyle/>
          <a:p>
            <a:r>
              <a:rPr lang="en-IN" sz="2000" b="1" dirty="0">
                <a:solidFill>
                  <a:schemeClr val="bg1"/>
                </a:solidFill>
              </a:rPr>
              <a:t>Step:1</a:t>
            </a:r>
            <a:endParaRPr lang="en-US" sz="2000" b="1" dirty="0">
              <a:solidFill>
                <a:schemeClr val="bg1"/>
              </a:solidFill>
            </a:endParaRPr>
          </a:p>
        </p:txBody>
      </p:sp>
      <p:sp>
        <p:nvSpPr>
          <p:cNvPr id="38" name="TextBox 37"/>
          <p:cNvSpPr txBox="1"/>
          <p:nvPr/>
        </p:nvSpPr>
        <p:spPr>
          <a:xfrm>
            <a:off x="6995864" y="121023"/>
            <a:ext cx="4846320" cy="430887"/>
          </a:xfrm>
          <a:prstGeom prst="rect">
            <a:avLst/>
          </a:prstGeom>
          <a:noFill/>
        </p:spPr>
        <p:txBody>
          <a:bodyPr wrap="square" rtlCol="0">
            <a:spAutoFit/>
          </a:bodyPr>
          <a:lstStyle/>
          <a:p>
            <a:pPr algn="just"/>
            <a:r>
              <a:rPr lang="en-US" sz="2200" b="1" dirty="0">
                <a:solidFill>
                  <a:schemeClr val="accent5"/>
                </a:solidFill>
              </a:rPr>
              <a:t>Select an arbitrary node.</a:t>
            </a:r>
          </a:p>
        </p:txBody>
      </p:sp>
      <p:graphicFrame>
        <p:nvGraphicFramePr>
          <p:cNvPr id="39" name="Table 38"/>
          <p:cNvGraphicFramePr>
            <a:graphicFrameLocks noGrp="1"/>
          </p:cNvGraphicFramePr>
          <p:nvPr>
            <p:extLst>
              <p:ext uri="{D42A27DB-BD31-4B8C-83A1-F6EECF244321}">
                <p14:modId xmlns:p14="http://schemas.microsoft.com/office/powerpoint/2010/main" val="2384278733"/>
              </p:ext>
            </p:extLst>
          </p:nvPr>
        </p:nvGraphicFramePr>
        <p:xfrm>
          <a:off x="6570616" y="919233"/>
          <a:ext cx="5185955" cy="5154994"/>
        </p:xfrm>
        <a:graphic>
          <a:graphicData uri="http://schemas.openxmlformats.org/drawingml/2006/table">
            <a:tbl>
              <a:tblPr firstRow="1" bandRow="1">
                <a:tableStyleId>{5C22544A-7EE6-4342-B048-85BDC9FD1C3A}</a:tableStyleId>
              </a:tblPr>
              <a:tblGrid>
                <a:gridCol w="2028104">
                  <a:extLst>
                    <a:ext uri="{9D8B030D-6E8A-4147-A177-3AD203B41FA5}">
                      <a16:colId xmlns:a16="http://schemas.microsoft.com/office/drawing/2014/main" val="1582560717"/>
                    </a:ext>
                  </a:extLst>
                </a:gridCol>
                <a:gridCol w="3157851">
                  <a:extLst>
                    <a:ext uri="{9D8B030D-6E8A-4147-A177-3AD203B41FA5}">
                      <a16:colId xmlns:a16="http://schemas.microsoft.com/office/drawing/2014/main" val="511824500"/>
                    </a:ext>
                  </a:extLst>
                </a:gridCol>
              </a:tblGrid>
              <a:tr h="695590">
                <a:tc>
                  <a:txBody>
                    <a:bodyPr/>
                    <a:lstStyle/>
                    <a:p>
                      <a:pPr algn="ctr"/>
                      <a:r>
                        <a:rPr lang="en-US" dirty="0">
                          <a:solidFill>
                            <a:schemeClr val="accent2">
                              <a:lumMod val="60000"/>
                              <a:lumOff val="40000"/>
                            </a:schemeClr>
                          </a:solidFill>
                        </a:rPr>
                        <a:t>Node - Set B</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accent2">
                              <a:lumMod val="60000"/>
                              <a:lumOff val="40000"/>
                            </a:schemeClr>
                          </a:solidFill>
                        </a:rPr>
                        <a:t>Edges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6574443"/>
                  </a:ext>
                </a:extLst>
              </a:tr>
              <a:tr h="743234">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en-US" sz="2200" b="1" i="0" u="none" strike="noStrike" kern="1200" cap="none" normalizeH="0" baseline="0" dirty="0">
                          <a:ln>
                            <a:noFill/>
                          </a:ln>
                          <a:solidFill>
                            <a:srgbClr val="92D050"/>
                          </a:solidFill>
                          <a:effectLst/>
                          <a:latin typeface="+mn-lt"/>
                          <a:ea typeface="+mn-ea"/>
                          <a:cs typeface="+mn-cs"/>
                        </a:rPr>
                        <a:t>1</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lang="en-US" sz="2200" b="1" dirty="0">
                        <a:solidFill>
                          <a:srgbClr val="92D050"/>
                        </a:solidFill>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604744"/>
                  </a:ext>
                </a:extLst>
              </a:tr>
              <a:tr h="743234">
                <a:tc>
                  <a:txBody>
                    <a:bodyPr/>
                    <a:lstStyle/>
                    <a:p>
                      <a:pPr algn="ctr"/>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7217928"/>
                  </a:ext>
                </a:extLst>
              </a:tr>
              <a:tr h="743234">
                <a:tc>
                  <a:txBody>
                    <a:bodyPr/>
                    <a:lstStyle/>
                    <a:p>
                      <a:pPr algn="ctr"/>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4933460"/>
                  </a:ext>
                </a:extLst>
              </a:tr>
              <a:tr h="743234">
                <a:tc>
                  <a:txBody>
                    <a:bodyPr/>
                    <a:lstStyle/>
                    <a:p>
                      <a:pPr algn="ctr"/>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772278"/>
                  </a:ext>
                </a:extLst>
              </a:tr>
              <a:tr h="743234">
                <a:tc>
                  <a:txBody>
                    <a:bodyPr/>
                    <a:lstStyle/>
                    <a:p>
                      <a:pPr algn="ctr"/>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955693"/>
                  </a:ext>
                </a:extLst>
              </a:tr>
              <a:tr h="743234">
                <a:tc>
                  <a:txBody>
                    <a:bodyPr/>
                    <a:lstStyle/>
                    <a:p>
                      <a:pPr algn="ctr"/>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8600405"/>
                  </a:ext>
                </a:extLst>
              </a:tr>
            </a:tbl>
          </a:graphicData>
        </a:graphic>
      </p:graphicFrame>
    </p:spTree>
    <p:extLst>
      <p:ext uri="{BB962C8B-B14F-4D97-AF65-F5344CB8AC3E}">
        <p14:creationId xmlns:p14="http://schemas.microsoft.com/office/powerpoint/2010/main" val="3467550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5"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vertical)">
                                      <p:cBhvr>
                                        <p:cTn id="12" dur="1000"/>
                                        <p:tgtEl>
                                          <p:spTgt spid="6"/>
                                        </p:tgtEl>
                                      </p:cBhvr>
                                    </p:animEffect>
                                  </p:childTnLst>
                                </p:cTn>
                              </p:par>
                              <p:par>
                                <p:cTn id="13" presetID="14" presetClass="entr" presetSubtype="5"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randombar(vertical)">
                                      <p:cBhvr>
                                        <p:cTn id="15" dur="1000"/>
                                        <p:tgtEl>
                                          <p:spTgt spid="7"/>
                                        </p:tgtEl>
                                      </p:cBhvr>
                                    </p:animEffect>
                                  </p:childTnLst>
                                </p:cTn>
                              </p:par>
                              <p:par>
                                <p:cTn id="16" presetID="14" presetClass="entr" presetSubtype="5"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randombar(vertical)">
                                      <p:cBhvr>
                                        <p:cTn id="18" dur="1000"/>
                                        <p:tgtEl>
                                          <p:spTgt spid="8"/>
                                        </p:tgtEl>
                                      </p:cBhvr>
                                    </p:animEffect>
                                  </p:childTnLst>
                                </p:cTn>
                              </p:par>
                              <p:par>
                                <p:cTn id="19" presetID="14" presetClass="entr" presetSubtype="5"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randombar(vertical)">
                                      <p:cBhvr>
                                        <p:cTn id="21" dur="1000"/>
                                        <p:tgtEl>
                                          <p:spTgt spid="9"/>
                                        </p:tgtEl>
                                      </p:cBhvr>
                                    </p:animEffect>
                                  </p:childTnLst>
                                </p:cTn>
                              </p:par>
                              <p:par>
                                <p:cTn id="22" presetID="14" presetClass="entr" presetSubtype="5"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randombar(vertical)">
                                      <p:cBhvr>
                                        <p:cTn id="24" dur="1000"/>
                                        <p:tgtEl>
                                          <p:spTgt spid="10"/>
                                        </p:tgtEl>
                                      </p:cBhvr>
                                    </p:animEffect>
                                  </p:childTnLst>
                                </p:cTn>
                              </p:par>
                              <p:par>
                                <p:cTn id="25" presetID="14" presetClass="entr" presetSubtype="5"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randombar(vertical)">
                                      <p:cBhvr>
                                        <p:cTn id="27" dur="1000"/>
                                        <p:tgtEl>
                                          <p:spTgt spid="11"/>
                                        </p:tgtEl>
                                      </p:cBhvr>
                                    </p:animEffect>
                                  </p:childTnLst>
                                </p:cTn>
                              </p:par>
                              <p:par>
                                <p:cTn id="28" presetID="14" presetClass="entr" presetSubtype="5"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randombar(vertical)">
                                      <p:cBhvr>
                                        <p:cTn id="30" dur="10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500"/>
                                        <p:tgtEl>
                                          <p:spTgt spid="14"/>
                                        </p:tgtEl>
                                      </p:cBhvr>
                                    </p:animEffect>
                                  </p:childTnLst>
                                </p:cTn>
                              </p:par>
                              <p:par>
                                <p:cTn id="36" presetID="10" presetClass="entr" presetSubtype="0" fill="hold"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par>
                                <p:cTn id="48" presetID="10" presetClass="entr" presetSubtype="0" fill="hold"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500"/>
                                        <p:tgtEl>
                                          <p:spTgt spid="21"/>
                                        </p:tgtEl>
                                      </p:cBhvr>
                                    </p:animEffect>
                                  </p:childTnLst>
                                </p:cTn>
                              </p:par>
                              <p:par>
                                <p:cTn id="51" presetID="10" presetClass="entr" presetSubtype="0"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par>
                                <p:cTn id="54" presetID="10" presetClass="entr" presetSubtype="0" fill="hold"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50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par>
                                <p:cTn id="60" presetID="10" presetClass="entr" presetSubtype="0" fill="hold"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par>
                                <p:cTn id="63" presetID="10" presetClass="entr" presetSubtype="0" fill="hold" nodeType="withEffect">
                                  <p:stCondLst>
                                    <p:cond delay="0"/>
                                  </p:stCondLst>
                                  <p:childTnLst>
                                    <p:set>
                                      <p:cBhvr>
                                        <p:cTn id="64" dur="1" fill="hold">
                                          <p:stCondLst>
                                            <p:cond delay="0"/>
                                          </p:stCondLst>
                                        </p:cTn>
                                        <p:tgtEl>
                                          <p:spTgt spid="15"/>
                                        </p:tgtEl>
                                        <p:attrNameLst>
                                          <p:attrName>style.visibility</p:attrName>
                                        </p:attrNameLst>
                                      </p:cBhvr>
                                      <p:to>
                                        <p:strVal val="visible"/>
                                      </p:to>
                                    </p:set>
                                    <p:animEffect transition="in" filter="fade">
                                      <p:cBhvr>
                                        <p:cTn id="65" dur="500"/>
                                        <p:tgtEl>
                                          <p:spTgt spid="15"/>
                                        </p:tgtEl>
                                      </p:cBhvr>
                                    </p:animEffect>
                                  </p:childTnLst>
                                </p:cTn>
                              </p:par>
                              <p:par>
                                <p:cTn id="66" presetID="10" presetClass="entr" presetSubtype="0" fill="hold" nodeType="with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500"/>
                                        <p:tgtEl>
                                          <p:spTgt spid="1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00"/>
                                        <p:tgtEl>
                                          <p:spTgt spid="2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00"/>
                                        <p:tgtEl>
                                          <p:spTgt spid="2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500"/>
                                        <p:tgtEl>
                                          <p:spTgt spid="2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500"/>
                                        <p:tgtEl>
                                          <p:spTgt spid="2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500"/>
                                        <p:tgtEl>
                                          <p:spTgt spid="29"/>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500"/>
                                        <p:tgtEl>
                                          <p:spTgt spid="3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500"/>
                                        <p:tgtEl>
                                          <p:spTgt spid="3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500"/>
                                        <p:tgtEl>
                                          <p:spTgt spid="3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fade">
                                      <p:cBhvr>
                                        <p:cTn id="95" dur="500"/>
                                        <p:tgtEl>
                                          <p:spTgt spid="33"/>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4"/>
                                        </p:tgtEl>
                                        <p:attrNameLst>
                                          <p:attrName>style.visibility</p:attrName>
                                        </p:attrNameLst>
                                      </p:cBhvr>
                                      <p:to>
                                        <p:strVal val="visible"/>
                                      </p:to>
                                    </p:set>
                                    <p:animEffect transition="in" filter="fade">
                                      <p:cBhvr>
                                        <p:cTn id="98" dur="500"/>
                                        <p:tgtEl>
                                          <p:spTgt spid="34"/>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fade">
                                      <p:cBhvr>
                                        <p:cTn id="101" dur="500"/>
                                        <p:tgtEl>
                                          <p:spTgt spid="3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500"/>
                                        <p:tgtEl>
                                          <p:spTgt spid="36"/>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37"/>
                                        </p:tgtEl>
                                        <p:attrNameLst>
                                          <p:attrName>style.visibility</p:attrName>
                                        </p:attrNameLst>
                                      </p:cBhvr>
                                      <p:to>
                                        <p:strVal val="visible"/>
                                      </p:to>
                                    </p:set>
                                    <p:animEffect transition="in" filter="fade">
                                      <p:cBhvr>
                                        <p:cTn id="109" dur="500"/>
                                        <p:tgtEl>
                                          <p:spTgt spid="37"/>
                                        </p:tgtEl>
                                      </p:cBhvr>
                                    </p:animEffect>
                                  </p:childTnLst>
                                </p:cTn>
                              </p:par>
                            </p:childTnLst>
                          </p:cTn>
                        </p:par>
                        <p:par>
                          <p:cTn id="110" fill="hold">
                            <p:stCondLst>
                              <p:cond delay="500"/>
                            </p:stCondLst>
                            <p:childTnLst>
                              <p:par>
                                <p:cTn id="111" presetID="10" presetClass="entr" presetSubtype="0" fill="hold" grpId="0" nodeType="afterEffect">
                                  <p:stCondLst>
                                    <p:cond delay="0"/>
                                  </p:stCondLst>
                                  <p:childTnLst>
                                    <p:set>
                                      <p:cBhvr>
                                        <p:cTn id="112" dur="1" fill="hold">
                                          <p:stCondLst>
                                            <p:cond delay="0"/>
                                          </p:stCondLst>
                                        </p:cTn>
                                        <p:tgtEl>
                                          <p:spTgt spid="38"/>
                                        </p:tgtEl>
                                        <p:attrNameLst>
                                          <p:attrName>style.visibility</p:attrName>
                                        </p:attrNameLst>
                                      </p:cBhvr>
                                      <p:to>
                                        <p:strVal val="visible"/>
                                      </p:to>
                                    </p:set>
                                    <p:animEffect transition="in" filter="fade">
                                      <p:cBhvr>
                                        <p:cTn id="113" dur="500"/>
                                        <p:tgtEl>
                                          <p:spTgt spid="38"/>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1" fill="hold" nodeType="clickEffect">
                                  <p:stCondLst>
                                    <p:cond delay="0"/>
                                  </p:stCondLst>
                                  <p:childTnLst>
                                    <p:set>
                                      <p:cBhvr>
                                        <p:cTn id="117" dur="1" fill="hold">
                                          <p:stCondLst>
                                            <p:cond delay="0"/>
                                          </p:stCondLst>
                                        </p:cTn>
                                        <p:tgtEl>
                                          <p:spTgt spid="39"/>
                                        </p:tgtEl>
                                        <p:attrNameLst>
                                          <p:attrName>style.visibility</p:attrName>
                                        </p:attrNameLst>
                                      </p:cBhvr>
                                      <p:to>
                                        <p:strVal val="visible"/>
                                      </p:to>
                                    </p:set>
                                    <p:animEffect transition="in" filter="wipe(up)">
                                      <p:cBhvr>
                                        <p:cTn id="118" dur="3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25" grpId="0"/>
      <p:bldP spid="26" grpId="0"/>
      <p:bldP spid="27" grpId="0"/>
      <p:bldP spid="28" grpId="0"/>
      <p:bldP spid="29" grpId="0"/>
      <p:bldP spid="30" grpId="0"/>
      <p:bldP spid="31" grpId="0"/>
      <p:bldP spid="32" grpId="0"/>
      <p:bldP spid="33" grpId="0"/>
      <p:bldP spid="34" grpId="0"/>
      <p:bldP spid="35" grpId="0"/>
      <p:bldP spid="36" grpId="0"/>
      <p:bldP spid="37" grpId="0" animBg="1"/>
      <p:bldP spid="38"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6096000" y="0"/>
            <a:ext cx="6096000" cy="6588000"/>
          </a:xfrm>
          <a:prstGeom prst="rect">
            <a:avLst/>
          </a:prstGeom>
          <a:gradFill flip="none" rotWithShape="1">
            <a:gsLst>
              <a:gs pos="55000">
                <a:srgbClr val="B21266"/>
              </a:gs>
              <a:gs pos="30000">
                <a:srgbClr val="A3115D">
                  <a:lumMod val="100000"/>
                </a:srgbClr>
              </a:gs>
              <a:gs pos="100000">
                <a:srgbClr val="ED6D9B"/>
              </a:gs>
            </a:gsLst>
            <a:path path="circle">
              <a:fillToRect r="100000" b="100000"/>
            </a:path>
            <a:tileRect l="-100000" t="-100000"/>
          </a:gradFill>
          <a:ln>
            <a:noFill/>
          </a:ln>
        </p:spPr>
        <p:txBody>
          <a:bodyPr vert="horz" wrap="square" lIns="91440" tIns="45720" rIns="91440" bIns="45720" numCol="1" anchor="t" anchorCtr="0" compatLnSpc="1">
            <a:prstTxWarp prst="textNoShape">
              <a:avLst/>
            </a:prstTxWarp>
          </a:bodyPr>
          <a:lstStyle/>
          <a:p>
            <a:pPr algn="just"/>
            <a:endParaRPr lang="en-US" altLang="en-US" sz="2400" dirty="0">
              <a:solidFill>
                <a:schemeClr val="bg1"/>
              </a:solidFill>
            </a:endParaRPr>
          </a:p>
        </p:txBody>
      </p:sp>
      <p:sp>
        <p:nvSpPr>
          <p:cNvPr id="5" name="TextBox 4"/>
          <p:cNvSpPr txBox="1"/>
          <p:nvPr/>
        </p:nvSpPr>
        <p:spPr>
          <a:xfrm>
            <a:off x="-1" y="6976"/>
            <a:ext cx="6217920" cy="738664"/>
          </a:xfrm>
          <a:prstGeom prst="rect">
            <a:avLst/>
          </a:prstGeom>
          <a:noFill/>
        </p:spPr>
        <p:txBody>
          <a:bodyPr wrap="square" lIns="274320" rtlCol="0" anchor="ctr">
            <a:spAutoFit/>
          </a:bodyPr>
          <a:lstStyle/>
          <a:p>
            <a:pPr>
              <a:lnSpc>
                <a:spcPct val="150000"/>
              </a:lnSpc>
            </a:pPr>
            <a:r>
              <a:rPr lang="en-US" sz="2800" dirty="0"/>
              <a:t>Prim’s Algorithm for MST – Example 1</a:t>
            </a:r>
            <a:endParaRPr lang="en-US" sz="2800" b="1" dirty="0">
              <a:solidFill>
                <a:srgbClr val="424242"/>
              </a:solidFill>
            </a:endParaRPr>
          </a:p>
        </p:txBody>
      </p:sp>
      <p:sp>
        <p:nvSpPr>
          <p:cNvPr id="6" name="Oval 5"/>
          <p:cNvSpPr/>
          <p:nvPr/>
        </p:nvSpPr>
        <p:spPr>
          <a:xfrm>
            <a:off x="685800" y="15109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1</a:t>
            </a:r>
          </a:p>
        </p:txBody>
      </p:sp>
      <p:sp>
        <p:nvSpPr>
          <p:cNvPr id="7" name="Oval 6"/>
          <p:cNvSpPr/>
          <p:nvPr/>
        </p:nvSpPr>
        <p:spPr>
          <a:xfrm>
            <a:off x="2667000" y="15109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2</a:t>
            </a:r>
          </a:p>
        </p:txBody>
      </p:sp>
      <p:sp>
        <p:nvSpPr>
          <p:cNvPr id="8" name="Oval 7"/>
          <p:cNvSpPr/>
          <p:nvPr/>
        </p:nvSpPr>
        <p:spPr>
          <a:xfrm>
            <a:off x="4724400" y="15109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3</a:t>
            </a:r>
          </a:p>
        </p:txBody>
      </p:sp>
      <p:sp>
        <p:nvSpPr>
          <p:cNvPr id="9" name="Oval 8"/>
          <p:cNvSpPr/>
          <p:nvPr/>
        </p:nvSpPr>
        <p:spPr>
          <a:xfrm>
            <a:off x="685800" y="33397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4</a:t>
            </a:r>
          </a:p>
        </p:txBody>
      </p:sp>
      <p:sp>
        <p:nvSpPr>
          <p:cNvPr id="10" name="Oval 9"/>
          <p:cNvSpPr/>
          <p:nvPr/>
        </p:nvSpPr>
        <p:spPr>
          <a:xfrm>
            <a:off x="2743200" y="33397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5</a:t>
            </a:r>
          </a:p>
        </p:txBody>
      </p:sp>
      <p:sp>
        <p:nvSpPr>
          <p:cNvPr id="11" name="Oval 10"/>
          <p:cNvSpPr/>
          <p:nvPr/>
        </p:nvSpPr>
        <p:spPr>
          <a:xfrm>
            <a:off x="4807527" y="33397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6</a:t>
            </a:r>
          </a:p>
        </p:txBody>
      </p:sp>
      <p:sp>
        <p:nvSpPr>
          <p:cNvPr id="12" name="Oval 11"/>
          <p:cNvSpPr/>
          <p:nvPr/>
        </p:nvSpPr>
        <p:spPr>
          <a:xfrm>
            <a:off x="2819400" y="5168540"/>
            <a:ext cx="640080" cy="640080"/>
          </a:xfrm>
          <a:prstGeom prst="ellipse">
            <a:avLst/>
          </a:prstGeom>
          <a:solidFill>
            <a:srgbClr val="00206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7</a:t>
            </a:r>
          </a:p>
        </p:txBody>
      </p:sp>
      <p:cxnSp>
        <p:nvCxnSpPr>
          <p:cNvPr id="13" name="Straight Connector 12"/>
          <p:cNvCxnSpPr>
            <a:stCxn id="6" idx="6"/>
            <a:endCxn id="7" idx="2"/>
          </p:cNvCxnSpPr>
          <p:nvPr/>
        </p:nvCxnSpPr>
        <p:spPr>
          <a:xfrm>
            <a:off x="1325880" y="1830980"/>
            <a:ext cx="134112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7" idx="6"/>
            <a:endCxn id="8" idx="2"/>
          </p:cNvCxnSpPr>
          <p:nvPr/>
        </p:nvCxnSpPr>
        <p:spPr>
          <a:xfrm>
            <a:off x="3307080" y="1830980"/>
            <a:ext cx="141732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9" idx="6"/>
            <a:endCxn id="10" idx="2"/>
          </p:cNvCxnSpPr>
          <p:nvPr/>
        </p:nvCxnSpPr>
        <p:spPr>
          <a:xfrm>
            <a:off x="1325880" y="3659780"/>
            <a:ext cx="1417320"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0" idx="6"/>
            <a:endCxn id="11" idx="2"/>
          </p:cNvCxnSpPr>
          <p:nvPr/>
        </p:nvCxnSpPr>
        <p:spPr>
          <a:xfrm>
            <a:off x="3383280" y="3659780"/>
            <a:ext cx="1424247" cy="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6" idx="4"/>
            <a:endCxn id="9" idx="0"/>
          </p:cNvCxnSpPr>
          <p:nvPr/>
        </p:nvCxnSpPr>
        <p:spPr>
          <a:xfrm>
            <a:off x="1005840" y="2151020"/>
            <a:ext cx="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7" idx="4"/>
          </p:cNvCxnSpPr>
          <p:nvPr/>
        </p:nvCxnSpPr>
        <p:spPr>
          <a:xfrm>
            <a:off x="2987040" y="2151020"/>
            <a:ext cx="2286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8" idx="4"/>
          </p:cNvCxnSpPr>
          <p:nvPr/>
        </p:nvCxnSpPr>
        <p:spPr>
          <a:xfrm>
            <a:off x="5044440" y="2151020"/>
            <a:ext cx="2286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9" idx="7"/>
            <a:endCxn id="7" idx="3"/>
          </p:cNvCxnSpPr>
          <p:nvPr/>
        </p:nvCxnSpPr>
        <p:spPr>
          <a:xfrm flipV="1">
            <a:off x="1232142" y="2057282"/>
            <a:ext cx="1528596" cy="1376196"/>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0" idx="7"/>
            <a:endCxn id="8" idx="3"/>
          </p:cNvCxnSpPr>
          <p:nvPr/>
        </p:nvCxnSpPr>
        <p:spPr>
          <a:xfrm flipV="1">
            <a:off x="3289542" y="2057282"/>
            <a:ext cx="1528596" cy="1376196"/>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1" idx="3"/>
            <a:endCxn id="12" idx="6"/>
          </p:cNvCxnSpPr>
          <p:nvPr/>
        </p:nvCxnSpPr>
        <p:spPr>
          <a:xfrm flipH="1">
            <a:off x="3459480" y="3886082"/>
            <a:ext cx="1441785" cy="1602498"/>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9" idx="4"/>
            <a:endCxn id="12" idx="2"/>
          </p:cNvCxnSpPr>
          <p:nvPr/>
        </p:nvCxnSpPr>
        <p:spPr>
          <a:xfrm>
            <a:off x="1005840" y="3979820"/>
            <a:ext cx="1813560" cy="150876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10" idx="4"/>
          </p:cNvCxnSpPr>
          <p:nvPr/>
        </p:nvCxnSpPr>
        <p:spPr>
          <a:xfrm>
            <a:off x="3063240" y="3979820"/>
            <a:ext cx="22860" cy="1188720"/>
          </a:xfrm>
          <a:prstGeom prst="line">
            <a:avLst/>
          </a:prstGeom>
          <a:ln w="285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735874" y="2425340"/>
            <a:ext cx="361950" cy="461665"/>
          </a:xfrm>
          <a:prstGeom prst="rect">
            <a:avLst/>
          </a:prstGeom>
          <a:noFill/>
        </p:spPr>
        <p:txBody>
          <a:bodyPr wrap="square" rtlCol="0">
            <a:spAutoFit/>
          </a:bodyPr>
          <a:lstStyle/>
          <a:p>
            <a:r>
              <a:rPr lang="en-US" sz="2400" dirty="0">
                <a:solidFill>
                  <a:srgbClr val="AD1457"/>
                </a:solidFill>
              </a:rPr>
              <a:t>4</a:t>
            </a:r>
          </a:p>
        </p:txBody>
      </p:sp>
      <p:sp>
        <p:nvSpPr>
          <p:cNvPr id="4" name="TextBox 3"/>
          <p:cNvSpPr txBox="1"/>
          <p:nvPr/>
        </p:nvSpPr>
        <p:spPr>
          <a:xfrm>
            <a:off x="8595358" y="2364378"/>
            <a:ext cx="3135088" cy="430887"/>
          </a:xfrm>
          <a:prstGeom prst="rect">
            <a:avLst/>
          </a:prstGeom>
          <a:noFill/>
        </p:spPr>
        <p:txBody>
          <a:bodyPr wrap="square" rtlCol="0">
            <a:spAutoFit/>
          </a:bodyPr>
          <a:lstStyle/>
          <a:p>
            <a:r>
              <a:rPr lang="en-US" sz="2200" b="1" dirty="0">
                <a:solidFill>
                  <a:srgbClr val="92D050"/>
                </a:solidFill>
              </a:rPr>
              <a:t>{1, 4}, {2, 3} {2, 4}, {2, 5}</a:t>
            </a:r>
          </a:p>
        </p:txBody>
      </p:sp>
      <p:sp>
        <p:nvSpPr>
          <p:cNvPr id="26" name="TextBox 25"/>
          <p:cNvSpPr txBox="1"/>
          <p:nvPr/>
        </p:nvSpPr>
        <p:spPr>
          <a:xfrm>
            <a:off x="2076450" y="2497075"/>
            <a:ext cx="361950" cy="461665"/>
          </a:xfrm>
          <a:prstGeom prst="rect">
            <a:avLst/>
          </a:prstGeom>
          <a:noFill/>
        </p:spPr>
        <p:txBody>
          <a:bodyPr wrap="square" rtlCol="0">
            <a:spAutoFit/>
          </a:bodyPr>
          <a:lstStyle/>
          <a:p>
            <a:r>
              <a:rPr lang="en-US" sz="2400" dirty="0">
                <a:solidFill>
                  <a:srgbClr val="AD1457"/>
                </a:solidFill>
              </a:rPr>
              <a:t>6</a:t>
            </a:r>
          </a:p>
        </p:txBody>
      </p:sp>
      <p:sp>
        <p:nvSpPr>
          <p:cNvPr id="27" name="TextBox 26"/>
          <p:cNvSpPr txBox="1"/>
          <p:nvPr/>
        </p:nvSpPr>
        <p:spPr>
          <a:xfrm>
            <a:off x="2990850" y="2494843"/>
            <a:ext cx="361950" cy="461665"/>
          </a:xfrm>
          <a:prstGeom prst="rect">
            <a:avLst/>
          </a:prstGeom>
          <a:noFill/>
        </p:spPr>
        <p:txBody>
          <a:bodyPr wrap="square" rtlCol="0">
            <a:spAutoFit/>
          </a:bodyPr>
          <a:lstStyle/>
          <a:p>
            <a:r>
              <a:rPr lang="en-US" sz="2400" dirty="0">
                <a:solidFill>
                  <a:srgbClr val="AD1457"/>
                </a:solidFill>
              </a:rPr>
              <a:t>4</a:t>
            </a:r>
          </a:p>
        </p:txBody>
      </p:sp>
      <p:sp>
        <p:nvSpPr>
          <p:cNvPr id="28" name="TextBox 27"/>
          <p:cNvSpPr txBox="1"/>
          <p:nvPr/>
        </p:nvSpPr>
        <p:spPr>
          <a:xfrm>
            <a:off x="4114800" y="2497075"/>
            <a:ext cx="361950" cy="461665"/>
          </a:xfrm>
          <a:prstGeom prst="rect">
            <a:avLst/>
          </a:prstGeom>
          <a:noFill/>
        </p:spPr>
        <p:txBody>
          <a:bodyPr wrap="square" rtlCol="0">
            <a:spAutoFit/>
          </a:bodyPr>
          <a:lstStyle/>
          <a:p>
            <a:r>
              <a:rPr lang="en-US" sz="2400" dirty="0">
                <a:solidFill>
                  <a:srgbClr val="AD1457"/>
                </a:solidFill>
              </a:rPr>
              <a:t>5</a:t>
            </a:r>
          </a:p>
        </p:txBody>
      </p:sp>
      <p:sp>
        <p:nvSpPr>
          <p:cNvPr id="29" name="TextBox 28"/>
          <p:cNvSpPr txBox="1"/>
          <p:nvPr/>
        </p:nvSpPr>
        <p:spPr>
          <a:xfrm>
            <a:off x="4982935" y="2420875"/>
            <a:ext cx="361950" cy="461665"/>
          </a:xfrm>
          <a:prstGeom prst="rect">
            <a:avLst/>
          </a:prstGeom>
          <a:noFill/>
        </p:spPr>
        <p:txBody>
          <a:bodyPr wrap="square" rtlCol="0">
            <a:spAutoFit/>
          </a:bodyPr>
          <a:lstStyle/>
          <a:p>
            <a:r>
              <a:rPr lang="en-US" sz="2400" dirty="0">
                <a:solidFill>
                  <a:srgbClr val="AD1457"/>
                </a:solidFill>
              </a:rPr>
              <a:t>6</a:t>
            </a:r>
          </a:p>
        </p:txBody>
      </p:sp>
      <p:sp>
        <p:nvSpPr>
          <p:cNvPr id="30" name="TextBox 29"/>
          <p:cNvSpPr txBox="1"/>
          <p:nvPr/>
        </p:nvSpPr>
        <p:spPr>
          <a:xfrm>
            <a:off x="2057400" y="3568340"/>
            <a:ext cx="361950" cy="461665"/>
          </a:xfrm>
          <a:prstGeom prst="rect">
            <a:avLst/>
          </a:prstGeom>
          <a:noFill/>
        </p:spPr>
        <p:txBody>
          <a:bodyPr wrap="square" rtlCol="0">
            <a:spAutoFit/>
          </a:bodyPr>
          <a:lstStyle/>
          <a:p>
            <a:r>
              <a:rPr lang="en-US" sz="2400" dirty="0">
                <a:solidFill>
                  <a:srgbClr val="AD1457"/>
                </a:solidFill>
              </a:rPr>
              <a:t>3</a:t>
            </a:r>
          </a:p>
        </p:txBody>
      </p:sp>
      <p:sp>
        <p:nvSpPr>
          <p:cNvPr id="31" name="TextBox 30"/>
          <p:cNvSpPr txBox="1"/>
          <p:nvPr/>
        </p:nvSpPr>
        <p:spPr>
          <a:xfrm>
            <a:off x="3981450" y="3568340"/>
            <a:ext cx="361950" cy="461665"/>
          </a:xfrm>
          <a:prstGeom prst="rect">
            <a:avLst/>
          </a:prstGeom>
          <a:noFill/>
        </p:spPr>
        <p:txBody>
          <a:bodyPr wrap="square" rtlCol="0">
            <a:spAutoFit/>
          </a:bodyPr>
          <a:lstStyle/>
          <a:p>
            <a:r>
              <a:rPr lang="en-US" sz="2400" dirty="0">
                <a:solidFill>
                  <a:srgbClr val="AD1457"/>
                </a:solidFill>
              </a:rPr>
              <a:t>8</a:t>
            </a:r>
          </a:p>
        </p:txBody>
      </p:sp>
      <p:sp>
        <p:nvSpPr>
          <p:cNvPr id="32" name="TextBox 31"/>
          <p:cNvSpPr txBox="1"/>
          <p:nvPr/>
        </p:nvSpPr>
        <p:spPr>
          <a:xfrm>
            <a:off x="1600200" y="4554475"/>
            <a:ext cx="361950" cy="461665"/>
          </a:xfrm>
          <a:prstGeom prst="rect">
            <a:avLst/>
          </a:prstGeom>
          <a:noFill/>
        </p:spPr>
        <p:txBody>
          <a:bodyPr wrap="square" rtlCol="0">
            <a:spAutoFit/>
          </a:bodyPr>
          <a:lstStyle/>
          <a:p>
            <a:r>
              <a:rPr lang="en-US" sz="2400" dirty="0">
                <a:solidFill>
                  <a:srgbClr val="AD1457"/>
                </a:solidFill>
              </a:rPr>
              <a:t>4</a:t>
            </a:r>
          </a:p>
        </p:txBody>
      </p:sp>
      <p:sp>
        <p:nvSpPr>
          <p:cNvPr id="33" name="TextBox 32"/>
          <p:cNvSpPr txBox="1"/>
          <p:nvPr/>
        </p:nvSpPr>
        <p:spPr>
          <a:xfrm>
            <a:off x="3067050" y="4249675"/>
            <a:ext cx="361950" cy="461665"/>
          </a:xfrm>
          <a:prstGeom prst="rect">
            <a:avLst/>
          </a:prstGeom>
          <a:noFill/>
        </p:spPr>
        <p:txBody>
          <a:bodyPr wrap="square" rtlCol="0">
            <a:spAutoFit/>
          </a:bodyPr>
          <a:lstStyle/>
          <a:p>
            <a:r>
              <a:rPr lang="en-US" sz="2400" dirty="0">
                <a:solidFill>
                  <a:srgbClr val="AD1457"/>
                </a:solidFill>
              </a:rPr>
              <a:t>7</a:t>
            </a:r>
          </a:p>
        </p:txBody>
      </p:sp>
      <p:sp>
        <p:nvSpPr>
          <p:cNvPr id="34" name="TextBox 33"/>
          <p:cNvSpPr txBox="1"/>
          <p:nvPr/>
        </p:nvSpPr>
        <p:spPr>
          <a:xfrm>
            <a:off x="4191000" y="4482740"/>
            <a:ext cx="361950" cy="461665"/>
          </a:xfrm>
          <a:prstGeom prst="rect">
            <a:avLst/>
          </a:prstGeom>
          <a:noFill/>
        </p:spPr>
        <p:txBody>
          <a:bodyPr wrap="square" rtlCol="0">
            <a:spAutoFit/>
          </a:bodyPr>
          <a:lstStyle/>
          <a:p>
            <a:r>
              <a:rPr lang="en-US" sz="2400" dirty="0">
                <a:solidFill>
                  <a:srgbClr val="AD1457"/>
                </a:solidFill>
              </a:rPr>
              <a:t>3</a:t>
            </a:r>
          </a:p>
        </p:txBody>
      </p:sp>
      <p:sp>
        <p:nvSpPr>
          <p:cNvPr id="35" name="TextBox 34"/>
          <p:cNvSpPr txBox="1"/>
          <p:nvPr/>
        </p:nvSpPr>
        <p:spPr>
          <a:xfrm>
            <a:off x="1924050" y="1434740"/>
            <a:ext cx="361950" cy="461665"/>
          </a:xfrm>
          <a:prstGeom prst="rect">
            <a:avLst/>
          </a:prstGeom>
          <a:noFill/>
        </p:spPr>
        <p:txBody>
          <a:bodyPr wrap="square" rtlCol="0">
            <a:spAutoFit/>
          </a:bodyPr>
          <a:lstStyle/>
          <a:p>
            <a:r>
              <a:rPr lang="en-US" sz="2400" dirty="0">
                <a:solidFill>
                  <a:srgbClr val="AD1457"/>
                </a:solidFill>
              </a:rPr>
              <a:t>1</a:t>
            </a:r>
          </a:p>
        </p:txBody>
      </p:sp>
      <p:sp>
        <p:nvSpPr>
          <p:cNvPr id="36" name="TextBox 35"/>
          <p:cNvSpPr txBox="1"/>
          <p:nvPr/>
        </p:nvSpPr>
        <p:spPr>
          <a:xfrm>
            <a:off x="3905250" y="1430275"/>
            <a:ext cx="361950" cy="461665"/>
          </a:xfrm>
          <a:prstGeom prst="rect">
            <a:avLst/>
          </a:prstGeom>
          <a:noFill/>
        </p:spPr>
        <p:txBody>
          <a:bodyPr wrap="square" rtlCol="0">
            <a:spAutoFit/>
          </a:bodyPr>
          <a:lstStyle/>
          <a:p>
            <a:r>
              <a:rPr lang="en-US" sz="2400" dirty="0">
                <a:solidFill>
                  <a:srgbClr val="AD1457"/>
                </a:solidFill>
              </a:rPr>
              <a:t>2</a:t>
            </a:r>
          </a:p>
        </p:txBody>
      </p:sp>
      <p:sp>
        <p:nvSpPr>
          <p:cNvPr id="2" name="TextBox 1"/>
          <p:cNvSpPr txBox="1"/>
          <p:nvPr/>
        </p:nvSpPr>
        <p:spPr>
          <a:xfrm>
            <a:off x="8608423" y="1619794"/>
            <a:ext cx="1554480" cy="430887"/>
          </a:xfrm>
          <a:prstGeom prst="rect">
            <a:avLst/>
          </a:prstGeom>
          <a:noFill/>
        </p:spPr>
        <p:txBody>
          <a:bodyPr wrap="square" rtlCol="0">
            <a:spAutoFit/>
          </a:bodyPr>
          <a:lstStyle/>
          <a:p>
            <a:pPr lvl="0"/>
            <a:r>
              <a:rPr lang="en-US" sz="2200" b="1" dirty="0">
                <a:solidFill>
                  <a:srgbClr val="92D050"/>
                </a:solidFill>
              </a:rPr>
              <a:t>{1, 2}, {1, 4}</a:t>
            </a:r>
            <a:endParaRPr lang="en-US" sz="2200" dirty="0"/>
          </a:p>
        </p:txBody>
      </p:sp>
      <p:sp>
        <p:nvSpPr>
          <p:cNvPr id="37" name="TextBox 36"/>
          <p:cNvSpPr txBox="1"/>
          <p:nvPr/>
        </p:nvSpPr>
        <p:spPr>
          <a:xfrm>
            <a:off x="6107975" y="165247"/>
            <a:ext cx="851515" cy="400110"/>
          </a:xfrm>
          <a:prstGeom prst="rect">
            <a:avLst/>
          </a:prstGeom>
          <a:noFill/>
          <a:ln w="28575">
            <a:solidFill>
              <a:schemeClr val="accent5"/>
            </a:solidFill>
          </a:ln>
        </p:spPr>
        <p:txBody>
          <a:bodyPr wrap="none" rtlCol="0">
            <a:spAutoFit/>
          </a:bodyPr>
          <a:lstStyle/>
          <a:p>
            <a:r>
              <a:rPr lang="en-IN" sz="2000" b="1" dirty="0">
                <a:solidFill>
                  <a:schemeClr val="bg1"/>
                </a:solidFill>
              </a:rPr>
              <a:t>Step:2</a:t>
            </a:r>
            <a:endParaRPr lang="en-US" sz="2000" b="1" dirty="0">
              <a:solidFill>
                <a:schemeClr val="bg1"/>
              </a:solidFill>
            </a:endParaRPr>
          </a:p>
        </p:txBody>
      </p:sp>
      <p:sp>
        <p:nvSpPr>
          <p:cNvPr id="38" name="TextBox 37"/>
          <p:cNvSpPr txBox="1"/>
          <p:nvPr/>
        </p:nvSpPr>
        <p:spPr>
          <a:xfrm>
            <a:off x="6990678" y="134470"/>
            <a:ext cx="5120640" cy="430887"/>
          </a:xfrm>
          <a:prstGeom prst="rect">
            <a:avLst/>
          </a:prstGeom>
          <a:noFill/>
        </p:spPr>
        <p:txBody>
          <a:bodyPr wrap="square" rtlCol="0">
            <a:spAutoFit/>
          </a:bodyPr>
          <a:lstStyle/>
          <a:p>
            <a:pPr algn="just"/>
            <a:r>
              <a:rPr lang="en-US" sz="2200" b="1" dirty="0">
                <a:solidFill>
                  <a:schemeClr val="accent5"/>
                </a:solidFill>
              </a:rPr>
              <a:t>Find an edge with minimum weight.</a:t>
            </a:r>
          </a:p>
        </p:txBody>
      </p:sp>
      <p:graphicFrame>
        <p:nvGraphicFramePr>
          <p:cNvPr id="39" name="Table 38"/>
          <p:cNvGraphicFramePr>
            <a:graphicFrameLocks noGrp="1"/>
          </p:cNvGraphicFramePr>
          <p:nvPr>
            <p:extLst>
              <p:ext uri="{D42A27DB-BD31-4B8C-83A1-F6EECF244321}">
                <p14:modId xmlns:p14="http://schemas.microsoft.com/office/powerpoint/2010/main" val="3986858454"/>
              </p:ext>
            </p:extLst>
          </p:nvPr>
        </p:nvGraphicFramePr>
        <p:xfrm>
          <a:off x="6570616" y="919233"/>
          <a:ext cx="5185955" cy="5154994"/>
        </p:xfrm>
        <a:graphic>
          <a:graphicData uri="http://schemas.openxmlformats.org/drawingml/2006/table">
            <a:tbl>
              <a:tblPr firstRow="1" bandRow="1">
                <a:tableStyleId>{5C22544A-7EE6-4342-B048-85BDC9FD1C3A}</a:tableStyleId>
              </a:tblPr>
              <a:tblGrid>
                <a:gridCol w="2028104">
                  <a:extLst>
                    <a:ext uri="{9D8B030D-6E8A-4147-A177-3AD203B41FA5}">
                      <a16:colId xmlns:a16="http://schemas.microsoft.com/office/drawing/2014/main" val="1582560717"/>
                    </a:ext>
                  </a:extLst>
                </a:gridCol>
                <a:gridCol w="3157851">
                  <a:extLst>
                    <a:ext uri="{9D8B030D-6E8A-4147-A177-3AD203B41FA5}">
                      <a16:colId xmlns:a16="http://schemas.microsoft.com/office/drawing/2014/main" val="511824500"/>
                    </a:ext>
                  </a:extLst>
                </a:gridCol>
              </a:tblGrid>
              <a:tr h="695590">
                <a:tc>
                  <a:txBody>
                    <a:bodyPr/>
                    <a:lstStyle/>
                    <a:p>
                      <a:pPr algn="ctr"/>
                      <a:r>
                        <a:rPr lang="en-US" dirty="0">
                          <a:solidFill>
                            <a:schemeClr val="accent2">
                              <a:lumMod val="60000"/>
                              <a:lumOff val="40000"/>
                            </a:schemeClr>
                          </a:solidFill>
                        </a:rPr>
                        <a:t>Node - Set B</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solidFill>
                            <a:schemeClr val="accent2">
                              <a:lumMod val="60000"/>
                              <a:lumOff val="40000"/>
                            </a:schemeClr>
                          </a:solidFill>
                        </a:rPr>
                        <a:t>Edges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6574443"/>
                  </a:ext>
                </a:extLst>
              </a:tr>
              <a:tr h="743234">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en-US" sz="2200" b="1" i="0" u="none" strike="noStrike" kern="1200" cap="none" normalizeH="0" baseline="0" dirty="0">
                          <a:ln>
                            <a:noFill/>
                          </a:ln>
                          <a:solidFill>
                            <a:srgbClr val="92D050"/>
                          </a:solidFill>
                          <a:effectLst/>
                          <a:latin typeface="+mn-lt"/>
                          <a:ea typeface="+mn-ea"/>
                          <a:cs typeface="+mn-cs"/>
                        </a:rPr>
                        <a:t>1</a:t>
                      </a: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algn="l">
                        <a:defRPr sz="2800">
                          <a:solidFill>
                            <a:schemeClr val="tx1"/>
                          </a:solidFill>
                          <a:latin typeface="Times New Roman" panose="02020603050405020304" pitchFamily="18" charset="0"/>
                        </a:defRPr>
                      </a:lvl1pPr>
                      <a:lvl2pPr algn="l">
                        <a:defRPr sz="2400">
                          <a:solidFill>
                            <a:schemeClr val="tx1"/>
                          </a:solidFill>
                          <a:latin typeface="Times New Roman" panose="02020603050405020304" pitchFamily="18" charset="0"/>
                        </a:defRPr>
                      </a:lvl2pPr>
                      <a:lvl3pPr algn="l">
                        <a:defRPr sz="2000">
                          <a:solidFill>
                            <a:schemeClr val="tx1"/>
                          </a:solidFill>
                          <a:latin typeface="Times New Roman" panose="02020603050405020304" pitchFamily="18" charset="0"/>
                        </a:defRPr>
                      </a:lvl3pPr>
                      <a:lvl4pPr algn="l">
                        <a:defRPr>
                          <a:solidFill>
                            <a:schemeClr val="tx1"/>
                          </a:solidFill>
                          <a:latin typeface="Times New Roman" panose="02020603050405020304" pitchFamily="18" charset="0"/>
                        </a:defRPr>
                      </a:lvl4pPr>
                      <a:lvl5pPr algn="l">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lang="en-US" sz="2200" b="1" dirty="0">
                        <a:solidFill>
                          <a:srgbClr val="92D050"/>
                        </a:solidFill>
                        <a:latin typeface="+mn-lt"/>
                      </a:endParaRPr>
                    </a:p>
                  </a:txBody>
                  <a:tcP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604744"/>
                  </a:ext>
                </a:extLst>
              </a:tr>
              <a:tr h="743234">
                <a:tc>
                  <a:txBody>
                    <a:bodyPr/>
                    <a:lstStyle/>
                    <a:p>
                      <a:pPr algn="ctr"/>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7217928"/>
                  </a:ext>
                </a:extLst>
              </a:tr>
              <a:tr h="743234">
                <a:tc>
                  <a:txBody>
                    <a:bodyPr/>
                    <a:lstStyle/>
                    <a:p>
                      <a:pPr algn="ctr"/>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4933460"/>
                  </a:ext>
                </a:extLst>
              </a:tr>
              <a:tr h="743234">
                <a:tc>
                  <a:txBody>
                    <a:bodyPr/>
                    <a:lstStyle/>
                    <a:p>
                      <a:pPr algn="ctr"/>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772278"/>
                  </a:ext>
                </a:extLst>
              </a:tr>
              <a:tr h="743234">
                <a:tc>
                  <a:txBody>
                    <a:bodyPr/>
                    <a:lstStyle/>
                    <a:p>
                      <a:pPr algn="ctr"/>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955693"/>
                  </a:ext>
                </a:extLst>
              </a:tr>
              <a:tr h="743234">
                <a:tc>
                  <a:txBody>
                    <a:bodyPr/>
                    <a:lstStyle/>
                    <a:p>
                      <a:pPr algn="ctr"/>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2200" b="1" dirty="0">
                        <a:solidFill>
                          <a:srgbClr val="92D050"/>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8600405"/>
                  </a:ext>
                </a:extLst>
              </a:tr>
            </a:tbl>
          </a:graphicData>
        </a:graphic>
      </p:graphicFrame>
      <p:cxnSp>
        <p:nvCxnSpPr>
          <p:cNvPr id="40" name="Straight Connector 39"/>
          <p:cNvCxnSpPr/>
          <p:nvPr/>
        </p:nvCxnSpPr>
        <p:spPr>
          <a:xfrm>
            <a:off x="9380347" y="1841597"/>
            <a:ext cx="640080"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10034237" y="2584003"/>
            <a:ext cx="1371600"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8595360" y="5342708"/>
            <a:ext cx="3108960" cy="731520"/>
          </a:xfrm>
          <a:prstGeom prst="rect">
            <a:avLst/>
          </a:prstGeom>
          <a:noFill/>
        </p:spPr>
        <p:txBody>
          <a:bodyPr wrap="square" rtlCol="0">
            <a:spAutoFit/>
          </a:bodyPr>
          <a:lstStyle/>
          <a:p>
            <a:r>
              <a:rPr lang="en-US" sz="2200" b="1" dirty="0">
                <a:solidFill>
                  <a:srgbClr val="92D050"/>
                </a:solidFill>
              </a:rPr>
              <a:t>{2,4} {2,5} {3,5} {3,6} {5,6} {5,7}  {6,7}</a:t>
            </a:r>
            <a:endParaRPr lang="en-US" sz="2200" dirty="0"/>
          </a:p>
        </p:txBody>
      </p:sp>
      <p:sp>
        <p:nvSpPr>
          <p:cNvPr id="51" name="TextBox 50"/>
          <p:cNvSpPr txBox="1"/>
          <p:nvPr/>
        </p:nvSpPr>
        <p:spPr>
          <a:xfrm>
            <a:off x="8595360" y="3095897"/>
            <a:ext cx="3108960" cy="769441"/>
          </a:xfrm>
          <a:prstGeom prst="rect">
            <a:avLst/>
          </a:prstGeom>
          <a:noFill/>
        </p:spPr>
        <p:txBody>
          <a:bodyPr wrap="square" rtlCol="0">
            <a:spAutoFit/>
          </a:bodyPr>
          <a:lstStyle/>
          <a:p>
            <a:r>
              <a:rPr lang="en-US" sz="2200" b="1" dirty="0">
                <a:solidFill>
                  <a:srgbClr val="92D050"/>
                </a:solidFill>
              </a:rPr>
              <a:t>{1,4}, {2,4}, {2,5}, {3,5}, {3,6} </a:t>
            </a:r>
            <a:endParaRPr lang="en-US" sz="2200" dirty="0"/>
          </a:p>
        </p:txBody>
      </p:sp>
      <p:sp>
        <p:nvSpPr>
          <p:cNvPr id="53" name="TextBox 52"/>
          <p:cNvSpPr txBox="1"/>
          <p:nvPr/>
        </p:nvSpPr>
        <p:spPr>
          <a:xfrm>
            <a:off x="8595359" y="4598125"/>
            <a:ext cx="3122023" cy="769441"/>
          </a:xfrm>
          <a:prstGeom prst="rect">
            <a:avLst/>
          </a:prstGeom>
          <a:noFill/>
        </p:spPr>
        <p:txBody>
          <a:bodyPr wrap="square" rtlCol="0">
            <a:spAutoFit/>
          </a:bodyPr>
          <a:lstStyle/>
          <a:p>
            <a:r>
              <a:rPr lang="en-US" sz="2200" b="1" dirty="0">
                <a:solidFill>
                  <a:srgbClr val="92D050"/>
                </a:solidFill>
              </a:rPr>
              <a:t>{2,4} {2,5} {3,5} {3,6}  {4,7} {5,6} {5,7}</a:t>
            </a:r>
          </a:p>
        </p:txBody>
      </p:sp>
      <p:cxnSp>
        <p:nvCxnSpPr>
          <p:cNvPr id="42" name="Straight Connector 41"/>
          <p:cNvCxnSpPr/>
          <p:nvPr/>
        </p:nvCxnSpPr>
        <p:spPr>
          <a:xfrm flipV="1">
            <a:off x="8662052" y="2584737"/>
            <a:ext cx="640080"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8595359" y="3840479"/>
            <a:ext cx="3148149" cy="769441"/>
          </a:xfrm>
          <a:prstGeom prst="rect">
            <a:avLst/>
          </a:prstGeom>
          <a:noFill/>
        </p:spPr>
        <p:txBody>
          <a:bodyPr wrap="square" rtlCol="0">
            <a:spAutoFit/>
          </a:bodyPr>
          <a:lstStyle/>
          <a:p>
            <a:r>
              <a:rPr lang="en-US" sz="2200" b="1" dirty="0">
                <a:solidFill>
                  <a:srgbClr val="92D050"/>
                </a:solidFill>
              </a:rPr>
              <a:t>{2,4} {2,5} {3,5} {3,6}  {4,5} {4,7}</a:t>
            </a:r>
          </a:p>
        </p:txBody>
      </p:sp>
      <p:cxnSp>
        <p:nvCxnSpPr>
          <p:cNvPr id="43" name="Straight Connector 42"/>
          <p:cNvCxnSpPr/>
          <p:nvPr/>
        </p:nvCxnSpPr>
        <p:spPr>
          <a:xfrm>
            <a:off x="8622167" y="3676818"/>
            <a:ext cx="640080"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9298285" y="3333208"/>
            <a:ext cx="1920240"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8619015" y="4398437"/>
            <a:ext cx="640080"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8665029" y="4807134"/>
            <a:ext cx="2286000"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8604566" y="4068431"/>
            <a:ext cx="2377440"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8620412" y="5141731"/>
            <a:ext cx="1188720"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8589931" y="5881959"/>
            <a:ext cx="640080"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8638945" y="5560425"/>
            <a:ext cx="2926080" cy="0"/>
          </a:xfrm>
          <a:prstGeom prst="line">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6975564" y="2377438"/>
            <a:ext cx="1280160" cy="430887"/>
          </a:xfrm>
          <a:prstGeom prst="rect">
            <a:avLst/>
          </a:prstGeom>
          <a:noFill/>
        </p:spPr>
        <p:txBody>
          <a:bodyPr wrap="square" rtlCol="0">
            <a:spAutoFit/>
          </a:bodyPr>
          <a:lstStyle/>
          <a:p>
            <a:pPr algn="ctr"/>
            <a:r>
              <a:rPr lang="en-US" sz="2200" b="1" dirty="0">
                <a:solidFill>
                  <a:srgbClr val="92D050"/>
                </a:solidFill>
              </a:rPr>
              <a:t>1, 2</a:t>
            </a:r>
          </a:p>
        </p:txBody>
      </p:sp>
      <p:sp>
        <p:nvSpPr>
          <p:cNvPr id="56" name="TextBox 55"/>
          <p:cNvSpPr txBox="1"/>
          <p:nvPr/>
        </p:nvSpPr>
        <p:spPr>
          <a:xfrm>
            <a:off x="6975564" y="3104604"/>
            <a:ext cx="1280160" cy="430887"/>
          </a:xfrm>
          <a:prstGeom prst="rect">
            <a:avLst/>
          </a:prstGeom>
          <a:noFill/>
        </p:spPr>
        <p:txBody>
          <a:bodyPr wrap="square" rtlCol="0">
            <a:spAutoFit/>
          </a:bodyPr>
          <a:lstStyle/>
          <a:p>
            <a:pPr algn="ctr"/>
            <a:r>
              <a:rPr lang="en-US" sz="2200" b="1" dirty="0">
                <a:solidFill>
                  <a:srgbClr val="92D050"/>
                </a:solidFill>
              </a:rPr>
              <a:t>1, 2, 3</a:t>
            </a:r>
          </a:p>
        </p:txBody>
      </p:sp>
      <p:sp>
        <p:nvSpPr>
          <p:cNvPr id="57" name="TextBox 56"/>
          <p:cNvSpPr txBox="1"/>
          <p:nvPr/>
        </p:nvSpPr>
        <p:spPr>
          <a:xfrm>
            <a:off x="6975564" y="3875313"/>
            <a:ext cx="1280160" cy="430887"/>
          </a:xfrm>
          <a:prstGeom prst="rect">
            <a:avLst/>
          </a:prstGeom>
          <a:noFill/>
        </p:spPr>
        <p:txBody>
          <a:bodyPr wrap="square" rtlCol="0">
            <a:spAutoFit/>
          </a:bodyPr>
          <a:lstStyle/>
          <a:p>
            <a:pPr algn="ctr"/>
            <a:r>
              <a:rPr lang="en-US" sz="2200" b="1" dirty="0">
                <a:solidFill>
                  <a:srgbClr val="92D050"/>
                </a:solidFill>
              </a:rPr>
              <a:t>1, 2, 3, 4</a:t>
            </a:r>
          </a:p>
        </p:txBody>
      </p:sp>
      <p:sp>
        <p:nvSpPr>
          <p:cNvPr id="58" name="TextBox 57"/>
          <p:cNvSpPr txBox="1"/>
          <p:nvPr/>
        </p:nvSpPr>
        <p:spPr>
          <a:xfrm>
            <a:off x="6884124" y="4628604"/>
            <a:ext cx="1463040" cy="457200"/>
          </a:xfrm>
          <a:prstGeom prst="rect">
            <a:avLst/>
          </a:prstGeom>
          <a:noFill/>
        </p:spPr>
        <p:txBody>
          <a:bodyPr wrap="square" rtlCol="0">
            <a:spAutoFit/>
          </a:bodyPr>
          <a:lstStyle/>
          <a:p>
            <a:pPr algn="ctr"/>
            <a:r>
              <a:rPr lang="en-US" sz="2200" b="1" dirty="0">
                <a:solidFill>
                  <a:srgbClr val="92D050"/>
                </a:solidFill>
              </a:rPr>
              <a:t>1, 2, 3, 4, 5</a:t>
            </a:r>
          </a:p>
        </p:txBody>
      </p:sp>
      <p:sp>
        <p:nvSpPr>
          <p:cNvPr id="59" name="TextBox 58"/>
          <p:cNvSpPr txBox="1"/>
          <p:nvPr/>
        </p:nvSpPr>
        <p:spPr>
          <a:xfrm>
            <a:off x="6746964" y="5347062"/>
            <a:ext cx="1737360" cy="430887"/>
          </a:xfrm>
          <a:prstGeom prst="rect">
            <a:avLst/>
          </a:prstGeom>
          <a:noFill/>
        </p:spPr>
        <p:txBody>
          <a:bodyPr wrap="square" rtlCol="0">
            <a:spAutoFit/>
          </a:bodyPr>
          <a:lstStyle/>
          <a:p>
            <a:pPr algn="ctr"/>
            <a:r>
              <a:rPr lang="en-US" sz="2200" b="1" dirty="0">
                <a:solidFill>
                  <a:srgbClr val="92D050"/>
                </a:solidFill>
              </a:rPr>
              <a:t>1, 2, 3, 4, 5, 7</a:t>
            </a:r>
          </a:p>
        </p:txBody>
      </p:sp>
      <p:sp>
        <p:nvSpPr>
          <p:cNvPr id="61" name="TextBox 60"/>
          <p:cNvSpPr txBox="1"/>
          <p:nvPr/>
        </p:nvSpPr>
        <p:spPr>
          <a:xfrm>
            <a:off x="6572793" y="6146164"/>
            <a:ext cx="2011680" cy="365760"/>
          </a:xfrm>
          <a:prstGeom prst="rect">
            <a:avLst/>
          </a:prstGeom>
          <a:solidFill>
            <a:srgbClr val="F9C5D7"/>
          </a:solidFill>
        </p:spPr>
        <p:txBody>
          <a:bodyPr wrap="square" rtlCol="0" anchor="ctr">
            <a:spAutoFit/>
          </a:bodyPr>
          <a:lstStyle/>
          <a:p>
            <a:pPr algn="ctr"/>
            <a:r>
              <a:rPr lang="en-US" sz="2200" b="1" dirty="0">
                <a:solidFill>
                  <a:srgbClr val="AD1457"/>
                </a:solidFill>
              </a:rPr>
              <a:t>1, 2, 3, 4, 5, 6, 7</a:t>
            </a:r>
          </a:p>
        </p:txBody>
      </p:sp>
    </p:spTree>
    <p:extLst>
      <p:ext uri="{BB962C8B-B14F-4D97-AF65-F5344CB8AC3E}">
        <p14:creationId xmlns:p14="http://schemas.microsoft.com/office/powerpoint/2010/main" val="1650685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500"/>
                                        <p:tgtEl>
                                          <p:spTgt spid="3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1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wipe(left)">
                                      <p:cBhvr>
                                        <p:cTn id="21" dur="500"/>
                                        <p:tgtEl>
                                          <p:spTgt spid="40"/>
                                        </p:tgtEl>
                                      </p:cBhvr>
                                    </p:animEffect>
                                  </p:childTnLst>
                                </p:cTn>
                              </p:par>
                            </p:childTnLst>
                          </p:cTn>
                        </p:par>
                        <p:par>
                          <p:cTn id="22" fill="hold">
                            <p:stCondLst>
                              <p:cond delay="500"/>
                            </p:stCondLst>
                            <p:childTnLst>
                              <p:par>
                                <p:cTn id="23" presetID="1" presetClass="emph" presetSubtype="2" fill="hold" nodeType="afterEffect">
                                  <p:stCondLst>
                                    <p:cond delay="0"/>
                                  </p:stCondLst>
                                  <p:childTnLst>
                                    <p:animClr clrSpc="rgb" dir="cw">
                                      <p:cBhvr>
                                        <p:cTn id="24" dur="750" fill="hold"/>
                                        <p:tgtEl>
                                          <p:spTgt spid="6"/>
                                        </p:tgtEl>
                                        <p:attrNameLst>
                                          <p:attrName>fillcolor</p:attrName>
                                        </p:attrNameLst>
                                      </p:cBhvr>
                                      <p:to>
                                        <a:srgbClr val="8BC145"/>
                                      </p:to>
                                    </p:animClr>
                                    <p:set>
                                      <p:cBhvr>
                                        <p:cTn id="25" dur="750" fill="hold"/>
                                        <p:tgtEl>
                                          <p:spTgt spid="6"/>
                                        </p:tgtEl>
                                        <p:attrNameLst>
                                          <p:attrName>fill.type</p:attrName>
                                        </p:attrNameLst>
                                      </p:cBhvr>
                                      <p:to>
                                        <p:strVal val="solid"/>
                                      </p:to>
                                    </p:set>
                                    <p:set>
                                      <p:cBhvr>
                                        <p:cTn id="26" dur="750" fill="hold"/>
                                        <p:tgtEl>
                                          <p:spTgt spid="6"/>
                                        </p:tgtEl>
                                        <p:attrNameLst>
                                          <p:attrName>fill.on</p:attrName>
                                        </p:attrNameLst>
                                      </p:cBhvr>
                                      <p:to>
                                        <p:strVal val="true"/>
                                      </p:to>
                                    </p:set>
                                  </p:childTnLst>
                                </p:cTn>
                              </p:par>
                            </p:childTnLst>
                          </p:cTn>
                        </p:par>
                        <p:par>
                          <p:cTn id="27" fill="hold">
                            <p:stCondLst>
                              <p:cond delay="1250"/>
                            </p:stCondLst>
                            <p:childTnLst>
                              <p:par>
                                <p:cTn id="28" presetID="7" presetClass="emph" presetSubtype="2" fill="hold" nodeType="afterEffect">
                                  <p:stCondLst>
                                    <p:cond delay="0"/>
                                  </p:stCondLst>
                                  <p:childTnLst>
                                    <p:animClr clrSpc="rgb" dir="cw">
                                      <p:cBhvr>
                                        <p:cTn id="29" dur="750" fill="hold"/>
                                        <p:tgtEl>
                                          <p:spTgt spid="13"/>
                                        </p:tgtEl>
                                        <p:attrNameLst>
                                          <p:attrName>stroke.color</p:attrName>
                                        </p:attrNameLst>
                                      </p:cBhvr>
                                      <p:to>
                                        <a:srgbClr val="B84742"/>
                                      </p:to>
                                    </p:animClr>
                                    <p:set>
                                      <p:cBhvr>
                                        <p:cTn id="30" dur="750" fill="hold"/>
                                        <p:tgtEl>
                                          <p:spTgt spid="13"/>
                                        </p:tgtEl>
                                        <p:attrNameLst>
                                          <p:attrName>stroke.on</p:attrName>
                                        </p:attrNameLst>
                                      </p:cBhvr>
                                      <p:to>
                                        <p:strVal val="true"/>
                                      </p:to>
                                    </p:set>
                                  </p:childTnLst>
                                </p:cTn>
                              </p:par>
                            </p:childTnLst>
                          </p:cTn>
                        </p:par>
                        <p:par>
                          <p:cTn id="31" fill="hold">
                            <p:stCondLst>
                              <p:cond delay="2000"/>
                            </p:stCondLst>
                            <p:childTnLst>
                              <p:par>
                                <p:cTn id="32" presetID="1" presetClass="emph" presetSubtype="2" fill="hold" nodeType="afterEffect">
                                  <p:stCondLst>
                                    <p:cond delay="0"/>
                                  </p:stCondLst>
                                  <p:childTnLst>
                                    <p:animClr clrSpc="rgb" dir="cw">
                                      <p:cBhvr>
                                        <p:cTn id="33" dur="750" fill="hold"/>
                                        <p:tgtEl>
                                          <p:spTgt spid="7"/>
                                        </p:tgtEl>
                                        <p:attrNameLst>
                                          <p:attrName>fillcolor</p:attrName>
                                        </p:attrNameLst>
                                      </p:cBhvr>
                                      <p:to>
                                        <a:srgbClr val="8BC145"/>
                                      </p:to>
                                    </p:animClr>
                                    <p:set>
                                      <p:cBhvr>
                                        <p:cTn id="34" dur="750" fill="hold"/>
                                        <p:tgtEl>
                                          <p:spTgt spid="7"/>
                                        </p:tgtEl>
                                        <p:attrNameLst>
                                          <p:attrName>fill.type</p:attrName>
                                        </p:attrNameLst>
                                      </p:cBhvr>
                                      <p:to>
                                        <p:strVal val="solid"/>
                                      </p:to>
                                    </p:set>
                                    <p:set>
                                      <p:cBhvr>
                                        <p:cTn id="35" dur="750" fill="hold"/>
                                        <p:tgtEl>
                                          <p:spTgt spid="7"/>
                                        </p:tgtEl>
                                        <p:attrNameLst>
                                          <p:attrName>fill.on</p:attrName>
                                        </p:attrNameLst>
                                      </p:cBhvr>
                                      <p:to>
                                        <p:strVal val="true"/>
                                      </p:to>
                                    </p:se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55"/>
                                        </p:tgtEl>
                                        <p:attrNameLst>
                                          <p:attrName>style.visibility</p:attrName>
                                        </p:attrNameLst>
                                      </p:cBhvr>
                                      <p:to>
                                        <p:strVal val="visible"/>
                                      </p:to>
                                    </p:set>
                                    <p:animEffect transition="in" filter="fade">
                                      <p:cBhvr>
                                        <p:cTn id="40" dur="500"/>
                                        <p:tgtEl>
                                          <p:spTgt spid="5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wipe(left)">
                                      <p:cBhvr>
                                        <p:cTn id="45" dur="2000"/>
                                        <p:tgtEl>
                                          <p:spTgt spid="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42"/>
                                        </p:tgtEl>
                                        <p:attrNameLst>
                                          <p:attrName>style.visibility</p:attrName>
                                        </p:attrNameLst>
                                      </p:cBhvr>
                                      <p:to>
                                        <p:strVal val="visible"/>
                                      </p:to>
                                    </p:set>
                                    <p:animEffect transition="in" filter="wipe(left)">
                                      <p:cBhvr>
                                        <p:cTn id="50" dur="500"/>
                                        <p:tgtEl>
                                          <p:spTgt spid="42"/>
                                        </p:tgtEl>
                                      </p:cBhvr>
                                    </p:animEffect>
                                  </p:childTnLst>
                                </p:cTn>
                              </p:par>
                              <p:par>
                                <p:cTn id="51" presetID="22" presetClass="entr" presetSubtype="8" fill="hold" nodeType="with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wipe(left)">
                                      <p:cBhvr>
                                        <p:cTn id="53" dur="500"/>
                                        <p:tgtEl>
                                          <p:spTgt spid="41"/>
                                        </p:tgtEl>
                                      </p:cBhvr>
                                    </p:animEffect>
                                  </p:childTnLst>
                                </p:cTn>
                              </p:par>
                            </p:childTnLst>
                          </p:cTn>
                        </p:par>
                        <p:par>
                          <p:cTn id="54" fill="hold">
                            <p:stCondLst>
                              <p:cond delay="500"/>
                            </p:stCondLst>
                            <p:childTnLst>
                              <p:par>
                                <p:cTn id="55" presetID="1" presetClass="emph" presetSubtype="2" fill="hold" nodeType="afterEffect">
                                  <p:stCondLst>
                                    <p:cond delay="0"/>
                                  </p:stCondLst>
                                  <p:childTnLst>
                                    <p:animClr clrSpc="rgb" dir="cw">
                                      <p:cBhvr>
                                        <p:cTn id="56" dur="750" fill="hold"/>
                                        <p:tgtEl>
                                          <p:spTgt spid="8"/>
                                        </p:tgtEl>
                                        <p:attrNameLst>
                                          <p:attrName>fillcolor</p:attrName>
                                        </p:attrNameLst>
                                      </p:cBhvr>
                                      <p:to>
                                        <a:srgbClr val="8BC145"/>
                                      </p:to>
                                    </p:animClr>
                                    <p:set>
                                      <p:cBhvr>
                                        <p:cTn id="57" dur="750" fill="hold"/>
                                        <p:tgtEl>
                                          <p:spTgt spid="8"/>
                                        </p:tgtEl>
                                        <p:attrNameLst>
                                          <p:attrName>fill.type</p:attrName>
                                        </p:attrNameLst>
                                      </p:cBhvr>
                                      <p:to>
                                        <p:strVal val="solid"/>
                                      </p:to>
                                    </p:set>
                                    <p:set>
                                      <p:cBhvr>
                                        <p:cTn id="58" dur="750" fill="hold"/>
                                        <p:tgtEl>
                                          <p:spTgt spid="8"/>
                                        </p:tgtEl>
                                        <p:attrNameLst>
                                          <p:attrName>fill.on</p:attrName>
                                        </p:attrNameLst>
                                      </p:cBhvr>
                                      <p:to>
                                        <p:strVal val="true"/>
                                      </p:to>
                                    </p:set>
                                  </p:childTnLst>
                                </p:cTn>
                              </p:par>
                            </p:childTnLst>
                          </p:cTn>
                        </p:par>
                        <p:par>
                          <p:cTn id="59" fill="hold">
                            <p:stCondLst>
                              <p:cond delay="1250"/>
                            </p:stCondLst>
                            <p:childTnLst>
                              <p:par>
                                <p:cTn id="60" presetID="7" presetClass="emph" presetSubtype="2" fill="hold" nodeType="afterEffect">
                                  <p:stCondLst>
                                    <p:cond delay="0"/>
                                  </p:stCondLst>
                                  <p:childTnLst>
                                    <p:animClr clrSpc="rgb" dir="cw">
                                      <p:cBhvr>
                                        <p:cTn id="61" dur="750" fill="hold"/>
                                        <p:tgtEl>
                                          <p:spTgt spid="14"/>
                                        </p:tgtEl>
                                        <p:attrNameLst>
                                          <p:attrName>stroke.color</p:attrName>
                                        </p:attrNameLst>
                                      </p:cBhvr>
                                      <p:to>
                                        <a:srgbClr val="B84742"/>
                                      </p:to>
                                    </p:animClr>
                                    <p:set>
                                      <p:cBhvr>
                                        <p:cTn id="62" dur="750" fill="hold"/>
                                        <p:tgtEl>
                                          <p:spTgt spid="14"/>
                                        </p:tgtEl>
                                        <p:attrNameLst>
                                          <p:attrName>stroke.on</p:attrName>
                                        </p:attrNameLst>
                                      </p:cBhvr>
                                      <p:to>
                                        <p:strVal val="true"/>
                                      </p:to>
                                    </p:se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56"/>
                                        </p:tgtEl>
                                        <p:attrNameLst>
                                          <p:attrName>style.visibility</p:attrName>
                                        </p:attrNameLst>
                                      </p:cBhvr>
                                      <p:to>
                                        <p:strVal val="visible"/>
                                      </p:to>
                                    </p:set>
                                    <p:animEffect transition="in" filter="fade">
                                      <p:cBhvr>
                                        <p:cTn id="67" dur="500"/>
                                        <p:tgtEl>
                                          <p:spTgt spid="5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51"/>
                                        </p:tgtEl>
                                        <p:attrNameLst>
                                          <p:attrName>style.visibility</p:attrName>
                                        </p:attrNameLst>
                                      </p:cBhvr>
                                      <p:to>
                                        <p:strVal val="visible"/>
                                      </p:to>
                                    </p:set>
                                    <p:animEffect transition="in" filter="wipe(left)">
                                      <p:cBhvr>
                                        <p:cTn id="72" dur="2000"/>
                                        <p:tgtEl>
                                          <p:spTgt spid="51"/>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43"/>
                                        </p:tgtEl>
                                        <p:attrNameLst>
                                          <p:attrName>style.visibility</p:attrName>
                                        </p:attrNameLst>
                                      </p:cBhvr>
                                      <p:to>
                                        <p:strVal val="visible"/>
                                      </p:to>
                                    </p:set>
                                    <p:animEffect transition="in" filter="wipe(left)">
                                      <p:cBhvr>
                                        <p:cTn id="77" dur="1000"/>
                                        <p:tgtEl>
                                          <p:spTgt spid="43"/>
                                        </p:tgtEl>
                                      </p:cBhvr>
                                    </p:animEffect>
                                  </p:childTnLst>
                                </p:cTn>
                              </p:par>
                              <p:par>
                                <p:cTn id="78" presetID="22" presetClass="entr" presetSubtype="8" fill="hold" nodeType="withEffect">
                                  <p:stCondLst>
                                    <p:cond delay="0"/>
                                  </p:stCondLst>
                                  <p:childTnLst>
                                    <p:set>
                                      <p:cBhvr>
                                        <p:cTn id="79" dur="1" fill="hold">
                                          <p:stCondLst>
                                            <p:cond delay="0"/>
                                          </p:stCondLst>
                                        </p:cTn>
                                        <p:tgtEl>
                                          <p:spTgt spid="44"/>
                                        </p:tgtEl>
                                        <p:attrNameLst>
                                          <p:attrName>style.visibility</p:attrName>
                                        </p:attrNameLst>
                                      </p:cBhvr>
                                      <p:to>
                                        <p:strVal val="visible"/>
                                      </p:to>
                                    </p:set>
                                    <p:animEffect transition="in" filter="wipe(left)">
                                      <p:cBhvr>
                                        <p:cTn id="80" dur="1000"/>
                                        <p:tgtEl>
                                          <p:spTgt spid="44"/>
                                        </p:tgtEl>
                                      </p:cBhvr>
                                    </p:animEffect>
                                  </p:childTnLst>
                                </p:cTn>
                              </p:par>
                            </p:childTnLst>
                          </p:cTn>
                        </p:par>
                        <p:par>
                          <p:cTn id="81" fill="hold">
                            <p:stCondLst>
                              <p:cond delay="1000"/>
                            </p:stCondLst>
                            <p:childTnLst>
                              <p:par>
                                <p:cTn id="82" presetID="1" presetClass="emph" presetSubtype="2" fill="hold" nodeType="afterEffect">
                                  <p:stCondLst>
                                    <p:cond delay="0"/>
                                  </p:stCondLst>
                                  <p:childTnLst>
                                    <p:animClr clrSpc="rgb" dir="cw">
                                      <p:cBhvr>
                                        <p:cTn id="83" dur="750" fill="hold"/>
                                        <p:tgtEl>
                                          <p:spTgt spid="9"/>
                                        </p:tgtEl>
                                        <p:attrNameLst>
                                          <p:attrName>fillcolor</p:attrName>
                                        </p:attrNameLst>
                                      </p:cBhvr>
                                      <p:to>
                                        <a:srgbClr val="8BC145"/>
                                      </p:to>
                                    </p:animClr>
                                    <p:set>
                                      <p:cBhvr>
                                        <p:cTn id="84" dur="750" fill="hold"/>
                                        <p:tgtEl>
                                          <p:spTgt spid="9"/>
                                        </p:tgtEl>
                                        <p:attrNameLst>
                                          <p:attrName>fill.type</p:attrName>
                                        </p:attrNameLst>
                                      </p:cBhvr>
                                      <p:to>
                                        <p:strVal val="solid"/>
                                      </p:to>
                                    </p:set>
                                    <p:set>
                                      <p:cBhvr>
                                        <p:cTn id="85" dur="750" fill="hold"/>
                                        <p:tgtEl>
                                          <p:spTgt spid="9"/>
                                        </p:tgtEl>
                                        <p:attrNameLst>
                                          <p:attrName>fill.on</p:attrName>
                                        </p:attrNameLst>
                                      </p:cBhvr>
                                      <p:to>
                                        <p:strVal val="true"/>
                                      </p:to>
                                    </p:set>
                                  </p:childTnLst>
                                </p:cTn>
                              </p:par>
                            </p:childTnLst>
                          </p:cTn>
                        </p:par>
                        <p:par>
                          <p:cTn id="86" fill="hold">
                            <p:stCondLst>
                              <p:cond delay="1750"/>
                            </p:stCondLst>
                            <p:childTnLst>
                              <p:par>
                                <p:cTn id="87" presetID="7" presetClass="emph" presetSubtype="2" fill="hold" nodeType="afterEffect">
                                  <p:stCondLst>
                                    <p:cond delay="0"/>
                                  </p:stCondLst>
                                  <p:childTnLst>
                                    <p:animClr clrSpc="rgb" dir="cw">
                                      <p:cBhvr>
                                        <p:cTn id="88" dur="750" fill="hold"/>
                                        <p:tgtEl>
                                          <p:spTgt spid="17"/>
                                        </p:tgtEl>
                                        <p:attrNameLst>
                                          <p:attrName>stroke.color</p:attrName>
                                        </p:attrNameLst>
                                      </p:cBhvr>
                                      <p:to>
                                        <a:srgbClr val="B84742"/>
                                      </p:to>
                                    </p:animClr>
                                    <p:set>
                                      <p:cBhvr>
                                        <p:cTn id="89" dur="750" fill="hold"/>
                                        <p:tgtEl>
                                          <p:spTgt spid="17"/>
                                        </p:tgtEl>
                                        <p:attrNameLst>
                                          <p:attrName>stroke.on</p:attrName>
                                        </p:attrNameLst>
                                      </p:cBhvr>
                                      <p:to>
                                        <p:strVal val="true"/>
                                      </p:to>
                                    </p:se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57"/>
                                        </p:tgtEl>
                                        <p:attrNameLst>
                                          <p:attrName>style.visibility</p:attrName>
                                        </p:attrNameLst>
                                      </p:cBhvr>
                                      <p:to>
                                        <p:strVal val="visible"/>
                                      </p:to>
                                    </p:set>
                                    <p:animEffect transition="in" filter="fade">
                                      <p:cBhvr>
                                        <p:cTn id="94" dur="500"/>
                                        <p:tgtEl>
                                          <p:spTgt spid="57"/>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52"/>
                                        </p:tgtEl>
                                        <p:attrNameLst>
                                          <p:attrName>style.visibility</p:attrName>
                                        </p:attrNameLst>
                                      </p:cBhvr>
                                      <p:to>
                                        <p:strVal val="visible"/>
                                      </p:to>
                                    </p:set>
                                    <p:animEffect transition="in" filter="wipe(left)">
                                      <p:cBhvr>
                                        <p:cTn id="99" dur="2000"/>
                                        <p:tgtEl>
                                          <p:spTgt spid="52"/>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45"/>
                                        </p:tgtEl>
                                        <p:attrNameLst>
                                          <p:attrName>style.visibility</p:attrName>
                                        </p:attrNameLst>
                                      </p:cBhvr>
                                      <p:to>
                                        <p:strVal val="visible"/>
                                      </p:to>
                                    </p:set>
                                    <p:animEffect transition="in" filter="wipe(left)">
                                      <p:cBhvr>
                                        <p:cTn id="104" dur="1000"/>
                                        <p:tgtEl>
                                          <p:spTgt spid="45"/>
                                        </p:tgtEl>
                                      </p:cBhvr>
                                    </p:animEffect>
                                  </p:childTnLst>
                                </p:cTn>
                              </p:par>
                              <p:par>
                                <p:cTn id="105" presetID="22" presetClass="entr" presetSubtype="8" fill="hold" nodeType="withEffect">
                                  <p:stCondLst>
                                    <p:cond delay="0"/>
                                  </p:stCondLst>
                                  <p:childTnLst>
                                    <p:set>
                                      <p:cBhvr>
                                        <p:cTn id="106" dur="1" fill="hold">
                                          <p:stCondLst>
                                            <p:cond delay="0"/>
                                          </p:stCondLst>
                                        </p:cTn>
                                        <p:tgtEl>
                                          <p:spTgt spid="47"/>
                                        </p:tgtEl>
                                        <p:attrNameLst>
                                          <p:attrName>style.visibility</p:attrName>
                                        </p:attrNameLst>
                                      </p:cBhvr>
                                      <p:to>
                                        <p:strVal val="visible"/>
                                      </p:to>
                                    </p:set>
                                    <p:animEffect transition="in" filter="wipe(left)">
                                      <p:cBhvr>
                                        <p:cTn id="107" dur="1000"/>
                                        <p:tgtEl>
                                          <p:spTgt spid="47"/>
                                        </p:tgtEl>
                                      </p:cBhvr>
                                    </p:animEffect>
                                  </p:childTnLst>
                                </p:cTn>
                              </p:par>
                            </p:childTnLst>
                          </p:cTn>
                        </p:par>
                        <p:par>
                          <p:cTn id="108" fill="hold">
                            <p:stCondLst>
                              <p:cond delay="1000"/>
                            </p:stCondLst>
                            <p:childTnLst>
                              <p:par>
                                <p:cTn id="109" presetID="1" presetClass="emph" presetSubtype="2" fill="hold" nodeType="afterEffect">
                                  <p:stCondLst>
                                    <p:cond delay="0"/>
                                  </p:stCondLst>
                                  <p:childTnLst>
                                    <p:animClr clrSpc="rgb" dir="cw">
                                      <p:cBhvr>
                                        <p:cTn id="110" dur="750" fill="hold"/>
                                        <p:tgtEl>
                                          <p:spTgt spid="10"/>
                                        </p:tgtEl>
                                        <p:attrNameLst>
                                          <p:attrName>fillcolor</p:attrName>
                                        </p:attrNameLst>
                                      </p:cBhvr>
                                      <p:to>
                                        <a:srgbClr val="8BC145"/>
                                      </p:to>
                                    </p:animClr>
                                    <p:set>
                                      <p:cBhvr>
                                        <p:cTn id="111" dur="750" fill="hold"/>
                                        <p:tgtEl>
                                          <p:spTgt spid="10"/>
                                        </p:tgtEl>
                                        <p:attrNameLst>
                                          <p:attrName>fill.type</p:attrName>
                                        </p:attrNameLst>
                                      </p:cBhvr>
                                      <p:to>
                                        <p:strVal val="solid"/>
                                      </p:to>
                                    </p:set>
                                    <p:set>
                                      <p:cBhvr>
                                        <p:cTn id="112" dur="750" fill="hold"/>
                                        <p:tgtEl>
                                          <p:spTgt spid="10"/>
                                        </p:tgtEl>
                                        <p:attrNameLst>
                                          <p:attrName>fill.on</p:attrName>
                                        </p:attrNameLst>
                                      </p:cBhvr>
                                      <p:to>
                                        <p:strVal val="true"/>
                                      </p:to>
                                    </p:set>
                                  </p:childTnLst>
                                </p:cTn>
                              </p:par>
                            </p:childTnLst>
                          </p:cTn>
                        </p:par>
                        <p:par>
                          <p:cTn id="113" fill="hold">
                            <p:stCondLst>
                              <p:cond delay="1750"/>
                            </p:stCondLst>
                            <p:childTnLst>
                              <p:par>
                                <p:cTn id="114" presetID="7" presetClass="emph" presetSubtype="2" fill="hold" nodeType="afterEffect">
                                  <p:stCondLst>
                                    <p:cond delay="0"/>
                                  </p:stCondLst>
                                  <p:childTnLst>
                                    <p:animClr clrSpc="rgb" dir="cw">
                                      <p:cBhvr>
                                        <p:cTn id="115" dur="750" fill="hold"/>
                                        <p:tgtEl>
                                          <p:spTgt spid="15"/>
                                        </p:tgtEl>
                                        <p:attrNameLst>
                                          <p:attrName>stroke.color</p:attrName>
                                        </p:attrNameLst>
                                      </p:cBhvr>
                                      <p:to>
                                        <a:srgbClr val="B84742"/>
                                      </p:to>
                                    </p:animClr>
                                    <p:set>
                                      <p:cBhvr>
                                        <p:cTn id="116" dur="750" fill="hold"/>
                                        <p:tgtEl>
                                          <p:spTgt spid="15"/>
                                        </p:tgtEl>
                                        <p:attrNameLst>
                                          <p:attrName>stroke.on</p:attrName>
                                        </p:attrNameLst>
                                      </p:cBhvr>
                                      <p:to>
                                        <p:strVal val="true"/>
                                      </p:to>
                                    </p:se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58"/>
                                        </p:tgtEl>
                                        <p:attrNameLst>
                                          <p:attrName>style.visibility</p:attrName>
                                        </p:attrNameLst>
                                      </p:cBhvr>
                                      <p:to>
                                        <p:strVal val="visible"/>
                                      </p:to>
                                    </p:set>
                                    <p:animEffect transition="in" filter="fade">
                                      <p:cBhvr>
                                        <p:cTn id="121" dur="500"/>
                                        <p:tgtEl>
                                          <p:spTgt spid="58"/>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53"/>
                                        </p:tgtEl>
                                        <p:attrNameLst>
                                          <p:attrName>style.visibility</p:attrName>
                                        </p:attrNameLst>
                                      </p:cBhvr>
                                      <p:to>
                                        <p:strVal val="visible"/>
                                      </p:to>
                                    </p:set>
                                    <p:animEffect transition="in" filter="wipe(left)">
                                      <p:cBhvr>
                                        <p:cTn id="126" dur="2000"/>
                                        <p:tgtEl>
                                          <p:spTgt spid="53"/>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nodeType="clickEffect">
                                  <p:stCondLst>
                                    <p:cond delay="0"/>
                                  </p:stCondLst>
                                  <p:childTnLst>
                                    <p:set>
                                      <p:cBhvr>
                                        <p:cTn id="130" dur="1" fill="hold">
                                          <p:stCondLst>
                                            <p:cond delay="0"/>
                                          </p:stCondLst>
                                        </p:cTn>
                                        <p:tgtEl>
                                          <p:spTgt spid="46"/>
                                        </p:tgtEl>
                                        <p:attrNameLst>
                                          <p:attrName>style.visibility</p:attrName>
                                        </p:attrNameLst>
                                      </p:cBhvr>
                                      <p:to>
                                        <p:strVal val="visible"/>
                                      </p:to>
                                    </p:set>
                                    <p:animEffect transition="in" filter="wipe(left)">
                                      <p:cBhvr>
                                        <p:cTn id="131" dur="1000"/>
                                        <p:tgtEl>
                                          <p:spTgt spid="46"/>
                                        </p:tgtEl>
                                      </p:cBhvr>
                                    </p:animEffect>
                                  </p:childTnLst>
                                </p:cTn>
                              </p:par>
                              <p:par>
                                <p:cTn id="132" presetID="22" presetClass="entr" presetSubtype="8" fill="hold" nodeType="withEffect">
                                  <p:stCondLst>
                                    <p:cond delay="0"/>
                                  </p:stCondLst>
                                  <p:childTnLst>
                                    <p:set>
                                      <p:cBhvr>
                                        <p:cTn id="133" dur="1" fill="hold">
                                          <p:stCondLst>
                                            <p:cond delay="0"/>
                                          </p:stCondLst>
                                        </p:cTn>
                                        <p:tgtEl>
                                          <p:spTgt spid="48"/>
                                        </p:tgtEl>
                                        <p:attrNameLst>
                                          <p:attrName>style.visibility</p:attrName>
                                        </p:attrNameLst>
                                      </p:cBhvr>
                                      <p:to>
                                        <p:strVal val="visible"/>
                                      </p:to>
                                    </p:set>
                                    <p:animEffect transition="in" filter="wipe(left)">
                                      <p:cBhvr>
                                        <p:cTn id="134" dur="1000"/>
                                        <p:tgtEl>
                                          <p:spTgt spid="48"/>
                                        </p:tgtEl>
                                      </p:cBhvr>
                                    </p:animEffect>
                                  </p:childTnLst>
                                </p:cTn>
                              </p:par>
                            </p:childTnLst>
                          </p:cTn>
                        </p:par>
                        <p:par>
                          <p:cTn id="135" fill="hold">
                            <p:stCondLst>
                              <p:cond delay="1000"/>
                            </p:stCondLst>
                            <p:childTnLst>
                              <p:par>
                                <p:cTn id="136" presetID="1" presetClass="emph" presetSubtype="2" fill="hold" nodeType="afterEffect">
                                  <p:stCondLst>
                                    <p:cond delay="0"/>
                                  </p:stCondLst>
                                  <p:childTnLst>
                                    <p:animClr clrSpc="rgb" dir="cw">
                                      <p:cBhvr>
                                        <p:cTn id="137" dur="750" fill="hold"/>
                                        <p:tgtEl>
                                          <p:spTgt spid="12"/>
                                        </p:tgtEl>
                                        <p:attrNameLst>
                                          <p:attrName>fillcolor</p:attrName>
                                        </p:attrNameLst>
                                      </p:cBhvr>
                                      <p:to>
                                        <a:srgbClr val="8BC145"/>
                                      </p:to>
                                    </p:animClr>
                                    <p:set>
                                      <p:cBhvr>
                                        <p:cTn id="138" dur="750" fill="hold"/>
                                        <p:tgtEl>
                                          <p:spTgt spid="12"/>
                                        </p:tgtEl>
                                        <p:attrNameLst>
                                          <p:attrName>fill.type</p:attrName>
                                        </p:attrNameLst>
                                      </p:cBhvr>
                                      <p:to>
                                        <p:strVal val="solid"/>
                                      </p:to>
                                    </p:set>
                                    <p:set>
                                      <p:cBhvr>
                                        <p:cTn id="139" dur="750" fill="hold"/>
                                        <p:tgtEl>
                                          <p:spTgt spid="12"/>
                                        </p:tgtEl>
                                        <p:attrNameLst>
                                          <p:attrName>fill.on</p:attrName>
                                        </p:attrNameLst>
                                      </p:cBhvr>
                                      <p:to>
                                        <p:strVal val="true"/>
                                      </p:to>
                                    </p:set>
                                  </p:childTnLst>
                                </p:cTn>
                              </p:par>
                            </p:childTnLst>
                          </p:cTn>
                        </p:par>
                        <p:par>
                          <p:cTn id="140" fill="hold">
                            <p:stCondLst>
                              <p:cond delay="1750"/>
                            </p:stCondLst>
                            <p:childTnLst>
                              <p:par>
                                <p:cTn id="141" presetID="7" presetClass="emph" presetSubtype="2" fill="hold" nodeType="afterEffect">
                                  <p:stCondLst>
                                    <p:cond delay="0"/>
                                  </p:stCondLst>
                                  <p:childTnLst>
                                    <p:animClr clrSpc="rgb" dir="cw">
                                      <p:cBhvr>
                                        <p:cTn id="142" dur="750" fill="hold"/>
                                        <p:tgtEl>
                                          <p:spTgt spid="23"/>
                                        </p:tgtEl>
                                        <p:attrNameLst>
                                          <p:attrName>stroke.color</p:attrName>
                                        </p:attrNameLst>
                                      </p:cBhvr>
                                      <p:to>
                                        <a:srgbClr val="B84742"/>
                                      </p:to>
                                    </p:animClr>
                                    <p:set>
                                      <p:cBhvr>
                                        <p:cTn id="143" dur="750" fill="hold"/>
                                        <p:tgtEl>
                                          <p:spTgt spid="23"/>
                                        </p:tgtEl>
                                        <p:attrNameLst>
                                          <p:attrName>stroke.on</p:attrName>
                                        </p:attrNameLst>
                                      </p:cBhvr>
                                      <p:to>
                                        <p:strVal val="true"/>
                                      </p:to>
                                    </p:se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grpId="0" nodeType="clickEffect">
                                  <p:stCondLst>
                                    <p:cond delay="0"/>
                                  </p:stCondLst>
                                  <p:childTnLst>
                                    <p:set>
                                      <p:cBhvr>
                                        <p:cTn id="147" dur="1" fill="hold">
                                          <p:stCondLst>
                                            <p:cond delay="0"/>
                                          </p:stCondLst>
                                        </p:cTn>
                                        <p:tgtEl>
                                          <p:spTgt spid="59"/>
                                        </p:tgtEl>
                                        <p:attrNameLst>
                                          <p:attrName>style.visibility</p:attrName>
                                        </p:attrNameLst>
                                      </p:cBhvr>
                                      <p:to>
                                        <p:strVal val="visible"/>
                                      </p:to>
                                    </p:set>
                                    <p:animEffect transition="in" filter="fade">
                                      <p:cBhvr>
                                        <p:cTn id="148" dur="500"/>
                                        <p:tgtEl>
                                          <p:spTgt spid="59"/>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grpId="0" nodeType="clickEffect">
                                  <p:stCondLst>
                                    <p:cond delay="0"/>
                                  </p:stCondLst>
                                  <p:childTnLst>
                                    <p:set>
                                      <p:cBhvr>
                                        <p:cTn id="152" dur="1" fill="hold">
                                          <p:stCondLst>
                                            <p:cond delay="0"/>
                                          </p:stCondLst>
                                        </p:cTn>
                                        <p:tgtEl>
                                          <p:spTgt spid="54"/>
                                        </p:tgtEl>
                                        <p:attrNameLst>
                                          <p:attrName>style.visibility</p:attrName>
                                        </p:attrNameLst>
                                      </p:cBhvr>
                                      <p:to>
                                        <p:strVal val="visible"/>
                                      </p:to>
                                    </p:set>
                                    <p:animEffect transition="in" filter="wipe(left)">
                                      <p:cBhvr>
                                        <p:cTn id="153" dur="2000"/>
                                        <p:tgtEl>
                                          <p:spTgt spid="54"/>
                                        </p:tgtEl>
                                      </p:cBhvr>
                                    </p:animEffect>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nodeType="clickEffect">
                                  <p:stCondLst>
                                    <p:cond delay="0"/>
                                  </p:stCondLst>
                                  <p:childTnLst>
                                    <p:set>
                                      <p:cBhvr>
                                        <p:cTn id="157" dur="1" fill="hold">
                                          <p:stCondLst>
                                            <p:cond delay="0"/>
                                          </p:stCondLst>
                                        </p:cTn>
                                        <p:tgtEl>
                                          <p:spTgt spid="49"/>
                                        </p:tgtEl>
                                        <p:attrNameLst>
                                          <p:attrName>style.visibility</p:attrName>
                                        </p:attrNameLst>
                                      </p:cBhvr>
                                      <p:to>
                                        <p:strVal val="visible"/>
                                      </p:to>
                                    </p:set>
                                    <p:animEffect transition="in" filter="wipe(left)">
                                      <p:cBhvr>
                                        <p:cTn id="158" dur="1000"/>
                                        <p:tgtEl>
                                          <p:spTgt spid="49"/>
                                        </p:tgtEl>
                                      </p:cBhvr>
                                    </p:animEffect>
                                  </p:childTnLst>
                                </p:cTn>
                              </p:par>
                              <p:par>
                                <p:cTn id="159" presetID="22" presetClass="entr" presetSubtype="8" fill="hold" nodeType="withEffect">
                                  <p:stCondLst>
                                    <p:cond delay="0"/>
                                  </p:stCondLst>
                                  <p:childTnLst>
                                    <p:set>
                                      <p:cBhvr>
                                        <p:cTn id="160" dur="1" fill="hold">
                                          <p:stCondLst>
                                            <p:cond delay="0"/>
                                          </p:stCondLst>
                                        </p:cTn>
                                        <p:tgtEl>
                                          <p:spTgt spid="50"/>
                                        </p:tgtEl>
                                        <p:attrNameLst>
                                          <p:attrName>style.visibility</p:attrName>
                                        </p:attrNameLst>
                                      </p:cBhvr>
                                      <p:to>
                                        <p:strVal val="visible"/>
                                      </p:to>
                                    </p:set>
                                    <p:animEffect transition="in" filter="wipe(left)">
                                      <p:cBhvr>
                                        <p:cTn id="161" dur="1000"/>
                                        <p:tgtEl>
                                          <p:spTgt spid="50"/>
                                        </p:tgtEl>
                                      </p:cBhvr>
                                    </p:animEffect>
                                  </p:childTnLst>
                                </p:cTn>
                              </p:par>
                            </p:childTnLst>
                          </p:cTn>
                        </p:par>
                        <p:par>
                          <p:cTn id="162" fill="hold">
                            <p:stCondLst>
                              <p:cond delay="1000"/>
                            </p:stCondLst>
                            <p:childTnLst>
                              <p:par>
                                <p:cTn id="163" presetID="1" presetClass="emph" presetSubtype="2" fill="hold" nodeType="afterEffect">
                                  <p:stCondLst>
                                    <p:cond delay="0"/>
                                  </p:stCondLst>
                                  <p:childTnLst>
                                    <p:animClr clrSpc="rgb" dir="cw">
                                      <p:cBhvr>
                                        <p:cTn id="164" dur="750" fill="hold"/>
                                        <p:tgtEl>
                                          <p:spTgt spid="11"/>
                                        </p:tgtEl>
                                        <p:attrNameLst>
                                          <p:attrName>fillcolor</p:attrName>
                                        </p:attrNameLst>
                                      </p:cBhvr>
                                      <p:to>
                                        <a:srgbClr val="8BC145"/>
                                      </p:to>
                                    </p:animClr>
                                    <p:set>
                                      <p:cBhvr>
                                        <p:cTn id="165" dur="750" fill="hold"/>
                                        <p:tgtEl>
                                          <p:spTgt spid="11"/>
                                        </p:tgtEl>
                                        <p:attrNameLst>
                                          <p:attrName>fill.type</p:attrName>
                                        </p:attrNameLst>
                                      </p:cBhvr>
                                      <p:to>
                                        <p:strVal val="solid"/>
                                      </p:to>
                                    </p:set>
                                    <p:set>
                                      <p:cBhvr>
                                        <p:cTn id="166" dur="750" fill="hold"/>
                                        <p:tgtEl>
                                          <p:spTgt spid="11"/>
                                        </p:tgtEl>
                                        <p:attrNameLst>
                                          <p:attrName>fill.on</p:attrName>
                                        </p:attrNameLst>
                                      </p:cBhvr>
                                      <p:to>
                                        <p:strVal val="true"/>
                                      </p:to>
                                    </p:set>
                                  </p:childTnLst>
                                </p:cTn>
                              </p:par>
                            </p:childTnLst>
                          </p:cTn>
                        </p:par>
                        <p:par>
                          <p:cTn id="167" fill="hold">
                            <p:stCondLst>
                              <p:cond delay="1750"/>
                            </p:stCondLst>
                            <p:childTnLst>
                              <p:par>
                                <p:cTn id="168" presetID="7" presetClass="emph" presetSubtype="2" fill="hold" nodeType="afterEffect">
                                  <p:stCondLst>
                                    <p:cond delay="0"/>
                                  </p:stCondLst>
                                  <p:childTnLst>
                                    <p:animClr clrSpc="rgb" dir="cw">
                                      <p:cBhvr>
                                        <p:cTn id="169" dur="750" fill="hold"/>
                                        <p:tgtEl>
                                          <p:spTgt spid="22"/>
                                        </p:tgtEl>
                                        <p:attrNameLst>
                                          <p:attrName>stroke.color</p:attrName>
                                        </p:attrNameLst>
                                      </p:cBhvr>
                                      <p:to>
                                        <a:srgbClr val="B84742"/>
                                      </p:to>
                                    </p:animClr>
                                    <p:set>
                                      <p:cBhvr>
                                        <p:cTn id="170" dur="750" fill="hold"/>
                                        <p:tgtEl>
                                          <p:spTgt spid="22"/>
                                        </p:tgtEl>
                                        <p:attrNameLst>
                                          <p:attrName>stroke.on</p:attrName>
                                        </p:attrNameLst>
                                      </p:cBhvr>
                                      <p:to>
                                        <p:strVal val="true"/>
                                      </p:to>
                                    </p:set>
                                  </p:childTnLst>
                                </p:cTn>
                              </p:par>
                            </p:childTnLst>
                          </p:cTn>
                        </p:par>
                      </p:childTnLst>
                    </p:cTn>
                  </p:par>
                  <p:par>
                    <p:cTn id="171" fill="hold">
                      <p:stCondLst>
                        <p:cond delay="indefinite"/>
                      </p:stCondLst>
                      <p:childTnLst>
                        <p:par>
                          <p:cTn id="172" fill="hold">
                            <p:stCondLst>
                              <p:cond delay="0"/>
                            </p:stCondLst>
                            <p:childTnLst>
                              <p:par>
                                <p:cTn id="173" presetID="22" presetClass="entr" presetSubtype="8" fill="hold" grpId="0" nodeType="clickEffect">
                                  <p:stCondLst>
                                    <p:cond delay="0"/>
                                  </p:stCondLst>
                                  <p:childTnLst>
                                    <p:set>
                                      <p:cBhvr>
                                        <p:cTn id="174" dur="1" fill="hold">
                                          <p:stCondLst>
                                            <p:cond delay="0"/>
                                          </p:stCondLst>
                                        </p:cTn>
                                        <p:tgtEl>
                                          <p:spTgt spid="61"/>
                                        </p:tgtEl>
                                        <p:attrNameLst>
                                          <p:attrName>style.visibility</p:attrName>
                                        </p:attrNameLst>
                                      </p:cBhvr>
                                      <p:to>
                                        <p:strVal val="visible"/>
                                      </p:to>
                                    </p:set>
                                    <p:animEffect transition="in" filter="wipe(left)">
                                      <p:cBhvr>
                                        <p:cTn id="175" dur="20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P spid="37" grpId="0" animBg="1"/>
      <p:bldP spid="38" grpId="0"/>
      <p:bldP spid="54" grpId="0"/>
      <p:bldP spid="51" grpId="0"/>
      <p:bldP spid="53" grpId="0"/>
      <p:bldP spid="52" grpId="0"/>
      <p:bldP spid="55" grpId="0"/>
      <p:bldP spid="56" grpId="0"/>
      <p:bldP spid="57" grpId="0"/>
      <p:bldP spid="58" grpId="0"/>
      <p:bldP spid="59" grpId="0"/>
      <p:bldP spid="61"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4B20E2A-F2D8-419C-9FD1-95D26342647C}"/>
              </a:ext>
            </a:extLst>
          </p:cNvPr>
          <p:cNvSpPr/>
          <p:nvPr/>
        </p:nvSpPr>
        <p:spPr>
          <a:xfrm>
            <a:off x="6096000" y="0"/>
            <a:ext cx="6096000" cy="6588000"/>
          </a:xfrm>
          <a:prstGeom prst="rect">
            <a:avLst/>
          </a:prstGeom>
          <a:gradFill flip="none" rotWithShape="1">
            <a:gsLst>
              <a:gs pos="55000">
                <a:srgbClr val="B21266"/>
              </a:gs>
              <a:gs pos="30000">
                <a:srgbClr val="A3115D">
                  <a:lumMod val="100000"/>
                </a:srgbClr>
              </a:gs>
              <a:gs pos="100000">
                <a:srgbClr val="ED6D9B"/>
              </a:gs>
            </a:gsLst>
            <a:path path="circle">
              <a:fillToRect r="100000" b="100000"/>
            </a:path>
            <a:tileRect l="-100000" t="-100000"/>
          </a:gradFill>
          <a:ln>
            <a:noFill/>
          </a:ln>
        </p:spPr>
        <p:txBody>
          <a:bodyPr vert="horz" wrap="square" lIns="91440" tIns="45720" rIns="91440" bIns="45720" numCol="1" anchor="t" anchorCtr="0" compatLnSpc="1">
            <a:prstTxWarp prst="textNoShape">
              <a:avLst/>
            </a:prstTxWarp>
          </a:bodyPr>
          <a:lstStyle/>
          <a:p>
            <a:pPr algn="just"/>
            <a:endParaRPr lang="en-US" altLang="en-US" sz="2400" dirty="0">
              <a:solidFill>
                <a:schemeClr val="bg1"/>
              </a:solidFill>
            </a:endParaRPr>
          </a:p>
        </p:txBody>
      </p:sp>
      <p:sp>
        <p:nvSpPr>
          <p:cNvPr id="5" name="TextBox 4"/>
          <p:cNvSpPr txBox="1"/>
          <p:nvPr/>
        </p:nvSpPr>
        <p:spPr>
          <a:xfrm>
            <a:off x="-1" y="6976"/>
            <a:ext cx="6217920" cy="738664"/>
          </a:xfrm>
          <a:prstGeom prst="rect">
            <a:avLst/>
          </a:prstGeom>
          <a:noFill/>
        </p:spPr>
        <p:txBody>
          <a:bodyPr wrap="square" lIns="274320" rtlCol="0" anchor="ctr">
            <a:spAutoFit/>
          </a:bodyPr>
          <a:lstStyle/>
          <a:p>
            <a:pPr>
              <a:lnSpc>
                <a:spcPct val="150000"/>
              </a:lnSpc>
            </a:pPr>
            <a:r>
              <a:rPr lang="en-US" sz="2800" dirty="0"/>
              <a:t>Prim’s Algorithm for MST – Example 1</a:t>
            </a:r>
            <a:endParaRPr lang="en-US" sz="2800" b="1" dirty="0">
              <a:solidFill>
                <a:srgbClr val="424242"/>
              </a:solidFill>
            </a:endParaRPr>
          </a:p>
        </p:txBody>
      </p:sp>
      <p:sp>
        <p:nvSpPr>
          <p:cNvPr id="6" name="Oval 5"/>
          <p:cNvSpPr/>
          <p:nvPr/>
        </p:nvSpPr>
        <p:spPr>
          <a:xfrm>
            <a:off x="685800" y="1510940"/>
            <a:ext cx="640080" cy="640080"/>
          </a:xfrm>
          <a:prstGeom prst="ellipse">
            <a:avLst/>
          </a:prstGeom>
          <a:solidFill>
            <a:srgbClr val="8BC145"/>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1</a:t>
            </a:r>
          </a:p>
        </p:txBody>
      </p:sp>
      <p:sp>
        <p:nvSpPr>
          <p:cNvPr id="7" name="Oval 6"/>
          <p:cNvSpPr/>
          <p:nvPr/>
        </p:nvSpPr>
        <p:spPr>
          <a:xfrm>
            <a:off x="2667000" y="1510940"/>
            <a:ext cx="640080" cy="640080"/>
          </a:xfrm>
          <a:prstGeom prst="ellipse">
            <a:avLst/>
          </a:prstGeom>
          <a:solidFill>
            <a:srgbClr val="8BC145"/>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2</a:t>
            </a:r>
          </a:p>
        </p:txBody>
      </p:sp>
      <p:sp>
        <p:nvSpPr>
          <p:cNvPr id="8" name="Oval 7"/>
          <p:cNvSpPr/>
          <p:nvPr/>
        </p:nvSpPr>
        <p:spPr>
          <a:xfrm>
            <a:off x="4724400" y="1510940"/>
            <a:ext cx="640080" cy="640080"/>
          </a:xfrm>
          <a:prstGeom prst="ellipse">
            <a:avLst/>
          </a:prstGeom>
          <a:solidFill>
            <a:srgbClr val="8BC145"/>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3</a:t>
            </a:r>
          </a:p>
        </p:txBody>
      </p:sp>
      <p:sp>
        <p:nvSpPr>
          <p:cNvPr id="9" name="Oval 8"/>
          <p:cNvSpPr/>
          <p:nvPr/>
        </p:nvSpPr>
        <p:spPr>
          <a:xfrm>
            <a:off x="685800" y="3339740"/>
            <a:ext cx="640080" cy="640080"/>
          </a:xfrm>
          <a:prstGeom prst="ellipse">
            <a:avLst/>
          </a:prstGeom>
          <a:solidFill>
            <a:srgbClr val="8BC145"/>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4</a:t>
            </a:r>
          </a:p>
        </p:txBody>
      </p:sp>
      <p:sp>
        <p:nvSpPr>
          <p:cNvPr id="10" name="Oval 9"/>
          <p:cNvSpPr/>
          <p:nvPr/>
        </p:nvSpPr>
        <p:spPr>
          <a:xfrm>
            <a:off x="2743200" y="3339740"/>
            <a:ext cx="640080" cy="640080"/>
          </a:xfrm>
          <a:prstGeom prst="ellipse">
            <a:avLst/>
          </a:prstGeom>
          <a:solidFill>
            <a:srgbClr val="8BC145"/>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5</a:t>
            </a:r>
          </a:p>
        </p:txBody>
      </p:sp>
      <p:sp>
        <p:nvSpPr>
          <p:cNvPr id="11" name="Oval 10"/>
          <p:cNvSpPr/>
          <p:nvPr/>
        </p:nvSpPr>
        <p:spPr>
          <a:xfrm>
            <a:off x="4807527" y="3339740"/>
            <a:ext cx="640080" cy="640080"/>
          </a:xfrm>
          <a:prstGeom prst="ellipse">
            <a:avLst/>
          </a:prstGeom>
          <a:solidFill>
            <a:srgbClr val="8BC145"/>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6</a:t>
            </a:r>
          </a:p>
        </p:txBody>
      </p:sp>
      <p:sp>
        <p:nvSpPr>
          <p:cNvPr id="12" name="Oval 11"/>
          <p:cNvSpPr/>
          <p:nvPr/>
        </p:nvSpPr>
        <p:spPr>
          <a:xfrm>
            <a:off x="2819400" y="5168540"/>
            <a:ext cx="640080" cy="640080"/>
          </a:xfrm>
          <a:prstGeom prst="ellipse">
            <a:avLst/>
          </a:prstGeom>
          <a:solidFill>
            <a:srgbClr val="8BC145"/>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7</a:t>
            </a:r>
          </a:p>
        </p:txBody>
      </p:sp>
      <p:cxnSp>
        <p:nvCxnSpPr>
          <p:cNvPr id="13" name="Straight Connector 12"/>
          <p:cNvCxnSpPr>
            <a:stCxn id="6" idx="6"/>
            <a:endCxn id="7" idx="2"/>
          </p:cNvCxnSpPr>
          <p:nvPr/>
        </p:nvCxnSpPr>
        <p:spPr>
          <a:xfrm>
            <a:off x="1325880" y="1830980"/>
            <a:ext cx="134112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7" idx="6"/>
            <a:endCxn id="8" idx="2"/>
          </p:cNvCxnSpPr>
          <p:nvPr/>
        </p:nvCxnSpPr>
        <p:spPr>
          <a:xfrm>
            <a:off x="3307080" y="1830980"/>
            <a:ext cx="141732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9" idx="6"/>
            <a:endCxn id="10" idx="2"/>
          </p:cNvCxnSpPr>
          <p:nvPr/>
        </p:nvCxnSpPr>
        <p:spPr>
          <a:xfrm>
            <a:off x="1325880" y="3659780"/>
            <a:ext cx="141732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6" idx="4"/>
            <a:endCxn id="9" idx="0"/>
          </p:cNvCxnSpPr>
          <p:nvPr/>
        </p:nvCxnSpPr>
        <p:spPr>
          <a:xfrm>
            <a:off x="1005840" y="2151020"/>
            <a:ext cx="0" cy="118872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1" idx="3"/>
            <a:endCxn id="12" idx="6"/>
          </p:cNvCxnSpPr>
          <p:nvPr/>
        </p:nvCxnSpPr>
        <p:spPr>
          <a:xfrm flipH="1">
            <a:off x="3459480" y="3886082"/>
            <a:ext cx="1441785" cy="1602498"/>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9" idx="4"/>
            <a:endCxn id="12" idx="2"/>
          </p:cNvCxnSpPr>
          <p:nvPr/>
        </p:nvCxnSpPr>
        <p:spPr>
          <a:xfrm>
            <a:off x="1005840" y="3979820"/>
            <a:ext cx="1813560" cy="150876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735874" y="2425340"/>
            <a:ext cx="361950" cy="461665"/>
          </a:xfrm>
          <a:prstGeom prst="rect">
            <a:avLst/>
          </a:prstGeom>
          <a:noFill/>
        </p:spPr>
        <p:txBody>
          <a:bodyPr wrap="square" rtlCol="0">
            <a:spAutoFit/>
          </a:bodyPr>
          <a:lstStyle/>
          <a:p>
            <a:r>
              <a:rPr lang="en-US" sz="2400" dirty="0">
                <a:solidFill>
                  <a:srgbClr val="AD1457"/>
                </a:solidFill>
              </a:rPr>
              <a:t>4</a:t>
            </a:r>
          </a:p>
        </p:txBody>
      </p:sp>
      <p:sp>
        <p:nvSpPr>
          <p:cNvPr id="30" name="TextBox 29"/>
          <p:cNvSpPr txBox="1"/>
          <p:nvPr/>
        </p:nvSpPr>
        <p:spPr>
          <a:xfrm>
            <a:off x="2057400" y="3568340"/>
            <a:ext cx="361950" cy="461665"/>
          </a:xfrm>
          <a:prstGeom prst="rect">
            <a:avLst/>
          </a:prstGeom>
          <a:noFill/>
        </p:spPr>
        <p:txBody>
          <a:bodyPr wrap="square" rtlCol="0">
            <a:spAutoFit/>
          </a:bodyPr>
          <a:lstStyle/>
          <a:p>
            <a:r>
              <a:rPr lang="en-US" sz="2400" dirty="0">
                <a:solidFill>
                  <a:srgbClr val="AD1457"/>
                </a:solidFill>
              </a:rPr>
              <a:t>3</a:t>
            </a:r>
          </a:p>
        </p:txBody>
      </p:sp>
      <p:sp>
        <p:nvSpPr>
          <p:cNvPr id="32" name="TextBox 31"/>
          <p:cNvSpPr txBox="1"/>
          <p:nvPr/>
        </p:nvSpPr>
        <p:spPr>
          <a:xfrm>
            <a:off x="1600200" y="4554475"/>
            <a:ext cx="361950" cy="461665"/>
          </a:xfrm>
          <a:prstGeom prst="rect">
            <a:avLst/>
          </a:prstGeom>
          <a:noFill/>
        </p:spPr>
        <p:txBody>
          <a:bodyPr wrap="square" rtlCol="0">
            <a:spAutoFit/>
          </a:bodyPr>
          <a:lstStyle/>
          <a:p>
            <a:r>
              <a:rPr lang="en-US" sz="2400" dirty="0">
                <a:solidFill>
                  <a:srgbClr val="AD1457"/>
                </a:solidFill>
              </a:rPr>
              <a:t>4</a:t>
            </a:r>
          </a:p>
        </p:txBody>
      </p:sp>
      <p:sp>
        <p:nvSpPr>
          <p:cNvPr id="34" name="TextBox 33"/>
          <p:cNvSpPr txBox="1"/>
          <p:nvPr/>
        </p:nvSpPr>
        <p:spPr>
          <a:xfrm>
            <a:off x="4191000" y="4482740"/>
            <a:ext cx="361950" cy="461665"/>
          </a:xfrm>
          <a:prstGeom prst="rect">
            <a:avLst/>
          </a:prstGeom>
          <a:noFill/>
        </p:spPr>
        <p:txBody>
          <a:bodyPr wrap="square" rtlCol="0">
            <a:spAutoFit/>
          </a:bodyPr>
          <a:lstStyle/>
          <a:p>
            <a:r>
              <a:rPr lang="en-US" sz="2400" dirty="0">
                <a:solidFill>
                  <a:srgbClr val="AD1457"/>
                </a:solidFill>
              </a:rPr>
              <a:t>3</a:t>
            </a:r>
          </a:p>
        </p:txBody>
      </p:sp>
      <p:sp>
        <p:nvSpPr>
          <p:cNvPr id="35" name="TextBox 34"/>
          <p:cNvSpPr txBox="1"/>
          <p:nvPr/>
        </p:nvSpPr>
        <p:spPr>
          <a:xfrm>
            <a:off x="1924050" y="1434740"/>
            <a:ext cx="361950" cy="461665"/>
          </a:xfrm>
          <a:prstGeom prst="rect">
            <a:avLst/>
          </a:prstGeom>
          <a:noFill/>
        </p:spPr>
        <p:txBody>
          <a:bodyPr wrap="square" rtlCol="0">
            <a:spAutoFit/>
          </a:bodyPr>
          <a:lstStyle/>
          <a:p>
            <a:r>
              <a:rPr lang="en-US" sz="2400" dirty="0">
                <a:solidFill>
                  <a:srgbClr val="AD1457"/>
                </a:solidFill>
              </a:rPr>
              <a:t>1</a:t>
            </a:r>
          </a:p>
        </p:txBody>
      </p:sp>
      <p:sp>
        <p:nvSpPr>
          <p:cNvPr id="36" name="TextBox 35"/>
          <p:cNvSpPr txBox="1"/>
          <p:nvPr/>
        </p:nvSpPr>
        <p:spPr>
          <a:xfrm>
            <a:off x="3905250" y="1430275"/>
            <a:ext cx="361950" cy="461665"/>
          </a:xfrm>
          <a:prstGeom prst="rect">
            <a:avLst/>
          </a:prstGeom>
          <a:noFill/>
        </p:spPr>
        <p:txBody>
          <a:bodyPr wrap="square" rtlCol="0">
            <a:spAutoFit/>
          </a:bodyPr>
          <a:lstStyle/>
          <a:p>
            <a:r>
              <a:rPr lang="en-US" sz="2400" dirty="0">
                <a:solidFill>
                  <a:srgbClr val="AD1457"/>
                </a:solidFill>
              </a:rPr>
              <a:t>2</a:t>
            </a:r>
          </a:p>
        </p:txBody>
      </p:sp>
      <p:sp>
        <p:nvSpPr>
          <p:cNvPr id="37" name="TextBox 36"/>
          <p:cNvSpPr txBox="1"/>
          <p:nvPr/>
        </p:nvSpPr>
        <p:spPr>
          <a:xfrm>
            <a:off x="6107974" y="188258"/>
            <a:ext cx="851515" cy="400110"/>
          </a:xfrm>
          <a:prstGeom prst="rect">
            <a:avLst/>
          </a:prstGeom>
          <a:noFill/>
          <a:ln w="28575">
            <a:solidFill>
              <a:schemeClr val="accent5"/>
            </a:solidFill>
          </a:ln>
        </p:spPr>
        <p:txBody>
          <a:bodyPr wrap="none" rtlCol="0">
            <a:spAutoFit/>
          </a:bodyPr>
          <a:lstStyle/>
          <a:p>
            <a:r>
              <a:rPr lang="en-IN" sz="2000" b="1" dirty="0">
                <a:solidFill>
                  <a:schemeClr val="bg1"/>
                </a:solidFill>
              </a:rPr>
              <a:t>Step:3</a:t>
            </a:r>
            <a:endParaRPr lang="en-US" sz="2000" b="1" dirty="0">
              <a:solidFill>
                <a:schemeClr val="bg1"/>
              </a:solidFill>
            </a:endParaRPr>
          </a:p>
        </p:txBody>
      </p:sp>
      <p:sp>
        <p:nvSpPr>
          <p:cNvPr id="38" name="TextBox 37"/>
          <p:cNvSpPr txBox="1"/>
          <p:nvPr/>
        </p:nvSpPr>
        <p:spPr>
          <a:xfrm>
            <a:off x="6316980" y="672937"/>
            <a:ext cx="5669280" cy="430887"/>
          </a:xfrm>
          <a:prstGeom prst="rect">
            <a:avLst/>
          </a:prstGeom>
          <a:noFill/>
        </p:spPr>
        <p:txBody>
          <a:bodyPr wrap="square" rtlCol="0">
            <a:spAutoFit/>
          </a:bodyPr>
          <a:lstStyle/>
          <a:p>
            <a:pPr algn="ctr"/>
            <a:r>
              <a:rPr lang="en-US" sz="2200" b="1" dirty="0">
                <a:solidFill>
                  <a:schemeClr val="accent5"/>
                </a:solidFill>
              </a:rPr>
              <a:t>The minimum spanning tree for the given graph.</a:t>
            </a:r>
          </a:p>
        </p:txBody>
      </p:sp>
      <p:graphicFrame>
        <p:nvGraphicFramePr>
          <p:cNvPr id="39" name="Table 38"/>
          <p:cNvGraphicFramePr>
            <a:graphicFrameLocks noGrp="1"/>
          </p:cNvGraphicFramePr>
          <p:nvPr>
            <p:extLst>
              <p:ext uri="{D42A27DB-BD31-4B8C-83A1-F6EECF244321}">
                <p14:modId xmlns:p14="http://schemas.microsoft.com/office/powerpoint/2010/main" val="3801822641"/>
              </p:ext>
            </p:extLst>
          </p:nvPr>
        </p:nvGraphicFramePr>
        <p:xfrm>
          <a:off x="6531430" y="1238889"/>
          <a:ext cx="5120640" cy="3657600"/>
        </p:xfrm>
        <a:graphic>
          <a:graphicData uri="http://schemas.openxmlformats.org/drawingml/2006/table">
            <a:tbl>
              <a:tblPr firstRow="1" bandRow="1">
                <a:tableStyleId>{5C22544A-7EE6-4342-B048-85BDC9FD1C3A}</a:tableStyleId>
              </a:tblPr>
              <a:tblGrid>
                <a:gridCol w="2390247">
                  <a:extLst>
                    <a:ext uri="{9D8B030D-6E8A-4147-A177-3AD203B41FA5}">
                      <a16:colId xmlns:a16="http://schemas.microsoft.com/office/drawing/2014/main" val="1582560717"/>
                    </a:ext>
                  </a:extLst>
                </a:gridCol>
                <a:gridCol w="2730393">
                  <a:extLst>
                    <a:ext uri="{9D8B030D-6E8A-4147-A177-3AD203B41FA5}">
                      <a16:colId xmlns:a16="http://schemas.microsoft.com/office/drawing/2014/main" val="511824500"/>
                    </a:ext>
                  </a:extLst>
                </a:gridCol>
              </a:tblGrid>
              <a:tr h="392804">
                <a:tc>
                  <a:txBody>
                    <a:bodyPr/>
                    <a:lstStyle/>
                    <a:p>
                      <a:pPr algn="ctr"/>
                      <a:r>
                        <a:rPr lang="en-US" sz="2400" dirty="0">
                          <a:solidFill>
                            <a:schemeClr val="accent2">
                              <a:lumMod val="60000"/>
                              <a:lumOff val="40000"/>
                            </a:schemeClr>
                          </a:solidFill>
                        </a:rPr>
                        <a:t>Node </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chemeClr val="accent2">
                              <a:lumMod val="60000"/>
                              <a:lumOff val="40000"/>
                            </a:schemeClr>
                          </a:solidFill>
                        </a:rPr>
                        <a:t>Edges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06574443"/>
                  </a:ext>
                </a:extLst>
              </a:tr>
              <a:tr h="419709">
                <a:tc>
                  <a:txBody>
                    <a:bodyPr/>
                    <a:lstStyle/>
                    <a:p>
                      <a:r>
                        <a:rPr lang="en-US" sz="2400" b="1" dirty="0">
                          <a:solidFill>
                            <a:schemeClr val="accent3"/>
                          </a:solidFill>
                          <a:latin typeface="+mn-lt"/>
                        </a:rPr>
                        <a:t>1</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604744"/>
                  </a:ext>
                </a:extLst>
              </a:tr>
              <a:tr h="419709">
                <a:tc>
                  <a:txBody>
                    <a:bodyPr/>
                    <a:lstStyle/>
                    <a:p>
                      <a:r>
                        <a:rPr lang="en-US" sz="2400" b="1" dirty="0">
                          <a:solidFill>
                            <a:schemeClr val="accent3"/>
                          </a:solidFill>
                          <a:latin typeface="+mn-lt"/>
                        </a:rPr>
                        <a:t>1, 2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b="1" dirty="0">
                          <a:solidFill>
                            <a:schemeClr val="accent3"/>
                          </a:solidFill>
                          <a:latin typeface="+mn-lt"/>
                        </a:rPr>
                        <a:t>{1, 2}</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7217928"/>
                  </a:ext>
                </a:extLst>
              </a:tr>
              <a:tr h="419709">
                <a:tc>
                  <a:txBody>
                    <a:bodyPr/>
                    <a:lstStyle/>
                    <a:p>
                      <a:r>
                        <a:rPr lang="en-US" sz="2400" b="1" dirty="0">
                          <a:solidFill>
                            <a:schemeClr val="accent3"/>
                          </a:solidFill>
                          <a:latin typeface="+mn-lt"/>
                        </a:rPr>
                        <a:t>1, 2, 3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b="1" dirty="0">
                          <a:solidFill>
                            <a:schemeClr val="accent3"/>
                          </a:solidFill>
                          <a:latin typeface="+mn-lt"/>
                        </a:rPr>
                        <a:t>{2, 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4933460"/>
                  </a:ext>
                </a:extLst>
              </a:tr>
              <a:tr h="419709">
                <a:tc>
                  <a:txBody>
                    <a:bodyPr/>
                    <a:lstStyle/>
                    <a:p>
                      <a:r>
                        <a:rPr lang="en-US" sz="2400" b="1" dirty="0">
                          <a:solidFill>
                            <a:schemeClr val="accent3"/>
                          </a:solidFill>
                          <a:latin typeface="+mn-lt"/>
                        </a:rPr>
                        <a:t>1, 2, 3, 4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b="1" dirty="0">
                          <a:solidFill>
                            <a:schemeClr val="accent3"/>
                          </a:solidFill>
                          <a:latin typeface="+mn-lt"/>
                        </a:rPr>
                        <a:t>{1, 4}</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71772278"/>
                  </a:ext>
                </a:extLst>
              </a:tr>
              <a:tr h="419709">
                <a:tc>
                  <a:txBody>
                    <a:bodyPr/>
                    <a:lstStyle/>
                    <a:p>
                      <a:r>
                        <a:rPr lang="en-US" sz="2400" b="1" dirty="0">
                          <a:solidFill>
                            <a:schemeClr val="accent3"/>
                          </a:solidFill>
                          <a:latin typeface="+mn-lt"/>
                        </a:rPr>
                        <a:t>1, 2, 3, 4, 5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b="1" dirty="0">
                          <a:solidFill>
                            <a:schemeClr val="accent3"/>
                          </a:solidFill>
                          <a:latin typeface="+mn-lt"/>
                        </a:rPr>
                        <a:t>{4, 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955693"/>
                  </a:ext>
                </a:extLst>
              </a:tr>
              <a:tr h="419709">
                <a:tc>
                  <a:txBody>
                    <a:bodyPr/>
                    <a:lstStyle/>
                    <a:p>
                      <a:r>
                        <a:rPr lang="en-US" sz="2400" b="1" dirty="0">
                          <a:solidFill>
                            <a:schemeClr val="accent3"/>
                          </a:solidFill>
                          <a:latin typeface="+mn-lt"/>
                        </a:rPr>
                        <a:t>1, 2, 3, 4, 5, 7</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b="1" dirty="0">
                          <a:solidFill>
                            <a:schemeClr val="accent3"/>
                          </a:solidFill>
                          <a:effectLst/>
                          <a:latin typeface="+mn-lt"/>
                          <a:ea typeface="Times New Roman" panose="02020603050405020304" pitchFamily="18" charset="0"/>
                          <a:cs typeface="Shruti" panose="020B0502040204020203" pitchFamily="34" charset="0"/>
                        </a:rPr>
                        <a:t>{4, 7}</a:t>
                      </a:r>
                      <a:endParaRPr lang="en-US" sz="2400" b="1" dirty="0">
                        <a:solidFill>
                          <a:schemeClr val="accent3"/>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4576407"/>
                  </a:ext>
                </a:extLst>
              </a:tr>
              <a:tr h="41970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solidFill>
                            <a:schemeClr val="accent3"/>
                          </a:solidFill>
                          <a:latin typeface="+mn-lt"/>
                        </a:rPr>
                        <a:t>1, 2, 3, 4, 5, 6,</a:t>
                      </a:r>
                      <a:r>
                        <a:rPr lang="en-US" sz="2400" b="1" baseline="0" dirty="0">
                          <a:solidFill>
                            <a:schemeClr val="accent3"/>
                          </a:solidFill>
                          <a:latin typeface="+mn-lt"/>
                        </a:rPr>
                        <a:t> 7</a:t>
                      </a:r>
                      <a:endParaRPr lang="en-US" sz="2400" b="1" dirty="0">
                        <a:solidFill>
                          <a:schemeClr val="accent3"/>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400" b="1" dirty="0">
                          <a:solidFill>
                            <a:schemeClr val="accent3"/>
                          </a:solidFill>
                          <a:latin typeface="+mn-lt"/>
                        </a:rPr>
                        <a:t>{6,</a:t>
                      </a:r>
                      <a:r>
                        <a:rPr lang="en-US" sz="2400" b="1" baseline="0" dirty="0">
                          <a:solidFill>
                            <a:schemeClr val="accent3"/>
                          </a:solidFill>
                          <a:latin typeface="+mn-lt"/>
                        </a:rPr>
                        <a:t> 7}</a:t>
                      </a:r>
                      <a:endParaRPr lang="en-US" sz="2400" b="1" dirty="0">
                        <a:solidFill>
                          <a:schemeClr val="accent3"/>
                        </a:solidFill>
                        <a:latin typeface="+mn-lt"/>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2978437"/>
                  </a:ext>
                </a:extLst>
              </a:tr>
            </a:tbl>
          </a:graphicData>
        </a:graphic>
      </p:graphicFrame>
      <p:sp>
        <p:nvSpPr>
          <p:cNvPr id="49" name="Rectangle 48"/>
          <p:cNvSpPr/>
          <p:nvPr/>
        </p:nvSpPr>
        <p:spPr>
          <a:xfrm>
            <a:off x="8897598" y="5053221"/>
            <a:ext cx="2780211" cy="461665"/>
          </a:xfrm>
          <a:prstGeom prst="rect">
            <a:avLst/>
          </a:prstGeom>
          <a:solidFill>
            <a:srgbClr val="F9C5D7"/>
          </a:solidFill>
        </p:spPr>
        <p:txBody>
          <a:bodyPr wrap="square">
            <a:spAutoFit/>
          </a:bodyPr>
          <a:lstStyle/>
          <a:p>
            <a:pPr algn="ctr"/>
            <a:r>
              <a:rPr lang="en-US" sz="2400" b="1" dirty="0">
                <a:solidFill>
                  <a:srgbClr val="AD1457"/>
                </a:solidFill>
              </a:rPr>
              <a:t>Total Cost  = 17</a:t>
            </a:r>
          </a:p>
        </p:txBody>
      </p:sp>
    </p:spTree>
    <p:extLst>
      <p:ext uri="{BB962C8B-B14F-4D97-AF65-F5344CB8AC3E}">
        <p14:creationId xmlns:p14="http://schemas.microsoft.com/office/powerpoint/2010/main" val="2880442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500"/>
                                        <p:tgtEl>
                                          <p:spTgt spid="38"/>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39"/>
                                        </p:tgtEl>
                                        <p:attrNameLst>
                                          <p:attrName>style.visibility</p:attrName>
                                        </p:attrNameLst>
                                      </p:cBhvr>
                                      <p:to>
                                        <p:strVal val="visible"/>
                                      </p:to>
                                    </p:set>
                                    <p:animEffect transition="in" filter="wipe(up)">
                                      <p:cBhvr>
                                        <p:cTn id="14" dur="2000"/>
                                        <p:tgtEl>
                                          <p:spTgt spid="39"/>
                                        </p:tgtEl>
                                      </p:cBhvr>
                                    </p:animEffect>
                                  </p:childTnLst>
                                </p:cTn>
                              </p:par>
                            </p:childTnLst>
                          </p:cTn>
                        </p:par>
                        <p:par>
                          <p:cTn id="15" fill="hold">
                            <p:stCondLst>
                              <p:cond delay="2500"/>
                            </p:stCondLst>
                            <p:childTnLst>
                              <p:par>
                                <p:cTn id="16" presetID="10" presetClass="entr" presetSubtype="0" fill="hold" grpId="0" nodeType="afterEffect">
                                  <p:stCondLst>
                                    <p:cond delay="0"/>
                                  </p:stCondLst>
                                  <p:childTnLst>
                                    <p:set>
                                      <p:cBhvr>
                                        <p:cTn id="17" dur="1" fill="hold">
                                          <p:stCondLst>
                                            <p:cond delay="0"/>
                                          </p:stCondLst>
                                        </p:cTn>
                                        <p:tgtEl>
                                          <p:spTgt spid="49"/>
                                        </p:tgtEl>
                                        <p:attrNameLst>
                                          <p:attrName>style.visibility</p:attrName>
                                        </p:attrNameLst>
                                      </p:cBhvr>
                                      <p:to>
                                        <p:strVal val="visible"/>
                                      </p:to>
                                    </p:set>
                                    <p:animEffect transition="in" filter="fade">
                                      <p:cBhvr>
                                        <p:cTn id="18"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p:bldP spid="49"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Prim’s Algorithm – Example 1</a:t>
            </a:r>
          </a:p>
        </p:txBody>
      </p:sp>
      <p:graphicFrame>
        <p:nvGraphicFramePr>
          <p:cNvPr id="3" name="Table 2"/>
          <p:cNvGraphicFramePr>
            <a:graphicFrameLocks noGrp="1"/>
          </p:cNvGraphicFramePr>
          <p:nvPr>
            <p:extLst>
              <p:ext uri="{D42A27DB-BD31-4B8C-83A1-F6EECF244321}">
                <p14:modId xmlns:p14="http://schemas.microsoft.com/office/powerpoint/2010/main" val="338595862"/>
              </p:ext>
            </p:extLst>
          </p:nvPr>
        </p:nvGraphicFramePr>
        <p:xfrm>
          <a:off x="2050357" y="3213846"/>
          <a:ext cx="8091286" cy="3334512"/>
        </p:xfrm>
        <a:graphic>
          <a:graphicData uri="http://schemas.openxmlformats.org/drawingml/2006/table">
            <a:tbl>
              <a:tblPr firstRow="1" firstCol="1" bandRow="1">
                <a:tableStyleId>{5C22544A-7EE6-4342-B048-85BDC9FD1C3A}</a:tableStyleId>
              </a:tblPr>
              <a:tblGrid>
                <a:gridCol w="799521">
                  <a:extLst>
                    <a:ext uri="{9D8B030D-6E8A-4147-A177-3AD203B41FA5}">
                      <a16:colId xmlns:a16="http://schemas.microsoft.com/office/drawing/2014/main" val="3576670481"/>
                    </a:ext>
                  </a:extLst>
                </a:gridCol>
                <a:gridCol w="1291048">
                  <a:extLst>
                    <a:ext uri="{9D8B030D-6E8A-4147-A177-3AD203B41FA5}">
                      <a16:colId xmlns:a16="http://schemas.microsoft.com/office/drawing/2014/main" val="363215103"/>
                    </a:ext>
                  </a:extLst>
                </a:gridCol>
                <a:gridCol w="1971271">
                  <a:extLst>
                    <a:ext uri="{9D8B030D-6E8A-4147-A177-3AD203B41FA5}">
                      <a16:colId xmlns:a16="http://schemas.microsoft.com/office/drawing/2014/main" val="1607079190"/>
                    </a:ext>
                  </a:extLst>
                </a:gridCol>
                <a:gridCol w="4029446">
                  <a:extLst>
                    <a:ext uri="{9D8B030D-6E8A-4147-A177-3AD203B41FA5}">
                      <a16:colId xmlns:a16="http://schemas.microsoft.com/office/drawing/2014/main" val="3217155832"/>
                    </a:ext>
                  </a:extLst>
                </a:gridCol>
              </a:tblGrid>
              <a:tr h="958919">
                <a:tc>
                  <a:txBody>
                    <a:bodyPr/>
                    <a:lstStyle/>
                    <a:p>
                      <a:pPr marL="0" marR="0" algn="ctr">
                        <a:lnSpc>
                          <a:spcPct val="115000"/>
                        </a:lnSpc>
                        <a:spcBef>
                          <a:spcPts val="0"/>
                        </a:spcBef>
                        <a:spcAft>
                          <a:spcPts val="0"/>
                        </a:spcAft>
                      </a:pPr>
                      <a:r>
                        <a:rPr lang="en-US" sz="2000" dirty="0">
                          <a:solidFill>
                            <a:srgbClr val="C00000"/>
                          </a:solidFill>
                          <a:effectLst/>
                        </a:rPr>
                        <a:t>Step</a:t>
                      </a:r>
                      <a:endParaRPr lang="en-US" sz="20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rgbClr val="C00000"/>
                          </a:solidFill>
                          <a:effectLst/>
                        </a:rPr>
                        <a:t>Edge Selected {u, v}</a:t>
                      </a:r>
                      <a:endParaRPr lang="en-US" sz="20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rgbClr val="C00000"/>
                          </a:solidFill>
                          <a:effectLst/>
                        </a:rPr>
                        <a:t>Set B</a:t>
                      </a:r>
                      <a:endParaRPr lang="en-US" sz="20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rgbClr val="C00000"/>
                          </a:solidFill>
                          <a:effectLst/>
                        </a:rPr>
                        <a:t>Edges Considered</a:t>
                      </a:r>
                      <a:endParaRPr lang="en-US" sz="2000" dirty="0">
                        <a:solidFill>
                          <a:srgbClr val="C00000"/>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927897"/>
                  </a:ext>
                </a:extLst>
              </a:tr>
              <a:tr h="319640">
                <a:tc>
                  <a:txBody>
                    <a:bodyPr/>
                    <a:lstStyle/>
                    <a:p>
                      <a:pPr marL="0" marR="0" algn="ctr">
                        <a:lnSpc>
                          <a:spcPct val="115000"/>
                        </a:lnSpc>
                        <a:spcBef>
                          <a:spcPts val="0"/>
                        </a:spcBef>
                        <a:spcAft>
                          <a:spcPts val="0"/>
                        </a:spcAft>
                      </a:pPr>
                      <a:r>
                        <a:rPr lang="en-US" sz="2000" dirty="0" err="1">
                          <a:solidFill>
                            <a:schemeClr val="tx1"/>
                          </a:solidFill>
                          <a:effectLst/>
                        </a:rPr>
                        <a:t>Init.</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{1}</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0658536"/>
                  </a:ext>
                </a:extLst>
              </a:tr>
              <a:tr h="319640">
                <a:tc>
                  <a:txBody>
                    <a:bodyPr/>
                    <a:lstStyle/>
                    <a:p>
                      <a:pPr marL="0" marR="0" algn="ctr">
                        <a:lnSpc>
                          <a:spcPct val="115000"/>
                        </a:lnSpc>
                        <a:spcBef>
                          <a:spcPts val="0"/>
                        </a:spcBef>
                        <a:spcAft>
                          <a:spcPts val="0"/>
                        </a:spcAft>
                      </a:pPr>
                      <a:r>
                        <a:rPr lang="en-US" sz="2000" b="0" dirty="0">
                          <a:solidFill>
                            <a:schemeClr val="tx1"/>
                          </a:solidFill>
                          <a:effectLst/>
                        </a:rPr>
                        <a:t>1</a:t>
                      </a:r>
                      <a:endParaRPr lang="en-US" sz="20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{1, 2}</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{1,2}</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just">
                        <a:lnSpc>
                          <a:spcPct val="115000"/>
                        </a:lnSpc>
                        <a:spcBef>
                          <a:spcPts val="0"/>
                        </a:spcBef>
                        <a:spcAft>
                          <a:spcPts val="0"/>
                        </a:spcAft>
                      </a:pPr>
                      <a:r>
                        <a:rPr lang="en-US" sz="2000" b="1" dirty="0">
                          <a:solidFill>
                            <a:srgbClr val="AD1457"/>
                          </a:solidFill>
                          <a:effectLst/>
                        </a:rPr>
                        <a:t>{1,2} </a:t>
                      </a:r>
                      <a:r>
                        <a:rPr lang="en-US" sz="2000" dirty="0">
                          <a:solidFill>
                            <a:schemeClr val="tx1"/>
                          </a:solidFill>
                          <a:effectLst/>
                        </a:rPr>
                        <a:t>{1,4}</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9234964"/>
                  </a:ext>
                </a:extLst>
              </a:tr>
              <a:tr h="319640">
                <a:tc>
                  <a:txBody>
                    <a:bodyPr/>
                    <a:lstStyle/>
                    <a:p>
                      <a:pPr marL="0" marR="0" algn="ctr">
                        <a:lnSpc>
                          <a:spcPct val="115000"/>
                        </a:lnSpc>
                        <a:spcBef>
                          <a:spcPts val="0"/>
                        </a:spcBef>
                        <a:spcAft>
                          <a:spcPts val="0"/>
                        </a:spcAft>
                      </a:pPr>
                      <a:r>
                        <a:rPr lang="en-US" sz="2000" b="0" dirty="0">
                          <a:solidFill>
                            <a:schemeClr val="tx1"/>
                          </a:solidFill>
                          <a:effectLst/>
                        </a:rPr>
                        <a:t>2</a:t>
                      </a:r>
                      <a:endParaRPr lang="en-US" sz="20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{2, 3}</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{1,2,3}</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just">
                        <a:lnSpc>
                          <a:spcPct val="115000"/>
                        </a:lnSpc>
                        <a:spcBef>
                          <a:spcPts val="0"/>
                        </a:spcBef>
                        <a:spcAft>
                          <a:spcPts val="0"/>
                        </a:spcAft>
                      </a:pPr>
                      <a:r>
                        <a:rPr lang="en-US" sz="2000" dirty="0">
                          <a:solidFill>
                            <a:schemeClr val="tx1"/>
                          </a:solidFill>
                          <a:effectLst/>
                        </a:rPr>
                        <a:t>{1,4} </a:t>
                      </a:r>
                      <a:r>
                        <a:rPr lang="en-US" sz="2000" b="1" dirty="0">
                          <a:solidFill>
                            <a:srgbClr val="AD1457"/>
                          </a:solidFill>
                          <a:effectLst/>
                        </a:rPr>
                        <a:t>{2,3} </a:t>
                      </a:r>
                      <a:r>
                        <a:rPr lang="en-US" sz="2000" dirty="0">
                          <a:solidFill>
                            <a:schemeClr val="tx1"/>
                          </a:solidFill>
                          <a:effectLst/>
                        </a:rPr>
                        <a:t>{2,4} {2,5}</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7923097"/>
                  </a:ext>
                </a:extLst>
              </a:tr>
              <a:tr h="319640">
                <a:tc>
                  <a:txBody>
                    <a:bodyPr/>
                    <a:lstStyle/>
                    <a:p>
                      <a:pPr marL="0" marR="0" algn="ctr">
                        <a:lnSpc>
                          <a:spcPct val="115000"/>
                        </a:lnSpc>
                        <a:spcBef>
                          <a:spcPts val="0"/>
                        </a:spcBef>
                        <a:spcAft>
                          <a:spcPts val="0"/>
                        </a:spcAft>
                      </a:pPr>
                      <a:r>
                        <a:rPr lang="en-US" sz="2000" b="0" dirty="0">
                          <a:solidFill>
                            <a:schemeClr val="tx1"/>
                          </a:solidFill>
                          <a:effectLst/>
                        </a:rPr>
                        <a:t>3</a:t>
                      </a:r>
                      <a:endParaRPr lang="en-US" sz="20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{1, 4}</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{1,2,3,4}</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just">
                        <a:lnSpc>
                          <a:spcPct val="115000"/>
                        </a:lnSpc>
                        <a:spcBef>
                          <a:spcPts val="0"/>
                        </a:spcBef>
                        <a:spcAft>
                          <a:spcPts val="0"/>
                        </a:spcAft>
                      </a:pPr>
                      <a:r>
                        <a:rPr lang="en-US" sz="2000" b="1" dirty="0">
                          <a:solidFill>
                            <a:srgbClr val="AD1457"/>
                          </a:solidFill>
                          <a:effectLst/>
                        </a:rPr>
                        <a:t>{1,4} </a:t>
                      </a:r>
                      <a:r>
                        <a:rPr lang="en-US" sz="2000" b="0" dirty="0">
                          <a:solidFill>
                            <a:schemeClr val="tx1"/>
                          </a:solidFill>
                          <a:effectLst/>
                        </a:rPr>
                        <a:t>{</a:t>
                      </a:r>
                      <a:r>
                        <a:rPr lang="en-US" sz="2000" dirty="0">
                          <a:solidFill>
                            <a:schemeClr val="tx1"/>
                          </a:solidFill>
                          <a:effectLst/>
                        </a:rPr>
                        <a:t>2,4} {2,5} {3,5} {3,6}</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6160645"/>
                  </a:ext>
                </a:extLst>
              </a:tr>
              <a:tr h="319640">
                <a:tc>
                  <a:txBody>
                    <a:bodyPr/>
                    <a:lstStyle/>
                    <a:p>
                      <a:pPr marL="0" marR="0" algn="ctr">
                        <a:lnSpc>
                          <a:spcPct val="115000"/>
                        </a:lnSpc>
                        <a:spcBef>
                          <a:spcPts val="0"/>
                        </a:spcBef>
                        <a:spcAft>
                          <a:spcPts val="0"/>
                        </a:spcAft>
                      </a:pPr>
                      <a:r>
                        <a:rPr lang="en-US" sz="2000" b="0" dirty="0">
                          <a:solidFill>
                            <a:schemeClr val="tx1"/>
                          </a:solidFill>
                          <a:effectLst/>
                        </a:rPr>
                        <a:t>4</a:t>
                      </a:r>
                      <a:endParaRPr lang="en-US" sz="20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{4, 5}</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{1,2,3,4,5}</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just">
                        <a:lnSpc>
                          <a:spcPct val="115000"/>
                        </a:lnSpc>
                        <a:spcBef>
                          <a:spcPts val="0"/>
                        </a:spcBef>
                        <a:spcAft>
                          <a:spcPts val="0"/>
                        </a:spcAft>
                      </a:pPr>
                      <a:r>
                        <a:rPr lang="en-US" sz="2000" dirty="0">
                          <a:solidFill>
                            <a:schemeClr val="tx1"/>
                          </a:solidFill>
                          <a:effectLst/>
                        </a:rPr>
                        <a:t>{2,4} {2,5} {3,5} {3,6} </a:t>
                      </a:r>
                      <a:r>
                        <a:rPr lang="en-US" sz="2000" b="1" dirty="0">
                          <a:solidFill>
                            <a:srgbClr val="AD1457"/>
                          </a:solidFill>
                          <a:effectLst/>
                        </a:rPr>
                        <a:t>{4,5} </a:t>
                      </a:r>
                      <a:r>
                        <a:rPr lang="en-US" sz="2000" dirty="0">
                          <a:solidFill>
                            <a:schemeClr val="tx1"/>
                          </a:solidFill>
                          <a:effectLst/>
                        </a:rPr>
                        <a:t>{4,7}</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2235520"/>
                  </a:ext>
                </a:extLst>
              </a:tr>
              <a:tr h="319640">
                <a:tc>
                  <a:txBody>
                    <a:bodyPr/>
                    <a:lstStyle/>
                    <a:p>
                      <a:pPr marL="0" marR="0" algn="ctr">
                        <a:lnSpc>
                          <a:spcPct val="115000"/>
                        </a:lnSpc>
                        <a:spcBef>
                          <a:spcPts val="0"/>
                        </a:spcBef>
                        <a:spcAft>
                          <a:spcPts val="0"/>
                        </a:spcAft>
                      </a:pPr>
                      <a:r>
                        <a:rPr lang="en-US" sz="2000" b="0" dirty="0">
                          <a:solidFill>
                            <a:schemeClr val="tx1"/>
                          </a:solidFill>
                          <a:effectLst/>
                        </a:rPr>
                        <a:t>5</a:t>
                      </a:r>
                      <a:endParaRPr lang="en-US" sz="20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{4, 7}</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{1,2,3,4,5,7}</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just">
                        <a:lnSpc>
                          <a:spcPct val="115000"/>
                        </a:lnSpc>
                        <a:spcBef>
                          <a:spcPts val="0"/>
                        </a:spcBef>
                        <a:spcAft>
                          <a:spcPts val="0"/>
                        </a:spcAft>
                      </a:pPr>
                      <a:r>
                        <a:rPr lang="en-US" sz="2000" dirty="0">
                          <a:solidFill>
                            <a:schemeClr val="tx1"/>
                          </a:solidFill>
                          <a:effectLst/>
                        </a:rPr>
                        <a:t>{2,4} {2,5} {3,5} {3,6} </a:t>
                      </a:r>
                      <a:r>
                        <a:rPr lang="en-US" sz="2000" b="1" dirty="0">
                          <a:solidFill>
                            <a:srgbClr val="AD1457"/>
                          </a:solidFill>
                          <a:effectLst/>
                        </a:rPr>
                        <a:t>{4,7} </a:t>
                      </a:r>
                      <a:r>
                        <a:rPr lang="en-US" sz="2000" dirty="0">
                          <a:solidFill>
                            <a:schemeClr val="tx1"/>
                          </a:solidFill>
                          <a:effectLst/>
                        </a:rPr>
                        <a:t>{5,6} {5,7}</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95800324"/>
                  </a:ext>
                </a:extLst>
              </a:tr>
              <a:tr h="319640">
                <a:tc>
                  <a:txBody>
                    <a:bodyPr/>
                    <a:lstStyle/>
                    <a:p>
                      <a:pPr marL="0" marR="0" algn="ctr">
                        <a:lnSpc>
                          <a:spcPct val="115000"/>
                        </a:lnSpc>
                        <a:spcBef>
                          <a:spcPts val="0"/>
                        </a:spcBef>
                        <a:spcAft>
                          <a:spcPts val="0"/>
                        </a:spcAft>
                      </a:pPr>
                      <a:r>
                        <a:rPr lang="en-US" sz="2000" b="0" dirty="0">
                          <a:solidFill>
                            <a:schemeClr val="tx1"/>
                          </a:solidFill>
                          <a:effectLst/>
                        </a:rPr>
                        <a:t>6</a:t>
                      </a:r>
                      <a:endParaRPr lang="en-US" sz="2000" b="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{6,7}</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2000" dirty="0">
                          <a:solidFill>
                            <a:schemeClr val="tx1"/>
                          </a:solidFill>
                          <a:effectLst/>
                        </a:rPr>
                        <a:t>{1,2,3,4,5,6,7}</a:t>
                      </a:r>
                      <a:endParaRPr lang="en-US" sz="2000" dirty="0">
                        <a:solidFill>
                          <a:schemeClr val="tx1"/>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just">
                        <a:lnSpc>
                          <a:spcPct val="115000"/>
                        </a:lnSpc>
                        <a:spcBef>
                          <a:spcPts val="0"/>
                        </a:spcBef>
                        <a:spcAft>
                          <a:spcPts val="0"/>
                        </a:spcAft>
                      </a:pPr>
                      <a:r>
                        <a:rPr lang="en-US" sz="2000" dirty="0">
                          <a:solidFill>
                            <a:schemeClr val="tx1"/>
                          </a:solidFill>
                          <a:effectLst/>
                        </a:rPr>
                        <a:t>{2,4} {2,5} {3,5} {3,6} {5,6} {5,7} </a:t>
                      </a:r>
                      <a:r>
                        <a:rPr lang="en-US" sz="2000" b="1" dirty="0">
                          <a:solidFill>
                            <a:srgbClr val="AD1457"/>
                          </a:solidFill>
                          <a:effectLst/>
                        </a:rPr>
                        <a:t>{6,7}</a:t>
                      </a:r>
                      <a:endParaRPr lang="en-US" sz="2000" b="1" dirty="0">
                        <a:solidFill>
                          <a:srgbClr val="AD1457"/>
                        </a:solidFill>
                        <a:effectLst/>
                        <a:latin typeface="Calibri" panose="020F0502020204030204" pitchFamily="34" charset="0"/>
                        <a:ea typeface="Times New Roman" panose="02020603050405020304" pitchFamily="18" charset="0"/>
                        <a:cs typeface="Shruti" panose="020B0502040204020203"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2755033"/>
                  </a:ext>
                </a:extLst>
              </a:tr>
            </a:tbl>
          </a:graphicData>
        </a:graphic>
      </p:graphicFrame>
      <p:cxnSp>
        <p:nvCxnSpPr>
          <p:cNvPr id="4" name="Straight Arrow Connector 3"/>
          <p:cNvCxnSpPr/>
          <p:nvPr/>
        </p:nvCxnSpPr>
        <p:spPr>
          <a:xfrm>
            <a:off x="5255656" y="1371600"/>
            <a:ext cx="1676400" cy="0"/>
          </a:xfrm>
          <a:prstGeom prst="straightConnector1">
            <a:avLst/>
          </a:prstGeom>
          <a:ln w="571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10304162" y="737909"/>
            <a:ext cx="1394915" cy="461665"/>
          </a:xfrm>
          <a:prstGeom prst="rect">
            <a:avLst/>
          </a:prstGeom>
          <a:solidFill>
            <a:schemeClr val="accent2">
              <a:lumMod val="20000"/>
              <a:lumOff val="80000"/>
            </a:schemeClr>
          </a:solidFill>
        </p:spPr>
        <p:txBody>
          <a:bodyPr wrap="square" rtlCol="0">
            <a:spAutoFit/>
          </a:bodyPr>
          <a:lstStyle/>
          <a:p>
            <a:r>
              <a:rPr lang="en-US" sz="2400" b="1" dirty="0">
                <a:solidFill>
                  <a:srgbClr val="AD1457"/>
                </a:solidFill>
              </a:rPr>
              <a:t>Cost = 17</a:t>
            </a:r>
          </a:p>
        </p:txBody>
      </p:sp>
      <p:pic>
        <p:nvPicPr>
          <p:cNvPr id="6" name="Picture 5"/>
          <p:cNvPicPr>
            <a:picLocks noChangeAspect="1"/>
          </p:cNvPicPr>
          <p:nvPr/>
        </p:nvPicPr>
        <p:blipFill>
          <a:blip r:embed="rId2"/>
          <a:stretch>
            <a:fillRect/>
          </a:stretch>
        </p:blipFill>
        <p:spPr>
          <a:xfrm>
            <a:off x="1836485" y="242047"/>
            <a:ext cx="2888926" cy="2743200"/>
          </a:xfrm>
          <a:prstGeom prst="rect">
            <a:avLst/>
          </a:prstGeom>
        </p:spPr>
      </p:pic>
      <p:pic>
        <p:nvPicPr>
          <p:cNvPr id="7" name="Picture 6"/>
          <p:cNvPicPr>
            <a:picLocks noChangeAspect="1"/>
          </p:cNvPicPr>
          <p:nvPr/>
        </p:nvPicPr>
        <p:blipFill>
          <a:blip r:embed="rId3"/>
          <a:stretch>
            <a:fillRect/>
          </a:stretch>
        </p:blipFill>
        <p:spPr>
          <a:xfrm>
            <a:off x="7462300" y="242047"/>
            <a:ext cx="2888926" cy="2743200"/>
          </a:xfrm>
          <a:prstGeom prst="rect">
            <a:avLst/>
          </a:prstGeom>
        </p:spPr>
      </p:pic>
    </p:spTree>
    <p:extLst>
      <p:ext uri="{BB962C8B-B14F-4D97-AF65-F5344CB8AC3E}">
        <p14:creationId xmlns:p14="http://schemas.microsoft.com/office/powerpoint/2010/main" val="2423657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amond(out)">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2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32"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amond(out)">
                                      <p:cBhvr>
                                        <p:cTn id="22" dur="20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Prim’s Algorithm</a:t>
            </a:r>
          </a:p>
        </p:txBody>
      </p:sp>
      <p:pic>
        <p:nvPicPr>
          <p:cNvPr id="7" name="Picture 6">
            <a:extLst>
              <a:ext uri="{FF2B5EF4-FFF2-40B4-BE49-F238E27FC236}">
                <a16:creationId xmlns:a16="http://schemas.microsoft.com/office/drawing/2014/main" id="{27FE1F95-43E9-4A4B-BF6E-8B782D615D8C}"/>
              </a:ext>
            </a:extLst>
          </p:cNvPr>
          <p:cNvPicPr>
            <a:picLocks noChangeAspect="1"/>
          </p:cNvPicPr>
          <p:nvPr/>
        </p:nvPicPr>
        <p:blipFill>
          <a:blip r:embed="rId2"/>
          <a:stretch>
            <a:fillRect/>
          </a:stretch>
        </p:blipFill>
        <p:spPr>
          <a:xfrm>
            <a:off x="268087" y="828952"/>
            <a:ext cx="4743450" cy="3810000"/>
          </a:xfrm>
          <a:prstGeom prst="rect">
            <a:avLst/>
          </a:prstGeom>
        </p:spPr>
      </p:pic>
      <p:sp>
        <p:nvSpPr>
          <p:cNvPr id="5" name="TextBox 4">
            <a:extLst>
              <a:ext uri="{FF2B5EF4-FFF2-40B4-BE49-F238E27FC236}">
                <a16:creationId xmlns:a16="http://schemas.microsoft.com/office/drawing/2014/main" id="{F3DC1340-C9A2-4CCC-8B17-0FE44CF11616}"/>
              </a:ext>
            </a:extLst>
          </p:cNvPr>
          <p:cNvSpPr txBox="1"/>
          <p:nvPr/>
        </p:nvSpPr>
        <p:spPr>
          <a:xfrm>
            <a:off x="5111015" y="828952"/>
            <a:ext cx="6978315" cy="3046988"/>
          </a:xfrm>
          <a:prstGeom prst="rect">
            <a:avLst/>
          </a:prstGeom>
          <a:noFill/>
        </p:spPr>
        <p:txBody>
          <a:bodyPr wrap="square">
            <a:spAutoFit/>
          </a:bodyPr>
          <a:lstStyle/>
          <a:p>
            <a:pPr algn="l"/>
            <a:r>
              <a:rPr lang="en-US" sz="1600" b="1" i="0" dirty="0">
                <a:solidFill>
                  <a:srgbClr val="61738E"/>
                </a:solidFill>
                <a:effectLst/>
                <a:latin typeface="__Source_Sans_Pro_fea366"/>
              </a:rPr>
              <a:t>Alternatively </a:t>
            </a:r>
          </a:p>
          <a:p>
            <a:pPr algn="l">
              <a:buFont typeface="+mj-lt"/>
              <a:buAutoNum type="arabicPeriod"/>
            </a:pPr>
            <a:r>
              <a:rPr lang="en-US" sz="1600" b="0" i="0" dirty="0">
                <a:solidFill>
                  <a:srgbClr val="61738E"/>
                </a:solidFill>
                <a:effectLst/>
                <a:latin typeface="__Source_Sans_Pro_fea366"/>
              </a:rPr>
              <a:t> Create an array parent[] of size V to store indexes of parent nodes in MST.</a:t>
            </a:r>
          </a:p>
          <a:p>
            <a:pPr algn="l">
              <a:buFont typeface="+mj-lt"/>
              <a:buAutoNum type="arabicPeriod"/>
            </a:pPr>
            <a:r>
              <a:rPr lang="en-US" sz="1600" b="0" i="0" dirty="0">
                <a:solidFill>
                  <a:srgbClr val="61738E"/>
                </a:solidFill>
                <a:effectLst/>
                <a:latin typeface="__Source_Sans_Pro_fea366"/>
              </a:rPr>
              <a:t>Also create an array key[] to store key values of all vertices.</a:t>
            </a:r>
          </a:p>
          <a:p>
            <a:pPr algn="l">
              <a:buFont typeface="+mj-lt"/>
              <a:buAutoNum type="arabicPeriod"/>
            </a:pPr>
            <a:r>
              <a:rPr lang="en-US" sz="1600" b="0" i="0" dirty="0">
                <a:solidFill>
                  <a:srgbClr val="61738E"/>
                </a:solidFill>
                <a:effectLst/>
                <a:latin typeface="__Source_Sans_Pro_fea366"/>
              </a:rPr>
              <a:t>Initialize all key values as INFINITE.</a:t>
            </a:r>
          </a:p>
          <a:p>
            <a:pPr algn="l">
              <a:buFont typeface="+mj-lt"/>
              <a:buAutoNum type="arabicPeriod"/>
            </a:pPr>
            <a:r>
              <a:rPr lang="en-US" sz="1600" b="0" i="0" dirty="0">
                <a:solidFill>
                  <a:srgbClr val="61738E"/>
                </a:solidFill>
                <a:effectLst/>
                <a:latin typeface="__Source_Sans_Pro_fea366"/>
              </a:rPr>
              <a:t>Assign key value as 0 for the first vertex so that it is picked first.</a:t>
            </a:r>
          </a:p>
          <a:p>
            <a:pPr algn="l">
              <a:buFont typeface="+mj-lt"/>
              <a:buAutoNum type="arabicPeriod" startAt="6"/>
            </a:pPr>
            <a:r>
              <a:rPr lang="en-US" sz="1600" b="0" i="0" dirty="0">
                <a:solidFill>
                  <a:srgbClr val="61738E"/>
                </a:solidFill>
                <a:effectLst/>
                <a:latin typeface="__Source_Sans_Pro_fea366"/>
              </a:rPr>
              <a:t>Create a </a:t>
            </a:r>
            <a:r>
              <a:rPr lang="en-US" sz="1600" b="0" i="0" dirty="0" err="1">
                <a:solidFill>
                  <a:srgbClr val="61738E"/>
                </a:solidFill>
                <a:effectLst/>
                <a:latin typeface="__Source_Sans_Pro_fea366"/>
              </a:rPr>
              <a:t>boolean</a:t>
            </a:r>
            <a:r>
              <a:rPr lang="en-US" sz="1600" b="0" i="0" dirty="0">
                <a:solidFill>
                  <a:srgbClr val="61738E"/>
                </a:solidFill>
                <a:effectLst/>
                <a:latin typeface="__Source_Sans_Pro_fea366"/>
              </a:rPr>
              <a:t> array </a:t>
            </a:r>
            <a:r>
              <a:rPr lang="en-US" sz="1600" b="0" i="0" dirty="0" err="1">
                <a:solidFill>
                  <a:srgbClr val="61738E"/>
                </a:solidFill>
                <a:effectLst/>
                <a:latin typeface="__Source_Sans_Pro_fea366"/>
              </a:rPr>
              <a:t>mstSet</a:t>
            </a:r>
            <a:r>
              <a:rPr lang="en-US" sz="1600" b="0" i="0" dirty="0">
                <a:solidFill>
                  <a:srgbClr val="61738E"/>
                </a:solidFill>
                <a:effectLst/>
                <a:latin typeface="__Source_Sans_Pro_fea366"/>
              </a:rPr>
              <a:t>[] to represent the set of vertices included in MST.</a:t>
            </a:r>
          </a:p>
          <a:p>
            <a:pPr algn="l">
              <a:buFont typeface="+mj-lt"/>
              <a:buAutoNum type="arabicPeriod" startAt="6"/>
            </a:pPr>
            <a:r>
              <a:rPr lang="en-US" sz="1600" b="0" i="0" dirty="0">
                <a:solidFill>
                  <a:srgbClr val="61738E"/>
                </a:solidFill>
                <a:effectLst/>
                <a:latin typeface="__Source_Sans_Pro_fea366"/>
              </a:rPr>
              <a:t>While </a:t>
            </a:r>
            <a:r>
              <a:rPr lang="en-US" sz="1600" b="0" i="0" dirty="0" err="1">
                <a:solidFill>
                  <a:srgbClr val="61738E"/>
                </a:solidFill>
                <a:effectLst/>
                <a:latin typeface="__Source_Sans_Pro_fea366"/>
              </a:rPr>
              <a:t>mstSet</a:t>
            </a:r>
            <a:r>
              <a:rPr lang="en-US" sz="1600" b="0" i="0" dirty="0">
                <a:solidFill>
                  <a:srgbClr val="61738E"/>
                </a:solidFill>
                <a:effectLst/>
                <a:latin typeface="__Source_Sans_Pro_fea366"/>
              </a:rPr>
              <a:t> doesn’t include all vertices</a:t>
            </a:r>
          </a:p>
          <a:p>
            <a:pPr marL="742950" lvl="1" indent="-285750" algn="l">
              <a:buFont typeface="+mj-lt"/>
              <a:buAutoNum type="arabicPeriod" startAt="6"/>
            </a:pPr>
            <a:r>
              <a:rPr lang="en-US" sz="1600" b="0" i="0" dirty="0">
                <a:solidFill>
                  <a:srgbClr val="61738E"/>
                </a:solidFill>
                <a:effectLst/>
                <a:latin typeface="__Source_Sans_Pro_fea366"/>
              </a:rPr>
              <a:t>Pick a vertex u which is not there in </a:t>
            </a:r>
            <a:r>
              <a:rPr lang="en-US" sz="1600" b="0" i="0" dirty="0" err="1">
                <a:solidFill>
                  <a:srgbClr val="61738E"/>
                </a:solidFill>
                <a:effectLst/>
                <a:latin typeface="__Source_Sans_Pro_fea366"/>
              </a:rPr>
              <a:t>mstSet</a:t>
            </a:r>
            <a:r>
              <a:rPr lang="en-US" sz="1600" b="0" i="0" dirty="0">
                <a:solidFill>
                  <a:srgbClr val="61738E"/>
                </a:solidFill>
                <a:effectLst/>
                <a:latin typeface="__Source_Sans_Pro_fea366"/>
              </a:rPr>
              <a:t> and has minimum key value.</a:t>
            </a:r>
          </a:p>
          <a:p>
            <a:pPr marL="742950" lvl="1" indent="-285750" algn="l">
              <a:buFont typeface="+mj-lt"/>
              <a:buAutoNum type="arabicPeriod" startAt="6"/>
            </a:pPr>
            <a:r>
              <a:rPr lang="en-US" sz="1600" b="0" i="0" dirty="0">
                <a:solidFill>
                  <a:srgbClr val="61738E"/>
                </a:solidFill>
                <a:effectLst/>
                <a:latin typeface="__Source_Sans_Pro_fea366"/>
              </a:rPr>
              <a:t>Include u to </a:t>
            </a:r>
            <a:r>
              <a:rPr lang="en-US" sz="1600" b="0" i="0" dirty="0" err="1">
                <a:solidFill>
                  <a:srgbClr val="61738E"/>
                </a:solidFill>
                <a:effectLst/>
                <a:latin typeface="__Source_Sans_Pro_fea366"/>
              </a:rPr>
              <a:t>mstSet</a:t>
            </a:r>
            <a:r>
              <a:rPr lang="en-US" sz="1600" b="0" i="0" dirty="0">
                <a:solidFill>
                  <a:srgbClr val="61738E"/>
                </a:solidFill>
                <a:effectLst/>
                <a:latin typeface="__Source_Sans_Pro_fea366"/>
              </a:rPr>
              <a:t>.</a:t>
            </a:r>
          </a:p>
          <a:p>
            <a:pPr marL="742950" lvl="1" indent="-285750" algn="l">
              <a:buFont typeface="+mj-lt"/>
              <a:buAutoNum type="arabicPeriod" startAt="6"/>
            </a:pPr>
            <a:r>
              <a:rPr lang="en-US" sz="1600" b="0" i="0" dirty="0">
                <a:solidFill>
                  <a:srgbClr val="61738E"/>
                </a:solidFill>
                <a:effectLst/>
                <a:latin typeface="__Source_Sans_Pro_fea366"/>
              </a:rPr>
              <a:t>Update the key value of all adjacent vertices of u according to the respective edge weights.</a:t>
            </a:r>
          </a:p>
          <a:p>
            <a:pPr algn="l">
              <a:buFont typeface="+mj-lt"/>
              <a:buAutoNum type="arabicPeriod" startAt="7"/>
            </a:pPr>
            <a:r>
              <a:rPr lang="en-US" sz="1600" b="0" i="0" dirty="0">
                <a:solidFill>
                  <a:srgbClr val="61738E"/>
                </a:solidFill>
                <a:effectLst/>
                <a:latin typeface="__Source_Sans_Pro_fea366"/>
              </a:rPr>
              <a:t>The parent array is the output array that is used to show the constructed MST.</a:t>
            </a:r>
          </a:p>
        </p:txBody>
      </p:sp>
    </p:spTree>
    <p:extLst>
      <p:ext uri="{BB962C8B-B14F-4D97-AF65-F5344CB8AC3E}">
        <p14:creationId xmlns:p14="http://schemas.microsoft.com/office/powerpoint/2010/main" val="325869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DC7AF-BEDD-44C7-A400-B0DC7916123A}"/>
              </a:ext>
            </a:extLst>
          </p:cNvPr>
          <p:cNvSpPr>
            <a:spLocks noGrp="1"/>
          </p:cNvSpPr>
          <p:nvPr>
            <p:ph type="title"/>
          </p:nvPr>
        </p:nvSpPr>
        <p:spPr/>
        <p:txBody>
          <a:bodyPr/>
          <a:lstStyle/>
          <a:p>
            <a:r>
              <a:rPr lang="en-IN" dirty="0"/>
              <a:t>Complexity analysis</a:t>
            </a:r>
          </a:p>
        </p:txBody>
      </p:sp>
      <p:sp>
        <p:nvSpPr>
          <p:cNvPr id="3" name="Content Placeholder 2">
            <a:extLst>
              <a:ext uri="{FF2B5EF4-FFF2-40B4-BE49-F238E27FC236}">
                <a16:creationId xmlns:a16="http://schemas.microsoft.com/office/drawing/2014/main" id="{A3C342ED-F3F4-4D21-848B-BE366AA562F8}"/>
              </a:ext>
            </a:extLst>
          </p:cNvPr>
          <p:cNvSpPr>
            <a:spLocks noGrp="1"/>
          </p:cNvSpPr>
          <p:nvPr>
            <p:ph idx="1"/>
          </p:nvPr>
        </p:nvSpPr>
        <p:spPr/>
        <p:txBody>
          <a:bodyPr/>
          <a:lstStyle/>
          <a:p>
            <a:r>
              <a:rPr lang="en-IN" dirty="0"/>
              <a:t>Line 1-3: for each vertex --&gt; O(V)</a:t>
            </a:r>
          </a:p>
          <a:p>
            <a:r>
              <a:rPr lang="en-IN" dirty="0"/>
              <a:t>Line 4: O(1)</a:t>
            </a:r>
          </a:p>
          <a:p>
            <a:r>
              <a:rPr lang="en-IN" dirty="0"/>
              <a:t>Line 5: Build heap O(V log V)</a:t>
            </a:r>
          </a:p>
          <a:p>
            <a:r>
              <a:rPr lang="en-IN" dirty="0"/>
              <a:t>Line 6: O(V) times</a:t>
            </a:r>
          </a:p>
          <a:p>
            <a:r>
              <a:rPr lang="en-IN" dirty="0"/>
              <a:t>Line 7: O (log V) to extract 1 min , so Line 6 and 7-: V (log V)</a:t>
            </a:r>
          </a:p>
          <a:p>
            <a:r>
              <a:rPr lang="en-IN" dirty="0"/>
              <a:t>Line 8: </a:t>
            </a:r>
            <a:r>
              <a:rPr lang="en-IN" dirty="0">
                <a:solidFill>
                  <a:srgbClr val="C00000"/>
                </a:solidFill>
              </a:rPr>
              <a:t>worst case </a:t>
            </a:r>
            <a:r>
              <a:rPr lang="en-IN" dirty="0"/>
              <a:t>(V-1) vertices can be adjacent to any 1 so O(V-1) time i.e. for </a:t>
            </a:r>
            <a:r>
              <a:rPr lang="en-IN" dirty="0">
                <a:solidFill>
                  <a:srgbClr val="C00000"/>
                </a:solidFill>
              </a:rPr>
              <a:t>complete graph</a:t>
            </a:r>
          </a:p>
          <a:p>
            <a:pPr lvl="1"/>
            <a:r>
              <a:rPr lang="en-IN" dirty="0"/>
              <a:t>So line 6,8 </a:t>
            </a:r>
            <a:r>
              <a:rPr lang="en-IN" dirty="0">
                <a:sym typeface="Wingdings" panose="05000000000000000000" pitchFamily="2" charset="2"/>
              </a:rPr>
              <a:t> O(V</a:t>
            </a:r>
            <a:r>
              <a:rPr lang="en-IN" baseline="30000" dirty="0">
                <a:sym typeface="Wingdings" panose="05000000000000000000" pitchFamily="2" charset="2"/>
              </a:rPr>
              <a:t>2</a:t>
            </a:r>
            <a:r>
              <a:rPr lang="en-IN" dirty="0">
                <a:sym typeface="Wingdings" panose="05000000000000000000" pitchFamily="2" charset="2"/>
              </a:rPr>
              <a:t>)</a:t>
            </a:r>
            <a:endParaRPr lang="en-IN" dirty="0"/>
          </a:p>
          <a:p>
            <a:r>
              <a:rPr lang="en-IN" dirty="0"/>
              <a:t>Line 11: actually calling decrease key function of </a:t>
            </a:r>
            <a:r>
              <a:rPr lang="en-IN" dirty="0" err="1"/>
              <a:t>Min_Heap</a:t>
            </a:r>
            <a:r>
              <a:rPr lang="en-IN" dirty="0"/>
              <a:t> </a:t>
            </a:r>
            <a:r>
              <a:rPr lang="en-IN" dirty="0">
                <a:sym typeface="Wingdings" panose="05000000000000000000" pitchFamily="2" charset="2"/>
              </a:rPr>
              <a:t> O(log v)</a:t>
            </a:r>
          </a:p>
          <a:p>
            <a:pPr lvl="1"/>
            <a:r>
              <a:rPr lang="en-IN" dirty="0">
                <a:sym typeface="Wingdings" panose="05000000000000000000" pitchFamily="2" charset="2"/>
              </a:rPr>
              <a:t>So line 6,8,11 O(V</a:t>
            </a:r>
            <a:r>
              <a:rPr lang="en-IN" baseline="30000" dirty="0">
                <a:sym typeface="Wingdings" panose="05000000000000000000" pitchFamily="2" charset="2"/>
              </a:rPr>
              <a:t>2 </a:t>
            </a:r>
            <a:r>
              <a:rPr lang="en-IN" dirty="0">
                <a:sym typeface="Wingdings" panose="05000000000000000000" pitchFamily="2" charset="2"/>
              </a:rPr>
              <a:t>log V)</a:t>
            </a:r>
          </a:p>
          <a:p>
            <a:r>
              <a:rPr lang="en-IN" dirty="0"/>
              <a:t>time complexity: V+VlogV+VlogV+V</a:t>
            </a:r>
            <a:r>
              <a:rPr lang="en-IN" baseline="30000" dirty="0"/>
              <a:t>2</a:t>
            </a:r>
            <a:r>
              <a:rPr lang="en-IN" dirty="0"/>
              <a:t>log V</a:t>
            </a:r>
          </a:p>
          <a:p>
            <a:r>
              <a:rPr lang="en-IN" dirty="0"/>
              <a:t>If graph is not complete: </a:t>
            </a:r>
            <a:r>
              <a:rPr lang="en-IN" dirty="0">
                <a:solidFill>
                  <a:srgbClr val="C00000"/>
                </a:solidFill>
              </a:rPr>
              <a:t>O(E log V) i.e. E=V</a:t>
            </a:r>
            <a:r>
              <a:rPr lang="en-IN" baseline="30000" dirty="0">
                <a:solidFill>
                  <a:srgbClr val="C00000"/>
                </a:solidFill>
              </a:rPr>
              <a:t>2</a:t>
            </a:r>
            <a:r>
              <a:rPr lang="en-IN" dirty="0">
                <a:solidFill>
                  <a:srgbClr val="C00000"/>
                </a:solidFill>
              </a:rPr>
              <a:t> (dense) and E=V(sparse)</a:t>
            </a:r>
          </a:p>
          <a:p>
            <a:r>
              <a:rPr lang="en-IN" dirty="0"/>
              <a:t>Overall time complexity: </a:t>
            </a:r>
            <a:r>
              <a:rPr lang="en-IN" dirty="0" err="1"/>
              <a:t>V+VlogV+VlogV+Elog</a:t>
            </a:r>
            <a:r>
              <a:rPr lang="en-IN" dirty="0"/>
              <a:t> V==&gt; </a:t>
            </a:r>
            <a:r>
              <a:rPr lang="en-IN" dirty="0">
                <a:solidFill>
                  <a:srgbClr val="C00000"/>
                </a:solidFill>
              </a:rPr>
              <a:t>O((E+V) log V)</a:t>
            </a:r>
          </a:p>
          <a:p>
            <a:pPr marL="0" indent="0">
              <a:buNone/>
            </a:pPr>
            <a:endParaRPr lang="en-IN" baseline="30000" dirty="0">
              <a:solidFill>
                <a:srgbClr val="C00000"/>
              </a:solidFill>
            </a:endParaRPr>
          </a:p>
          <a:p>
            <a:pPr lvl="1"/>
            <a:endParaRPr lang="en-IN" baseline="30000" dirty="0"/>
          </a:p>
        </p:txBody>
      </p:sp>
    </p:spTree>
    <p:extLst>
      <p:ext uri="{BB962C8B-B14F-4D97-AF65-F5344CB8AC3E}">
        <p14:creationId xmlns:p14="http://schemas.microsoft.com/office/powerpoint/2010/main" val="613095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fade">
                                      <p:cBhvr>
                                        <p:cTn id="43" dur="500"/>
                                        <p:tgtEl>
                                          <p:spTgt spid="3">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
                                            <p:txEl>
                                              <p:pRg st="9" end="9"/>
                                            </p:txEl>
                                          </p:spTgt>
                                        </p:tgtEl>
                                        <p:attrNameLst>
                                          <p:attrName>style.visibility</p:attrName>
                                        </p:attrNameLst>
                                      </p:cBhvr>
                                      <p:to>
                                        <p:strVal val="visible"/>
                                      </p:to>
                                    </p:set>
                                    <p:animEffect transition="in" filter="fade">
                                      <p:cBhvr>
                                        <p:cTn id="48" dur="500"/>
                                        <p:tgtEl>
                                          <p:spTgt spid="3">
                                            <p:txEl>
                                              <p:pRg st="9" end="9"/>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animEffect transition="in" filter="fade">
                                      <p:cBhvr>
                                        <p:cTn id="53" dur="500"/>
                                        <p:tgtEl>
                                          <p:spTgt spid="3">
                                            <p:txEl>
                                              <p:pRg st="10" end="1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3">
                                            <p:txEl>
                                              <p:pRg st="11" end="11"/>
                                            </p:txEl>
                                          </p:spTgt>
                                        </p:tgtEl>
                                        <p:attrNameLst>
                                          <p:attrName>style.visibility</p:attrName>
                                        </p:attrNameLst>
                                      </p:cBhvr>
                                      <p:to>
                                        <p:strVal val="visible"/>
                                      </p:to>
                                    </p:set>
                                    <p:animEffect transition="in" filter="fade">
                                      <p:cBhvr>
                                        <p:cTn id="58"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Exercises – Home Work</a:t>
            </a:r>
          </a:p>
        </p:txBody>
      </p:sp>
      <p:sp>
        <p:nvSpPr>
          <p:cNvPr id="3" name="Content Placeholder 2"/>
          <p:cNvSpPr>
            <a:spLocks noGrp="1"/>
          </p:cNvSpPr>
          <p:nvPr>
            <p:ph idx="1"/>
          </p:nvPr>
        </p:nvSpPr>
        <p:spPr/>
        <p:txBody>
          <a:bodyPr/>
          <a:lstStyle/>
          <a:p>
            <a:r>
              <a:rPr lang="en-US" dirty="0"/>
              <a:t>Write the Prim’s Algorithm to find out Minimum Spanning Tree. Apply the same and find MST for the graph given below.</a:t>
            </a:r>
          </a:p>
          <a:p>
            <a:endParaRPr lang="en-US" dirty="0"/>
          </a:p>
        </p:txBody>
      </p:sp>
      <p:sp>
        <p:nvSpPr>
          <p:cNvPr id="4" name="Text Box 56"/>
          <p:cNvSpPr txBox="1">
            <a:spLocks noChangeArrowheads="1"/>
          </p:cNvSpPr>
          <p:nvPr/>
        </p:nvSpPr>
        <p:spPr bwMode="auto">
          <a:xfrm>
            <a:off x="1556665" y="38966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5</a:t>
            </a:r>
          </a:p>
        </p:txBody>
      </p:sp>
      <p:sp>
        <p:nvSpPr>
          <p:cNvPr id="5" name="Line 57"/>
          <p:cNvSpPr>
            <a:spLocks noChangeShapeType="1"/>
          </p:cNvSpPr>
          <p:nvPr/>
        </p:nvSpPr>
        <p:spPr bwMode="auto">
          <a:xfrm flipH="1">
            <a:off x="4257003" y="4201491"/>
            <a:ext cx="381000" cy="76200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 name="Text Box 58"/>
          <p:cNvSpPr txBox="1">
            <a:spLocks noChangeArrowheads="1"/>
          </p:cNvSpPr>
          <p:nvPr/>
        </p:nvSpPr>
        <p:spPr bwMode="auto">
          <a:xfrm>
            <a:off x="4147465" y="4594159"/>
            <a:ext cx="47942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   1</a:t>
            </a:r>
          </a:p>
        </p:txBody>
      </p:sp>
      <p:sp>
        <p:nvSpPr>
          <p:cNvPr id="7" name="Line 59"/>
          <p:cNvSpPr>
            <a:spLocks noChangeShapeType="1"/>
          </p:cNvSpPr>
          <p:nvPr/>
        </p:nvSpPr>
        <p:spPr bwMode="auto">
          <a:xfrm>
            <a:off x="3004465" y="3248991"/>
            <a:ext cx="152400" cy="68580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 name="Line 60"/>
          <p:cNvSpPr>
            <a:spLocks noChangeShapeType="1"/>
          </p:cNvSpPr>
          <p:nvPr/>
        </p:nvSpPr>
        <p:spPr bwMode="auto">
          <a:xfrm flipV="1">
            <a:off x="3309265" y="3363291"/>
            <a:ext cx="533400" cy="76200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61"/>
          <p:cNvSpPr>
            <a:spLocks noChangeShapeType="1"/>
          </p:cNvSpPr>
          <p:nvPr/>
        </p:nvSpPr>
        <p:spPr bwMode="auto">
          <a:xfrm flipH="1" flipV="1">
            <a:off x="3156865" y="3287091"/>
            <a:ext cx="1219200" cy="83820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Line 62"/>
          <p:cNvSpPr>
            <a:spLocks noChangeShapeType="1"/>
          </p:cNvSpPr>
          <p:nvPr/>
        </p:nvSpPr>
        <p:spPr bwMode="auto">
          <a:xfrm flipV="1">
            <a:off x="1937665" y="4201490"/>
            <a:ext cx="1021894" cy="314429"/>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Line 63"/>
          <p:cNvSpPr>
            <a:spLocks noChangeShapeType="1"/>
          </p:cNvSpPr>
          <p:nvPr/>
        </p:nvSpPr>
        <p:spPr bwMode="auto">
          <a:xfrm flipV="1">
            <a:off x="2852065" y="4276580"/>
            <a:ext cx="1447800" cy="83931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Line 64"/>
          <p:cNvSpPr>
            <a:spLocks noChangeShapeType="1"/>
          </p:cNvSpPr>
          <p:nvPr/>
        </p:nvSpPr>
        <p:spPr bwMode="auto">
          <a:xfrm flipV="1">
            <a:off x="1785264" y="3820490"/>
            <a:ext cx="78607" cy="550251"/>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65"/>
          <p:cNvSpPr>
            <a:spLocks noChangeShapeType="1"/>
          </p:cNvSpPr>
          <p:nvPr/>
        </p:nvSpPr>
        <p:spPr bwMode="auto">
          <a:xfrm>
            <a:off x="2013864" y="3668090"/>
            <a:ext cx="943289" cy="393037"/>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66"/>
          <p:cNvSpPr>
            <a:spLocks noChangeShapeType="1"/>
          </p:cNvSpPr>
          <p:nvPr/>
        </p:nvSpPr>
        <p:spPr bwMode="auto">
          <a:xfrm>
            <a:off x="3201315" y="3091829"/>
            <a:ext cx="6096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67"/>
          <p:cNvSpPr>
            <a:spLocks noChangeShapeType="1"/>
          </p:cNvSpPr>
          <p:nvPr/>
        </p:nvSpPr>
        <p:spPr bwMode="auto">
          <a:xfrm>
            <a:off x="4071265" y="3363291"/>
            <a:ext cx="381000" cy="60960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Oval 68"/>
          <p:cNvSpPr>
            <a:spLocks noChangeArrowheads="1"/>
          </p:cNvSpPr>
          <p:nvPr/>
        </p:nvSpPr>
        <p:spPr bwMode="auto">
          <a:xfrm>
            <a:off x="1556665" y="3515691"/>
            <a:ext cx="533400" cy="53340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Oval 69"/>
          <p:cNvSpPr>
            <a:spLocks noChangeArrowheads="1"/>
          </p:cNvSpPr>
          <p:nvPr/>
        </p:nvSpPr>
        <p:spPr bwMode="auto">
          <a:xfrm>
            <a:off x="1709065" y="3363291"/>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dirty="0">
                <a:solidFill>
                  <a:schemeClr val="bg1"/>
                </a:solidFill>
              </a:rPr>
              <a:t>A</a:t>
            </a:r>
          </a:p>
        </p:txBody>
      </p:sp>
      <p:sp>
        <p:nvSpPr>
          <p:cNvPr id="18" name="Oval 70"/>
          <p:cNvSpPr>
            <a:spLocks noChangeArrowheads="1"/>
          </p:cNvSpPr>
          <p:nvPr/>
        </p:nvSpPr>
        <p:spPr bwMode="auto">
          <a:xfrm>
            <a:off x="1556665" y="4277691"/>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dirty="0">
                <a:solidFill>
                  <a:schemeClr val="bg1"/>
                </a:solidFill>
              </a:rPr>
              <a:t>H</a:t>
            </a:r>
          </a:p>
        </p:txBody>
      </p:sp>
      <p:sp>
        <p:nvSpPr>
          <p:cNvPr id="19" name="Oval 71"/>
          <p:cNvSpPr>
            <a:spLocks noChangeArrowheads="1"/>
          </p:cNvSpPr>
          <p:nvPr/>
        </p:nvSpPr>
        <p:spPr bwMode="auto">
          <a:xfrm>
            <a:off x="2928265" y="3896691"/>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a:solidFill>
                  <a:schemeClr val="bg1"/>
                </a:solidFill>
              </a:rPr>
              <a:t>B</a:t>
            </a:r>
          </a:p>
        </p:txBody>
      </p:sp>
      <p:sp>
        <p:nvSpPr>
          <p:cNvPr id="20" name="Oval 72"/>
          <p:cNvSpPr>
            <a:spLocks noChangeArrowheads="1"/>
          </p:cNvSpPr>
          <p:nvPr/>
        </p:nvSpPr>
        <p:spPr bwMode="auto">
          <a:xfrm>
            <a:off x="2775865" y="2906091"/>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a:solidFill>
                  <a:schemeClr val="bg1"/>
                </a:solidFill>
              </a:rPr>
              <a:t>F</a:t>
            </a:r>
          </a:p>
        </p:txBody>
      </p:sp>
      <p:sp>
        <p:nvSpPr>
          <p:cNvPr id="21" name="Oval 73"/>
          <p:cNvSpPr>
            <a:spLocks noChangeArrowheads="1"/>
          </p:cNvSpPr>
          <p:nvPr/>
        </p:nvSpPr>
        <p:spPr bwMode="auto">
          <a:xfrm>
            <a:off x="3842665" y="4887291"/>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a:solidFill>
                  <a:schemeClr val="bg1"/>
                </a:solidFill>
              </a:rPr>
              <a:t>E</a:t>
            </a:r>
          </a:p>
        </p:txBody>
      </p:sp>
      <p:sp>
        <p:nvSpPr>
          <p:cNvPr id="22" name="Oval 74"/>
          <p:cNvSpPr>
            <a:spLocks noChangeArrowheads="1"/>
          </p:cNvSpPr>
          <p:nvPr/>
        </p:nvSpPr>
        <p:spPr bwMode="auto">
          <a:xfrm>
            <a:off x="4299865" y="3972891"/>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dirty="0">
                <a:solidFill>
                  <a:schemeClr val="bg1"/>
                </a:solidFill>
              </a:rPr>
              <a:t>D</a:t>
            </a:r>
          </a:p>
        </p:txBody>
      </p:sp>
      <p:sp>
        <p:nvSpPr>
          <p:cNvPr id="23" name="Oval 75"/>
          <p:cNvSpPr>
            <a:spLocks noChangeArrowheads="1"/>
          </p:cNvSpPr>
          <p:nvPr/>
        </p:nvSpPr>
        <p:spPr bwMode="auto">
          <a:xfrm>
            <a:off x="3766465" y="2982291"/>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a:solidFill>
                  <a:schemeClr val="bg1"/>
                </a:solidFill>
              </a:rPr>
              <a:t>C</a:t>
            </a:r>
          </a:p>
        </p:txBody>
      </p:sp>
      <p:sp>
        <p:nvSpPr>
          <p:cNvPr id="24" name="Oval 76"/>
          <p:cNvSpPr>
            <a:spLocks noChangeArrowheads="1"/>
          </p:cNvSpPr>
          <p:nvPr/>
        </p:nvSpPr>
        <p:spPr bwMode="auto">
          <a:xfrm>
            <a:off x="2547265" y="4887291"/>
            <a:ext cx="457200" cy="457200"/>
          </a:xfrm>
          <a:prstGeom prst="ellipse">
            <a:avLst/>
          </a:prstGeom>
          <a:solidFill>
            <a:srgbClr val="002060"/>
          </a:solidFill>
          <a:ln w="28575">
            <a:solidFill>
              <a:schemeClr val="accent1">
                <a:lumMod val="75000"/>
              </a:schemeClr>
            </a:solidFill>
            <a:round/>
            <a:headEnd/>
            <a:tailEnd/>
          </a:ln>
          <a:effectLst/>
        </p:spPr>
        <p:txBody>
          <a:bodyPr wrap="none" anchor="ctr"/>
          <a:lstStyle/>
          <a:p>
            <a:pPr>
              <a:buFontTx/>
              <a:buNone/>
            </a:pPr>
            <a:r>
              <a:rPr lang="en-US" altLang="en-US" sz="2400" b="1">
                <a:solidFill>
                  <a:schemeClr val="bg1"/>
                </a:solidFill>
              </a:rPr>
              <a:t>G</a:t>
            </a:r>
          </a:p>
        </p:txBody>
      </p:sp>
      <p:sp>
        <p:nvSpPr>
          <p:cNvPr id="25" name="Line 77"/>
          <p:cNvSpPr>
            <a:spLocks noChangeShapeType="1"/>
          </p:cNvSpPr>
          <p:nvPr/>
        </p:nvSpPr>
        <p:spPr bwMode="auto">
          <a:xfrm>
            <a:off x="3309265" y="4277690"/>
            <a:ext cx="609600" cy="674133"/>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78"/>
          <p:cNvSpPr>
            <a:spLocks noChangeShapeType="1"/>
          </p:cNvSpPr>
          <p:nvPr/>
        </p:nvSpPr>
        <p:spPr bwMode="auto">
          <a:xfrm flipH="1">
            <a:off x="3004465" y="5192091"/>
            <a:ext cx="838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79"/>
          <p:cNvSpPr>
            <a:spLocks noChangeShapeType="1"/>
          </p:cNvSpPr>
          <p:nvPr/>
        </p:nvSpPr>
        <p:spPr bwMode="auto">
          <a:xfrm flipH="1" flipV="1">
            <a:off x="1937664" y="4658690"/>
            <a:ext cx="628859" cy="393037"/>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Text Box 80"/>
          <p:cNvSpPr txBox="1">
            <a:spLocks noChangeArrowheads="1"/>
          </p:cNvSpPr>
          <p:nvPr/>
        </p:nvSpPr>
        <p:spPr bwMode="auto">
          <a:xfrm>
            <a:off x="3309265" y="51158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a:t>3</a:t>
            </a:r>
          </a:p>
        </p:txBody>
      </p:sp>
      <p:sp>
        <p:nvSpPr>
          <p:cNvPr id="29" name="Text Box 81"/>
          <p:cNvSpPr txBox="1">
            <a:spLocks noChangeArrowheads="1"/>
          </p:cNvSpPr>
          <p:nvPr/>
        </p:nvSpPr>
        <p:spPr bwMode="auto">
          <a:xfrm>
            <a:off x="3134640" y="45062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2</a:t>
            </a:r>
          </a:p>
        </p:txBody>
      </p:sp>
      <p:sp>
        <p:nvSpPr>
          <p:cNvPr id="30" name="Text Box 82"/>
          <p:cNvSpPr txBox="1">
            <a:spLocks noChangeArrowheads="1"/>
          </p:cNvSpPr>
          <p:nvPr/>
        </p:nvSpPr>
        <p:spPr bwMode="auto">
          <a:xfrm>
            <a:off x="3439440" y="4201491"/>
            <a:ext cx="47942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4</a:t>
            </a:r>
          </a:p>
        </p:txBody>
      </p:sp>
      <p:sp>
        <p:nvSpPr>
          <p:cNvPr id="31" name="Text Box 83"/>
          <p:cNvSpPr txBox="1">
            <a:spLocks noChangeArrowheads="1"/>
          </p:cNvSpPr>
          <p:nvPr/>
        </p:nvSpPr>
        <p:spPr bwMode="auto">
          <a:xfrm>
            <a:off x="3766465" y="3787154"/>
            <a:ext cx="468312"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a:t>6</a:t>
            </a:r>
          </a:p>
        </p:txBody>
      </p:sp>
      <p:sp>
        <p:nvSpPr>
          <p:cNvPr id="32" name="Text Box 84"/>
          <p:cNvSpPr txBox="1">
            <a:spLocks noChangeArrowheads="1"/>
          </p:cNvSpPr>
          <p:nvPr/>
        </p:nvSpPr>
        <p:spPr bwMode="auto">
          <a:xfrm>
            <a:off x="4223665" y="34394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3</a:t>
            </a:r>
          </a:p>
        </p:txBody>
      </p:sp>
      <p:sp>
        <p:nvSpPr>
          <p:cNvPr id="33" name="Text Box 85"/>
          <p:cNvSpPr txBox="1">
            <a:spLocks noChangeArrowheads="1"/>
          </p:cNvSpPr>
          <p:nvPr/>
        </p:nvSpPr>
        <p:spPr bwMode="auto">
          <a:xfrm>
            <a:off x="3298153" y="35156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4</a:t>
            </a:r>
          </a:p>
        </p:txBody>
      </p:sp>
      <p:sp>
        <p:nvSpPr>
          <p:cNvPr id="34" name="Text Box 88"/>
          <p:cNvSpPr txBox="1">
            <a:spLocks noChangeArrowheads="1"/>
          </p:cNvSpPr>
          <p:nvPr/>
        </p:nvSpPr>
        <p:spPr bwMode="auto">
          <a:xfrm>
            <a:off x="2463626" y="35918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a:t>8</a:t>
            </a:r>
          </a:p>
        </p:txBody>
      </p:sp>
      <p:sp>
        <p:nvSpPr>
          <p:cNvPr id="35" name="Text Box 89"/>
          <p:cNvSpPr txBox="1">
            <a:spLocks noChangeArrowheads="1"/>
          </p:cNvSpPr>
          <p:nvPr/>
        </p:nvSpPr>
        <p:spPr bwMode="auto">
          <a:xfrm>
            <a:off x="2242465" y="40490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a:t>4</a:t>
            </a:r>
          </a:p>
        </p:txBody>
      </p:sp>
      <p:sp>
        <p:nvSpPr>
          <p:cNvPr id="36" name="Text Box 90"/>
          <p:cNvSpPr txBox="1">
            <a:spLocks noChangeArrowheads="1"/>
          </p:cNvSpPr>
          <p:nvPr/>
        </p:nvSpPr>
        <p:spPr bwMode="auto">
          <a:xfrm>
            <a:off x="2078953" y="4801566"/>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a:t>3</a:t>
            </a:r>
          </a:p>
        </p:txBody>
      </p:sp>
      <p:sp>
        <p:nvSpPr>
          <p:cNvPr id="37" name="Line 91"/>
          <p:cNvSpPr>
            <a:spLocks noChangeShapeType="1"/>
          </p:cNvSpPr>
          <p:nvPr/>
        </p:nvSpPr>
        <p:spPr bwMode="auto">
          <a:xfrm flipV="1">
            <a:off x="2052244" y="3093747"/>
            <a:ext cx="725896" cy="280025"/>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 name="Text Box 92"/>
          <p:cNvSpPr txBox="1">
            <a:spLocks noChangeArrowheads="1"/>
          </p:cNvSpPr>
          <p:nvPr/>
        </p:nvSpPr>
        <p:spPr bwMode="auto">
          <a:xfrm>
            <a:off x="2166265" y="2906091"/>
            <a:ext cx="479425"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10</a:t>
            </a:r>
          </a:p>
        </p:txBody>
      </p:sp>
      <p:sp>
        <p:nvSpPr>
          <p:cNvPr id="39" name="Text Box 84"/>
          <p:cNvSpPr txBox="1">
            <a:spLocks noChangeArrowheads="1"/>
          </p:cNvSpPr>
          <p:nvPr/>
        </p:nvSpPr>
        <p:spPr bwMode="auto">
          <a:xfrm>
            <a:off x="3309265" y="2787584"/>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3</a:t>
            </a:r>
          </a:p>
        </p:txBody>
      </p:sp>
      <p:sp>
        <p:nvSpPr>
          <p:cNvPr id="40" name="Text Box 87"/>
          <p:cNvSpPr txBox="1">
            <a:spLocks noChangeArrowheads="1"/>
          </p:cNvSpPr>
          <p:nvPr/>
        </p:nvSpPr>
        <p:spPr bwMode="auto">
          <a:xfrm>
            <a:off x="2852065" y="3439490"/>
            <a:ext cx="314429"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FontTx/>
              <a:buNone/>
            </a:pPr>
            <a:r>
              <a:rPr lang="en-US" altLang="en-US" b="1"/>
              <a:t>4</a:t>
            </a:r>
          </a:p>
        </p:txBody>
      </p:sp>
      <p:cxnSp>
        <p:nvCxnSpPr>
          <p:cNvPr id="41" name="Straight Connector 40"/>
          <p:cNvCxnSpPr/>
          <p:nvPr/>
        </p:nvCxnSpPr>
        <p:spPr>
          <a:xfrm flipH="1">
            <a:off x="5184750" y="2512028"/>
            <a:ext cx="908" cy="3140940"/>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TextBox 41"/>
              <p:cNvSpPr txBox="1"/>
              <p:nvPr/>
            </p:nvSpPr>
            <p:spPr>
              <a:xfrm>
                <a:off x="1556664" y="2292009"/>
                <a:ext cx="4572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rgbClr val="AD1457"/>
                          </a:solidFill>
                          <a:latin typeface="Cambria Math" panose="02040503050406030204" pitchFamily="18" charset="0"/>
                        </a:rPr>
                        <m:t>𝟏</m:t>
                      </m:r>
                      <m:r>
                        <a:rPr lang="en-US" sz="2400" b="1" i="1" dirty="0" smtClean="0">
                          <a:solidFill>
                            <a:srgbClr val="AD1457"/>
                          </a:solidFill>
                          <a:latin typeface="Cambria Math" panose="02040503050406030204" pitchFamily="18" charset="0"/>
                        </a:rPr>
                        <m:t>.</m:t>
                      </m:r>
                    </m:oMath>
                  </m:oMathPara>
                </a14:m>
                <a:endParaRPr lang="en-US" sz="2400" b="1" dirty="0">
                  <a:solidFill>
                    <a:srgbClr val="AD1457"/>
                  </a:solidFill>
                </a:endParaRPr>
              </a:p>
            </p:txBody>
          </p:sp>
        </mc:Choice>
        <mc:Fallback xmlns="">
          <p:sp>
            <p:nvSpPr>
              <p:cNvPr id="42" name="TextBox 41"/>
              <p:cNvSpPr txBox="1">
                <a:spLocks noRot="1" noChangeAspect="1" noMove="1" noResize="1" noEditPoints="1" noAdjustHandles="1" noChangeArrowheads="1" noChangeShapeType="1" noTextEdit="1"/>
              </p:cNvSpPr>
              <p:nvPr/>
            </p:nvSpPr>
            <p:spPr>
              <a:xfrm>
                <a:off x="1556664" y="2292009"/>
                <a:ext cx="457200" cy="461665"/>
              </a:xfrm>
              <a:prstGeom prst="rect">
                <a:avLst/>
              </a:prstGeom>
              <a:blipFill>
                <a:blip r:embed="rId2"/>
                <a:stretch>
                  <a:fillRect/>
                </a:stretch>
              </a:blipFill>
            </p:spPr>
            <p:txBody>
              <a:bodyPr/>
              <a:lstStyle/>
              <a:p>
                <a:r>
                  <a:rPr lang="en-US">
                    <a:noFill/>
                  </a:rPr>
                  <a:t> </a:t>
                </a:r>
              </a:p>
            </p:txBody>
          </p:sp>
        </mc:Fallback>
      </mc:AlternateContent>
      <p:sp>
        <p:nvSpPr>
          <p:cNvPr id="43" name="Oval 42"/>
          <p:cNvSpPr/>
          <p:nvPr/>
        </p:nvSpPr>
        <p:spPr>
          <a:xfrm>
            <a:off x="7424065" y="2753691"/>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A</a:t>
            </a:r>
          </a:p>
        </p:txBody>
      </p:sp>
      <p:sp>
        <p:nvSpPr>
          <p:cNvPr id="44" name="Oval 43"/>
          <p:cNvSpPr/>
          <p:nvPr/>
        </p:nvSpPr>
        <p:spPr>
          <a:xfrm>
            <a:off x="6814465" y="3287091"/>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B</a:t>
            </a:r>
          </a:p>
        </p:txBody>
      </p:sp>
      <p:sp>
        <p:nvSpPr>
          <p:cNvPr id="45" name="Oval 44"/>
          <p:cNvSpPr/>
          <p:nvPr/>
        </p:nvSpPr>
        <p:spPr>
          <a:xfrm>
            <a:off x="8109865" y="3287091"/>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C</a:t>
            </a:r>
          </a:p>
        </p:txBody>
      </p:sp>
      <p:sp>
        <p:nvSpPr>
          <p:cNvPr id="46" name="Oval 45"/>
          <p:cNvSpPr/>
          <p:nvPr/>
        </p:nvSpPr>
        <p:spPr>
          <a:xfrm>
            <a:off x="6357265" y="3896691"/>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D</a:t>
            </a:r>
          </a:p>
        </p:txBody>
      </p:sp>
      <p:sp>
        <p:nvSpPr>
          <p:cNvPr id="47" name="Oval 46"/>
          <p:cNvSpPr/>
          <p:nvPr/>
        </p:nvSpPr>
        <p:spPr>
          <a:xfrm>
            <a:off x="7195465" y="3896691"/>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a:t>
            </a:r>
          </a:p>
        </p:txBody>
      </p:sp>
      <p:sp>
        <p:nvSpPr>
          <p:cNvPr id="48" name="Oval 47"/>
          <p:cNvSpPr/>
          <p:nvPr/>
        </p:nvSpPr>
        <p:spPr>
          <a:xfrm>
            <a:off x="7805065" y="3896691"/>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F</a:t>
            </a:r>
          </a:p>
        </p:txBody>
      </p:sp>
      <p:sp>
        <p:nvSpPr>
          <p:cNvPr id="49" name="Oval 48"/>
          <p:cNvSpPr/>
          <p:nvPr/>
        </p:nvSpPr>
        <p:spPr>
          <a:xfrm>
            <a:off x="8567065" y="3896691"/>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G</a:t>
            </a:r>
          </a:p>
        </p:txBody>
      </p:sp>
      <p:sp>
        <p:nvSpPr>
          <p:cNvPr id="50" name="Oval 49"/>
          <p:cNvSpPr/>
          <p:nvPr/>
        </p:nvSpPr>
        <p:spPr>
          <a:xfrm>
            <a:off x="7424065" y="5039691"/>
            <a:ext cx="457200" cy="45720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H</a:t>
            </a:r>
          </a:p>
        </p:txBody>
      </p:sp>
      <p:cxnSp>
        <p:nvCxnSpPr>
          <p:cNvPr id="51" name="Straight Connector 50"/>
          <p:cNvCxnSpPr>
            <a:stCxn id="43" idx="3"/>
            <a:endCxn id="44" idx="7"/>
          </p:cNvCxnSpPr>
          <p:nvPr/>
        </p:nvCxnSpPr>
        <p:spPr>
          <a:xfrm flipH="1">
            <a:off x="7204710" y="3143936"/>
            <a:ext cx="286310" cy="210110"/>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2" name="Straight Connector 51"/>
          <p:cNvCxnSpPr>
            <a:stCxn id="43" idx="5"/>
            <a:endCxn id="45" idx="1"/>
          </p:cNvCxnSpPr>
          <p:nvPr/>
        </p:nvCxnSpPr>
        <p:spPr>
          <a:xfrm>
            <a:off x="7814310" y="3143936"/>
            <a:ext cx="362510" cy="210110"/>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3" name="Straight Connector 52"/>
          <p:cNvCxnSpPr>
            <a:stCxn id="44" idx="3"/>
            <a:endCxn id="46" idx="0"/>
          </p:cNvCxnSpPr>
          <p:nvPr/>
        </p:nvCxnSpPr>
        <p:spPr>
          <a:xfrm flipH="1">
            <a:off x="6585865" y="3677336"/>
            <a:ext cx="295555" cy="219355"/>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4" name="Straight Connector 53"/>
          <p:cNvCxnSpPr>
            <a:stCxn id="44" idx="5"/>
            <a:endCxn id="47" idx="0"/>
          </p:cNvCxnSpPr>
          <p:nvPr/>
        </p:nvCxnSpPr>
        <p:spPr>
          <a:xfrm>
            <a:off x="7204710" y="3677336"/>
            <a:ext cx="219355" cy="219355"/>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5" name="Straight Connector 54"/>
          <p:cNvCxnSpPr>
            <a:stCxn id="45" idx="3"/>
            <a:endCxn id="48" idx="0"/>
          </p:cNvCxnSpPr>
          <p:nvPr/>
        </p:nvCxnSpPr>
        <p:spPr>
          <a:xfrm flipH="1">
            <a:off x="8033665" y="3677336"/>
            <a:ext cx="143155" cy="219355"/>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6" name="Straight Connector 55"/>
          <p:cNvCxnSpPr>
            <a:stCxn id="45" idx="5"/>
            <a:endCxn id="49" idx="0"/>
          </p:cNvCxnSpPr>
          <p:nvPr/>
        </p:nvCxnSpPr>
        <p:spPr>
          <a:xfrm>
            <a:off x="8500110" y="3677336"/>
            <a:ext cx="295555" cy="219355"/>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7" name="Straight Connector 56"/>
          <p:cNvCxnSpPr>
            <a:stCxn id="46" idx="4"/>
            <a:endCxn id="50" idx="2"/>
          </p:cNvCxnSpPr>
          <p:nvPr/>
        </p:nvCxnSpPr>
        <p:spPr>
          <a:xfrm>
            <a:off x="6585865" y="4353891"/>
            <a:ext cx="838200" cy="914400"/>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8" name="Straight Connector 57"/>
          <p:cNvCxnSpPr>
            <a:stCxn id="47" idx="4"/>
            <a:endCxn id="50" idx="1"/>
          </p:cNvCxnSpPr>
          <p:nvPr/>
        </p:nvCxnSpPr>
        <p:spPr>
          <a:xfrm>
            <a:off x="7424065" y="4353891"/>
            <a:ext cx="66955" cy="752755"/>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59" name="Straight Connector 58"/>
          <p:cNvCxnSpPr>
            <a:stCxn id="48" idx="4"/>
            <a:endCxn id="50" idx="7"/>
          </p:cNvCxnSpPr>
          <p:nvPr/>
        </p:nvCxnSpPr>
        <p:spPr>
          <a:xfrm flipH="1">
            <a:off x="7814310" y="4353891"/>
            <a:ext cx="219355" cy="752755"/>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p:cxnSp>
        <p:nvCxnSpPr>
          <p:cNvPr id="60" name="Straight Connector 59"/>
          <p:cNvCxnSpPr>
            <a:stCxn id="49" idx="4"/>
            <a:endCxn id="50" idx="6"/>
          </p:cNvCxnSpPr>
          <p:nvPr/>
        </p:nvCxnSpPr>
        <p:spPr>
          <a:xfrm flipH="1">
            <a:off x="7881265" y="4353891"/>
            <a:ext cx="914400" cy="914400"/>
          </a:xfrm>
          <a:prstGeom prst="line">
            <a:avLst/>
          </a:prstGeom>
          <a:ln w="28575">
            <a:solidFill>
              <a:schemeClr val="accent1"/>
            </a:solidFill>
            <a:headEnd type="none" w="med" len="med"/>
            <a:tailEnd type="none" w="med" len="med"/>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xmlns:a14="http://schemas.microsoft.com/office/drawing/2010/main">
        <mc:Choice Requires="a14">
          <p:sp>
            <p:nvSpPr>
              <p:cNvPr id="61" name="TextBox 60"/>
              <p:cNvSpPr txBox="1"/>
              <p:nvPr/>
            </p:nvSpPr>
            <p:spPr>
              <a:xfrm flipH="1">
                <a:off x="5690664" y="2292009"/>
                <a:ext cx="4572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1" i="1" dirty="0" smtClean="0">
                          <a:solidFill>
                            <a:srgbClr val="AD1457"/>
                          </a:solidFill>
                          <a:latin typeface="Cambria Math" panose="02040503050406030204" pitchFamily="18" charset="0"/>
                        </a:rPr>
                        <m:t>𝟐</m:t>
                      </m:r>
                      <m:r>
                        <a:rPr lang="en-US" sz="2400" b="1" i="1" dirty="0" smtClean="0">
                          <a:solidFill>
                            <a:srgbClr val="AD1457"/>
                          </a:solidFill>
                          <a:latin typeface="Cambria Math" panose="02040503050406030204" pitchFamily="18" charset="0"/>
                        </a:rPr>
                        <m:t>.</m:t>
                      </m:r>
                    </m:oMath>
                  </m:oMathPara>
                </a14:m>
                <a:endParaRPr lang="en-US" sz="2400" b="1" dirty="0">
                  <a:solidFill>
                    <a:srgbClr val="AD1457"/>
                  </a:solidFill>
                </a:endParaRPr>
              </a:p>
            </p:txBody>
          </p:sp>
        </mc:Choice>
        <mc:Fallback xmlns="">
          <p:sp>
            <p:nvSpPr>
              <p:cNvPr id="61" name="TextBox 60"/>
              <p:cNvSpPr txBox="1">
                <a:spLocks noRot="1" noChangeAspect="1" noMove="1" noResize="1" noEditPoints="1" noAdjustHandles="1" noChangeArrowheads="1" noChangeShapeType="1" noTextEdit="1"/>
              </p:cNvSpPr>
              <p:nvPr/>
            </p:nvSpPr>
            <p:spPr>
              <a:xfrm flipH="1">
                <a:off x="5690664" y="2292009"/>
                <a:ext cx="457200" cy="461665"/>
              </a:xfrm>
              <a:prstGeom prst="rect">
                <a:avLst/>
              </a:prstGeom>
              <a:blipFill>
                <a:blip r:embed="rId3"/>
                <a:stretch>
                  <a:fillRect l="-1333"/>
                </a:stretch>
              </a:blipFill>
            </p:spPr>
            <p:txBody>
              <a:bodyPr/>
              <a:lstStyle/>
              <a:p>
                <a:r>
                  <a:rPr lang="en-US">
                    <a:noFill/>
                  </a:rPr>
                  <a:t> </a:t>
                </a:r>
              </a:p>
            </p:txBody>
          </p:sp>
        </mc:Fallback>
      </mc:AlternateContent>
      <p:sp>
        <p:nvSpPr>
          <p:cNvPr id="62" name="Text Box 84"/>
          <p:cNvSpPr txBox="1">
            <a:spLocks noChangeArrowheads="1"/>
          </p:cNvSpPr>
          <p:nvPr/>
        </p:nvSpPr>
        <p:spPr bwMode="auto">
          <a:xfrm>
            <a:off x="7043065" y="2906091"/>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3</a:t>
            </a:r>
          </a:p>
        </p:txBody>
      </p:sp>
      <p:sp>
        <p:nvSpPr>
          <p:cNvPr id="63" name="Text Box 84"/>
          <p:cNvSpPr txBox="1">
            <a:spLocks noChangeArrowheads="1"/>
          </p:cNvSpPr>
          <p:nvPr/>
        </p:nvSpPr>
        <p:spPr bwMode="auto">
          <a:xfrm>
            <a:off x="7881265" y="2884139"/>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1</a:t>
            </a:r>
          </a:p>
        </p:txBody>
      </p:sp>
      <p:sp>
        <p:nvSpPr>
          <p:cNvPr id="64" name="Text Box 84"/>
          <p:cNvSpPr txBox="1">
            <a:spLocks noChangeArrowheads="1"/>
          </p:cNvSpPr>
          <p:nvPr/>
        </p:nvSpPr>
        <p:spPr bwMode="auto">
          <a:xfrm>
            <a:off x="8584761" y="3451158"/>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5</a:t>
            </a:r>
          </a:p>
        </p:txBody>
      </p:sp>
      <p:sp>
        <p:nvSpPr>
          <p:cNvPr id="65" name="Text Box 84"/>
          <p:cNvSpPr txBox="1">
            <a:spLocks noChangeArrowheads="1"/>
          </p:cNvSpPr>
          <p:nvPr/>
        </p:nvSpPr>
        <p:spPr bwMode="auto">
          <a:xfrm>
            <a:off x="6438316" y="3483424"/>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7</a:t>
            </a:r>
          </a:p>
        </p:txBody>
      </p:sp>
      <p:sp>
        <p:nvSpPr>
          <p:cNvPr id="66" name="Text Box 84"/>
          <p:cNvSpPr txBox="1">
            <a:spLocks noChangeArrowheads="1"/>
          </p:cNvSpPr>
          <p:nvPr/>
        </p:nvSpPr>
        <p:spPr bwMode="auto">
          <a:xfrm>
            <a:off x="7242897" y="3483424"/>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2</a:t>
            </a:r>
          </a:p>
        </p:txBody>
      </p:sp>
      <p:sp>
        <p:nvSpPr>
          <p:cNvPr id="67" name="Text Box 84"/>
          <p:cNvSpPr txBox="1">
            <a:spLocks noChangeArrowheads="1"/>
          </p:cNvSpPr>
          <p:nvPr/>
        </p:nvSpPr>
        <p:spPr bwMode="auto">
          <a:xfrm>
            <a:off x="7814397" y="3484980"/>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4</a:t>
            </a:r>
          </a:p>
        </p:txBody>
      </p:sp>
      <p:sp>
        <p:nvSpPr>
          <p:cNvPr id="68" name="Text Box 84"/>
          <p:cNvSpPr txBox="1">
            <a:spLocks noChangeArrowheads="1"/>
          </p:cNvSpPr>
          <p:nvPr/>
        </p:nvSpPr>
        <p:spPr bwMode="auto">
          <a:xfrm>
            <a:off x="6695331" y="4659827"/>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9</a:t>
            </a:r>
          </a:p>
        </p:txBody>
      </p:sp>
      <p:sp>
        <p:nvSpPr>
          <p:cNvPr id="69" name="Text Box 84"/>
          <p:cNvSpPr txBox="1">
            <a:spLocks noChangeArrowheads="1"/>
          </p:cNvSpPr>
          <p:nvPr/>
        </p:nvSpPr>
        <p:spPr bwMode="auto">
          <a:xfrm>
            <a:off x="7147163" y="4454975"/>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3</a:t>
            </a:r>
          </a:p>
        </p:txBody>
      </p:sp>
      <p:sp>
        <p:nvSpPr>
          <p:cNvPr id="70" name="Text Box 84"/>
          <p:cNvSpPr txBox="1">
            <a:spLocks noChangeArrowheads="1"/>
          </p:cNvSpPr>
          <p:nvPr/>
        </p:nvSpPr>
        <p:spPr bwMode="auto">
          <a:xfrm>
            <a:off x="7596869" y="4441697"/>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2</a:t>
            </a:r>
          </a:p>
        </p:txBody>
      </p:sp>
      <p:sp>
        <p:nvSpPr>
          <p:cNvPr id="71" name="Text Box 84"/>
          <p:cNvSpPr txBox="1">
            <a:spLocks noChangeArrowheads="1"/>
          </p:cNvSpPr>
          <p:nvPr/>
        </p:nvSpPr>
        <p:spPr bwMode="auto">
          <a:xfrm>
            <a:off x="8109865" y="4430090"/>
            <a:ext cx="30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en-US" b="1" dirty="0"/>
              <a:t>8</a:t>
            </a:r>
          </a:p>
        </p:txBody>
      </p:sp>
    </p:spTree>
    <p:extLst>
      <p:ext uri="{BB962C8B-B14F-4D97-AF65-F5344CB8AC3E}">
        <p14:creationId xmlns:p14="http://schemas.microsoft.com/office/powerpoint/2010/main" val="448982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arn(inVertical)">
                                      <p:cBhvr>
                                        <p:cTn id="10" dur="500"/>
                                        <p:tgtEl>
                                          <p:spTgt spid="5"/>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arn(inVertical)">
                                      <p:cBhvr>
                                        <p:cTn id="13" dur="500"/>
                                        <p:tgtEl>
                                          <p:spTgt spid="6"/>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arn(inVertical)">
                                      <p:cBhvr>
                                        <p:cTn id="16" dur="500"/>
                                        <p:tgtEl>
                                          <p:spTgt spid="7"/>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arn(inVertical)">
                                      <p:cBhvr>
                                        <p:cTn id="19" dur="500"/>
                                        <p:tgtEl>
                                          <p:spTgt spid="8"/>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arn(inVertical)">
                                      <p:cBhvr>
                                        <p:cTn id="22" dur="500"/>
                                        <p:tgtEl>
                                          <p:spTgt spid="9"/>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arn(inVertical)">
                                      <p:cBhvr>
                                        <p:cTn id="25" dur="500"/>
                                        <p:tgtEl>
                                          <p:spTgt spid="10"/>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barn(inVertical)">
                                      <p:cBhvr>
                                        <p:cTn id="28" dur="500"/>
                                        <p:tgtEl>
                                          <p:spTgt spid="11"/>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barn(inVertical)">
                                      <p:cBhvr>
                                        <p:cTn id="31" dur="500"/>
                                        <p:tgtEl>
                                          <p:spTgt spid="12"/>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barn(inVertical)">
                                      <p:cBhvr>
                                        <p:cTn id="34" dur="500"/>
                                        <p:tgtEl>
                                          <p:spTgt spid="13"/>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barn(inVertical)">
                                      <p:cBhvr>
                                        <p:cTn id="37" dur="500"/>
                                        <p:tgtEl>
                                          <p:spTgt spid="14"/>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barn(inVertical)">
                                      <p:cBhvr>
                                        <p:cTn id="40" dur="500"/>
                                        <p:tgtEl>
                                          <p:spTgt spid="15"/>
                                        </p:tgtEl>
                                      </p:cBhvr>
                                    </p:animEffect>
                                  </p:childTnLst>
                                </p:cTn>
                              </p:par>
                              <p:par>
                                <p:cTn id="41" presetID="16" presetClass="entr" presetSubtype="21" fill="hold" grpId="0" nodeType="withEffect" nodePh="1">
                                  <p:stCondLst>
                                    <p:cond delay="0"/>
                                  </p:stCondLst>
                                  <p:endCondLst>
                                    <p:cond evt="begin" delay="0">
                                      <p:tn val="41"/>
                                    </p:cond>
                                  </p:endCondLst>
                                  <p:childTnLst>
                                    <p:set>
                                      <p:cBhvr>
                                        <p:cTn id="42" dur="1" fill="hold">
                                          <p:stCondLst>
                                            <p:cond delay="0"/>
                                          </p:stCondLst>
                                        </p:cTn>
                                        <p:tgtEl>
                                          <p:spTgt spid="16"/>
                                        </p:tgtEl>
                                        <p:attrNameLst>
                                          <p:attrName>style.visibility</p:attrName>
                                        </p:attrNameLst>
                                      </p:cBhvr>
                                      <p:to>
                                        <p:strVal val="visible"/>
                                      </p:to>
                                    </p:set>
                                    <p:animEffect transition="in" filter="barn(inVertical)">
                                      <p:cBhvr>
                                        <p:cTn id="43" dur="500"/>
                                        <p:tgtEl>
                                          <p:spTgt spid="16"/>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barn(inVertical)">
                                      <p:cBhvr>
                                        <p:cTn id="46" dur="500"/>
                                        <p:tgtEl>
                                          <p:spTgt spid="17"/>
                                        </p:tgtEl>
                                      </p:cBhvr>
                                    </p:animEffect>
                                  </p:childTnLst>
                                </p:cTn>
                              </p:par>
                              <p:par>
                                <p:cTn id="47" presetID="16" presetClass="entr" presetSubtype="21"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barn(inVertical)">
                                      <p:cBhvr>
                                        <p:cTn id="49" dur="500"/>
                                        <p:tgtEl>
                                          <p:spTgt spid="18"/>
                                        </p:tgtEl>
                                      </p:cBhvr>
                                    </p:animEffect>
                                  </p:childTnLst>
                                </p:cTn>
                              </p:par>
                              <p:par>
                                <p:cTn id="50" presetID="16" presetClass="entr" presetSubtype="21"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barn(inVertical)">
                                      <p:cBhvr>
                                        <p:cTn id="52" dur="500"/>
                                        <p:tgtEl>
                                          <p:spTgt spid="19"/>
                                        </p:tgtEl>
                                      </p:cBhvr>
                                    </p:animEffect>
                                  </p:childTnLst>
                                </p:cTn>
                              </p:par>
                              <p:par>
                                <p:cTn id="53" presetID="16" presetClass="entr" presetSubtype="21"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barn(inVertical)">
                                      <p:cBhvr>
                                        <p:cTn id="55" dur="500"/>
                                        <p:tgtEl>
                                          <p:spTgt spid="20"/>
                                        </p:tgtEl>
                                      </p:cBhvr>
                                    </p:animEffect>
                                  </p:childTnLst>
                                </p:cTn>
                              </p:par>
                              <p:par>
                                <p:cTn id="56" presetID="16" presetClass="entr" presetSubtype="21"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barn(inVertical)">
                                      <p:cBhvr>
                                        <p:cTn id="58" dur="500"/>
                                        <p:tgtEl>
                                          <p:spTgt spid="21"/>
                                        </p:tgtEl>
                                      </p:cBhvr>
                                    </p:animEffect>
                                  </p:childTnLst>
                                </p:cTn>
                              </p:par>
                              <p:par>
                                <p:cTn id="59" presetID="16" presetClass="entr" presetSubtype="21"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barn(inVertical)">
                                      <p:cBhvr>
                                        <p:cTn id="61" dur="500"/>
                                        <p:tgtEl>
                                          <p:spTgt spid="22"/>
                                        </p:tgtEl>
                                      </p:cBhvr>
                                    </p:animEffect>
                                  </p:childTnLst>
                                </p:cTn>
                              </p:par>
                              <p:par>
                                <p:cTn id="62" presetID="16" presetClass="entr" presetSubtype="21"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barn(inVertical)">
                                      <p:cBhvr>
                                        <p:cTn id="64" dur="500"/>
                                        <p:tgtEl>
                                          <p:spTgt spid="23"/>
                                        </p:tgtEl>
                                      </p:cBhvr>
                                    </p:animEffect>
                                  </p:childTnLst>
                                </p:cTn>
                              </p:par>
                              <p:par>
                                <p:cTn id="65" presetID="16" presetClass="entr" presetSubtype="21"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barn(inVertical)">
                                      <p:cBhvr>
                                        <p:cTn id="67" dur="500"/>
                                        <p:tgtEl>
                                          <p:spTgt spid="24"/>
                                        </p:tgtEl>
                                      </p:cBhvr>
                                    </p:animEffect>
                                  </p:childTnLst>
                                </p:cTn>
                              </p:par>
                              <p:par>
                                <p:cTn id="68" presetID="16" presetClass="entr" presetSubtype="21"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barn(inVertical)">
                                      <p:cBhvr>
                                        <p:cTn id="70" dur="500"/>
                                        <p:tgtEl>
                                          <p:spTgt spid="25"/>
                                        </p:tgtEl>
                                      </p:cBhvr>
                                    </p:animEffect>
                                  </p:childTnLst>
                                </p:cTn>
                              </p:par>
                              <p:par>
                                <p:cTn id="71" presetID="16" presetClass="entr" presetSubtype="21"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barn(inVertical)">
                                      <p:cBhvr>
                                        <p:cTn id="73" dur="500"/>
                                        <p:tgtEl>
                                          <p:spTgt spid="26"/>
                                        </p:tgtEl>
                                      </p:cBhvr>
                                    </p:animEffect>
                                  </p:childTnLst>
                                </p:cTn>
                              </p:par>
                              <p:par>
                                <p:cTn id="74" presetID="16" presetClass="entr" presetSubtype="21" fill="hold" grpId="0"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barn(inVertical)">
                                      <p:cBhvr>
                                        <p:cTn id="76" dur="500"/>
                                        <p:tgtEl>
                                          <p:spTgt spid="27"/>
                                        </p:tgtEl>
                                      </p:cBhvr>
                                    </p:animEffect>
                                  </p:childTnLst>
                                </p:cTn>
                              </p:par>
                              <p:par>
                                <p:cTn id="77" presetID="16" presetClass="entr" presetSubtype="21"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barn(inVertical)">
                                      <p:cBhvr>
                                        <p:cTn id="79" dur="500"/>
                                        <p:tgtEl>
                                          <p:spTgt spid="28"/>
                                        </p:tgtEl>
                                      </p:cBhvr>
                                    </p:animEffect>
                                  </p:childTnLst>
                                </p:cTn>
                              </p:par>
                              <p:par>
                                <p:cTn id="80" presetID="16" presetClass="entr" presetSubtype="21" fill="hold" grpId="0" nodeType="with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barn(inVertical)">
                                      <p:cBhvr>
                                        <p:cTn id="82" dur="500"/>
                                        <p:tgtEl>
                                          <p:spTgt spid="29"/>
                                        </p:tgtEl>
                                      </p:cBhvr>
                                    </p:animEffect>
                                  </p:childTnLst>
                                </p:cTn>
                              </p:par>
                              <p:par>
                                <p:cTn id="83" presetID="16" presetClass="entr" presetSubtype="21" fill="hold" grpId="0" nodeType="withEffect">
                                  <p:stCondLst>
                                    <p:cond delay="0"/>
                                  </p:stCondLst>
                                  <p:childTnLst>
                                    <p:set>
                                      <p:cBhvr>
                                        <p:cTn id="84" dur="1" fill="hold">
                                          <p:stCondLst>
                                            <p:cond delay="0"/>
                                          </p:stCondLst>
                                        </p:cTn>
                                        <p:tgtEl>
                                          <p:spTgt spid="30"/>
                                        </p:tgtEl>
                                        <p:attrNameLst>
                                          <p:attrName>style.visibility</p:attrName>
                                        </p:attrNameLst>
                                      </p:cBhvr>
                                      <p:to>
                                        <p:strVal val="visible"/>
                                      </p:to>
                                    </p:set>
                                    <p:animEffect transition="in" filter="barn(inVertical)">
                                      <p:cBhvr>
                                        <p:cTn id="85" dur="500"/>
                                        <p:tgtEl>
                                          <p:spTgt spid="30"/>
                                        </p:tgtEl>
                                      </p:cBhvr>
                                    </p:animEffect>
                                  </p:childTnLst>
                                </p:cTn>
                              </p:par>
                              <p:par>
                                <p:cTn id="86" presetID="16" presetClass="entr" presetSubtype="21" fill="hold" grpId="0" nodeType="with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barn(inVertical)">
                                      <p:cBhvr>
                                        <p:cTn id="88" dur="500"/>
                                        <p:tgtEl>
                                          <p:spTgt spid="31"/>
                                        </p:tgtEl>
                                      </p:cBhvr>
                                    </p:animEffect>
                                  </p:childTnLst>
                                </p:cTn>
                              </p:par>
                              <p:par>
                                <p:cTn id="89" presetID="16" presetClass="entr" presetSubtype="21" fill="hold" grpId="0" nodeType="withEffect">
                                  <p:stCondLst>
                                    <p:cond delay="0"/>
                                  </p:stCondLst>
                                  <p:childTnLst>
                                    <p:set>
                                      <p:cBhvr>
                                        <p:cTn id="90" dur="1" fill="hold">
                                          <p:stCondLst>
                                            <p:cond delay="0"/>
                                          </p:stCondLst>
                                        </p:cTn>
                                        <p:tgtEl>
                                          <p:spTgt spid="32"/>
                                        </p:tgtEl>
                                        <p:attrNameLst>
                                          <p:attrName>style.visibility</p:attrName>
                                        </p:attrNameLst>
                                      </p:cBhvr>
                                      <p:to>
                                        <p:strVal val="visible"/>
                                      </p:to>
                                    </p:set>
                                    <p:animEffect transition="in" filter="barn(inVertical)">
                                      <p:cBhvr>
                                        <p:cTn id="91" dur="500"/>
                                        <p:tgtEl>
                                          <p:spTgt spid="32"/>
                                        </p:tgtEl>
                                      </p:cBhvr>
                                    </p:animEffect>
                                  </p:childTnLst>
                                </p:cTn>
                              </p:par>
                              <p:par>
                                <p:cTn id="92" presetID="16" presetClass="entr" presetSubtype="21" fill="hold" grpId="0" nodeType="with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barn(inVertical)">
                                      <p:cBhvr>
                                        <p:cTn id="94" dur="500"/>
                                        <p:tgtEl>
                                          <p:spTgt spid="33"/>
                                        </p:tgtEl>
                                      </p:cBhvr>
                                    </p:animEffect>
                                  </p:childTnLst>
                                </p:cTn>
                              </p:par>
                              <p:par>
                                <p:cTn id="95" presetID="16" presetClass="entr" presetSubtype="21"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barn(inVertical)">
                                      <p:cBhvr>
                                        <p:cTn id="97" dur="500"/>
                                        <p:tgtEl>
                                          <p:spTgt spid="34"/>
                                        </p:tgtEl>
                                      </p:cBhvr>
                                    </p:animEffect>
                                  </p:childTnLst>
                                </p:cTn>
                              </p:par>
                              <p:par>
                                <p:cTn id="98" presetID="16" presetClass="entr" presetSubtype="21" fill="hold" grpId="0" nodeType="with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barn(inVertical)">
                                      <p:cBhvr>
                                        <p:cTn id="100" dur="500"/>
                                        <p:tgtEl>
                                          <p:spTgt spid="35"/>
                                        </p:tgtEl>
                                      </p:cBhvr>
                                    </p:animEffect>
                                  </p:childTnLst>
                                </p:cTn>
                              </p:par>
                              <p:par>
                                <p:cTn id="101" presetID="16" presetClass="entr" presetSubtype="21" fill="hold" grpId="0" nodeType="withEffect">
                                  <p:stCondLst>
                                    <p:cond delay="0"/>
                                  </p:stCondLst>
                                  <p:childTnLst>
                                    <p:set>
                                      <p:cBhvr>
                                        <p:cTn id="102" dur="1" fill="hold">
                                          <p:stCondLst>
                                            <p:cond delay="0"/>
                                          </p:stCondLst>
                                        </p:cTn>
                                        <p:tgtEl>
                                          <p:spTgt spid="36"/>
                                        </p:tgtEl>
                                        <p:attrNameLst>
                                          <p:attrName>style.visibility</p:attrName>
                                        </p:attrNameLst>
                                      </p:cBhvr>
                                      <p:to>
                                        <p:strVal val="visible"/>
                                      </p:to>
                                    </p:set>
                                    <p:animEffect transition="in" filter="barn(inVertical)">
                                      <p:cBhvr>
                                        <p:cTn id="103" dur="500"/>
                                        <p:tgtEl>
                                          <p:spTgt spid="36"/>
                                        </p:tgtEl>
                                      </p:cBhvr>
                                    </p:animEffect>
                                  </p:childTnLst>
                                </p:cTn>
                              </p:par>
                              <p:par>
                                <p:cTn id="104" presetID="16" presetClass="entr" presetSubtype="21" fill="hold" grpId="0" nodeType="withEffect">
                                  <p:stCondLst>
                                    <p:cond delay="0"/>
                                  </p:stCondLst>
                                  <p:childTnLst>
                                    <p:set>
                                      <p:cBhvr>
                                        <p:cTn id="105" dur="1" fill="hold">
                                          <p:stCondLst>
                                            <p:cond delay="0"/>
                                          </p:stCondLst>
                                        </p:cTn>
                                        <p:tgtEl>
                                          <p:spTgt spid="37"/>
                                        </p:tgtEl>
                                        <p:attrNameLst>
                                          <p:attrName>style.visibility</p:attrName>
                                        </p:attrNameLst>
                                      </p:cBhvr>
                                      <p:to>
                                        <p:strVal val="visible"/>
                                      </p:to>
                                    </p:set>
                                    <p:animEffect transition="in" filter="barn(inVertical)">
                                      <p:cBhvr>
                                        <p:cTn id="106" dur="500"/>
                                        <p:tgtEl>
                                          <p:spTgt spid="37"/>
                                        </p:tgtEl>
                                      </p:cBhvr>
                                    </p:animEffect>
                                  </p:childTnLst>
                                </p:cTn>
                              </p:par>
                              <p:par>
                                <p:cTn id="107" presetID="16" presetClass="entr" presetSubtype="21" fill="hold" grpId="0" nodeType="withEffect">
                                  <p:stCondLst>
                                    <p:cond delay="0"/>
                                  </p:stCondLst>
                                  <p:childTnLst>
                                    <p:set>
                                      <p:cBhvr>
                                        <p:cTn id="108" dur="1" fill="hold">
                                          <p:stCondLst>
                                            <p:cond delay="0"/>
                                          </p:stCondLst>
                                        </p:cTn>
                                        <p:tgtEl>
                                          <p:spTgt spid="38"/>
                                        </p:tgtEl>
                                        <p:attrNameLst>
                                          <p:attrName>style.visibility</p:attrName>
                                        </p:attrNameLst>
                                      </p:cBhvr>
                                      <p:to>
                                        <p:strVal val="visible"/>
                                      </p:to>
                                    </p:set>
                                    <p:animEffect transition="in" filter="barn(inVertical)">
                                      <p:cBhvr>
                                        <p:cTn id="109" dur="500"/>
                                        <p:tgtEl>
                                          <p:spTgt spid="38"/>
                                        </p:tgtEl>
                                      </p:cBhvr>
                                    </p:animEffect>
                                  </p:childTnLst>
                                </p:cTn>
                              </p:par>
                              <p:par>
                                <p:cTn id="110" presetID="16" presetClass="entr" presetSubtype="21" fill="hold" grpId="0" nodeType="withEffect">
                                  <p:stCondLst>
                                    <p:cond delay="0"/>
                                  </p:stCondLst>
                                  <p:childTnLst>
                                    <p:set>
                                      <p:cBhvr>
                                        <p:cTn id="111" dur="1" fill="hold">
                                          <p:stCondLst>
                                            <p:cond delay="0"/>
                                          </p:stCondLst>
                                        </p:cTn>
                                        <p:tgtEl>
                                          <p:spTgt spid="39"/>
                                        </p:tgtEl>
                                        <p:attrNameLst>
                                          <p:attrName>style.visibility</p:attrName>
                                        </p:attrNameLst>
                                      </p:cBhvr>
                                      <p:to>
                                        <p:strVal val="visible"/>
                                      </p:to>
                                    </p:set>
                                    <p:animEffect transition="in" filter="barn(inVertical)">
                                      <p:cBhvr>
                                        <p:cTn id="112" dur="500"/>
                                        <p:tgtEl>
                                          <p:spTgt spid="39"/>
                                        </p:tgtEl>
                                      </p:cBhvr>
                                    </p:animEffect>
                                  </p:childTnLst>
                                </p:cTn>
                              </p:par>
                              <p:par>
                                <p:cTn id="113" presetID="16" presetClass="entr" presetSubtype="21" fill="hold" grpId="0" nodeType="withEffect">
                                  <p:stCondLst>
                                    <p:cond delay="0"/>
                                  </p:stCondLst>
                                  <p:childTnLst>
                                    <p:set>
                                      <p:cBhvr>
                                        <p:cTn id="114" dur="1" fill="hold">
                                          <p:stCondLst>
                                            <p:cond delay="0"/>
                                          </p:stCondLst>
                                        </p:cTn>
                                        <p:tgtEl>
                                          <p:spTgt spid="40"/>
                                        </p:tgtEl>
                                        <p:attrNameLst>
                                          <p:attrName>style.visibility</p:attrName>
                                        </p:attrNameLst>
                                      </p:cBhvr>
                                      <p:to>
                                        <p:strVal val="visible"/>
                                      </p:to>
                                    </p:set>
                                    <p:animEffect transition="in" filter="barn(inVertical)">
                                      <p:cBhvr>
                                        <p:cTn id="115" dur="500"/>
                                        <p:tgtEl>
                                          <p:spTgt spid="40"/>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4" fill="hold" nodeType="clickEffect">
                                  <p:stCondLst>
                                    <p:cond delay="0"/>
                                  </p:stCondLst>
                                  <p:childTnLst>
                                    <p:set>
                                      <p:cBhvr>
                                        <p:cTn id="119" dur="1" fill="hold">
                                          <p:stCondLst>
                                            <p:cond delay="0"/>
                                          </p:stCondLst>
                                        </p:cTn>
                                        <p:tgtEl>
                                          <p:spTgt spid="41"/>
                                        </p:tgtEl>
                                        <p:attrNameLst>
                                          <p:attrName>style.visibility</p:attrName>
                                        </p:attrNameLst>
                                      </p:cBhvr>
                                      <p:to>
                                        <p:strVal val="visible"/>
                                      </p:to>
                                    </p:set>
                                    <p:animEffect transition="in" filter="wipe(down)">
                                      <p:cBhvr>
                                        <p:cTn id="120" dur="500"/>
                                        <p:tgtEl>
                                          <p:spTgt spid="41"/>
                                        </p:tgtEl>
                                      </p:cBhvr>
                                    </p:animEffec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43"/>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44"/>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45"/>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46"/>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47"/>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48"/>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49"/>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50"/>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51"/>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52"/>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53"/>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54"/>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55"/>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56"/>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57"/>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58"/>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59"/>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60"/>
                                        </p:tgtEl>
                                        <p:attrNameLst>
                                          <p:attrName>style.visibility</p:attrName>
                                        </p:attrNameLst>
                                      </p:cBhvr>
                                      <p:to>
                                        <p:strVal val="visible"/>
                                      </p:to>
                                    </p:set>
                                  </p:childTnLst>
                                </p:cTn>
                              </p:par>
                              <p:par>
                                <p:cTn id="159" presetID="16" presetClass="entr" presetSubtype="21" fill="hold" grpId="0" nodeType="withEffect">
                                  <p:stCondLst>
                                    <p:cond delay="0"/>
                                  </p:stCondLst>
                                  <p:childTnLst>
                                    <p:set>
                                      <p:cBhvr>
                                        <p:cTn id="160" dur="1" fill="hold">
                                          <p:stCondLst>
                                            <p:cond delay="0"/>
                                          </p:stCondLst>
                                        </p:cTn>
                                        <p:tgtEl>
                                          <p:spTgt spid="62"/>
                                        </p:tgtEl>
                                        <p:attrNameLst>
                                          <p:attrName>style.visibility</p:attrName>
                                        </p:attrNameLst>
                                      </p:cBhvr>
                                      <p:to>
                                        <p:strVal val="visible"/>
                                      </p:to>
                                    </p:set>
                                    <p:animEffect transition="in" filter="barn(inVertical)">
                                      <p:cBhvr>
                                        <p:cTn id="161" dur="500"/>
                                        <p:tgtEl>
                                          <p:spTgt spid="62"/>
                                        </p:tgtEl>
                                      </p:cBhvr>
                                    </p:animEffect>
                                  </p:childTnLst>
                                </p:cTn>
                              </p:par>
                              <p:par>
                                <p:cTn id="162" presetID="16" presetClass="entr" presetSubtype="21" fill="hold" grpId="0" nodeType="withEffect">
                                  <p:stCondLst>
                                    <p:cond delay="0"/>
                                  </p:stCondLst>
                                  <p:childTnLst>
                                    <p:set>
                                      <p:cBhvr>
                                        <p:cTn id="163" dur="1" fill="hold">
                                          <p:stCondLst>
                                            <p:cond delay="0"/>
                                          </p:stCondLst>
                                        </p:cTn>
                                        <p:tgtEl>
                                          <p:spTgt spid="63"/>
                                        </p:tgtEl>
                                        <p:attrNameLst>
                                          <p:attrName>style.visibility</p:attrName>
                                        </p:attrNameLst>
                                      </p:cBhvr>
                                      <p:to>
                                        <p:strVal val="visible"/>
                                      </p:to>
                                    </p:set>
                                    <p:animEffect transition="in" filter="barn(inVertical)">
                                      <p:cBhvr>
                                        <p:cTn id="164" dur="500"/>
                                        <p:tgtEl>
                                          <p:spTgt spid="63"/>
                                        </p:tgtEl>
                                      </p:cBhvr>
                                    </p:animEffect>
                                  </p:childTnLst>
                                </p:cTn>
                              </p:par>
                              <p:par>
                                <p:cTn id="165" presetID="16" presetClass="entr" presetSubtype="21" fill="hold" grpId="0" nodeType="withEffect">
                                  <p:stCondLst>
                                    <p:cond delay="0"/>
                                  </p:stCondLst>
                                  <p:childTnLst>
                                    <p:set>
                                      <p:cBhvr>
                                        <p:cTn id="166" dur="1" fill="hold">
                                          <p:stCondLst>
                                            <p:cond delay="0"/>
                                          </p:stCondLst>
                                        </p:cTn>
                                        <p:tgtEl>
                                          <p:spTgt spid="64"/>
                                        </p:tgtEl>
                                        <p:attrNameLst>
                                          <p:attrName>style.visibility</p:attrName>
                                        </p:attrNameLst>
                                      </p:cBhvr>
                                      <p:to>
                                        <p:strVal val="visible"/>
                                      </p:to>
                                    </p:set>
                                    <p:animEffect transition="in" filter="barn(inVertical)">
                                      <p:cBhvr>
                                        <p:cTn id="167" dur="500"/>
                                        <p:tgtEl>
                                          <p:spTgt spid="64"/>
                                        </p:tgtEl>
                                      </p:cBhvr>
                                    </p:animEffect>
                                  </p:childTnLst>
                                </p:cTn>
                              </p:par>
                              <p:par>
                                <p:cTn id="168" presetID="16" presetClass="entr" presetSubtype="21" fill="hold" grpId="0" nodeType="withEffect">
                                  <p:stCondLst>
                                    <p:cond delay="0"/>
                                  </p:stCondLst>
                                  <p:childTnLst>
                                    <p:set>
                                      <p:cBhvr>
                                        <p:cTn id="169" dur="1" fill="hold">
                                          <p:stCondLst>
                                            <p:cond delay="0"/>
                                          </p:stCondLst>
                                        </p:cTn>
                                        <p:tgtEl>
                                          <p:spTgt spid="65"/>
                                        </p:tgtEl>
                                        <p:attrNameLst>
                                          <p:attrName>style.visibility</p:attrName>
                                        </p:attrNameLst>
                                      </p:cBhvr>
                                      <p:to>
                                        <p:strVal val="visible"/>
                                      </p:to>
                                    </p:set>
                                    <p:animEffect transition="in" filter="barn(inVertical)">
                                      <p:cBhvr>
                                        <p:cTn id="170" dur="500"/>
                                        <p:tgtEl>
                                          <p:spTgt spid="65"/>
                                        </p:tgtEl>
                                      </p:cBhvr>
                                    </p:animEffect>
                                  </p:childTnLst>
                                </p:cTn>
                              </p:par>
                              <p:par>
                                <p:cTn id="171" presetID="16" presetClass="entr" presetSubtype="21" fill="hold" grpId="0" nodeType="withEffect">
                                  <p:stCondLst>
                                    <p:cond delay="0"/>
                                  </p:stCondLst>
                                  <p:childTnLst>
                                    <p:set>
                                      <p:cBhvr>
                                        <p:cTn id="172" dur="1" fill="hold">
                                          <p:stCondLst>
                                            <p:cond delay="0"/>
                                          </p:stCondLst>
                                        </p:cTn>
                                        <p:tgtEl>
                                          <p:spTgt spid="66"/>
                                        </p:tgtEl>
                                        <p:attrNameLst>
                                          <p:attrName>style.visibility</p:attrName>
                                        </p:attrNameLst>
                                      </p:cBhvr>
                                      <p:to>
                                        <p:strVal val="visible"/>
                                      </p:to>
                                    </p:set>
                                    <p:animEffect transition="in" filter="barn(inVertical)">
                                      <p:cBhvr>
                                        <p:cTn id="173" dur="500"/>
                                        <p:tgtEl>
                                          <p:spTgt spid="66"/>
                                        </p:tgtEl>
                                      </p:cBhvr>
                                    </p:animEffect>
                                  </p:childTnLst>
                                </p:cTn>
                              </p:par>
                              <p:par>
                                <p:cTn id="174" presetID="16" presetClass="entr" presetSubtype="21" fill="hold" grpId="0" nodeType="withEffect">
                                  <p:stCondLst>
                                    <p:cond delay="0"/>
                                  </p:stCondLst>
                                  <p:childTnLst>
                                    <p:set>
                                      <p:cBhvr>
                                        <p:cTn id="175" dur="1" fill="hold">
                                          <p:stCondLst>
                                            <p:cond delay="0"/>
                                          </p:stCondLst>
                                        </p:cTn>
                                        <p:tgtEl>
                                          <p:spTgt spid="67"/>
                                        </p:tgtEl>
                                        <p:attrNameLst>
                                          <p:attrName>style.visibility</p:attrName>
                                        </p:attrNameLst>
                                      </p:cBhvr>
                                      <p:to>
                                        <p:strVal val="visible"/>
                                      </p:to>
                                    </p:set>
                                    <p:animEffect transition="in" filter="barn(inVertical)">
                                      <p:cBhvr>
                                        <p:cTn id="176" dur="500"/>
                                        <p:tgtEl>
                                          <p:spTgt spid="67"/>
                                        </p:tgtEl>
                                      </p:cBhvr>
                                    </p:animEffect>
                                  </p:childTnLst>
                                </p:cTn>
                              </p:par>
                              <p:par>
                                <p:cTn id="177" presetID="16" presetClass="entr" presetSubtype="21" fill="hold" grpId="0" nodeType="withEffect">
                                  <p:stCondLst>
                                    <p:cond delay="0"/>
                                  </p:stCondLst>
                                  <p:childTnLst>
                                    <p:set>
                                      <p:cBhvr>
                                        <p:cTn id="178" dur="1" fill="hold">
                                          <p:stCondLst>
                                            <p:cond delay="0"/>
                                          </p:stCondLst>
                                        </p:cTn>
                                        <p:tgtEl>
                                          <p:spTgt spid="68"/>
                                        </p:tgtEl>
                                        <p:attrNameLst>
                                          <p:attrName>style.visibility</p:attrName>
                                        </p:attrNameLst>
                                      </p:cBhvr>
                                      <p:to>
                                        <p:strVal val="visible"/>
                                      </p:to>
                                    </p:set>
                                    <p:animEffect transition="in" filter="barn(inVertical)">
                                      <p:cBhvr>
                                        <p:cTn id="179" dur="500"/>
                                        <p:tgtEl>
                                          <p:spTgt spid="68"/>
                                        </p:tgtEl>
                                      </p:cBhvr>
                                    </p:animEffect>
                                  </p:childTnLst>
                                </p:cTn>
                              </p:par>
                              <p:par>
                                <p:cTn id="180" presetID="16" presetClass="entr" presetSubtype="21" fill="hold" grpId="0" nodeType="withEffect">
                                  <p:stCondLst>
                                    <p:cond delay="0"/>
                                  </p:stCondLst>
                                  <p:childTnLst>
                                    <p:set>
                                      <p:cBhvr>
                                        <p:cTn id="181" dur="1" fill="hold">
                                          <p:stCondLst>
                                            <p:cond delay="0"/>
                                          </p:stCondLst>
                                        </p:cTn>
                                        <p:tgtEl>
                                          <p:spTgt spid="69"/>
                                        </p:tgtEl>
                                        <p:attrNameLst>
                                          <p:attrName>style.visibility</p:attrName>
                                        </p:attrNameLst>
                                      </p:cBhvr>
                                      <p:to>
                                        <p:strVal val="visible"/>
                                      </p:to>
                                    </p:set>
                                    <p:animEffect transition="in" filter="barn(inVertical)">
                                      <p:cBhvr>
                                        <p:cTn id="182" dur="500"/>
                                        <p:tgtEl>
                                          <p:spTgt spid="69"/>
                                        </p:tgtEl>
                                      </p:cBhvr>
                                    </p:animEffect>
                                  </p:childTnLst>
                                </p:cTn>
                              </p:par>
                              <p:par>
                                <p:cTn id="183" presetID="16" presetClass="entr" presetSubtype="21" fill="hold" grpId="0" nodeType="withEffect">
                                  <p:stCondLst>
                                    <p:cond delay="0"/>
                                  </p:stCondLst>
                                  <p:childTnLst>
                                    <p:set>
                                      <p:cBhvr>
                                        <p:cTn id="184" dur="1" fill="hold">
                                          <p:stCondLst>
                                            <p:cond delay="0"/>
                                          </p:stCondLst>
                                        </p:cTn>
                                        <p:tgtEl>
                                          <p:spTgt spid="70"/>
                                        </p:tgtEl>
                                        <p:attrNameLst>
                                          <p:attrName>style.visibility</p:attrName>
                                        </p:attrNameLst>
                                      </p:cBhvr>
                                      <p:to>
                                        <p:strVal val="visible"/>
                                      </p:to>
                                    </p:set>
                                    <p:animEffect transition="in" filter="barn(inVertical)">
                                      <p:cBhvr>
                                        <p:cTn id="185" dur="500"/>
                                        <p:tgtEl>
                                          <p:spTgt spid="70"/>
                                        </p:tgtEl>
                                      </p:cBhvr>
                                    </p:animEffect>
                                  </p:childTnLst>
                                </p:cTn>
                              </p:par>
                              <p:par>
                                <p:cTn id="186" presetID="16" presetClass="entr" presetSubtype="21" fill="hold" grpId="0" nodeType="withEffect">
                                  <p:stCondLst>
                                    <p:cond delay="0"/>
                                  </p:stCondLst>
                                  <p:childTnLst>
                                    <p:set>
                                      <p:cBhvr>
                                        <p:cTn id="187" dur="1" fill="hold">
                                          <p:stCondLst>
                                            <p:cond delay="0"/>
                                          </p:stCondLst>
                                        </p:cTn>
                                        <p:tgtEl>
                                          <p:spTgt spid="71"/>
                                        </p:tgtEl>
                                        <p:attrNameLst>
                                          <p:attrName>style.visibility</p:attrName>
                                        </p:attrNameLst>
                                      </p:cBhvr>
                                      <p:to>
                                        <p:strVal val="visible"/>
                                      </p:to>
                                    </p:set>
                                    <p:animEffect transition="in" filter="barn(inVertical)">
                                      <p:cBhvr>
                                        <p:cTn id="188"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animBg="1"/>
      <p:bldP spid="8" grpId="0" animBg="1"/>
      <p:bldP spid="9" grpId="0" animBg="1"/>
      <p:bldP spid="10" grpId="0" animBg="1"/>
      <p:bldP spid="11" grpId="0" animBg="1"/>
      <p:bldP spid="12" grpId="0" animBg="1"/>
      <p:bldP spid="13" grpId="0" animBg="1"/>
      <p:bldP spid="14" grpId="0" animBg="1"/>
      <p:bldP spid="15" grpId="0" animBg="1"/>
      <p:bldP spid="16" grpId="0"/>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p:bldP spid="29" grpId="0"/>
      <p:bldP spid="30" grpId="0"/>
      <p:bldP spid="31" grpId="0"/>
      <p:bldP spid="32" grpId="0"/>
      <p:bldP spid="33" grpId="0"/>
      <p:bldP spid="34" grpId="0"/>
      <p:bldP spid="35" grpId="0"/>
      <p:bldP spid="36" grpId="0"/>
      <p:bldP spid="37" grpId="0" animBg="1"/>
      <p:bldP spid="38" grpId="0"/>
      <p:bldP spid="39" grpId="0"/>
      <p:bldP spid="40" grpId="0"/>
      <p:bldP spid="43" grpId="0" animBg="1"/>
      <p:bldP spid="44" grpId="0" animBg="1"/>
      <p:bldP spid="45" grpId="0" animBg="1"/>
      <p:bldP spid="46" grpId="0" animBg="1"/>
      <p:bldP spid="47" grpId="0" animBg="1"/>
      <p:bldP spid="48" grpId="0" animBg="1"/>
      <p:bldP spid="49" grpId="0" animBg="1"/>
      <p:bldP spid="50" grpId="0" animBg="1"/>
      <p:bldP spid="62" grpId="0"/>
      <p:bldP spid="63" grpId="0"/>
      <p:bldP spid="64" grpId="0"/>
      <p:bldP spid="65" grpId="0"/>
      <p:bldP spid="66" grpId="0"/>
      <p:bldP spid="67" grpId="0"/>
      <p:bldP spid="68" grpId="0"/>
      <p:bldP spid="69" grpId="0"/>
      <p:bldP spid="70" grpId="0"/>
      <p:bldP spid="71"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AE399-EA9A-4C3A-9749-009B401EE3BF}"/>
              </a:ext>
            </a:extLst>
          </p:cNvPr>
          <p:cNvSpPr>
            <a:spLocks noGrp="1"/>
          </p:cNvSpPr>
          <p:nvPr>
            <p:ph type="title"/>
          </p:nvPr>
        </p:nvSpPr>
        <p:spPr/>
        <p:txBody>
          <a:bodyPr/>
          <a:lstStyle/>
          <a:p>
            <a:r>
              <a:rPr lang="en-IN" dirty="0"/>
              <a:t>Exercise</a:t>
            </a:r>
          </a:p>
        </p:txBody>
      </p:sp>
      <p:sp>
        <p:nvSpPr>
          <p:cNvPr id="3" name="Content Placeholder 2">
            <a:extLst>
              <a:ext uri="{FF2B5EF4-FFF2-40B4-BE49-F238E27FC236}">
                <a16:creationId xmlns:a16="http://schemas.microsoft.com/office/drawing/2014/main" id="{DD02AC2A-A2DE-452D-BD55-E59C2614D38B}"/>
              </a:ext>
            </a:extLst>
          </p:cNvPr>
          <p:cNvSpPr>
            <a:spLocks noGrp="1"/>
          </p:cNvSpPr>
          <p:nvPr>
            <p:ph idx="1"/>
          </p:nvPr>
        </p:nvSpPr>
        <p:spPr/>
        <p:txBody>
          <a:bodyPr/>
          <a:lstStyle/>
          <a:p>
            <a:r>
              <a:rPr lang="en-US" dirty="0"/>
              <a:t>An undirected graph G(V, E) contains n ( n &gt; 2 ) nodes named v1 , v2 ,….</a:t>
            </a:r>
            <a:r>
              <a:rPr lang="en-US" dirty="0" err="1"/>
              <a:t>vn.</a:t>
            </a:r>
            <a:r>
              <a:rPr lang="en-US" dirty="0"/>
              <a:t> Two nodes vi , </a:t>
            </a:r>
            <a:r>
              <a:rPr lang="en-US" dirty="0" err="1"/>
              <a:t>vj</a:t>
            </a:r>
            <a:r>
              <a:rPr lang="en-US" dirty="0"/>
              <a:t> are connected if and only if 0 &lt; |</a:t>
            </a:r>
            <a:r>
              <a:rPr lang="en-US" dirty="0" err="1"/>
              <a:t>i</a:t>
            </a:r>
            <a:r>
              <a:rPr lang="en-US" dirty="0"/>
              <a:t> – j| &lt;= 2. Each edge (vi, </a:t>
            </a:r>
            <a:r>
              <a:rPr lang="en-US" dirty="0" err="1"/>
              <a:t>vj</a:t>
            </a:r>
            <a:r>
              <a:rPr lang="en-US" dirty="0"/>
              <a:t> ) is assigned a weight </a:t>
            </a:r>
            <a:r>
              <a:rPr lang="en-US" dirty="0" err="1"/>
              <a:t>i</a:t>
            </a:r>
            <a:r>
              <a:rPr lang="en-US" dirty="0"/>
              <a:t> + j. </a:t>
            </a:r>
            <a:r>
              <a:rPr lang="en-US" dirty="0">
                <a:solidFill>
                  <a:schemeClr val="bg1"/>
                </a:solidFill>
              </a:rPr>
              <a:t>A sample graph with n = 4 is shown below</a:t>
            </a:r>
          </a:p>
          <a:p>
            <a:pPr marL="0" indent="0">
              <a:buNone/>
            </a:pPr>
            <a:r>
              <a:rPr lang="en-US" dirty="0"/>
              <a:t>Create a graph for n=4 :</a:t>
            </a:r>
          </a:p>
          <a:p>
            <a:pPr marL="0" indent="0">
              <a:buNone/>
            </a:pPr>
            <a:endParaRPr lang="en-IN" dirty="0"/>
          </a:p>
        </p:txBody>
      </p:sp>
      <p:pic>
        <p:nvPicPr>
          <p:cNvPr id="1026" name="Picture 2">
            <a:extLst>
              <a:ext uri="{FF2B5EF4-FFF2-40B4-BE49-F238E27FC236}">
                <a16:creationId xmlns:a16="http://schemas.microsoft.com/office/drawing/2014/main" id="{28D3B90D-2EB6-483D-B523-319751ABE4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7008" y="2561623"/>
            <a:ext cx="4828824" cy="2880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1786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Source Shortest Path – </a:t>
            </a:r>
            <a:r>
              <a:rPr lang="en-US" dirty="0" err="1"/>
              <a:t>Dijkstra’s</a:t>
            </a:r>
            <a:r>
              <a:rPr lang="en-US" dirty="0"/>
              <a:t> Algorithm</a:t>
            </a:r>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0395121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Consider now </a:t>
                </a:r>
                <a:r>
                  <a:rPr lang="en-US" b="1" dirty="0"/>
                  <a:t>a </a:t>
                </a:r>
                <a:r>
                  <a:rPr lang="en-US" dirty="0">
                    <a:solidFill>
                      <a:srgbClr val="AD1457"/>
                    </a:solidFill>
                  </a:rPr>
                  <a:t>directed graph </a:t>
                </a:r>
                <a14:m>
                  <m:oMath xmlns:m="http://schemas.openxmlformats.org/officeDocument/2006/math">
                    <m:r>
                      <a:rPr lang="en-US" b="0" i="1" dirty="0">
                        <a:solidFill>
                          <a:srgbClr val="AD1457"/>
                        </a:solidFill>
                        <a:latin typeface="Cambria Math" panose="02040503050406030204" pitchFamily="18" charset="0"/>
                      </a:rPr>
                      <m:t>𝐺</m:t>
                    </m:r>
                    <m:r>
                      <a:rPr lang="en-US" b="0" i="1" dirty="0">
                        <a:solidFill>
                          <a:srgbClr val="AD1457"/>
                        </a:solidFill>
                        <a:latin typeface="Cambria Math" panose="02040503050406030204" pitchFamily="18" charset="0"/>
                      </a:rPr>
                      <m:t> = (</m:t>
                    </m:r>
                    <m:r>
                      <a:rPr lang="en-IN" b="0" i="1" dirty="0" smtClean="0">
                        <a:solidFill>
                          <a:srgbClr val="AD1457"/>
                        </a:solidFill>
                        <a:latin typeface="Cambria Math" panose="02040503050406030204" pitchFamily="18" charset="0"/>
                      </a:rPr>
                      <m:t>𝑉</m:t>
                    </m:r>
                    <m:r>
                      <a:rPr lang="en-IN" b="0" i="1" dirty="0" smtClean="0">
                        <a:solidFill>
                          <a:srgbClr val="AD1457"/>
                        </a:solidFill>
                        <a:latin typeface="Cambria Math" panose="02040503050406030204" pitchFamily="18" charset="0"/>
                      </a:rPr>
                      <m:t>,</m:t>
                    </m:r>
                    <m:r>
                      <a:rPr lang="en-IN" b="0" i="1" dirty="0" smtClean="0">
                        <a:solidFill>
                          <a:srgbClr val="AD1457"/>
                        </a:solidFill>
                        <a:latin typeface="Cambria Math" panose="02040503050406030204" pitchFamily="18" charset="0"/>
                      </a:rPr>
                      <m:t>𝐸</m:t>
                    </m:r>
                    <m:r>
                      <a:rPr lang="en-US" b="0" i="1" dirty="0">
                        <a:solidFill>
                          <a:srgbClr val="AD1457"/>
                        </a:solidFill>
                        <a:latin typeface="Cambria Math" panose="02040503050406030204" pitchFamily="18" charset="0"/>
                      </a:rPr>
                      <m:t>) </m:t>
                    </m:r>
                  </m:oMath>
                </a14:m>
                <a:r>
                  <a:rPr lang="en-US" dirty="0"/>
                  <a:t>where </a:t>
                </a:r>
                <a14:m>
                  <m:oMath xmlns:m="http://schemas.openxmlformats.org/officeDocument/2006/math">
                    <m:r>
                      <a:rPr lang="en-IN" b="0" i="1" dirty="0" smtClean="0">
                        <a:latin typeface="Cambria Math" panose="02040503050406030204" pitchFamily="18" charset="0"/>
                      </a:rPr>
                      <m:t>𝑉</m:t>
                    </m:r>
                  </m:oMath>
                </a14:m>
                <a:r>
                  <a:rPr lang="en-US" dirty="0"/>
                  <a:t> is the set of nodes and </a:t>
                </a:r>
                <a14:m>
                  <m:oMath xmlns:m="http://schemas.openxmlformats.org/officeDocument/2006/math">
                    <m:r>
                      <a:rPr lang="en-IN" b="0" i="1" dirty="0" smtClean="0">
                        <a:latin typeface="Cambria Math" panose="02040503050406030204" pitchFamily="18" charset="0"/>
                      </a:rPr>
                      <m:t>𝐸</m:t>
                    </m:r>
                  </m:oMath>
                </a14:m>
                <a:r>
                  <a:rPr lang="en-US" dirty="0"/>
                  <a:t> is the set of directed edges of graph </a:t>
                </a:r>
                <a14:m>
                  <m:oMath xmlns:m="http://schemas.openxmlformats.org/officeDocument/2006/math">
                    <m:r>
                      <a:rPr lang="en-US" i="1" dirty="0">
                        <a:latin typeface="Cambria Math" panose="02040503050406030204" pitchFamily="18" charset="0"/>
                      </a:rPr>
                      <m:t>𝐺</m:t>
                    </m:r>
                  </m:oMath>
                </a14:m>
                <a:r>
                  <a:rPr lang="en-US" dirty="0"/>
                  <a:t>.</a:t>
                </a:r>
              </a:p>
              <a:p>
                <a:r>
                  <a:rPr lang="en-US" dirty="0"/>
                  <a:t>Each edge has a </a:t>
                </a:r>
                <a:r>
                  <a:rPr lang="en-US" dirty="0">
                    <a:solidFill>
                      <a:srgbClr val="AD1457"/>
                    </a:solidFill>
                  </a:rPr>
                  <a:t>positive length</a:t>
                </a:r>
                <a:r>
                  <a:rPr lang="en-US" dirty="0"/>
                  <a:t>.</a:t>
                </a:r>
              </a:p>
              <a:p>
                <a:r>
                  <a:rPr lang="en-US" dirty="0"/>
                  <a:t>One of the nodes is designated as the </a:t>
                </a:r>
                <a:r>
                  <a:rPr lang="en-US" dirty="0">
                    <a:solidFill>
                      <a:srgbClr val="AD1457"/>
                    </a:solidFill>
                  </a:rPr>
                  <a:t>source node</a:t>
                </a:r>
                <a:r>
                  <a:rPr lang="en-US" dirty="0"/>
                  <a:t>.</a:t>
                </a:r>
              </a:p>
              <a:p>
                <a:r>
                  <a:rPr lang="en-US" dirty="0"/>
                  <a:t>The problem is </a:t>
                </a:r>
                <a:r>
                  <a:rPr lang="en-US" dirty="0">
                    <a:solidFill>
                      <a:srgbClr val="AD1457"/>
                    </a:solidFill>
                  </a:rPr>
                  <a:t>to determine the length of the shortest path</a:t>
                </a:r>
                <a:r>
                  <a:rPr lang="en-US" b="1" dirty="0"/>
                  <a:t> </a:t>
                </a:r>
                <a:r>
                  <a:rPr lang="en-US" dirty="0"/>
                  <a:t>from the source to each of the other nodes of the graph. </a:t>
                </a:r>
              </a:p>
              <a:p>
                <a:r>
                  <a:rPr lang="en-US" dirty="0" err="1">
                    <a:solidFill>
                      <a:srgbClr val="AD1457"/>
                    </a:solidFill>
                  </a:rPr>
                  <a:t>Dijkstra’s</a:t>
                </a:r>
                <a:r>
                  <a:rPr lang="en-US" dirty="0">
                    <a:solidFill>
                      <a:srgbClr val="AD1457"/>
                    </a:solidFill>
                  </a:rPr>
                  <a:t> Algorithm </a:t>
                </a:r>
                <a:r>
                  <a:rPr lang="en-US" dirty="0"/>
                  <a:t>is for finding the shortest paths between the nodes in a graph. </a:t>
                </a:r>
              </a:p>
              <a:p>
                <a:r>
                  <a:rPr lang="en-US" dirty="0"/>
                  <a:t>For a given source node, the algorithm finds the </a:t>
                </a:r>
                <a:r>
                  <a:rPr lang="en-US" dirty="0">
                    <a:solidFill>
                      <a:srgbClr val="AD1457"/>
                    </a:solidFill>
                  </a:rPr>
                  <a:t>shortest path </a:t>
                </a:r>
                <a:r>
                  <a:rPr lang="en-US" dirty="0"/>
                  <a:t>between the source node and every other node. </a:t>
                </a:r>
              </a:p>
              <a:p>
                <a:r>
                  <a:rPr lang="en-US" dirty="0"/>
                  <a:t>The </a:t>
                </a:r>
                <a:r>
                  <a:rPr lang="en-US" b="1" dirty="0"/>
                  <a:t>algorithm maintains a matrix </a:t>
                </a:r>
                <a14:m>
                  <m:oMath xmlns:m="http://schemas.openxmlformats.org/officeDocument/2006/math">
                    <m:r>
                      <a:rPr lang="en-US" b="1" i="1" dirty="0">
                        <a:latin typeface="Cambria Math" panose="02040503050406030204" pitchFamily="18" charset="0"/>
                      </a:rPr>
                      <m:t>𝑳</m:t>
                    </m:r>
                  </m:oMath>
                </a14:m>
                <a:r>
                  <a:rPr lang="en-US" b="1" dirty="0"/>
                  <a:t> </a:t>
                </a:r>
                <a:r>
                  <a:rPr lang="en-US" dirty="0"/>
                  <a:t>which gives the length of each directed edge: </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15" t="-1382" r="-81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3009900" y="5246915"/>
                <a:ext cx="5676900" cy="830997"/>
              </a:xfrm>
              <a:prstGeom prst="rect">
                <a:avLst/>
              </a:prstGeom>
              <a:solidFill>
                <a:srgbClr val="F6E7E6"/>
              </a:solidFill>
            </p:spPr>
            <p:txBody>
              <a:bodyPr wrap="square" rtlCol="0">
                <a:spAutoFit/>
              </a:bodyPr>
              <a:lstStyle/>
              <a:p>
                <a:pPr indent="-114300"/>
                <a14:m>
                  <m:oMath xmlns:m="http://schemas.openxmlformats.org/officeDocument/2006/math">
                    <m:r>
                      <a:rPr lang="en-US" sz="2400" i="1" dirty="0" smtClean="0">
                        <a:solidFill>
                          <a:srgbClr val="AD1457"/>
                        </a:solidFill>
                        <a:latin typeface="Cambria Math" panose="02040503050406030204" pitchFamily="18" charset="0"/>
                      </a:rPr>
                      <m:t>𝐿</m:t>
                    </m:r>
                    <m:r>
                      <a:rPr lang="en-US" sz="2400" i="1" dirty="0" smtClean="0">
                        <a:solidFill>
                          <a:srgbClr val="AD1457"/>
                        </a:solidFill>
                        <a:latin typeface="Cambria Math" panose="02040503050406030204" pitchFamily="18" charset="0"/>
                      </a:rPr>
                      <m:t>[</m:t>
                    </m:r>
                    <m:r>
                      <a:rPr lang="en-US" sz="2400" i="1" dirty="0" err="1">
                        <a:solidFill>
                          <a:srgbClr val="AD1457"/>
                        </a:solidFill>
                        <a:latin typeface="Cambria Math" panose="02040503050406030204" pitchFamily="18" charset="0"/>
                      </a:rPr>
                      <m:t>𝑖</m:t>
                    </m:r>
                    <m:r>
                      <a:rPr lang="en-US" sz="2400" i="1" dirty="0">
                        <a:solidFill>
                          <a:srgbClr val="AD1457"/>
                        </a:solidFill>
                        <a:latin typeface="Cambria Math" panose="02040503050406030204" pitchFamily="18" charset="0"/>
                      </a:rPr>
                      <m:t>, </m:t>
                    </m:r>
                    <m:r>
                      <a:rPr lang="en-US" sz="2400" i="1" dirty="0">
                        <a:solidFill>
                          <a:srgbClr val="AD1457"/>
                        </a:solidFill>
                        <a:latin typeface="Cambria Math" panose="02040503050406030204" pitchFamily="18" charset="0"/>
                      </a:rPr>
                      <m:t>𝑗</m:t>
                    </m:r>
                    <m:r>
                      <a:rPr lang="en-US" sz="2400" i="1" dirty="0">
                        <a:solidFill>
                          <a:srgbClr val="AD1457"/>
                        </a:solidFill>
                        <a:latin typeface="Cambria Math" panose="02040503050406030204" pitchFamily="18" charset="0"/>
                      </a:rPr>
                      <m:t>] ≥ 0</m:t>
                    </m:r>
                  </m:oMath>
                </a14:m>
                <a:r>
                  <a:rPr lang="en-US" sz="2400" dirty="0">
                    <a:solidFill>
                      <a:srgbClr val="AD1457"/>
                    </a:solidFill>
                  </a:rPr>
                  <a:t> </a:t>
                </a:r>
                <a:r>
                  <a:rPr lang="en-US" sz="2400" i="1" dirty="0">
                    <a:solidFill>
                      <a:srgbClr val="AD1457"/>
                    </a:solidFill>
                  </a:rPr>
                  <a:t>if the edge </a:t>
                </a:r>
                <a14:m>
                  <m:oMath xmlns:m="http://schemas.openxmlformats.org/officeDocument/2006/math">
                    <m:r>
                      <a:rPr lang="en-US" sz="2400" i="1" dirty="0">
                        <a:solidFill>
                          <a:srgbClr val="AD1457"/>
                        </a:solidFill>
                        <a:latin typeface="Cambria Math" panose="02040503050406030204" pitchFamily="18" charset="0"/>
                      </a:rPr>
                      <m:t>(</m:t>
                    </m:r>
                    <m:r>
                      <a:rPr lang="en-US" sz="2400" i="1" dirty="0" err="1">
                        <a:solidFill>
                          <a:srgbClr val="AD1457"/>
                        </a:solidFill>
                        <a:latin typeface="Cambria Math" panose="02040503050406030204" pitchFamily="18" charset="0"/>
                      </a:rPr>
                      <m:t>𝑖</m:t>
                    </m:r>
                    <m:r>
                      <a:rPr lang="en-US" sz="2400" i="1" dirty="0">
                        <a:solidFill>
                          <a:srgbClr val="AD1457"/>
                        </a:solidFill>
                        <a:latin typeface="Cambria Math" panose="02040503050406030204" pitchFamily="18" charset="0"/>
                      </a:rPr>
                      <m:t>, </m:t>
                    </m:r>
                    <m:r>
                      <a:rPr lang="en-US" sz="2400" i="1" dirty="0">
                        <a:solidFill>
                          <a:srgbClr val="AD1457"/>
                        </a:solidFill>
                        <a:latin typeface="Cambria Math" panose="02040503050406030204" pitchFamily="18" charset="0"/>
                      </a:rPr>
                      <m:t>𝑗</m:t>
                    </m:r>
                    <m:r>
                      <a:rPr lang="en-US" sz="2400" i="1" dirty="0">
                        <a:solidFill>
                          <a:srgbClr val="AD1457"/>
                        </a:solidFill>
                        <a:latin typeface="Cambria Math" panose="02040503050406030204" pitchFamily="18" charset="0"/>
                      </a:rPr>
                      <m:t>) ∈</m:t>
                    </m:r>
                    <m:r>
                      <a:rPr lang="en-IN" sz="2400" b="0" i="1" dirty="0" smtClean="0">
                        <a:solidFill>
                          <a:srgbClr val="AD1457"/>
                        </a:solidFill>
                        <a:latin typeface="Cambria Math" panose="02040503050406030204" pitchFamily="18" charset="0"/>
                      </a:rPr>
                      <m:t>𝐸</m:t>
                    </m:r>
                    <m:r>
                      <a:rPr lang="en-US" sz="2400" i="1" dirty="0">
                        <a:solidFill>
                          <a:srgbClr val="AD1457"/>
                        </a:solidFill>
                        <a:latin typeface="Cambria Math" panose="02040503050406030204" pitchFamily="18" charset="0"/>
                      </a:rPr>
                      <m:t>, </m:t>
                    </m:r>
                  </m:oMath>
                </a14:m>
                <a:r>
                  <a:rPr lang="en-US" sz="2400" i="1" dirty="0">
                    <a:solidFill>
                      <a:srgbClr val="AD1457"/>
                    </a:solidFill>
                  </a:rPr>
                  <a:t>and </a:t>
                </a:r>
                <a:endParaRPr lang="en-US" sz="2400" i="1" dirty="0">
                  <a:solidFill>
                    <a:srgbClr val="AD1457"/>
                  </a:solidFill>
                  <a:latin typeface="Cambria Math" panose="02040503050406030204" pitchFamily="18" charset="0"/>
                </a:endParaRPr>
              </a:p>
              <a:p>
                <a:pPr marL="1257300" lvl="3"/>
                <a14:m>
                  <m:oMath xmlns:m="http://schemas.openxmlformats.org/officeDocument/2006/math">
                    <m:r>
                      <a:rPr lang="en-US" sz="2400" i="1" dirty="0">
                        <a:solidFill>
                          <a:srgbClr val="AD1457"/>
                        </a:solidFill>
                        <a:latin typeface="Cambria Math" panose="02040503050406030204" pitchFamily="18" charset="0"/>
                      </a:rPr>
                      <m:t>𝐿</m:t>
                    </m:r>
                    <m:r>
                      <a:rPr lang="en-US" sz="2400" i="1" dirty="0">
                        <a:solidFill>
                          <a:srgbClr val="AD1457"/>
                        </a:solidFill>
                        <a:latin typeface="Cambria Math" panose="02040503050406030204" pitchFamily="18" charset="0"/>
                      </a:rPr>
                      <m:t>[</m:t>
                    </m:r>
                    <m:r>
                      <a:rPr lang="en-US" sz="2400" i="1" dirty="0" err="1">
                        <a:solidFill>
                          <a:srgbClr val="AD1457"/>
                        </a:solidFill>
                        <a:latin typeface="Cambria Math" panose="02040503050406030204" pitchFamily="18" charset="0"/>
                      </a:rPr>
                      <m:t>𝑖</m:t>
                    </m:r>
                    <m:r>
                      <a:rPr lang="en-US" sz="2400" i="1" dirty="0">
                        <a:solidFill>
                          <a:srgbClr val="AD1457"/>
                        </a:solidFill>
                        <a:latin typeface="Cambria Math" panose="02040503050406030204" pitchFamily="18" charset="0"/>
                      </a:rPr>
                      <m:t>, </m:t>
                    </m:r>
                    <m:r>
                      <a:rPr lang="en-US" sz="2400" i="1" dirty="0">
                        <a:solidFill>
                          <a:srgbClr val="AD1457"/>
                        </a:solidFill>
                        <a:latin typeface="Cambria Math" panose="02040503050406030204" pitchFamily="18" charset="0"/>
                      </a:rPr>
                      <m:t>𝑗</m:t>
                    </m:r>
                    <m:r>
                      <a:rPr lang="en-US" sz="2400" i="1" dirty="0">
                        <a:solidFill>
                          <a:srgbClr val="AD1457"/>
                        </a:solidFill>
                        <a:latin typeface="Cambria Math" panose="02040503050406030204" pitchFamily="18" charset="0"/>
                      </a:rPr>
                      <m:t>] = ∞ </m:t>
                    </m:r>
                  </m:oMath>
                </a14:m>
                <a:r>
                  <a:rPr lang="en-US" sz="2400" i="1" dirty="0">
                    <a:solidFill>
                      <a:srgbClr val="AD1457"/>
                    </a:solidFill>
                  </a:rPr>
                  <a:t>otherwise.</a:t>
                </a:r>
                <a:r>
                  <a:rPr lang="en-US" sz="2400" dirty="0">
                    <a:solidFill>
                      <a:srgbClr val="AD1457"/>
                    </a:solidFill>
                  </a:rPr>
                  <a:t> </a:t>
                </a:r>
              </a:p>
            </p:txBody>
          </p:sp>
        </mc:Choice>
        <mc:Fallback xmlns="">
          <p:sp>
            <p:nvSpPr>
              <p:cNvPr id="4" name="TextBox 3"/>
              <p:cNvSpPr txBox="1">
                <a:spLocks noRot="1" noChangeAspect="1" noMove="1" noResize="1" noEditPoints="1" noAdjustHandles="1" noChangeArrowheads="1" noChangeShapeType="1" noTextEdit="1"/>
              </p:cNvSpPr>
              <p:nvPr/>
            </p:nvSpPr>
            <p:spPr>
              <a:xfrm>
                <a:off x="3009900" y="5246915"/>
                <a:ext cx="5676900" cy="830997"/>
              </a:xfrm>
              <a:prstGeom prst="rect">
                <a:avLst/>
              </a:prstGeom>
              <a:blipFill>
                <a:blip r:embed="rId3"/>
                <a:stretch>
                  <a:fillRect l="-322" t="-5147" b="-16912"/>
                </a:stretch>
              </a:blipFill>
            </p:spPr>
            <p:txBody>
              <a:bodyPr/>
              <a:lstStyle/>
              <a:p>
                <a:r>
                  <a:rPr lang="en-IN">
                    <a:noFill/>
                  </a:rPr>
                  <a:t> </a:t>
                </a:r>
              </a:p>
            </p:txBody>
          </p:sp>
        </mc:Fallback>
      </mc:AlternateContent>
    </p:spTree>
    <p:extLst>
      <p:ext uri="{BB962C8B-B14F-4D97-AF65-F5344CB8AC3E}">
        <p14:creationId xmlns:p14="http://schemas.microsoft.com/office/powerpoint/2010/main" val="527028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par>
                          <p:cTn id="38" fill="hold">
                            <p:stCondLst>
                              <p:cond delay="500"/>
                            </p:stCondLst>
                            <p:childTnLst>
                              <p:par>
                                <p:cTn id="39" presetID="10" presetClass="entr" presetSubtype="0" fill="hold" grpId="0" nodeType="after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fade">
                                      <p:cBhvr>
                                        <p:cTn id="4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Dijkstra’s</a:t>
            </a:r>
            <a:r>
              <a:rPr lang="en-US" dirty="0"/>
              <a:t> Algorithm - Example</a:t>
            </a:r>
          </a:p>
        </p:txBody>
      </p:sp>
      <p:sp>
        <p:nvSpPr>
          <p:cNvPr id="4" name="Oval 3"/>
          <p:cNvSpPr/>
          <p:nvPr/>
        </p:nvSpPr>
        <p:spPr>
          <a:xfrm>
            <a:off x="3243940" y="1447800"/>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1</a:t>
            </a:r>
          </a:p>
        </p:txBody>
      </p:sp>
      <p:sp>
        <p:nvSpPr>
          <p:cNvPr id="5" name="Oval 4"/>
          <p:cNvSpPr/>
          <p:nvPr/>
        </p:nvSpPr>
        <p:spPr>
          <a:xfrm>
            <a:off x="1717250" y="2297074"/>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5</a:t>
            </a:r>
          </a:p>
        </p:txBody>
      </p:sp>
      <p:sp>
        <p:nvSpPr>
          <p:cNvPr id="6" name="Oval 5"/>
          <p:cNvSpPr/>
          <p:nvPr/>
        </p:nvSpPr>
        <p:spPr>
          <a:xfrm>
            <a:off x="2329540" y="3848100"/>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4</a:t>
            </a:r>
          </a:p>
        </p:txBody>
      </p:sp>
      <p:sp>
        <p:nvSpPr>
          <p:cNvPr id="7" name="Oval 6"/>
          <p:cNvSpPr/>
          <p:nvPr/>
        </p:nvSpPr>
        <p:spPr>
          <a:xfrm>
            <a:off x="4310740" y="3834245"/>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3</a:t>
            </a:r>
          </a:p>
        </p:txBody>
      </p:sp>
      <p:sp>
        <p:nvSpPr>
          <p:cNvPr id="8" name="Oval 7"/>
          <p:cNvSpPr/>
          <p:nvPr/>
        </p:nvSpPr>
        <p:spPr>
          <a:xfrm>
            <a:off x="5069663" y="2223654"/>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2</a:t>
            </a:r>
          </a:p>
        </p:txBody>
      </p:sp>
      <p:cxnSp>
        <p:nvCxnSpPr>
          <p:cNvPr id="9" name="Straight Arrow Connector 8"/>
          <p:cNvCxnSpPr>
            <a:stCxn id="4" idx="2"/>
            <a:endCxn id="5" idx="7"/>
          </p:cNvCxnSpPr>
          <p:nvPr/>
        </p:nvCxnSpPr>
        <p:spPr>
          <a:xfrm flipH="1">
            <a:off x="2172535" y="1714500"/>
            <a:ext cx="1071405" cy="660689"/>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4" idx="3"/>
            <a:endCxn id="6" idx="0"/>
          </p:cNvCxnSpPr>
          <p:nvPr/>
        </p:nvCxnSpPr>
        <p:spPr>
          <a:xfrm flipH="1">
            <a:off x="2596240" y="1903085"/>
            <a:ext cx="725815" cy="194501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4" idx="4"/>
            <a:endCxn id="7" idx="1"/>
          </p:cNvCxnSpPr>
          <p:nvPr/>
        </p:nvCxnSpPr>
        <p:spPr>
          <a:xfrm>
            <a:off x="3510640" y="1981200"/>
            <a:ext cx="878215" cy="193116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4" idx="6"/>
            <a:endCxn id="8" idx="1"/>
          </p:cNvCxnSpPr>
          <p:nvPr/>
        </p:nvCxnSpPr>
        <p:spPr>
          <a:xfrm>
            <a:off x="3777340" y="1714500"/>
            <a:ext cx="1370438" cy="587269"/>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5" idx="4"/>
            <a:endCxn id="6" idx="1"/>
          </p:cNvCxnSpPr>
          <p:nvPr/>
        </p:nvCxnSpPr>
        <p:spPr>
          <a:xfrm>
            <a:off x="1983950" y="2830474"/>
            <a:ext cx="423705" cy="109574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6"/>
            <a:endCxn id="7" idx="2"/>
          </p:cNvCxnSpPr>
          <p:nvPr/>
        </p:nvCxnSpPr>
        <p:spPr>
          <a:xfrm flipV="1">
            <a:off x="2862940" y="4100945"/>
            <a:ext cx="1447800" cy="1385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8" idx="4"/>
          </p:cNvCxnSpPr>
          <p:nvPr/>
        </p:nvCxnSpPr>
        <p:spPr>
          <a:xfrm flipV="1">
            <a:off x="4766025" y="2757054"/>
            <a:ext cx="570338" cy="1155306"/>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6" idx="7"/>
            <a:endCxn id="8" idx="2"/>
          </p:cNvCxnSpPr>
          <p:nvPr/>
        </p:nvCxnSpPr>
        <p:spPr>
          <a:xfrm flipV="1">
            <a:off x="2784825" y="2490354"/>
            <a:ext cx="2284838" cy="143586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213325" y="1748135"/>
            <a:ext cx="649615" cy="461665"/>
          </a:xfrm>
          <a:prstGeom prst="rect">
            <a:avLst/>
          </a:prstGeom>
          <a:noFill/>
        </p:spPr>
        <p:txBody>
          <a:bodyPr wrap="square" rtlCol="0">
            <a:spAutoFit/>
          </a:bodyPr>
          <a:lstStyle/>
          <a:p>
            <a:r>
              <a:rPr lang="en-US" sz="2400" dirty="0"/>
              <a:t>10</a:t>
            </a:r>
          </a:p>
        </p:txBody>
      </p:sp>
      <p:sp>
        <p:nvSpPr>
          <p:cNvPr id="18" name="TextBox 17"/>
          <p:cNvSpPr txBox="1"/>
          <p:nvPr/>
        </p:nvSpPr>
        <p:spPr>
          <a:xfrm>
            <a:off x="1756125" y="3119735"/>
            <a:ext cx="649615" cy="461665"/>
          </a:xfrm>
          <a:prstGeom prst="rect">
            <a:avLst/>
          </a:prstGeom>
          <a:noFill/>
        </p:spPr>
        <p:txBody>
          <a:bodyPr wrap="square" rtlCol="0">
            <a:spAutoFit/>
          </a:bodyPr>
          <a:lstStyle/>
          <a:p>
            <a:r>
              <a:rPr lang="en-US" sz="2400" dirty="0"/>
              <a:t>10</a:t>
            </a:r>
          </a:p>
        </p:txBody>
      </p:sp>
      <p:sp>
        <p:nvSpPr>
          <p:cNvPr id="19" name="TextBox 18"/>
          <p:cNvSpPr txBox="1"/>
          <p:nvPr/>
        </p:nvSpPr>
        <p:spPr>
          <a:xfrm>
            <a:off x="2975325" y="2438400"/>
            <a:ext cx="649615" cy="461665"/>
          </a:xfrm>
          <a:prstGeom prst="rect">
            <a:avLst/>
          </a:prstGeom>
          <a:noFill/>
        </p:spPr>
        <p:txBody>
          <a:bodyPr wrap="square" rtlCol="0">
            <a:spAutoFit/>
          </a:bodyPr>
          <a:lstStyle/>
          <a:p>
            <a:r>
              <a:rPr lang="en-US" sz="2400" dirty="0"/>
              <a:t>100</a:t>
            </a:r>
          </a:p>
        </p:txBody>
      </p:sp>
      <p:sp>
        <p:nvSpPr>
          <p:cNvPr id="20" name="TextBox 19"/>
          <p:cNvSpPr txBox="1"/>
          <p:nvPr/>
        </p:nvSpPr>
        <p:spPr>
          <a:xfrm>
            <a:off x="3624940" y="3209382"/>
            <a:ext cx="548640" cy="461665"/>
          </a:xfrm>
          <a:prstGeom prst="rect">
            <a:avLst/>
          </a:prstGeom>
          <a:noFill/>
        </p:spPr>
        <p:txBody>
          <a:bodyPr wrap="square" rtlCol="0">
            <a:spAutoFit/>
          </a:bodyPr>
          <a:lstStyle/>
          <a:p>
            <a:r>
              <a:rPr lang="en-US" sz="2400" dirty="0"/>
              <a:t>20</a:t>
            </a:r>
          </a:p>
        </p:txBody>
      </p:sp>
      <p:sp>
        <p:nvSpPr>
          <p:cNvPr id="21" name="TextBox 20"/>
          <p:cNvSpPr txBox="1"/>
          <p:nvPr/>
        </p:nvSpPr>
        <p:spPr>
          <a:xfrm>
            <a:off x="3280125" y="4034135"/>
            <a:ext cx="649615" cy="461665"/>
          </a:xfrm>
          <a:prstGeom prst="rect">
            <a:avLst/>
          </a:prstGeom>
          <a:noFill/>
        </p:spPr>
        <p:txBody>
          <a:bodyPr wrap="square" rtlCol="0">
            <a:spAutoFit/>
          </a:bodyPr>
          <a:lstStyle/>
          <a:p>
            <a:r>
              <a:rPr lang="en-US" sz="2400" dirty="0"/>
              <a:t>50</a:t>
            </a:r>
          </a:p>
        </p:txBody>
      </p:sp>
      <p:sp>
        <p:nvSpPr>
          <p:cNvPr id="22" name="TextBox 21"/>
          <p:cNvSpPr txBox="1"/>
          <p:nvPr/>
        </p:nvSpPr>
        <p:spPr>
          <a:xfrm>
            <a:off x="4346925" y="1671935"/>
            <a:ext cx="649615" cy="461665"/>
          </a:xfrm>
          <a:prstGeom prst="rect">
            <a:avLst/>
          </a:prstGeom>
          <a:noFill/>
        </p:spPr>
        <p:txBody>
          <a:bodyPr wrap="square" rtlCol="0">
            <a:spAutoFit/>
          </a:bodyPr>
          <a:lstStyle/>
          <a:p>
            <a:r>
              <a:rPr lang="en-US" sz="2400" dirty="0"/>
              <a:t>50</a:t>
            </a:r>
          </a:p>
        </p:txBody>
      </p:sp>
      <p:sp>
        <p:nvSpPr>
          <p:cNvPr id="23" name="TextBox 22"/>
          <p:cNvSpPr txBox="1"/>
          <p:nvPr/>
        </p:nvSpPr>
        <p:spPr>
          <a:xfrm>
            <a:off x="3737325" y="2362200"/>
            <a:ext cx="649615" cy="461665"/>
          </a:xfrm>
          <a:prstGeom prst="rect">
            <a:avLst/>
          </a:prstGeom>
          <a:noFill/>
        </p:spPr>
        <p:txBody>
          <a:bodyPr wrap="square" rtlCol="0">
            <a:spAutoFit/>
          </a:bodyPr>
          <a:lstStyle/>
          <a:p>
            <a:r>
              <a:rPr lang="en-US" sz="2400" dirty="0"/>
              <a:t>30</a:t>
            </a:r>
          </a:p>
        </p:txBody>
      </p:sp>
      <p:sp>
        <p:nvSpPr>
          <p:cNvPr id="24" name="TextBox 23"/>
          <p:cNvSpPr txBox="1"/>
          <p:nvPr/>
        </p:nvSpPr>
        <p:spPr>
          <a:xfrm>
            <a:off x="5032726" y="3043535"/>
            <a:ext cx="346730" cy="461665"/>
          </a:xfrm>
          <a:prstGeom prst="rect">
            <a:avLst/>
          </a:prstGeom>
          <a:noFill/>
        </p:spPr>
        <p:txBody>
          <a:bodyPr wrap="square" rtlCol="0">
            <a:spAutoFit/>
          </a:bodyPr>
          <a:lstStyle/>
          <a:p>
            <a:r>
              <a:rPr lang="en-US" sz="2400" dirty="0"/>
              <a:t>5</a:t>
            </a:r>
          </a:p>
        </p:txBody>
      </p:sp>
      <p:sp>
        <p:nvSpPr>
          <p:cNvPr id="25" name="TextBox 24"/>
          <p:cNvSpPr txBox="1"/>
          <p:nvPr/>
        </p:nvSpPr>
        <p:spPr>
          <a:xfrm>
            <a:off x="8940302" y="2632613"/>
            <a:ext cx="2277928" cy="461665"/>
          </a:xfrm>
          <a:prstGeom prst="rect">
            <a:avLst/>
          </a:prstGeom>
          <a:solidFill>
            <a:schemeClr val="bg1">
              <a:lumMod val="85000"/>
            </a:schemeClr>
          </a:solidFill>
        </p:spPr>
        <p:txBody>
          <a:bodyPr wrap="square" rtlCol="0">
            <a:spAutoFit/>
          </a:bodyPr>
          <a:lstStyle/>
          <a:p>
            <a:r>
              <a:rPr lang="en-US" sz="2400" dirty="0">
                <a:solidFill>
                  <a:srgbClr val="AD1457"/>
                </a:solidFill>
              </a:rPr>
              <a:t>Source node = 1</a:t>
            </a:r>
          </a:p>
        </p:txBody>
      </p:sp>
      <p:sp>
        <p:nvSpPr>
          <p:cNvPr id="26" name="TextBox 25"/>
          <p:cNvSpPr txBox="1"/>
          <p:nvPr/>
        </p:nvSpPr>
        <p:spPr>
          <a:xfrm>
            <a:off x="6389912" y="1371600"/>
            <a:ext cx="4838700" cy="461665"/>
          </a:xfrm>
          <a:prstGeom prst="rect">
            <a:avLst/>
          </a:prstGeom>
          <a:noFill/>
        </p:spPr>
        <p:txBody>
          <a:bodyPr wrap="square" rtlCol="0">
            <a:spAutoFit/>
          </a:bodyPr>
          <a:lstStyle/>
          <a:p>
            <a:r>
              <a:rPr lang="en-US" sz="2400" dirty="0">
                <a:solidFill>
                  <a:srgbClr val="AD1457"/>
                </a:solidFill>
                <a:latin typeface="+mj-lt"/>
              </a:rPr>
              <a:t>Single source shortest path algorithm </a:t>
            </a:r>
          </a:p>
        </p:txBody>
      </p:sp>
      <p:sp>
        <p:nvSpPr>
          <p:cNvPr id="28" name="Pentagon 27"/>
          <p:cNvSpPr/>
          <p:nvPr/>
        </p:nvSpPr>
        <p:spPr>
          <a:xfrm>
            <a:off x="3852615" y="5643154"/>
            <a:ext cx="914400" cy="822960"/>
          </a:xfrm>
          <a:prstGeom prst="homePlate">
            <a:avLst/>
          </a:prstGeom>
          <a:solidFill>
            <a:schemeClr val="accent6">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No </a:t>
            </a:r>
          </a:p>
        </p:txBody>
      </p:sp>
      <p:sp>
        <p:nvSpPr>
          <p:cNvPr id="31" name="Rounded Rectangle 30"/>
          <p:cNvSpPr/>
          <p:nvPr/>
        </p:nvSpPr>
        <p:spPr>
          <a:xfrm>
            <a:off x="3885722" y="5876366"/>
            <a:ext cx="694944" cy="394673"/>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Yes </a:t>
            </a:r>
          </a:p>
        </p:txBody>
      </p:sp>
      <p:sp>
        <p:nvSpPr>
          <p:cNvPr id="32" name="Rectangle 31"/>
          <p:cNvSpPr/>
          <p:nvPr/>
        </p:nvSpPr>
        <p:spPr>
          <a:xfrm>
            <a:off x="4810204" y="5643154"/>
            <a:ext cx="2834640" cy="822960"/>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AD1457"/>
                </a:solidFill>
              </a:rPr>
              <a:t>Compare cost of 1–5–4 (20) and 1–4 (100)</a:t>
            </a:r>
          </a:p>
        </p:txBody>
      </p:sp>
      <p:sp>
        <p:nvSpPr>
          <p:cNvPr id="33" name="Rectangle 32"/>
          <p:cNvSpPr/>
          <p:nvPr/>
        </p:nvSpPr>
        <p:spPr>
          <a:xfrm>
            <a:off x="6237512" y="3105393"/>
            <a:ext cx="82296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Step</a:t>
            </a:r>
          </a:p>
        </p:txBody>
      </p:sp>
      <p:sp>
        <p:nvSpPr>
          <p:cNvPr id="34" name="Rectangle 33"/>
          <p:cNvSpPr/>
          <p:nvPr/>
        </p:nvSpPr>
        <p:spPr>
          <a:xfrm>
            <a:off x="7052934" y="3105393"/>
            <a:ext cx="527859"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00000"/>
                </a:solidFill>
              </a:rPr>
              <a:t>v</a:t>
            </a:r>
          </a:p>
        </p:txBody>
      </p:sp>
      <p:sp>
        <p:nvSpPr>
          <p:cNvPr id="35" name="Rectangle 34"/>
          <p:cNvSpPr/>
          <p:nvPr/>
        </p:nvSpPr>
        <p:spPr>
          <a:xfrm>
            <a:off x="7580646" y="3105393"/>
            <a:ext cx="137160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00000"/>
                </a:solidFill>
              </a:rPr>
              <a:t>C</a:t>
            </a:r>
          </a:p>
        </p:txBody>
      </p:sp>
      <p:sp>
        <p:nvSpPr>
          <p:cNvPr id="36" name="Rectangle 35"/>
          <p:cNvSpPr/>
          <p:nvPr/>
        </p:nvSpPr>
        <p:spPr>
          <a:xfrm>
            <a:off x="8944286" y="3105393"/>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00000"/>
                </a:solidFill>
              </a:rPr>
              <a:t>2</a:t>
            </a:r>
          </a:p>
        </p:txBody>
      </p:sp>
      <p:sp>
        <p:nvSpPr>
          <p:cNvPr id="37" name="Rectangle 36"/>
          <p:cNvSpPr/>
          <p:nvPr/>
        </p:nvSpPr>
        <p:spPr>
          <a:xfrm>
            <a:off x="9486231" y="3105393"/>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00000"/>
                </a:solidFill>
              </a:rPr>
              <a:t>3</a:t>
            </a:r>
          </a:p>
        </p:txBody>
      </p:sp>
      <p:sp>
        <p:nvSpPr>
          <p:cNvPr id="38" name="Rectangle 37"/>
          <p:cNvSpPr/>
          <p:nvPr/>
        </p:nvSpPr>
        <p:spPr>
          <a:xfrm>
            <a:off x="10032140" y="3105393"/>
            <a:ext cx="64008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00000"/>
                </a:solidFill>
              </a:rPr>
              <a:t>4</a:t>
            </a:r>
          </a:p>
        </p:txBody>
      </p:sp>
      <p:sp>
        <p:nvSpPr>
          <p:cNvPr id="39" name="Rectangle 38"/>
          <p:cNvSpPr/>
          <p:nvPr/>
        </p:nvSpPr>
        <p:spPr>
          <a:xfrm>
            <a:off x="10669590" y="3105393"/>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00000"/>
                </a:solidFill>
              </a:rPr>
              <a:t>5</a:t>
            </a:r>
          </a:p>
        </p:txBody>
      </p:sp>
      <p:sp>
        <p:nvSpPr>
          <p:cNvPr id="40" name="Rectangle 39"/>
          <p:cNvSpPr/>
          <p:nvPr/>
        </p:nvSpPr>
        <p:spPr>
          <a:xfrm>
            <a:off x="6237512" y="3590107"/>
            <a:ext cx="82296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err="1">
                <a:solidFill>
                  <a:schemeClr val="tx1"/>
                </a:solidFill>
              </a:rPr>
              <a:t>Init.</a:t>
            </a:r>
            <a:endParaRPr lang="en-US" sz="2200" dirty="0">
              <a:solidFill>
                <a:schemeClr val="tx1"/>
              </a:solidFill>
            </a:endParaRPr>
          </a:p>
        </p:txBody>
      </p:sp>
      <p:sp>
        <p:nvSpPr>
          <p:cNvPr id="41" name="Rectangle 40"/>
          <p:cNvSpPr/>
          <p:nvPr/>
        </p:nvSpPr>
        <p:spPr>
          <a:xfrm>
            <a:off x="7052934" y="3590107"/>
            <a:ext cx="527859"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a:t>
            </a:r>
          </a:p>
        </p:txBody>
      </p:sp>
      <p:sp>
        <p:nvSpPr>
          <p:cNvPr id="42" name="Rectangle 41"/>
          <p:cNvSpPr/>
          <p:nvPr/>
        </p:nvSpPr>
        <p:spPr>
          <a:xfrm>
            <a:off x="7580646" y="3590107"/>
            <a:ext cx="137160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{2, 3, 4, 5}</a:t>
            </a:r>
          </a:p>
        </p:txBody>
      </p:sp>
      <p:sp>
        <p:nvSpPr>
          <p:cNvPr id="43" name="Rectangle 42"/>
          <p:cNvSpPr/>
          <p:nvPr/>
        </p:nvSpPr>
        <p:spPr>
          <a:xfrm>
            <a:off x="8944286" y="3590107"/>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50</a:t>
            </a:r>
          </a:p>
        </p:txBody>
      </p:sp>
      <p:sp>
        <p:nvSpPr>
          <p:cNvPr id="44" name="Rectangle 43"/>
          <p:cNvSpPr/>
          <p:nvPr/>
        </p:nvSpPr>
        <p:spPr>
          <a:xfrm>
            <a:off x="9486231" y="3590107"/>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30</a:t>
            </a:r>
          </a:p>
        </p:txBody>
      </p:sp>
      <p:sp>
        <p:nvSpPr>
          <p:cNvPr id="45" name="Rectangle 44"/>
          <p:cNvSpPr/>
          <p:nvPr/>
        </p:nvSpPr>
        <p:spPr>
          <a:xfrm>
            <a:off x="10032140" y="3590107"/>
            <a:ext cx="64008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b="1" dirty="0">
                <a:solidFill>
                  <a:schemeClr val="tx1"/>
                </a:solidFill>
              </a:rPr>
              <a:t>100</a:t>
            </a:r>
          </a:p>
        </p:txBody>
      </p:sp>
      <p:sp>
        <p:nvSpPr>
          <p:cNvPr id="46" name="Rectangle 45"/>
          <p:cNvSpPr/>
          <p:nvPr/>
        </p:nvSpPr>
        <p:spPr>
          <a:xfrm>
            <a:off x="10669590" y="3590107"/>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10</a:t>
            </a:r>
          </a:p>
        </p:txBody>
      </p:sp>
      <p:sp>
        <p:nvSpPr>
          <p:cNvPr id="47" name="Rectangle 46"/>
          <p:cNvSpPr/>
          <p:nvPr/>
        </p:nvSpPr>
        <p:spPr>
          <a:xfrm>
            <a:off x="6237512" y="4074604"/>
            <a:ext cx="82296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tx1"/>
                </a:solidFill>
              </a:rPr>
              <a:t>1</a:t>
            </a:r>
          </a:p>
        </p:txBody>
      </p:sp>
      <p:sp>
        <p:nvSpPr>
          <p:cNvPr id="48" name="Rectangle 47"/>
          <p:cNvSpPr/>
          <p:nvPr/>
        </p:nvSpPr>
        <p:spPr>
          <a:xfrm>
            <a:off x="7052934" y="4074604"/>
            <a:ext cx="527859"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5</a:t>
            </a:r>
          </a:p>
        </p:txBody>
      </p:sp>
      <p:sp>
        <p:nvSpPr>
          <p:cNvPr id="49" name="Rectangle 48"/>
          <p:cNvSpPr/>
          <p:nvPr/>
        </p:nvSpPr>
        <p:spPr>
          <a:xfrm>
            <a:off x="7580646" y="4074604"/>
            <a:ext cx="137160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{2, 3, 4}</a:t>
            </a:r>
          </a:p>
        </p:txBody>
      </p:sp>
      <p:sp>
        <p:nvSpPr>
          <p:cNvPr id="50" name="Rectangle 49"/>
          <p:cNvSpPr/>
          <p:nvPr/>
        </p:nvSpPr>
        <p:spPr>
          <a:xfrm>
            <a:off x="8944286" y="4074604"/>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50</a:t>
            </a:r>
          </a:p>
        </p:txBody>
      </p:sp>
      <p:sp>
        <p:nvSpPr>
          <p:cNvPr id="51" name="Rectangle 50"/>
          <p:cNvSpPr/>
          <p:nvPr/>
        </p:nvSpPr>
        <p:spPr>
          <a:xfrm>
            <a:off x="9486231" y="4074604"/>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30</a:t>
            </a:r>
          </a:p>
        </p:txBody>
      </p:sp>
      <p:sp>
        <p:nvSpPr>
          <p:cNvPr id="52" name="Rectangle 51"/>
          <p:cNvSpPr/>
          <p:nvPr/>
        </p:nvSpPr>
        <p:spPr>
          <a:xfrm>
            <a:off x="10032140" y="4074604"/>
            <a:ext cx="64008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rPr>
              <a:t>20</a:t>
            </a:r>
          </a:p>
        </p:txBody>
      </p:sp>
      <p:sp>
        <p:nvSpPr>
          <p:cNvPr id="53" name="Rectangle 52"/>
          <p:cNvSpPr/>
          <p:nvPr/>
        </p:nvSpPr>
        <p:spPr>
          <a:xfrm>
            <a:off x="10669591" y="4074604"/>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10</a:t>
            </a:r>
          </a:p>
        </p:txBody>
      </p:sp>
      <p:sp>
        <p:nvSpPr>
          <p:cNvPr id="54" name="Rounded Rectangle 53"/>
          <p:cNvSpPr/>
          <p:nvPr/>
        </p:nvSpPr>
        <p:spPr>
          <a:xfrm>
            <a:off x="10763455" y="3666973"/>
            <a:ext cx="360910" cy="339337"/>
          </a:xfrm>
          <a:prstGeom prst="round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ounded Rectangle 54"/>
          <p:cNvSpPr/>
          <p:nvPr/>
        </p:nvSpPr>
        <p:spPr>
          <a:xfrm>
            <a:off x="10123580" y="4138258"/>
            <a:ext cx="457200" cy="365760"/>
          </a:xfrm>
          <a:prstGeom prst="round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679269" y="5643154"/>
            <a:ext cx="3108960" cy="822960"/>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tx1"/>
                </a:solidFill>
              </a:rPr>
              <a:t>Is there path from 1 - 5 - 2</a:t>
            </a:r>
          </a:p>
        </p:txBody>
      </p:sp>
      <p:sp>
        <p:nvSpPr>
          <p:cNvPr id="3" name="TextBox 2"/>
          <p:cNvSpPr txBox="1"/>
          <p:nvPr/>
        </p:nvSpPr>
        <p:spPr>
          <a:xfrm>
            <a:off x="705395" y="5864455"/>
            <a:ext cx="3056708" cy="430887"/>
          </a:xfrm>
          <a:prstGeom prst="rect">
            <a:avLst/>
          </a:prstGeom>
          <a:solidFill>
            <a:schemeClr val="bg1"/>
          </a:solidFill>
        </p:spPr>
        <p:txBody>
          <a:bodyPr wrap="square" rtlCol="0">
            <a:spAutoFit/>
          </a:bodyPr>
          <a:lstStyle/>
          <a:p>
            <a:pPr algn="ctr"/>
            <a:r>
              <a:rPr lang="en-US" sz="2200" dirty="0">
                <a:solidFill>
                  <a:srgbClr val="0070C0"/>
                </a:solidFill>
              </a:rPr>
              <a:t>Is there path from 1 - 5 - 3</a:t>
            </a:r>
          </a:p>
        </p:txBody>
      </p:sp>
      <p:sp>
        <p:nvSpPr>
          <p:cNvPr id="56" name="TextBox 55"/>
          <p:cNvSpPr txBox="1"/>
          <p:nvPr/>
        </p:nvSpPr>
        <p:spPr>
          <a:xfrm>
            <a:off x="712694" y="5862917"/>
            <a:ext cx="3065929" cy="457200"/>
          </a:xfrm>
          <a:prstGeom prst="rect">
            <a:avLst/>
          </a:prstGeom>
          <a:solidFill>
            <a:schemeClr val="bg1"/>
          </a:solidFill>
        </p:spPr>
        <p:txBody>
          <a:bodyPr wrap="square" rtlCol="0">
            <a:spAutoFit/>
          </a:bodyPr>
          <a:lstStyle/>
          <a:p>
            <a:r>
              <a:rPr lang="en-US" sz="2200" dirty="0">
                <a:solidFill>
                  <a:srgbClr val="C00000"/>
                </a:solidFill>
              </a:rPr>
              <a:t>Is there path from 1 - 5 - 4</a:t>
            </a:r>
          </a:p>
          <a:p>
            <a:endParaRPr lang="en-US" sz="2200" dirty="0"/>
          </a:p>
        </p:txBody>
      </p:sp>
      <p:sp>
        <p:nvSpPr>
          <p:cNvPr id="58" name="Oval 57"/>
          <p:cNvSpPr/>
          <p:nvPr/>
        </p:nvSpPr>
        <p:spPr>
          <a:xfrm>
            <a:off x="2220686" y="1737361"/>
            <a:ext cx="457200" cy="457200"/>
          </a:xfrm>
          <a:prstGeom prst="ellipse">
            <a:avLst/>
          </a:prstGeom>
          <a:noFill/>
          <a:ln w="38100">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p:cNvSpPr/>
          <p:nvPr/>
        </p:nvSpPr>
        <p:spPr>
          <a:xfrm>
            <a:off x="1746067" y="3091549"/>
            <a:ext cx="457200" cy="457200"/>
          </a:xfrm>
          <a:prstGeom prst="ellipse">
            <a:avLst/>
          </a:prstGeom>
          <a:noFill/>
          <a:ln w="38100">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p:cNvCxnSpPr/>
          <p:nvPr/>
        </p:nvCxnSpPr>
        <p:spPr>
          <a:xfrm>
            <a:off x="10110652" y="3997235"/>
            <a:ext cx="457200" cy="0"/>
          </a:xfrm>
          <a:prstGeom prst="line">
            <a:avLst/>
          </a:prstGeom>
          <a:ln w="38100">
            <a:solidFill>
              <a:srgbClr val="AD145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98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arn(inVertical)">
                                      <p:cBhvr>
                                        <p:cTn id="15" dur="500"/>
                                        <p:tgtEl>
                                          <p:spTgt spid="5"/>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arn(inVertical)">
                                      <p:cBhvr>
                                        <p:cTn id="18" dur="500"/>
                                        <p:tgtEl>
                                          <p:spTgt spid="6"/>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arn(inVertical)">
                                      <p:cBhvr>
                                        <p:cTn id="21" dur="500"/>
                                        <p:tgtEl>
                                          <p:spTgt spid="7"/>
                                        </p:tgtEl>
                                      </p:cBhvr>
                                    </p:animEffect>
                                  </p:childTnLst>
                                </p:cTn>
                              </p:par>
                              <p:par>
                                <p:cTn id="22" presetID="16" presetClass="entr" presetSubtype="21"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barn(inVertical)">
                                      <p:cBhvr>
                                        <p:cTn id="24" dur="500"/>
                                        <p:tgtEl>
                                          <p:spTgt spid="8"/>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p:cTn id="29" dur="500" fill="hold"/>
                                        <p:tgtEl>
                                          <p:spTgt spid="9"/>
                                        </p:tgtEl>
                                        <p:attrNameLst>
                                          <p:attrName>ppt_w</p:attrName>
                                        </p:attrNameLst>
                                      </p:cBhvr>
                                      <p:tavLst>
                                        <p:tav tm="0">
                                          <p:val>
                                            <p:fltVal val="0"/>
                                          </p:val>
                                        </p:tav>
                                        <p:tav tm="100000">
                                          <p:val>
                                            <p:strVal val="#ppt_w"/>
                                          </p:val>
                                        </p:tav>
                                      </p:tavLst>
                                    </p:anim>
                                    <p:anim calcmode="lin" valueType="num">
                                      <p:cBhvr>
                                        <p:cTn id="30" dur="500" fill="hold"/>
                                        <p:tgtEl>
                                          <p:spTgt spid="9"/>
                                        </p:tgtEl>
                                        <p:attrNameLst>
                                          <p:attrName>ppt_h</p:attrName>
                                        </p:attrNameLst>
                                      </p:cBhvr>
                                      <p:tavLst>
                                        <p:tav tm="0">
                                          <p:val>
                                            <p:fltVal val="0"/>
                                          </p:val>
                                        </p:tav>
                                        <p:tav tm="100000">
                                          <p:val>
                                            <p:strVal val="#ppt_h"/>
                                          </p:val>
                                        </p:tav>
                                      </p:tavLst>
                                    </p:anim>
                                    <p:animEffect transition="in" filter="fade">
                                      <p:cBhvr>
                                        <p:cTn id="31" dur="500"/>
                                        <p:tgtEl>
                                          <p:spTgt spid="9"/>
                                        </p:tgtEl>
                                      </p:cBhvr>
                                    </p:animEffect>
                                  </p:childTnLst>
                                </p:cTn>
                              </p:par>
                              <p:par>
                                <p:cTn id="32" presetID="53" presetClass="entr" presetSubtype="16"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 calcmode="lin" valueType="num">
                                      <p:cBhvr>
                                        <p:cTn id="34" dur="500" fill="hold"/>
                                        <p:tgtEl>
                                          <p:spTgt spid="13"/>
                                        </p:tgtEl>
                                        <p:attrNameLst>
                                          <p:attrName>ppt_w</p:attrName>
                                        </p:attrNameLst>
                                      </p:cBhvr>
                                      <p:tavLst>
                                        <p:tav tm="0">
                                          <p:val>
                                            <p:fltVal val="0"/>
                                          </p:val>
                                        </p:tav>
                                        <p:tav tm="100000">
                                          <p:val>
                                            <p:strVal val="#ppt_w"/>
                                          </p:val>
                                        </p:tav>
                                      </p:tavLst>
                                    </p:anim>
                                    <p:anim calcmode="lin" valueType="num">
                                      <p:cBhvr>
                                        <p:cTn id="35" dur="500" fill="hold"/>
                                        <p:tgtEl>
                                          <p:spTgt spid="13"/>
                                        </p:tgtEl>
                                        <p:attrNameLst>
                                          <p:attrName>ppt_h</p:attrName>
                                        </p:attrNameLst>
                                      </p:cBhvr>
                                      <p:tavLst>
                                        <p:tav tm="0">
                                          <p:val>
                                            <p:fltVal val="0"/>
                                          </p:val>
                                        </p:tav>
                                        <p:tav tm="100000">
                                          <p:val>
                                            <p:strVal val="#ppt_h"/>
                                          </p:val>
                                        </p:tav>
                                      </p:tavLst>
                                    </p:anim>
                                    <p:animEffect transition="in" filter="fade">
                                      <p:cBhvr>
                                        <p:cTn id="36" dur="500"/>
                                        <p:tgtEl>
                                          <p:spTgt spid="13"/>
                                        </p:tgtEl>
                                      </p:cBhvr>
                                    </p:animEffect>
                                  </p:childTnLst>
                                </p:cTn>
                              </p:par>
                              <p:par>
                                <p:cTn id="37" presetID="53" presetClass="entr" presetSubtype="16"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p:cTn id="39" dur="500" fill="hold"/>
                                        <p:tgtEl>
                                          <p:spTgt spid="10"/>
                                        </p:tgtEl>
                                        <p:attrNameLst>
                                          <p:attrName>ppt_w</p:attrName>
                                        </p:attrNameLst>
                                      </p:cBhvr>
                                      <p:tavLst>
                                        <p:tav tm="0">
                                          <p:val>
                                            <p:fltVal val="0"/>
                                          </p:val>
                                        </p:tav>
                                        <p:tav tm="100000">
                                          <p:val>
                                            <p:strVal val="#ppt_w"/>
                                          </p:val>
                                        </p:tav>
                                      </p:tavLst>
                                    </p:anim>
                                    <p:anim calcmode="lin" valueType="num">
                                      <p:cBhvr>
                                        <p:cTn id="40" dur="500" fill="hold"/>
                                        <p:tgtEl>
                                          <p:spTgt spid="10"/>
                                        </p:tgtEl>
                                        <p:attrNameLst>
                                          <p:attrName>ppt_h</p:attrName>
                                        </p:attrNameLst>
                                      </p:cBhvr>
                                      <p:tavLst>
                                        <p:tav tm="0">
                                          <p:val>
                                            <p:fltVal val="0"/>
                                          </p:val>
                                        </p:tav>
                                        <p:tav tm="100000">
                                          <p:val>
                                            <p:strVal val="#ppt_h"/>
                                          </p:val>
                                        </p:tav>
                                      </p:tavLst>
                                    </p:anim>
                                    <p:animEffect transition="in" filter="fade">
                                      <p:cBhvr>
                                        <p:cTn id="41" dur="500"/>
                                        <p:tgtEl>
                                          <p:spTgt spid="10"/>
                                        </p:tgtEl>
                                      </p:cBhvr>
                                    </p:animEffect>
                                  </p:childTnLst>
                                </p:cTn>
                              </p:par>
                              <p:par>
                                <p:cTn id="42" presetID="53" presetClass="entr" presetSubtype="16" fill="hold" nodeType="with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p:cTn id="44" dur="500" fill="hold"/>
                                        <p:tgtEl>
                                          <p:spTgt spid="16"/>
                                        </p:tgtEl>
                                        <p:attrNameLst>
                                          <p:attrName>ppt_w</p:attrName>
                                        </p:attrNameLst>
                                      </p:cBhvr>
                                      <p:tavLst>
                                        <p:tav tm="0">
                                          <p:val>
                                            <p:fltVal val="0"/>
                                          </p:val>
                                        </p:tav>
                                        <p:tav tm="100000">
                                          <p:val>
                                            <p:strVal val="#ppt_w"/>
                                          </p:val>
                                        </p:tav>
                                      </p:tavLst>
                                    </p:anim>
                                    <p:anim calcmode="lin" valueType="num">
                                      <p:cBhvr>
                                        <p:cTn id="45" dur="500" fill="hold"/>
                                        <p:tgtEl>
                                          <p:spTgt spid="16"/>
                                        </p:tgtEl>
                                        <p:attrNameLst>
                                          <p:attrName>ppt_h</p:attrName>
                                        </p:attrNameLst>
                                      </p:cBhvr>
                                      <p:tavLst>
                                        <p:tav tm="0">
                                          <p:val>
                                            <p:fltVal val="0"/>
                                          </p:val>
                                        </p:tav>
                                        <p:tav tm="100000">
                                          <p:val>
                                            <p:strVal val="#ppt_h"/>
                                          </p:val>
                                        </p:tav>
                                      </p:tavLst>
                                    </p:anim>
                                    <p:animEffect transition="in" filter="fade">
                                      <p:cBhvr>
                                        <p:cTn id="46" dur="500"/>
                                        <p:tgtEl>
                                          <p:spTgt spid="16"/>
                                        </p:tgtEl>
                                      </p:cBhvr>
                                    </p:animEffect>
                                  </p:childTnLst>
                                </p:cTn>
                              </p:par>
                              <p:par>
                                <p:cTn id="47" presetID="53" presetClass="entr" presetSubtype="16" fill="hold" nodeType="with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p:cTn id="49" dur="500" fill="hold"/>
                                        <p:tgtEl>
                                          <p:spTgt spid="14"/>
                                        </p:tgtEl>
                                        <p:attrNameLst>
                                          <p:attrName>ppt_w</p:attrName>
                                        </p:attrNameLst>
                                      </p:cBhvr>
                                      <p:tavLst>
                                        <p:tav tm="0">
                                          <p:val>
                                            <p:fltVal val="0"/>
                                          </p:val>
                                        </p:tav>
                                        <p:tav tm="100000">
                                          <p:val>
                                            <p:strVal val="#ppt_w"/>
                                          </p:val>
                                        </p:tav>
                                      </p:tavLst>
                                    </p:anim>
                                    <p:anim calcmode="lin" valueType="num">
                                      <p:cBhvr>
                                        <p:cTn id="50" dur="500" fill="hold"/>
                                        <p:tgtEl>
                                          <p:spTgt spid="14"/>
                                        </p:tgtEl>
                                        <p:attrNameLst>
                                          <p:attrName>ppt_h</p:attrName>
                                        </p:attrNameLst>
                                      </p:cBhvr>
                                      <p:tavLst>
                                        <p:tav tm="0">
                                          <p:val>
                                            <p:fltVal val="0"/>
                                          </p:val>
                                        </p:tav>
                                        <p:tav tm="100000">
                                          <p:val>
                                            <p:strVal val="#ppt_h"/>
                                          </p:val>
                                        </p:tav>
                                      </p:tavLst>
                                    </p:anim>
                                    <p:animEffect transition="in" filter="fade">
                                      <p:cBhvr>
                                        <p:cTn id="51" dur="500"/>
                                        <p:tgtEl>
                                          <p:spTgt spid="14"/>
                                        </p:tgtEl>
                                      </p:cBhvr>
                                    </p:animEffect>
                                  </p:childTnLst>
                                </p:cTn>
                              </p:par>
                              <p:par>
                                <p:cTn id="52" presetID="53" presetClass="entr" presetSubtype="16" fill="hold" nodeType="withEffect">
                                  <p:stCondLst>
                                    <p:cond delay="0"/>
                                  </p:stCondLst>
                                  <p:childTnLst>
                                    <p:set>
                                      <p:cBhvr>
                                        <p:cTn id="53" dur="1" fill="hold">
                                          <p:stCondLst>
                                            <p:cond delay="0"/>
                                          </p:stCondLst>
                                        </p:cTn>
                                        <p:tgtEl>
                                          <p:spTgt spid="11"/>
                                        </p:tgtEl>
                                        <p:attrNameLst>
                                          <p:attrName>style.visibility</p:attrName>
                                        </p:attrNameLst>
                                      </p:cBhvr>
                                      <p:to>
                                        <p:strVal val="visible"/>
                                      </p:to>
                                    </p:set>
                                    <p:anim calcmode="lin" valueType="num">
                                      <p:cBhvr>
                                        <p:cTn id="54" dur="500" fill="hold"/>
                                        <p:tgtEl>
                                          <p:spTgt spid="11"/>
                                        </p:tgtEl>
                                        <p:attrNameLst>
                                          <p:attrName>ppt_w</p:attrName>
                                        </p:attrNameLst>
                                      </p:cBhvr>
                                      <p:tavLst>
                                        <p:tav tm="0">
                                          <p:val>
                                            <p:fltVal val="0"/>
                                          </p:val>
                                        </p:tav>
                                        <p:tav tm="100000">
                                          <p:val>
                                            <p:strVal val="#ppt_w"/>
                                          </p:val>
                                        </p:tav>
                                      </p:tavLst>
                                    </p:anim>
                                    <p:anim calcmode="lin" valueType="num">
                                      <p:cBhvr>
                                        <p:cTn id="55" dur="500" fill="hold"/>
                                        <p:tgtEl>
                                          <p:spTgt spid="11"/>
                                        </p:tgtEl>
                                        <p:attrNameLst>
                                          <p:attrName>ppt_h</p:attrName>
                                        </p:attrNameLst>
                                      </p:cBhvr>
                                      <p:tavLst>
                                        <p:tav tm="0">
                                          <p:val>
                                            <p:fltVal val="0"/>
                                          </p:val>
                                        </p:tav>
                                        <p:tav tm="100000">
                                          <p:val>
                                            <p:strVal val="#ppt_h"/>
                                          </p:val>
                                        </p:tav>
                                      </p:tavLst>
                                    </p:anim>
                                    <p:animEffect transition="in" filter="fade">
                                      <p:cBhvr>
                                        <p:cTn id="56" dur="500"/>
                                        <p:tgtEl>
                                          <p:spTgt spid="11"/>
                                        </p:tgtEl>
                                      </p:cBhvr>
                                    </p:animEffect>
                                  </p:childTnLst>
                                </p:cTn>
                              </p:par>
                              <p:par>
                                <p:cTn id="57" presetID="53" presetClass="entr" presetSubtype="16" fill="hold" nodeType="withEffect">
                                  <p:stCondLst>
                                    <p:cond delay="0"/>
                                  </p:stCondLst>
                                  <p:childTnLst>
                                    <p:set>
                                      <p:cBhvr>
                                        <p:cTn id="58" dur="1" fill="hold">
                                          <p:stCondLst>
                                            <p:cond delay="0"/>
                                          </p:stCondLst>
                                        </p:cTn>
                                        <p:tgtEl>
                                          <p:spTgt spid="12"/>
                                        </p:tgtEl>
                                        <p:attrNameLst>
                                          <p:attrName>style.visibility</p:attrName>
                                        </p:attrNameLst>
                                      </p:cBhvr>
                                      <p:to>
                                        <p:strVal val="visible"/>
                                      </p:to>
                                    </p:set>
                                    <p:anim calcmode="lin" valueType="num">
                                      <p:cBhvr>
                                        <p:cTn id="59" dur="500" fill="hold"/>
                                        <p:tgtEl>
                                          <p:spTgt spid="12"/>
                                        </p:tgtEl>
                                        <p:attrNameLst>
                                          <p:attrName>ppt_w</p:attrName>
                                        </p:attrNameLst>
                                      </p:cBhvr>
                                      <p:tavLst>
                                        <p:tav tm="0">
                                          <p:val>
                                            <p:fltVal val="0"/>
                                          </p:val>
                                        </p:tav>
                                        <p:tav tm="100000">
                                          <p:val>
                                            <p:strVal val="#ppt_w"/>
                                          </p:val>
                                        </p:tav>
                                      </p:tavLst>
                                    </p:anim>
                                    <p:anim calcmode="lin" valueType="num">
                                      <p:cBhvr>
                                        <p:cTn id="60" dur="500" fill="hold"/>
                                        <p:tgtEl>
                                          <p:spTgt spid="12"/>
                                        </p:tgtEl>
                                        <p:attrNameLst>
                                          <p:attrName>ppt_h</p:attrName>
                                        </p:attrNameLst>
                                      </p:cBhvr>
                                      <p:tavLst>
                                        <p:tav tm="0">
                                          <p:val>
                                            <p:fltVal val="0"/>
                                          </p:val>
                                        </p:tav>
                                        <p:tav tm="100000">
                                          <p:val>
                                            <p:strVal val="#ppt_h"/>
                                          </p:val>
                                        </p:tav>
                                      </p:tavLst>
                                    </p:anim>
                                    <p:animEffect transition="in" filter="fade">
                                      <p:cBhvr>
                                        <p:cTn id="61" dur="500"/>
                                        <p:tgtEl>
                                          <p:spTgt spid="12"/>
                                        </p:tgtEl>
                                      </p:cBhvr>
                                    </p:animEffect>
                                  </p:childTnLst>
                                </p:cTn>
                              </p:par>
                              <p:par>
                                <p:cTn id="62" presetID="53" presetClass="entr" presetSubtype="16" fill="hold" nodeType="withEffect">
                                  <p:stCondLst>
                                    <p:cond delay="0"/>
                                  </p:stCondLst>
                                  <p:childTnLst>
                                    <p:set>
                                      <p:cBhvr>
                                        <p:cTn id="63" dur="1" fill="hold">
                                          <p:stCondLst>
                                            <p:cond delay="0"/>
                                          </p:stCondLst>
                                        </p:cTn>
                                        <p:tgtEl>
                                          <p:spTgt spid="15"/>
                                        </p:tgtEl>
                                        <p:attrNameLst>
                                          <p:attrName>style.visibility</p:attrName>
                                        </p:attrNameLst>
                                      </p:cBhvr>
                                      <p:to>
                                        <p:strVal val="visible"/>
                                      </p:to>
                                    </p:set>
                                    <p:anim calcmode="lin" valueType="num">
                                      <p:cBhvr>
                                        <p:cTn id="64" dur="500" fill="hold"/>
                                        <p:tgtEl>
                                          <p:spTgt spid="15"/>
                                        </p:tgtEl>
                                        <p:attrNameLst>
                                          <p:attrName>ppt_w</p:attrName>
                                        </p:attrNameLst>
                                      </p:cBhvr>
                                      <p:tavLst>
                                        <p:tav tm="0">
                                          <p:val>
                                            <p:fltVal val="0"/>
                                          </p:val>
                                        </p:tav>
                                        <p:tav tm="100000">
                                          <p:val>
                                            <p:strVal val="#ppt_w"/>
                                          </p:val>
                                        </p:tav>
                                      </p:tavLst>
                                    </p:anim>
                                    <p:anim calcmode="lin" valueType="num">
                                      <p:cBhvr>
                                        <p:cTn id="65" dur="500" fill="hold"/>
                                        <p:tgtEl>
                                          <p:spTgt spid="15"/>
                                        </p:tgtEl>
                                        <p:attrNameLst>
                                          <p:attrName>ppt_h</p:attrName>
                                        </p:attrNameLst>
                                      </p:cBhvr>
                                      <p:tavLst>
                                        <p:tav tm="0">
                                          <p:val>
                                            <p:fltVal val="0"/>
                                          </p:val>
                                        </p:tav>
                                        <p:tav tm="100000">
                                          <p:val>
                                            <p:strVal val="#ppt_h"/>
                                          </p:val>
                                        </p:tav>
                                      </p:tavLst>
                                    </p:anim>
                                    <p:animEffect transition="in" filter="fade">
                                      <p:cBhvr>
                                        <p:cTn id="66" dur="500"/>
                                        <p:tgtEl>
                                          <p:spTgt spid="15"/>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500"/>
                                        <p:tgtEl>
                                          <p:spTgt spid="17"/>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500"/>
                                        <p:tgtEl>
                                          <p:spTgt spid="18"/>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1"/>
                                        </p:tgtEl>
                                        <p:attrNameLst>
                                          <p:attrName>style.visibility</p:attrName>
                                        </p:attrNameLst>
                                      </p:cBhvr>
                                      <p:to>
                                        <p:strVal val="visible"/>
                                      </p:to>
                                    </p:set>
                                    <p:animEffect transition="in" filter="fade">
                                      <p:cBhvr>
                                        <p:cTn id="80" dur="500"/>
                                        <p:tgtEl>
                                          <p:spTgt spid="21"/>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fade">
                                      <p:cBhvr>
                                        <p:cTn id="83" dur="500"/>
                                        <p:tgtEl>
                                          <p:spTgt spid="2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00"/>
                                        <p:tgtEl>
                                          <p:spTgt spid="23"/>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2"/>
                                        </p:tgtEl>
                                        <p:attrNameLst>
                                          <p:attrName>style.visibility</p:attrName>
                                        </p:attrNameLst>
                                      </p:cBhvr>
                                      <p:to>
                                        <p:strVal val="visible"/>
                                      </p:to>
                                    </p:set>
                                    <p:animEffect transition="in" filter="fade">
                                      <p:cBhvr>
                                        <p:cTn id="89" dur="500"/>
                                        <p:tgtEl>
                                          <p:spTgt spid="22"/>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24"/>
                                        </p:tgtEl>
                                        <p:attrNameLst>
                                          <p:attrName>style.visibility</p:attrName>
                                        </p:attrNameLst>
                                      </p:cBhvr>
                                      <p:to>
                                        <p:strVal val="visible"/>
                                      </p:to>
                                    </p:set>
                                    <p:animEffect transition="in" filter="fade">
                                      <p:cBhvr>
                                        <p:cTn id="92" dur="500"/>
                                        <p:tgtEl>
                                          <p:spTgt spid="24"/>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25"/>
                                        </p:tgtEl>
                                        <p:attrNameLst>
                                          <p:attrName>style.visibility</p:attrName>
                                        </p:attrNameLst>
                                      </p:cBhvr>
                                      <p:to>
                                        <p:strVal val="visible"/>
                                      </p:to>
                                    </p:set>
                                    <p:animEffect transition="in" filter="fade">
                                      <p:cBhvr>
                                        <p:cTn id="97" dur="500"/>
                                        <p:tgtEl>
                                          <p:spTgt spid="25"/>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33"/>
                                        </p:tgtEl>
                                        <p:attrNameLst>
                                          <p:attrName>style.visibility</p:attrName>
                                        </p:attrNameLst>
                                      </p:cBhvr>
                                      <p:to>
                                        <p:strVal val="visible"/>
                                      </p:to>
                                    </p:set>
                                    <p:animEffect transition="in" filter="fade">
                                      <p:cBhvr>
                                        <p:cTn id="102" dur="500"/>
                                        <p:tgtEl>
                                          <p:spTgt spid="33"/>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4"/>
                                        </p:tgtEl>
                                        <p:attrNameLst>
                                          <p:attrName>style.visibility</p:attrName>
                                        </p:attrNameLst>
                                      </p:cBhvr>
                                      <p:to>
                                        <p:strVal val="visible"/>
                                      </p:to>
                                    </p:set>
                                    <p:animEffect transition="in" filter="fade">
                                      <p:cBhvr>
                                        <p:cTn id="105" dur="500"/>
                                        <p:tgtEl>
                                          <p:spTgt spid="34"/>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5"/>
                                        </p:tgtEl>
                                        <p:attrNameLst>
                                          <p:attrName>style.visibility</p:attrName>
                                        </p:attrNameLst>
                                      </p:cBhvr>
                                      <p:to>
                                        <p:strVal val="visible"/>
                                      </p:to>
                                    </p:set>
                                    <p:animEffect transition="in" filter="fade">
                                      <p:cBhvr>
                                        <p:cTn id="108" dur="500"/>
                                        <p:tgtEl>
                                          <p:spTgt spid="35"/>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6"/>
                                        </p:tgtEl>
                                        <p:attrNameLst>
                                          <p:attrName>style.visibility</p:attrName>
                                        </p:attrNameLst>
                                      </p:cBhvr>
                                      <p:to>
                                        <p:strVal val="visible"/>
                                      </p:to>
                                    </p:set>
                                    <p:animEffect transition="in" filter="fade">
                                      <p:cBhvr>
                                        <p:cTn id="111" dur="500"/>
                                        <p:tgtEl>
                                          <p:spTgt spid="36"/>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7"/>
                                        </p:tgtEl>
                                        <p:attrNameLst>
                                          <p:attrName>style.visibility</p:attrName>
                                        </p:attrNameLst>
                                      </p:cBhvr>
                                      <p:to>
                                        <p:strVal val="visible"/>
                                      </p:to>
                                    </p:set>
                                    <p:animEffect transition="in" filter="fade">
                                      <p:cBhvr>
                                        <p:cTn id="114" dur="500"/>
                                        <p:tgtEl>
                                          <p:spTgt spid="37"/>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38"/>
                                        </p:tgtEl>
                                        <p:attrNameLst>
                                          <p:attrName>style.visibility</p:attrName>
                                        </p:attrNameLst>
                                      </p:cBhvr>
                                      <p:to>
                                        <p:strVal val="visible"/>
                                      </p:to>
                                    </p:set>
                                    <p:animEffect transition="in" filter="fade">
                                      <p:cBhvr>
                                        <p:cTn id="117" dur="500"/>
                                        <p:tgtEl>
                                          <p:spTgt spid="38"/>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39"/>
                                        </p:tgtEl>
                                        <p:attrNameLst>
                                          <p:attrName>style.visibility</p:attrName>
                                        </p:attrNameLst>
                                      </p:cBhvr>
                                      <p:to>
                                        <p:strVal val="visible"/>
                                      </p:to>
                                    </p:set>
                                    <p:animEffect transition="in" filter="fade">
                                      <p:cBhvr>
                                        <p:cTn id="120" dur="500"/>
                                        <p:tgtEl>
                                          <p:spTgt spid="39"/>
                                        </p:tgtEl>
                                      </p:cBhvr>
                                    </p:animEffect>
                                  </p:childTnLst>
                                </p:cTn>
                              </p:par>
                            </p:childTnLst>
                          </p:cTn>
                        </p:par>
                      </p:childTnLst>
                    </p:cTn>
                  </p:par>
                  <p:par>
                    <p:cTn id="121" fill="hold">
                      <p:stCondLst>
                        <p:cond delay="indefinite"/>
                      </p:stCondLst>
                      <p:childTnLst>
                        <p:par>
                          <p:cTn id="122" fill="hold">
                            <p:stCondLst>
                              <p:cond delay="0"/>
                            </p:stCondLst>
                            <p:childTnLst>
                              <p:par>
                                <p:cTn id="123" presetID="10" presetClass="entr" presetSubtype="0" fill="hold" grpId="0" nodeType="clickEffect">
                                  <p:stCondLst>
                                    <p:cond delay="0"/>
                                  </p:stCondLst>
                                  <p:childTnLst>
                                    <p:set>
                                      <p:cBhvr>
                                        <p:cTn id="124" dur="1" fill="hold">
                                          <p:stCondLst>
                                            <p:cond delay="0"/>
                                          </p:stCondLst>
                                        </p:cTn>
                                        <p:tgtEl>
                                          <p:spTgt spid="40"/>
                                        </p:tgtEl>
                                        <p:attrNameLst>
                                          <p:attrName>style.visibility</p:attrName>
                                        </p:attrNameLst>
                                      </p:cBhvr>
                                      <p:to>
                                        <p:strVal val="visible"/>
                                      </p:to>
                                    </p:set>
                                    <p:animEffect transition="in" filter="fade">
                                      <p:cBhvr>
                                        <p:cTn id="125" dur="500"/>
                                        <p:tgtEl>
                                          <p:spTgt spid="40"/>
                                        </p:tgtEl>
                                      </p:cBhvr>
                                    </p:animEffect>
                                  </p:childTnLst>
                                </p:cTn>
                              </p:par>
                            </p:childTnLst>
                          </p:cTn>
                        </p:par>
                      </p:childTnLst>
                    </p:cTn>
                  </p:par>
                  <p:par>
                    <p:cTn id="126" fill="hold">
                      <p:stCondLst>
                        <p:cond delay="indefinite"/>
                      </p:stCondLst>
                      <p:childTnLst>
                        <p:par>
                          <p:cTn id="127" fill="hold">
                            <p:stCondLst>
                              <p:cond delay="0"/>
                            </p:stCondLst>
                            <p:childTnLst>
                              <p:par>
                                <p:cTn id="128" presetID="10" presetClass="entr" presetSubtype="0" fill="hold" grpId="0" nodeType="clickEffect">
                                  <p:stCondLst>
                                    <p:cond delay="0"/>
                                  </p:stCondLst>
                                  <p:childTnLst>
                                    <p:set>
                                      <p:cBhvr>
                                        <p:cTn id="129" dur="1" fill="hold">
                                          <p:stCondLst>
                                            <p:cond delay="0"/>
                                          </p:stCondLst>
                                        </p:cTn>
                                        <p:tgtEl>
                                          <p:spTgt spid="41"/>
                                        </p:tgtEl>
                                        <p:attrNameLst>
                                          <p:attrName>style.visibility</p:attrName>
                                        </p:attrNameLst>
                                      </p:cBhvr>
                                      <p:to>
                                        <p:strVal val="visible"/>
                                      </p:to>
                                    </p:set>
                                    <p:animEffect transition="in" filter="fade">
                                      <p:cBhvr>
                                        <p:cTn id="130" dur="500"/>
                                        <p:tgtEl>
                                          <p:spTgt spid="41"/>
                                        </p:tgtEl>
                                      </p:cBhvr>
                                    </p:animEffect>
                                  </p:childTnLst>
                                </p:cTn>
                              </p:par>
                            </p:childTnLst>
                          </p:cTn>
                        </p:par>
                      </p:childTnLst>
                    </p:cTn>
                  </p:par>
                  <p:par>
                    <p:cTn id="131" fill="hold">
                      <p:stCondLst>
                        <p:cond delay="indefinite"/>
                      </p:stCondLst>
                      <p:childTnLst>
                        <p:par>
                          <p:cTn id="132" fill="hold">
                            <p:stCondLst>
                              <p:cond delay="0"/>
                            </p:stCondLst>
                            <p:childTnLst>
                              <p:par>
                                <p:cTn id="133" presetID="10" presetClass="entr" presetSubtype="0" fill="hold" grpId="0" nodeType="clickEffect">
                                  <p:stCondLst>
                                    <p:cond delay="0"/>
                                  </p:stCondLst>
                                  <p:childTnLst>
                                    <p:set>
                                      <p:cBhvr>
                                        <p:cTn id="134" dur="1" fill="hold">
                                          <p:stCondLst>
                                            <p:cond delay="0"/>
                                          </p:stCondLst>
                                        </p:cTn>
                                        <p:tgtEl>
                                          <p:spTgt spid="42"/>
                                        </p:tgtEl>
                                        <p:attrNameLst>
                                          <p:attrName>style.visibility</p:attrName>
                                        </p:attrNameLst>
                                      </p:cBhvr>
                                      <p:to>
                                        <p:strVal val="visible"/>
                                      </p:to>
                                    </p:set>
                                    <p:animEffect transition="in" filter="fade">
                                      <p:cBhvr>
                                        <p:cTn id="135" dur="500"/>
                                        <p:tgtEl>
                                          <p:spTgt spid="42"/>
                                        </p:tgtEl>
                                      </p:cBhvr>
                                    </p:animEffect>
                                  </p:childTnLst>
                                </p:cTn>
                              </p:par>
                            </p:childTnLst>
                          </p:cTn>
                        </p:par>
                      </p:childTnLst>
                    </p:cTn>
                  </p:par>
                  <p:par>
                    <p:cTn id="136" fill="hold">
                      <p:stCondLst>
                        <p:cond delay="indefinite"/>
                      </p:stCondLst>
                      <p:childTnLst>
                        <p:par>
                          <p:cTn id="137" fill="hold">
                            <p:stCondLst>
                              <p:cond delay="0"/>
                            </p:stCondLst>
                            <p:childTnLst>
                              <p:par>
                                <p:cTn id="138" presetID="10" presetClass="entr" presetSubtype="0" fill="hold" grpId="0" nodeType="clickEffect">
                                  <p:stCondLst>
                                    <p:cond delay="0"/>
                                  </p:stCondLst>
                                  <p:childTnLst>
                                    <p:set>
                                      <p:cBhvr>
                                        <p:cTn id="139" dur="1" fill="hold">
                                          <p:stCondLst>
                                            <p:cond delay="0"/>
                                          </p:stCondLst>
                                        </p:cTn>
                                        <p:tgtEl>
                                          <p:spTgt spid="43"/>
                                        </p:tgtEl>
                                        <p:attrNameLst>
                                          <p:attrName>style.visibility</p:attrName>
                                        </p:attrNameLst>
                                      </p:cBhvr>
                                      <p:to>
                                        <p:strVal val="visible"/>
                                      </p:to>
                                    </p:set>
                                    <p:animEffect transition="in" filter="fade">
                                      <p:cBhvr>
                                        <p:cTn id="140" dur="500"/>
                                        <p:tgtEl>
                                          <p:spTgt spid="43"/>
                                        </p:tgtEl>
                                      </p:cBhvr>
                                    </p:animEffect>
                                  </p:childTnLst>
                                </p:cTn>
                              </p:par>
                            </p:childTnLst>
                          </p:cTn>
                        </p:par>
                        <p:par>
                          <p:cTn id="141" fill="hold">
                            <p:stCondLst>
                              <p:cond delay="500"/>
                            </p:stCondLst>
                            <p:childTnLst>
                              <p:par>
                                <p:cTn id="142" presetID="10" presetClass="entr" presetSubtype="0" fill="hold" grpId="0" nodeType="afterEffect">
                                  <p:stCondLst>
                                    <p:cond delay="0"/>
                                  </p:stCondLst>
                                  <p:childTnLst>
                                    <p:set>
                                      <p:cBhvr>
                                        <p:cTn id="143" dur="1" fill="hold">
                                          <p:stCondLst>
                                            <p:cond delay="0"/>
                                          </p:stCondLst>
                                        </p:cTn>
                                        <p:tgtEl>
                                          <p:spTgt spid="44"/>
                                        </p:tgtEl>
                                        <p:attrNameLst>
                                          <p:attrName>style.visibility</p:attrName>
                                        </p:attrNameLst>
                                      </p:cBhvr>
                                      <p:to>
                                        <p:strVal val="visible"/>
                                      </p:to>
                                    </p:set>
                                    <p:animEffect transition="in" filter="fade">
                                      <p:cBhvr>
                                        <p:cTn id="144" dur="500"/>
                                        <p:tgtEl>
                                          <p:spTgt spid="44"/>
                                        </p:tgtEl>
                                      </p:cBhvr>
                                    </p:animEffect>
                                  </p:childTnLst>
                                </p:cTn>
                              </p:par>
                            </p:childTnLst>
                          </p:cTn>
                        </p:par>
                        <p:par>
                          <p:cTn id="145" fill="hold">
                            <p:stCondLst>
                              <p:cond delay="1000"/>
                            </p:stCondLst>
                            <p:childTnLst>
                              <p:par>
                                <p:cTn id="146" presetID="10" presetClass="entr" presetSubtype="0" fill="hold" grpId="0" nodeType="afterEffect">
                                  <p:stCondLst>
                                    <p:cond delay="0"/>
                                  </p:stCondLst>
                                  <p:childTnLst>
                                    <p:set>
                                      <p:cBhvr>
                                        <p:cTn id="147" dur="1" fill="hold">
                                          <p:stCondLst>
                                            <p:cond delay="0"/>
                                          </p:stCondLst>
                                        </p:cTn>
                                        <p:tgtEl>
                                          <p:spTgt spid="45"/>
                                        </p:tgtEl>
                                        <p:attrNameLst>
                                          <p:attrName>style.visibility</p:attrName>
                                        </p:attrNameLst>
                                      </p:cBhvr>
                                      <p:to>
                                        <p:strVal val="visible"/>
                                      </p:to>
                                    </p:set>
                                    <p:animEffect transition="in" filter="fade">
                                      <p:cBhvr>
                                        <p:cTn id="148" dur="500"/>
                                        <p:tgtEl>
                                          <p:spTgt spid="45"/>
                                        </p:tgtEl>
                                      </p:cBhvr>
                                    </p:animEffect>
                                  </p:childTnLst>
                                </p:cTn>
                              </p:par>
                            </p:childTnLst>
                          </p:cTn>
                        </p:par>
                        <p:par>
                          <p:cTn id="149" fill="hold">
                            <p:stCondLst>
                              <p:cond delay="1500"/>
                            </p:stCondLst>
                            <p:childTnLst>
                              <p:par>
                                <p:cTn id="150" presetID="10" presetClass="entr" presetSubtype="0" fill="hold" grpId="0" nodeType="afterEffect">
                                  <p:stCondLst>
                                    <p:cond delay="0"/>
                                  </p:stCondLst>
                                  <p:childTnLst>
                                    <p:set>
                                      <p:cBhvr>
                                        <p:cTn id="151" dur="1" fill="hold">
                                          <p:stCondLst>
                                            <p:cond delay="0"/>
                                          </p:stCondLst>
                                        </p:cTn>
                                        <p:tgtEl>
                                          <p:spTgt spid="46"/>
                                        </p:tgtEl>
                                        <p:attrNameLst>
                                          <p:attrName>style.visibility</p:attrName>
                                        </p:attrNameLst>
                                      </p:cBhvr>
                                      <p:to>
                                        <p:strVal val="visible"/>
                                      </p:to>
                                    </p:set>
                                    <p:animEffect transition="in" filter="fade">
                                      <p:cBhvr>
                                        <p:cTn id="152" dur="500"/>
                                        <p:tgtEl>
                                          <p:spTgt spid="46"/>
                                        </p:tgtEl>
                                      </p:cBhvr>
                                    </p:animEffect>
                                  </p:childTnLst>
                                </p:cTn>
                              </p:par>
                            </p:childTnLst>
                          </p:cTn>
                        </p:par>
                      </p:childTnLst>
                    </p:cTn>
                  </p:par>
                  <p:par>
                    <p:cTn id="153" fill="hold">
                      <p:stCondLst>
                        <p:cond delay="indefinite"/>
                      </p:stCondLst>
                      <p:childTnLst>
                        <p:par>
                          <p:cTn id="154" fill="hold">
                            <p:stCondLst>
                              <p:cond delay="0"/>
                            </p:stCondLst>
                            <p:childTnLst>
                              <p:par>
                                <p:cTn id="155" presetID="21" presetClass="entr" presetSubtype="1" fill="hold" grpId="0" nodeType="clickEffect">
                                  <p:stCondLst>
                                    <p:cond delay="0"/>
                                  </p:stCondLst>
                                  <p:childTnLst>
                                    <p:set>
                                      <p:cBhvr>
                                        <p:cTn id="156" dur="1" fill="hold">
                                          <p:stCondLst>
                                            <p:cond delay="0"/>
                                          </p:stCondLst>
                                        </p:cTn>
                                        <p:tgtEl>
                                          <p:spTgt spid="54"/>
                                        </p:tgtEl>
                                        <p:attrNameLst>
                                          <p:attrName>style.visibility</p:attrName>
                                        </p:attrNameLst>
                                      </p:cBhvr>
                                      <p:to>
                                        <p:strVal val="visible"/>
                                      </p:to>
                                    </p:set>
                                    <p:animEffect transition="in" filter="wheel(1)">
                                      <p:cBhvr>
                                        <p:cTn id="157" dur="2000"/>
                                        <p:tgtEl>
                                          <p:spTgt spid="54"/>
                                        </p:tgtEl>
                                      </p:cBhvr>
                                    </p:animEffect>
                                  </p:childTnLst>
                                </p:cTn>
                              </p:par>
                            </p:childTnLst>
                          </p:cTn>
                        </p:par>
                      </p:childTnLst>
                    </p:cTn>
                  </p:par>
                  <p:par>
                    <p:cTn id="158" fill="hold">
                      <p:stCondLst>
                        <p:cond delay="indefinite"/>
                      </p:stCondLst>
                      <p:childTnLst>
                        <p:par>
                          <p:cTn id="159" fill="hold">
                            <p:stCondLst>
                              <p:cond delay="0"/>
                            </p:stCondLst>
                            <p:childTnLst>
                              <p:par>
                                <p:cTn id="160" presetID="1" presetClass="emph" presetSubtype="2" fill="hold" nodeType="clickEffect">
                                  <p:stCondLst>
                                    <p:cond delay="0"/>
                                  </p:stCondLst>
                                  <p:childTnLst>
                                    <p:animClr clrSpc="rgb" dir="cw">
                                      <p:cBhvr>
                                        <p:cTn id="161" dur="2000" fill="hold"/>
                                        <p:tgtEl>
                                          <p:spTgt spid="5"/>
                                        </p:tgtEl>
                                        <p:attrNameLst>
                                          <p:attrName>fillcolor</p:attrName>
                                        </p:attrNameLst>
                                      </p:cBhvr>
                                      <p:to>
                                        <a:srgbClr val="76923C"/>
                                      </p:to>
                                    </p:animClr>
                                    <p:set>
                                      <p:cBhvr>
                                        <p:cTn id="162" dur="2000" fill="hold"/>
                                        <p:tgtEl>
                                          <p:spTgt spid="5"/>
                                        </p:tgtEl>
                                        <p:attrNameLst>
                                          <p:attrName>fill.type</p:attrName>
                                        </p:attrNameLst>
                                      </p:cBhvr>
                                      <p:to>
                                        <p:strVal val="solid"/>
                                      </p:to>
                                    </p:set>
                                    <p:set>
                                      <p:cBhvr>
                                        <p:cTn id="163" dur="2000" fill="hold"/>
                                        <p:tgtEl>
                                          <p:spTgt spid="5"/>
                                        </p:tgtEl>
                                        <p:attrNameLst>
                                          <p:attrName>fill.on</p:attrName>
                                        </p:attrNameLst>
                                      </p:cBhvr>
                                      <p:to>
                                        <p:strVal val="true"/>
                                      </p:to>
                                    </p:set>
                                  </p:childTnLst>
                                </p:cTn>
                              </p:par>
                            </p:childTnLst>
                          </p:cTn>
                        </p:par>
                      </p:childTnLst>
                    </p:cTn>
                  </p:par>
                  <p:par>
                    <p:cTn id="164" fill="hold">
                      <p:stCondLst>
                        <p:cond delay="indefinite"/>
                      </p:stCondLst>
                      <p:childTnLst>
                        <p:par>
                          <p:cTn id="165" fill="hold">
                            <p:stCondLst>
                              <p:cond delay="0"/>
                            </p:stCondLst>
                            <p:childTnLst>
                              <p:par>
                                <p:cTn id="166" presetID="10" presetClass="entr" presetSubtype="0" fill="hold" grpId="0" nodeType="clickEffect">
                                  <p:stCondLst>
                                    <p:cond delay="0"/>
                                  </p:stCondLst>
                                  <p:childTnLst>
                                    <p:set>
                                      <p:cBhvr>
                                        <p:cTn id="167" dur="1" fill="hold">
                                          <p:stCondLst>
                                            <p:cond delay="0"/>
                                          </p:stCondLst>
                                        </p:cTn>
                                        <p:tgtEl>
                                          <p:spTgt spid="47"/>
                                        </p:tgtEl>
                                        <p:attrNameLst>
                                          <p:attrName>style.visibility</p:attrName>
                                        </p:attrNameLst>
                                      </p:cBhvr>
                                      <p:to>
                                        <p:strVal val="visible"/>
                                      </p:to>
                                    </p:set>
                                    <p:animEffect transition="in" filter="fade">
                                      <p:cBhvr>
                                        <p:cTn id="168" dur="500"/>
                                        <p:tgtEl>
                                          <p:spTgt spid="47"/>
                                        </p:tgtEl>
                                      </p:cBhvr>
                                    </p:animEffect>
                                  </p:childTnLst>
                                </p:cTn>
                              </p:par>
                            </p:childTnLst>
                          </p:cTn>
                        </p:par>
                        <p:par>
                          <p:cTn id="169" fill="hold">
                            <p:stCondLst>
                              <p:cond delay="500"/>
                            </p:stCondLst>
                            <p:childTnLst>
                              <p:par>
                                <p:cTn id="170" presetID="10" presetClass="entr" presetSubtype="0" fill="hold" grpId="0" nodeType="afterEffect">
                                  <p:stCondLst>
                                    <p:cond delay="0"/>
                                  </p:stCondLst>
                                  <p:childTnLst>
                                    <p:set>
                                      <p:cBhvr>
                                        <p:cTn id="171" dur="1" fill="hold">
                                          <p:stCondLst>
                                            <p:cond delay="0"/>
                                          </p:stCondLst>
                                        </p:cTn>
                                        <p:tgtEl>
                                          <p:spTgt spid="48"/>
                                        </p:tgtEl>
                                        <p:attrNameLst>
                                          <p:attrName>style.visibility</p:attrName>
                                        </p:attrNameLst>
                                      </p:cBhvr>
                                      <p:to>
                                        <p:strVal val="visible"/>
                                      </p:to>
                                    </p:set>
                                    <p:animEffect transition="in" filter="fade">
                                      <p:cBhvr>
                                        <p:cTn id="172" dur="500"/>
                                        <p:tgtEl>
                                          <p:spTgt spid="48"/>
                                        </p:tgtEl>
                                      </p:cBhvr>
                                    </p:animEffect>
                                  </p:childTnLst>
                                </p:cTn>
                              </p:par>
                            </p:childTnLst>
                          </p:cTn>
                        </p:par>
                        <p:par>
                          <p:cTn id="173" fill="hold">
                            <p:stCondLst>
                              <p:cond delay="1000"/>
                            </p:stCondLst>
                            <p:childTnLst>
                              <p:par>
                                <p:cTn id="174" presetID="10" presetClass="entr" presetSubtype="0" fill="hold" grpId="0" nodeType="afterEffect">
                                  <p:stCondLst>
                                    <p:cond delay="0"/>
                                  </p:stCondLst>
                                  <p:childTnLst>
                                    <p:set>
                                      <p:cBhvr>
                                        <p:cTn id="175" dur="1" fill="hold">
                                          <p:stCondLst>
                                            <p:cond delay="0"/>
                                          </p:stCondLst>
                                        </p:cTn>
                                        <p:tgtEl>
                                          <p:spTgt spid="49"/>
                                        </p:tgtEl>
                                        <p:attrNameLst>
                                          <p:attrName>style.visibility</p:attrName>
                                        </p:attrNameLst>
                                      </p:cBhvr>
                                      <p:to>
                                        <p:strVal val="visible"/>
                                      </p:to>
                                    </p:set>
                                    <p:animEffect transition="in" filter="fade">
                                      <p:cBhvr>
                                        <p:cTn id="176" dur="500"/>
                                        <p:tgtEl>
                                          <p:spTgt spid="49"/>
                                        </p:tgtEl>
                                      </p:cBhvr>
                                    </p:animEffect>
                                  </p:childTnLst>
                                </p:cTn>
                              </p:par>
                            </p:childTnLst>
                          </p:cTn>
                        </p:par>
                      </p:childTnLst>
                    </p:cTn>
                  </p:par>
                  <p:par>
                    <p:cTn id="177" fill="hold">
                      <p:stCondLst>
                        <p:cond delay="indefinite"/>
                      </p:stCondLst>
                      <p:childTnLst>
                        <p:par>
                          <p:cTn id="178" fill="hold">
                            <p:stCondLst>
                              <p:cond delay="0"/>
                            </p:stCondLst>
                            <p:childTnLst>
                              <p:par>
                                <p:cTn id="179" presetID="22" presetClass="entr" presetSubtype="1" fill="hold" grpId="0" nodeType="clickEffect">
                                  <p:stCondLst>
                                    <p:cond delay="0"/>
                                  </p:stCondLst>
                                  <p:childTnLst>
                                    <p:set>
                                      <p:cBhvr>
                                        <p:cTn id="180" dur="1" fill="hold">
                                          <p:stCondLst>
                                            <p:cond delay="0"/>
                                          </p:stCondLst>
                                        </p:cTn>
                                        <p:tgtEl>
                                          <p:spTgt spid="57"/>
                                        </p:tgtEl>
                                        <p:attrNameLst>
                                          <p:attrName>style.visibility</p:attrName>
                                        </p:attrNameLst>
                                      </p:cBhvr>
                                      <p:to>
                                        <p:strVal val="visible"/>
                                      </p:to>
                                    </p:set>
                                    <p:animEffect transition="in" filter="wipe(up)">
                                      <p:cBhvr>
                                        <p:cTn id="181" dur="1000"/>
                                        <p:tgtEl>
                                          <p:spTgt spid="57"/>
                                        </p:tgtEl>
                                      </p:cBhvr>
                                    </p:animEffect>
                                  </p:childTnLst>
                                </p:cTn>
                              </p:par>
                            </p:childTnLst>
                          </p:cTn>
                        </p:par>
                      </p:childTnLst>
                    </p:cTn>
                  </p:par>
                  <p:par>
                    <p:cTn id="182" fill="hold">
                      <p:stCondLst>
                        <p:cond delay="indefinite"/>
                      </p:stCondLst>
                      <p:childTnLst>
                        <p:par>
                          <p:cTn id="183" fill="hold">
                            <p:stCondLst>
                              <p:cond delay="0"/>
                            </p:stCondLst>
                            <p:childTnLst>
                              <p:par>
                                <p:cTn id="184" presetID="10" presetClass="entr" presetSubtype="0" fill="hold" grpId="0" nodeType="clickEffect">
                                  <p:stCondLst>
                                    <p:cond delay="0"/>
                                  </p:stCondLst>
                                  <p:childTnLst>
                                    <p:set>
                                      <p:cBhvr>
                                        <p:cTn id="185" dur="1" fill="hold">
                                          <p:stCondLst>
                                            <p:cond delay="0"/>
                                          </p:stCondLst>
                                        </p:cTn>
                                        <p:tgtEl>
                                          <p:spTgt spid="28"/>
                                        </p:tgtEl>
                                        <p:attrNameLst>
                                          <p:attrName>style.visibility</p:attrName>
                                        </p:attrNameLst>
                                      </p:cBhvr>
                                      <p:to>
                                        <p:strVal val="visible"/>
                                      </p:to>
                                    </p:set>
                                    <p:animEffect transition="in" filter="fade">
                                      <p:cBhvr>
                                        <p:cTn id="186" dur="500"/>
                                        <p:tgtEl>
                                          <p:spTgt spid="28"/>
                                        </p:tgtEl>
                                      </p:cBhvr>
                                    </p:animEffect>
                                  </p:childTnLst>
                                </p:cTn>
                              </p:par>
                            </p:childTnLst>
                          </p:cTn>
                        </p:par>
                      </p:childTnLst>
                    </p:cTn>
                  </p:par>
                  <p:par>
                    <p:cTn id="187" fill="hold">
                      <p:stCondLst>
                        <p:cond delay="indefinite"/>
                      </p:stCondLst>
                      <p:childTnLst>
                        <p:par>
                          <p:cTn id="188" fill="hold">
                            <p:stCondLst>
                              <p:cond delay="0"/>
                            </p:stCondLst>
                            <p:childTnLst>
                              <p:par>
                                <p:cTn id="189" presetID="10" presetClass="entr" presetSubtype="0" fill="hold" grpId="0" nodeType="clickEffect">
                                  <p:stCondLst>
                                    <p:cond delay="0"/>
                                  </p:stCondLst>
                                  <p:childTnLst>
                                    <p:set>
                                      <p:cBhvr>
                                        <p:cTn id="190" dur="1" fill="hold">
                                          <p:stCondLst>
                                            <p:cond delay="0"/>
                                          </p:stCondLst>
                                        </p:cTn>
                                        <p:tgtEl>
                                          <p:spTgt spid="50"/>
                                        </p:tgtEl>
                                        <p:attrNameLst>
                                          <p:attrName>style.visibility</p:attrName>
                                        </p:attrNameLst>
                                      </p:cBhvr>
                                      <p:to>
                                        <p:strVal val="visible"/>
                                      </p:to>
                                    </p:set>
                                    <p:animEffect transition="in" filter="fade">
                                      <p:cBhvr>
                                        <p:cTn id="191" dur="500"/>
                                        <p:tgtEl>
                                          <p:spTgt spid="50"/>
                                        </p:tgtEl>
                                      </p:cBhvr>
                                    </p:animEffect>
                                  </p:childTnLst>
                                </p:cTn>
                              </p:par>
                            </p:childTnLst>
                          </p:cTn>
                        </p:par>
                      </p:childTnLst>
                    </p:cTn>
                  </p:par>
                  <p:par>
                    <p:cTn id="192" fill="hold">
                      <p:stCondLst>
                        <p:cond delay="indefinite"/>
                      </p:stCondLst>
                      <p:childTnLst>
                        <p:par>
                          <p:cTn id="193" fill="hold">
                            <p:stCondLst>
                              <p:cond delay="0"/>
                            </p:stCondLst>
                            <p:childTnLst>
                              <p:par>
                                <p:cTn id="194" presetID="22" presetClass="entr" presetSubtype="1" fill="hold" grpId="0" nodeType="clickEffect">
                                  <p:stCondLst>
                                    <p:cond delay="0"/>
                                  </p:stCondLst>
                                  <p:childTnLst>
                                    <p:set>
                                      <p:cBhvr>
                                        <p:cTn id="195" dur="1" fill="hold">
                                          <p:stCondLst>
                                            <p:cond delay="0"/>
                                          </p:stCondLst>
                                        </p:cTn>
                                        <p:tgtEl>
                                          <p:spTgt spid="3"/>
                                        </p:tgtEl>
                                        <p:attrNameLst>
                                          <p:attrName>style.visibility</p:attrName>
                                        </p:attrNameLst>
                                      </p:cBhvr>
                                      <p:to>
                                        <p:strVal val="visible"/>
                                      </p:to>
                                    </p:set>
                                    <p:animEffect transition="in" filter="wipe(up)">
                                      <p:cBhvr>
                                        <p:cTn id="196" dur="1000"/>
                                        <p:tgtEl>
                                          <p:spTgt spid="3"/>
                                        </p:tgtEl>
                                      </p:cBhvr>
                                    </p:animEffect>
                                  </p:childTnLst>
                                </p:cTn>
                              </p:par>
                            </p:childTnLst>
                          </p:cTn>
                        </p:par>
                      </p:childTnLst>
                    </p:cTn>
                  </p:par>
                  <p:par>
                    <p:cTn id="197" fill="hold">
                      <p:stCondLst>
                        <p:cond delay="indefinite"/>
                      </p:stCondLst>
                      <p:childTnLst>
                        <p:par>
                          <p:cTn id="198" fill="hold">
                            <p:stCondLst>
                              <p:cond delay="0"/>
                            </p:stCondLst>
                            <p:childTnLst>
                              <p:par>
                                <p:cTn id="199" presetID="10" presetClass="entr" presetSubtype="0" fill="hold" grpId="0" nodeType="clickEffect">
                                  <p:stCondLst>
                                    <p:cond delay="0"/>
                                  </p:stCondLst>
                                  <p:childTnLst>
                                    <p:set>
                                      <p:cBhvr>
                                        <p:cTn id="200" dur="1" fill="hold">
                                          <p:stCondLst>
                                            <p:cond delay="0"/>
                                          </p:stCondLst>
                                        </p:cTn>
                                        <p:tgtEl>
                                          <p:spTgt spid="51"/>
                                        </p:tgtEl>
                                        <p:attrNameLst>
                                          <p:attrName>style.visibility</p:attrName>
                                        </p:attrNameLst>
                                      </p:cBhvr>
                                      <p:to>
                                        <p:strVal val="visible"/>
                                      </p:to>
                                    </p:set>
                                    <p:animEffect transition="in" filter="fade">
                                      <p:cBhvr>
                                        <p:cTn id="201" dur="500"/>
                                        <p:tgtEl>
                                          <p:spTgt spid="51"/>
                                        </p:tgtEl>
                                      </p:cBhvr>
                                    </p:animEffect>
                                  </p:childTnLst>
                                </p:cTn>
                              </p:par>
                            </p:childTnLst>
                          </p:cTn>
                        </p:par>
                      </p:childTnLst>
                    </p:cTn>
                  </p:par>
                  <p:par>
                    <p:cTn id="202" fill="hold">
                      <p:stCondLst>
                        <p:cond delay="indefinite"/>
                      </p:stCondLst>
                      <p:childTnLst>
                        <p:par>
                          <p:cTn id="203" fill="hold">
                            <p:stCondLst>
                              <p:cond delay="0"/>
                            </p:stCondLst>
                            <p:childTnLst>
                              <p:par>
                                <p:cTn id="204" presetID="22" presetClass="entr" presetSubtype="1" fill="hold" grpId="0" nodeType="clickEffect">
                                  <p:stCondLst>
                                    <p:cond delay="0"/>
                                  </p:stCondLst>
                                  <p:childTnLst>
                                    <p:set>
                                      <p:cBhvr>
                                        <p:cTn id="205" dur="1" fill="hold">
                                          <p:stCondLst>
                                            <p:cond delay="0"/>
                                          </p:stCondLst>
                                        </p:cTn>
                                        <p:tgtEl>
                                          <p:spTgt spid="56"/>
                                        </p:tgtEl>
                                        <p:attrNameLst>
                                          <p:attrName>style.visibility</p:attrName>
                                        </p:attrNameLst>
                                      </p:cBhvr>
                                      <p:to>
                                        <p:strVal val="visible"/>
                                      </p:to>
                                    </p:set>
                                    <p:animEffect transition="in" filter="wipe(up)">
                                      <p:cBhvr>
                                        <p:cTn id="206" dur="1500"/>
                                        <p:tgtEl>
                                          <p:spTgt spid="56"/>
                                        </p:tgtEl>
                                      </p:cBhvr>
                                    </p:animEffect>
                                  </p:childTnLst>
                                </p:cTn>
                              </p:par>
                            </p:childTnLst>
                          </p:cTn>
                        </p:par>
                      </p:childTnLst>
                    </p:cTn>
                  </p:par>
                  <p:par>
                    <p:cTn id="207" fill="hold">
                      <p:stCondLst>
                        <p:cond delay="indefinite"/>
                      </p:stCondLst>
                      <p:childTnLst>
                        <p:par>
                          <p:cTn id="208" fill="hold">
                            <p:stCondLst>
                              <p:cond delay="0"/>
                            </p:stCondLst>
                            <p:childTnLst>
                              <p:par>
                                <p:cTn id="209" presetID="10" presetClass="entr" presetSubtype="0" fill="hold" grpId="0" nodeType="clickEffect">
                                  <p:stCondLst>
                                    <p:cond delay="0"/>
                                  </p:stCondLst>
                                  <p:childTnLst>
                                    <p:set>
                                      <p:cBhvr>
                                        <p:cTn id="210" dur="1" fill="hold">
                                          <p:stCondLst>
                                            <p:cond delay="0"/>
                                          </p:stCondLst>
                                        </p:cTn>
                                        <p:tgtEl>
                                          <p:spTgt spid="31"/>
                                        </p:tgtEl>
                                        <p:attrNameLst>
                                          <p:attrName>style.visibility</p:attrName>
                                        </p:attrNameLst>
                                      </p:cBhvr>
                                      <p:to>
                                        <p:strVal val="visible"/>
                                      </p:to>
                                    </p:set>
                                    <p:animEffect transition="in" filter="fade">
                                      <p:cBhvr>
                                        <p:cTn id="211" dur="500"/>
                                        <p:tgtEl>
                                          <p:spTgt spid="31"/>
                                        </p:tgtEl>
                                      </p:cBhvr>
                                    </p:animEffect>
                                  </p:childTnLst>
                                </p:cTn>
                              </p:par>
                            </p:childTnLst>
                          </p:cTn>
                        </p:par>
                      </p:childTnLst>
                    </p:cTn>
                  </p:par>
                  <p:par>
                    <p:cTn id="212" fill="hold">
                      <p:stCondLst>
                        <p:cond delay="indefinite"/>
                      </p:stCondLst>
                      <p:childTnLst>
                        <p:par>
                          <p:cTn id="213" fill="hold">
                            <p:stCondLst>
                              <p:cond delay="0"/>
                            </p:stCondLst>
                            <p:childTnLst>
                              <p:par>
                                <p:cTn id="214" presetID="22" presetClass="entr" presetSubtype="8" fill="hold" grpId="0" nodeType="clickEffect">
                                  <p:stCondLst>
                                    <p:cond delay="0"/>
                                  </p:stCondLst>
                                  <p:childTnLst>
                                    <p:set>
                                      <p:cBhvr>
                                        <p:cTn id="215" dur="1" fill="hold">
                                          <p:stCondLst>
                                            <p:cond delay="0"/>
                                          </p:stCondLst>
                                        </p:cTn>
                                        <p:tgtEl>
                                          <p:spTgt spid="32"/>
                                        </p:tgtEl>
                                        <p:attrNameLst>
                                          <p:attrName>style.visibility</p:attrName>
                                        </p:attrNameLst>
                                      </p:cBhvr>
                                      <p:to>
                                        <p:strVal val="visible"/>
                                      </p:to>
                                    </p:set>
                                    <p:animEffect transition="in" filter="wipe(left)">
                                      <p:cBhvr>
                                        <p:cTn id="216" dur="1500"/>
                                        <p:tgtEl>
                                          <p:spTgt spid="32"/>
                                        </p:tgtEl>
                                      </p:cBhvr>
                                    </p:animEffect>
                                  </p:childTnLst>
                                </p:cTn>
                              </p:par>
                            </p:childTnLst>
                          </p:cTn>
                        </p:par>
                      </p:childTnLst>
                    </p:cTn>
                  </p:par>
                  <p:par>
                    <p:cTn id="217" fill="hold">
                      <p:stCondLst>
                        <p:cond delay="indefinite"/>
                      </p:stCondLst>
                      <p:childTnLst>
                        <p:par>
                          <p:cTn id="218" fill="hold">
                            <p:stCondLst>
                              <p:cond delay="0"/>
                            </p:stCondLst>
                            <p:childTnLst>
                              <p:par>
                                <p:cTn id="219" presetID="22" presetClass="entr" presetSubtype="8" fill="hold" nodeType="clickEffect">
                                  <p:stCondLst>
                                    <p:cond delay="0"/>
                                  </p:stCondLst>
                                  <p:childTnLst>
                                    <p:set>
                                      <p:cBhvr>
                                        <p:cTn id="220" dur="1" fill="hold">
                                          <p:stCondLst>
                                            <p:cond delay="0"/>
                                          </p:stCondLst>
                                        </p:cTn>
                                        <p:tgtEl>
                                          <p:spTgt spid="61"/>
                                        </p:tgtEl>
                                        <p:attrNameLst>
                                          <p:attrName>style.visibility</p:attrName>
                                        </p:attrNameLst>
                                      </p:cBhvr>
                                      <p:to>
                                        <p:strVal val="visible"/>
                                      </p:to>
                                    </p:set>
                                    <p:animEffect transition="in" filter="wipe(left)">
                                      <p:cBhvr>
                                        <p:cTn id="221" dur="1000"/>
                                        <p:tgtEl>
                                          <p:spTgt spid="61"/>
                                        </p:tgtEl>
                                      </p:cBhvr>
                                    </p:animEffect>
                                  </p:childTnLst>
                                </p:cTn>
                              </p:par>
                            </p:childTnLst>
                          </p:cTn>
                        </p:par>
                      </p:childTnLst>
                    </p:cTn>
                  </p:par>
                  <p:par>
                    <p:cTn id="222" fill="hold">
                      <p:stCondLst>
                        <p:cond delay="indefinite"/>
                      </p:stCondLst>
                      <p:childTnLst>
                        <p:par>
                          <p:cTn id="223" fill="hold">
                            <p:stCondLst>
                              <p:cond delay="0"/>
                            </p:stCondLst>
                            <p:childTnLst>
                              <p:par>
                                <p:cTn id="224" presetID="21" presetClass="entr" presetSubtype="1" fill="hold" grpId="0" nodeType="clickEffect">
                                  <p:stCondLst>
                                    <p:cond delay="0"/>
                                  </p:stCondLst>
                                  <p:childTnLst>
                                    <p:set>
                                      <p:cBhvr>
                                        <p:cTn id="225" dur="1" fill="hold">
                                          <p:stCondLst>
                                            <p:cond delay="0"/>
                                          </p:stCondLst>
                                        </p:cTn>
                                        <p:tgtEl>
                                          <p:spTgt spid="59"/>
                                        </p:tgtEl>
                                        <p:attrNameLst>
                                          <p:attrName>style.visibility</p:attrName>
                                        </p:attrNameLst>
                                      </p:cBhvr>
                                      <p:to>
                                        <p:strVal val="visible"/>
                                      </p:to>
                                    </p:set>
                                    <p:animEffect transition="in" filter="wheel(1)">
                                      <p:cBhvr>
                                        <p:cTn id="226" dur="1500"/>
                                        <p:tgtEl>
                                          <p:spTgt spid="59"/>
                                        </p:tgtEl>
                                      </p:cBhvr>
                                    </p:animEffect>
                                  </p:childTnLst>
                                </p:cTn>
                              </p:par>
                              <p:par>
                                <p:cTn id="227" presetID="21" presetClass="entr" presetSubtype="1" fill="hold" grpId="0" nodeType="withEffect">
                                  <p:stCondLst>
                                    <p:cond delay="0"/>
                                  </p:stCondLst>
                                  <p:childTnLst>
                                    <p:set>
                                      <p:cBhvr>
                                        <p:cTn id="228" dur="1" fill="hold">
                                          <p:stCondLst>
                                            <p:cond delay="0"/>
                                          </p:stCondLst>
                                        </p:cTn>
                                        <p:tgtEl>
                                          <p:spTgt spid="58"/>
                                        </p:tgtEl>
                                        <p:attrNameLst>
                                          <p:attrName>style.visibility</p:attrName>
                                        </p:attrNameLst>
                                      </p:cBhvr>
                                      <p:to>
                                        <p:strVal val="visible"/>
                                      </p:to>
                                    </p:set>
                                    <p:animEffect transition="in" filter="wheel(1)">
                                      <p:cBhvr>
                                        <p:cTn id="229" dur="1500"/>
                                        <p:tgtEl>
                                          <p:spTgt spid="58"/>
                                        </p:tgtEl>
                                      </p:cBhvr>
                                    </p:animEffect>
                                  </p:childTnLst>
                                </p:cTn>
                              </p:par>
                            </p:childTnLst>
                          </p:cTn>
                        </p:par>
                      </p:childTnLst>
                    </p:cTn>
                  </p:par>
                  <p:par>
                    <p:cTn id="230" fill="hold">
                      <p:stCondLst>
                        <p:cond delay="indefinite"/>
                      </p:stCondLst>
                      <p:childTnLst>
                        <p:par>
                          <p:cTn id="231" fill="hold">
                            <p:stCondLst>
                              <p:cond delay="0"/>
                            </p:stCondLst>
                            <p:childTnLst>
                              <p:par>
                                <p:cTn id="232" presetID="10" presetClass="entr" presetSubtype="0" fill="hold" grpId="0" nodeType="clickEffect">
                                  <p:stCondLst>
                                    <p:cond delay="0"/>
                                  </p:stCondLst>
                                  <p:childTnLst>
                                    <p:set>
                                      <p:cBhvr>
                                        <p:cTn id="233" dur="1" fill="hold">
                                          <p:stCondLst>
                                            <p:cond delay="0"/>
                                          </p:stCondLst>
                                        </p:cTn>
                                        <p:tgtEl>
                                          <p:spTgt spid="52"/>
                                        </p:tgtEl>
                                        <p:attrNameLst>
                                          <p:attrName>style.visibility</p:attrName>
                                        </p:attrNameLst>
                                      </p:cBhvr>
                                      <p:to>
                                        <p:strVal val="visible"/>
                                      </p:to>
                                    </p:set>
                                    <p:animEffect transition="in" filter="fade">
                                      <p:cBhvr>
                                        <p:cTn id="234" dur="500"/>
                                        <p:tgtEl>
                                          <p:spTgt spid="52"/>
                                        </p:tgtEl>
                                      </p:cBhvr>
                                    </p:animEffect>
                                  </p:childTnLst>
                                </p:cTn>
                              </p:par>
                            </p:childTnLst>
                          </p:cTn>
                        </p:par>
                      </p:childTnLst>
                    </p:cTn>
                  </p:par>
                  <p:par>
                    <p:cTn id="235" fill="hold">
                      <p:stCondLst>
                        <p:cond delay="indefinite"/>
                      </p:stCondLst>
                      <p:childTnLst>
                        <p:par>
                          <p:cTn id="236" fill="hold">
                            <p:stCondLst>
                              <p:cond delay="0"/>
                            </p:stCondLst>
                            <p:childTnLst>
                              <p:par>
                                <p:cTn id="237" presetID="10" presetClass="entr" presetSubtype="0" fill="hold" grpId="0" nodeType="clickEffect">
                                  <p:stCondLst>
                                    <p:cond delay="0"/>
                                  </p:stCondLst>
                                  <p:childTnLst>
                                    <p:set>
                                      <p:cBhvr>
                                        <p:cTn id="238" dur="1" fill="hold">
                                          <p:stCondLst>
                                            <p:cond delay="0"/>
                                          </p:stCondLst>
                                        </p:cTn>
                                        <p:tgtEl>
                                          <p:spTgt spid="53"/>
                                        </p:tgtEl>
                                        <p:attrNameLst>
                                          <p:attrName>style.visibility</p:attrName>
                                        </p:attrNameLst>
                                      </p:cBhvr>
                                      <p:to>
                                        <p:strVal val="visible"/>
                                      </p:to>
                                    </p:set>
                                    <p:animEffect transition="in" filter="fade">
                                      <p:cBhvr>
                                        <p:cTn id="239" dur="500"/>
                                        <p:tgtEl>
                                          <p:spTgt spid="53"/>
                                        </p:tgtEl>
                                      </p:cBhvr>
                                    </p:animEffect>
                                  </p:childTnLst>
                                </p:cTn>
                              </p:par>
                            </p:childTnLst>
                          </p:cTn>
                        </p:par>
                      </p:childTnLst>
                    </p:cTn>
                  </p:par>
                  <p:par>
                    <p:cTn id="240" fill="hold">
                      <p:stCondLst>
                        <p:cond delay="indefinite"/>
                      </p:stCondLst>
                      <p:childTnLst>
                        <p:par>
                          <p:cTn id="241" fill="hold">
                            <p:stCondLst>
                              <p:cond delay="0"/>
                            </p:stCondLst>
                            <p:childTnLst>
                              <p:par>
                                <p:cTn id="242" presetID="21" presetClass="entr" presetSubtype="1" fill="hold" grpId="0" nodeType="clickEffect">
                                  <p:stCondLst>
                                    <p:cond delay="0"/>
                                  </p:stCondLst>
                                  <p:childTnLst>
                                    <p:set>
                                      <p:cBhvr>
                                        <p:cTn id="243" dur="1" fill="hold">
                                          <p:stCondLst>
                                            <p:cond delay="0"/>
                                          </p:stCondLst>
                                        </p:cTn>
                                        <p:tgtEl>
                                          <p:spTgt spid="55"/>
                                        </p:tgtEl>
                                        <p:attrNameLst>
                                          <p:attrName>style.visibility</p:attrName>
                                        </p:attrNameLst>
                                      </p:cBhvr>
                                      <p:to>
                                        <p:strVal val="visible"/>
                                      </p:to>
                                    </p:set>
                                    <p:animEffect transition="in" filter="wheel(1)">
                                      <p:cBhvr>
                                        <p:cTn id="244" dur="20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7" grpId="0"/>
      <p:bldP spid="18" grpId="0"/>
      <p:bldP spid="19" grpId="0"/>
      <p:bldP spid="20" grpId="0"/>
      <p:bldP spid="21" grpId="0"/>
      <p:bldP spid="22" grpId="0"/>
      <p:bldP spid="23" grpId="0"/>
      <p:bldP spid="24" grpId="0"/>
      <p:bldP spid="25" grpId="0" animBg="1"/>
      <p:bldP spid="26" grpId="0"/>
      <p:bldP spid="28"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7" grpId="0" animBg="1"/>
      <p:bldP spid="3" grpId="0" animBg="1"/>
      <p:bldP spid="56" grpId="0" animBg="1"/>
      <p:bldP spid="58" grpId="0" animBg="1"/>
      <p:bldP spid="59"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Dijkstra’s</a:t>
            </a:r>
            <a:r>
              <a:rPr lang="en-US" dirty="0"/>
              <a:t> Algorithm - Example</a:t>
            </a:r>
          </a:p>
        </p:txBody>
      </p:sp>
      <p:sp>
        <p:nvSpPr>
          <p:cNvPr id="4" name="Oval 3"/>
          <p:cNvSpPr/>
          <p:nvPr/>
        </p:nvSpPr>
        <p:spPr>
          <a:xfrm>
            <a:off x="3243940" y="1447800"/>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1</a:t>
            </a:r>
          </a:p>
        </p:txBody>
      </p:sp>
      <p:sp>
        <p:nvSpPr>
          <p:cNvPr id="5" name="Oval 4"/>
          <p:cNvSpPr/>
          <p:nvPr/>
        </p:nvSpPr>
        <p:spPr>
          <a:xfrm>
            <a:off x="1717250" y="2297074"/>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5</a:t>
            </a:r>
          </a:p>
        </p:txBody>
      </p:sp>
      <p:sp>
        <p:nvSpPr>
          <p:cNvPr id="6" name="Oval 5"/>
          <p:cNvSpPr/>
          <p:nvPr/>
        </p:nvSpPr>
        <p:spPr>
          <a:xfrm>
            <a:off x="2329540" y="3848100"/>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4</a:t>
            </a:r>
          </a:p>
        </p:txBody>
      </p:sp>
      <p:sp>
        <p:nvSpPr>
          <p:cNvPr id="7" name="Oval 6"/>
          <p:cNvSpPr/>
          <p:nvPr/>
        </p:nvSpPr>
        <p:spPr>
          <a:xfrm>
            <a:off x="4310740" y="3834245"/>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3</a:t>
            </a:r>
          </a:p>
        </p:txBody>
      </p:sp>
      <p:sp>
        <p:nvSpPr>
          <p:cNvPr id="8" name="Oval 7"/>
          <p:cNvSpPr/>
          <p:nvPr/>
        </p:nvSpPr>
        <p:spPr>
          <a:xfrm>
            <a:off x="5069663" y="2223654"/>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2</a:t>
            </a:r>
          </a:p>
        </p:txBody>
      </p:sp>
      <p:cxnSp>
        <p:nvCxnSpPr>
          <p:cNvPr id="9" name="Straight Arrow Connector 8"/>
          <p:cNvCxnSpPr>
            <a:stCxn id="4" idx="2"/>
            <a:endCxn id="5" idx="7"/>
          </p:cNvCxnSpPr>
          <p:nvPr/>
        </p:nvCxnSpPr>
        <p:spPr>
          <a:xfrm flipH="1">
            <a:off x="2172535" y="1714500"/>
            <a:ext cx="1071405" cy="660689"/>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4" idx="3"/>
            <a:endCxn id="6" idx="0"/>
          </p:cNvCxnSpPr>
          <p:nvPr/>
        </p:nvCxnSpPr>
        <p:spPr>
          <a:xfrm flipH="1">
            <a:off x="2596240" y="1903085"/>
            <a:ext cx="725815" cy="194501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4" idx="4"/>
            <a:endCxn id="7" idx="1"/>
          </p:cNvCxnSpPr>
          <p:nvPr/>
        </p:nvCxnSpPr>
        <p:spPr>
          <a:xfrm>
            <a:off x="3510640" y="1981200"/>
            <a:ext cx="878215" cy="193116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4" idx="6"/>
            <a:endCxn id="8" idx="1"/>
          </p:cNvCxnSpPr>
          <p:nvPr/>
        </p:nvCxnSpPr>
        <p:spPr>
          <a:xfrm>
            <a:off x="3777340" y="1714500"/>
            <a:ext cx="1370438" cy="587269"/>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5" idx="4"/>
            <a:endCxn id="6" idx="1"/>
          </p:cNvCxnSpPr>
          <p:nvPr/>
        </p:nvCxnSpPr>
        <p:spPr>
          <a:xfrm>
            <a:off x="1983950" y="2830474"/>
            <a:ext cx="423705" cy="109574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6"/>
            <a:endCxn id="7" idx="2"/>
          </p:cNvCxnSpPr>
          <p:nvPr/>
        </p:nvCxnSpPr>
        <p:spPr>
          <a:xfrm flipV="1">
            <a:off x="2862940" y="4100945"/>
            <a:ext cx="1447800" cy="1385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8" idx="4"/>
          </p:cNvCxnSpPr>
          <p:nvPr/>
        </p:nvCxnSpPr>
        <p:spPr>
          <a:xfrm flipV="1">
            <a:off x="4766025" y="2757054"/>
            <a:ext cx="570338" cy="1155306"/>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6" idx="7"/>
            <a:endCxn id="8" idx="2"/>
          </p:cNvCxnSpPr>
          <p:nvPr/>
        </p:nvCxnSpPr>
        <p:spPr>
          <a:xfrm flipV="1">
            <a:off x="2784825" y="2490354"/>
            <a:ext cx="2284838" cy="143586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213325" y="1748135"/>
            <a:ext cx="649615" cy="461665"/>
          </a:xfrm>
          <a:prstGeom prst="rect">
            <a:avLst/>
          </a:prstGeom>
          <a:noFill/>
        </p:spPr>
        <p:txBody>
          <a:bodyPr wrap="square" rtlCol="0">
            <a:spAutoFit/>
          </a:bodyPr>
          <a:lstStyle/>
          <a:p>
            <a:r>
              <a:rPr lang="en-US" sz="2400" dirty="0"/>
              <a:t>10</a:t>
            </a:r>
          </a:p>
        </p:txBody>
      </p:sp>
      <p:sp>
        <p:nvSpPr>
          <p:cNvPr id="18" name="TextBox 17"/>
          <p:cNvSpPr txBox="1"/>
          <p:nvPr/>
        </p:nvSpPr>
        <p:spPr>
          <a:xfrm>
            <a:off x="1756125" y="3119735"/>
            <a:ext cx="649615" cy="461665"/>
          </a:xfrm>
          <a:prstGeom prst="rect">
            <a:avLst/>
          </a:prstGeom>
          <a:noFill/>
        </p:spPr>
        <p:txBody>
          <a:bodyPr wrap="square" rtlCol="0">
            <a:spAutoFit/>
          </a:bodyPr>
          <a:lstStyle/>
          <a:p>
            <a:r>
              <a:rPr lang="en-US" sz="2400" dirty="0"/>
              <a:t>10</a:t>
            </a:r>
          </a:p>
        </p:txBody>
      </p:sp>
      <p:sp>
        <p:nvSpPr>
          <p:cNvPr id="19" name="TextBox 18"/>
          <p:cNvSpPr txBox="1"/>
          <p:nvPr/>
        </p:nvSpPr>
        <p:spPr>
          <a:xfrm>
            <a:off x="2975325" y="2438400"/>
            <a:ext cx="649615" cy="461665"/>
          </a:xfrm>
          <a:prstGeom prst="rect">
            <a:avLst/>
          </a:prstGeom>
          <a:noFill/>
        </p:spPr>
        <p:txBody>
          <a:bodyPr wrap="square" rtlCol="0">
            <a:spAutoFit/>
          </a:bodyPr>
          <a:lstStyle/>
          <a:p>
            <a:r>
              <a:rPr lang="en-US" sz="2400" dirty="0"/>
              <a:t>100</a:t>
            </a:r>
          </a:p>
        </p:txBody>
      </p:sp>
      <p:sp>
        <p:nvSpPr>
          <p:cNvPr id="20" name="TextBox 19"/>
          <p:cNvSpPr txBox="1"/>
          <p:nvPr/>
        </p:nvSpPr>
        <p:spPr>
          <a:xfrm>
            <a:off x="3624940" y="3209382"/>
            <a:ext cx="548640" cy="461665"/>
          </a:xfrm>
          <a:prstGeom prst="rect">
            <a:avLst/>
          </a:prstGeom>
          <a:noFill/>
        </p:spPr>
        <p:txBody>
          <a:bodyPr wrap="square" rtlCol="0">
            <a:spAutoFit/>
          </a:bodyPr>
          <a:lstStyle/>
          <a:p>
            <a:r>
              <a:rPr lang="en-US" sz="2400" dirty="0"/>
              <a:t>20</a:t>
            </a:r>
          </a:p>
        </p:txBody>
      </p:sp>
      <p:sp>
        <p:nvSpPr>
          <p:cNvPr id="21" name="TextBox 20"/>
          <p:cNvSpPr txBox="1"/>
          <p:nvPr/>
        </p:nvSpPr>
        <p:spPr>
          <a:xfrm>
            <a:off x="3280125" y="4034135"/>
            <a:ext cx="649615" cy="461665"/>
          </a:xfrm>
          <a:prstGeom prst="rect">
            <a:avLst/>
          </a:prstGeom>
          <a:noFill/>
        </p:spPr>
        <p:txBody>
          <a:bodyPr wrap="square" rtlCol="0">
            <a:spAutoFit/>
          </a:bodyPr>
          <a:lstStyle/>
          <a:p>
            <a:r>
              <a:rPr lang="en-US" sz="2400" dirty="0"/>
              <a:t>50</a:t>
            </a:r>
          </a:p>
        </p:txBody>
      </p:sp>
      <p:sp>
        <p:nvSpPr>
          <p:cNvPr id="22" name="TextBox 21"/>
          <p:cNvSpPr txBox="1"/>
          <p:nvPr/>
        </p:nvSpPr>
        <p:spPr>
          <a:xfrm>
            <a:off x="4346925" y="1671935"/>
            <a:ext cx="649615" cy="461665"/>
          </a:xfrm>
          <a:prstGeom prst="rect">
            <a:avLst/>
          </a:prstGeom>
          <a:noFill/>
        </p:spPr>
        <p:txBody>
          <a:bodyPr wrap="square" rtlCol="0">
            <a:spAutoFit/>
          </a:bodyPr>
          <a:lstStyle/>
          <a:p>
            <a:r>
              <a:rPr lang="en-US" sz="2400" dirty="0"/>
              <a:t>50</a:t>
            </a:r>
          </a:p>
        </p:txBody>
      </p:sp>
      <p:sp>
        <p:nvSpPr>
          <p:cNvPr id="23" name="TextBox 22"/>
          <p:cNvSpPr txBox="1"/>
          <p:nvPr/>
        </p:nvSpPr>
        <p:spPr>
          <a:xfrm>
            <a:off x="3737325" y="2362200"/>
            <a:ext cx="649615" cy="461665"/>
          </a:xfrm>
          <a:prstGeom prst="rect">
            <a:avLst/>
          </a:prstGeom>
          <a:noFill/>
        </p:spPr>
        <p:txBody>
          <a:bodyPr wrap="square" rtlCol="0">
            <a:spAutoFit/>
          </a:bodyPr>
          <a:lstStyle/>
          <a:p>
            <a:r>
              <a:rPr lang="en-US" sz="2400" dirty="0"/>
              <a:t>30</a:t>
            </a:r>
          </a:p>
        </p:txBody>
      </p:sp>
      <p:sp>
        <p:nvSpPr>
          <p:cNvPr id="24" name="TextBox 23"/>
          <p:cNvSpPr txBox="1"/>
          <p:nvPr/>
        </p:nvSpPr>
        <p:spPr>
          <a:xfrm>
            <a:off x="5032726" y="3043535"/>
            <a:ext cx="346730" cy="461665"/>
          </a:xfrm>
          <a:prstGeom prst="rect">
            <a:avLst/>
          </a:prstGeom>
          <a:noFill/>
        </p:spPr>
        <p:txBody>
          <a:bodyPr wrap="square" rtlCol="0">
            <a:spAutoFit/>
          </a:bodyPr>
          <a:lstStyle/>
          <a:p>
            <a:r>
              <a:rPr lang="en-US" sz="2400" dirty="0"/>
              <a:t>5</a:t>
            </a:r>
          </a:p>
        </p:txBody>
      </p:sp>
      <p:sp>
        <p:nvSpPr>
          <p:cNvPr id="26" name="TextBox 25"/>
          <p:cNvSpPr txBox="1"/>
          <p:nvPr/>
        </p:nvSpPr>
        <p:spPr>
          <a:xfrm>
            <a:off x="6389912" y="1371600"/>
            <a:ext cx="4838700" cy="461665"/>
          </a:xfrm>
          <a:prstGeom prst="rect">
            <a:avLst/>
          </a:prstGeom>
          <a:noFill/>
        </p:spPr>
        <p:txBody>
          <a:bodyPr wrap="square" rtlCol="0">
            <a:spAutoFit/>
          </a:bodyPr>
          <a:lstStyle/>
          <a:p>
            <a:r>
              <a:rPr lang="en-US" sz="2400" dirty="0">
                <a:solidFill>
                  <a:srgbClr val="AD1457"/>
                </a:solidFill>
                <a:latin typeface="+mj-lt"/>
              </a:rPr>
              <a:t>Single source shortest path algorithm </a:t>
            </a:r>
          </a:p>
        </p:txBody>
      </p:sp>
      <p:sp>
        <p:nvSpPr>
          <p:cNvPr id="55" name="Rectangle 54"/>
          <p:cNvSpPr/>
          <p:nvPr/>
        </p:nvSpPr>
        <p:spPr>
          <a:xfrm>
            <a:off x="6235537" y="4568209"/>
            <a:ext cx="82296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tx1"/>
                </a:solidFill>
              </a:rPr>
              <a:t>2</a:t>
            </a:r>
          </a:p>
        </p:txBody>
      </p:sp>
      <p:sp>
        <p:nvSpPr>
          <p:cNvPr id="56" name="Rectangle 55"/>
          <p:cNvSpPr/>
          <p:nvPr/>
        </p:nvSpPr>
        <p:spPr>
          <a:xfrm>
            <a:off x="7052934" y="4568212"/>
            <a:ext cx="527859"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4</a:t>
            </a:r>
          </a:p>
        </p:txBody>
      </p:sp>
      <p:sp>
        <p:nvSpPr>
          <p:cNvPr id="57" name="Rectangle 56"/>
          <p:cNvSpPr/>
          <p:nvPr/>
        </p:nvSpPr>
        <p:spPr>
          <a:xfrm>
            <a:off x="7580646" y="4568212"/>
            <a:ext cx="137160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{2, 3}</a:t>
            </a:r>
          </a:p>
        </p:txBody>
      </p:sp>
      <p:sp>
        <p:nvSpPr>
          <p:cNvPr id="58" name="Rectangle 57"/>
          <p:cNvSpPr/>
          <p:nvPr/>
        </p:nvSpPr>
        <p:spPr>
          <a:xfrm>
            <a:off x="8944286" y="4568212"/>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40</a:t>
            </a:r>
          </a:p>
        </p:txBody>
      </p:sp>
      <p:sp>
        <p:nvSpPr>
          <p:cNvPr id="59" name="Rectangle 58"/>
          <p:cNvSpPr/>
          <p:nvPr/>
        </p:nvSpPr>
        <p:spPr>
          <a:xfrm>
            <a:off x="9486231" y="4568211"/>
            <a:ext cx="548640" cy="493070"/>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30</a:t>
            </a:r>
          </a:p>
        </p:txBody>
      </p:sp>
      <p:sp>
        <p:nvSpPr>
          <p:cNvPr id="60" name="Rectangle 59"/>
          <p:cNvSpPr/>
          <p:nvPr/>
        </p:nvSpPr>
        <p:spPr>
          <a:xfrm>
            <a:off x="10032140" y="4568212"/>
            <a:ext cx="64008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20</a:t>
            </a:r>
          </a:p>
        </p:txBody>
      </p:sp>
      <p:sp>
        <p:nvSpPr>
          <p:cNvPr id="61" name="Rectangle 60"/>
          <p:cNvSpPr/>
          <p:nvPr/>
        </p:nvSpPr>
        <p:spPr>
          <a:xfrm>
            <a:off x="10669591" y="4568212"/>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10</a:t>
            </a:r>
          </a:p>
        </p:txBody>
      </p:sp>
      <p:sp>
        <p:nvSpPr>
          <p:cNvPr id="79" name="TextBox 78"/>
          <p:cNvSpPr txBox="1"/>
          <p:nvPr/>
        </p:nvSpPr>
        <p:spPr>
          <a:xfrm>
            <a:off x="8940302" y="2632613"/>
            <a:ext cx="2277928" cy="461665"/>
          </a:xfrm>
          <a:prstGeom prst="rect">
            <a:avLst/>
          </a:prstGeom>
          <a:solidFill>
            <a:schemeClr val="bg1">
              <a:lumMod val="85000"/>
            </a:schemeClr>
          </a:solidFill>
        </p:spPr>
        <p:txBody>
          <a:bodyPr wrap="square" rtlCol="0">
            <a:spAutoFit/>
          </a:bodyPr>
          <a:lstStyle/>
          <a:p>
            <a:r>
              <a:rPr lang="en-US" sz="2400" dirty="0">
                <a:solidFill>
                  <a:srgbClr val="AD1457"/>
                </a:solidFill>
              </a:rPr>
              <a:t>Source node = 1</a:t>
            </a:r>
          </a:p>
        </p:txBody>
      </p:sp>
      <p:sp>
        <p:nvSpPr>
          <p:cNvPr id="80" name="Rectangle 79"/>
          <p:cNvSpPr/>
          <p:nvPr/>
        </p:nvSpPr>
        <p:spPr>
          <a:xfrm>
            <a:off x="6237512" y="3105393"/>
            <a:ext cx="82296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Step</a:t>
            </a:r>
          </a:p>
        </p:txBody>
      </p:sp>
      <p:sp>
        <p:nvSpPr>
          <p:cNvPr id="81" name="Rectangle 80"/>
          <p:cNvSpPr/>
          <p:nvPr/>
        </p:nvSpPr>
        <p:spPr>
          <a:xfrm>
            <a:off x="7052934" y="3105393"/>
            <a:ext cx="527859"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00000"/>
                </a:solidFill>
              </a:rPr>
              <a:t>v</a:t>
            </a:r>
          </a:p>
        </p:txBody>
      </p:sp>
      <p:sp>
        <p:nvSpPr>
          <p:cNvPr id="82" name="Rectangle 81"/>
          <p:cNvSpPr/>
          <p:nvPr/>
        </p:nvSpPr>
        <p:spPr>
          <a:xfrm>
            <a:off x="7580646" y="3105393"/>
            <a:ext cx="137160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00000"/>
                </a:solidFill>
              </a:rPr>
              <a:t>C</a:t>
            </a:r>
          </a:p>
        </p:txBody>
      </p:sp>
      <p:sp>
        <p:nvSpPr>
          <p:cNvPr id="83" name="Rectangle 82"/>
          <p:cNvSpPr/>
          <p:nvPr/>
        </p:nvSpPr>
        <p:spPr>
          <a:xfrm>
            <a:off x="8944286" y="3105393"/>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00000"/>
                </a:solidFill>
              </a:rPr>
              <a:t>2</a:t>
            </a:r>
          </a:p>
        </p:txBody>
      </p:sp>
      <p:sp>
        <p:nvSpPr>
          <p:cNvPr id="84" name="Rectangle 83"/>
          <p:cNvSpPr/>
          <p:nvPr/>
        </p:nvSpPr>
        <p:spPr>
          <a:xfrm>
            <a:off x="9486231" y="3105393"/>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00000"/>
                </a:solidFill>
              </a:rPr>
              <a:t>3</a:t>
            </a:r>
          </a:p>
        </p:txBody>
      </p:sp>
      <p:sp>
        <p:nvSpPr>
          <p:cNvPr id="85" name="Rectangle 84"/>
          <p:cNvSpPr/>
          <p:nvPr/>
        </p:nvSpPr>
        <p:spPr>
          <a:xfrm>
            <a:off x="10032140" y="3105393"/>
            <a:ext cx="64008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00000"/>
                </a:solidFill>
              </a:rPr>
              <a:t>4</a:t>
            </a:r>
          </a:p>
        </p:txBody>
      </p:sp>
      <p:sp>
        <p:nvSpPr>
          <p:cNvPr id="86" name="Rectangle 85"/>
          <p:cNvSpPr/>
          <p:nvPr/>
        </p:nvSpPr>
        <p:spPr>
          <a:xfrm>
            <a:off x="10669590" y="3105393"/>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00000"/>
                </a:solidFill>
              </a:rPr>
              <a:t>5</a:t>
            </a:r>
          </a:p>
        </p:txBody>
      </p:sp>
      <p:sp>
        <p:nvSpPr>
          <p:cNvPr id="87" name="Rectangle 86"/>
          <p:cNvSpPr/>
          <p:nvPr/>
        </p:nvSpPr>
        <p:spPr>
          <a:xfrm>
            <a:off x="6237512" y="3590107"/>
            <a:ext cx="82296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err="1">
                <a:solidFill>
                  <a:schemeClr val="tx1"/>
                </a:solidFill>
              </a:rPr>
              <a:t>Init.</a:t>
            </a:r>
            <a:endParaRPr lang="en-US" sz="2200" dirty="0">
              <a:solidFill>
                <a:schemeClr val="tx1"/>
              </a:solidFill>
            </a:endParaRPr>
          </a:p>
        </p:txBody>
      </p:sp>
      <p:sp>
        <p:nvSpPr>
          <p:cNvPr id="88" name="Rectangle 87"/>
          <p:cNvSpPr/>
          <p:nvPr/>
        </p:nvSpPr>
        <p:spPr>
          <a:xfrm>
            <a:off x="7052934" y="3590107"/>
            <a:ext cx="527859"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a:t>
            </a:r>
          </a:p>
        </p:txBody>
      </p:sp>
      <p:sp>
        <p:nvSpPr>
          <p:cNvPr id="89" name="Rectangle 88"/>
          <p:cNvSpPr/>
          <p:nvPr/>
        </p:nvSpPr>
        <p:spPr>
          <a:xfrm>
            <a:off x="7580646" y="3590107"/>
            <a:ext cx="137160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{2, 3, 4, 5}</a:t>
            </a:r>
          </a:p>
        </p:txBody>
      </p:sp>
      <p:sp>
        <p:nvSpPr>
          <p:cNvPr id="90" name="Rectangle 89"/>
          <p:cNvSpPr/>
          <p:nvPr/>
        </p:nvSpPr>
        <p:spPr>
          <a:xfrm>
            <a:off x="8944286" y="3590107"/>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50</a:t>
            </a:r>
          </a:p>
        </p:txBody>
      </p:sp>
      <p:sp>
        <p:nvSpPr>
          <p:cNvPr id="91" name="Rectangle 90"/>
          <p:cNvSpPr/>
          <p:nvPr/>
        </p:nvSpPr>
        <p:spPr>
          <a:xfrm>
            <a:off x="9486231" y="3590107"/>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30</a:t>
            </a:r>
          </a:p>
        </p:txBody>
      </p:sp>
      <p:sp>
        <p:nvSpPr>
          <p:cNvPr id="92" name="Rectangle 91"/>
          <p:cNvSpPr/>
          <p:nvPr/>
        </p:nvSpPr>
        <p:spPr>
          <a:xfrm>
            <a:off x="10032140" y="3590107"/>
            <a:ext cx="64008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b="1" dirty="0">
                <a:solidFill>
                  <a:schemeClr val="tx1"/>
                </a:solidFill>
              </a:rPr>
              <a:t>100</a:t>
            </a:r>
          </a:p>
        </p:txBody>
      </p:sp>
      <p:sp>
        <p:nvSpPr>
          <p:cNvPr id="93" name="Rectangle 92"/>
          <p:cNvSpPr/>
          <p:nvPr/>
        </p:nvSpPr>
        <p:spPr>
          <a:xfrm>
            <a:off x="10669590" y="3590107"/>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10</a:t>
            </a:r>
          </a:p>
        </p:txBody>
      </p:sp>
      <p:sp>
        <p:nvSpPr>
          <p:cNvPr id="94" name="Rectangle 93"/>
          <p:cNvSpPr/>
          <p:nvPr/>
        </p:nvSpPr>
        <p:spPr>
          <a:xfrm>
            <a:off x="6237512" y="4074604"/>
            <a:ext cx="82296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tx1"/>
                </a:solidFill>
              </a:rPr>
              <a:t>1</a:t>
            </a:r>
          </a:p>
        </p:txBody>
      </p:sp>
      <p:sp>
        <p:nvSpPr>
          <p:cNvPr id="95" name="Rectangle 94"/>
          <p:cNvSpPr/>
          <p:nvPr/>
        </p:nvSpPr>
        <p:spPr>
          <a:xfrm>
            <a:off x="7052934" y="4074604"/>
            <a:ext cx="527859"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5</a:t>
            </a:r>
          </a:p>
        </p:txBody>
      </p:sp>
      <p:sp>
        <p:nvSpPr>
          <p:cNvPr id="96" name="Rectangle 95"/>
          <p:cNvSpPr/>
          <p:nvPr/>
        </p:nvSpPr>
        <p:spPr>
          <a:xfrm>
            <a:off x="7580646" y="4074604"/>
            <a:ext cx="137160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{2, 3, 4}</a:t>
            </a:r>
          </a:p>
        </p:txBody>
      </p:sp>
      <p:sp>
        <p:nvSpPr>
          <p:cNvPr id="97" name="Rectangle 96"/>
          <p:cNvSpPr/>
          <p:nvPr/>
        </p:nvSpPr>
        <p:spPr>
          <a:xfrm>
            <a:off x="8944286" y="4074604"/>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50</a:t>
            </a:r>
          </a:p>
        </p:txBody>
      </p:sp>
      <p:sp>
        <p:nvSpPr>
          <p:cNvPr id="98" name="Rectangle 97"/>
          <p:cNvSpPr/>
          <p:nvPr/>
        </p:nvSpPr>
        <p:spPr>
          <a:xfrm>
            <a:off x="9486231" y="4074604"/>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30</a:t>
            </a:r>
          </a:p>
        </p:txBody>
      </p:sp>
      <p:sp>
        <p:nvSpPr>
          <p:cNvPr id="99" name="Rectangle 98"/>
          <p:cNvSpPr/>
          <p:nvPr/>
        </p:nvSpPr>
        <p:spPr>
          <a:xfrm>
            <a:off x="10032140" y="4074604"/>
            <a:ext cx="64008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rPr>
              <a:t>20</a:t>
            </a:r>
          </a:p>
        </p:txBody>
      </p:sp>
      <p:sp>
        <p:nvSpPr>
          <p:cNvPr id="100" name="Rectangle 99"/>
          <p:cNvSpPr/>
          <p:nvPr/>
        </p:nvSpPr>
        <p:spPr>
          <a:xfrm>
            <a:off x="10669591" y="4074604"/>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10</a:t>
            </a:r>
          </a:p>
        </p:txBody>
      </p:sp>
      <p:sp>
        <p:nvSpPr>
          <p:cNvPr id="101" name="Rounded Rectangle 100"/>
          <p:cNvSpPr/>
          <p:nvPr/>
        </p:nvSpPr>
        <p:spPr>
          <a:xfrm>
            <a:off x="10763455" y="3666973"/>
            <a:ext cx="360910" cy="339337"/>
          </a:xfrm>
          <a:prstGeom prst="round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ounded Rectangle 101"/>
          <p:cNvSpPr/>
          <p:nvPr/>
        </p:nvSpPr>
        <p:spPr>
          <a:xfrm>
            <a:off x="10123580" y="4138258"/>
            <a:ext cx="457200" cy="365760"/>
          </a:xfrm>
          <a:prstGeom prst="round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ounded Rectangle 102"/>
          <p:cNvSpPr/>
          <p:nvPr/>
        </p:nvSpPr>
        <p:spPr>
          <a:xfrm>
            <a:off x="9038151" y="4645078"/>
            <a:ext cx="360910" cy="339337"/>
          </a:xfrm>
          <a:prstGeom prst="round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Pentagon 63"/>
          <p:cNvSpPr/>
          <p:nvPr/>
        </p:nvSpPr>
        <p:spPr>
          <a:xfrm>
            <a:off x="3852615" y="5643154"/>
            <a:ext cx="914400" cy="822960"/>
          </a:xfrm>
          <a:prstGeom prst="homePlate">
            <a:avLst/>
          </a:prstGeom>
          <a:solidFill>
            <a:schemeClr val="accent6">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Yes</a:t>
            </a:r>
          </a:p>
        </p:txBody>
      </p:sp>
      <p:sp>
        <p:nvSpPr>
          <p:cNvPr id="65" name="Rounded Rectangle 64"/>
          <p:cNvSpPr/>
          <p:nvPr/>
        </p:nvSpPr>
        <p:spPr>
          <a:xfrm>
            <a:off x="3885721" y="5862919"/>
            <a:ext cx="694944" cy="394673"/>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No </a:t>
            </a:r>
          </a:p>
        </p:txBody>
      </p:sp>
      <p:sp>
        <p:nvSpPr>
          <p:cNvPr id="66" name="Rectangle 65"/>
          <p:cNvSpPr/>
          <p:nvPr/>
        </p:nvSpPr>
        <p:spPr>
          <a:xfrm>
            <a:off x="4810204" y="5643154"/>
            <a:ext cx="2834640" cy="822960"/>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AD1457"/>
                </a:solidFill>
              </a:rPr>
              <a:t>Compare cost of 1–4–2 (40) and 1–2(50)</a:t>
            </a:r>
          </a:p>
        </p:txBody>
      </p:sp>
      <p:sp>
        <p:nvSpPr>
          <p:cNvPr id="67" name="Rectangle 66"/>
          <p:cNvSpPr/>
          <p:nvPr/>
        </p:nvSpPr>
        <p:spPr>
          <a:xfrm>
            <a:off x="679269" y="5643154"/>
            <a:ext cx="3108960" cy="822960"/>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tx1"/>
                </a:solidFill>
              </a:rPr>
              <a:t>Is there path from 1 - 4 - 2</a:t>
            </a:r>
          </a:p>
        </p:txBody>
      </p:sp>
      <p:sp>
        <p:nvSpPr>
          <p:cNvPr id="68" name="TextBox 67"/>
          <p:cNvSpPr txBox="1"/>
          <p:nvPr/>
        </p:nvSpPr>
        <p:spPr>
          <a:xfrm>
            <a:off x="705011" y="5887892"/>
            <a:ext cx="3056708" cy="430887"/>
          </a:xfrm>
          <a:prstGeom prst="rect">
            <a:avLst/>
          </a:prstGeom>
          <a:solidFill>
            <a:schemeClr val="bg1"/>
          </a:solidFill>
        </p:spPr>
        <p:txBody>
          <a:bodyPr wrap="square" rtlCol="0">
            <a:spAutoFit/>
          </a:bodyPr>
          <a:lstStyle/>
          <a:p>
            <a:pPr algn="ctr"/>
            <a:r>
              <a:rPr lang="en-US" sz="2200" dirty="0">
                <a:solidFill>
                  <a:srgbClr val="0070C0"/>
                </a:solidFill>
              </a:rPr>
              <a:t>Is there path from 1 - 4 - 3</a:t>
            </a:r>
          </a:p>
        </p:txBody>
      </p:sp>
      <p:sp>
        <p:nvSpPr>
          <p:cNvPr id="69" name="TextBox 68"/>
          <p:cNvSpPr txBox="1"/>
          <p:nvPr/>
        </p:nvSpPr>
        <p:spPr>
          <a:xfrm>
            <a:off x="697325" y="5875211"/>
            <a:ext cx="3065929" cy="430887"/>
          </a:xfrm>
          <a:prstGeom prst="rect">
            <a:avLst/>
          </a:prstGeom>
          <a:solidFill>
            <a:schemeClr val="bg1"/>
          </a:solidFill>
        </p:spPr>
        <p:txBody>
          <a:bodyPr wrap="square" rtlCol="0">
            <a:spAutoFit/>
          </a:bodyPr>
          <a:lstStyle/>
          <a:p>
            <a:r>
              <a:rPr lang="en-US" sz="2200" dirty="0">
                <a:solidFill>
                  <a:srgbClr val="C00000"/>
                </a:solidFill>
              </a:rPr>
              <a:t>Is there path from 1 - 4 - 5</a:t>
            </a:r>
          </a:p>
        </p:txBody>
      </p:sp>
      <p:sp>
        <p:nvSpPr>
          <p:cNvPr id="77" name="Rectangle 76"/>
          <p:cNvSpPr/>
          <p:nvPr/>
        </p:nvSpPr>
        <p:spPr>
          <a:xfrm>
            <a:off x="4801621" y="5643538"/>
            <a:ext cx="2834640" cy="822960"/>
          </a:xfrm>
          <a:prstGeom prst="rect">
            <a:avLst/>
          </a:prstGeom>
          <a:solidFill>
            <a:schemeClr val="accent5">
              <a:lumMod val="20000"/>
              <a:lumOff val="80000"/>
            </a:schemeClr>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AD1457"/>
                </a:solidFill>
              </a:rPr>
              <a:t>Compare cost of 1–4–3 (70) and 1–3 (30)</a:t>
            </a:r>
          </a:p>
        </p:txBody>
      </p:sp>
      <p:sp>
        <p:nvSpPr>
          <p:cNvPr id="70" name="Rounded Rectangle 69"/>
          <p:cNvSpPr/>
          <p:nvPr/>
        </p:nvSpPr>
        <p:spPr>
          <a:xfrm>
            <a:off x="3640048" y="3258693"/>
            <a:ext cx="457200" cy="365760"/>
          </a:xfrm>
          <a:prstGeom prst="round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p:cNvSpPr/>
          <p:nvPr/>
        </p:nvSpPr>
        <p:spPr>
          <a:xfrm>
            <a:off x="9000320" y="4088680"/>
            <a:ext cx="457200" cy="457200"/>
          </a:xfrm>
          <a:prstGeom prst="ellipse">
            <a:avLst/>
          </a:prstGeom>
          <a:noFill/>
          <a:ln w="38100">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7262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fade">
                                      <p:cBhvr>
                                        <p:cTn id="12" dur="500"/>
                                        <p:tgtEl>
                                          <p:spTgt spid="5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7"/>
                                        </p:tgtEl>
                                        <p:attrNameLst>
                                          <p:attrName>style.visibility</p:attrName>
                                        </p:attrNameLst>
                                      </p:cBhvr>
                                      <p:to>
                                        <p:strVal val="visible"/>
                                      </p:to>
                                    </p:set>
                                    <p:animEffect transition="in" filter="fade">
                                      <p:cBhvr>
                                        <p:cTn id="17" dur="500"/>
                                        <p:tgtEl>
                                          <p:spTgt spid="5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7"/>
                                        </p:tgtEl>
                                        <p:attrNameLst>
                                          <p:attrName>style.visibility</p:attrName>
                                        </p:attrNameLst>
                                      </p:cBhvr>
                                      <p:to>
                                        <p:strVal val="visible"/>
                                      </p:to>
                                    </p:set>
                                    <p:animEffect transition="in" filter="wipe(up)">
                                      <p:cBhvr>
                                        <p:cTn id="22" dur="1000"/>
                                        <p:tgtEl>
                                          <p:spTgt spid="6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4"/>
                                        </p:tgtEl>
                                        <p:attrNameLst>
                                          <p:attrName>style.visibility</p:attrName>
                                        </p:attrNameLst>
                                      </p:cBhvr>
                                      <p:to>
                                        <p:strVal val="visible"/>
                                      </p:to>
                                    </p:set>
                                    <p:animEffect transition="in" filter="fade">
                                      <p:cBhvr>
                                        <p:cTn id="27" dur="500"/>
                                        <p:tgtEl>
                                          <p:spTgt spid="6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6"/>
                                        </p:tgtEl>
                                        <p:attrNameLst>
                                          <p:attrName>style.visibility</p:attrName>
                                        </p:attrNameLst>
                                      </p:cBhvr>
                                      <p:to>
                                        <p:strVal val="visible"/>
                                      </p:to>
                                    </p:set>
                                    <p:animEffect transition="in" filter="wipe(left)">
                                      <p:cBhvr>
                                        <p:cTn id="32" dur="1500"/>
                                        <p:tgtEl>
                                          <p:spTgt spid="66"/>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grpId="0" nodeType="clickEffect">
                                  <p:stCondLst>
                                    <p:cond delay="0"/>
                                  </p:stCondLst>
                                  <p:childTnLst>
                                    <p:set>
                                      <p:cBhvr>
                                        <p:cTn id="36" dur="1" fill="hold">
                                          <p:stCondLst>
                                            <p:cond delay="0"/>
                                          </p:stCondLst>
                                        </p:cTn>
                                        <p:tgtEl>
                                          <p:spTgt spid="70"/>
                                        </p:tgtEl>
                                        <p:attrNameLst>
                                          <p:attrName>style.visibility</p:attrName>
                                        </p:attrNameLst>
                                      </p:cBhvr>
                                      <p:to>
                                        <p:strVal val="visible"/>
                                      </p:to>
                                    </p:set>
                                    <p:animEffect transition="in" filter="wheel(1)">
                                      <p:cBhvr>
                                        <p:cTn id="37" dur="2000"/>
                                        <p:tgtEl>
                                          <p:spTgt spid="70"/>
                                        </p:tgtEl>
                                      </p:cBhvr>
                                    </p:animEffect>
                                  </p:childTnLst>
                                </p:cTn>
                              </p:par>
                            </p:childTnLst>
                          </p:cTn>
                        </p:par>
                        <p:par>
                          <p:cTn id="38" fill="hold">
                            <p:stCondLst>
                              <p:cond delay="2000"/>
                            </p:stCondLst>
                            <p:childTnLst>
                              <p:par>
                                <p:cTn id="39" presetID="15" presetClass="emph" presetSubtype="0" nodeType="afterEffect">
                                  <p:stCondLst>
                                    <p:cond delay="0"/>
                                  </p:stCondLst>
                                  <p:iterate type="lt">
                                    <p:tmAbs val="25"/>
                                  </p:iterate>
                                  <p:childTnLst>
                                    <p:set>
                                      <p:cBhvr override="childStyle">
                                        <p:cTn id="40" dur="500"/>
                                        <p:tgtEl>
                                          <p:spTgt spid="20">
                                            <p:txEl>
                                              <p:pRg st="0" end="0"/>
                                            </p:txEl>
                                          </p:spTgt>
                                        </p:tgtEl>
                                        <p:attrNameLst>
                                          <p:attrName>style.fontWeight</p:attrName>
                                        </p:attrNameLst>
                                      </p:cBhvr>
                                      <p:to>
                                        <p:strVal val="bold"/>
                                      </p:to>
                                    </p:set>
                                  </p:childTnLst>
                                </p:cTn>
                              </p:par>
                            </p:childTnLst>
                          </p:cTn>
                        </p:par>
                      </p:childTnLst>
                    </p:cTn>
                  </p:par>
                  <p:par>
                    <p:cTn id="41" fill="hold">
                      <p:stCondLst>
                        <p:cond delay="indefinite"/>
                      </p:stCondLst>
                      <p:childTnLst>
                        <p:par>
                          <p:cTn id="42" fill="hold">
                            <p:stCondLst>
                              <p:cond delay="0"/>
                            </p:stCondLst>
                            <p:childTnLst>
                              <p:par>
                                <p:cTn id="43" presetID="21" presetClass="entr" presetSubtype="1" fill="hold" grpId="0" nodeType="clickEffect">
                                  <p:stCondLst>
                                    <p:cond delay="0"/>
                                  </p:stCondLst>
                                  <p:childTnLst>
                                    <p:set>
                                      <p:cBhvr>
                                        <p:cTn id="44" dur="1" fill="hold">
                                          <p:stCondLst>
                                            <p:cond delay="0"/>
                                          </p:stCondLst>
                                        </p:cTn>
                                        <p:tgtEl>
                                          <p:spTgt spid="78"/>
                                        </p:tgtEl>
                                        <p:attrNameLst>
                                          <p:attrName>style.visibility</p:attrName>
                                        </p:attrNameLst>
                                      </p:cBhvr>
                                      <p:to>
                                        <p:strVal val="visible"/>
                                      </p:to>
                                    </p:set>
                                    <p:animEffect transition="in" filter="wheel(1)">
                                      <p:cBhvr>
                                        <p:cTn id="45" dur="1500"/>
                                        <p:tgtEl>
                                          <p:spTgt spid="7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58"/>
                                        </p:tgtEl>
                                        <p:attrNameLst>
                                          <p:attrName>style.visibility</p:attrName>
                                        </p:attrNameLst>
                                      </p:cBhvr>
                                      <p:to>
                                        <p:strVal val="visible"/>
                                      </p:to>
                                    </p:set>
                                    <p:animEffect transition="in" filter="fade">
                                      <p:cBhvr>
                                        <p:cTn id="50" dur="500"/>
                                        <p:tgtEl>
                                          <p:spTgt spid="58"/>
                                        </p:tgtEl>
                                      </p:cBhvr>
                                    </p:animEffect>
                                  </p:childTnLst>
                                </p:cTn>
                              </p:par>
                            </p:childTnLst>
                          </p:cTn>
                        </p:par>
                        <p:par>
                          <p:cTn id="51" fill="hold">
                            <p:stCondLst>
                              <p:cond delay="500"/>
                            </p:stCondLst>
                            <p:childTnLst>
                              <p:par>
                                <p:cTn id="52" presetID="21" presetClass="exit" presetSubtype="1" fill="hold" grpId="1" nodeType="afterEffect">
                                  <p:stCondLst>
                                    <p:cond delay="0"/>
                                  </p:stCondLst>
                                  <p:childTnLst>
                                    <p:animEffect transition="out" filter="wheel(1)">
                                      <p:cBhvr>
                                        <p:cTn id="53" dur="500"/>
                                        <p:tgtEl>
                                          <p:spTgt spid="70"/>
                                        </p:tgtEl>
                                      </p:cBhvr>
                                    </p:animEffect>
                                    <p:set>
                                      <p:cBhvr>
                                        <p:cTn id="54" dur="1" fill="hold">
                                          <p:stCondLst>
                                            <p:cond delay="499"/>
                                          </p:stCondLst>
                                        </p:cTn>
                                        <p:tgtEl>
                                          <p:spTgt spid="70"/>
                                        </p:tgtEl>
                                        <p:attrNameLst>
                                          <p:attrName>style.visibility</p:attrName>
                                        </p:attrNameLst>
                                      </p:cBhvr>
                                      <p:to>
                                        <p:strVal val="hidden"/>
                                      </p:to>
                                    </p:set>
                                  </p:childTnLst>
                                </p:cTn>
                              </p:par>
                              <p:par>
                                <p:cTn id="55" presetID="21" presetClass="exit" presetSubtype="1" fill="hold" grpId="1" nodeType="withEffect">
                                  <p:stCondLst>
                                    <p:cond delay="0"/>
                                  </p:stCondLst>
                                  <p:childTnLst>
                                    <p:animEffect transition="out" filter="wheel(1)">
                                      <p:cBhvr>
                                        <p:cTn id="56" dur="500"/>
                                        <p:tgtEl>
                                          <p:spTgt spid="78"/>
                                        </p:tgtEl>
                                      </p:cBhvr>
                                    </p:animEffect>
                                    <p:set>
                                      <p:cBhvr>
                                        <p:cTn id="57" dur="1" fill="hold">
                                          <p:stCondLst>
                                            <p:cond delay="499"/>
                                          </p:stCondLst>
                                        </p:cTn>
                                        <p:tgtEl>
                                          <p:spTgt spid="78"/>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68"/>
                                        </p:tgtEl>
                                        <p:attrNameLst>
                                          <p:attrName>style.visibility</p:attrName>
                                        </p:attrNameLst>
                                      </p:cBhvr>
                                      <p:to>
                                        <p:strVal val="visible"/>
                                      </p:to>
                                    </p:set>
                                    <p:animEffect transition="in" filter="wipe(up)">
                                      <p:cBhvr>
                                        <p:cTn id="62" dur="1000"/>
                                        <p:tgtEl>
                                          <p:spTgt spid="6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77"/>
                                        </p:tgtEl>
                                        <p:attrNameLst>
                                          <p:attrName>style.visibility</p:attrName>
                                        </p:attrNameLst>
                                      </p:cBhvr>
                                      <p:to>
                                        <p:strVal val="visible"/>
                                      </p:to>
                                    </p:set>
                                    <p:animEffect transition="in" filter="wipe(left)">
                                      <p:cBhvr>
                                        <p:cTn id="67" dur="1000"/>
                                        <p:tgtEl>
                                          <p:spTgt spid="7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59"/>
                                        </p:tgtEl>
                                        <p:attrNameLst>
                                          <p:attrName>style.visibility</p:attrName>
                                        </p:attrNameLst>
                                      </p:cBhvr>
                                      <p:to>
                                        <p:strVal val="visible"/>
                                      </p:to>
                                    </p:set>
                                    <p:animEffect transition="in" filter="fade">
                                      <p:cBhvr>
                                        <p:cTn id="72" dur="500"/>
                                        <p:tgtEl>
                                          <p:spTgt spid="59"/>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60"/>
                                        </p:tgtEl>
                                        <p:attrNameLst>
                                          <p:attrName>style.visibility</p:attrName>
                                        </p:attrNameLst>
                                      </p:cBhvr>
                                      <p:to>
                                        <p:strVal val="visible"/>
                                      </p:to>
                                    </p:set>
                                    <p:animEffect transition="in" filter="fade">
                                      <p:cBhvr>
                                        <p:cTn id="77" dur="500"/>
                                        <p:tgtEl>
                                          <p:spTgt spid="60"/>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grpId="0" nodeType="clickEffect">
                                  <p:stCondLst>
                                    <p:cond delay="0"/>
                                  </p:stCondLst>
                                  <p:childTnLst>
                                    <p:set>
                                      <p:cBhvr>
                                        <p:cTn id="81" dur="1" fill="hold">
                                          <p:stCondLst>
                                            <p:cond delay="0"/>
                                          </p:stCondLst>
                                        </p:cTn>
                                        <p:tgtEl>
                                          <p:spTgt spid="69"/>
                                        </p:tgtEl>
                                        <p:attrNameLst>
                                          <p:attrName>style.visibility</p:attrName>
                                        </p:attrNameLst>
                                      </p:cBhvr>
                                      <p:to>
                                        <p:strVal val="visible"/>
                                      </p:to>
                                    </p:set>
                                    <p:animEffect transition="in" filter="wipe(up)">
                                      <p:cBhvr>
                                        <p:cTn id="82" dur="1500"/>
                                        <p:tgtEl>
                                          <p:spTgt spid="69"/>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65"/>
                                        </p:tgtEl>
                                        <p:attrNameLst>
                                          <p:attrName>style.visibility</p:attrName>
                                        </p:attrNameLst>
                                      </p:cBhvr>
                                      <p:to>
                                        <p:strVal val="visible"/>
                                      </p:to>
                                    </p:set>
                                    <p:animEffect transition="in" filter="fade">
                                      <p:cBhvr>
                                        <p:cTn id="87" dur="500"/>
                                        <p:tgtEl>
                                          <p:spTgt spid="65"/>
                                        </p:tgtEl>
                                      </p:cBhvr>
                                    </p:animEffect>
                                  </p:childTnLst>
                                </p:cTn>
                              </p:par>
                              <p:par>
                                <p:cTn id="88" presetID="1" presetClass="exit" presetSubtype="0" fill="hold" grpId="1" nodeType="withEffect">
                                  <p:stCondLst>
                                    <p:cond delay="0"/>
                                  </p:stCondLst>
                                  <p:childTnLst>
                                    <p:set>
                                      <p:cBhvr>
                                        <p:cTn id="89" dur="1" fill="hold">
                                          <p:stCondLst>
                                            <p:cond delay="0"/>
                                          </p:stCondLst>
                                        </p:cTn>
                                        <p:tgtEl>
                                          <p:spTgt spid="66"/>
                                        </p:tgtEl>
                                        <p:attrNameLst>
                                          <p:attrName>style.visibility</p:attrName>
                                        </p:attrNameLst>
                                      </p:cBhvr>
                                      <p:to>
                                        <p:strVal val="hidden"/>
                                      </p:to>
                                    </p:set>
                                  </p:childTnLst>
                                </p:cTn>
                              </p:par>
                              <p:par>
                                <p:cTn id="90" presetID="1" presetClass="exit" presetSubtype="0" fill="hold" grpId="1" nodeType="withEffect">
                                  <p:stCondLst>
                                    <p:cond delay="0"/>
                                  </p:stCondLst>
                                  <p:childTnLst>
                                    <p:set>
                                      <p:cBhvr>
                                        <p:cTn id="91" dur="1" fill="hold">
                                          <p:stCondLst>
                                            <p:cond delay="0"/>
                                          </p:stCondLst>
                                        </p:cTn>
                                        <p:tgtEl>
                                          <p:spTgt spid="77"/>
                                        </p:tgtEl>
                                        <p:attrNameLst>
                                          <p:attrName>style.visibility</p:attrName>
                                        </p:attrNameLst>
                                      </p:cBhvr>
                                      <p:to>
                                        <p:strVal val="hidden"/>
                                      </p:to>
                                    </p:se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61"/>
                                        </p:tgtEl>
                                        <p:attrNameLst>
                                          <p:attrName>style.visibility</p:attrName>
                                        </p:attrNameLst>
                                      </p:cBhvr>
                                      <p:to>
                                        <p:strVal val="visible"/>
                                      </p:to>
                                    </p:set>
                                    <p:animEffect transition="in" filter="fade">
                                      <p:cBhvr>
                                        <p:cTn id="96" dur="500"/>
                                        <p:tgtEl>
                                          <p:spTgt spid="61"/>
                                        </p:tgtEl>
                                      </p:cBhvr>
                                    </p:animEffect>
                                  </p:childTnLst>
                                </p:cTn>
                              </p:par>
                            </p:childTnLst>
                          </p:cTn>
                        </p:par>
                      </p:childTnLst>
                    </p:cTn>
                  </p:par>
                  <p:par>
                    <p:cTn id="97" fill="hold">
                      <p:stCondLst>
                        <p:cond delay="indefinite"/>
                      </p:stCondLst>
                      <p:childTnLst>
                        <p:par>
                          <p:cTn id="98" fill="hold">
                            <p:stCondLst>
                              <p:cond delay="0"/>
                            </p:stCondLst>
                            <p:childTnLst>
                              <p:par>
                                <p:cTn id="99" presetID="21" presetClass="entr" presetSubtype="1" fill="hold" grpId="0" nodeType="clickEffect">
                                  <p:stCondLst>
                                    <p:cond delay="0"/>
                                  </p:stCondLst>
                                  <p:childTnLst>
                                    <p:set>
                                      <p:cBhvr>
                                        <p:cTn id="100" dur="1" fill="hold">
                                          <p:stCondLst>
                                            <p:cond delay="0"/>
                                          </p:stCondLst>
                                        </p:cTn>
                                        <p:tgtEl>
                                          <p:spTgt spid="103"/>
                                        </p:tgtEl>
                                        <p:attrNameLst>
                                          <p:attrName>style.visibility</p:attrName>
                                        </p:attrNameLst>
                                      </p:cBhvr>
                                      <p:to>
                                        <p:strVal val="visible"/>
                                      </p:to>
                                    </p:set>
                                    <p:animEffect transition="in" filter="wheel(1)">
                                      <p:cBhvr>
                                        <p:cTn id="101" dur="20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6" grpId="0" animBg="1"/>
      <p:bldP spid="57" grpId="0" animBg="1"/>
      <p:bldP spid="58" grpId="0" animBg="1"/>
      <p:bldP spid="59" grpId="0" animBg="1"/>
      <p:bldP spid="60" grpId="0" animBg="1"/>
      <p:bldP spid="61" grpId="0" animBg="1"/>
      <p:bldP spid="103" grpId="0" animBg="1"/>
      <p:bldP spid="64" grpId="0" animBg="1"/>
      <p:bldP spid="65" grpId="0" animBg="1"/>
      <p:bldP spid="66" grpId="0" animBg="1"/>
      <p:bldP spid="66" grpId="1" animBg="1"/>
      <p:bldP spid="67" grpId="0" animBg="1"/>
      <p:bldP spid="68" grpId="0" animBg="1"/>
      <p:bldP spid="69" grpId="0" animBg="1"/>
      <p:bldP spid="77" grpId="0" animBg="1"/>
      <p:bldP spid="77" grpId="1" animBg="1"/>
      <p:bldP spid="70" grpId="0" animBg="1"/>
      <p:bldP spid="70" grpId="1" animBg="1"/>
      <p:bldP spid="78" grpId="0" animBg="1"/>
      <p:bldP spid="78" grpId="1"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Dijkstra’s</a:t>
            </a:r>
            <a:r>
              <a:rPr lang="en-US" dirty="0"/>
              <a:t> Algorithm - Example</a:t>
            </a:r>
          </a:p>
        </p:txBody>
      </p:sp>
      <p:sp>
        <p:nvSpPr>
          <p:cNvPr id="4" name="Oval 3"/>
          <p:cNvSpPr/>
          <p:nvPr/>
        </p:nvSpPr>
        <p:spPr>
          <a:xfrm>
            <a:off x="3243940" y="1447800"/>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1</a:t>
            </a:r>
          </a:p>
        </p:txBody>
      </p:sp>
      <p:sp>
        <p:nvSpPr>
          <p:cNvPr id="5" name="Oval 4"/>
          <p:cNvSpPr/>
          <p:nvPr/>
        </p:nvSpPr>
        <p:spPr>
          <a:xfrm>
            <a:off x="1717250" y="2297074"/>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5</a:t>
            </a:r>
          </a:p>
        </p:txBody>
      </p:sp>
      <p:sp>
        <p:nvSpPr>
          <p:cNvPr id="6" name="Oval 5"/>
          <p:cNvSpPr/>
          <p:nvPr/>
        </p:nvSpPr>
        <p:spPr>
          <a:xfrm>
            <a:off x="2329540" y="3848100"/>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4</a:t>
            </a:r>
          </a:p>
        </p:txBody>
      </p:sp>
      <p:sp>
        <p:nvSpPr>
          <p:cNvPr id="7" name="Oval 6"/>
          <p:cNvSpPr/>
          <p:nvPr/>
        </p:nvSpPr>
        <p:spPr>
          <a:xfrm>
            <a:off x="4310740" y="3834245"/>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3</a:t>
            </a:r>
          </a:p>
        </p:txBody>
      </p:sp>
      <p:sp>
        <p:nvSpPr>
          <p:cNvPr id="8" name="Oval 7"/>
          <p:cNvSpPr/>
          <p:nvPr/>
        </p:nvSpPr>
        <p:spPr>
          <a:xfrm>
            <a:off x="5069663" y="2223654"/>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2</a:t>
            </a:r>
          </a:p>
        </p:txBody>
      </p:sp>
      <p:cxnSp>
        <p:nvCxnSpPr>
          <p:cNvPr id="9" name="Straight Arrow Connector 8"/>
          <p:cNvCxnSpPr>
            <a:stCxn id="4" idx="2"/>
            <a:endCxn id="5" idx="7"/>
          </p:cNvCxnSpPr>
          <p:nvPr/>
        </p:nvCxnSpPr>
        <p:spPr>
          <a:xfrm flipH="1">
            <a:off x="2172535" y="1714500"/>
            <a:ext cx="1071405" cy="660689"/>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4" idx="3"/>
            <a:endCxn id="6" idx="0"/>
          </p:cNvCxnSpPr>
          <p:nvPr/>
        </p:nvCxnSpPr>
        <p:spPr>
          <a:xfrm flipH="1">
            <a:off x="2596240" y="1903085"/>
            <a:ext cx="725815" cy="194501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4" idx="4"/>
            <a:endCxn id="7" idx="1"/>
          </p:cNvCxnSpPr>
          <p:nvPr/>
        </p:nvCxnSpPr>
        <p:spPr>
          <a:xfrm>
            <a:off x="3510640" y="1981200"/>
            <a:ext cx="878215" cy="193116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4" idx="6"/>
            <a:endCxn id="8" idx="1"/>
          </p:cNvCxnSpPr>
          <p:nvPr/>
        </p:nvCxnSpPr>
        <p:spPr>
          <a:xfrm>
            <a:off x="3777340" y="1714500"/>
            <a:ext cx="1370438" cy="587269"/>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5" idx="4"/>
            <a:endCxn id="6" idx="1"/>
          </p:cNvCxnSpPr>
          <p:nvPr/>
        </p:nvCxnSpPr>
        <p:spPr>
          <a:xfrm>
            <a:off x="1983950" y="2830474"/>
            <a:ext cx="423705" cy="109574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6"/>
            <a:endCxn id="7" idx="2"/>
          </p:cNvCxnSpPr>
          <p:nvPr/>
        </p:nvCxnSpPr>
        <p:spPr>
          <a:xfrm flipV="1">
            <a:off x="2862940" y="4100945"/>
            <a:ext cx="1447800" cy="1385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7"/>
            <a:endCxn id="8" idx="4"/>
          </p:cNvCxnSpPr>
          <p:nvPr/>
        </p:nvCxnSpPr>
        <p:spPr>
          <a:xfrm flipV="1">
            <a:off x="4766025" y="2757054"/>
            <a:ext cx="570338" cy="1155306"/>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6" idx="7"/>
            <a:endCxn id="8" idx="2"/>
          </p:cNvCxnSpPr>
          <p:nvPr/>
        </p:nvCxnSpPr>
        <p:spPr>
          <a:xfrm flipV="1">
            <a:off x="2784825" y="2490354"/>
            <a:ext cx="2284838" cy="143586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213325" y="1748135"/>
            <a:ext cx="649615" cy="461665"/>
          </a:xfrm>
          <a:prstGeom prst="rect">
            <a:avLst/>
          </a:prstGeom>
          <a:noFill/>
        </p:spPr>
        <p:txBody>
          <a:bodyPr wrap="square" rtlCol="0">
            <a:spAutoFit/>
          </a:bodyPr>
          <a:lstStyle/>
          <a:p>
            <a:r>
              <a:rPr lang="en-US" sz="2400" dirty="0"/>
              <a:t>10</a:t>
            </a:r>
          </a:p>
        </p:txBody>
      </p:sp>
      <p:sp>
        <p:nvSpPr>
          <p:cNvPr id="18" name="TextBox 17"/>
          <p:cNvSpPr txBox="1"/>
          <p:nvPr/>
        </p:nvSpPr>
        <p:spPr>
          <a:xfrm>
            <a:off x="1756125" y="3119735"/>
            <a:ext cx="649615" cy="461665"/>
          </a:xfrm>
          <a:prstGeom prst="rect">
            <a:avLst/>
          </a:prstGeom>
          <a:noFill/>
        </p:spPr>
        <p:txBody>
          <a:bodyPr wrap="square" rtlCol="0">
            <a:spAutoFit/>
          </a:bodyPr>
          <a:lstStyle/>
          <a:p>
            <a:r>
              <a:rPr lang="en-US" sz="2400" dirty="0"/>
              <a:t>10</a:t>
            </a:r>
          </a:p>
        </p:txBody>
      </p:sp>
      <p:sp>
        <p:nvSpPr>
          <p:cNvPr id="19" name="TextBox 18"/>
          <p:cNvSpPr txBox="1"/>
          <p:nvPr/>
        </p:nvSpPr>
        <p:spPr>
          <a:xfrm>
            <a:off x="2975325" y="2438400"/>
            <a:ext cx="649615" cy="461665"/>
          </a:xfrm>
          <a:prstGeom prst="rect">
            <a:avLst/>
          </a:prstGeom>
          <a:noFill/>
        </p:spPr>
        <p:txBody>
          <a:bodyPr wrap="square" rtlCol="0">
            <a:spAutoFit/>
          </a:bodyPr>
          <a:lstStyle/>
          <a:p>
            <a:r>
              <a:rPr lang="en-US" sz="2400" dirty="0"/>
              <a:t>100</a:t>
            </a:r>
          </a:p>
        </p:txBody>
      </p:sp>
      <p:sp>
        <p:nvSpPr>
          <p:cNvPr id="20" name="TextBox 19"/>
          <p:cNvSpPr txBox="1"/>
          <p:nvPr/>
        </p:nvSpPr>
        <p:spPr>
          <a:xfrm>
            <a:off x="3624940" y="3195935"/>
            <a:ext cx="649615" cy="461665"/>
          </a:xfrm>
          <a:prstGeom prst="rect">
            <a:avLst/>
          </a:prstGeom>
          <a:noFill/>
        </p:spPr>
        <p:txBody>
          <a:bodyPr wrap="square" rtlCol="0">
            <a:spAutoFit/>
          </a:bodyPr>
          <a:lstStyle/>
          <a:p>
            <a:r>
              <a:rPr lang="en-US" sz="2400" dirty="0"/>
              <a:t>20</a:t>
            </a:r>
          </a:p>
        </p:txBody>
      </p:sp>
      <p:sp>
        <p:nvSpPr>
          <p:cNvPr id="21" name="TextBox 20"/>
          <p:cNvSpPr txBox="1"/>
          <p:nvPr/>
        </p:nvSpPr>
        <p:spPr>
          <a:xfrm>
            <a:off x="3280125" y="4034135"/>
            <a:ext cx="649615" cy="461665"/>
          </a:xfrm>
          <a:prstGeom prst="rect">
            <a:avLst/>
          </a:prstGeom>
          <a:noFill/>
        </p:spPr>
        <p:txBody>
          <a:bodyPr wrap="square" rtlCol="0">
            <a:spAutoFit/>
          </a:bodyPr>
          <a:lstStyle/>
          <a:p>
            <a:r>
              <a:rPr lang="en-US" sz="2400" dirty="0"/>
              <a:t>50</a:t>
            </a:r>
          </a:p>
        </p:txBody>
      </p:sp>
      <p:sp>
        <p:nvSpPr>
          <p:cNvPr id="22" name="TextBox 21"/>
          <p:cNvSpPr txBox="1"/>
          <p:nvPr/>
        </p:nvSpPr>
        <p:spPr>
          <a:xfrm>
            <a:off x="4346925" y="1671935"/>
            <a:ext cx="649615" cy="461665"/>
          </a:xfrm>
          <a:prstGeom prst="rect">
            <a:avLst/>
          </a:prstGeom>
          <a:noFill/>
        </p:spPr>
        <p:txBody>
          <a:bodyPr wrap="square" rtlCol="0">
            <a:spAutoFit/>
          </a:bodyPr>
          <a:lstStyle/>
          <a:p>
            <a:r>
              <a:rPr lang="en-US" sz="2400" dirty="0"/>
              <a:t>50</a:t>
            </a:r>
          </a:p>
        </p:txBody>
      </p:sp>
      <p:sp>
        <p:nvSpPr>
          <p:cNvPr id="23" name="TextBox 22"/>
          <p:cNvSpPr txBox="1"/>
          <p:nvPr/>
        </p:nvSpPr>
        <p:spPr>
          <a:xfrm>
            <a:off x="3737325" y="2362200"/>
            <a:ext cx="649615" cy="461665"/>
          </a:xfrm>
          <a:prstGeom prst="rect">
            <a:avLst/>
          </a:prstGeom>
          <a:noFill/>
        </p:spPr>
        <p:txBody>
          <a:bodyPr wrap="square" rtlCol="0">
            <a:spAutoFit/>
          </a:bodyPr>
          <a:lstStyle/>
          <a:p>
            <a:r>
              <a:rPr lang="en-US" sz="2400" dirty="0"/>
              <a:t>30</a:t>
            </a:r>
          </a:p>
        </p:txBody>
      </p:sp>
      <p:sp>
        <p:nvSpPr>
          <p:cNvPr id="24" name="TextBox 23"/>
          <p:cNvSpPr txBox="1"/>
          <p:nvPr/>
        </p:nvSpPr>
        <p:spPr>
          <a:xfrm>
            <a:off x="5032726" y="3043535"/>
            <a:ext cx="346730" cy="461665"/>
          </a:xfrm>
          <a:prstGeom prst="rect">
            <a:avLst/>
          </a:prstGeom>
          <a:noFill/>
        </p:spPr>
        <p:txBody>
          <a:bodyPr wrap="square" rtlCol="0">
            <a:spAutoFit/>
          </a:bodyPr>
          <a:lstStyle/>
          <a:p>
            <a:r>
              <a:rPr lang="en-US" sz="2400" dirty="0"/>
              <a:t>5</a:t>
            </a:r>
          </a:p>
        </p:txBody>
      </p:sp>
      <p:sp>
        <p:nvSpPr>
          <p:cNvPr id="26" name="TextBox 25"/>
          <p:cNvSpPr txBox="1"/>
          <p:nvPr/>
        </p:nvSpPr>
        <p:spPr>
          <a:xfrm>
            <a:off x="6389912" y="1371600"/>
            <a:ext cx="4838700" cy="461665"/>
          </a:xfrm>
          <a:prstGeom prst="rect">
            <a:avLst/>
          </a:prstGeom>
          <a:noFill/>
        </p:spPr>
        <p:txBody>
          <a:bodyPr wrap="square" rtlCol="0">
            <a:spAutoFit/>
          </a:bodyPr>
          <a:lstStyle/>
          <a:p>
            <a:r>
              <a:rPr lang="en-US" sz="2400" dirty="0">
                <a:solidFill>
                  <a:srgbClr val="AD1457"/>
                </a:solidFill>
                <a:latin typeface="+mj-lt"/>
              </a:rPr>
              <a:t>Single source shortest path algorithm </a:t>
            </a:r>
          </a:p>
        </p:txBody>
      </p:sp>
      <p:sp>
        <p:nvSpPr>
          <p:cNvPr id="55" name="Rectangle 54"/>
          <p:cNvSpPr/>
          <p:nvPr/>
        </p:nvSpPr>
        <p:spPr>
          <a:xfrm>
            <a:off x="6235537" y="4568209"/>
            <a:ext cx="82296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tx1"/>
                </a:solidFill>
              </a:rPr>
              <a:t>2</a:t>
            </a:r>
          </a:p>
        </p:txBody>
      </p:sp>
      <p:sp>
        <p:nvSpPr>
          <p:cNvPr id="56" name="Rectangle 55"/>
          <p:cNvSpPr/>
          <p:nvPr/>
        </p:nvSpPr>
        <p:spPr>
          <a:xfrm>
            <a:off x="7052934" y="4568212"/>
            <a:ext cx="527859"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4</a:t>
            </a:r>
          </a:p>
        </p:txBody>
      </p:sp>
      <p:sp>
        <p:nvSpPr>
          <p:cNvPr id="57" name="Rectangle 56"/>
          <p:cNvSpPr/>
          <p:nvPr/>
        </p:nvSpPr>
        <p:spPr>
          <a:xfrm>
            <a:off x="7580646" y="4568212"/>
            <a:ext cx="137160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{2, 3}</a:t>
            </a:r>
          </a:p>
        </p:txBody>
      </p:sp>
      <p:sp>
        <p:nvSpPr>
          <p:cNvPr id="58" name="Rectangle 57"/>
          <p:cNvSpPr/>
          <p:nvPr/>
        </p:nvSpPr>
        <p:spPr>
          <a:xfrm>
            <a:off x="8944286" y="4568212"/>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0000"/>
                </a:solidFill>
              </a:rPr>
              <a:t>40</a:t>
            </a:r>
          </a:p>
        </p:txBody>
      </p:sp>
      <p:sp>
        <p:nvSpPr>
          <p:cNvPr id="59" name="Rectangle 58"/>
          <p:cNvSpPr/>
          <p:nvPr/>
        </p:nvSpPr>
        <p:spPr>
          <a:xfrm>
            <a:off x="9486231" y="4568211"/>
            <a:ext cx="548640" cy="493070"/>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30</a:t>
            </a:r>
          </a:p>
        </p:txBody>
      </p:sp>
      <p:sp>
        <p:nvSpPr>
          <p:cNvPr id="60" name="Rectangle 59"/>
          <p:cNvSpPr/>
          <p:nvPr/>
        </p:nvSpPr>
        <p:spPr>
          <a:xfrm>
            <a:off x="10032140" y="4568212"/>
            <a:ext cx="64008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20</a:t>
            </a:r>
          </a:p>
        </p:txBody>
      </p:sp>
      <p:sp>
        <p:nvSpPr>
          <p:cNvPr id="61" name="Rectangle 60"/>
          <p:cNvSpPr/>
          <p:nvPr/>
        </p:nvSpPr>
        <p:spPr>
          <a:xfrm>
            <a:off x="10669591" y="4568212"/>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10</a:t>
            </a:r>
          </a:p>
        </p:txBody>
      </p:sp>
      <p:sp>
        <p:nvSpPr>
          <p:cNvPr id="62" name="Rectangle 61"/>
          <p:cNvSpPr/>
          <p:nvPr/>
        </p:nvSpPr>
        <p:spPr>
          <a:xfrm>
            <a:off x="6235537" y="5053115"/>
            <a:ext cx="82296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tx1"/>
                </a:solidFill>
              </a:rPr>
              <a:t>3</a:t>
            </a:r>
          </a:p>
        </p:txBody>
      </p:sp>
      <p:sp>
        <p:nvSpPr>
          <p:cNvPr id="63" name="Rectangle 62"/>
          <p:cNvSpPr/>
          <p:nvPr/>
        </p:nvSpPr>
        <p:spPr>
          <a:xfrm>
            <a:off x="7052934" y="5053115"/>
            <a:ext cx="527859"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3</a:t>
            </a:r>
          </a:p>
        </p:txBody>
      </p:sp>
      <p:sp>
        <p:nvSpPr>
          <p:cNvPr id="64" name="Rectangle 63"/>
          <p:cNvSpPr/>
          <p:nvPr/>
        </p:nvSpPr>
        <p:spPr>
          <a:xfrm>
            <a:off x="7580646" y="5053115"/>
            <a:ext cx="137160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{2}</a:t>
            </a:r>
          </a:p>
        </p:txBody>
      </p:sp>
      <p:sp>
        <p:nvSpPr>
          <p:cNvPr id="65" name="Rectangle 64"/>
          <p:cNvSpPr/>
          <p:nvPr/>
        </p:nvSpPr>
        <p:spPr>
          <a:xfrm>
            <a:off x="8944286" y="5053114"/>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rPr>
              <a:t>35</a:t>
            </a:r>
          </a:p>
        </p:txBody>
      </p:sp>
      <p:sp>
        <p:nvSpPr>
          <p:cNvPr id="66" name="Rectangle 65"/>
          <p:cNvSpPr/>
          <p:nvPr/>
        </p:nvSpPr>
        <p:spPr>
          <a:xfrm>
            <a:off x="9486231" y="5053114"/>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30</a:t>
            </a:r>
          </a:p>
        </p:txBody>
      </p:sp>
      <p:sp>
        <p:nvSpPr>
          <p:cNvPr id="67" name="Rectangle 66"/>
          <p:cNvSpPr/>
          <p:nvPr/>
        </p:nvSpPr>
        <p:spPr>
          <a:xfrm>
            <a:off x="10032140" y="5053114"/>
            <a:ext cx="64008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20</a:t>
            </a:r>
          </a:p>
        </p:txBody>
      </p:sp>
      <p:sp>
        <p:nvSpPr>
          <p:cNvPr id="68" name="Rectangle 67"/>
          <p:cNvSpPr/>
          <p:nvPr/>
        </p:nvSpPr>
        <p:spPr>
          <a:xfrm>
            <a:off x="10669591" y="5053115"/>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10</a:t>
            </a:r>
          </a:p>
        </p:txBody>
      </p:sp>
      <p:sp>
        <p:nvSpPr>
          <p:cNvPr id="70" name="Rounded Rectangle 69"/>
          <p:cNvSpPr/>
          <p:nvPr/>
        </p:nvSpPr>
        <p:spPr>
          <a:xfrm>
            <a:off x="6249607" y="5066987"/>
            <a:ext cx="4968240" cy="478196"/>
          </a:xfrm>
          <a:prstGeom prst="roundRect">
            <a:avLst/>
          </a:prstGeom>
          <a:solidFill>
            <a:schemeClr val="accent2">
              <a:lumMod val="7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p:cNvSpPr txBox="1"/>
          <p:nvPr/>
        </p:nvSpPr>
        <p:spPr>
          <a:xfrm>
            <a:off x="8940302" y="2632613"/>
            <a:ext cx="2277928" cy="461665"/>
          </a:xfrm>
          <a:prstGeom prst="rect">
            <a:avLst/>
          </a:prstGeom>
          <a:solidFill>
            <a:schemeClr val="bg1">
              <a:lumMod val="85000"/>
            </a:schemeClr>
          </a:solidFill>
        </p:spPr>
        <p:txBody>
          <a:bodyPr wrap="square" rtlCol="0">
            <a:spAutoFit/>
          </a:bodyPr>
          <a:lstStyle/>
          <a:p>
            <a:r>
              <a:rPr lang="en-US" sz="2400" dirty="0">
                <a:solidFill>
                  <a:srgbClr val="AD1457"/>
                </a:solidFill>
              </a:rPr>
              <a:t>Source node = 1</a:t>
            </a:r>
          </a:p>
        </p:txBody>
      </p:sp>
      <p:sp>
        <p:nvSpPr>
          <p:cNvPr id="80" name="Rectangle 79"/>
          <p:cNvSpPr/>
          <p:nvPr/>
        </p:nvSpPr>
        <p:spPr>
          <a:xfrm>
            <a:off x="6237512" y="3105393"/>
            <a:ext cx="82296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C00000"/>
                </a:solidFill>
              </a:rPr>
              <a:t>Step</a:t>
            </a:r>
          </a:p>
        </p:txBody>
      </p:sp>
      <p:sp>
        <p:nvSpPr>
          <p:cNvPr id="81" name="Rectangle 80"/>
          <p:cNvSpPr/>
          <p:nvPr/>
        </p:nvSpPr>
        <p:spPr>
          <a:xfrm>
            <a:off x="7052934" y="3105393"/>
            <a:ext cx="527859"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00000"/>
                </a:solidFill>
              </a:rPr>
              <a:t>v</a:t>
            </a:r>
          </a:p>
        </p:txBody>
      </p:sp>
      <p:sp>
        <p:nvSpPr>
          <p:cNvPr id="82" name="Rectangle 81"/>
          <p:cNvSpPr/>
          <p:nvPr/>
        </p:nvSpPr>
        <p:spPr>
          <a:xfrm>
            <a:off x="7580646" y="3105393"/>
            <a:ext cx="137160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00000"/>
                </a:solidFill>
              </a:rPr>
              <a:t>C</a:t>
            </a:r>
          </a:p>
        </p:txBody>
      </p:sp>
      <p:sp>
        <p:nvSpPr>
          <p:cNvPr id="83" name="Rectangle 82"/>
          <p:cNvSpPr/>
          <p:nvPr/>
        </p:nvSpPr>
        <p:spPr>
          <a:xfrm>
            <a:off x="8944286" y="3105393"/>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00000"/>
                </a:solidFill>
              </a:rPr>
              <a:t>2</a:t>
            </a:r>
          </a:p>
        </p:txBody>
      </p:sp>
      <p:sp>
        <p:nvSpPr>
          <p:cNvPr id="84" name="Rectangle 83"/>
          <p:cNvSpPr/>
          <p:nvPr/>
        </p:nvSpPr>
        <p:spPr>
          <a:xfrm>
            <a:off x="9486231" y="3105393"/>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00000"/>
                </a:solidFill>
              </a:rPr>
              <a:t>3</a:t>
            </a:r>
          </a:p>
        </p:txBody>
      </p:sp>
      <p:sp>
        <p:nvSpPr>
          <p:cNvPr id="85" name="Rectangle 84"/>
          <p:cNvSpPr/>
          <p:nvPr/>
        </p:nvSpPr>
        <p:spPr>
          <a:xfrm>
            <a:off x="10032140" y="3105393"/>
            <a:ext cx="64008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00000"/>
                </a:solidFill>
              </a:rPr>
              <a:t>4</a:t>
            </a:r>
          </a:p>
        </p:txBody>
      </p:sp>
      <p:sp>
        <p:nvSpPr>
          <p:cNvPr id="86" name="Rectangle 85"/>
          <p:cNvSpPr/>
          <p:nvPr/>
        </p:nvSpPr>
        <p:spPr>
          <a:xfrm>
            <a:off x="10669590" y="3105393"/>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C00000"/>
                </a:solidFill>
              </a:rPr>
              <a:t>5</a:t>
            </a:r>
          </a:p>
        </p:txBody>
      </p:sp>
      <p:sp>
        <p:nvSpPr>
          <p:cNvPr id="87" name="Rectangle 86"/>
          <p:cNvSpPr/>
          <p:nvPr/>
        </p:nvSpPr>
        <p:spPr>
          <a:xfrm>
            <a:off x="6237512" y="3590107"/>
            <a:ext cx="82296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err="1">
                <a:solidFill>
                  <a:schemeClr val="tx1"/>
                </a:solidFill>
              </a:rPr>
              <a:t>Init.</a:t>
            </a:r>
            <a:endParaRPr lang="en-US" sz="2200" dirty="0">
              <a:solidFill>
                <a:schemeClr val="tx1"/>
              </a:solidFill>
            </a:endParaRPr>
          </a:p>
        </p:txBody>
      </p:sp>
      <p:sp>
        <p:nvSpPr>
          <p:cNvPr id="88" name="Rectangle 87"/>
          <p:cNvSpPr/>
          <p:nvPr/>
        </p:nvSpPr>
        <p:spPr>
          <a:xfrm>
            <a:off x="7052934" y="3590107"/>
            <a:ext cx="527859"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a:t>
            </a:r>
          </a:p>
        </p:txBody>
      </p:sp>
      <p:sp>
        <p:nvSpPr>
          <p:cNvPr id="89" name="Rectangle 88"/>
          <p:cNvSpPr/>
          <p:nvPr/>
        </p:nvSpPr>
        <p:spPr>
          <a:xfrm>
            <a:off x="7580646" y="3590107"/>
            <a:ext cx="137160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{2, 3, 4, 5}</a:t>
            </a:r>
          </a:p>
        </p:txBody>
      </p:sp>
      <p:sp>
        <p:nvSpPr>
          <p:cNvPr id="90" name="Rectangle 89"/>
          <p:cNvSpPr/>
          <p:nvPr/>
        </p:nvSpPr>
        <p:spPr>
          <a:xfrm>
            <a:off x="8944286" y="3590107"/>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50</a:t>
            </a:r>
          </a:p>
        </p:txBody>
      </p:sp>
      <p:sp>
        <p:nvSpPr>
          <p:cNvPr id="91" name="Rectangle 90"/>
          <p:cNvSpPr/>
          <p:nvPr/>
        </p:nvSpPr>
        <p:spPr>
          <a:xfrm>
            <a:off x="9486231" y="3590107"/>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30</a:t>
            </a:r>
          </a:p>
        </p:txBody>
      </p:sp>
      <p:sp>
        <p:nvSpPr>
          <p:cNvPr id="92" name="Rectangle 91"/>
          <p:cNvSpPr/>
          <p:nvPr/>
        </p:nvSpPr>
        <p:spPr>
          <a:xfrm>
            <a:off x="10032140" y="3590107"/>
            <a:ext cx="64008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b="1" dirty="0">
                <a:solidFill>
                  <a:schemeClr val="tx1"/>
                </a:solidFill>
              </a:rPr>
              <a:t>100</a:t>
            </a:r>
          </a:p>
        </p:txBody>
      </p:sp>
      <p:sp>
        <p:nvSpPr>
          <p:cNvPr id="93" name="Rectangle 92"/>
          <p:cNvSpPr/>
          <p:nvPr/>
        </p:nvSpPr>
        <p:spPr>
          <a:xfrm>
            <a:off x="10669590" y="3590107"/>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10</a:t>
            </a:r>
          </a:p>
        </p:txBody>
      </p:sp>
      <p:sp>
        <p:nvSpPr>
          <p:cNvPr id="94" name="Rectangle 93"/>
          <p:cNvSpPr/>
          <p:nvPr/>
        </p:nvSpPr>
        <p:spPr>
          <a:xfrm>
            <a:off x="6237512" y="4074604"/>
            <a:ext cx="82296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tx1"/>
                </a:solidFill>
              </a:rPr>
              <a:t>1</a:t>
            </a:r>
          </a:p>
        </p:txBody>
      </p:sp>
      <p:sp>
        <p:nvSpPr>
          <p:cNvPr id="95" name="Rectangle 94"/>
          <p:cNvSpPr/>
          <p:nvPr/>
        </p:nvSpPr>
        <p:spPr>
          <a:xfrm>
            <a:off x="7052934" y="4074604"/>
            <a:ext cx="527859"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5</a:t>
            </a:r>
          </a:p>
        </p:txBody>
      </p:sp>
      <p:sp>
        <p:nvSpPr>
          <p:cNvPr id="96" name="Rectangle 95"/>
          <p:cNvSpPr/>
          <p:nvPr/>
        </p:nvSpPr>
        <p:spPr>
          <a:xfrm>
            <a:off x="7580646" y="4074604"/>
            <a:ext cx="137160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{2, 3, 4}</a:t>
            </a:r>
          </a:p>
        </p:txBody>
      </p:sp>
      <p:sp>
        <p:nvSpPr>
          <p:cNvPr id="97" name="Rectangle 96"/>
          <p:cNvSpPr/>
          <p:nvPr/>
        </p:nvSpPr>
        <p:spPr>
          <a:xfrm>
            <a:off x="8944286" y="4074604"/>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50</a:t>
            </a:r>
          </a:p>
        </p:txBody>
      </p:sp>
      <p:sp>
        <p:nvSpPr>
          <p:cNvPr id="98" name="Rectangle 97"/>
          <p:cNvSpPr/>
          <p:nvPr/>
        </p:nvSpPr>
        <p:spPr>
          <a:xfrm>
            <a:off x="9486231" y="4074604"/>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30</a:t>
            </a:r>
          </a:p>
        </p:txBody>
      </p:sp>
      <p:sp>
        <p:nvSpPr>
          <p:cNvPr id="99" name="Rectangle 98"/>
          <p:cNvSpPr/>
          <p:nvPr/>
        </p:nvSpPr>
        <p:spPr>
          <a:xfrm>
            <a:off x="10032140" y="4074604"/>
            <a:ext cx="64008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F0000"/>
                </a:solidFill>
              </a:rPr>
              <a:t>20</a:t>
            </a:r>
          </a:p>
        </p:txBody>
      </p:sp>
      <p:sp>
        <p:nvSpPr>
          <p:cNvPr id="100" name="Rectangle 99"/>
          <p:cNvSpPr/>
          <p:nvPr/>
        </p:nvSpPr>
        <p:spPr>
          <a:xfrm>
            <a:off x="10669591" y="4074604"/>
            <a:ext cx="548640" cy="493068"/>
          </a:xfrm>
          <a:prstGeom prst="rect">
            <a:avLst/>
          </a:prstGeom>
          <a:solidFill>
            <a:schemeClr val="bg1">
              <a:lumMod val="9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rPr>
              <a:t>10</a:t>
            </a:r>
          </a:p>
        </p:txBody>
      </p:sp>
      <p:sp>
        <p:nvSpPr>
          <p:cNvPr id="101" name="Rounded Rectangle 100"/>
          <p:cNvSpPr/>
          <p:nvPr/>
        </p:nvSpPr>
        <p:spPr>
          <a:xfrm>
            <a:off x="10763455" y="3666973"/>
            <a:ext cx="360910" cy="339337"/>
          </a:xfrm>
          <a:prstGeom prst="round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ounded Rectangle 101"/>
          <p:cNvSpPr/>
          <p:nvPr/>
        </p:nvSpPr>
        <p:spPr>
          <a:xfrm>
            <a:off x="10123580" y="4138258"/>
            <a:ext cx="457200" cy="365760"/>
          </a:xfrm>
          <a:prstGeom prst="round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ounded Rectangle 102"/>
          <p:cNvSpPr/>
          <p:nvPr/>
        </p:nvSpPr>
        <p:spPr>
          <a:xfrm>
            <a:off x="9038151" y="4645078"/>
            <a:ext cx="360910" cy="339337"/>
          </a:xfrm>
          <a:prstGeom prst="round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ounded Rectangle 103"/>
          <p:cNvSpPr/>
          <p:nvPr/>
        </p:nvSpPr>
        <p:spPr>
          <a:xfrm>
            <a:off x="9038151" y="5129980"/>
            <a:ext cx="360910" cy="339337"/>
          </a:xfrm>
          <a:prstGeom prst="round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Pentagon 77"/>
          <p:cNvSpPr/>
          <p:nvPr/>
        </p:nvSpPr>
        <p:spPr>
          <a:xfrm>
            <a:off x="3852615" y="5643154"/>
            <a:ext cx="914400" cy="822960"/>
          </a:xfrm>
          <a:prstGeom prst="homePlate">
            <a:avLst/>
          </a:prstGeom>
          <a:solidFill>
            <a:schemeClr val="accent6">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Yes</a:t>
            </a:r>
          </a:p>
        </p:txBody>
      </p:sp>
      <p:sp>
        <p:nvSpPr>
          <p:cNvPr id="105" name="Rounded Rectangle 104"/>
          <p:cNvSpPr/>
          <p:nvPr/>
        </p:nvSpPr>
        <p:spPr>
          <a:xfrm>
            <a:off x="3868047" y="5858693"/>
            <a:ext cx="694944" cy="394673"/>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No </a:t>
            </a:r>
          </a:p>
        </p:txBody>
      </p:sp>
      <p:sp>
        <p:nvSpPr>
          <p:cNvPr id="106" name="Rectangle 105"/>
          <p:cNvSpPr/>
          <p:nvPr/>
        </p:nvSpPr>
        <p:spPr>
          <a:xfrm>
            <a:off x="4810204" y="5643154"/>
            <a:ext cx="2194560" cy="822960"/>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AD1457"/>
                </a:solidFill>
              </a:rPr>
              <a:t>Compare cost of 1–3–2 and 1–2</a:t>
            </a:r>
          </a:p>
        </p:txBody>
      </p:sp>
      <p:sp>
        <p:nvSpPr>
          <p:cNvPr id="107" name="Rectangle 106"/>
          <p:cNvSpPr/>
          <p:nvPr/>
        </p:nvSpPr>
        <p:spPr>
          <a:xfrm>
            <a:off x="679269" y="5643154"/>
            <a:ext cx="3108960" cy="822960"/>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tx1"/>
                </a:solidFill>
              </a:rPr>
              <a:t>Is there path from 1 - 3 - 2</a:t>
            </a:r>
          </a:p>
        </p:txBody>
      </p:sp>
      <p:sp>
        <p:nvSpPr>
          <p:cNvPr id="108" name="TextBox 107"/>
          <p:cNvSpPr txBox="1"/>
          <p:nvPr/>
        </p:nvSpPr>
        <p:spPr>
          <a:xfrm>
            <a:off x="695407" y="5874829"/>
            <a:ext cx="3056708" cy="430887"/>
          </a:xfrm>
          <a:prstGeom prst="rect">
            <a:avLst/>
          </a:prstGeom>
          <a:solidFill>
            <a:schemeClr val="bg1"/>
          </a:solidFill>
        </p:spPr>
        <p:txBody>
          <a:bodyPr wrap="square" rtlCol="0">
            <a:spAutoFit/>
          </a:bodyPr>
          <a:lstStyle/>
          <a:p>
            <a:pPr algn="ctr"/>
            <a:r>
              <a:rPr lang="en-US" sz="2200" dirty="0">
                <a:solidFill>
                  <a:srgbClr val="0070C0"/>
                </a:solidFill>
              </a:rPr>
              <a:t>Is there path from 1 - 3 - 4</a:t>
            </a:r>
          </a:p>
        </p:txBody>
      </p:sp>
      <p:sp>
        <p:nvSpPr>
          <p:cNvPr id="109" name="TextBox 108"/>
          <p:cNvSpPr txBox="1"/>
          <p:nvPr/>
        </p:nvSpPr>
        <p:spPr>
          <a:xfrm>
            <a:off x="701935" y="5891348"/>
            <a:ext cx="3065929" cy="430887"/>
          </a:xfrm>
          <a:prstGeom prst="rect">
            <a:avLst/>
          </a:prstGeom>
          <a:solidFill>
            <a:schemeClr val="bg1"/>
          </a:solidFill>
        </p:spPr>
        <p:txBody>
          <a:bodyPr wrap="square" rtlCol="0">
            <a:spAutoFit/>
          </a:bodyPr>
          <a:lstStyle/>
          <a:p>
            <a:r>
              <a:rPr lang="en-US" sz="2200" dirty="0">
                <a:solidFill>
                  <a:srgbClr val="C00000"/>
                </a:solidFill>
              </a:rPr>
              <a:t>Is there path from 1 - 3 - 5</a:t>
            </a:r>
          </a:p>
        </p:txBody>
      </p:sp>
      <p:sp>
        <p:nvSpPr>
          <p:cNvPr id="111" name="Oval 110"/>
          <p:cNvSpPr/>
          <p:nvPr/>
        </p:nvSpPr>
        <p:spPr>
          <a:xfrm>
            <a:off x="9509767" y="4585064"/>
            <a:ext cx="457200" cy="457200"/>
          </a:xfrm>
          <a:prstGeom prst="ellipse">
            <a:avLst/>
          </a:prstGeom>
          <a:noFill/>
          <a:ln w="38100">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p:cNvSpPr/>
          <p:nvPr/>
        </p:nvSpPr>
        <p:spPr>
          <a:xfrm>
            <a:off x="4972599" y="3026234"/>
            <a:ext cx="457200" cy="457200"/>
          </a:xfrm>
          <a:prstGeom prst="ellipse">
            <a:avLst/>
          </a:prstGeom>
          <a:noFill/>
          <a:ln w="38100">
            <a:solidFill>
              <a:srgbClr val="AD14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439387" y="5545183"/>
            <a:ext cx="4326638" cy="10218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072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fade">
                                      <p:cBhvr>
                                        <p:cTn id="12" dur="500"/>
                                        <p:tgtEl>
                                          <p:spTgt spid="6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4"/>
                                        </p:tgtEl>
                                        <p:attrNameLst>
                                          <p:attrName>style.visibility</p:attrName>
                                        </p:attrNameLst>
                                      </p:cBhvr>
                                      <p:to>
                                        <p:strVal val="visible"/>
                                      </p:to>
                                    </p:set>
                                    <p:animEffect transition="in" filter="fade">
                                      <p:cBhvr>
                                        <p:cTn id="17" dur="500"/>
                                        <p:tgtEl>
                                          <p:spTgt spid="6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07"/>
                                        </p:tgtEl>
                                        <p:attrNameLst>
                                          <p:attrName>style.visibility</p:attrName>
                                        </p:attrNameLst>
                                      </p:cBhvr>
                                      <p:to>
                                        <p:strVal val="visible"/>
                                      </p:to>
                                    </p:set>
                                    <p:animEffect transition="in" filter="wipe(up)">
                                      <p:cBhvr>
                                        <p:cTn id="22" dur="1000"/>
                                        <p:tgtEl>
                                          <p:spTgt spid="10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8"/>
                                        </p:tgtEl>
                                        <p:attrNameLst>
                                          <p:attrName>style.visibility</p:attrName>
                                        </p:attrNameLst>
                                      </p:cBhvr>
                                      <p:to>
                                        <p:strVal val="visible"/>
                                      </p:to>
                                    </p:set>
                                    <p:animEffect transition="in" filter="fade">
                                      <p:cBhvr>
                                        <p:cTn id="27" dur="500"/>
                                        <p:tgtEl>
                                          <p:spTgt spid="7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6"/>
                                        </p:tgtEl>
                                        <p:attrNameLst>
                                          <p:attrName>style.visibility</p:attrName>
                                        </p:attrNameLst>
                                      </p:cBhvr>
                                      <p:to>
                                        <p:strVal val="visible"/>
                                      </p:to>
                                    </p:set>
                                    <p:animEffect transition="in" filter="wipe(left)">
                                      <p:cBhvr>
                                        <p:cTn id="32" dur="1500"/>
                                        <p:tgtEl>
                                          <p:spTgt spid="106"/>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grpId="0" nodeType="clickEffect">
                                  <p:stCondLst>
                                    <p:cond delay="0"/>
                                  </p:stCondLst>
                                  <p:childTnLst>
                                    <p:set>
                                      <p:cBhvr>
                                        <p:cTn id="36" dur="1" fill="hold">
                                          <p:stCondLst>
                                            <p:cond delay="0"/>
                                          </p:stCondLst>
                                        </p:cTn>
                                        <p:tgtEl>
                                          <p:spTgt spid="112"/>
                                        </p:tgtEl>
                                        <p:attrNameLst>
                                          <p:attrName>style.visibility</p:attrName>
                                        </p:attrNameLst>
                                      </p:cBhvr>
                                      <p:to>
                                        <p:strVal val="visible"/>
                                      </p:to>
                                    </p:set>
                                    <p:animEffect transition="in" filter="wheel(1)">
                                      <p:cBhvr>
                                        <p:cTn id="37" dur="1500"/>
                                        <p:tgtEl>
                                          <p:spTgt spid="112"/>
                                        </p:tgtEl>
                                      </p:cBhvr>
                                    </p:animEffect>
                                  </p:childTnLst>
                                </p:cTn>
                              </p:par>
                              <p:par>
                                <p:cTn id="38" presetID="21" presetClass="entr" presetSubtype="1" fill="hold" grpId="0" nodeType="withEffect">
                                  <p:stCondLst>
                                    <p:cond delay="0"/>
                                  </p:stCondLst>
                                  <p:childTnLst>
                                    <p:set>
                                      <p:cBhvr>
                                        <p:cTn id="39" dur="1" fill="hold">
                                          <p:stCondLst>
                                            <p:cond delay="0"/>
                                          </p:stCondLst>
                                        </p:cTn>
                                        <p:tgtEl>
                                          <p:spTgt spid="111"/>
                                        </p:tgtEl>
                                        <p:attrNameLst>
                                          <p:attrName>style.visibility</p:attrName>
                                        </p:attrNameLst>
                                      </p:cBhvr>
                                      <p:to>
                                        <p:strVal val="visible"/>
                                      </p:to>
                                    </p:set>
                                    <p:animEffect transition="in" filter="wheel(1)">
                                      <p:cBhvr>
                                        <p:cTn id="40" dur="1500"/>
                                        <p:tgtEl>
                                          <p:spTgt spid="11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65"/>
                                        </p:tgtEl>
                                        <p:attrNameLst>
                                          <p:attrName>style.visibility</p:attrName>
                                        </p:attrNameLst>
                                      </p:cBhvr>
                                      <p:to>
                                        <p:strVal val="visible"/>
                                      </p:to>
                                    </p:set>
                                    <p:animEffect transition="in" filter="fade">
                                      <p:cBhvr>
                                        <p:cTn id="45" dur="500"/>
                                        <p:tgtEl>
                                          <p:spTgt spid="65"/>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66"/>
                                        </p:tgtEl>
                                        <p:attrNameLst>
                                          <p:attrName>style.visibility</p:attrName>
                                        </p:attrNameLst>
                                      </p:cBhvr>
                                      <p:to>
                                        <p:strVal val="visible"/>
                                      </p:to>
                                    </p:set>
                                    <p:animEffect transition="in" filter="fade">
                                      <p:cBhvr>
                                        <p:cTn id="50" dur="500"/>
                                        <p:tgtEl>
                                          <p:spTgt spid="6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108"/>
                                        </p:tgtEl>
                                        <p:attrNameLst>
                                          <p:attrName>style.visibility</p:attrName>
                                        </p:attrNameLst>
                                      </p:cBhvr>
                                      <p:to>
                                        <p:strVal val="visible"/>
                                      </p:to>
                                    </p:set>
                                    <p:animEffect transition="in" filter="wipe(up)">
                                      <p:cBhvr>
                                        <p:cTn id="55" dur="1000"/>
                                        <p:tgtEl>
                                          <p:spTgt spid="10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05"/>
                                        </p:tgtEl>
                                        <p:attrNameLst>
                                          <p:attrName>style.visibility</p:attrName>
                                        </p:attrNameLst>
                                      </p:cBhvr>
                                      <p:to>
                                        <p:strVal val="visible"/>
                                      </p:to>
                                    </p:set>
                                    <p:animEffect transition="in" filter="fade">
                                      <p:cBhvr>
                                        <p:cTn id="60" dur="500"/>
                                        <p:tgtEl>
                                          <p:spTgt spid="105"/>
                                        </p:tgtEl>
                                      </p:cBhvr>
                                    </p:animEffect>
                                  </p:childTnLst>
                                </p:cTn>
                              </p:par>
                              <p:par>
                                <p:cTn id="61" presetID="1" presetClass="exit" presetSubtype="0" fill="hold" grpId="2" nodeType="withEffect">
                                  <p:stCondLst>
                                    <p:cond delay="0"/>
                                  </p:stCondLst>
                                  <p:childTnLst>
                                    <p:set>
                                      <p:cBhvr>
                                        <p:cTn id="62" dur="1" fill="hold">
                                          <p:stCondLst>
                                            <p:cond delay="0"/>
                                          </p:stCondLst>
                                        </p:cTn>
                                        <p:tgtEl>
                                          <p:spTgt spid="106"/>
                                        </p:tgtEl>
                                        <p:attrNameLst>
                                          <p:attrName>style.visibility</p:attrName>
                                        </p:attrNameLst>
                                      </p:cBhvr>
                                      <p:to>
                                        <p:strVal val="hidden"/>
                                      </p:to>
                                    </p:set>
                                  </p:childTnLst>
                                </p:cTn>
                              </p:par>
                              <p:par>
                                <p:cTn id="63" presetID="21" presetClass="exit" presetSubtype="1" fill="hold" grpId="1" nodeType="withEffect">
                                  <p:stCondLst>
                                    <p:cond delay="0"/>
                                  </p:stCondLst>
                                  <p:childTnLst>
                                    <p:animEffect transition="out" filter="wheel(1)">
                                      <p:cBhvr>
                                        <p:cTn id="64" dur="1000"/>
                                        <p:tgtEl>
                                          <p:spTgt spid="112"/>
                                        </p:tgtEl>
                                      </p:cBhvr>
                                    </p:animEffect>
                                    <p:set>
                                      <p:cBhvr>
                                        <p:cTn id="65" dur="1" fill="hold">
                                          <p:stCondLst>
                                            <p:cond delay="999"/>
                                          </p:stCondLst>
                                        </p:cTn>
                                        <p:tgtEl>
                                          <p:spTgt spid="112"/>
                                        </p:tgtEl>
                                        <p:attrNameLst>
                                          <p:attrName>style.visibility</p:attrName>
                                        </p:attrNameLst>
                                      </p:cBhvr>
                                      <p:to>
                                        <p:strVal val="hidden"/>
                                      </p:to>
                                    </p:set>
                                  </p:childTnLst>
                                </p:cTn>
                              </p:par>
                              <p:par>
                                <p:cTn id="66" presetID="21" presetClass="exit" presetSubtype="1" fill="hold" grpId="1" nodeType="withEffect">
                                  <p:stCondLst>
                                    <p:cond delay="0"/>
                                  </p:stCondLst>
                                  <p:childTnLst>
                                    <p:animEffect transition="out" filter="wheel(1)">
                                      <p:cBhvr>
                                        <p:cTn id="67" dur="1000"/>
                                        <p:tgtEl>
                                          <p:spTgt spid="111"/>
                                        </p:tgtEl>
                                      </p:cBhvr>
                                    </p:animEffect>
                                    <p:set>
                                      <p:cBhvr>
                                        <p:cTn id="68" dur="1" fill="hold">
                                          <p:stCondLst>
                                            <p:cond delay="999"/>
                                          </p:stCondLst>
                                        </p:cTn>
                                        <p:tgtEl>
                                          <p:spTgt spid="111"/>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67"/>
                                        </p:tgtEl>
                                        <p:attrNameLst>
                                          <p:attrName>style.visibility</p:attrName>
                                        </p:attrNameLst>
                                      </p:cBhvr>
                                      <p:to>
                                        <p:strVal val="visible"/>
                                      </p:to>
                                    </p:set>
                                    <p:animEffect transition="in" filter="fade">
                                      <p:cBhvr>
                                        <p:cTn id="73" dur="500"/>
                                        <p:tgtEl>
                                          <p:spTgt spid="67"/>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grpId="0" nodeType="clickEffect">
                                  <p:stCondLst>
                                    <p:cond delay="0"/>
                                  </p:stCondLst>
                                  <p:childTnLst>
                                    <p:set>
                                      <p:cBhvr>
                                        <p:cTn id="77" dur="1" fill="hold">
                                          <p:stCondLst>
                                            <p:cond delay="0"/>
                                          </p:stCondLst>
                                        </p:cTn>
                                        <p:tgtEl>
                                          <p:spTgt spid="109"/>
                                        </p:tgtEl>
                                        <p:attrNameLst>
                                          <p:attrName>style.visibility</p:attrName>
                                        </p:attrNameLst>
                                      </p:cBhvr>
                                      <p:to>
                                        <p:strVal val="visible"/>
                                      </p:to>
                                    </p:set>
                                    <p:animEffect transition="in" filter="wipe(up)">
                                      <p:cBhvr>
                                        <p:cTn id="78" dur="1500"/>
                                        <p:tgtEl>
                                          <p:spTgt spid="109"/>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68"/>
                                        </p:tgtEl>
                                        <p:attrNameLst>
                                          <p:attrName>style.visibility</p:attrName>
                                        </p:attrNameLst>
                                      </p:cBhvr>
                                      <p:to>
                                        <p:strVal val="visible"/>
                                      </p:to>
                                    </p:set>
                                    <p:animEffect transition="in" filter="fade">
                                      <p:cBhvr>
                                        <p:cTn id="83" dur="500"/>
                                        <p:tgtEl>
                                          <p:spTgt spid="68"/>
                                        </p:tgtEl>
                                      </p:cBhvr>
                                    </p:animEffect>
                                  </p:childTnLst>
                                </p:cTn>
                              </p:par>
                            </p:childTnLst>
                          </p:cTn>
                        </p:par>
                      </p:childTnLst>
                    </p:cTn>
                  </p:par>
                  <p:par>
                    <p:cTn id="84" fill="hold">
                      <p:stCondLst>
                        <p:cond delay="indefinite"/>
                      </p:stCondLst>
                      <p:childTnLst>
                        <p:par>
                          <p:cTn id="85" fill="hold">
                            <p:stCondLst>
                              <p:cond delay="0"/>
                            </p:stCondLst>
                            <p:childTnLst>
                              <p:par>
                                <p:cTn id="86" presetID="21" presetClass="entr" presetSubtype="1" fill="hold" grpId="0" nodeType="clickEffect">
                                  <p:stCondLst>
                                    <p:cond delay="0"/>
                                  </p:stCondLst>
                                  <p:childTnLst>
                                    <p:set>
                                      <p:cBhvr>
                                        <p:cTn id="87" dur="1" fill="hold">
                                          <p:stCondLst>
                                            <p:cond delay="0"/>
                                          </p:stCondLst>
                                        </p:cTn>
                                        <p:tgtEl>
                                          <p:spTgt spid="104"/>
                                        </p:tgtEl>
                                        <p:attrNameLst>
                                          <p:attrName>style.visibility</p:attrName>
                                        </p:attrNameLst>
                                      </p:cBhvr>
                                      <p:to>
                                        <p:strVal val="visible"/>
                                      </p:to>
                                    </p:set>
                                    <p:animEffect transition="in" filter="wheel(1)">
                                      <p:cBhvr>
                                        <p:cTn id="88" dur="2000"/>
                                        <p:tgtEl>
                                          <p:spTgt spid="104"/>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70"/>
                                        </p:tgtEl>
                                        <p:attrNameLst>
                                          <p:attrName>style.visibility</p:attrName>
                                        </p:attrNameLst>
                                      </p:cBhvr>
                                      <p:to>
                                        <p:strVal val="visible"/>
                                      </p:to>
                                    </p:set>
                                    <p:animEffect transition="in" filter="wipe(left)">
                                      <p:cBhvr>
                                        <p:cTn id="93" dur="1000"/>
                                        <p:tgtEl>
                                          <p:spTgt spid="70"/>
                                        </p:tgtEl>
                                      </p:cBhvr>
                                    </p:animEffect>
                                  </p:childTnLst>
                                </p:cTn>
                              </p:par>
                              <p:par>
                                <p:cTn id="94" presetID="1" presetClass="entr" presetSubtype="0" fill="hold" grpId="0" nodeType="withEffect">
                                  <p:stCondLst>
                                    <p:cond delay="0"/>
                                  </p:stCondLst>
                                  <p:childTnLst>
                                    <p:set>
                                      <p:cBhvr>
                                        <p:cTn id="9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3" grpId="0" animBg="1"/>
      <p:bldP spid="64" grpId="0" animBg="1"/>
      <p:bldP spid="65" grpId="0" animBg="1"/>
      <p:bldP spid="66" grpId="0" animBg="1"/>
      <p:bldP spid="67" grpId="0" animBg="1"/>
      <p:bldP spid="68" grpId="0" animBg="1"/>
      <p:bldP spid="70" grpId="0" animBg="1"/>
      <p:bldP spid="104" grpId="0" animBg="1"/>
      <p:bldP spid="78" grpId="0" animBg="1"/>
      <p:bldP spid="105" grpId="0" animBg="1"/>
      <p:bldP spid="106" grpId="0" animBg="1"/>
      <p:bldP spid="106" grpId="2" animBg="1"/>
      <p:bldP spid="107" grpId="0" animBg="1"/>
      <p:bldP spid="108" grpId="0" animBg="1"/>
      <p:bldP spid="109" grpId="0" animBg="1"/>
      <p:bldP spid="111" grpId="0" animBg="1"/>
      <p:bldP spid="111" grpId="1" animBg="1"/>
      <p:bldP spid="112" grpId="0" animBg="1"/>
      <p:bldP spid="112" grpId="1" animBg="1"/>
      <p:bldP spid="3"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Exercises – Home Work</a:t>
            </a:r>
          </a:p>
        </p:txBody>
      </p:sp>
      <p:sp>
        <p:nvSpPr>
          <p:cNvPr id="3" name="Content Placeholder 2"/>
          <p:cNvSpPr>
            <a:spLocks noGrp="1"/>
          </p:cNvSpPr>
          <p:nvPr>
            <p:ph idx="1"/>
          </p:nvPr>
        </p:nvSpPr>
        <p:spPr/>
        <p:txBody>
          <a:bodyPr/>
          <a:lstStyle/>
          <a:p>
            <a:r>
              <a:rPr lang="en-US" dirty="0"/>
              <a:t>Write </a:t>
            </a:r>
            <a:r>
              <a:rPr lang="en-US" dirty="0" err="1"/>
              <a:t>Dijkstra’s</a:t>
            </a:r>
            <a:r>
              <a:rPr lang="en-US" dirty="0"/>
              <a:t> Algorithm for shortest path. Use the algorithm to find the shortest path from the following graph. </a:t>
            </a:r>
          </a:p>
          <a:p>
            <a:endParaRPr lang="en-US" dirty="0"/>
          </a:p>
        </p:txBody>
      </p:sp>
      <p:cxnSp>
        <p:nvCxnSpPr>
          <p:cNvPr id="4" name="Straight Connector 3"/>
          <p:cNvCxnSpPr/>
          <p:nvPr/>
        </p:nvCxnSpPr>
        <p:spPr>
          <a:xfrm flipH="1">
            <a:off x="5638802" y="1946398"/>
            <a:ext cx="908" cy="376860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TextBox 4"/>
              <p:cNvSpPr txBox="1"/>
              <p:nvPr/>
            </p:nvSpPr>
            <p:spPr>
              <a:xfrm>
                <a:off x="1790701" y="1981199"/>
                <a:ext cx="4572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1.</m:t>
                      </m:r>
                    </m:oMath>
                  </m:oMathPara>
                </a14:m>
                <a:endParaRPr lang="en-US"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1790701" y="1981199"/>
                <a:ext cx="457200" cy="461665"/>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flipH="1">
                <a:off x="6191401" y="1981199"/>
                <a:ext cx="4572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2</m:t>
                      </m:r>
                      <m:r>
                        <a:rPr lang="en-US" sz="2400" i="1" dirty="0" smtClean="0">
                          <a:latin typeface="Cambria Math" panose="02040503050406030204" pitchFamily="18" charset="0"/>
                        </a:rPr>
                        <m:t>.</m:t>
                      </m:r>
                    </m:oMath>
                  </m:oMathPara>
                </a14:m>
                <a:endParaRPr lang="en-US" sz="2400" dirty="0"/>
              </a:p>
            </p:txBody>
          </p:sp>
        </mc:Choice>
        <mc:Fallback xmlns="">
          <p:sp>
            <p:nvSpPr>
              <p:cNvPr id="6" name="TextBox 5"/>
              <p:cNvSpPr txBox="1">
                <a:spLocks noRot="1" noChangeAspect="1" noMove="1" noResize="1" noEditPoints="1" noAdjustHandles="1" noChangeArrowheads="1" noChangeShapeType="1" noTextEdit="1"/>
              </p:cNvSpPr>
              <p:nvPr/>
            </p:nvSpPr>
            <p:spPr>
              <a:xfrm flipH="1">
                <a:off x="6191401" y="1981199"/>
                <a:ext cx="457200" cy="461665"/>
              </a:xfrm>
              <a:prstGeom prst="rect">
                <a:avLst/>
              </a:prstGeom>
              <a:blipFill rotWithShape="0">
                <a:blip r:embed="rId3"/>
                <a:stretch>
                  <a:fillRect/>
                </a:stretch>
              </a:blipFill>
            </p:spPr>
            <p:txBody>
              <a:bodyPr/>
              <a:lstStyle/>
              <a:p>
                <a:r>
                  <a:rPr lang="en-US">
                    <a:noFill/>
                  </a:rPr>
                  <a:t> </a:t>
                </a:r>
              </a:p>
            </p:txBody>
          </p:sp>
        </mc:Fallback>
      </mc:AlternateContent>
      <p:sp>
        <p:nvSpPr>
          <p:cNvPr id="7" name="Oval 6"/>
          <p:cNvSpPr/>
          <p:nvPr/>
        </p:nvSpPr>
        <p:spPr>
          <a:xfrm>
            <a:off x="1790701" y="3543301"/>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a:t>
            </a:r>
          </a:p>
        </p:txBody>
      </p:sp>
      <p:sp>
        <p:nvSpPr>
          <p:cNvPr id="8" name="Oval 7"/>
          <p:cNvSpPr/>
          <p:nvPr/>
        </p:nvSpPr>
        <p:spPr>
          <a:xfrm>
            <a:off x="2915097" y="2588569"/>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a:t>
            </a:r>
          </a:p>
        </p:txBody>
      </p:sp>
      <p:sp>
        <p:nvSpPr>
          <p:cNvPr id="9" name="Oval 8"/>
          <p:cNvSpPr/>
          <p:nvPr/>
        </p:nvSpPr>
        <p:spPr>
          <a:xfrm>
            <a:off x="2915097" y="4343400"/>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a:t>
            </a:r>
          </a:p>
        </p:txBody>
      </p:sp>
      <p:sp>
        <p:nvSpPr>
          <p:cNvPr id="10" name="Oval 9"/>
          <p:cNvSpPr/>
          <p:nvPr/>
        </p:nvSpPr>
        <p:spPr>
          <a:xfrm>
            <a:off x="4589401" y="2588569"/>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
            </a:r>
          </a:p>
        </p:txBody>
      </p:sp>
      <p:sp>
        <p:nvSpPr>
          <p:cNvPr id="11" name="Oval 10"/>
          <p:cNvSpPr/>
          <p:nvPr/>
        </p:nvSpPr>
        <p:spPr>
          <a:xfrm>
            <a:off x="4589401" y="4343400"/>
            <a:ext cx="5334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a:t>
            </a:r>
          </a:p>
        </p:txBody>
      </p:sp>
      <p:cxnSp>
        <p:nvCxnSpPr>
          <p:cNvPr id="12" name="Straight Arrow Connector 11"/>
          <p:cNvCxnSpPr>
            <a:stCxn id="7" idx="0"/>
            <a:endCxn id="8" idx="2"/>
          </p:cNvCxnSpPr>
          <p:nvPr/>
        </p:nvCxnSpPr>
        <p:spPr>
          <a:xfrm flipV="1">
            <a:off x="2057401" y="2855269"/>
            <a:ext cx="857696" cy="68803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7" idx="4"/>
            <a:endCxn id="9" idx="2"/>
          </p:cNvCxnSpPr>
          <p:nvPr/>
        </p:nvCxnSpPr>
        <p:spPr>
          <a:xfrm>
            <a:off x="2057401" y="4076701"/>
            <a:ext cx="857696" cy="533399"/>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8" idx="6"/>
            <a:endCxn id="10" idx="2"/>
          </p:cNvCxnSpPr>
          <p:nvPr/>
        </p:nvCxnSpPr>
        <p:spPr>
          <a:xfrm>
            <a:off x="3448497" y="2855269"/>
            <a:ext cx="1140904"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9" idx="6"/>
            <a:endCxn id="11" idx="2"/>
          </p:cNvCxnSpPr>
          <p:nvPr/>
        </p:nvCxnSpPr>
        <p:spPr>
          <a:xfrm>
            <a:off x="3448497" y="4610100"/>
            <a:ext cx="1140904"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9" idx="7"/>
            <a:endCxn id="10" idx="3"/>
          </p:cNvCxnSpPr>
          <p:nvPr/>
        </p:nvCxnSpPr>
        <p:spPr>
          <a:xfrm flipV="1">
            <a:off x="3370382" y="3043854"/>
            <a:ext cx="1297134" cy="137766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9" idx="1"/>
            <a:endCxn id="8" idx="3"/>
          </p:cNvCxnSpPr>
          <p:nvPr/>
        </p:nvCxnSpPr>
        <p:spPr>
          <a:xfrm flipV="1">
            <a:off x="2993212" y="3043854"/>
            <a:ext cx="0" cy="137766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8" idx="4"/>
            <a:endCxn id="9" idx="0"/>
          </p:cNvCxnSpPr>
          <p:nvPr/>
        </p:nvCxnSpPr>
        <p:spPr>
          <a:xfrm>
            <a:off x="3181797" y="3121969"/>
            <a:ext cx="0" cy="122143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1" idx="0"/>
            <a:endCxn id="10" idx="4"/>
          </p:cNvCxnSpPr>
          <p:nvPr/>
        </p:nvCxnSpPr>
        <p:spPr>
          <a:xfrm flipV="1">
            <a:off x="4856101" y="3121969"/>
            <a:ext cx="0" cy="122143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0" idx="5"/>
            <a:endCxn id="11" idx="7"/>
          </p:cNvCxnSpPr>
          <p:nvPr/>
        </p:nvCxnSpPr>
        <p:spPr>
          <a:xfrm>
            <a:off x="5044686" y="3043854"/>
            <a:ext cx="0" cy="1377661"/>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2057402" y="2971800"/>
            <a:ext cx="457200" cy="369332"/>
          </a:xfrm>
          <a:prstGeom prst="rect">
            <a:avLst/>
          </a:prstGeom>
          <a:noFill/>
        </p:spPr>
        <p:txBody>
          <a:bodyPr wrap="square" rtlCol="0">
            <a:spAutoFit/>
          </a:bodyPr>
          <a:lstStyle/>
          <a:p>
            <a:r>
              <a:rPr lang="en-US" b="1" i="1" dirty="0"/>
              <a:t>10</a:t>
            </a:r>
          </a:p>
        </p:txBody>
      </p:sp>
      <p:sp>
        <p:nvSpPr>
          <p:cNvPr id="22" name="TextBox 21"/>
          <p:cNvSpPr txBox="1"/>
          <p:nvPr/>
        </p:nvSpPr>
        <p:spPr>
          <a:xfrm>
            <a:off x="2143545" y="4274406"/>
            <a:ext cx="457200" cy="369332"/>
          </a:xfrm>
          <a:prstGeom prst="rect">
            <a:avLst/>
          </a:prstGeom>
          <a:noFill/>
        </p:spPr>
        <p:txBody>
          <a:bodyPr wrap="square" rtlCol="0">
            <a:spAutoFit/>
          </a:bodyPr>
          <a:lstStyle/>
          <a:p>
            <a:r>
              <a:rPr lang="en-US" b="1" i="1" dirty="0"/>
              <a:t>3</a:t>
            </a:r>
          </a:p>
        </p:txBody>
      </p:sp>
      <p:sp>
        <p:nvSpPr>
          <p:cNvPr id="23" name="TextBox 22"/>
          <p:cNvSpPr txBox="1"/>
          <p:nvPr/>
        </p:nvSpPr>
        <p:spPr>
          <a:xfrm>
            <a:off x="2712620" y="3505025"/>
            <a:ext cx="457200" cy="369332"/>
          </a:xfrm>
          <a:prstGeom prst="rect">
            <a:avLst/>
          </a:prstGeom>
          <a:noFill/>
        </p:spPr>
        <p:txBody>
          <a:bodyPr wrap="square" rtlCol="0">
            <a:spAutoFit/>
          </a:bodyPr>
          <a:lstStyle/>
          <a:p>
            <a:r>
              <a:rPr lang="en-US" b="1" i="1" dirty="0"/>
              <a:t>1</a:t>
            </a:r>
          </a:p>
        </p:txBody>
      </p:sp>
      <p:sp>
        <p:nvSpPr>
          <p:cNvPr id="24" name="TextBox 23"/>
          <p:cNvSpPr txBox="1"/>
          <p:nvPr/>
        </p:nvSpPr>
        <p:spPr>
          <a:xfrm>
            <a:off x="3212379" y="3505025"/>
            <a:ext cx="292823" cy="369332"/>
          </a:xfrm>
          <a:prstGeom prst="rect">
            <a:avLst/>
          </a:prstGeom>
          <a:noFill/>
        </p:spPr>
        <p:txBody>
          <a:bodyPr wrap="square" rtlCol="0">
            <a:spAutoFit/>
          </a:bodyPr>
          <a:lstStyle/>
          <a:p>
            <a:r>
              <a:rPr lang="en-US" b="1" i="1" dirty="0"/>
              <a:t>4</a:t>
            </a:r>
          </a:p>
        </p:txBody>
      </p:sp>
      <p:sp>
        <p:nvSpPr>
          <p:cNvPr id="25" name="TextBox 24"/>
          <p:cNvSpPr txBox="1"/>
          <p:nvPr/>
        </p:nvSpPr>
        <p:spPr>
          <a:xfrm>
            <a:off x="3737552" y="2505633"/>
            <a:ext cx="457200" cy="369332"/>
          </a:xfrm>
          <a:prstGeom prst="rect">
            <a:avLst/>
          </a:prstGeom>
          <a:noFill/>
        </p:spPr>
        <p:txBody>
          <a:bodyPr wrap="square" rtlCol="0">
            <a:spAutoFit/>
          </a:bodyPr>
          <a:lstStyle/>
          <a:p>
            <a:r>
              <a:rPr lang="en-US" b="1" i="1" dirty="0"/>
              <a:t>2</a:t>
            </a:r>
          </a:p>
        </p:txBody>
      </p:sp>
      <p:sp>
        <p:nvSpPr>
          <p:cNvPr id="26" name="TextBox 25"/>
          <p:cNvSpPr txBox="1"/>
          <p:nvPr/>
        </p:nvSpPr>
        <p:spPr>
          <a:xfrm>
            <a:off x="3695099" y="3516868"/>
            <a:ext cx="457200" cy="369332"/>
          </a:xfrm>
          <a:prstGeom prst="rect">
            <a:avLst/>
          </a:prstGeom>
          <a:noFill/>
        </p:spPr>
        <p:txBody>
          <a:bodyPr wrap="square" rtlCol="0">
            <a:spAutoFit/>
          </a:bodyPr>
          <a:lstStyle/>
          <a:p>
            <a:r>
              <a:rPr lang="en-US" b="1" i="1" dirty="0"/>
              <a:t>8</a:t>
            </a:r>
          </a:p>
        </p:txBody>
      </p:sp>
      <p:sp>
        <p:nvSpPr>
          <p:cNvPr id="27" name="TextBox 26"/>
          <p:cNvSpPr txBox="1"/>
          <p:nvPr/>
        </p:nvSpPr>
        <p:spPr>
          <a:xfrm>
            <a:off x="3738790" y="4271038"/>
            <a:ext cx="457200" cy="369332"/>
          </a:xfrm>
          <a:prstGeom prst="rect">
            <a:avLst/>
          </a:prstGeom>
          <a:noFill/>
        </p:spPr>
        <p:txBody>
          <a:bodyPr wrap="square" rtlCol="0">
            <a:spAutoFit/>
          </a:bodyPr>
          <a:lstStyle/>
          <a:p>
            <a:r>
              <a:rPr lang="en-US" b="1" i="1" dirty="0"/>
              <a:t>2</a:t>
            </a:r>
          </a:p>
        </p:txBody>
      </p:sp>
      <p:sp>
        <p:nvSpPr>
          <p:cNvPr id="28" name="TextBox 27"/>
          <p:cNvSpPr txBox="1"/>
          <p:nvPr/>
        </p:nvSpPr>
        <p:spPr>
          <a:xfrm>
            <a:off x="4572002" y="3548018"/>
            <a:ext cx="457200" cy="369332"/>
          </a:xfrm>
          <a:prstGeom prst="rect">
            <a:avLst/>
          </a:prstGeom>
          <a:noFill/>
        </p:spPr>
        <p:txBody>
          <a:bodyPr wrap="square" rtlCol="0">
            <a:spAutoFit/>
          </a:bodyPr>
          <a:lstStyle/>
          <a:p>
            <a:r>
              <a:rPr lang="en-US" b="1" i="1" dirty="0"/>
              <a:t>7</a:t>
            </a:r>
          </a:p>
        </p:txBody>
      </p:sp>
      <p:sp>
        <p:nvSpPr>
          <p:cNvPr id="29" name="TextBox 28"/>
          <p:cNvSpPr txBox="1"/>
          <p:nvPr/>
        </p:nvSpPr>
        <p:spPr>
          <a:xfrm>
            <a:off x="5029202" y="3518848"/>
            <a:ext cx="457200" cy="369332"/>
          </a:xfrm>
          <a:prstGeom prst="rect">
            <a:avLst/>
          </a:prstGeom>
          <a:noFill/>
        </p:spPr>
        <p:txBody>
          <a:bodyPr wrap="square" rtlCol="0">
            <a:spAutoFit/>
          </a:bodyPr>
          <a:lstStyle/>
          <a:p>
            <a:r>
              <a:rPr lang="en-US" b="1" dirty="0"/>
              <a:t>9</a:t>
            </a:r>
          </a:p>
        </p:txBody>
      </p:sp>
      <p:sp>
        <p:nvSpPr>
          <p:cNvPr id="30" name="Oval 29"/>
          <p:cNvSpPr>
            <a:spLocks noChangeArrowheads="1"/>
          </p:cNvSpPr>
          <p:nvPr/>
        </p:nvSpPr>
        <p:spPr bwMode="auto">
          <a:xfrm>
            <a:off x="6781802" y="2438400"/>
            <a:ext cx="457200" cy="457200"/>
          </a:xfrm>
          <a:prstGeom prst="ellipse">
            <a:avLst/>
          </a:prstGeom>
          <a:solidFill>
            <a:schemeClr val="bg1"/>
          </a:solidFill>
          <a:ln w="28575">
            <a:solidFill>
              <a:srgbClr val="C00000"/>
            </a:solidFill>
            <a:round/>
            <a:headEnd/>
            <a:tailEnd/>
          </a:ln>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dirty="0">
                <a:latin typeface="Times New Roman" panose="02020603050405020304" pitchFamily="18" charset="0"/>
              </a:rPr>
              <a:t>A</a:t>
            </a:r>
            <a:endParaRPr lang="en-US" altLang="en-US" sz="1800" b="1" baseline="-25000" dirty="0">
              <a:latin typeface="Times New Roman" panose="02020603050405020304" pitchFamily="18" charset="0"/>
            </a:endParaRPr>
          </a:p>
        </p:txBody>
      </p:sp>
      <p:sp>
        <p:nvSpPr>
          <p:cNvPr id="31" name="Oval 30"/>
          <p:cNvSpPr>
            <a:spLocks noChangeArrowheads="1"/>
          </p:cNvSpPr>
          <p:nvPr/>
        </p:nvSpPr>
        <p:spPr bwMode="auto">
          <a:xfrm>
            <a:off x="8839202" y="4724400"/>
            <a:ext cx="457200" cy="457200"/>
          </a:xfrm>
          <a:prstGeom prst="ellipse">
            <a:avLst/>
          </a:pr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a:latin typeface="Times New Roman" panose="02020603050405020304" pitchFamily="18" charset="0"/>
              </a:rPr>
              <a:t>G</a:t>
            </a:r>
            <a:endParaRPr lang="en-US" altLang="en-US" sz="1800" b="1" baseline="-25000">
              <a:latin typeface="Times New Roman" panose="02020603050405020304" pitchFamily="18" charset="0"/>
            </a:endParaRPr>
          </a:p>
        </p:txBody>
      </p:sp>
      <p:sp>
        <p:nvSpPr>
          <p:cNvPr id="32" name="Oval 31"/>
          <p:cNvSpPr>
            <a:spLocks noChangeArrowheads="1"/>
          </p:cNvSpPr>
          <p:nvPr/>
        </p:nvSpPr>
        <p:spPr bwMode="auto">
          <a:xfrm>
            <a:off x="6781802" y="4724400"/>
            <a:ext cx="457200" cy="457200"/>
          </a:xfrm>
          <a:prstGeom prst="ellipse">
            <a:avLst/>
          </a:pr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a:latin typeface="Times New Roman" panose="02020603050405020304" pitchFamily="18" charset="0"/>
              </a:rPr>
              <a:t>F</a:t>
            </a:r>
            <a:endParaRPr lang="en-US" altLang="en-US" sz="1800" b="1" baseline="-25000">
              <a:latin typeface="Times New Roman" panose="02020603050405020304" pitchFamily="18" charset="0"/>
            </a:endParaRPr>
          </a:p>
        </p:txBody>
      </p:sp>
      <p:cxnSp>
        <p:nvCxnSpPr>
          <p:cNvPr id="33" name="AutoShape 6"/>
          <p:cNvCxnSpPr>
            <a:cxnSpLocks noChangeShapeType="1"/>
            <a:stCxn id="31" idx="2"/>
            <a:endCxn id="32" idx="6"/>
          </p:cNvCxnSpPr>
          <p:nvPr/>
        </p:nvCxnSpPr>
        <p:spPr bwMode="auto">
          <a:xfrm flipH="1">
            <a:off x="7239002" y="4953000"/>
            <a:ext cx="1600200" cy="0"/>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4" name="AutoShape 7"/>
          <p:cNvCxnSpPr>
            <a:cxnSpLocks noChangeShapeType="1"/>
            <a:stCxn id="46" idx="2"/>
            <a:endCxn id="43" idx="6"/>
          </p:cNvCxnSpPr>
          <p:nvPr/>
        </p:nvCxnSpPr>
        <p:spPr bwMode="auto">
          <a:xfrm flipH="1">
            <a:off x="6248402" y="3810000"/>
            <a:ext cx="1600200" cy="0"/>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5" name="AutoShape 8"/>
          <p:cNvCxnSpPr>
            <a:cxnSpLocks noChangeShapeType="1"/>
            <a:stCxn id="30" idx="6"/>
            <a:endCxn id="36" idx="2"/>
          </p:cNvCxnSpPr>
          <p:nvPr/>
        </p:nvCxnSpPr>
        <p:spPr bwMode="auto">
          <a:xfrm>
            <a:off x="7239002" y="2667000"/>
            <a:ext cx="1600200" cy="0"/>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6" name="Oval 35"/>
          <p:cNvSpPr>
            <a:spLocks noChangeArrowheads="1"/>
          </p:cNvSpPr>
          <p:nvPr/>
        </p:nvSpPr>
        <p:spPr bwMode="auto">
          <a:xfrm>
            <a:off x="8839202" y="2438400"/>
            <a:ext cx="457200" cy="457200"/>
          </a:xfrm>
          <a:prstGeom prst="ellipse">
            <a:avLst/>
          </a:pr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a:latin typeface="Times New Roman" panose="02020603050405020304" pitchFamily="18" charset="0"/>
              </a:rPr>
              <a:t>B</a:t>
            </a:r>
            <a:endParaRPr lang="en-US" altLang="en-US" sz="1800" b="1" baseline="-25000">
              <a:latin typeface="Times New Roman" panose="02020603050405020304" pitchFamily="18" charset="0"/>
            </a:endParaRPr>
          </a:p>
        </p:txBody>
      </p:sp>
      <p:sp>
        <p:nvSpPr>
          <p:cNvPr id="37" name="Oval 36"/>
          <p:cNvSpPr>
            <a:spLocks noChangeArrowheads="1"/>
          </p:cNvSpPr>
          <p:nvPr/>
        </p:nvSpPr>
        <p:spPr bwMode="auto">
          <a:xfrm>
            <a:off x="9753602" y="3581400"/>
            <a:ext cx="457200" cy="457200"/>
          </a:xfrm>
          <a:prstGeom prst="ellipse">
            <a:avLst/>
          </a:pr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a:latin typeface="Times New Roman" panose="02020603050405020304" pitchFamily="18" charset="0"/>
              </a:rPr>
              <a:t>E</a:t>
            </a:r>
            <a:endParaRPr lang="en-US" altLang="en-US" sz="1800" b="1" baseline="-25000">
              <a:latin typeface="Times New Roman" panose="02020603050405020304" pitchFamily="18" charset="0"/>
            </a:endParaRPr>
          </a:p>
        </p:txBody>
      </p:sp>
      <p:cxnSp>
        <p:nvCxnSpPr>
          <p:cNvPr id="38" name="AutoShape 11"/>
          <p:cNvCxnSpPr>
            <a:cxnSpLocks noChangeShapeType="1"/>
            <a:stCxn id="37" idx="2"/>
            <a:endCxn id="46" idx="6"/>
          </p:cNvCxnSpPr>
          <p:nvPr/>
        </p:nvCxnSpPr>
        <p:spPr bwMode="auto">
          <a:xfrm flipH="1">
            <a:off x="8305802" y="3810000"/>
            <a:ext cx="1447800" cy="0"/>
          </a:xfrm>
          <a:prstGeom prst="straightConnector1">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39" name="AutoShape 12"/>
          <p:cNvCxnSpPr>
            <a:cxnSpLocks noChangeShapeType="1"/>
            <a:stCxn id="37" idx="1"/>
            <a:endCxn id="36" idx="5"/>
          </p:cNvCxnSpPr>
          <p:nvPr/>
        </p:nvCxnSpPr>
        <p:spPr bwMode="auto">
          <a:xfrm flipH="1" flipV="1">
            <a:off x="9229727" y="2828925"/>
            <a:ext cx="590550" cy="819150"/>
          </a:xfrm>
          <a:prstGeom prst="straightConnector1">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40" name="AutoShape 13"/>
          <p:cNvCxnSpPr>
            <a:cxnSpLocks noChangeShapeType="1"/>
            <a:stCxn id="31" idx="7"/>
            <a:endCxn id="37" idx="3"/>
          </p:cNvCxnSpPr>
          <p:nvPr/>
        </p:nvCxnSpPr>
        <p:spPr bwMode="auto">
          <a:xfrm flipV="1">
            <a:off x="9229727" y="3971925"/>
            <a:ext cx="590550" cy="819150"/>
          </a:xfrm>
          <a:prstGeom prst="straightConnector1">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41" name="AutoShape 14"/>
          <p:cNvCxnSpPr>
            <a:cxnSpLocks noChangeShapeType="1"/>
            <a:stCxn id="30" idx="5"/>
            <a:endCxn id="46" idx="1"/>
          </p:cNvCxnSpPr>
          <p:nvPr/>
        </p:nvCxnSpPr>
        <p:spPr bwMode="auto">
          <a:xfrm>
            <a:off x="7172327" y="2828925"/>
            <a:ext cx="742950" cy="819150"/>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 name="AutoShape 15"/>
          <p:cNvCxnSpPr>
            <a:cxnSpLocks noChangeShapeType="1"/>
            <a:stCxn id="36" idx="3"/>
            <a:endCxn id="46" idx="7"/>
          </p:cNvCxnSpPr>
          <p:nvPr/>
        </p:nvCxnSpPr>
        <p:spPr bwMode="auto">
          <a:xfrm flipH="1">
            <a:off x="8239127" y="2828925"/>
            <a:ext cx="666750" cy="819150"/>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3" name="Oval 42"/>
          <p:cNvSpPr>
            <a:spLocks noChangeArrowheads="1"/>
          </p:cNvSpPr>
          <p:nvPr/>
        </p:nvSpPr>
        <p:spPr bwMode="auto">
          <a:xfrm>
            <a:off x="5791202" y="3581400"/>
            <a:ext cx="457200" cy="457200"/>
          </a:xfrm>
          <a:prstGeom prst="ellipse">
            <a:avLst/>
          </a:pr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a:latin typeface="Times New Roman" panose="02020603050405020304" pitchFamily="18" charset="0"/>
              </a:rPr>
              <a:t>C</a:t>
            </a:r>
            <a:endParaRPr lang="en-US" altLang="en-US" sz="1800" b="1" baseline="-25000">
              <a:latin typeface="Times New Roman" panose="02020603050405020304" pitchFamily="18" charset="0"/>
            </a:endParaRPr>
          </a:p>
        </p:txBody>
      </p:sp>
      <p:cxnSp>
        <p:nvCxnSpPr>
          <p:cNvPr id="44" name="AutoShape 17"/>
          <p:cNvCxnSpPr>
            <a:cxnSpLocks noChangeShapeType="1"/>
            <a:stCxn id="43" idx="7"/>
            <a:endCxn id="30" idx="3"/>
          </p:cNvCxnSpPr>
          <p:nvPr/>
        </p:nvCxnSpPr>
        <p:spPr bwMode="auto">
          <a:xfrm flipV="1">
            <a:off x="6181727" y="2828925"/>
            <a:ext cx="666750" cy="819150"/>
          </a:xfrm>
          <a:prstGeom prst="straightConnector1">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5" name="AutoShape 18"/>
          <p:cNvCxnSpPr>
            <a:cxnSpLocks noChangeShapeType="1"/>
            <a:stCxn id="32" idx="1"/>
            <a:endCxn id="43" idx="5"/>
          </p:cNvCxnSpPr>
          <p:nvPr/>
        </p:nvCxnSpPr>
        <p:spPr bwMode="auto">
          <a:xfrm flipH="1" flipV="1">
            <a:off x="6181727" y="3971925"/>
            <a:ext cx="666750" cy="819150"/>
          </a:xfrm>
          <a:prstGeom prst="straightConnector1">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cxnSp>
      <p:sp>
        <p:nvSpPr>
          <p:cNvPr id="46" name="Oval 45"/>
          <p:cNvSpPr>
            <a:spLocks noChangeArrowheads="1"/>
          </p:cNvSpPr>
          <p:nvPr/>
        </p:nvSpPr>
        <p:spPr bwMode="auto">
          <a:xfrm>
            <a:off x="7848602" y="3581400"/>
            <a:ext cx="457200" cy="457200"/>
          </a:xfrm>
          <a:prstGeom prst="ellipse">
            <a:avLst/>
          </a:prstGeom>
          <a:noFill/>
          <a:ln w="28575">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a:latin typeface="Times New Roman" panose="02020603050405020304" pitchFamily="18" charset="0"/>
              </a:rPr>
              <a:t>D</a:t>
            </a:r>
            <a:endParaRPr lang="en-US" altLang="en-US" sz="1800" b="1" baseline="-25000">
              <a:latin typeface="Times New Roman" panose="02020603050405020304" pitchFamily="18" charset="0"/>
            </a:endParaRPr>
          </a:p>
        </p:txBody>
      </p:sp>
      <p:cxnSp>
        <p:nvCxnSpPr>
          <p:cNvPr id="47" name="AutoShape 20"/>
          <p:cNvCxnSpPr>
            <a:cxnSpLocks noChangeShapeType="1"/>
            <a:stCxn id="31" idx="1"/>
            <a:endCxn id="46" idx="5"/>
          </p:cNvCxnSpPr>
          <p:nvPr/>
        </p:nvCxnSpPr>
        <p:spPr bwMode="auto">
          <a:xfrm flipH="1" flipV="1">
            <a:off x="8239127" y="3971925"/>
            <a:ext cx="666750" cy="819150"/>
          </a:xfrm>
          <a:prstGeom prst="straightConnector1">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cxnSp>
      <p:cxnSp>
        <p:nvCxnSpPr>
          <p:cNvPr id="48" name="AutoShape 21"/>
          <p:cNvCxnSpPr>
            <a:cxnSpLocks noChangeShapeType="1"/>
            <a:stCxn id="32" idx="7"/>
            <a:endCxn id="46" idx="3"/>
          </p:cNvCxnSpPr>
          <p:nvPr/>
        </p:nvCxnSpPr>
        <p:spPr bwMode="auto">
          <a:xfrm flipV="1">
            <a:off x="7172327" y="3971925"/>
            <a:ext cx="742950" cy="819150"/>
          </a:xfrm>
          <a:prstGeom prst="straightConnector1">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cxnSp>
      <p:sp>
        <p:nvSpPr>
          <p:cNvPr id="49" name="Text Box 22"/>
          <p:cNvSpPr txBox="1">
            <a:spLocks noChangeArrowheads="1"/>
          </p:cNvSpPr>
          <p:nvPr/>
        </p:nvSpPr>
        <p:spPr bwMode="auto">
          <a:xfrm>
            <a:off x="6186490" y="30308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a:latin typeface="+mn-lt"/>
              </a:rPr>
              <a:t>4</a:t>
            </a:r>
          </a:p>
        </p:txBody>
      </p:sp>
      <p:sp>
        <p:nvSpPr>
          <p:cNvPr id="50" name="Text Box 23"/>
          <p:cNvSpPr txBox="1">
            <a:spLocks noChangeArrowheads="1"/>
          </p:cNvSpPr>
          <p:nvPr/>
        </p:nvSpPr>
        <p:spPr bwMode="auto">
          <a:xfrm>
            <a:off x="7496177" y="3016528"/>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a:latin typeface="+mn-lt"/>
              </a:rPr>
              <a:t>1</a:t>
            </a:r>
          </a:p>
        </p:txBody>
      </p:sp>
      <p:sp>
        <p:nvSpPr>
          <p:cNvPr id="51" name="Text Box 24"/>
          <p:cNvSpPr txBox="1">
            <a:spLocks noChangeArrowheads="1"/>
          </p:cNvSpPr>
          <p:nvPr/>
        </p:nvSpPr>
        <p:spPr bwMode="auto">
          <a:xfrm>
            <a:off x="7924802" y="23622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a:latin typeface="+mn-lt"/>
              </a:rPr>
              <a:t>2</a:t>
            </a:r>
          </a:p>
        </p:txBody>
      </p:sp>
      <p:sp>
        <p:nvSpPr>
          <p:cNvPr id="52" name="Text Box 25"/>
          <p:cNvSpPr txBox="1">
            <a:spLocks noChangeArrowheads="1"/>
          </p:cNvSpPr>
          <p:nvPr/>
        </p:nvSpPr>
        <p:spPr bwMode="auto">
          <a:xfrm>
            <a:off x="9487298" y="3016528"/>
            <a:ext cx="4187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a:latin typeface="+mn-lt"/>
              </a:rPr>
              <a:t>10</a:t>
            </a:r>
          </a:p>
        </p:txBody>
      </p:sp>
      <p:sp>
        <p:nvSpPr>
          <p:cNvPr id="53" name="Text Box 26"/>
          <p:cNvSpPr txBox="1">
            <a:spLocks noChangeArrowheads="1"/>
          </p:cNvSpPr>
          <p:nvPr/>
        </p:nvSpPr>
        <p:spPr bwMode="auto">
          <a:xfrm>
            <a:off x="8351840" y="3016528"/>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a:latin typeface="+mn-lt"/>
              </a:rPr>
              <a:t>3</a:t>
            </a:r>
          </a:p>
        </p:txBody>
      </p:sp>
      <p:sp>
        <p:nvSpPr>
          <p:cNvPr id="54" name="Text Box 27"/>
          <p:cNvSpPr txBox="1">
            <a:spLocks noChangeArrowheads="1"/>
          </p:cNvSpPr>
          <p:nvPr/>
        </p:nvSpPr>
        <p:spPr bwMode="auto">
          <a:xfrm>
            <a:off x="9601202" y="41738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a:latin typeface="+mn-lt"/>
              </a:rPr>
              <a:t>6</a:t>
            </a:r>
          </a:p>
        </p:txBody>
      </p:sp>
      <p:sp>
        <p:nvSpPr>
          <p:cNvPr id="55" name="Text Box 28"/>
          <p:cNvSpPr txBox="1">
            <a:spLocks noChangeArrowheads="1"/>
          </p:cNvSpPr>
          <p:nvPr/>
        </p:nvSpPr>
        <p:spPr bwMode="auto">
          <a:xfrm>
            <a:off x="8610602" y="41738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a:latin typeface="+mn-lt"/>
              </a:rPr>
              <a:t>4</a:t>
            </a:r>
          </a:p>
        </p:txBody>
      </p:sp>
      <p:sp>
        <p:nvSpPr>
          <p:cNvPr id="56" name="Text Box 29"/>
          <p:cNvSpPr txBox="1">
            <a:spLocks noChangeArrowheads="1"/>
          </p:cNvSpPr>
          <p:nvPr/>
        </p:nvSpPr>
        <p:spPr bwMode="auto">
          <a:xfrm>
            <a:off x="8915402" y="35052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a:latin typeface="+mn-lt"/>
              </a:rPr>
              <a:t>2</a:t>
            </a:r>
          </a:p>
        </p:txBody>
      </p:sp>
      <p:sp>
        <p:nvSpPr>
          <p:cNvPr id="57" name="Text Box 30"/>
          <p:cNvSpPr txBox="1">
            <a:spLocks noChangeArrowheads="1"/>
          </p:cNvSpPr>
          <p:nvPr/>
        </p:nvSpPr>
        <p:spPr bwMode="auto">
          <a:xfrm>
            <a:off x="6858002" y="35052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dirty="0">
                <a:latin typeface="+mn-lt"/>
              </a:rPr>
              <a:t>2</a:t>
            </a:r>
          </a:p>
        </p:txBody>
      </p:sp>
      <p:sp>
        <p:nvSpPr>
          <p:cNvPr id="58" name="Text Box 31"/>
          <p:cNvSpPr txBox="1">
            <a:spLocks noChangeArrowheads="1"/>
          </p:cNvSpPr>
          <p:nvPr/>
        </p:nvSpPr>
        <p:spPr bwMode="auto">
          <a:xfrm>
            <a:off x="7239002" y="41738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dirty="0">
                <a:latin typeface="+mn-lt"/>
              </a:rPr>
              <a:t>8</a:t>
            </a:r>
          </a:p>
        </p:txBody>
      </p:sp>
      <p:sp>
        <p:nvSpPr>
          <p:cNvPr id="59" name="Text Box 32"/>
          <p:cNvSpPr txBox="1">
            <a:spLocks noChangeArrowheads="1"/>
          </p:cNvSpPr>
          <p:nvPr/>
        </p:nvSpPr>
        <p:spPr bwMode="auto">
          <a:xfrm>
            <a:off x="6248402" y="4202668"/>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dirty="0">
                <a:latin typeface="+mn-lt"/>
              </a:rPr>
              <a:t>5</a:t>
            </a:r>
          </a:p>
        </p:txBody>
      </p:sp>
      <p:sp>
        <p:nvSpPr>
          <p:cNvPr id="60" name="Text Box 33"/>
          <p:cNvSpPr txBox="1">
            <a:spLocks noChangeArrowheads="1"/>
          </p:cNvSpPr>
          <p:nvPr/>
        </p:nvSpPr>
        <p:spPr bwMode="auto">
          <a:xfrm>
            <a:off x="8001002" y="4648200"/>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37931725" indent="-37474525" eaLnBrk="0" hangingPunct="0">
              <a:defRPr sz="2400">
                <a:solidFill>
                  <a:schemeClr val="tx1"/>
                </a:solidFill>
                <a:latin typeface="Arial" panose="020B0604020202020204" pitchFamily="34" charset="0"/>
                <a:ea typeface="ＭＳ Ｐゴシック" panose="020B0600070205080204" pitchFamily="34" charset="-128"/>
              </a:defRPr>
            </a:lvl2pPr>
            <a:lvl3pPr eaLnBrk="0" hangingPunct="0">
              <a:defRPr sz="2400">
                <a:solidFill>
                  <a:schemeClr val="tx1"/>
                </a:solidFill>
                <a:latin typeface="Arial" panose="020B0604020202020204" pitchFamily="34" charset="0"/>
                <a:ea typeface="ＭＳ Ｐゴシック" panose="020B0600070205080204" pitchFamily="34" charset="-128"/>
              </a:defRPr>
            </a:lvl3pPr>
            <a:lvl4pPr eaLnBrk="0" hangingPunct="0">
              <a:defRPr sz="2400">
                <a:solidFill>
                  <a:schemeClr val="tx1"/>
                </a:solidFill>
                <a:latin typeface="Arial" panose="020B0604020202020204" pitchFamily="34" charset="0"/>
                <a:ea typeface="ＭＳ Ｐゴシック" panose="020B0600070205080204" pitchFamily="34" charset="-128"/>
              </a:defRPr>
            </a:lvl4pPr>
            <a:lvl5pPr eaLnBrk="0" hangingPunct="0">
              <a:defRPr sz="2400">
                <a:solidFill>
                  <a:schemeClr val="tx1"/>
                </a:solidFill>
                <a:latin typeface="Arial" panose="020B060402020202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sz="1800" b="1">
                <a:latin typeface="+mn-lt"/>
              </a:rPr>
              <a:t>1</a:t>
            </a:r>
          </a:p>
        </p:txBody>
      </p:sp>
    </p:spTree>
    <p:extLst>
      <p:ext uri="{BB962C8B-B14F-4D97-AF65-F5344CB8AC3E}">
        <p14:creationId xmlns:p14="http://schemas.microsoft.com/office/powerpoint/2010/main" val="4055830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10" presetClass="entr" presetSubtype="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childTnLst>
                                </p:cTn>
                              </p:par>
                              <p:par>
                                <p:cTn id="37" presetID="10"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500"/>
                                        <p:tgtEl>
                                          <p:spTgt spid="16"/>
                                        </p:tgtEl>
                                      </p:cBhvr>
                                    </p:animEffect>
                                  </p:childTnLst>
                                </p:cTn>
                              </p:par>
                              <p:par>
                                <p:cTn id="40" presetID="10" presetClass="entr" presetSubtype="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childTnLst>
                                </p:cTn>
                              </p:par>
                              <p:par>
                                <p:cTn id="43" presetID="10" presetClass="entr" presetSubtype="0" fill="hold"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par>
                                <p:cTn id="46" presetID="10" presetClass="entr" presetSubtype="0" fill="hold"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childTnLst>
                                </p:cTn>
                              </p:par>
                              <p:par>
                                <p:cTn id="49" presetID="10" presetClass="entr" presetSubtype="0" fill="hold"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500"/>
                                        <p:tgtEl>
                                          <p:spTgt spid="2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500"/>
                                        <p:tgtEl>
                                          <p:spTgt spid="2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fade">
                                      <p:cBhvr>
                                        <p:cTn id="60" dur="500"/>
                                        <p:tgtEl>
                                          <p:spTgt spid="2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50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500"/>
                                        <p:tgtEl>
                                          <p:spTgt spid="2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500"/>
                                        <p:tgtEl>
                                          <p:spTgt spid="2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500"/>
                                        <p:tgtEl>
                                          <p:spTgt spid="2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500"/>
                                        <p:tgtEl>
                                          <p:spTgt spid="29"/>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500"/>
                                        <p:tgtEl>
                                          <p:spTgt spid="3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500"/>
                                        <p:tgtEl>
                                          <p:spTgt spid="31"/>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500"/>
                                        <p:tgtEl>
                                          <p:spTgt spid="32"/>
                                        </p:tgtEl>
                                      </p:cBhvr>
                                    </p:animEffect>
                                  </p:childTnLst>
                                </p:cTn>
                              </p:par>
                              <p:par>
                                <p:cTn id="90" presetID="10" presetClass="entr" presetSubtype="0" fill="hold" nodeType="withEffect">
                                  <p:stCondLst>
                                    <p:cond delay="0"/>
                                  </p:stCondLst>
                                  <p:childTnLst>
                                    <p:set>
                                      <p:cBhvr>
                                        <p:cTn id="91" dur="1" fill="hold">
                                          <p:stCondLst>
                                            <p:cond delay="0"/>
                                          </p:stCondLst>
                                        </p:cTn>
                                        <p:tgtEl>
                                          <p:spTgt spid="33"/>
                                        </p:tgtEl>
                                        <p:attrNameLst>
                                          <p:attrName>style.visibility</p:attrName>
                                        </p:attrNameLst>
                                      </p:cBhvr>
                                      <p:to>
                                        <p:strVal val="visible"/>
                                      </p:to>
                                    </p:set>
                                    <p:animEffect transition="in" filter="fade">
                                      <p:cBhvr>
                                        <p:cTn id="92" dur="500"/>
                                        <p:tgtEl>
                                          <p:spTgt spid="33"/>
                                        </p:tgtEl>
                                      </p:cBhvr>
                                    </p:animEffect>
                                  </p:childTnLst>
                                </p:cTn>
                              </p:par>
                              <p:par>
                                <p:cTn id="93" presetID="10" presetClass="entr" presetSubtype="0" fill="hold" nodeType="withEffect">
                                  <p:stCondLst>
                                    <p:cond delay="0"/>
                                  </p:stCondLst>
                                  <p:childTnLst>
                                    <p:set>
                                      <p:cBhvr>
                                        <p:cTn id="94" dur="1" fill="hold">
                                          <p:stCondLst>
                                            <p:cond delay="0"/>
                                          </p:stCondLst>
                                        </p:cTn>
                                        <p:tgtEl>
                                          <p:spTgt spid="34"/>
                                        </p:tgtEl>
                                        <p:attrNameLst>
                                          <p:attrName>style.visibility</p:attrName>
                                        </p:attrNameLst>
                                      </p:cBhvr>
                                      <p:to>
                                        <p:strVal val="visible"/>
                                      </p:to>
                                    </p:set>
                                    <p:animEffect transition="in" filter="fade">
                                      <p:cBhvr>
                                        <p:cTn id="95" dur="500"/>
                                        <p:tgtEl>
                                          <p:spTgt spid="34"/>
                                        </p:tgtEl>
                                      </p:cBhvr>
                                    </p:animEffect>
                                  </p:childTnLst>
                                </p:cTn>
                              </p:par>
                              <p:par>
                                <p:cTn id="96" presetID="10" presetClass="entr" presetSubtype="0" fill="hold" nodeType="withEffect">
                                  <p:stCondLst>
                                    <p:cond delay="0"/>
                                  </p:stCondLst>
                                  <p:childTnLst>
                                    <p:set>
                                      <p:cBhvr>
                                        <p:cTn id="97" dur="1" fill="hold">
                                          <p:stCondLst>
                                            <p:cond delay="0"/>
                                          </p:stCondLst>
                                        </p:cTn>
                                        <p:tgtEl>
                                          <p:spTgt spid="35"/>
                                        </p:tgtEl>
                                        <p:attrNameLst>
                                          <p:attrName>style.visibility</p:attrName>
                                        </p:attrNameLst>
                                      </p:cBhvr>
                                      <p:to>
                                        <p:strVal val="visible"/>
                                      </p:to>
                                    </p:set>
                                    <p:animEffect transition="in" filter="fade">
                                      <p:cBhvr>
                                        <p:cTn id="98" dur="500"/>
                                        <p:tgtEl>
                                          <p:spTgt spid="35"/>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6"/>
                                        </p:tgtEl>
                                        <p:attrNameLst>
                                          <p:attrName>style.visibility</p:attrName>
                                        </p:attrNameLst>
                                      </p:cBhvr>
                                      <p:to>
                                        <p:strVal val="visible"/>
                                      </p:to>
                                    </p:set>
                                    <p:animEffect transition="in" filter="fade">
                                      <p:cBhvr>
                                        <p:cTn id="101" dur="500"/>
                                        <p:tgtEl>
                                          <p:spTgt spid="36"/>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7"/>
                                        </p:tgtEl>
                                        <p:attrNameLst>
                                          <p:attrName>style.visibility</p:attrName>
                                        </p:attrNameLst>
                                      </p:cBhvr>
                                      <p:to>
                                        <p:strVal val="visible"/>
                                      </p:to>
                                    </p:set>
                                    <p:animEffect transition="in" filter="fade">
                                      <p:cBhvr>
                                        <p:cTn id="104" dur="500"/>
                                        <p:tgtEl>
                                          <p:spTgt spid="37"/>
                                        </p:tgtEl>
                                      </p:cBhvr>
                                    </p:animEffect>
                                  </p:childTnLst>
                                </p:cTn>
                              </p:par>
                              <p:par>
                                <p:cTn id="105" presetID="10" presetClass="entr" presetSubtype="0" fill="hold" nodeType="withEffect">
                                  <p:stCondLst>
                                    <p:cond delay="0"/>
                                  </p:stCondLst>
                                  <p:childTnLst>
                                    <p:set>
                                      <p:cBhvr>
                                        <p:cTn id="106" dur="1" fill="hold">
                                          <p:stCondLst>
                                            <p:cond delay="0"/>
                                          </p:stCondLst>
                                        </p:cTn>
                                        <p:tgtEl>
                                          <p:spTgt spid="38"/>
                                        </p:tgtEl>
                                        <p:attrNameLst>
                                          <p:attrName>style.visibility</p:attrName>
                                        </p:attrNameLst>
                                      </p:cBhvr>
                                      <p:to>
                                        <p:strVal val="visible"/>
                                      </p:to>
                                    </p:set>
                                    <p:animEffect transition="in" filter="fade">
                                      <p:cBhvr>
                                        <p:cTn id="107" dur="500"/>
                                        <p:tgtEl>
                                          <p:spTgt spid="38"/>
                                        </p:tgtEl>
                                      </p:cBhvr>
                                    </p:animEffect>
                                  </p:childTnLst>
                                </p:cTn>
                              </p:par>
                              <p:par>
                                <p:cTn id="108" presetID="10" presetClass="entr" presetSubtype="0" fill="hold" nodeType="withEffect">
                                  <p:stCondLst>
                                    <p:cond delay="0"/>
                                  </p:stCondLst>
                                  <p:childTnLst>
                                    <p:set>
                                      <p:cBhvr>
                                        <p:cTn id="109" dur="1" fill="hold">
                                          <p:stCondLst>
                                            <p:cond delay="0"/>
                                          </p:stCondLst>
                                        </p:cTn>
                                        <p:tgtEl>
                                          <p:spTgt spid="39"/>
                                        </p:tgtEl>
                                        <p:attrNameLst>
                                          <p:attrName>style.visibility</p:attrName>
                                        </p:attrNameLst>
                                      </p:cBhvr>
                                      <p:to>
                                        <p:strVal val="visible"/>
                                      </p:to>
                                    </p:set>
                                    <p:animEffect transition="in" filter="fade">
                                      <p:cBhvr>
                                        <p:cTn id="110" dur="500"/>
                                        <p:tgtEl>
                                          <p:spTgt spid="39"/>
                                        </p:tgtEl>
                                      </p:cBhvr>
                                    </p:animEffect>
                                  </p:childTnLst>
                                </p:cTn>
                              </p:par>
                              <p:par>
                                <p:cTn id="111" presetID="10" presetClass="entr" presetSubtype="0" fill="hold" nodeType="withEffect">
                                  <p:stCondLst>
                                    <p:cond delay="0"/>
                                  </p:stCondLst>
                                  <p:childTnLst>
                                    <p:set>
                                      <p:cBhvr>
                                        <p:cTn id="112" dur="1" fill="hold">
                                          <p:stCondLst>
                                            <p:cond delay="0"/>
                                          </p:stCondLst>
                                        </p:cTn>
                                        <p:tgtEl>
                                          <p:spTgt spid="40"/>
                                        </p:tgtEl>
                                        <p:attrNameLst>
                                          <p:attrName>style.visibility</p:attrName>
                                        </p:attrNameLst>
                                      </p:cBhvr>
                                      <p:to>
                                        <p:strVal val="visible"/>
                                      </p:to>
                                    </p:set>
                                    <p:animEffect transition="in" filter="fade">
                                      <p:cBhvr>
                                        <p:cTn id="113" dur="500"/>
                                        <p:tgtEl>
                                          <p:spTgt spid="40"/>
                                        </p:tgtEl>
                                      </p:cBhvr>
                                    </p:animEffect>
                                  </p:childTnLst>
                                </p:cTn>
                              </p:par>
                              <p:par>
                                <p:cTn id="114" presetID="10" presetClass="entr" presetSubtype="0" fill="hold" nodeType="withEffect">
                                  <p:stCondLst>
                                    <p:cond delay="0"/>
                                  </p:stCondLst>
                                  <p:childTnLst>
                                    <p:set>
                                      <p:cBhvr>
                                        <p:cTn id="115" dur="1" fill="hold">
                                          <p:stCondLst>
                                            <p:cond delay="0"/>
                                          </p:stCondLst>
                                        </p:cTn>
                                        <p:tgtEl>
                                          <p:spTgt spid="41"/>
                                        </p:tgtEl>
                                        <p:attrNameLst>
                                          <p:attrName>style.visibility</p:attrName>
                                        </p:attrNameLst>
                                      </p:cBhvr>
                                      <p:to>
                                        <p:strVal val="visible"/>
                                      </p:to>
                                    </p:set>
                                    <p:animEffect transition="in" filter="fade">
                                      <p:cBhvr>
                                        <p:cTn id="116" dur="500"/>
                                        <p:tgtEl>
                                          <p:spTgt spid="41"/>
                                        </p:tgtEl>
                                      </p:cBhvr>
                                    </p:animEffect>
                                  </p:childTnLst>
                                </p:cTn>
                              </p:par>
                              <p:par>
                                <p:cTn id="117" presetID="10" presetClass="entr" presetSubtype="0" fill="hold" nodeType="withEffect">
                                  <p:stCondLst>
                                    <p:cond delay="0"/>
                                  </p:stCondLst>
                                  <p:childTnLst>
                                    <p:set>
                                      <p:cBhvr>
                                        <p:cTn id="118" dur="1" fill="hold">
                                          <p:stCondLst>
                                            <p:cond delay="0"/>
                                          </p:stCondLst>
                                        </p:cTn>
                                        <p:tgtEl>
                                          <p:spTgt spid="42"/>
                                        </p:tgtEl>
                                        <p:attrNameLst>
                                          <p:attrName>style.visibility</p:attrName>
                                        </p:attrNameLst>
                                      </p:cBhvr>
                                      <p:to>
                                        <p:strVal val="visible"/>
                                      </p:to>
                                    </p:set>
                                    <p:animEffect transition="in" filter="fade">
                                      <p:cBhvr>
                                        <p:cTn id="119" dur="500"/>
                                        <p:tgtEl>
                                          <p:spTgt spid="42"/>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3"/>
                                        </p:tgtEl>
                                        <p:attrNameLst>
                                          <p:attrName>style.visibility</p:attrName>
                                        </p:attrNameLst>
                                      </p:cBhvr>
                                      <p:to>
                                        <p:strVal val="visible"/>
                                      </p:to>
                                    </p:set>
                                    <p:animEffect transition="in" filter="fade">
                                      <p:cBhvr>
                                        <p:cTn id="122" dur="500"/>
                                        <p:tgtEl>
                                          <p:spTgt spid="43"/>
                                        </p:tgtEl>
                                      </p:cBhvr>
                                    </p:animEffect>
                                  </p:childTnLst>
                                </p:cTn>
                              </p:par>
                              <p:par>
                                <p:cTn id="123" presetID="10" presetClass="entr" presetSubtype="0" fill="hold" nodeType="withEffect">
                                  <p:stCondLst>
                                    <p:cond delay="0"/>
                                  </p:stCondLst>
                                  <p:childTnLst>
                                    <p:set>
                                      <p:cBhvr>
                                        <p:cTn id="124" dur="1" fill="hold">
                                          <p:stCondLst>
                                            <p:cond delay="0"/>
                                          </p:stCondLst>
                                        </p:cTn>
                                        <p:tgtEl>
                                          <p:spTgt spid="44"/>
                                        </p:tgtEl>
                                        <p:attrNameLst>
                                          <p:attrName>style.visibility</p:attrName>
                                        </p:attrNameLst>
                                      </p:cBhvr>
                                      <p:to>
                                        <p:strVal val="visible"/>
                                      </p:to>
                                    </p:set>
                                    <p:animEffect transition="in" filter="fade">
                                      <p:cBhvr>
                                        <p:cTn id="125" dur="500"/>
                                        <p:tgtEl>
                                          <p:spTgt spid="44"/>
                                        </p:tgtEl>
                                      </p:cBhvr>
                                    </p:animEffect>
                                  </p:childTnLst>
                                </p:cTn>
                              </p:par>
                              <p:par>
                                <p:cTn id="126" presetID="10" presetClass="entr" presetSubtype="0" fill="hold" nodeType="withEffect">
                                  <p:stCondLst>
                                    <p:cond delay="0"/>
                                  </p:stCondLst>
                                  <p:childTnLst>
                                    <p:set>
                                      <p:cBhvr>
                                        <p:cTn id="127" dur="1" fill="hold">
                                          <p:stCondLst>
                                            <p:cond delay="0"/>
                                          </p:stCondLst>
                                        </p:cTn>
                                        <p:tgtEl>
                                          <p:spTgt spid="45"/>
                                        </p:tgtEl>
                                        <p:attrNameLst>
                                          <p:attrName>style.visibility</p:attrName>
                                        </p:attrNameLst>
                                      </p:cBhvr>
                                      <p:to>
                                        <p:strVal val="visible"/>
                                      </p:to>
                                    </p:set>
                                    <p:animEffect transition="in" filter="fade">
                                      <p:cBhvr>
                                        <p:cTn id="128" dur="500"/>
                                        <p:tgtEl>
                                          <p:spTgt spid="45"/>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6"/>
                                        </p:tgtEl>
                                        <p:attrNameLst>
                                          <p:attrName>style.visibility</p:attrName>
                                        </p:attrNameLst>
                                      </p:cBhvr>
                                      <p:to>
                                        <p:strVal val="visible"/>
                                      </p:to>
                                    </p:set>
                                    <p:animEffect transition="in" filter="fade">
                                      <p:cBhvr>
                                        <p:cTn id="131" dur="500"/>
                                        <p:tgtEl>
                                          <p:spTgt spid="46"/>
                                        </p:tgtEl>
                                      </p:cBhvr>
                                    </p:animEffect>
                                  </p:childTnLst>
                                </p:cTn>
                              </p:par>
                              <p:par>
                                <p:cTn id="132" presetID="10" presetClass="entr" presetSubtype="0" fill="hold" nodeType="withEffect">
                                  <p:stCondLst>
                                    <p:cond delay="0"/>
                                  </p:stCondLst>
                                  <p:childTnLst>
                                    <p:set>
                                      <p:cBhvr>
                                        <p:cTn id="133" dur="1" fill="hold">
                                          <p:stCondLst>
                                            <p:cond delay="0"/>
                                          </p:stCondLst>
                                        </p:cTn>
                                        <p:tgtEl>
                                          <p:spTgt spid="47"/>
                                        </p:tgtEl>
                                        <p:attrNameLst>
                                          <p:attrName>style.visibility</p:attrName>
                                        </p:attrNameLst>
                                      </p:cBhvr>
                                      <p:to>
                                        <p:strVal val="visible"/>
                                      </p:to>
                                    </p:set>
                                    <p:animEffect transition="in" filter="fade">
                                      <p:cBhvr>
                                        <p:cTn id="134" dur="500"/>
                                        <p:tgtEl>
                                          <p:spTgt spid="47"/>
                                        </p:tgtEl>
                                      </p:cBhvr>
                                    </p:animEffect>
                                  </p:childTnLst>
                                </p:cTn>
                              </p:par>
                              <p:par>
                                <p:cTn id="135" presetID="10" presetClass="entr" presetSubtype="0" fill="hold" nodeType="withEffect">
                                  <p:stCondLst>
                                    <p:cond delay="0"/>
                                  </p:stCondLst>
                                  <p:childTnLst>
                                    <p:set>
                                      <p:cBhvr>
                                        <p:cTn id="136" dur="1" fill="hold">
                                          <p:stCondLst>
                                            <p:cond delay="0"/>
                                          </p:stCondLst>
                                        </p:cTn>
                                        <p:tgtEl>
                                          <p:spTgt spid="48"/>
                                        </p:tgtEl>
                                        <p:attrNameLst>
                                          <p:attrName>style.visibility</p:attrName>
                                        </p:attrNameLst>
                                      </p:cBhvr>
                                      <p:to>
                                        <p:strVal val="visible"/>
                                      </p:to>
                                    </p:set>
                                    <p:animEffect transition="in" filter="fade">
                                      <p:cBhvr>
                                        <p:cTn id="137" dur="500"/>
                                        <p:tgtEl>
                                          <p:spTgt spid="48"/>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49"/>
                                        </p:tgtEl>
                                        <p:attrNameLst>
                                          <p:attrName>style.visibility</p:attrName>
                                        </p:attrNameLst>
                                      </p:cBhvr>
                                      <p:to>
                                        <p:strVal val="visible"/>
                                      </p:to>
                                    </p:set>
                                    <p:animEffect transition="in" filter="fade">
                                      <p:cBhvr>
                                        <p:cTn id="140" dur="500"/>
                                        <p:tgtEl>
                                          <p:spTgt spid="49"/>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50"/>
                                        </p:tgtEl>
                                        <p:attrNameLst>
                                          <p:attrName>style.visibility</p:attrName>
                                        </p:attrNameLst>
                                      </p:cBhvr>
                                      <p:to>
                                        <p:strVal val="visible"/>
                                      </p:to>
                                    </p:set>
                                    <p:animEffect transition="in" filter="fade">
                                      <p:cBhvr>
                                        <p:cTn id="143" dur="500"/>
                                        <p:tgtEl>
                                          <p:spTgt spid="50"/>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1"/>
                                        </p:tgtEl>
                                        <p:attrNameLst>
                                          <p:attrName>style.visibility</p:attrName>
                                        </p:attrNameLst>
                                      </p:cBhvr>
                                      <p:to>
                                        <p:strVal val="visible"/>
                                      </p:to>
                                    </p:set>
                                    <p:animEffect transition="in" filter="fade">
                                      <p:cBhvr>
                                        <p:cTn id="146" dur="500"/>
                                        <p:tgtEl>
                                          <p:spTgt spid="51"/>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2"/>
                                        </p:tgtEl>
                                        <p:attrNameLst>
                                          <p:attrName>style.visibility</p:attrName>
                                        </p:attrNameLst>
                                      </p:cBhvr>
                                      <p:to>
                                        <p:strVal val="visible"/>
                                      </p:to>
                                    </p:set>
                                    <p:animEffect transition="in" filter="fade">
                                      <p:cBhvr>
                                        <p:cTn id="149" dur="500"/>
                                        <p:tgtEl>
                                          <p:spTgt spid="52"/>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3"/>
                                        </p:tgtEl>
                                        <p:attrNameLst>
                                          <p:attrName>style.visibility</p:attrName>
                                        </p:attrNameLst>
                                      </p:cBhvr>
                                      <p:to>
                                        <p:strVal val="visible"/>
                                      </p:to>
                                    </p:set>
                                    <p:animEffect transition="in" filter="fade">
                                      <p:cBhvr>
                                        <p:cTn id="152" dur="500"/>
                                        <p:tgtEl>
                                          <p:spTgt spid="53"/>
                                        </p:tgtEl>
                                      </p:cBhvr>
                                    </p:animEffect>
                                  </p:childTnLst>
                                </p:cTn>
                              </p:par>
                              <p:par>
                                <p:cTn id="153" presetID="10" presetClass="entr" presetSubtype="0" fill="hold" grpId="0" nodeType="withEffect">
                                  <p:stCondLst>
                                    <p:cond delay="0"/>
                                  </p:stCondLst>
                                  <p:childTnLst>
                                    <p:set>
                                      <p:cBhvr>
                                        <p:cTn id="154" dur="1" fill="hold">
                                          <p:stCondLst>
                                            <p:cond delay="0"/>
                                          </p:stCondLst>
                                        </p:cTn>
                                        <p:tgtEl>
                                          <p:spTgt spid="54"/>
                                        </p:tgtEl>
                                        <p:attrNameLst>
                                          <p:attrName>style.visibility</p:attrName>
                                        </p:attrNameLst>
                                      </p:cBhvr>
                                      <p:to>
                                        <p:strVal val="visible"/>
                                      </p:to>
                                    </p:set>
                                    <p:animEffect transition="in" filter="fade">
                                      <p:cBhvr>
                                        <p:cTn id="155" dur="500"/>
                                        <p:tgtEl>
                                          <p:spTgt spid="54"/>
                                        </p:tgtEl>
                                      </p:cBhvr>
                                    </p:animEffect>
                                  </p:childTnLst>
                                </p:cTn>
                              </p:par>
                              <p:par>
                                <p:cTn id="156" presetID="10" presetClass="entr" presetSubtype="0" fill="hold" grpId="0" nodeType="withEffect">
                                  <p:stCondLst>
                                    <p:cond delay="0"/>
                                  </p:stCondLst>
                                  <p:childTnLst>
                                    <p:set>
                                      <p:cBhvr>
                                        <p:cTn id="157" dur="1" fill="hold">
                                          <p:stCondLst>
                                            <p:cond delay="0"/>
                                          </p:stCondLst>
                                        </p:cTn>
                                        <p:tgtEl>
                                          <p:spTgt spid="55"/>
                                        </p:tgtEl>
                                        <p:attrNameLst>
                                          <p:attrName>style.visibility</p:attrName>
                                        </p:attrNameLst>
                                      </p:cBhvr>
                                      <p:to>
                                        <p:strVal val="visible"/>
                                      </p:to>
                                    </p:set>
                                    <p:animEffect transition="in" filter="fade">
                                      <p:cBhvr>
                                        <p:cTn id="158" dur="500"/>
                                        <p:tgtEl>
                                          <p:spTgt spid="55"/>
                                        </p:tgtEl>
                                      </p:cBhvr>
                                    </p:animEffect>
                                  </p:childTnLst>
                                </p:cTn>
                              </p:par>
                              <p:par>
                                <p:cTn id="159" presetID="10" presetClass="entr" presetSubtype="0" fill="hold" grpId="0" nodeType="withEffect">
                                  <p:stCondLst>
                                    <p:cond delay="0"/>
                                  </p:stCondLst>
                                  <p:childTnLst>
                                    <p:set>
                                      <p:cBhvr>
                                        <p:cTn id="160" dur="1" fill="hold">
                                          <p:stCondLst>
                                            <p:cond delay="0"/>
                                          </p:stCondLst>
                                        </p:cTn>
                                        <p:tgtEl>
                                          <p:spTgt spid="56"/>
                                        </p:tgtEl>
                                        <p:attrNameLst>
                                          <p:attrName>style.visibility</p:attrName>
                                        </p:attrNameLst>
                                      </p:cBhvr>
                                      <p:to>
                                        <p:strVal val="visible"/>
                                      </p:to>
                                    </p:set>
                                    <p:animEffect transition="in" filter="fade">
                                      <p:cBhvr>
                                        <p:cTn id="161" dur="500"/>
                                        <p:tgtEl>
                                          <p:spTgt spid="56"/>
                                        </p:tgtEl>
                                      </p:cBhvr>
                                    </p:animEffect>
                                  </p:childTnLst>
                                </p:cTn>
                              </p:par>
                              <p:par>
                                <p:cTn id="162" presetID="10" presetClass="entr" presetSubtype="0" fill="hold" grpId="0" nodeType="withEffect">
                                  <p:stCondLst>
                                    <p:cond delay="0"/>
                                  </p:stCondLst>
                                  <p:childTnLst>
                                    <p:set>
                                      <p:cBhvr>
                                        <p:cTn id="163" dur="1" fill="hold">
                                          <p:stCondLst>
                                            <p:cond delay="0"/>
                                          </p:stCondLst>
                                        </p:cTn>
                                        <p:tgtEl>
                                          <p:spTgt spid="57"/>
                                        </p:tgtEl>
                                        <p:attrNameLst>
                                          <p:attrName>style.visibility</p:attrName>
                                        </p:attrNameLst>
                                      </p:cBhvr>
                                      <p:to>
                                        <p:strVal val="visible"/>
                                      </p:to>
                                    </p:set>
                                    <p:animEffect transition="in" filter="fade">
                                      <p:cBhvr>
                                        <p:cTn id="164" dur="500"/>
                                        <p:tgtEl>
                                          <p:spTgt spid="57"/>
                                        </p:tgtEl>
                                      </p:cBhvr>
                                    </p:animEffect>
                                  </p:childTnLst>
                                </p:cTn>
                              </p:par>
                              <p:par>
                                <p:cTn id="165" presetID="10" presetClass="entr" presetSubtype="0" fill="hold" grpId="0" nodeType="withEffect">
                                  <p:stCondLst>
                                    <p:cond delay="0"/>
                                  </p:stCondLst>
                                  <p:childTnLst>
                                    <p:set>
                                      <p:cBhvr>
                                        <p:cTn id="166" dur="1" fill="hold">
                                          <p:stCondLst>
                                            <p:cond delay="0"/>
                                          </p:stCondLst>
                                        </p:cTn>
                                        <p:tgtEl>
                                          <p:spTgt spid="58"/>
                                        </p:tgtEl>
                                        <p:attrNameLst>
                                          <p:attrName>style.visibility</p:attrName>
                                        </p:attrNameLst>
                                      </p:cBhvr>
                                      <p:to>
                                        <p:strVal val="visible"/>
                                      </p:to>
                                    </p:set>
                                    <p:animEffect transition="in" filter="fade">
                                      <p:cBhvr>
                                        <p:cTn id="167" dur="500"/>
                                        <p:tgtEl>
                                          <p:spTgt spid="58"/>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59"/>
                                        </p:tgtEl>
                                        <p:attrNameLst>
                                          <p:attrName>style.visibility</p:attrName>
                                        </p:attrNameLst>
                                      </p:cBhvr>
                                      <p:to>
                                        <p:strVal val="visible"/>
                                      </p:to>
                                    </p:set>
                                    <p:animEffect transition="in" filter="fade">
                                      <p:cBhvr>
                                        <p:cTn id="170" dur="500"/>
                                        <p:tgtEl>
                                          <p:spTgt spid="59"/>
                                        </p:tgtEl>
                                      </p:cBhvr>
                                    </p:animEffect>
                                  </p:childTnLst>
                                </p:cTn>
                              </p:par>
                              <p:par>
                                <p:cTn id="171" presetID="10" presetClass="entr" presetSubtype="0" fill="hold" grpId="0" nodeType="withEffect">
                                  <p:stCondLst>
                                    <p:cond delay="0"/>
                                  </p:stCondLst>
                                  <p:childTnLst>
                                    <p:set>
                                      <p:cBhvr>
                                        <p:cTn id="172" dur="1" fill="hold">
                                          <p:stCondLst>
                                            <p:cond delay="0"/>
                                          </p:stCondLst>
                                        </p:cTn>
                                        <p:tgtEl>
                                          <p:spTgt spid="60"/>
                                        </p:tgtEl>
                                        <p:attrNameLst>
                                          <p:attrName>style.visibility</p:attrName>
                                        </p:attrNameLst>
                                      </p:cBhvr>
                                      <p:to>
                                        <p:strVal val="visible"/>
                                      </p:to>
                                    </p:set>
                                    <p:animEffect transition="in" filter="fade">
                                      <p:cBhvr>
                                        <p:cTn id="173"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21" grpId="0"/>
      <p:bldP spid="22" grpId="0"/>
      <p:bldP spid="23" grpId="0"/>
      <p:bldP spid="24" grpId="0"/>
      <p:bldP spid="25" grpId="0"/>
      <p:bldP spid="26" grpId="0"/>
      <p:bldP spid="27" grpId="0"/>
      <p:bldP spid="28" grpId="0"/>
      <p:bldP spid="29" grpId="0"/>
      <p:bldP spid="30" grpId="0" animBg="1"/>
      <p:bldP spid="31" grpId="0" animBg="1"/>
      <p:bldP spid="32" grpId="0" animBg="1"/>
      <p:bldP spid="36" grpId="0" animBg="1"/>
      <p:bldP spid="37" grpId="0" animBg="1"/>
      <p:bldP spid="43" grpId="0" animBg="1"/>
      <p:bldP spid="46" grpId="0" animBg="1"/>
      <p:bldP spid="49" grpId="0"/>
      <p:bldP spid="50" grpId="0"/>
      <p:bldP spid="51" grpId="0"/>
      <p:bldP spid="52" grpId="0"/>
      <p:bldP spid="53" grpId="0"/>
      <p:bldP spid="54" grpId="0"/>
      <p:bldP spid="55" grpId="0"/>
      <p:bldP spid="56" grpId="0"/>
      <p:bldP spid="57" grpId="0"/>
      <p:bldP spid="58" grpId="0"/>
      <p:bldP spid="59" grpId="0"/>
      <p:bldP spid="60"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Dijkstra’s</a:t>
            </a:r>
            <a:r>
              <a:rPr lang="en-US" dirty="0"/>
              <a:t> Algorithm</a:t>
            </a:r>
          </a:p>
        </p:txBody>
      </p:sp>
      <p:pic>
        <p:nvPicPr>
          <p:cNvPr id="7" name="Picture 6">
            <a:extLst>
              <a:ext uri="{FF2B5EF4-FFF2-40B4-BE49-F238E27FC236}">
                <a16:creationId xmlns:a16="http://schemas.microsoft.com/office/drawing/2014/main" id="{FA0E3398-0417-40D8-89EA-B416CF704095}"/>
              </a:ext>
            </a:extLst>
          </p:cNvPr>
          <p:cNvPicPr>
            <a:picLocks noChangeAspect="1"/>
          </p:cNvPicPr>
          <p:nvPr/>
        </p:nvPicPr>
        <p:blipFill>
          <a:blip r:embed="rId2"/>
          <a:stretch>
            <a:fillRect/>
          </a:stretch>
        </p:blipFill>
        <p:spPr>
          <a:xfrm>
            <a:off x="226380" y="911394"/>
            <a:ext cx="3962400" cy="1590675"/>
          </a:xfrm>
          <a:prstGeom prst="rect">
            <a:avLst/>
          </a:prstGeom>
        </p:spPr>
      </p:pic>
      <p:pic>
        <p:nvPicPr>
          <p:cNvPr id="9" name="Picture 8">
            <a:extLst>
              <a:ext uri="{FF2B5EF4-FFF2-40B4-BE49-F238E27FC236}">
                <a16:creationId xmlns:a16="http://schemas.microsoft.com/office/drawing/2014/main" id="{1CECC593-D634-4713-A4D5-F8F6D058AFB6}"/>
              </a:ext>
            </a:extLst>
          </p:cNvPr>
          <p:cNvPicPr>
            <a:picLocks noChangeAspect="1"/>
          </p:cNvPicPr>
          <p:nvPr/>
        </p:nvPicPr>
        <p:blipFill>
          <a:blip r:embed="rId3"/>
          <a:stretch>
            <a:fillRect/>
          </a:stretch>
        </p:blipFill>
        <p:spPr>
          <a:xfrm>
            <a:off x="5372100" y="911394"/>
            <a:ext cx="3200400" cy="1304925"/>
          </a:xfrm>
          <a:prstGeom prst="rect">
            <a:avLst/>
          </a:prstGeom>
        </p:spPr>
      </p:pic>
      <p:pic>
        <p:nvPicPr>
          <p:cNvPr id="11" name="Picture 10">
            <a:extLst>
              <a:ext uri="{FF2B5EF4-FFF2-40B4-BE49-F238E27FC236}">
                <a16:creationId xmlns:a16="http://schemas.microsoft.com/office/drawing/2014/main" id="{11EBAFCB-FCFE-4FFF-A80A-DF760EF43903}"/>
              </a:ext>
            </a:extLst>
          </p:cNvPr>
          <p:cNvPicPr>
            <a:picLocks noChangeAspect="1"/>
          </p:cNvPicPr>
          <p:nvPr/>
        </p:nvPicPr>
        <p:blipFill>
          <a:blip r:embed="rId4"/>
          <a:stretch>
            <a:fillRect/>
          </a:stretch>
        </p:blipFill>
        <p:spPr>
          <a:xfrm>
            <a:off x="226380" y="3060531"/>
            <a:ext cx="4391025" cy="2886075"/>
          </a:xfrm>
          <a:prstGeom prst="rect">
            <a:avLst/>
          </a:prstGeom>
        </p:spPr>
      </p:pic>
      <p:sp>
        <p:nvSpPr>
          <p:cNvPr id="12" name="TextBox 11">
            <a:extLst>
              <a:ext uri="{FF2B5EF4-FFF2-40B4-BE49-F238E27FC236}">
                <a16:creationId xmlns:a16="http://schemas.microsoft.com/office/drawing/2014/main" id="{BEE16045-551C-4519-8ED8-40372AC33369}"/>
              </a:ext>
            </a:extLst>
          </p:cNvPr>
          <p:cNvSpPr txBox="1"/>
          <p:nvPr/>
        </p:nvSpPr>
        <p:spPr>
          <a:xfrm flipH="1">
            <a:off x="2421892" y="2774781"/>
            <a:ext cx="3735706" cy="369332"/>
          </a:xfrm>
          <a:prstGeom prst="rect">
            <a:avLst/>
          </a:prstGeom>
          <a:noFill/>
        </p:spPr>
        <p:txBody>
          <a:bodyPr wrap="square" rtlCol="0">
            <a:spAutoFit/>
          </a:bodyPr>
          <a:lstStyle/>
          <a:p>
            <a:r>
              <a:rPr lang="en-IN" i="1" dirty="0">
                <a:latin typeface="Times New Roman" panose="02020603050405020304" pitchFamily="18" charset="0"/>
                <a:cs typeface="Times New Roman" panose="02020603050405020304" pitchFamily="18" charset="0"/>
              </a:rPr>
              <a:t>G=(V,E), w=weights, s= source</a:t>
            </a:r>
          </a:p>
        </p:txBody>
      </p:sp>
      <p:sp>
        <p:nvSpPr>
          <p:cNvPr id="13" name="Oval 12">
            <a:extLst>
              <a:ext uri="{FF2B5EF4-FFF2-40B4-BE49-F238E27FC236}">
                <a16:creationId xmlns:a16="http://schemas.microsoft.com/office/drawing/2014/main" id="{CA8F5418-3A5E-45A3-BBD5-67898FB4872F}"/>
              </a:ext>
            </a:extLst>
          </p:cNvPr>
          <p:cNvSpPr/>
          <p:nvPr/>
        </p:nvSpPr>
        <p:spPr>
          <a:xfrm>
            <a:off x="8436930" y="4267200"/>
            <a:ext cx="438150" cy="446812"/>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58EEE285-50D1-488C-BFA0-577DF634E42C}"/>
              </a:ext>
            </a:extLst>
          </p:cNvPr>
          <p:cNvSpPr/>
          <p:nvPr/>
        </p:nvSpPr>
        <p:spPr>
          <a:xfrm>
            <a:off x="8416585" y="5723200"/>
            <a:ext cx="438150" cy="446812"/>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15" name="Oval 14">
            <a:extLst>
              <a:ext uri="{FF2B5EF4-FFF2-40B4-BE49-F238E27FC236}">
                <a16:creationId xmlns:a16="http://schemas.microsoft.com/office/drawing/2014/main" id="{E2828E8A-A3AC-4A85-8C88-9FAAEB5896AB}"/>
              </a:ext>
            </a:extLst>
          </p:cNvPr>
          <p:cNvSpPr/>
          <p:nvPr/>
        </p:nvSpPr>
        <p:spPr>
          <a:xfrm>
            <a:off x="10462519" y="4232353"/>
            <a:ext cx="438150" cy="446812"/>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16" name="Oval 15">
            <a:extLst>
              <a:ext uri="{FF2B5EF4-FFF2-40B4-BE49-F238E27FC236}">
                <a16:creationId xmlns:a16="http://schemas.microsoft.com/office/drawing/2014/main" id="{F15C6B1D-4F59-4035-8E46-F0EF6EC8CDB1}"/>
              </a:ext>
            </a:extLst>
          </p:cNvPr>
          <p:cNvSpPr/>
          <p:nvPr/>
        </p:nvSpPr>
        <p:spPr>
          <a:xfrm>
            <a:off x="10510606" y="5723200"/>
            <a:ext cx="438150" cy="446812"/>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17" name="Oval 16">
            <a:extLst>
              <a:ext uri="{FF2B5EF4-FFF2-40B4-BE49-F238E27FC236}">
                <a16:creationId xmlns:a16="http://schemas.microsoft.com/office/drawing/2014/main" id="{9E16964B-13B0-4121-863C-34A79404A369}"/>
              </a:ext>
            </a:extLst>
          </p:cNvPr>
          <p:cNvSpPr/>
          <p:nvPr/>
        </p:nvSpPr>
        <p:spPr>
          <a:xfrm>
            <a:off x="7381967" y="4998228"/>
            <a:ext cx="438150" cy="446812"/>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IN"/>
          </a:p>
        </p:txBody>
      </p:sp>
      <p:graphicFrame>
        <p:nvGraphicFramePr>
          <p:cNvPr id="18" name="Table 18">
            <a:extLst>
              <a:ext uri="{FF2B5EF4-FFF2-40B4-BE49-F238E27FC236}">
                <a16:creationId xmlns:a16="http://schemas.microsoft.com/office/drawing/2014/main" id="{4C35A562-8845-4536-B467-D69FAAEA6E83}"/>
              </a:ext>
            </a:extLst>
          </p:cNvPr>
          <p:cNvGraphicFramePr>
            <a:graphicFrameLocks noGrp="1"/>
          </p:cNvGraphicFramePr>
          <p:nvPr>
            <p:extLst>
              <p:ext uri="{D42A27DB-BD31-4B8C-83A1-F6EECF244321}">
                <p14:modId xmlns:p14="http://schemas.microsoft.com/office/powerpoint/2010/main" val="369807089"/>
              </p:ext>
            </p:extLst>
          </p:nvPr>
        </p:nvGraphicFramePr>
        <p:xfrm>
          <a:off x="7381967" y="2777964"/>
          <a:ext cx="3431370" cy="1112520"/>
        </p:xfrm>
        <a:graphic>
          <a:graphicData uri="http://schemas.openxmlformats.org/drawingml/2006/table">
            <a:tbl>
              <a:tblPr firstRow="1" bandRow="1">
                <a:tableStyleId>{5940675A-B579-460E-94D1-54222C63F5DA}</a:tableStyleId>
              </a:tblPr>
              <a:tblGrid>
                <a:gridCol w="571895">
                  <a:extLst>
                    <a:ext uri="{9D8B030D-6E8A-4147-A177-3AD203B41FA5}">
                      <a16:colId xmlns:a16="http://schemas.microsoft.com/office/drawing/2014/main" val="2210657480"/>
                    </a:ext>
                  </a:extLst>
                </a:gridCol>
                <a:gridCol w="571895">
                  <a:extLst>
                    <a:ext uri="{9D8B030D-6E8A-4147-A177-3AD203B41FA5}">
                      <a16:colId xmlns:a16="http://schemas.microsoft.com/office/drawing/2014/main" val="534019318"/>
                    </a:ext>
                  </a:extLst>
                </a:gridCol>
                <a:gridCol w="571895">
                  <a:extLst>
                    <a:ext uri="{9D8B030D-6E8A-4147-A177-3AD203B41FA5}">
                      <a16:colId xmlns:a16="http://schemas.microsoft.com/office/drawing/2014/main" val="2309149830"/>
                    </a:ext>
                  </a:extLst>
                </a:gridCol>
                <a:gridCol w="571895">
                  <a:extLst>
                    <a:ext uri="{9D8B030D-6E8A-4147-A177-3AD203B41FA5}">
                      <a16:colId xmlns:a16="http://schemas.microsoft.com/office/drawing/2014/main" val="1924084973"/>
                    </a:ext>
                  </a:extLst>
                </a:gridCol>
                <a:gridCol w="571895">
                  <a:extLst>
                    <a:ext uri="{9D8B030D-6E8A-4147-A177-3AD203B41FA5}">
                      <a16:colId xmlns:a16="http://schemas.microsoft.com/office/drawing/2014/main" val="1328596771"/>
                    </a:ext>
                  </a:extLst>
                </a:gridCol>
                <a:gridCol w="571895">
                  <a:extLst>
                    <a:ext uri="{9D8B030D-6E8A-4147-A177-3AD203B41FA5}">
                      <a16:colId xmlns:a16="http://schemas.microsoft.com/office/drawing/2014/main" val="1437726955"/>
                    </a:ext>
                  </a:extLst>
                </a:gridCol>
              </a:tblGrid>
              <a:tr h="370840">
                <a:tc>
                  <a:txBody>
                    <a:bodyPr/>
                    <a:lstStyle/>
                    <a:p>
                      <a:endParaRPr lang="en-IN" dirty="0"/>
                    </a:p>
                  </a:txBody>
                  <a:tcPr/>
                </a:tc>
                <a:tc>
                  <a:txBody>
                    <a:bodyPr/>
                    <a:lstStyle/>
                    <a:p>
                      <a:r>
                        <a:rPr lang="en-IN" dirty="0"/>
                        <a:t>S</a:t>
                      </a:r>
                    </a:p>
                  </a:txBody>
                  <a:tcPr/>
                </a:tc>
                <a:tc>
                  <a:txBody>
                    <a:bodyPr/>
                    <a:lstStyle/>
                    <a:p>
                      <a:r>
                        <a:rPr lang="en-IN" dirty="0"/>
                        <a:t>A</a:t>
                      </a:r>
                    </a:p>
                  </a:txBody>
                  <a:tcPr/>
                </a:tc>
                <a:tc>
                  <a:txBody>
                    <a:bodyPr/>
                    <a:lstStyle/>
                    <a:p>
                      <a:r>
                        <a:rPr lang="en-IN" dirty="0"/>
                        <a:t>B</a:t>
                      </a:r>
                    </a:p>
                  </a:txBody>
                  <a:tcPr/>
                </a:tc>
                <a:tc>
                  <a:txBody>
                    <a:bodyPr/>
                    <a:lstStyle/>
                    <a:p>
                      <a:r>
                        <a:rPr lang="en-IN" dirty="0"/>
                        <a:t>C</a:t>
                      </a:r>
                    </a:p>
                  </a:txBody>
                  <a:tcPr/>
                </a:tc>
                <a:tc>
                  <a:txBody>
                    <a:bodyPr/>
                    <a:lstStyle/>
                    <a:p>
                      <a:r>
                        <a:rPr lang="en-IN" dirty="0"/>
                        <a:t>D</a:t>
                      </a:r>
                    </a:p>
                  </a:txBody>
                  <a:tcPr/>
                </a:tc>
                <a:extLst>
                  <a:ext uri="{0D108BD9-81ED-4DB2-BD59-A6C34878D82A}">
                    <a16:rowId xmlns:a16="http://schemas.microsoft.com/office/drawing/2014/main" val="2868309960"/>
                  </a:ext>
                </a:extLst>
              </a:tr>
              <a:tr h="370840">
                <a:tc>
                  <a:txBody>
                    <a:bodyPr/>
                    <a:lstStyle/>
                    <a:p>
                      <a:r>
                        <a:rPr lang="en-IN" dirty="0" err="1"/>
                        <a:t>v.d</a:t>
                      </a:r>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709869084"/>
                  </a:ext>
                </a:extLst>
              </a:tr>
              <a:tr h="370840">
                <a:tc>
                  <a:txBody>
                    <a:bodyPr/>
                    <a:lstStyle/>
                    <a:p>
                      <a:r>
                        <a:rPr lang="en-IN" dirty="0"/>
                        <a:t>v.</a:t>
                      </a:r>
                      <a:r>
                        <a:rPr lang="el-GR" dirty="0"/>
                        <a:t>π</a:t>
                      </a:r>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863752504"/>
                  </a:ext>
                </a:extLst>
              </a:tr>
            </a:tbl>
          </a:graphicData>
        </a:graphic>
      </p:graphicFrame>
      <p:cxnSp>
        <p:nvCxnSpPr>
          <p:cNvPr id="20" name="Straight Arrow Connector 19">
            <a:extLst>
              <a:ext uri="{FF2B5EF4-FFF2-40B4-BE49-F238E27FC236}">
                <a16:creationId xmlns:a16="http://schemas.microsoft.com/office/drawing/2014/main" id="{C378FECE-B551-4263-BC7F-1523096DC8F0}"/>
              </a:ext>
            </a:extLst>
          </p:cNvPr>
          <p:cNvCxnSpPr>
            <a:stCxn id="17" idx="7"/>
            <a:endCxn id="13" idx="3"/>
          </p:cNvCxnSpPr>
          <p:nvPr/>
        </p:nvCxnSpPr>
        <p:spPr>
          <a:xfrm flipV="1">
            <a:off x="7755951" y="4648578"/>
            <a:ext cx="745145" cy="4150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17F1D92-F631-4903-939E-2A13C32BA25D}"/>
              </a:ext>
            </a:extLst>
          </p:cNvPr>
          <p:cNvCxnSpPr>
            <a:stCxn id="13" idx="4"/>
            <a:endCxn id="14" idx="0"/>
          </p:cNvCxnSpPr>
          <p:nvPr/>
        </p:nvCxnSpPr>
        <p:spPr>
          <a:xfrm flipH="1">
            <a:off x="8635660" y="4714012"/>
            <a:ext cx="20345" cy="10091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023DB06-3EAF-440D-A5F9-DBC7A66C0B56}"/>
              </a:ext>
            </a:extLst>
          </p:cNvPr>
          <p:cNvCxnSpPr>
            <a:stCxn id="14" idx="7"/>
            <a:endCxn id="13" idx="5"/>
          </p:cNvCxnSpPr>
          <p:nvPr/>
        </p:nvCxnSpPr>
        <p:spPr>
          <a:xfrm flipV="1">
            <a:off x="8790569" y="4648578"/>
            <a:ext cx="20345" cy="11400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447CDB3-04DE-4A08-AF21-B52DA0B8D80E}"/>
              </a:ext>
            </a:extLst>
          </p:cNvPr>
          <p:cNvCxnSpPr>
            <a:stCxn id="13" idx="6"/>
            <a:endCxn id="15" idx="2"/>
          </p:cNvCxnSpPr>
          <p:nvPr/>
        </p:nvCxnSpPr>
        <p:spPr>
          <a:xfrm flipV="1">
            <a:off x="8875080" y="4455759"/>
            <a:ext cx="1587439" cy="348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D9DF58D-EF36-4BFA-8EF7-5891DA4412CA}"/>
              </a:ext>
            </a:extLst>
          </p:cNvPr>
          <p:cNvCxnSpPr>
            <a:stCxn id="17" idx="5"/>
            <a:endCxn id="14" idx="2"/>
          </p:cNvCxnSpPr>
          <p:nvPr/>
        </p:nvCxnSpPr>
        <p:spPr>
          <a:xfrm>
            <a:off x="7755951" y="5379606"/>
            <a:ext cx="660634" cy="567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C73B5D06-DD22-4CF6-85FB-2E32DEB8C19E}"/>
              </a:ext>
            </a:extLst>
          </p:cNvPr>
          <p:cNvCxnSpPr>
            <a:stCxn id="16" idx="2"/>
            <a:endCxn id="17" idx="6"/>
          </p:cNvCxnSpPr>
          <p:nvPr/>
        </p:nvCxnSpPr>
        <p:spPr>
          <a:xfrm flipH="1" flipV="1">
            <a:off x="7820117" y="5221634"/>
            <a:ext cx="2690489" cy="7249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BA6681EC-C154-49D0-B566-44BA94EFB626}"/>
              </a:ext>
            </a:extLst>
          </p:cNvPr>
          <p:cNvCxnSpPr>
            <a:stCxn id="14" idx="6"/>
            <a:endCxn id="15" idx="3"/>
          </p:cNvCxnSpPr>
          <p:nvPr/>
        </p:nvCxnSpPr>
        <p:spPr>
          <a:xfrm flipV="1">
            <a:off x="8854735" y="4613731"/>
            <a:ext cx="1671950" cy="13328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3E1524D4-8680-4545-8538-B23B3400DA3E}"/>
              </a:ext>
            </a:extLst>
          </p:cNvPr>
          <p:cNvCxnSpPr>
            <a:stCxn id="15" idx="4"/>
            <a:endCxn id="16" idx="0"/>
          </p:cNvCxnSpPr>
          <p:nvPr/>
        </p:nvCxnSpPr>
        <p:spPr>
          <a:xfrm>
            <a:off x="10681594" y="4679165"/>
            <a:ext cx="48087" cy="1044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167272-131B-4462-9F10-76A3804E2623}"/>
              </a:ext>
            </a:extLst>
          </p:cNvPr>
          <p:cNvCxnSpPr>
            <a:stCxn id="16" idx="7"/>
            <a:endCxn id="15" idx="5"/>
          </p:cNvCxnSpPr>
          <p:nvPr/>
        </p:nvCxnSpPr>
        <p:spPr>
          <a:xfrm flipH="1" flipV="1">
            <a:off x="10836503" y="4613731"/>
            <a:ext cx="48087" cy="11749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BCC58F60-BC08-4DC9-B30B-7E9D994F4272}"/>
              </a:ext>
            </a:extLst>
          </p:cNvPr>
          <p:cNvCxnSpPr>
            <a:stCxn id="14" idx="6"/>
            <a:endCxn id="16" idx="2"/>
          </p:cNvCxnSpPr>
          <p:nvPr/>
        </p:nvCxnSpPr>
        <p:spPr>
          <a:xfrm>
            <a:off x="8854735" y="5946606"/>
            <a:ext cx="165587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ECFE0079-04A5-4A77-AE9B-ACA87DDB76F4}"/>
              </a:ext>
            </a:extLst>
          </p:cNvPr>
          <p:cNvSpPr txBox="1"/>
          <p:nvPr/>
        </p:nvSpPr>
        <p:spPr>
          <a:xfrm>
            <a:off x="7094297" y="5033940"/>
            <a:ext cx="304892" cy="369332"/>
          </a:xfrm>
          <a:prstGeom prst="rect">
            <a:avLst/>
          </a:prstGeom>
          <a:noFill/>
        </p:spPr>
        <p:txBody>
          <a:bodyPr wrap="none" rtlCol="0">
            <a:spAutoFit/>
          </a:bodyPr>
          <a:lstStyle/>
          <a:p>
            <a:r>
              <a:rPr lang="en-IN" dirty="0"/>
              <a:t>S</a:t>
            </a:r>
          </a:p>
        </p:txBody>
      </p:sp>
      <p:sp>
        <p:nvSpPr>
          <p:cNvPr id="40" name="TextBox 39">
            <a:extLst>
              <a:ext uri="{FF2B5EF4-FFF2-40B4-BE49-F238E27FC236}">
                <a16:creationId xmlns:a16="http://schemas.microsoft.com/office/drawing/2014/main" id="{0FB8426C-AD75-4EEA-AD66-0D9AAA38BCDA}"/>
              </a:ext>
            </a:extLst>
          </p:cNvPr>
          <p:cNvSpPr txBox="1"/>
          <p:nvPr/>
        </p:nvSpPr>
        <p:spPr>
          <a:xfrm>
            <a:off x="8481423" y="3975295"/>
            <a:ext cx="317716" cy="369332"/>
          </a:xfrm>
          <a:prstGeom prst="rect">
            <a:avLst/>
          </a:prstGeom>
          <a:noFill/>
        </p:spPr>
        <p:txBody>
          <a:bodyPr wrap="none" rtlCol="0">
            <a:spAutoFit/>
          </a:bodyPr>
          <a:lstStyle/>
          <a:p>
            <a:r>
              <a:rPr lang="en-IN" dirty="0"/>
              <a:t>A</a:t>
            </a:r>
          </a:p>
        </p:txBody>
      </p:sp>
      <p:sp>
        <p:nvSpPr>
          <p:cNvPr id="41" name="TextBox 40">
            <a:extLst>
              <a:ext uri="{FF2B5EF4-FFF2-40B4-BE49-F238E27FC236}">
                <a16:creationId xmlns:a16="http://schemas.microsoft.com/office/drawing/2014/main" id="{278B59BE-06F7-422D-A973-83A5831A2450}"/>
              </a:ext>
            </a:extLst>
          </p:cNvPr>
          <p:cNvSpPr txBox="1"/>
          <p:nvPr/>
        </p:nvSpPr>
        <p:spPr>
          <a:xfrm>
            <a:off x="10531575" y="3967964"/>
            <a:ext cx="311304" cy="369332"/>
          </a:xfrm>
          <a:prstGeom prst="rect">
            <a:avLst/>
          </a:prstGeom>
          <a:noFill/>
        </p:spPr>
        <p:txBody>
          <a:bodyPr wrap="none" rtlCol="0">
            <a:spAutoFit/>
          </a:bodyPr>
          <a:lstStyle/>
          <a:p>
            <a:r>
              <a:rPr lang="en-IN" dirty="0"/>
              <a:t>B</a:t>
            </a:r>
          </a:p>
        </p:txBody>
      </p:sp>
      <p:sp>
        <p:nvSpPr>
          <p:cNvPr id="42" name="TextBox 41">
            <a:extLst>
              <a:ext uri="{FF2B5EF4-FFF2-40B4-BE49-F238E27FC236}">
                <a16:creationId xmlns:a16="http://schemas.microsoft.com/office/drawing/2014/main" id="{B931D3CD-99ED-485F-93C2-60279C86BB48}"/>
              </a:ext>
            </a:extLst>
          </p:cNvPr>
          <p:cNvSpPr txBox="1"/>
          <p:nvPr/>
        </p:nvSpPr>
        <p:spPr>
          <a:xfrm>
            <a:off x="8481423" y="6119743"/>
            <a:ext cx="316112" cy="369332"/>
          </a:xfrm>
          <a:prstGeom prst="rect">
            <a:avLst/>
          </a:prstGeom>
          <a:noFill/>
        </p:spPr>
        <p:txBody>
          <a:bodyPr wrap="none" rtlCol="0">
            <a:spAutoFit/>
          </a:bodyPr>
          <a:lstStyle/>
          <a:p>
            <a:r>
              <a:rPr lang="en-IN" dirty="0"/>
              <a:t>D</a:t>
            </a:r>
          </a:p>
        </p:txBody>
      </p:sp>
      <p:sp>
        <p:nvSpPr>
          <p:cNvPr id="43" name="TextBox 42">
            <a:extLst>
              <a:ext uri="{FF2B5EF4-FFF2-40B4-BE49-F238E27FC236}">
                <a16:creationId xmlns:a16="http://schemas.microsoft.com/office/drawing/2014/main" id="{874B8FF8-4C53-4B79-9F93-E190BA4C08A8}"/>
              </a:ext>
            </a:extLst>
          </p:cNvPr>
          <p:cNvSpPr txBox="1"/>
          <p:nvPr/>
        </p:nvSpPr>
        <p:spPr>
          <a:xfrm>
            <a:off x="10593719" y="6130503"/>
            <a:ext cx="316112" cy="369332"/>
          </a:xfrm>
          <a:prstGeom prst="rect">
            <a:avLst/>
          </a:prstGeom>
          <a:noFill/>
        </p:spPr>
        <p:txBody>
          <a:bodyPr wrap="none" rtlCol="0">
            <a:spAutoFit/>
          </a:bodyPr>
          <a:lstStyle/>
          <a:p>
            <a:r>
              <a:rPr lang="en-IN" dirty="0"/>
              <a:t>C</a:t>
            </a:r>
          </a:p>
        </p:txBody>
      </p:sp>
      <p:sp>
        <p:nvSpPr>
          <p:cNvPr id="44" name="TextBox 43">
            <a:extLst>
              <a:ext uri="{FF2B5EF4-FFF2-40B4-BE49-F238E27FC236}">
                <a16:creationId xmlns:a16="http://schemas.microsoft.com/office/drawing/2014/main" id="{289DECD8-E708-4DEB-820A-52E2F8D08CB4}"/>
              </a:ext>
            </a:extLst>
          </p:cNvPr>
          <p:cNvSpPr txBox="1"/>
          <p:nvPr/>
        </p:nvSpPr>
        <p:spPr>
          <a:xfrm>
            <a:off x="7870599" y="4581068"/>
            <a:ext cx="412292" cy="369332"/>
          </a:xfrm>
          <a:prstGeom prst="rect">
            <a:avLst/>
          </a:prstGeom>
          <a:noFill/>
        </p:spPr>
        <p:txBody>
          <a:bodyPr wrap="none" rtlCol="0">
            <a:spAutoFit/>
          </a:bodyPr>
          <a:lstStyle/>
          <a:p>
            <a:r>
              <a:rPr lang="en-IN" dirty="0"/>
              <a:t>10</a:t>
            </a:r>
          </a:p>
        </p:txBody>
      </p:sp>
      <p:sp>
        <p:nvSpPr>
          <p:cNvPr id="45" name="TextBox 44">
            <a:extLst>
              <a:ext uri="{FF2B5EF4-FFF2-40B4-BE49-F238E27FC236}">
                <a16:creationId xmlns:a16="http://schemas.microsoft.com/office/drawing/2014/main" id="{497F5735-1811-4E3C-B711-1E000199C567}"/>
              </a:ext>
            </a:extLst>
          </p:cNvPr>
          <p:cNvSpPr txBox="1"/>
          <p:nvPr/>
        </p:nvSpPr>
        <p:spPr>
          <a:xfrm>
            <a:off x="7780866" y="5538534"/>
            <a:ext cx="304892" cy="369332"/>
          </a:xfrm>
          <a:prstGeom prst="rect">
            <a:avLst/>
          </a:prstGeom>
          <a:noFill/>
        </p:spPr>
        <p:txBody>
          <a:bodyPr wrap="none" rtlCol="0">
            <a:spAutoFit/>
          </a:bodyPr>
          <a:lstStyle/>
          <a:p>
            <a:r>
              <a:rPr lang="en-IN" dirty="0"/>
              <a:t>5</a:t>
            </a:r>
          </a:p>
        </p:txBody>
      </p:sp>
      <p:sp>
        <p:nvSpPr>
          <p:cNvPr id="46" name="TextBox 45">
            <a:extLst>
              <a:ext uri="{FF2B5EF4-FFF2-40B4-BE49-F238E27FC236}">
                <a16:creationId xmlns:a16="http://schemas.microsoft.com/office/drawing/2014/main" id="{513D619F-D224-4AB9-BB6F-38FA386921C2}"/>
              </a:ext>
            </a:extLst>
          </p:cNvPr>
          <p:cNvSpPr txBox="1"/>
          <p:nvPr/>
        </p:nvSpPr>
        <p:spPr>
          <a:xfrm>
            <a:off x="8367011" y="4897465"/>
            <a:ext cx="298480" cy="369332"/>
          </a:xfrm>
          <a:prstGeom prst="rect">
            <a:avLst/>
          </a:prstGeom>
          <a:noFill/>
        </p:spPr>
        <p:txBody>
          <a:bodyPr wrap="none" rtlCol="0">
            <a:spAutoFit/>
          </a:bodyPr>
          <a:lstStyle/>
          <a:p>
            <a:r>
              <a:rPr lang="en-IN" dirty="0"/>
              <a:t>2</a:t>
            </a:r>
          </a:p>
        </p:txBody>
      </p:sp>
      <p:sp>
        <p:nvSpPr>
          <p:cNvPr id="47" name="TextBox 46">
            <a:extLst>
              <a:ext uri="{FF2B5EF4-FFF2-40B4-BE49-F238E27FC236}">
                <a16:creationId xmlns:a16="http://schemas.microsoft.com/office/drawing/2014/main" id="{15548E04-B37C-4CA4-B368-B0C6FE6E26BE}"/>
              </a:ext>
            </a:extLst>
          </p:cNvPr>
          <p:cNvSpPr txBox="1"/>
          <p:nvPr/>
        </p:nvSpPr>
        <p:spPr>
          <a:xfrm>
            <a:off x="8730492" y="4821251"/>
            <a:ext cx="304892" cy="369332"/>
          </a:xfrm>
          <a:prstGeom prst="rect">
            <a:avLst/>
          </a:prstGeom>
          <a:noFill/>
        </p:spPr>
        <p:txBody>
          <a:bodyPr wrap="none" rtlCol="0">
            <a:spAutoFit/>
          </a:bodyPr>
          <a:lstStyle/>
          <a:p>
            <a:r>
              <a:rPr lang="en-IN" dirty="0"/>
              <a:t>3</a:t>
            </a:r>
          </a:p>
        </p:txBody>
      </p:sp>
      <p:sp>
        <p:nvSpPr>
          <p:cNvPr id="48" name="TextBox 47">
            <a:extLst>
              <a:ext uri="{FF2B5EF4-FFF2-40B4-BE49-F238E27FC236}">
                <a16:creationId xmlns:a16="http://schemas.microsoft.com/office/drawing/2014/main" id="{6C344DC9-8DC9-4BA7-A5E9-4A24893387E6}"/>
              </a:ext>
            </a:extLst>
          </p:cNvPr>
          <p:cNvSpPr txBox="1"/>
          <p:nvPr/>
        </p:nvSpPr>
        <p:spPr>
          <a:xfrm>
            <a:off x="9512911" y="4182837"/>
            <a:ext cx="304892" cy="369332"/>
          </a:xfrm>
          <a:prstGeom prst="rect">
            <a:avLst/>
          </a:prstGeom>
          <a:noFill/>
        </p:spPr>
        <p:txBody>
          <a:bodyPr wrap="none" rtlCol="0">
            <a:spAutoFit/>
          </a:bodyPr>
          <a:lstStyle/>
          <a:p>
            <a:r>
              <a:rPr lang="en-IN" dirty="0"/>
              <a:t>1</a:t>
            </a:r>
          </a:p>
        </p:txBody>
      </p:sp>
      <p:sp>
        <p:nvSpPr>
          <p:cNvPr id="49" name="TextBox 48">
            <a:extLst>
              <a:ext uri="{FF2B5EF4-FFF2-40B4-BE49-F238E27FC236}">
                <a16:creationId xmlns:a16="http://schemas.microsoft.com/office/drawing/2014/main" id="{E266B1FD-BA37-485D-A9D8-1BC9964D59F9}"/>
              </a:ext>
            </a:extLst>
          </p:cNvPr>
          <p:cNvSpPr txBox="1"/>
          <p:nvPr/>
        </p:nvSpPr>
        <p:spPr>
          <a:xfrm>
            <a:off x="10459335" y="5107640"/>
            <a:ext cx="304892" cy="369332"/>
          </a:xfrm>
          <a:prstGeom prst="rect">
            <a:avLst/>
          </a:prstGeom>
          <a:noFill/>
        </p:spPr>
        <p:txBody>
          <a:bodyPr wrap="none" rtlCol="0">
            <a:spAutoFit/>
          </a:bodyPr>
          <a:lstStyle/>
          <a:p>
            <a:r>
              <a:rPr lang="en-IN" dirty="0"/>
              <a:t>4</a:t>
            </a:r>
          </a:p>
        </p:txBody>
      </p:sp>
      <p:sp>
        <p:nvSpPr>
          <p:cNvPr id="50" name="TextBox 49">
            <a:extLst>
              <a:ext uri="{FF2B5EF4-FFF2-40B4-BE49-F238E27FC236}">
                <a16:creationId xmlns:a16="http://schemas.microsoft.com/office/drawing/2014/main" id="{09CABF2D-EE29-4DE9-B8B9-8C28CC44DE43}"/>
              </a:ext>
            </a:extLst>
          </p:cNvPr>
          <p:cNvSpPr txBox="1"/>
          <p:nvPr/>
        </p:nvSpPr>
        <p:spPr>
          <a:xfrm>
            <a:off x="10836503" y="5075708"/>
            <a:ext cx="304892" cy="369332"/>
          </a:xfrm>
          <a:prstGeom prst="rect">
            <a:avLst/>
          </a:prstGeom>
          <a:noFill/>
        </p:spPr>
        <p:txBody>
          <a:bodyPr wrap="none" rtlCol="0">
            <a:spAutoFit/>
          </a:bodyPr>
          <a:lstStyle/>
          <a:p>
            <a:r>
              <a:rPr lang="en-IN" dirty="0"/>
              <a:t>6</a:t>
            </a:r>
          </a:p>
        </p:txBody>
      </p:sp>
      <p:sp>
        <p:nvSpPr>
          <p:cNvPr id="51" name="TextBox 50">
            <a:extLst>
              <a:ext uri="{FF2B5EF4-FFF2-40B4-BE49-F238E27FC236}">
                <a16:creationId xmlns:a16="http://schemas.microsoft.com/office/drawing/2014/main" id="{0A4BD4AE-FF93-4995-9E65-BD9D292487B3}"/>
              </a:ext>
            </a:extLst>
          </p:cNvPr>
          <p:cNvSpPr txBox="1"/>
          <p:nvPr/>
        </p:nvSpPr>
        <p:spPr>
          <a:xfrm>
            <a:off x="9782922" y="4743713"/>
            <a:ext cx="304892" cy="369332"/>
          </a:xfrm>
          <a:prstGeom prst="rect">
            <a:avLst/>
          </a:prstGeom>
          <a:noFill/>
        </p:spPr>
        <p:txBody>
          <a:bodyPr wrap="none" rtlCol="0">
            <a:spAutoFit/>
          </a:bodyPr>
          <a:lstStyle/>
          <a:p>
            <a:r>
              <a:rPr lang="en-IN" dirty="0"/>
              <a:t>9</a:t>
            </a:r>
          </a:p>
        </p:txBody>
      </p:sp>
      <p:sp>
        <p:nvSpPr>
          <p:cNvPr id="52" name="TextBox 51">
            <a:extLst>
              <a:ext uri="{FF2B5EF4-FFF2-40B4-BE49-F238E27FC236}">
                <a16:creationId xmlns:a16="http://schemas.microsoft.com/office/drawing/2014/main" id="{9563AF06-8047-4356-A2A1-17560B04E627}"/>
              </a:ext>
            </a:extLst>
          </p:cNvPr>
          <p:cNvSpPr txBox="1"/>
          <p:nvPr/>
        </p:nvSpPr>
        <p:spPr>
          <a:xfrm>
            <a:off x="9460068" y="5958652"/>
            <a:ext cx="304892" cy="369332"/>
          </a:xfrm>
          <a:prstGeom prst="rect">
            <a:avLst/>
          </a:prstGeom>
          <a:noFill/>
        </p:spPr>
        <p:txBody>
          <a:bodyPr wrap="none" rtlCol="0">
            <a:spAutoFit/>
          </a:bodyPr>
          <a:lstStyle/>
          <a:p>
            <a:r>
              <a:rPr lang="en-IN" dirty="0"/>
              <a:t>2</a:t>
            </a:r>
          </a:p>
        </p:txBody>
      </p:sp>
      <p:sp>
        <p:nvSpPr>
          <p:cNvPr id="53" name="TextBox 52">
            <a:extLst>
              <a:ext uri="{FF2B5EF4-FFF2-40B4-BE49-F238E27FC236}">
                <a16:creationId xmlns:a16="http://schemas.microsoft.com/office/drawing/2014/main" id="{15F70485-C4D2-40AC-9D5B-EF8E4B002128}"/>
              </a:ext>
            </a:extLst>
          </p:cNvPr>
          <p:cNvSpPr txBox="1"/>
          <p:nvPr/>
        </p:nvSpPr>
        <p:spPr>
          <a:xfrm>
            <a:off x="9630476" y="5419302"/>
            <a:ext cx="304892" cy="369332"/>
          </a:xfrm>
          <a:prstGeom prst="rect">
            <a:avLst/>
          </a:prstGeom>
          <a:noFill/>
        </p:spPr>
        <p:txBody>
          <a:bodyPr wrap="none" rtlCol="0">
            <a:spAutoFit/>
          </a:bodyPr>
          <a:lstStyle/>
          <a:p>
            <a:r>
              <a:rPr lang="en-IN" dirty="0"/>
              <a:t>7</a:t>
            </a:r>
          </a:p>
        </p:txBody>
      </p:sp>
    </p:spTree>
    <p:extLst>
      <p:ext uri="{BB962C8B-B14F-4D97-AF65-F5344CB8AC3E}">
        <p14:creationId xmlns:p14="http://schemas.microsoft.com/office/powerpoint/2010/main" val="73624682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CD165-D926-42D0-92EA-05BCFAA61B88}"/>
              </a:ext>
            </a:extLst>
          </p:cNvPr>
          <p:cNvSpPr>
            <a:spLocks noGrp="1"/>
          </p:cNvSpPr>
          <p:nvPr>
            <p:ph type="title"/>
          </p:nvPr>
        </p:nvSpPr>
        <p:spPr/>
        <p:txBody>
          <a:bodyPr/>
          <a:lstStyle/>
          <a:p>
            <a:r>
              <a:rPr lang="en-IN" dirty="0"/>
              <a:t>Time complexity</a:t>
            </a:r>
          </a:p>
        </p:txBody>
      </p:sp>
      <p:sp>
        <p:nvSpPr>
          <p:cNvPr id="3" name="Content Placeholder 2">
            <a:extLst>
              <a:ext uri="{FF2B5EF4-FFF2-40B4-BE49-F238E27FC236}">
                <a16:creationId xmlns:a16="http://schemas.microsoft.com/office/drawing/2014/main" id="{DE915622-9FC4-4527-8781-70BE7E260504}"/>
              </a:ext>
            </a:extLst>
          </p:cNvPr>
          <p:cNvSpPr>
            <a:spLocks noGrp="1"/>
          </p:cNvSpPr>
          <p:nvPr>
            <p:ph idx="1"/>
          </p:nvPr>
        </p:nvSpPr>
        <p:spPr/>
        <p:txBody>
          <a:bodyPr/>
          <a:lstStyle/>
          <a:p>
            <a:r>
              <a:rPr lang="en-IN" dirty="0"/>
              <a:t>Adjacency matrix: O(V</a:t>
            </a:r>
            <a:r>
              <a:rPr lang="en-IN" baseline="30000" dirty="0"/>
              <a:t>2</a:t>
            </a:r>
            <a:r>
              <a:rPr lang="en-IN" dirty="0"/>
              <a:t>)</a:t>
            </a:r>
          </a:p>
          <a:p>
            <a:pPr lvl="1"/>
            <a:r>
              <a:rPr lang="en-US" dirty="0"/>
              <a:t>Adding all |V| vertices to Q takes O(V) time.</a:t>
            </a:r>
          </a:p>
          <a:p>
            <a:pPr lvl="1"/>
            <a:r>
              <a:rPr lang="en-US" dirty="0"/>
              <a:t>Removing the node with minimal </a:t>
            </a:r>
            <a:r>
              <a:rPr lang="en-US" dirty="0" err="1"/>
              <a:t>dist</a:t>
            </a:r>
            <a:r>
              <a:rPr lang="en-US" dirty="0"/>
              <a:t> takes O(V) time, and we only need O(1) to relax the node</a:t>
            </a:r>
          </a:p>
          <a:p>
            <a:pPr lvl="1"/>
            <a:r>
              <a:rPr lang="en-US" dirty="0"/>
              <a:t>For each vertex we are identifying the adjacent and try to relax the node take O(</a:t>
            </a:r>
            <a:r>
              <a:rPr lang="en-US" dirty="0" err="1"/>
              <a:t>VxV</a:t>
            </a:r>
            <a:r>
              <a:rPr lang="en-US" dirty="0"/>
              <a:t>)</a:t>
            </a:r>
            <a:endParaRPr lang="en-IN" dirty="0"/>
          </a:p>
          <a:p>
            <a:endParaRPr lang="en-IN" dirty="0"/>
          </a:p>
          <a:p>
            <a:r>
              <a:rPr lang="en-IN" dirty="0"/>
              <a:t>Priority Queue: O(E log V)</a:t>
            </a:r>
          </a:p>
          <a:p>
            <a:pPr lvl="1"/>
            <a:r>
              <a:rPr lang="en-US" dirty="0"/>
              <a:t>The given graph G=(V, E) is represented as an adjacency list.</a:t>
            </a:r>
          </a:p>
          <a:p>
            <a:pPr lvl="1"/>
            <a:r>
              <a:rPr lang="en-US" dirty="0"/>
              <a:t>The priority queue Q is represented as a binary heap or a Fibonacci heap.</a:t>
            </a:r>
          </a:p>
          <a:p>
            <a:pPr lvl="1"/>
            <a:r>
              <a:rPr lang="en-US" dirty="0"/>
              <a:t>It takes O(|V|) time to construct the initial priority queue of |V| vertices.</a:t>
            </a:r>
          </a:p>
          <a:p>
            <a:pPr lvl="1"/>
            <a:r>
              <a:rPr lang="en-US" dirty="0"/>
              <a:t>With adjacency list representation, all vertices of the graph can be traversed using BFS in O(E) time	</a:t>
            </a:r>
          </a:p>
          <a:p>
            <a:pPr lvl="1"/>
            <a:r>
              <a:rPr lang="en-US" dirty="0"/>
              <a:t>The time taken for each iteration of the loop is O(|V|) and </a:t>
            </a:r>
            <a:r>
              <a:rPr lang="en-US" dirty="0" err="1"/>
              <a:t>Extractmin</a:t>
            </a:r>
            <a:r>
              <a:rPr lang="en-US" dirty="0"/>
              <a:t> take O(log V) time.</a:t>
            </a:r>
          </a:p>
          <a:p>
            <a:pPr lvl="1"/>
            <a:r>
              <a:rPr lang="en-US" dirty="0"/>
              <a:t>Therefore, the time complexity becomes </a:t>
            </a:r>
            <a:r>
              <a:rPr lang="en-US" dirty="0">
                <a:solidFill>
                  <a:srgbClr val="C00000"/>
                </a:solidFill>
              </a:rPr>
              <a:t>O(|V|) + O(|E| </a:t>
            </a:r>
            <a:r>
              <a:rPr lang="en-US" dirty="0" err="1">
                <a:solidFill>
                  <a:srgbClr val="C00000"/>
                </a:solidFill>
              </a:rPr>
              <a:t>log|V</a:t>
            </a:r>
            <a:r>
              <a:rPr lang="en-US" dirty="0">
                <a:solidFill>
                  <a:srgbClr val="C00000"/>
                </a:solidFill>
              </a:rPr>
              <a:t>|) + O(|V| </a:t>
            </a:r>
            <a:r>
              <a:rPr lang="en-US" dirty="0" err="1">
                <a:solidFill>
                  <a:srgbClr val="C00000"/>
                </a:solidFill>
              </a:rPr>
              <a:t>log|V</a:t>
            </a:r>
            <a:r>
              <a:rPr lang="en-US" dirty="0">
                <a:solidFill>
                  <a:srgbClr val="C00000"/>
                </a:solidFill>
              </a:rPr>
              <a:t>|),</a:t>
            </a:r>
          </a:p>
          <a:p>
            <a:pPr lvl="1"/>
            <a:r>
              <a:rPr lang="en-IN" dirty="0">
                <a:solidFill>
                  <a:srgbClr val="C00000"/>
                </a:solidFill>
              </a:rPr>
              <a:t>which is O((|E|+|V|) </a:t>
            </a:r>
            <a:r>
              <a:rPr lang="en-IN" dirty="0" err="1">
                <a:solidFill>
                  <a:srgbClr val="C00000"/>
                </a:solidFill>
              </a:rPr>
              <a:t>log|V</a:t>
            </a:r>
            <a:r>
              <a:rPr lang="en-IN" dirty="0">
                <a:solidFill>
                  <a:srgbClr val="C00000"/>
                </a:solidFill>
              </a:rPr>
              <a:t>|) = O(|E| </a:t>
            </a:r>
            <a:r>
              <a:rPr lang="en-IN" dirty="0" err="1">
                <a:solidFill>
                  <a:srgbClr val="C00000"/>
                </a:solidFill>
              </a:rPr>
              <a:t>log|V</a:t>
            </a:r>
            <a:r>
              <a:rPr lang="en-IN" dirty="0">
                <a:solidFill>
                  <a:srgbClr val="C00000"/>
                </a:solidFill>
              </a:rPr>
              <a:t>|), since |E| &gt; |V| - 1 as G is a connected graph.</a:t>
            </a:r>
          </a:p>
          <a:p>
            <a:endParaRPr lang="en-IN" dirty="0"/>
          </a:p>
        </p:txBody>
      </p:sp>
    </p:spTree>
    <p:extLst>
      <p:ext uri="{BB962C8B-B14F-4D97-AF65-F5344CB8AC3E}">
        <p14:creationId xmlns:p14="http://schemas.microsoft.com/office/powerpoint/2010/main" val="161874583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36E26-6147-4838-BBF1-26ADBB58D244}"/>
              </a:ext>
            </a:extLst>
          </p:cNvPr>
          <p:cNvSpPr>
            <a:spLocks noGrp="1"/>
          </p:cNvSpPr>
          <p:nvPr>
            <p:ph type="title"/>
          </p:nvPr>
        </p:nvSpPr>
        <p:spPr/>
        <p:txBody>
          <a:bodyPr/>
          <a:lstStyle/>
          <a:p>
            <a:r>
              <a:rPr lang="en-US" dirty="0"/>
              <a:t>Optimal merge pattern</a:t>
            </a:r>
            <a:endParaRPr lang="en-IN" dirty="0"/>
          </a:p>
        </p:txBody>
      </p:sp>
      <p:sp>
        <p:nvSpPr>
          <p:cNvPr id="3" name="Content Placeholder 2">
            <a:extLst>
              <a:ext uri="{FF2B5EF4-FFF2-40B4-BE49-F238E27FC236}">
                <a16:creationId xmlns:a16="http://schemas.microsoft.com/office/drawing/2014/main" id="{81610BDC-7D99-4C72-99D0-7FF286FAC3E8}"/>
              </a:ext>
            </a:extLst>
          </p:cNvPr>
          <p:cNvSpPr>
            <a:spLocks noGrp="1"/>
          </p:cNvSpPr>
          <p:nvPr>
            <p:ph idx="1"/>
          </p:nvPr>
        </p:nvSpPr>
        <p:spPr/>
        <p:txBody>
          <a:bodyPr/>
          <a:lstStyle/>
          <a:p>
            <a:r>
              <a:rPr lang="en-US" b="1" dirty="0"/>
              <a:t>Optimal merge pattern</a:t>
            </a:r>
            <a:r>
              <a:rPr lang="en-US" dirty="0"/>
              <a:t> is a pattern that relates to the merging of two or more sorted files in a single sorted file. This type of merging can be done by the two-way merging method.</a:t>
            </a:r>
          </a:p>
          <a:p>
            <a:r>
              <a:rPr lang="en-US" dirty="0"/>
              <a:t>If we have two sorted files containing </a:t>
            </a:r>
            <a:r>
              <a:rPr lang="en-US" dirty="0">
                <a:solidFill>
                  <a:srgbClr val="C00000"/>
                </a:solidFill>
              </a:rPr>
              <a:t>n</a:t>
            </a:r>
            <a:r>
              <a:rPr lang="en-US" dirty="0"/>
              <a:t> and </a:t>
            </a:r>
            <a:r>
              <a:rPr lang="en-US" dirty="0">
                <a:solidFill>
                  <a:srgbClr val="C00000"/>
                </a:solidFill>
              </a:rPr>
              <a:t>m</a:t>
            </a:r>
            <a:r>
              <a:rPr lang="en-US" dirty="0"/>
              <a:t> records, respectively, then they could be merged together to obtain one sorted file in time </a:t>
            </a:r>
            <a:r>
              <a:rPr lang="en-US" b="1" dirty="0">
                <a:solidFill>
                  <a:srgbClr val="C00000"/>
                </a:solidFill>
              </a:rPr>
              <a:t>O(</a:t>
            </a:r>
            <a:r>
              <a:rPr lang="en-US" b="1" dirty="0" err="1">
                <a:solidFill>
                  <a:srgbClr val="C00000"/>
                </a:solidFill>
              </a:rPr>
              <a:t>n+m</a:t>
            </a:r>
            <a:r>
              <a:rPr lang="en-US" b="1" dirty="0">
                <a:solidFill>
                  <a:srgbClr val="C00000"/>
                </a:solidFill>
              </a:rPr>
              <a:t>)</a:t>
            </a:r>
            <a:r>
              <a:rPr lang="en-US" dirty="0"/>
              <a:t>.</a:t>
            </a:r>
          </a:p>
          <a:p>
            <a:pPr lvl="1"/>
            <a:endParaRPr lang="en-US" dirty="0"/>
          </a:p>
          <a:p>
            <a:endParaRPr lang="en-IN" dirty="0">
              <a:solidFill>
                <a:srgbClr val="C00000"/>
              </a:solidFill>
            </a:endParaRPr>
          </a:p>
        </p:txBody>
      </p:sp>
    </p:spTree>
    <p:extLst>
      <p:ext uri="{BB962C8B-B14F-4D97-AF65-F5344CB8AC3E}">
        <p14:creationId xmlns:p14="http://schemas.microsoft.com/office/powerpoint/2010/main" val="771971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36E26-6147-4838-BBF1-26ADBB58D244}"/>
              </a:ext>
            </a:extLst>
          </p:cNvPr>
          <p:cNvSpPr>
            <a:spLocks noGrp="1"/>
          </p:cNvSpPr>
          <p:nvPr>
            <p:ph type="title"/>
          </p:nvPr>
        </p:nvSpPr>
        <p:spPr/>
        <p:txBody>
          <a:bodyPr/>
          <a:lstStyle/>
          <a:p>
            <a:r>
              <a:rPr lang="en-US" dirty="0"/>
              <a:t>Optimal merge pattern</a:t>
            </a:r>
            <a:endParaRPr lang="en-IN" dirty="0"/>
          </a:p>
        </p:txBody>
      </p:sp>
      <p:sp>
        <p:nvSpPr>
          <p:cNvPr id="3" name="Content Placeholder 2">
            <a:extLst>
              <a:ext uri="{FF2B5EF4-FFF2-40B4-BE49-F238E27FC236}">
                <a16:creationId xmlns:a16="http://schemas.microsoft.com/office/drawing/2014/main" id="{81610BDC-7D99-4C72-99D0-7FF286FAC3E8}"/>
              </a:ext>
            </a:extLst>
          </p:cNvPr>
          <p:cNvSpPr>
            <a:spLocks noGrp="1"/>
          </p:cNvSpPr>
          <p:nvPr>
            <p:ph idx="1"/>
          </p:nvPr>
        </p:nvSpPr>
        <p:spPr/>
        <p:txBody>
          <a:bodyPr/>
          <a:lstStyle/>
          <a:p>
            <a:r>
              <a:rPr lang="en-US" dirty="0"/>
              <a:t>Given n number of sorted files, the task is to find the minimum computations done to reach the Optimal Merge Pattern. </a:t>
            </a:r>
          </a:p>
          <a:p>
            <a:r>
              <a:rPr lang="en-US" dirty="0"/>
              <a:t>When two or more sorted files are to be merged altogether to form a single file, the minimum computations are done to reach this file are known as </a:t>
            </a:r>
            <a:r>
              <a:rPr lang="en-US" dirty="0">
                <a:solidFill>
                  <a:srgbClr val="C00000"/>
                </a:solidFill>
              </a:rPr>
              <a:t>Optimal Merge Pattern.</a:t>
            </a:r>
          </a:p>
          <a:p>
            <a:r>
              <a:rPr lang="en-US" dirty="0"/>
              <a:t>Consider three sorted lists L1, L2 and L3 of size 30, 20 and 10 respectively. </a:t>
            </a:r>
          </a:p>
          <a:p>
            <a:pPr lvl="1"/>
            <a:r>
              <a:rPr lang="en-US" dirty="0"/>
              <a:t>Two way merge compares elements of two sorted lists and put them in new sorted list. </a:t>
            </a:r>
          </a:p>
          <a:p>
            <a:pPr marL="457200" lvl="1" indent="0">
              <a:buNone/>
            </a:pPr>
            <a:r>
              <a:rPr lang="en-US" dirty="0"/>
              <a:t>Case 1:</a:t>
            </a:r>
          </a:p>
          <a:p>
            <a:pPr lvl="1"/>
            <a:r>
              <a:rPr lang="en-US" dirty="0"/>
              <a:t>If we first merge list L1 and L2, it does 30 + 20 = 50 comparisons and creates a new array L’ of size </a:t>
            </a:r>
            <a:r>
              <a:rPr lang="en-US" dirty="0">
                <a:solidFill>
                  <a:srgbClr val="C00000"/>
                </a:solidFill>
              </a:rPr>
              <a:t>50</a:t>
            </a:r>
            <a:r>
              <a:rPr lang="en-US" dirty="0"/>
              <a:t>. </a:t>
            </a:r>
          </a:p>
          <a:p>
            <a:pPr lvl="1"/>
            <a:r>
              <a:rPr lang="en-US" dirty="0"/>
              <a:t>L’ and L3 can be merged with 50 + 10 = </a:t>
            </a:r>
            <a:r>
              <a:rPr lang="en-US" dirty="0">
                <a:solidFill>
                  <a:srgbClr val="C00000"/>
                </a:solidFill>
              </a:rPr>
              <a:t>60</a:t>
            </a:r>
            <a:r>
              <a:rPr lang="en-US" dirty="0"/>
              <a:t> comparisons that forms a sorted list L of size 60. </a:t>
            </a:r>
          </a:p>
          <a:p>
            <a:pPr lvl="1"/>
            <a:r>
              <a:rPr lang="en-US" dirty="0"/>
              <a:t>Thus total number of comparisons required to merge lists L1, L2 and L3 would be 50 + 60 = 110.</a:t>
            </a:r>
          </a:p>
          <a:p>
            <a:pPr marL="457200" lvl="1" indent="0">
              <a:buNone/>
            </a:pPr>
            <a:r>
              <a:rPr lang="en-US" dirty="0"/>
              <a:t>Case 2:</a:t>
            </a:r>
          </a:p>
          <a:p>
            <a:pPr lvl="1"/>
            <a:r>
              <a:rPr lang="en-US" dirty="0"/>
              <a:t>Alternatively, first merging L2 and L3 does 20 + 10 = </a:t>
            </a:r>
            <a:r>
              <a:rPr lang="en-US" dirty="0">
                <a:solidFill>
                  <a:srgbClr val="C00000"/>
                </a:solidFill>
              </a:rPr>
              <a:t>30</a:t>
            </a:r>
            <a:r>
              <a:rPr lang="en-US" dirty="0"/>
              <a:t> comparisons, which creates sorted list L’ of size 30. </a:t>
            </a:r>
          </a:p>
          <a:p>
            <a:pPr lvl="1"/>
            <a:r>
              <a:rPr lang="en-US" dirty="0"/>
              <a:t>Now merge L1 and L’, which does 30 + 30 = </a:t>
            </a:r>
            <a:r>
              <a:rPr lang="en-US" dirty="0">
                <a:solidFill>
                  <a:srgbClr val="C00000"/>
                </a:solidFill>
              </a:rPr>
              <a:t>60</a:t>
            </a:r>
            <a:r>
              <a:rPr lang="en-US" dirty="0"/>
              <a:t> comparisons to form a final sorted list L of size 60. Total comparisons required to create L is thus 30 + 60 = 90.</a:t>
            </a:r>
          </a:p>
          <a:p>
            <a:pPr lvl="1"/>
            <a:endParaRPr lang="en-US" dirty="0"/>
          </a:p>
          <a:p>
            <a:endParaRPr lang="en-IN" dirty="0">
              <a:solidFill>
                <a:srgbClr val="C00000"/>
              </a:solidFill>
            </a:endParaRPr>
          </a:p>
        </p:txBody>
      </p:sp>
    </p:spTree>
    <p:extLst>
      <p:ext uri="{BB962C8B-B14F-4D97-AF65-F5344CB8AC3E}">
        <p14:creationId xmlns:p14="http://schemas.microsoft.com/office/powerpoint/2010/main" val="2832494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fade">
                                      <p:cBhvr>
                                        <p:cTn id="40" dur="500"/>
                                        <p:tgtEl>
                                          <p:spTgt spid="3">
                                            <p:txEl>
                                              <p:pRg st="8" end="8"/>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Effect transition="in" filter="fade">
                                      <p:cBhvr>
                                        <p:cTn id="43" dur="500"/>
                                        <p:tgtEl>
                                          <p:spTgt spid="3">
                                            <p:txEl>
                                              <p:pRg st="9" end="9"/>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3">
                                            <p:txEl>
                                              <p:pRg st="10" end="10"/>
                                            </p:txEl>
                                          </p:spTgt>
                                        </p:tgtEl>
                                        <p:attrNameLst>
                                          <p:attrName>style.visibility</p:attrName>
                                        </p:attrNameLst>
                                      </p:cBhvr>
                                      <p:to>
                                        <p:strVal val="visible"/>
                                      </p:to>
                                    </p:set>
                                    <p:animEffect transition="in" filter="fade">
                                      <p:cBhvr>
                                        <p:cTn id="46"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0FC69-BEAA-4746-81A9-D32E37E8063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2323E4E-97E1-4A5F-9FE0-80DC4CC9B186}"/>
              </a:ext>
            </a:extLst>
          </p:cNvPr>
          <p:cNvSpPr>
            <a:spLocks noGrp="1"/>
          </p:cNvSpPr>
          <p:nvPr>
            <p:ph idx="1"/>
          </p:nvPr>
        </p:nvSpPr>
        <p:spPr/>
        <p:txBody>
          <a:bodyPr/>
          <a:lstStyle/>
          <a:p>
            <a:r>
              <a:rPr lang="en-US" dirty="0"/>
              <a:t>In both the cases, final output is identical but first approach does 120 comparisons whereas second does only 90. Goal of optimal merge pattern is to find the merging sequence which results into </a:t>
            </a:r>
            <a:r>
              <a:rPr lang="en-US" dirty="0">
                <a:solidFill>
                  <a:srgbClr val="C00000"/>
                </a:solidFill>
              </a:rPr>
              <a:t>minimum number of comparisons</a:t>
            </a:r>
            <a:r>
              <a:rPr lang="en-US" dirty="0"/>
              <a:t>.</a:t>
            </a:r>
          </a:p>
          <a:p>
            <a:r>
              <a:rPr lang="en-US" dirty="0"/>
              <a:t>Let S = {s</a:t>
            </a:r>
            <a:r>
              <a:rPr lang="en-US" baseline="-25000" dirty="0"/>
              <a:t>1</a:t>
            </a:r>
            <a:r>
              <a:rPr lang="en-US" dirty="0"/>
              <a:t>, s</a:t>
            </a:r>
            <a:r>
              <a:rPr lang="en-US" baseline="-25000" dirty="0"/>
              <a:t>2</a:t>
            </a:r>
            <a:r>
              <a:rPr lang="en-US" dirty="0"/>
              <a:t>, …, </a:t>
            </a:r>
            <a:r>
              <a:rPr lang="en-US" dirty="0" err="1"/>
              <a:t>s</a:t>
            </a:r>
            <a:r>
              <a:rPr lang="en-US" baseline="-25000" dirty="0" err="1"/>
              <a:t>n</a:t>
            </a:r>
            <a:r>
              <a:rPr lang="en-US" dirty="0"/>
              <a:t>} be the set of sequences to be merged. </a:t>
            </a:r>
          </a:p>
          <a:p>
            <a:r>
              <a:rPr lang="en-US" dirty="0">
                <a:solidFill>
                  <a:srgbClr val="C00000"/>
                </a:solidFill>
              </a:rPr>
              <a:t>Greedy approach </a:t>
            </a:r>
            <a:r>
              <a:rPr lang="en-US" dirty="0"/>
              <a:t>selects </a:t>
            </a:r>
            <a:r>
              <a:rPr lang="en-US" dirty="0">
                <a:solidFill>
                  <a:srgbClr val="C00000"/>
                </a:solidFill>
              </a:rPr>
              <a:t>minimum length </a:t>
            </a:r>
            <a:r>
              <a:rPr lang="en-US" dirty="0"/>
              <a:t>sequences </a:t>
            </a:r>
            <a:r>
              <a:rPr lang="en-US" dirty="0" err="1">
                <a:solidFill>
                  <a:srgbClr val="C00000"/>
                </a:solidFill>
              </a:rPr>
              <a:t>s</a:t>
            </a:r>
            <a:r>
              <a:rPr lang="en-US" baseline="-25000" dirty="0" err="1">
                <a:solidFill>
                  <a:srgbClr val="C00000"/>
                </a:solidFill>
              </a:rPr>
              <a:t>i</a:t>
            </a:r>
            <a:r>
              <a:rPr lang="en-US" dirty="0"/>
              <a:t> and</a:t>
            </a:r>
            <a:r>
              <a:rPr lang="en-US" dirty="0">
                <a:solidFill>
                  <a:srgbClr val="C00000"/>
                </a:solidFill>
              </a:rPr>
              <a:t> </a:t>
            </a:r>
            <a:r>
              <a:rPr lang="en-US" dirty="0" err="1">
                <a:solidFill>
                  <a:srgbClr val="C00000"/>
                </a:solidFill>
              </a:rPr>
              <a:t>s</a:t>
            </a:r>
            <a:r>
              <a:rPr lang="en-US" baseline="-25000" dirty="0" err="1">
                <a:solidFill>
                  <a:srgbClr val="C00000"/>
                </a:solidFill>
              </a:rPr>
              <a:t>j</a:t>
            </a:r>
            <a:r>
              <a:rPr lang="en-US" dirty="0">
                <a:solidFill>
                  <a:srgbClr val="C00000"/>
                </a:solidFill>
              </a:rPr>
              <a:t> </a:t>
            </a:r>
            <a:r>
              <a:rPr lang="en-US" dirty="0"/>
              <a:t>from</a:t>
            </a:r>
            <a:r>
              <a:rPr lang="en-US" dirty="0">
                <a:solidFill>
                  <a:srgbClr val="C00000"/>
                </a:solidFill>
              </a:rPr>
              <a:t> S</a:t>
            </a:r>
            <a:r>
              <a:rPr lang="en-US" dirty="0"/>
              <a:t>. The new set </a:t>
            </a:r>
            <a:r>
              <a:rPr lang="en-US" dirty="0">
                <a:solidFill>
                  <a:srgbClr val="C00000"/>
                </a:solidFill>
              </a:rPr>
              <a:t>S’ </a:t>
            </a:r>
            <a:r>
              <a:rPr lang="en-US" dirty="0"/>
              <a:t>is defined as, </a:t>
            </a:r>
            <a:r>
              <a:rPr lang="en-US" dirty="0">
                <a:solidFill>
                  <a:srgbClr val="C00000"/>
                </a:solidFill>
              </a:rPr>
              <a:t>S’ = (S – {</a:t>
            </a:r>
            <a:r>
              <a:rPr lang="en-US" dirty="0" err="1">
                <a:solidFill>
                  <a:srgbClr val="C00000"/>
                </a:solidFill>
              </a:rPr>
              <a:t>s</a:t>
            </a:r>
            <a:r>
              <a:rPr lang="en-US" baseline="-25000" dirty="0" err="1">
                <a:solidFill>
                  <a:srgbClr val="C00000"/>
                </a:solidFill>
              </a:rPr>
              <a:t>i</a:t>
            </a:r>
            <a:r>
              <a:rPr lang="en-US" dirty="0">
                <a:solidFill>
                  <a:srgbClr val="C00000"/>
                </a:solidFill>
              </a:rPr>
              <a:t>, </a:t>
            </a:r>
            <a:r>
              <a:rPr lang="en-US" dirty="0" err="1">
                <a:solidFill>
                  <a:srgbClr val="C00000"/>
                </a:solidFill>
              </a:rPr>
              <a:t>s</a:t>
            </a:r>
            <a:r>
              <a:rPr lang="en-US" baseline="-25000" dirty="0" err="1">
                <a:solidFill>
                  <a:srgbClr val="C00000"/>
                </a:solidFill>
              </a:rPr>
              <a:t>j</a:t>
            </a:r>
            <a:r>
              <a:rPr lang="en-US" dirty="0">
                <a:solidFill>
                  <a:srgbClr val="C00000"/>
                </a:solidFill>
              </a:rPr>
              <a:t>})  ∪ {</a:t>
            </a:r>
            <a:r>
              <a:rPr lang="en-US" dirty="0" err="1">
                <a:solidFill>
                  <a:srgbClr val="C00000"/>
                </a:solidFill>
              </a:rPr>
              <a:t>s</a:t>
            </a:r>
            <a:r>
              <a:rPr lang="en-US" baseline="-25000" dirty="0" err="1">
                <a:solidFill>
                  <a:srgbClr val="C00000"/>
                </a:solidFill>
              </a:rPr>
              <a:t>i</a:t>
            </a:r>
            <a:r>
              <a:rPr lang="en-US" dirty="0">
                <a:solidFill>
                  <a:srgbClr val="C00000"/>
                </a:solidFill>
              </a:rPr>
              <a:t> + </a:t>
            </a:r>
            <a:r>
              <a:rPr lang="en-US" dirty="0" err="1">
                <a:solidFill>
                  <a:srgbClr val="C00000"/>
                </a:solidFill>
              </a:rPr>
              <a:t>s</a:t>
            </a:r>
            <a:r>
              <a:rPr lang="en-US" baseline="-25000" dirty="0" err="1">
                <a:solidFill>
                  <a:srgbClr val="C00000"/>
                </a:solidFill>
              </a:rPr>
              <a:t>j</a:t>
            </a:r>
            <a:r>
              <a:rPr lang="en-US" dirty="0">
                <a:solidFill>
                  <a:srgbClr val="C00000"/>
                </a:solidFill>
              </a:rPr>
              <a:t>}</a:t>
            </a:r>
            <a:r>
              <a:rPr lang="en-US" dirty="0"/>
              <a:t>. </a:t>
            </a:r>
          </a:p>
          <a:p>
            <a:r>
              <a:rPr lang="en-US" dirty="0"/>
              <a:t>This procedure is repeated until only one sequence is left.</a:t>
            </a:r>
            <a:endParaRPr lang="en-IN" dirty="0"/>
          </a:p>
        </p:txBody>
      </p:sp>
    </p:spTree>
    <p:extLst>
      <p:ext uri="{BB962C8B-B14F-4D97-AF65-F5344CB8AC3E}">
        <p14:creationId xmlns:p14="http://schemas.microsoft.com/office/powerpoint/2010/main" val="28966133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95776-0E06-43A0-B73B-112D4FD8DCB6}"/>
              </a:ext>
            </a:extLst>
          </p:cNvPr>
          <p:cNvSpPr>
            <a:spLocks noGrp="1"/>
          </p:cNvSpPr>
          <p:nvPr>
            <p:ph type="title"/>
          </p:nvPr>
        </p:nvSpPr>
        <p:spPr/>
        <p:txBody>
          <a:bodyPr/>
          <a:lstStyle/>
          <a:p>
            <a:r>
              <a:rPr lang="en-IN" dirty="0"/>
              <a:t>Algorithm	</a:t>
            </a:r>
          </a:p>
        </p:txBody>
      </p:sp>
      <p:sp>
        <p:nvSpPr>
          <p:cNvPr id="3" name="Content Placeholder 2">
            <a:extLst>
              <a:ext uri="{FF2B5EF4-FFF2-40B4-BE49-F238E27FC236}">
                <a16:creationId xmlns:a16="http://schemas.microsoft.com/office/drawing/2014/main" id="{D7AFC542-582F-40B2-8071-7A4EB0F0ECAA}"/>
              </a:ext>
            </a:extLst>
          </p:cNvPr>
          <p:cNvSpPr>
            <a:spLocks noGrp="1"/>
          </p:cNvSpPr>
          <p:nvPr>
            <p:ph idx="1"/>
          </p:nvPr>
        </p:nvSpPr>
        <p:spPr/>
        <p:txBody>
          <a:bodyPr/>
          <a:lstStyle/>
          <a:p>
            <a:pPr marL="0" indent="0">
              <a:buNone/>
            </a:pPr>
            <a:r>
              <a:rPr lang="en-IN" b="1" dirty="0">
                <a:latin typeface="Bahnschrift" panose="020B0502040204020203" pitchFamily="34" charset="0"/>
              </a:rPr>
              <a:t>Algorithm</a:t>
            </a:r>
            <a:r>
              <a:rPr lang="en-IN" dirty="0">
                <a:latin typeface="Bahnschrift" panose="020B0502040204020203" pitchFamily="34" charset="0"/>
              </a:rPr>
              <a:t> OPTIMAL_MERGE_PATTERNS(S)</a:t>
            </a:r>
          </a:p>
          <a:p>
            <a:pPr marL="0" indent="0">
              <a:buNone/>
            </a:pPr>
            <a:r>
              <a:rPr lang="en-IN" dirty="0">
                <a:latin typeface="Bahnschrift" panose="020B0502040204020203" pitchFamily="34" charset="0"/>
              </a:rPr>
              <a:t>// S is set of sequences</a:t>
            </a:r>
          </a:p>
          <a:p>
            <a:endParaRPr lang="en-IN" dirty="0">
              <a:latin typeface="Bahnschrift" panose="020B0502040204020203" pitchFamily="34" charset="0"/>
            </a:endParaRPr>
          </a:p>
          <a:p>
            <a:pPr marL="0" indent="0">
              <a:buNone/>
            </a:pPr>
            <a:r>
              <a:rPr lang="en-IN" dirty="0">
                <a:latin typeface="Bahnschrift" panose="020B0502040204020203" pitchFamily="34" charset="0"/>
              </a:rPr>
              <a:t>Create min heap H from S</a:t>
            </a:r>
          </a:p>
          <a:p>
            <a:pPr marL="0" indent="0">
              <a:buNone/>
            </a:pPr>
            <a:r>
              <a:rPr lang="en-IN" b="1" dirty="0">
                <a:latin typeface="Bahnschrift" panose="020B0502040204020203" pitchFamily="34" charset="0"/>
              </a:rPr>
              <a:t>while</a:t>
            </a:r>
            <a:r>
              <a:rPr lang="en-IN" dirty="0">
                <a:latin typeface="Bahnschrift" panose="020B0502040204020203" pitchFamily="34" charset="0"/>
              </a:rPr>
              <a:t> </a:t>
            </a:r>
            <a:r>
              <a:rPr lang="en-IN" dirty="0" err="1">
                <a:latin typeface="Bahnschrift" panose="020B0502040204020203" pitchFamily="34" charset="0"/>
              </a:rPr>
              <a:t>H.length</a:t>
            </a:r>
            <a:r>
              <a:rPr lang="en-IN" dirty="0">
                <a:latin typeface="Bahnschrift" panose="020B0502040204020203" pitchFamily="34" charset="0"/>
              </a:rPr>
              <a:t> &gt; 1 </a:t>
            </a:r>
            <a:r>
              <a:rPr lang="en-IN" b="1" dirty="0">
                <a:latin typeface="Bahnschrift" panose="020B0502040204020203" pitchFamily="34" charset="0"/>
              </a:rPr>
              <a:t>do</a:t>
            </a:r>
          </a:p>
          <a:p>
            <a:pPr marL="0" indent="0">
              <a:buNone/>
            </a:pPr>
            <a:r>
              <a:rPr lang="en-IN" dirty="0">
                <a:latin typeface="Bahnschrift" panose="020B0502040204020203" pitchFamily="34" charset="0"/>
              </a:rPr>
              <a:t>          min1 ← </a:t>
            </a:r>
            <a:r>
              <a:rPr lang="en-IN" dirty="0" err="1">
                <a:latin typeface="Bahnschrift" panose="020B0502040204020203" pitchFamily="34" charset="0"/>
              </a:rPr>
              <a:t>minDel</a:t>
            </a:r>
            <a:r>
              <a:rPr lang="en-IN" dirty="0">
                <a:latin typeface="Bahnschrift" panose="020B0502040204020203" pitchFamily="34" charset="0"/>
              </a:rPr>
              <a:t>(H)   </a:t>
            </a:r>
            <a:r>
              <a:rPr lang="en-IN" sz="1400" dirty="0">
                <a:latin typeface="Bahnschrift" panose="020B0502040204020203" pitchFamily="34" charset="0"/>
              </a:rPr>
              <a:t>// </a:t>
            </a:r>
            <a:r>
              <a:rPr lang="en-IN" sz="1400" dirty="0" err="1">
                <a:latin typeface="Bahnschrift" panose="020B0502040204020203" pitchFamily="34" charset="0"/>
              </a:rPr>
              <a:t>minDel</a:t>
            </a:r>
            <a:r>
              <a:rPr lang="en-IN" sz="1400" dirty="0">
                <a:latin typeface="Bahnschrift" panose="020B0502040204020203" pitchFamily="34" charset="0"/>
              </a:rPr>
              <a:t> function returns minimum element from H and delete it from H</a:t>
            </a:r>
          </a:p>
          <a:p>
            <a:pPr marL="0" indent="0">
              <a:buNone/>
            </a:pPr>
            <a:r>
              <a:rPr lang="en-IN" dirty="0">
                <a:latin typeface="Bahnschrift" panose="020B0502040204020203" pitchFamily="34" charset="0"/>
              </a:rPr>
              <a:t>          min2 ← </a:t>
            </a:r>
            <a:r>
              <a:rPr lang="en-IN" dirty="0" err="1">
                <a:latin typeface="Bahnschrift" panose="020B0502040204020203" pitchFamily="34" charset="0"/>
              </a:rPr>
              <a:t>minDel</a:t>
            </a:r>
            <a:r>
              <a:rPr lang="en-IN" dirty="0">
                <a:latin typeface="Bahnschrift" panose="020B0502040204020203" pitchFamily="34" charset="0"/>
              </a:rPr>
              <a:t>(H)</a:t>
            </a:r>
          </a:p>
          <a:p>
            <a:pPr marL="0" indent="0">
              <a:buNone/>
            </a:pPr>
            <a:r>
              <a:rPr lang="en-IN" dirty="0">
                <a:latin typeface="Bahnschrift" panose="020B0502040204020203" pitchFamily="34" charset="0"/>
              </a:rPr>
              <a:t>          </a:t>
            </a:r>
            <a:r>
              <a:rPr lang="en-IN" dirty="0" err="1">
                <a:latin typeface="Bahnschrift" panose="020B0502040204020203" pitchFamily="34" charset="0"/>
              </a:rPr>
              <a:t>NewNode.Data</a:t>
            </a:r>
            <a:r>
              <a:rPr lang="en-IN" dirty="0">
                <a:latin typeface="Bahnschrift" panose="020B0502040204020203" pitchFamily="34" charset="0"/>
              </a:rPr>
              <a:t> ← min1 + min2</a:t>
            </a:r>
          </a:p>
          <a:p>
            <a:pPr marL="0" indent="0">
              <a:buNone/>
            </a:pPr>
            <a:r>
              <a:rPr lang="en-IN" dirty="0">
                <a:latin typeface="Bahnschrift" panose="020B0502040204020203" pitchFamily="34" charset="0"/>
              </a:rPr>
              <a:t>          </a:t>
            </a:r>
            <a:r>
              <a:rPr lang="en-IN" dirty="0" err="1">
                <a:latin typeface="Bahnschrift" panose="020B0502040204020203" pitchFamily="34" charset="0"/>
              </a:rPr>
              <a:t>NewNoode.LeftChild</a:t>
            </a:r>
            <a:r>
              <a:rPr lang="en-IN" dirty="0">
                <a:latin typeface="Bahnschrift" panose="020B0502040204020203" pitchFamily="34" charset="0"/>
              </a:rPr>
              <a:t> ← min1</a:t>
            </a:r>
          </a:p>
          <a:p>
            <a:pPr marL="0" indent="0">
              <a:buNone/>
            </a:pPr>
            <a:r>
              <a:rPr lang="en-IN" dirty="0">
                <a:latin typeface="Bahnschrift" panose="020B0502040204020203" pitchFamily="34" charset="0"/>
              </a:rPr>
              <a:t>          </a:t>
            </a:r>
            <a:r>
              <a:rPr lang="en-IN" dirty="0" err="1">
                <a:latin typeface="Bahnschrift" panose="020B0502040204020203" pitchFamily="34" charset="0"/>
              </a:rPr>
              <a:t>NewNode.RightChild</a:t>
            </a:r>
            <a:r>
              <a:rPr lang="en-IN" dirty="0">
                <a:latin typeface="Bahnschrift" panose="020B0502040204020203" pitchFamily="34" charset="0"/>
              </a:rPr>
              <a:t> ← min2</a:t>
            </a:r>
          </a:p>
          <a:p>
            <a:pPr marL="0" indent="0">
              <a:buNone/>
            </a:pPr>
            <a:r>
              <a:rPr lang="en-IN" dirty="0">
                <a:latin typeface="Bahnschrift" panose="020B0502040204020203" pitchFamily="34" charset="0"/>
              </a:rPr>
              <a:t>          Insert(</a:t>
            </a:r>
            <a:r>
              <a:rPr lang="en-IN" dirty="0" err="1">
                <a:latin typeface="Bahnschrift" panose="020B0502040204020203" pitchFamily="34" charset="0"/>
              </a:rPr>
              <a:t>NewNode</a:t>
            </a:r>
            <a:r>
              <a:rPr lang="en-IN" dirty="0">
                <a:latin typeface="Bahnschrift" panose="020B0502040204020203" pitchFamily="34" charset="0"/>
              </a:rPr>
              <a:t>, H)	</a:t>
            </a:r>
            <a:r>
              <a:rPr lang="en-IN" sz="1400" dirty="0">
                <a:latin typeface="Bahnschrift" panose="020B0502040204020203" pitchFamily="34" charset="0"/>
              </a:rPr>
              <a:t>// Insert node </a:t>
            </a:r>
            <a:r>
              <a:rPr lang="en-IN" sz="1400" dirty="0" err="1">
                <a:latin typeface="Bahnschrift" panose="020B0502040204020203" pitchFamily="34" charset="0"/>
              </a:rPr>
              <a:t>NewNode</a:t>
            </a:r>
            <a:r>
              <a:rPr lang="en-IN" sz="1400" dirty="0">
                <a:latin typeface="Bahnschrift" panose="020B0502040204020203" pitchFamily="34" charset="0"/>
              </a:rPr>
              <a:t> in heap H</a:t>
            </a:r>
          </a:p>
          <a:p>
            <a:pPr marL="0" indent="0">
              <a:buNone/>
            </a:pPr>
            <a:r>
              <a:rPr lang="en-IN" b="1" dirty="0">
                <a:latin typeface="Bahnschrift" panose="020B0502040204020203" pitchFamily="34" charset="0"/>
              </a:rPr>
              <a:t>end</a:t>
            </a:r>
          </a:p>
        </p:txBody>
      </p:sp>
    </p:spTree>
    <p:extLst>
      <p:ext uri="{BB962C8B-B14F-4D97-AF65-F5344CB8AC3E}">
        <p14:creationId xmlns:p14="http://schemas.microsoft.com/office/powerpoint/2010/main" val="220990096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DCECB-F9A1-42D7-8977-5509CF9A10F6}"/>
              </a:ext>
            </a:extLst>
          </p:cNvPr>
          <p:cNvSpPr>
            <a:spLocks noGrp="1"/>
          </p:cNvSpPr>
          <p:nvPr>
            <p:ph type="title"/>
          </p:nvPr>
        </p:nvSpPr>
        <p:spPr/>
        <p:txBody>
          <a:bodyPr/>
          <a:lstStyle/>
          <a:p>
            <a:r>
              <a:rPr lang="en-IN" dirty="0"/>
              <a:t>Complexity Analysis</a:t>
            </a:r>
          </a:p>
        </p:txBody>
      </p:sp>
      <p:sp>
        <p:nvSpPr>
          <p:cNvPr id="3" name="Content Placeholder 2">
            <a:extLst>
              <a:ext uri="{FF2B5EF4-FFF2-40B4-BE49-F238E27FC236}">
                <a16:creationId xmlns:a16="http://schemas.microsoft.com/office/drawing/2014/main" id="{B80377DA-3698-476E-B383-CE2195ACD7EB}"/>
              </a:ext>
            </a:extLst>
          </p:cNvPr>
          <p:cNvSpPr>
            <a:spLocks noGrp="1"/>
          </p:cNvSpPr>
          <p:nvPr>
            <p:ph idx="1"/>
          </p:nvPr>
        </p:nvSpPr>
        <p:spPr/>
        <p:txBody>
          <a:bodyPr/>
          <a:lstStyle/>
          <a:p>
            <a:r>
              <a:rPr lang="en-US" dirty="0"/>
              <a:t>In every iteration, two delete minimum and one insert operation is performed. Construction of heap takes O(</a:t>
            </a:r>
            <a:r>
              <a:rPr lang="en-US" dirty="0" err="1"/>
              <a:t>logn</a:t>
            </a:r>
            <a:r>
              <a:rPr lang="en-US" dirty="0"/>
              <a:t>) time. </a:t>
            </a:r>
          </a:p>
          <a:p>
            <a:r>
              <a:rPr lang="en-US" dirty="0"/>
              <a:t>The total running time of this algorithm is </a:t>
            </a:r>
            <a:r>
              <a:rPr lang="en-US" dirty="0">
                <a:solidFill>
                  <a:srgbClr val="C00000"/>
                </a:solidFill>
              </a:rPr>
              <a:t>O(</a:t>
            </a:r>
            <a:r>
              <a:rPr lang="en-US" dirty="0" err="1">
                <a:solidFill>
                  <a:srgbClr val="C00000"/>
                </a:solidFill>
              </a:rPr>
              <a:t>nlogn</a:t>
            </a:r>
            <a:r>
              <a:rPr lang="en-US" dirty="0">
                <a:solidFill>
                  <a:srgbClr val="C00000"/>
                </a:solidFill>
              </a:rPr>
              <a:t>). </a:t>
            </a:r>
          </a:p>
          <a:p>
            <a:pPr marL="0" indent="0">
              <a:buNone/>
            </a:pPr>
            <a:r>
              <a:rPr lang="pt-BR" b="0" i="0" dirty="0">
                <a:solidFill>
                  <a:srgbClr val="666666"/>
                </a:solidFill>
                <a:effectLst/>
                <a:latin typeface="Roboto Condensed" pitchFamily="2" charset="0"/>
              </a:rPr>
              <a:t>Standard recurrence:</a:t>
            </a:r>
          </a:p>
          <a:p>
            <a:pPr marL="0" indent="0">
              <a:buNone/>
            </a:pPr>
            <a:r>
              <a:rPr lang="pt-BR" b="0" i="0" dirty="0">
                <a:solidFill>
                  <a:srgbClr val="C00000"/>
                </a:solidFill>
                <a:effectLst/>
                <a:latin typeface="Roboto Condensed" pitchFamily="2" charset="0"/>
              </a:rPr>
              <a:t>T(n) = O(n – 1) * max(O(findmin), O(insert))</a:t>
            </a:r>
          </a:p>
          <a:p>
            <a:pPr marL="0" indent="0">
              <a:buNone/>
            </a:pPr>
            <a:endParaRPr lang="en-IN" dirty="0">
              <a:solidFill>
                <a:srgbClr val="C00000"/>
              </a:solidFill>
            </a:endParaRPr>
          </a:p>
        </p:txBody>
      </p:sp>
      <p:sp>
        <p:nvSpPr>
          <p:cNvPr id="5" name="TextBox 4">
            <a:extLst>
              <a:ext uri="{FF2B5EF4-FFF2-40B4-BE49-F238E27FC236}">
                <a16:creationId xmlns:a16="http://schemas.microsoft.com/office/drawing/2014/main" id="{F1686003-13BF-46CB-8798-3D5812E0A5B7}"/>
              </a:ext>
            </a:extLst>
          </p:cNvPr>
          <p:cNvSpPr txBox="1"/>
          <p:nvPr/>
        </p:nvSpPr>
        <p:spPr>
          <a:xfrm>
            <a:off x="468063" y="3733158"/>
            <a:ext cx="4219440" cy="1200329"/>
          </a:xfrm>
          <a:prstGeom prst="rect">
            <a:avLst/>
          </a:prstGeom>
          <a:noFill/>
        </p:spPr>
        <p:txBody>
          <a:bodyPr wrap="square">
            <a:spAutoFit/>
          </a:bodyPr>
          <a:lstStyle/>
          <a:p>
            <a:pPr algn="l" fontAlgn="base"/>
            <a:r>
              <a:rPr lang="en-US" b="1" i="0" dirty="0">
                <a:solidFill>
                  <a:srgbClr val="666666"/>
                </a:solidFill>
                <a:effectLst/>
                <a:latin typeface="inherit"/>
              </a:rPr>
              <a:t>Case 1 :</a:t>
            </a:r>
            <a:r>
              <a:rPr lang="en-US" b="1" dirty="0">
                <a:solidFill>
                  <a:srgbClr val="666666"/>
                </a:solidFill>
                <a:latin typeface="inherit"/>
              </a:rPr>
              <a:t> If list is not sorted :</a:t>
            </a:r>
          </a:p>
          <a:p>
            <a:pPr algn="l" fontAlgn="base"/>
            <a:r>
              <a:rPr lang="en-US" dirty="0">
                <a:solidFill>
                  <a:srgbClr val="666666"/>
                </a:solidFill>
                <a:latin typeface="inherit"/>
              </a:rPr>
              <a:t>               O(</a:t>
            </a:r>
            <a:r>
              <a:rPr lang="en-US" dirty="0" err="1">
                <a:solidFill>
                  <a:srgbClr val="666666"/>
                </a:solidFill>
                <a:latin typeface="inherit"/>
              </a:rPr>
              <a:t>findmin</a:t>
            </a:r>
            <a:r>
              <a:rPr lang="en-US" dirty="0">
                <a:solidFill>
                  <a:srgbClr val="666666"/>
                </a:solidFill>
                <a:latin typeface="inherit"/>
              </a:rPr>
              <a:t>)  = O(n)</a:t>
            </a:r>
          </a:p>
          <a:p>
            <a:pPr algn="l" fontAlgn="base"/>
            <a:r>
              <a:rPr lang="en-US" dirty="0">
                <a:solidFill>
                  <a:srgbClr val="666666"/>
                </a:solidFill>
                <a:latin typeface="inherit"/>
              </a:rPr>
              <a:t>               O(insert) = O(1)</a:t>
            </a:r>
          </a:p>
          <a:p>
            <a:pPr algn="l" fontAlgn="base"/>
            <a:r>
              <a:rPr lang="pt-BR" dirty="0">
                <a:solidFill>
                  <a:srgbClr val="666666"/>
                </a:solidFill>
                <a:latin typeface="inherit"/>
              </a:rPr>
              <a:t>               So, T(n) = (n – 1) * n = O(n2)</a:t>
            </a:r>
            <a:endParaRPr lang="en-US" dirty="0">
              <a:solidFill>
                <a:srgbClr val="666666"/>
              </a:solidFill>
              <a:latin typeface="inherit"/>
            </a:endParaRPr>
          </a:p>
        </p:txBody>
      </p:sp>
      <p:sp>
        <p:nvSpPr>
          <p:cNvPr id="7" name="TextBox 6">
            <a:extLst>
              <a:ext uri="{FF2B5EF4-FFF2-40B4-BE49-F238E27FC236}">
                <a16:creationId xmlns:a16="http://schemas.microsoft.com/office/drawing/2014/main" id="{57A161D2-DB86-4A27-BBF9-B8439DD9B930}"/>
              </a:ext>
            </a:extLst>
          </p:cNvPr>
          <p:cNvSpPr txBox="1"/>
          <p:nvPr/>
        </p:nvSpPr>
        <p:spPr>
          <a:xfrm>
            <a:off x="6611353" y="3323195"/>
            <a:ext cx="4996713" cy="1477328"/>
          </a:xfrm>
          <a:prstGeom prst="rect">
            <a:avLst/>
          </a:prstGeom>
          <a:noFill/>
        </p:spPr>
        <p:txBody>
          <a:bodyPr wrap="square">
            <a:spAutoFit/>
          </a:bodyPr>
          <a:lstStyle/>
          <a:p>
            <a:pPr fontAlgn="base"/>
            <a:r>
              <a:rPr lang="pt-BR" b="1" dirty="0">
                <a:solidFill>
                  <a:srgbClr val="666666"/>
                </a:solidFill>
                <a:latin typeface="inherit"/>
              </a:rPr>
              <a:t>Case 2: If list is sorted</a:t>
            </a:r>
          </a:p>
          <a:p>
            <a:pPr algn="l" fontAlgn="base"/>
            <a:r>
              <a:rPr lang="pt-BR" b="1" i="0" dirty="0">
                <a:solidFill>
                  <a:srgbClr val="666666"/>
                </a:solidFill>
                <a:effectLst/>
                <a:latin typeface="inherit"/>
              </a:rPr>
              <a:t>Case 2.1 : </a:t>
            </a:r>
            <a:r>
              <a:rPr lang="pt-BR" dirty="0">
                <a:solidFill>
                  <a:srgbClr val="666666"/>
                </a:solidFill>
                <a:latin typeface="inherit"/>
              </a:rPr>
              <a:t>List is represented as an array</a:t>
            </a:r>
          </a:p>
          <a:p>
            <a:pPr algn="l" fontAlgn="base"/>
            <a:r>
              <a:rPr lang="pt-BR" dirty="0">
                <a:solidFill>
                  <a:srgbClr val="666666"/>
                </a:solidFill>
                <a:latin typeface="inherit"/>
              </a:rPr>
              <a:t>                O(findmin) = O(1)</a:t>
            </a:r>
          </a:p>
          <a:p>
            <a:pPr algn="l" fontAlgn="base"/>
            <a:r>
              <a:rPr lang="pt-BR" dirty="0">
                <a:solidFill>
                  <a:srgbClr val="666666"/>
                </a:solidFill>
                <a:latin typeface="inherit"/>
              </a:rPr>
              <a:t>                O(insert) = O(n)                                        </a:t>
            </a:r>
          </a:p>
          <a:p>
            <a:pPr algn="l" fontAlgn="base"/>
            <a:r>
              <a:rPr lang="pt-BR" dirty="0">
                <a:solidFill>
                  <a:srgbClr val="666666"/>
                </a:solidFill>
                <a:latin typeface="inherit"/>
              </a:rPr>
              <a:t>                So, T(n) = (n – 1) * n = O(n2)</a:t>
            </a:r>
          </a:p>
        </p:txBody>
      </p:sp>
      <p:sp>
        <p:nvSpPr>
          <p:cNvPr id="9" name="TextBox 8">
            <a:extLst>
              <a:ext uri="{FF2B5EF4-FFF2-40B4-BE49-F238E27FC236}">
                <a16:creationId xmlns:a16="http://schemas.microsoft.com/office/drawing/2014/main" id="{E821D466-E026-45B2-A86F-42F241F1226E}"/>
              </a:ext>
            </a:extLst>
          </p:cNvPr>
          <p:cNvSpPr txBox="1"/>
          <p:nvPr/>
        </p:nvSpPr>
        <p:spPr>
          <a:xfrm>
            <a:off x="6611354" y="5155743"/>
            <a:ext cx="4069080" cy="1200329"/>
          </a:xfrm>
          <a:prstGeom prst="rect">
            <a:avLst/>
          </a:prstGeom>
          <a:noFill/>
        </p:spPr>
        <p:txBody>
          <a:bodyPr wrap="square">
            <a:spAutoFit/>
          </a:bodyPr>
          <a:lstStyle/>
          <a:p>
            <a:pPr fontAlgn="base"/>
            <a:r>
              <a:rPr lang="pt-BR" b="1" i="0" dirty="0">
                <a:solidFill>
                  <a:srgbClr val="666666"/>
                </a:solidFill>
                <a:effectLst/>
                <a:latin typeface="inherit"/>
              </a:rPr>
              <a:t>Case 2.2 : </a:t>
            </a:r>
            <a:r>
              <a:rPr lang="pt-BR" dirty="0">
                <a:solidFill>
                  <a:srgbClr val="666666"/>
                </a:solidFill>
                <a:latin typeface="inherit"/>
              </a:rPr>
              <a:t>List is represented as min-heap</a:t>
            </a:r>
          </a:p>
          <a:p>
            <a:pPr fontAlgn="base"/>
            <a:r>
              <a:rPr lang="pt-BR" dirty="0">
                <a:solidFill>
                  <a:srgbClr val="666666"/>
                </a:solidFill>
                <a:latin typeface="inherit"/>
              </a:rPr>
              <a:t>O(findmin)  =  O(1)</a:t>
            </a:r>
          </a:p>
          <a:p>
            <a:pPr fontAlgn="base"/>
            <a:r>
              <a:rPr lang="pt-BR" dirty="0">
                <a:solidFill>
                  <a:srgbClr val="666666"/>
                </a:solidFill>
                <a:latin typeface="inherit"/>
              </a:rPr>
              <a:t>O(insert)  =   O(logn)</a:t>
            </a:r>
          </a:p>
          <a:p>
            <a:pPr fontAlgn="base"/>
            <a:r>
              <a:rPr lang="pt-BR" dirty="0">
                <a:solidFill>
                  <a:srgbClr val="666666"/>
                </a:solidFill>
                <a:latin typeface="inherit"/>
              </a:rPr>
              <a:t>So, T(n) = (n – 1) * logn = O(nlogn)</a:t>
            </a:r>
          </a:p>
        </p:txBody>
      </p:sp>
    </p:spTree>
    <p:extLst>
      <p:ext uri="{BB962C8B-B14F-4D97-AF65-F5344CB8AC3E}">
        <p14:creationId xmlns:p14="http://schemas.microsoft.com/office/powerpoint/2010/main" val="236787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DED78-2C06-4978-BB34-F0C2DCF9E59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A147314-D04B-4ED1-A6D0-3FA6D384ACC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76063198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9E1CF-3796-46AC-BA4F-1CDB7C3A0DA4}"/>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9BCE81A8-CC06-40D5-891A-268235F2F659}"/>
              </a:ext>
            </a:extLst>
          </p:cNvPr>
          <p:cNvSpPr>
            <a:spLocks noGrp="1"/>
          </p:cNvSpPr>
          <p:nvPr>
            <p:ph idx="1"/>
          </p:nvPr>
        </p:nvSpPr>
        <p:spPr/>
        <p:txBody>
          <a:bodyPr/>
          <a:lstStyle/>
          <a:p>
            <a:r>
              <a:rPr lang="en-US" dirty="0"/>
              <a:t>Example: Consider the sequence {3, 5, 9, 11, 16, 18, 20}. Find optimal merge patter for this data</a:t>
            </a:r>
          </a:p>
          <a:p>
            <a:r>
              <a:rPr lang="en-US" dirty="0"/>
              <a:t>Solution:</a:t>
            </a:r>
          </a:p>
          <a:p>
            <a:pPr lvl="1"/>
            <a:r>
              <a:rPr lang="en-US" dirty="0"/>
              <a:t>At each step, merge the two smallest sequences</a:t>
            </a:r>
          </a:p>
          <a:p>
            <a:pPr lvl="1"/>
            <a:endParaRPr lang="en-IN" dirty="0"/>
          </a:p>
        </p:txBody>
      </p:sp>
      <p:pic>
        <p:nvPicPr>
          <p:cNvPr id="7" name="Picture 6">
            <a:extLst>
              <a:ext uri="{FF2B5EF4-FFF2-40B4-BE49-F238E27FC236}">
                <a16:creationId xmlns:a16="http://schemas.microsoft.com/office/drawing/2014/main" id="{4B7CA9F2-DA13-464B-AA6D-06B5A5F94C36}"/>
              </a:ext>
            </a:extLst>
          </p:cNvPr>
          <p:cNvPicPr>
            <a:picLocks noChangeAspect="1"/>
          </p:cNvPicPr>
          <p:nvPr/>
        </p:nvPicPr>
        <p:blipFill>
          <a:blip r:embed="rId2"/>
          <a:stretch>
            <a:fillRect/>
          </a:stretch>
        </p:blipFill>
        <p:spPr>
          <a:xfrm>
            <a:off x="1068027" y="2622573"/>
            <a:ext cx="3016405" cy="400071"/>
          </a:xfrm>
          <a:prstGeom prst="rect">
            <a:avLst/>
          </a:prstGeom>
        </p:spPr>
      </p:pic>
      <p:pic>
        <p:nvPicPr>
          <p:cNvPr id="9" name="Picture 8">
            <a:extLst>
              <a:ext uri="{FF2B5EF4-FFF2-40B4-BE49-F238E27FC236}">
                <a16:creationId xmlns:a16="http://schemas.microsoft.com/office/drawing/2014/main" id="{703F736B-5E76-416E-B72B-DF7468FAC941}"/>
              </a:ext>
            </a:extLst>
          </p:cNvPr>
          <p:cNvPicPr>
            <a:picLocks noChangeAspect="1"/>
          </p:cNvPicPr>
          <p:nvPr/>
        </p:nvPicPr>
        <p:blipFill>
          <a:blip r:embed="rId3"/>
          <a:stretch>
            <a:fillRect/>
          </a:stretch>
        </p:blipFill>
        <p:spPr>
          <a:xfrm>
            <a:off x="1068027" y="3651895"/>
            <a:ext cx="2991004" cy="901746"/>
          </a:xfrm>
          <a:prstGeom prst="rect">
            <a:avLst/>
          </a:prstGeom>
        </p:spPr>
      </p:pic>
      <p:pic>
        <p:nvPicPr>
          <p:cNvPr id="11" name="Picture 10">
            <a:extLst>
              <a:ext uri="{FF2B5EF4-FFF2-40B4-BE49-F238E27FC236}">
                <a16:creationId xmlns:a16="http://schemas.microsoft.com/office/drawing/2014/main" id="{0DF5702B-BA94-4714-AD1D-8A237108F9CB}"/>
              </a:ext>
            </a:extLst>
          </p:cNvPr>
          <p:cNvPicPr>
            <a:picLocks noChangeAspect="1"/>
          </p:cNvPicPr>
          <p:nvPr/>
        </p:nvPicPr>
        <p:blipFill>
          <a:blip r:embed="rId4"/>
          <a:stretch>
            <a:fillRect/>
          </a:stretch>
        </p:blipFill>
        <p:spPr>
          <a:xfrm>
            <a:off x="955743" y="4952797"/>
            <a:ext cx="2571882" cy="1485976"/>
          </a:xfrm>
          <a:prstGeom prst="rect">
            <a:avLst/>
          </a:prstGeom>
        </p:spPr>
      </p:pic>
      <p:pic>
        <p:nvPicPr>
          <p:cNvPr id="13" name="Picture 12">
            <a:extLst>
              <a:ext uri="{FF2B5EF4-FFF2-40B4-BE49-F238E27FC236}">
                <a16:creationId xmlns:a16="http://schemas.microsoft.com/office/drawing/2014/main" id="{4F5CDD52-556F-4F7E-B156-F681BB5B4030}"/>
              </a:ext>
            </a:extLst>
          </p:cNvPr>
          <p:cNvPicPr>
            <a:picLocks noChangeAspect="1"/>
          </p:cNvPicPr>
          <p:nvPr/>
        </p:nvPicPr>
        <p:blipFill>
          <a:blip r:embed="rId5"/>
          <a:stretch>
            <a:fillRect/>
          </a:stretch>
        </p:blipFill>
        <p:spPr>
          <a:xfrm>
            <a:off x="4742053" y="2456485"/>
            <a:ext cx="2844946" cy="1492327"/>
          </a:xfrm>
          <a:prstGeom prst="rect">
            <a:avLst/>
          </a:prstGeom>
        </p:spPr>
      </p:pic>
      <p:pic>
        <p:nvPicPr>
          <p:cNvPr id="15" name="Picture 14">
            <a:extLst>
              <a:ext uri="{FF2B5EF4-FFF2-40B4-BE49-F238E27FC236}">
                <a16:creationId xmlns:a16="http://schemas.microsoft.com/office/drawing/2014/main" id="{D1D2036A-6B06-4AC3-B3C1-BAC78E207D6C}"/>
              </a:ext>
            </a:extLst>
          </p:cNvPr>
          <p:cNvPicPr>
            <a:picLocks noChangeAspect="1"/>
          </p:cNvPicPr>
          <p:nvPr/>
        </p:nvPicPr>
        <p:blipFill>
          <a:blip r:embed="rId6"/>
          <a:stretch>
            <a:fillRect/>
          </a:stretch>
        </p:blipFill>
        <p:spPr>
          <a:xfrm>
            <a:off x="5046868" y="4401515"/>
            <a:ext cx="2540131" cy="2152761"/>
          </a:xfrm>
          <a:prstGeom prst="rect">
            <a:avLst/>
          </a:prstGeom>
        </p:spPr>
      </p:pic>
      <p:pic>
        <p:nvPicPr>
          <p:cNvPr id="17" name="Picture 16">
            <a:extLst>
              <a:ext uri="{FF2B5EF4-FFF2-40B4-BE49-F238E27FC236}">
                <a16:creationId xmlns:a16="http://schemas.microsoft.com/office/drawing/2014/main" id="{9D5650AF-FF84-4CD8-9943-D92F3CBD5857}"/>
              </a:ext>
            </a:extLst>
          </p:cNvPr>
          <p:cNvPicPr>
            <a:picLocks noChangeAspect="1"/>
          </p:cNvPicPr>
          <p:nvPr/>
        </p:nvPicPr>
        <p:blipFill>
          <a:blip r:embed="rId7"/>
          <a:stretch>
            <a:fillRect/>
          </a:stretch>
        </p:blipFill>
        <p:spPr>
          <a:xfrm>
            <a:off x="8461327" y="1250838"/>
            <a:ext cx="3200564" cy="2178162"/>
          </a:xfrm>
          <a:prstGeom prst="rect">
            <a:avLst/>
          </a:prstGeom>
        </p:spPr>
      </p:pic>
      <p:pic>
        <p:nvPicPr>
          <p:cNvPr id="19" name="Picture 18">
            <a:extLst>
              <a:ext uri="{FF2B5EF4-FFF2-40B4-BE49-F238E27FC236}">
                <a16:creationId xmlns:a16="http://schemas.microsoft.com/office/drawing/2014/main" id="{197E3F05-1AE7-40AC-93F1-219B984B40EA}"/>
              </a:ext>
            </a:extLst>
          </p:cNvPr>
          <p:cNvPicPr>
            <a:picLocks noChangeAspect="1"/>
          </p:cNvPicPr>
          <p:nvPr/>
        </p:nvPicPr>
        <p:blipFill>
          <a:blip r:embed="rId8"/>
          <a:stretch>
            <a:fillRect/>
          </a:stretch>
        </p:blipFill>
        <p:spPr>
          <a:xfrm>
            <a:off x="8927932" y="3422473"/>
            <a:ext cx="3264068" cy="3435527"/>
          </a:xfrm>
          <a:prstGeom prst="rect">
            <a:avLst/>
          </a:prstGeom>
        </p:spPr>
      </p:pic>
    </p:spTree>
    <p:extLst>
      <p:ext uri="{BB962C8B-B14F-4D97-AF65-F5344CB8AC3E}">
        <p14:creationId xmlns:p14="http://schemas.microsoft.com/office/powerpoint/2010/main" val="1240691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228002171"/>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11012</TotalTime>
  <Words>9306</Words>
  <Application>Microsoft Office PowerPoint</Application>
  <PresentationFormat>Widescreen</PresentationFormat>
  <Paragraphs>1765</Paragraphs>
  <Slides>100</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100</vt:i4>
      </vt:variant>
    </vt:vector>
  </HeadingPairs>
  <TitlesOfParts>
    <vt:vector size="114" baseType="lpstr">
      <vt:lpstr>Roboto Condensed Light</vt:lpstr>
      <vt:lpstr>Consolas</vt:lpstr>
      <vt:lpstr>Wingdings</vt:lpstr>
      <vt:lpstr>Bahnschrift</vt:lpstr>
      <vt:lpstr>Calibri</vt:lpstr>
      <vt:lpstr>Arial Narrow</vt:lpstr>
      <vt:lpstr>Roboto Condensed</vt:lpstr>
      <vt:lpstr>Arial</vt:lpstr>
      <vt:lpstr>Cambria Math</vt:lpstr>
      <vt:lpstr>Times New Roman</vt:lpstr>
      <vt:lpstr>Wingdings 3</vt:lpstr>
      <vt:lpstr>__Source_Sans_Pro_fea366</vt:lpstr>
      <vt:lpstr>inherit</vt:lpstr>
      <vt:lpstr>Office Theme</vt:lpstr>
      <vt:lpstr> Greedy Algorithms</vt:lpstr>
      <vt:lpstr>PowerPoint Presentation</vt:lpstr>
      <vt:lpstr>Characteristics of Greedy Algorithms</vt:lpstr>
      <vt:lpstr>PowerPoint Presentation</vt:lpstr>
      <vt:lpstr>Pseudo code of Greedy Algorithm</vt:lpstr>
      <vt:lpstr>Coin Change Problem</vt:lpstr>
      <vt:lpstr>Problem Definition </vt:lpstr>
      <vt:lpstr>Make Change – Greedy Solution</vt:lpstr>
      <vt:lpstr>Make Change - Algorithm</vt:lpstr>
      <vt:lpstr>Make Change – The Greedy Property</vt:lpstr>
      <vt:lpstr>Knapsack Problem</vt:lpstr>
      <vt:lpstr>Knapsack Problem</vt:lpstr>
      <vt:lpstr>Fractional Knapsack Problem</vt:lpstr>
      <vt:lpstr>Introduction </vt:lpstr>
      <vt:lpstr>Fractional Knapsack Problem - Example</vt:lpstr>
      <vt:lpstr>Fractional Knapsack Problem - Greedy Solution</vt:lpstr>
      <vt:lpstr>Fractional Knapsack Problem - Greedy Solution</vt:lpstr>
      <vt:lpstr>Fractional Knapsack Problem - Algorithm</vt:lpstr>
      <vt:lpstr>Exercises – Home Work</vt:lpstr>
      <vt:lpstr>Activity Selection Problem</vt:lpstr>
      <vt:lpstr>Introduction </vt:lpstr>
      <vt:lpstr>PowerPoint Presentation</vt:lpstr>
      <vt:lpstr>PowerPoint Presentation</vt:lpstr>
      <vt:lpstr>Example:</vt:lpstr>
      <vt:lpstr>Activity Selection - Algorithm</vt:lpstr>
      <vt:lpstr>Example</vt:lpstr>
      <vt:lpstr>PowerPoint Presentation</vt:lpstr>
      <vt:lpstr>Exercise - HW</vt:lpstr>
      <vt:lpstr>Complexity Analysis</vt:lpstr>
      <vt:lpstr>Job Scheduling with Deadlines</vt:lpstr>
      <vt:lpstr>Real-life example</vt:lpstr>
      <vt:lpstr>Introduction </vt:lpstr>
      <vt:lpstr>Brute-force approach</vt:lpstr>
      <vt:lpstr>Greedy algorithm</vt:lpstr>
      <vt:lpstr>Job Scheduling with Deadlines - Example</vt:lpstr>
      <vt:lpstr>Job Scheduling with Deadlines - Example</vt:lpstr>
      <vt:lpstr>Job Scheduling with Deadlines - Example</vt:lpstr>
      <vt:lpstr>Job Scheduling with Deadlines - Example</vt:lpstr>
      <vt:lpstr>Exercises – Home Work</vt:lpstr>
      <vt:lpstr>Job Scheduling with Deadlines - Algorithm</vt:lpstr>
      <vt:lpstr>PowerPoint Presentation</vt:lpstr>
      <vt:lpstr>Huffman Codes</vt:lpstr>
      <vt:lpstr>Intro</vt:lpstr>
      <vt:lpstr>Prefix Code</vt:lpstr>
      <vt:lpstr>Huffman code Introduction </vt:lpstr>
      <vt:lpstr>Huffman Codes</vt:lpstr>
      <vt:lpstr>Huffman Codes - Example</vt:lpstr>
      <vt:lpstr>Huffman Codes - Example</vt:lpstr>
      <vt:lpstr>Huffman Codes - Example</vt:lpstr>
      <vt:lpstr>Huffman Codes - Example</vt:lpstr>
      <vt:lpstr>Huffman Codes - Example</vt:lpstr>
      <vt:lpstr>Huffman Codes - Example</vt:lpstr>
      <vt:lpstr>Huffman Codes - Example</vt:lpstr>
      <vt:lpstr>Huffman Codes - Example</vt:lpstr>
      <vt:lpstr>Huffman Codes - Algorithm</vt:lpstr>
      <vt:lpstr>Complexity analysis</vt:lpstr>
      <vt:lpstr>Exercises – Home Work</vt:lpstr>
      <vt:lpstr>Important formula</vt:lpstr>
      <vt:lpstr>PowerPoint Presentation</vt:lpstr>
      <vt:lpstr>PowerPoint Presentation</vt:lpstr>
      <vt:lpstr>Applications of Huffman Coding</vt:lpstr>
      <vt:lpstr>Minimum Spanning Tree</vt:lpstr>
      <vt:lpstr>Spanning tree</vt:lpstr>
      <vt:lpstr>Spanning tree</vt:lpstr>
      <vt:lpstr>Spanning tree</vt:lpstr>
      <vt:lpstr>Introduction to Minimum Spanning Tree (MST)</vt:lpstr>
      <vt:lpstr>Spanning Tree Examples </vt:lpstr>
      <vt:lpstr>Kruskal’s Algorithm for MST – Example 1</vt:lpstr>
      <vt:lpstr>PowerPoint Presentation</vt:lpstr>
      <vt:lpstr>PowerPoint Presentation</vt:lpstr>
      <vt:lpstr>PowerPoint Presentation</vt:lpstr>
      <vt:lpstr>Kruskal’s Algorithm – Example 2</vt:lpstr>
      <vt:lpstr>Kruskal’s Algorithm for MST </vt:lpstr>
      <vt:lpstr>Complexity analysis</vt:lpstr>
      <vt:lpstr>Exercises – Home Work</vt:lpstr>
      <vt:lpstr>Prim’s Algorithm </vt:lpstr>
      <vt:lpstr>PowerPoint Presentation</vt:lpstr>
      <vt:lpstr>PowerPoint Presentation</vt:lpstr>
      <vt:lpstr>PowerPoint Presentation</vt:lpstr>
      <vt:lpstr>Prim’s Algorithm – Example 1</vt:lpstr>
      <vt:lpstr>Prim’s Algorithm</vt:lpstr>
      <vt:lpstr>Complexity analysis</vt:lpstr>
      <vt:lpstr>Exercises – Home Work</vt:lpstr>
      <vt:lpstr>Exercise</vt:lpstr>
      <vt:lpstr>Single Source Shortest Path – Dijkstra’s Algorithm</vt:lpstr>
      <vt:lpstr>Introduction </vt:lpstr>
      <vt:lpstr>Dijkstra’s Algorithm - Example</vt:lpstr>
      <vt:lpstr>Dijkstra’s Algorithm - Example</vt:lpstr>
      <vt:lpstr>Dijkstra’s Algorithm - Example</vt:lpstr>
      <vt:lpstr>Exercises – Home Work</vt:lpstr>
      <vt:lpstr>Dijkstra’s Algorithm</vt:lpstr>
      <vt:lpstr>Time complexity</vt:lpstr>
      <vt:lpstr>Optimal merge pattern</vt:lpstr>
      <vt:lpstr>Optimal merge pattern</vt:lpstr>
      <vt:lpstr>PowerPoint Presentation</vt:lpstr>
      <vt:lpstr>Algorithm </vt:lpstr>
      <vt:lpstr>Complexity Analysis</vt:lpstr>
      <vt:lpstr>PowerPoint Presentation</vt:lpstr>
      <vt:lpstr>Example:</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CSE-30</cp:lastModifiedBy>
  <cp:revision>587</cp:revision>
  <dcterms:created xsi:type="dcterms:W3CDTF">2020-05-01T05:09:15Z</dcterms:created>
  <dcterms:modified xsi:type="dcterms:W3CDTF">2023-10-15T06:46:27Z</dcterms:modified>
</cp:coreProperties>
</file>