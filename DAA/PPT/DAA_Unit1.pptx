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8"/>
  </p:notesMasterIdLst>
  <p:sldIdLst>
    <p:sldId id="257" r:id="rId2"/>
    <p:sldId id="317" r:id="rId3"/>
    <p:sldId id="318" r:id="rId4"/>
    <p:sldId id="323" r:id="rId5"/>
    <p:sldId id="321" r:id="rId6"/>
    <p:sldId id="324" r:id="rId7"/>
    <p:sldId id="322" r:id="rId8"/>
    <p:sldId id="325" r:id="rId9"/>
    <p:sldId id="326" r:id="rId10"/>
    <p:sldId id="347" r:id="rId11"/>
    <p:sldId id="327" r:id="rId12"/>
    <p:sldId id="348" r:id="rId13"/>
    <p:sldId id="329" r:id="rId14"/>
    <p:sldId id="332" r:id="rId15"/>
    <p:sldId id="333" r:id="rId16"/>
    <p:sldId id="349" r:id="rId17"/>
    <p:sldId id="334" r:id="rId18"/>
    <p:sldId id="471" r:id="rId19"/>
    <p:sldId id="472" r:id="rId20"/>
    <p:sldId id="473" r:id="rId21"/>
    <p:sldId id="474" r:id="rId22"/>
    <p:sldId id="475" r:id="rId23"/>
    <p:sldId id="330" r:id="rId24"/>
    <p:sldId id="476" r:id="rId25"/>
    <p:sldId id="477" r:id="rId26"/>
    <p:sldId id="341" r:id="rId27"/>
    <p:sldId id="342" r:id="rId28"/>
    <p:sldId id="339" r:id="rId29"/>
    <p:sldId id="340" r:id="rId30"/>
    <p:sldId id="478" r:id="rId31"/>
    <p:sldId id="479" r:id="rId32"/>
    <p:sldId id="480" r:id="rId33"/>
    <p:sldId id="343" r:id="rId34"/>
    <p:sldId id="344" r:id="rId35"/>
    <p:sldId id="345" r:id="rId36"/>
    <p:sldId id="346" r:id="rId37"/>
    <p:sldId id="350" r:id="rId38"/>
    <p:sldId id="354" r:id="rId39"/>
    <p:sldId id="355" r:id="rId40"/>
    <p:sldId id="357" r:id="rId41"/>
    <p:sldId id="358" r:id="rId42"/>
    <p:sldId id="492" r:id="rId43"/>
    <p:sldId id="359" r:id="rId44"/>
    <p:sldId id="360" r:id="rId45"/>
    <p:sldId id="362" r:id="rId46"/>
    <p:sldId id="481" r:id="rId47"/>
    <p:sldId id="482" r:id="rId48"/>
    <p:sldId id="483" r:id="rId49"/>
    <p:sldId id="484" r:id="rId50"/>
    <p:sldId id="485" r:id="rId51"/>
    <p:sldId id="493" r:id="rId52"/>
    <p:sldId id="494" r:id="rId53"/>
    <p:sldId id="495" r:id="rId54"/>
    <p:sldId id="496" r:id="rId55"/>
    <p:sldId id="497" r:id="rId56"/>
    <p:sldId id="469" r:id="rId57"/>
  </p:sldIdLst>
  <p:sldSz cx="12192000" cy="6858000"/>
  <p:notesSz cx="6858000" cy="9144000"/>
  <p:embeddedFontLst>
    <p:embeddedFont>
      <p:font typeface="Calibri" panose="020F0502020204030204" pitchFamily="34" charset="0"/>
      <p:regular r:id="rId59"/>
      <p:bold r:id="rId60"/>
      <p:italic r:id="rId61"/>
      <p:boldItalic r:id="rId62"/>
    </p:embeddedFont>
    <p:embeddedFont>
      <p:font typeface="Cambria Math" panose="02040503050406030204" pitchFamily="18" charset="0"/>
      <p:regular r:id="rId63"/>
    </p:embeddedFont>
    <p:embeddedFont>
      <p:font typeface="Consolas" panose="020B0609020204030204" pitchFamily="49" charset="0"/>
      <p:regular r:id="rId64"/>
      <p:bold r:id="rId65"/>
      <p:italic r:id="rId66"/>
      <p:boldItalic r:id="rId67"/>
    </p:embeddedFont>
    <p:embeddedFont>
      <p:font typeface="Roboto Condensed" pitchFamily="2" charset="0"/>
      <p:regular r:id="rId68"/>
      <p:bold r:id="rId69"/>
      <p:italic r:id="rId70"/>
      <p:boldItalic r:id="rId71"/>
    </p:embeddedFont>
    <p:embeddedFont>
      <p:font typeface="Wingdings 3" panose="05040102010807070707" pitchFamily="18" charset="2"/>
      <p:regular r:id="rId7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242"/>
    <a:srgbClr val="FBD9EB"/>
    <a:srgbClr val="ED524F"/>
    <a:srgbClr val="A71160"/>
    <a:srgbClr val="890E4F"/>
    <a:srgbClr val="FCE0EE"/>
    <a:srgbClr val="FDEDF5"/>
    <a:srgbClr val="F9C3DF"/>
    <a:srgbClr val="F599C9"/>
    <a:srgbClr val="F27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5.fntdata"/><Relationship Id="rId68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6.fntdata"/><Relationship Id="rId69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70" Type="http://schemas.openxmlformats.org/officeDocument/2006/relationships/font" Target="fonts/font12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24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85617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32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30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861193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90E4F"/>
              </a:buClr>
              <a:buSzPts val="6000"/>
              <a:buFont typeface="Roboto Condensed"/>
              <a:buNone/>
              <a:defRPr sz="6000" b="1">
                <a:solidFill>
                  <a:srgbClr val="890E4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08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72" r:id="rId5"/>
    <p:sldLayoutId id="214748369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0.png"/><Relationship Id="rId4" Type="http://schemas.openxmlformats.org/officeDocument/2006/relationships/image" Target="../media/image3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430.png"/><Relationship Id="rId7" Type="http://schemas.openxmlformats.org/officeDocument/2006/relationships/image" Target="../media/image470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0.png"/><Relationship Id="rId5" Type="http://schemas.openxmlformats.org/officeDocument/2006/relationships/image" Target="../media/image450.png"/><Relationship Id="rId4" Type="http://schemas.openxmlformats.org/officeDocument/2006/relationships/image" Target="../media/image8.png"/><Relationship Id="rId9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40.png"/><Relationship Id="rId7" Type="http://schemas.openxmlformats.org/officeDocument/2006/relationships/image" Target="../media/image13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0.png"/><Relationship Id="rId5" Type="http://schemas.openxmlformats.org/officeDocument/2006/relationships/image" Target="../media/image460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90E4F"/>
              </a:buClr>
              <a:buSzPts val="6000"/>
              <a:buFont typeface="Roboto Condensed"/>
              <a:buNone/>
            </a:pPr>
            <a:r>
              <a:rPr lang="en-US" dirty="0"/>
              <a:t>Elementary Algorithmic</a:t>
            </a:r>
            <a:endParaRPr dirty="0"/>
          </a:p>
        </p:txBody>
      </p:sp>
      <p:sp>
        <p:nvSpPr>
          <p:cNvPr id="88" name="Google Shape;88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</p:cNvCxnSpPr>
          <p:nvPr/>
        </p:nvCxnSpPr>
        <p:spPr>
          <a:xfrm>
            <a:off x="1191446" y="-17287"/>
            <a:ext cx="0" cy="5486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534989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191446" y="1009551"/>
            <a:ext cx="0" cy="5029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512750" y="530001"/>
            <a:ext cx="889834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D1457"/>
                </a:solidFill>
              </a:rPr>
              <a:t>Outline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Analysis of Algorithm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The efficient algorithm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Average, Best and Worst case analysis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Asymptotic Notations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Analyzing control statement 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Loop invariant and the correctness of the algorithm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Sorting Algorithms and analysis: Bubble sort, Selection sort, Insertion sort, Shell sort and Heap sort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Sorting in linear time : Bucket sort, Radix sort and Counting sort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Amortized analysis</a:t>
            </a:r>
          </a:p>
        </p:txBody>
      </p:sp>
    </p:spTree>
    <p:extLst>
      <p:ext uri="{BB962C8B-B14F-4D97-AF65-F5344CB8AC3E}">
        <p14:creationId xmlns:p14="http://schemas.microsoft.com/office/powerpoint/2010/main" val="207109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10" name="Rectangle 9"/>
          <p:cNvSpPr/>
          <p:nvPr/>
        </p:nvSpPr>
        <p:spPr>
          <a:xfrm rot="5400000">
            <a:off x="3784372" y="-1767342"/>
            <a:ext cx="4572418" cy="105098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22769" y="1456825"/>
            <a:ext cx="9295624" cy="4061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buSzPct val="90000"/>
            </a:pPr>
            <a:r>
              <a:rPr lang="en-IN" sz="2400" dirty="0"/>
              <a:t>What is Analysis of an Algorithm?</a:t>
            </a:r>
          </a:p>
          <a:p>
            <a:pPr marL="342900" indent="-342900" algn="just">
              <a:lnSpc>
                <a:spcPct val="114000"/>
              </a:lnSpc>
              <a:buClr>
                <a:schemeClr val="accent6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Analyzing an algorithm means </a:t>
            </a:r>
            <a:r>
              <a:rPr lang="en-US" sz="2200" dirty="0">
                <a:solidFill>
                  <a:srgbClr val="890E4F"/>
                </a:solidFill>
              </a:rPr>
              <a:t>calculating/predicting the resources </a:t>
            </a:r>
            <a:r>
              <a:rPr lang="en-US" sz="22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that the algorithm requires. </a:t>
            </a:r>
          </a:p>
          <a:p>
            <a:pPr marL="342900" indent="-342900" algn="just">
              <a:lnSpc>
                <a:spcPct val="114000"/>
              </a:lnSpc>
              <a:buClr>
                <a:schemeClr val="accent6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Analysis provides </a:t>
            </a:r>
            <a:r>
              <a:rPr lang="en-US" sz="2200" dirty="0">
                <a:solidFill>
                  <a:srgbClr val="890E4F"/>
                </a:solidFill>
              </a:rPr>
              <a:t>theoretical estimation </a:t>
            </a:r>
            <a:r>
              <a:rPr lang="en-US" sz="22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for the required resources of an algorithm to solve a specific computational problem.</a:t>
            </a:r>
          </a:p>
          <a:p>
            <a:pPr marL="342900" indent="-342900" algn="just">
              <a:lnSpc>
                <a:spcPct val="114000"/>
              </a:lnSpc>
              <a:buClr>
                <a:schemeClr val="accent6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Two most important resources are </a:t>
            </a:r>
            <a:r>
              <a:rPr lang="en-US" sz="2200" dirty="0">
                <a:solidFill>
                  <a:srgbClr val="890E4F"/>
                </a:solidFill>
              </a:rPr>
              <a:t>computing time </a:t>
            </a:r>
            <a:r>
              <a:rPr lang="en-US" sz="22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(time complexity) and </a:t>
            </a:r>
            <a:r>
              <a:rPr lang="en-US" sz="2200" dirty="0">
                <a:solidFill>
                  <a:srgbClr val="890E4F"/>
                </a:solidFill>
              </a:rPr>
              <a:t>storage space </a:t>
            </a:r>
            <a:r>
              <a:rPr lang="en-US" sz="22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(space complexity). 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SzPct val="90000"/>
            </a:pPr>
            <a:r>
              <a:rPr lang="en-US" sz="2400" dirty="0"/>
              <a:t>Why Analysis is required?</a:t>
            </a:r>
          </a:p>
          <a:p>
            <a:pPr marL="342900" indent="-342900" algn="just">
              <a:lnSpc>
                <a:spcPct val="114000"/>
              </a:lnSpc>
              <a:buClr>
                <a:schemeClr val="accent6"/>
              </a:buClr>
              <a:buSzPct val="90000"/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By analyzing some of the candidate algorithms for a problem, </a:t>
            </a:r>
            <a:r>
              <a:rPr lang="en-US" sz="2200" dirty="0">
                <a:solidFill>
                  <a:srgbClr val="890E4F"/>
                </a:solidFill>
              </a:rPr>
              <a:t>the most efficient </a:t>
            </a:r>
            <a:r>
              <a:rPr lang="en-US" sz="2200" dirty="0">
                <a:solidFill>
                  <a:srgbClr val="212121">
                    <a:lumMod val="75000"/>
                    <a:lumOff val="25000"/>
                  </a:srgbClr>
                </a:solidFill>
              </a:rPr>
              <a:t>one can be easily identified.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61554" y="940526"/>
            <a:ext cx="914400" cy="914400"/>
            <a:chOff x="856024" y="1117547"/>
            <a:chExt cx="914400" cy="914400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6024" y="1117547"/>
              <a:ext cx="914400" cy="914400"/>
            </a:xfrm>
            <a:prstGeom prst="rect">
              <a:avLst/>
            </a:prstGeom>
            <a:ln w="3175">
              <a:solidFill>
                <a:schemeClr val="accent5"/>
              </a:solidFill>
            </a:ln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7117" y="1259269"/>
              <a:ext cx="505742" cy="513940"/>
            </a:xfrm>
            <a:prstGeom prst="ellipse">
              <a:avLst/>
            </a:prstGeom>
            <a:ln w="3175">
              <a:solidFill>
                <a:schemeClr val="accent5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05156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of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efficiency of an algorithm is a </a:t>
            </a:r>
            <a:r>
              <a:rPr lang="en-US" dirty="0">
                <a:solidFill>
                  <a:srgbClr val="A71160"/>
                </a:solidFill>
              </a:rPr>
              <a:t>measure of the amount of resources </a:t>
            </a:r>
            <a:r>
              <a:rPr lang="en-US" dirty="0"/>
              <a:t>consumed in solving a problem of size 𝑛.</a:t>
            </a:r>
          </a:p>
          <a:p>
            <a:r>
              <a:rPr lang="en-US" dirty="0"/>
              <a:t>An algorithm must be </a:t>
            </a:r>
            <a:r>
              <a:rPr lang="en-US" dirty="0">
                <a:solidFill>
                  <a:srgbClr val="A71160"/>
                </a:solidFill>
              </a:rPr>
              <a:t>analyzed </a:t>
            </a:r>
            <a:r>
              <a:rPr lang="en-US" dirty="0"/>
              <a:t>to determine its resource usage. </a:t>
            </a:r>
          </a:p>
          <a:p>
            <a:r>
              <a:rPr lang="en-US" dirty="0"/>
              <a:t>Two major computational resources are </a:t>
            </a:r>
            <a:r>
              <a:rPr lang="en-US" dirty="0">
                <a:solidFill>
                  <a:srgbClr val="A71160"/>
                </a:solidFill>
              </a:rPr>
              <a:t>execution time </a:t>
            </a:r>
            <a:r>
              <a:rPr lang="en-US" dirty="0"/>
              <a:t>and </a:t>
            </a:r>
            <a:r>
              <a:rPr lang="en-US" dirty="0">
                <a:solidFill>
                  <a:srgbClr val="A71160"/>
                </a:solidFill>
              </a:rPr>
              <a:t>memory space</a:t>
            </a:r>
            <a:r>
              <a:rPr lang="en-US" dirty="0"/>
              <a:t>.</a:t>
            </a:r>
          </a:p>
          <a:p>
            <a:r>
              <a:rPr lang="en-US" dirty="0"/>
              <a:t>Memory Space requirement </a:t>
            </a:r>
            <a:r>
              <a:rPr lang="en-US" dirty="0">
                <a:solidFill>
                  <a:srgbClr val="A71160"/>
                </a:solidFill>
              </a:rPr>
              <a:t>can not be </a:t>
            </a:r>
            <a:r>
              <a:rPr lang="en-US" dirty="0"/>
              <a:t>compared directly, so the important resource is computational time required by an algorithm.</a:t>
            </a:r>
            <a:endParaRPr lang="en-US" b="1" dirty="0">
              <a:solidFill>
                <a:srgbClr val="A71160"/>
              </a:solidFill>
            </a:endParaRPr>
          </a:p>
          <a:p>
            <a:r>
              <a:rPr lang="en-US" dirty="0"/>
              <a:t>To measure the </a:t>
            </a:r>
            <a:r>
              <a:rPr lang="en-US" dirty="0">
                <a:solidFill>
                  <a:srgbClr val="A71160"/>
                </a:solidFill>
              </a:rPr>
              <a:t>efficiency of an algorithm </a:t>
            </a:r>
            <a:r>
              <a:rPr lang="en-US" dirty="0"/>
              <a:t>requires to measure its execution time using any of the following approaches: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Empirical Approach: </a:t>
            </a:r>
            <a:r>
              <a:rPr lang="en-US" dirty="0"/>
              <a:t>To run it and measure how much processor time is needed.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Theoretical Approach: </a:t>
            </a:r>
            <a:r>
              <a:rPr lang="en-US" dirty="0"/>
              <a:t>Mathematically computing how much time is needed as a function of input size.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77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Analysis is Done?</a:t>
            </a:r>
          </a:p>
        </p:txBody>
      </p:sp>
      <p:sp>
        <p:nvSpPr>
          <p:cNvPr id="21" name="Rectangle 20"/>
          <p:cNvSpPr/>
          <p:nvPr/>
        </p:nvSpPr>
        <p:spPr>
          <a:xfrm rot="10800000">
            <a:off x="1227904" y="1554472"/>
            <a:ext cx="4454435" cy="436299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rot="10800000">
            <a:off x="6589406" y="1554472"/>
            <a:ext cx="4454435" cy="42976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6775188" y="1073245"/>
            <a:ext cx="4023360" cy="54864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Theoretical (priori) approach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3441" y="1073245"/>
            <a:ext cx="4023360" cy="54864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Empirical (posteriori) approach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4660" y="1772191"/>
            <a:ext cx="4140926" cy="392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 algn="just">
              <a:lnSpc>
                <a:spcPct val="114000"/>
              </a:lnSpc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890E4F"/>
                </a:solidFill>
              </a:rPr>
              <a:t>Programming</a:t>
            </a:r>
            <a:r>
              <a:rPr lang="en-US" sz="2000" b="1" dirty="0">
                <a:solidFill>
                  <a:srgbClr val="890E4F"/>
                </a:solidFill>
              </a:rPr>
              <a:t> </a:t>
            </a:r>
            <a:r>
              <a:rPr lang="en-US" sz="2000" dirty="0"/>
              <a:t>different competing techniques  &amp; running them on various inputs using computer. </a:t>
            </a:r>
          </a:p>
          <a:p>
            <a:pPr marL="342900" lvl="1" indent="-342900" algn="just">
              <a:lnSpc>
                <a:spcPct val="114000"/>
              </a:lnSpc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Implementation of different techniques may be difficult.</a:t>
            </a:r>
          </a:p>
          <a:p>
            <a:pPr marL="342900" indent="-342900" algn="just">
              <a:lnSpc>
                <a:spcPct val="114000"/>
              </a:lnSpc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The same hardware and software environments must be used for comparing two algorithms.</a:t>
            </a:r>
          </a:p>
          <a:p>
            <a:pPr marL="342900" indent="-342900" algn="just">
              <a:lnSpc>
                <a:spcPct val="114000"/>
              </a:lnSpc>
              <a:buClr>
                <a:schemeClr val="accent6"/>
              </a:buClr>
              <a:buFont typeface="Wingdings" panose="05000000000000000000" pitchFamily="2" charset="2"/>
              <a:buChar char="§"/>
            </a:pPr>
            <a:r>
              <a:rPr lang="en-US" altLang="en-US" sz="2000" dirty="0"/>
              <a:t>Results may not be indicative of the running time on other inputs not included in the experiment.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745507" y="1772191"/>
                <a:ext cx="4142232" cy="3931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1" indent="-342900" algn="just">
                  <a:lnSpc>
                    <a:spcPct val="114000"/>
                  </a:lnSpc>
                  <a:buClr>
                    <a:schemeClr val="accent6"/>
                  </a:buClr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Determining </a:t>
                </a:r>
                <a:r>
                  <a:rPr lang="en-US" sz="2000" dirty="0">
                    <a:solidFill>
                      <a:srgbClr val="890E4F"/>
                    </a:solidFill>
                  </a:rPr>
                  <a:t>mathematically</a:t>
                </a:r>
                <a:r>
                  <a:rPr lang="en-US" sz="2000" dirty="0"/>
                  <a:t> the resources needed by each algorithm.</a:t>
                </a:r>
              </a:p>
              <a:p>
                <a:pPr marL="342900" indent="-342900" algn="just">
                  <a:lnSpc>
                    <a:spcPct val="114000"/>
                  </a:lnSpc>
                  <a:buClr>
                    <a:schemeClr val="accent6"/>
                  </a:buClr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Uses the algorithm instead of an implementation.</a:t>
                </a:r>
              </a:p>
              <a:p>
                <a:pPr marL="342900" indent="-342900" algn="just">
                  <a:lnSpc>
                    <a:spcPct val="114000"/>
                  </a:lnSpc>
                  <a:buClr>
                    <a:schemeClr val="accent6"/>
                  </a:buClr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The speed of an algorithm can be determined independent of the hardware/software environment.</a:t>
                </a:r>
              </a:p>
              <a:p>
                <a:pPr marL="342900" indent="-342900" algn="just">
                  <a:lnSpc>
                    <a:spcPct val="114000"/>
                  </a:lnSpc>
                  <a:buClr>
                    <a:schemeClr val="accent6"/>
                  </a:buClr>
                  <a:buFont typeface="Wingdings" panose="05000000000000000000" pitchFamily="2" charset="2"/>
                  <a:buChar char="§"/>
                </a:pPr>
                <a:r>
                  <a:rPr lang="en-US" altLang="en-US" sz="2000" dirty="0"/>
                  <a:t>Characterizes running time as a function of the input size </a:t>
                </a:r>
                <a14:m>
                  <m:oMath xmlns:m="http://schemas.openxmlformats.org/officeDocument/2006/math">
                    <m:r>
                      <a:rPr lang="en-US" altLang="en-US" sz="2000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en-US" sz="2000" b="1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sz="2000" dirty="0"/>
                  <a:t> considers all possible values.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507" y="1772191"/>
                <a:ext cx="4142232" cy="3931920"/>
              </a:xfrm>
              <a:prstGeom prst="rect">
                <a:avLst/>
              </a:prstGeom>
              <a:blipFill>
                <a:blip r:embed="rId2"/>
                <a:stretch>
                  <a:fillRect l="-1325" t="-310" r="-1473" b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61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complexity of an algorithm quantifies the </a:t>
            </a:r>
            <a:r>
              <a:rPr lang="en-US" dirty="0">
                <a:solidFill>
                  <a:srgbClr val="A71160"/>
                </a:solidFill>
              </a:rPr>
              <a:t>amount of time taken by an algorithm </a:t>
            </a:r>
            <a:r>
              <a:rPr lang="en-US" dirty="0"/>
              <a:t>to run as a function of the length of the input.</a:t>
            </a:r>
          </a:p>
          <a:p>
            <a:r>
              <a:rPr lang="en-US" dirty="0"/>
              <a:t>Running time of an algorithm depends upon,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dirty="0">
                <a:solidFill>
                  <a:srgbClr val="A71160"/>
                </a:solidFill>
              </a:rPr>
              <a:t>Input Size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dirty="0">
                <a:solidFill>
                  <a:srgbClr val="A71160"/>
                </a:solidFill>
              </a:rPr>
              <a:t>Nature of Input</a:t>
            </a:r>
          </a:p>
          <a:p>
            <a:r>
              <a:rPr lang="en-US" dirty="0"/>
              <a:t>Generally time </a:t>
            </a:r>
            <a:r>
              <a:rPr lang="en-US" dirty="0">
                <a:solidFill>
                  <a:srgbClr val="A71160"/>
                </a:solidFill>
              </a:rPr>
              <a:t>grows</a:t>
            </a:r>
            <a:r>
              <a:rPr lang="en-US" dirty="0"/>
              <a:t> with the size of input, for example, sorting 100 numbers will take less time than sorting of 10,000 numbers.</a:t>
            </a:r>
          </a:p>
          <a:p>
            <a:r>
              <a:rPr lang="en-US" dirty="0"/>
              <a:t>So, running time of an algorithm is usually measured </a:t>
            </a:r>
            <a:r>
              <a:rPr lang="en-US" dirty="0">
                <a:solidFill>
                  <a:srgbClr val="A71160"/>
                </a:solidFill>
              </a:rPr>
              <a:t>as a function of input size</a:t>
            </a:r>
            <a:r>
              <a:rPr lang="en-US" dirty="0"/>
              <a:t>.</a:t>
            </a:r>
          </a:p>
          <a:p>
            <a:r>
              <a:rPr lang="en-US" dirty="0"/>
              <a:t>Instead of measuring actual time required in executing each statement in the code, we consider </a:t>
            </a:r>
            <a:r>
              <a:rPr lang="en-US" dirty="0">
                <a:solidFill>
                  <a:srgbClr val="A71160"/>
                </a:solidFill>
              </a:rPr>
              <a:t>how many times </a:t>
            </a:r>
            <a:r>
              <a:rPr lang="en-US" dirty="0"/>
              <a:t>each statement is executed.</a:t>
            </a:r>
          </a:p>
          <a:p>
            <a:r>
              <a:rPr lang="en-US" dirty="0"/>
              <a:t>So, in theoretical computation of time complexity, running time is measured in terms of number of </a:t>
            </a:r>
            <a:r>
              <a:rPr lang="en-US" dirty="0">
                <a:solidFill>
                  <a:srgbClr val="A71160"/>
                </a:solidFill>
              </a:rPr>
              <a:t>steps/primitive operations </a:t>
            </a:r>
            <a:r>
              <a:rPr lang="en-US" dirty="0"/>
              <a:t>performed.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5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Instance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Instance: </a:t>
                </a:r>
                <a:r>
                  <a:rPr lang="en-US" dirty="0"/>
                  <a:t>An Instance of a problem consists of </a:t>
                </a:r>
                <a:r>
                  <a:rPr lang="en-US" dirty="0">
                    <a:solidFill>
                      <a:srgbClr val="A71160"/>
                    </a:solidFill>
                  </a:rPr>
                  <a:t>the input </a:t>
                </a:r>
                <a:r>
                  <a:rPr lang="en-US" dirty="0"/>
                  <a:t>needed to compute the solution to the problem.</a:t>
                </a:r>
              </a:p>
              <a:p>
                <a:r>
                  <a:rPr lang="en-US" dirty="0"/>
                  <a:t>Example: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>
                    <a:solidFill>
                      <a:srgbClr val="A71160"/>
                    </a:solidFill>
                  </a:rPr>
                  <a:t>Problem: </a:t>
                </a:r>
                <a:r>
                  <a:rPr lang="en-US" dirty="0"/>
                  <a:t>to multiply two positive integers </a:t>
                </a:r>
              </a:p>
              <a:p>
                <a:pPr marL="0" indent="0">
                  <a:buNone/>
                </a:pPr>
                <a:r>
                  <a:rPr lang="en-US" dirty="0"/>
                  <a:t>      	</a:t>
                </a:r>
                <a:r>
                  <a:rPr lang="en-US" dirty="0">
                    <a:solidFill>
                      <a:srgbClr val="A71160"/>
                    </a:solidFill>
                  </a:rPr>
                  <a:t>Instance:</a:t>
                </a:r>
                <a:r>
                  <a:rPr lang="en-US" dirty="0">
                    <a:solidFill>
                      <a:srgbClr val="890E4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981 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 1234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Instance size: </a:t>
                </a:r>
                <a:r>
                  <a:rPr lang="en-US" dirty="0"/>
                  <a:t>Any integer (generally 𝒏) that in some way </a:t>
                </a:r>
                <a:r>
                  <a:rPr lang="en-US" dirty="0">
                    <a:solidFill>
                      <a:srgbClr val="A71160"/>
                    </a:solidFill>
                  </a:rPr>
                  <a:t>measures</a:t>
                </a:r>
                <a:r>
                  <a:rPr lang="en-US" b="1" dirty="0">
                    <a:solidFill>
                      <a:srgbClr val="890E4F"/>
                    </a:solidFill>
                  </a:rPr>
                  <a:t> </a:t>
                </a:r>
                <a:r>
                  <a:rPr lang="en-US" dirty="0"/>
                  <a:t>the number of components in an instance.</a:t>
                </a:r>
              </a:p>
              <a:p>
                <a:r>
                  <a:rPr lang="en-US" dirty="0"/>
                  <a:t>Examples:</a:t>
                </a:r>
              </a:p>
              <a:p>
                <a:pPr marL="1001712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A71160"/>
                    </a:solidFill>
                  </a:rPr>
                  <a:t>Sorting problem: </a:t>
                </a:r>
                <a:r>
                  <a:rPr lang="en-US" dirty="0"/>
                  <a:t>Instance size is number of elements to be sorted.</a:t>
                </a:r>
              </a:p>
              <a:p>
                <a:pPr marL="1001712" lvl="1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A71160"/>
                    </a:solidFill>
                  </a:rPr>
                  <a:t>Graph problem:</a:t>
                </a:r>
                <a:r>
                  <a:rPr lang="en-US" dirty="0"/>
                  <a:t> Instance size is number of nodes or edges or both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235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Suppose, you are given </a:t>
            </a:r>
            <a:r>
              <a:rPr lang="en-US" dirty="0">
                <a:solidFill>
                  <a:srgbClr val="A71160"/>
                </a:solidFill>
              </a:rPr>
              <a:t>a jar </a:t>
            </a:r>
            <a:r>
              <a:rPr lang="en-US" dirty="0"/>
              <a:t>containing some business cards.</a:t>
            </a:r>
          </a:p>
          <a:p>
            <a:r>
              <a:rPr lang="en-US" dirty="0"/>
              <a:t>You are asked to determine whether the name “</a:t>
            </a:r>
            <a:r>
              <a:rPr lang="en-US" dirty="0">
                <a:solidFill>
                  <a:srgbClr val="A71160"/>
                </a:solidFill>
              </a:rPr>
              <a:t>Bill Gates</a:t>
            </a:r>
            <a:r>
              <a:rPr lang="en-US" dirty="0"/>
              <a:t>" is in the jar.  </a:t>
            </a:r>
          </a:p>
          <a:p>
            <a:r>
              <a:rPr lang="en-US" dirty="0"/>
              <a:t>To do this, you decide to simply go through all the cards </a:t>
            </a:r>
            <a:r>
              <a:rPr lang="en-US" dirty="0">
                <a:solidFill>
                  <a:srgbClr val="A71160"/>
                </a:solidFill>
              </a:rPr>
              <a:t>one by one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0070C0"/>
                </a:solidFill>
              </a:rPr>
              <a:t>How long this takes? </a:t>
            </a:r>
          </a:p>
          <a:p>
            <a:r>
              <a:rPr lang="en-US" dirty="0"/>
              <a:t>Can be determined by how many cards are in the jar, i.e., </a:t>
            </a:r>
            <a:r>
              <a:rPr lang="en-US" dirty="0">
                <a:solidFill>
                  <a:srgbClr val="A71160"/>
                </a:solidFill>
              </a:rPr>
              <a:t>Size of Input</a:t>
            </a:r>
            <a:r>
              <a:rPr lang="en-US" b="1" dirty="0"/>
              <a:t>. </a:t>
            </a:r>
          </a:p>
          <a:p>
            <a:r>
              <a:rPr lang="en-US" dirty="0">
                <a:solidFill>
                  <a:srgbClr val="A71160"/>
                </a:solidFill>
              </a:rPr>
              <a:t>Linear search </a:t>
            </a:r>
            <a:r>
              <a:rPr lang="en-US" dirty="0"/>
              <a:t>is a method for finding a particular value from the given list.</a:t>
            </a:r>
          </a:p>
          <a:p>
            <a:r>
              <a:rPr lang="en-US" dirty="0"/>
              <a:t>The algorithm checks each element, </a:t>
            </a:r>
            <a:r>
              <a:rPr lang="en-US" dirty="0">
                <a:solidFill>
                  <a:srgbClr val="A71160"/>
                </a:solidFill>
              </a:rPr>
              <a:t>one at a time and in sequence</a:t>
            </a:r>
            <a:r>
              <a:rPr lang="en-US" dirty="0"/>
              <a:t>, until the desired element is found. </a:t>
            </a:r>
          </a:p>
          <a:p>
            <a:r>
              <a:rPr lang="en-US" dirty="0"/>
              <a:t>Linear search is </a:t>
            </a:r>
            <a:r>
              <a:rPr lang="en-US" dirty="0">
                <a:solidFill>
                  <a:srgbClr val="A71160"/>
                </a:solidFill>
              </a:rPr>
              <a:t>the simplest </a:t>
            </a:r>
            <a:r>
              <a:rPr lang="en-US" dirty="0"/>
              <a:t>search algorithm.</a:t>
            </a:r>
          </a:p>
          <a:p>
            <a:r>
              <a:rPr lang="en-US" dirty="0"/>
              <a:t>It is a special case of </a:t>
            </a:r>
            <a:r>
              <a:rPr lang="en-US" dirty="0">
                <a:solidFill>
                  <a:srgbClr val="A71160"/>
                </a:solidFill>
              </a:rPr>
              <a:t>brute-force search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432" y="975713"/>
            <a:ext cx="2164268" cy="19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95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 –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115665" y="1066800"/>
                <a:ext cx="357001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/>
                  <a:t>Search for </a:t>
                </a:r>
                <a14:m>
                  <m:oMath xmlns:m="http://schemas.openxmlformats.org/officeDocument/2006/math">
                    <m:r>
                      <a:rPr lang="en-IN" sz="2400" b="1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N" sz="2400" b="1" dirty="0"/>
                  <a:t> in given array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65" y="1066800"/>
                <a:ext cx="3570016" cy="461665"/>
              </a:xfrm>
              <a:prstGeom prst="rect">
                <a:avLst/>
              </a:prstGeom>
              <a:blipFill>
                <a:blip r:embed="rId2"/>
                <a:stretch>
                  <a:fillRect l="-2560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8384468"/>
                  </p:ext>
                </p:extLst>
              </p:nvPr>
            </p:nvGraphicFramePr>
            <p:xfrm>
              <a:off x="5799980" y="1112212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8384468"/>
                  </p:ext>
                </p:extLst>
              </p:nvPr>
            </p:nvGraphicFramePr>
            <p:xfrm>
              <a:off x="5799980" y="1112212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62" t="-1316" r="-40384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316" r="-3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923" t="-1316" r="-202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048" t="-1316" r="-10095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2885" t="-1316" r="-1923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" name="Straight Connector 5"/>
          <p:cNvCxnSpPr/>
          <p:nvPr/>
        </p:nvCxnSpPr>
        <p:spPr>
          <a:xfrm>
            <a:off x="1506065" y="1676400"/>
            <a:ext cx="8763000" cy="0"/>
          </a:xfrm>
          <a:prstGeom prst="line">
            <a:avLst/>
          </a:prstGeom>
          <a:ln>
            <a:solidFill>
              <a:srgbClr val="890E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06065" y="1828800"/>
            <a:ext cx="8763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Comparing </a:t>
            </a:r>
            <a:r>
              <a:rPr lang="en-IN" b="1" dirty="0"/>
              <a:t>value of </a:t>
            </a:r>
            <a:r>
              <a:rPr lang="en-IN" b="1" dirty="0" err="1"/>
              <a:t>i</a:t>
            </a:r>
            <a:r>
              <a:rPr lang="en-IN" b="1" baseline="30000" dirty="0" err="1"/>
              <a:t>th</a:t>
            </a:r>
            <a:r>
              <a:rPr lang="en-IN" b="1" dirty="0"/>
              <a:t> index </a:t>
            </a:r>
            <a:r>
              <a:rPr lang="en-IN" dirty="0"/>
              <a:t>with the given element one by one, until we get the required element or end of the array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506065" y="2514600"/>
            <a:ext cx="8763000" cy="0"/>
          </a:xfrm>
          <a:prstGeom prst="line">
            <a:avLst/>
          </a:prstGeom>
          <a:ln>
            <a:solidFill>
              <a:srgbClr val="890E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06065" y="2514600"/>
            <a:ext cx="1181734" cy="369332"/>
          </a:xfrm>
          <a:prstGeom prst="rect">
            <a:avLst/>
          </a:prstGeom>
          <a:solidFill>
            <a:schemeClr val="bg2">
              <a:lumMod val="8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A71160"/>
                </a:solidFill>
              </a:rPr>
              <a:t>Step 1: </a:t>
            </a:r>
            <a:r>
              <a:rPr lang="en-IN" b="1" dirty="0" err="1">
                <a:solidFill>
                  <a:srgbClr val="A71160"/>
                </a:solidFill>
              </a:rPr>
              <a:t>i</a:t>
            </a:r>
            <a:r>
              <a:rPr lang="en-IN" b="1" dirty="0">
                <a:solidFill>
                  <a:srgbClr val="A71160"/>
                </a:solidFill>
              </a:rPr>
              <a:t>=1</a:t>
            </a:r>
            <a:endParaRPr lang="en-US" b="1" dirty="0">
              <a:solidFill>
                <a:srgbClr val="A711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049093"/>
                  </p:ext>
                </p:extLst>
              </p:nvPr>
            </p:nvGraphicFramePr>
            <p:xfrm>
              <a:off x="2218580" y="3048000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9049093"/>
                  </p:ext>
                </p:extLst>
              </p:nvPr>
            </p:nvGraphicFramePr>
            <p:xfrm>
              <a:off x="2218580" y="3048000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62" t="-2667" r="-403846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667" r="-30000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923" t="-2667" r="-20288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048" t="-2667" r="-100952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2885" t="-2667" r="-1923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1" name="Group 10"/>
          <p:cNvGrpSpPr/>
          <p:nvPr/>
        </p:nvGrpSpPr>
        <p:grpSpPr>
          <a:xfrm>
            <a:off x="2447180" y="3505200"/>
            <a:ext cx="260008" cy="614065"/>
            <a:chOff x="457200" y="3505200"/>
            <a:chExt cx="260008" cy="614065"/>
          </a:xfrm>
        </p:grpSpPr>
        <p:sp>
          <p:nvSpPr>
            <p:cNvPr id="12" name="TextBox 11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/>
          <p:cNvCxnSpPr/>
          <p:nvPr/>
        </p:nvCxnSpPr>
        <p:spPr>
          <a:xfrm>
            <a:off x="1506065" y="4424065"/>
            <a:ext cx="4038600" cy="0"/>
          </a:xfrm>
          <a:prstGeom prst="line">
            <a:avLst/>
          </a:prstGeom>
          <a:ln>
            <a:solidFill>
              <a:srgbClr val="890E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23003" y="4439405"/>
            <a:ext cx="1181734" cy="369332"/>
          </a:xfrm>
          <a:prstGeom prst="rect">
            <a:avLst/>
          </a:prstGeom>
          <a:solidFill>
            <a:schemeClr val="bg2">
              <a:lumMod val="8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A71160"/>
                </a:solidFill>
              </a:defRPr>
            </a:lvl1pPr>
          </a:lstStyle>
          <a:p>
            <a:r>
              <a:rPr lang="en-IN" dirty="0"/>
              <a:t>Step 2: </a:t>
            </a:r>
            <a:r>
              <a:rPr lang="en-IN" dirty="0" err="1"/>
              <a:t>i</a:t>
            </a:r>
            <a:r>
              <a:rPr lang="en-IN" dirty="0"/>
              <a:t>=2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5129698"/>
                  </p:ext>
                </p:extLst>
              </p:nvPr>
            </p:nvGraphicFramePr>
            <p:xfrm>
              <a:off x="2178365" y="4948535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5129698"/>
                  </p:ext>
                </p:extLst>
              </p:nvPr>
            </p:nvGraphicFramePr>
            <p:xfrm>
              <a:off x="2178365" y="4948535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62" t="-1316" r="-40384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62" t="-1316" r="-30384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9048" t="-1316" r="-20095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923" t="-1316" r="-102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923" t="-1316" r="-2885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oup 16"/>
          <p:cNvGrpSpPr/>
          <p:nvPr/>
        </p:nvGrpSpPr>
        <p:grpSpPr>
          <a:xfrm>
            <a:off x="2406965" y="5405735"/>
            <a:ext cx="260008" cy="614065"/>
            <a:chOff x="457200" y="3505200"/>
            <a:chExt cx="260008" cy="614065"/>
          </a:xfrm>
        </p:grpSpPr>
        <p:sp>
          <p:nvSpPr>
            <p:cNvPr id="18" name="TextBox 17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/>
          <p:cNvCxnSpPr/>
          <p:nvPr/>
        </p:nvCxnSpPr>
        <p:spPr>
          <a:xfrm>
            <a:off x="5544665" y="2514600"/>
            <a:ext cx="0" cy="3886200"/>
          </a:xfrm>
          <a:prstGeom prst="line">
            <a:avLst/>
          </a:prstGeom>
          <a:ln>
            <a:solidFill>
              <a:srgbClr val="890E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56240" y="2526175"/>
            <a:ext cx="1181734" cy="369332"/>
          </a:xfrm>
          <a:prstGeom prst="rect">
            <a:avLst/>
          </a:prstGeom>
          <a:solidFill>
            <a:schemeClr val="bg2">
              <a:lumMod val="8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A71160"/>
                </a:solidFill>
              </a:defRPr>
            </a:lvl1pPr>
          </a:lstStyle>
          <a:p>
            <a:r>
              <a:rPr lang="en-IN" dirty="0"/>
              <a:t>Step 3: </a:t>
            </a:r>
            <a:r>
              <a:rPr lang="en-IN" dirty="0" err="1"/>
              <a:t>i</a:t>
            </a:r>
            <a:r>
              <a:rPr lang="en-IN" dirty="0"/>
              <a:t>=3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8868247"/>
                  </p:ext>
                </p:extLst>
              </p:nvPr>
            </p:nvGraphicFramePr>
            <p:xfrm>
              <a:off x="6050991" y="3048000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8868247"/>
                  </p:ext>
                </p:extLst>
              </p:nvPr>
            </p:nvGraphicFramePr>
            <p:xfrm>
              <a:off x="6050991" y="3048000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62" t="-2667" r="-403846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2667" r="-30000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1923" t="-2667" r="-20288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99048" t="-2667" r="-100952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02885" t="-2667" r="-1923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3" name="Group 22"/>
          <p:cNvGrpSpPr/>
          <p:nvPr/>
        </p:nvGrpSpPr>
        <p:grpSpPr>
          <a:xfrm>
            <a:off x="6789393" y="3505200"/>
            <a:ext cx="260008" cy="614065"/>
            <a:chOff x="457200" y="3505200"/>
            <a:chExt cx="260008" cy="614065"/>
          </a:xfrm>
        </p:grpSpPr>
        <p:sp>
          <p:nvSpPr>
            <p:cNvPr id="24" name="TextBox 23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/>
          <p:cNvCxnSpPr/>
          <p:nvPr/>
        </p:nvCxnSpPr>
        <p:spPr>
          <a:xfrm>
            <a:off x="5544665" y="4416955"/>
            <a:ext cx="4724400" cy="0"/>
          </a:xfrm>
          <a:prstGeom prst="line">
            <a:avLst/>
          </a:prstGeom>
          <a:ln>
            <a:solidFill>
              <a:srgbClr val="890E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44665" y="4419600"/>
            <a:ext cx="1181734" cy="369332"/>
          </a:xfrm>
          <a:prstGeom prst="rect">
            <a:avLst/>
          </a:prstGeom>
          <a:solidFill>
            <a:schemeClr val="bg2">
              <a:lumMod val="8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A71160"/>
                </a:solidFill>
              </a:defRPr>
            </a:lvl1pPr>
          </a:lstStyle>
          <a:p>
            <a:r>
              <a:rPr lang="en-IN" dirty="0"/>
              <a:t>Step 4: </a:t>
            </a:r>
            <a:r>
              <a:rPr lang="en-IN" dirty="0" err="1"/>
              <a:t>i</a:t>
            </a:r>
            <a:r>
              <a:rPr lang="en-IN" dirty="0"/>
              <a:t>=4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9528966"/>
                  </p:ext>
                </p:extLst>
              </p:nvPr>
            </p:nvGraphicFramePr>
            <p:xfrm>
              <a:off x="6050991" y="4941425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9528966"/>
                  </p:ext>
                </p:extLst>
              </p:nvPr>
            </p:nvGraphicFramePr>
            <p:xfrm>
              <a:off x="6050991" y="4941425"/>
              <a:ext cx="3173685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7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3473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962" t="-1316" r="-403846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1316" r="-300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1923" t="-1316" r="-202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99048" t="-1316" r="-10095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402885" t="-1316" r="-1923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9" name="Group 28"/>
          <p:cNvGrpSpPr/>
          <p:nvPr/>
        </p:nvGrpSpPr>
        <p:grpSpPr>
          <a:xfrm>
            <a:off x="7454885" y="5415987"/>
            <a:ext cx="260008" cy="614065"/>
            <a:chOff x="457200" y="3505200"/>
            <a:chExt cx="260008" cy="614065"/>
          </a:xfrm>
        </p:grpSpPr>
        <p:sp>
          <p:nvSpPr>
            <p:cNvPr id="30" name="TextBox 29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7997026" y="4941425"/>
                <a:ext cx="4817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026" y="4941425"/>
                <a:ext cx="48173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6136335" y="6031468"/>
            <a:ext cx="32480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solidFill>
                  <a:srgbClr val="424242"/>
                </a:solidFill>
              </a:rPr>
              <a:t>Element found at </a:t>
            </a:r>
            <a:r>
              <a:rPr lang="en-IN" sz="2000" b="1" dirty="0" err="1">
                <a:solidFill>
                  <a:srgbClr val="424242"/>
                </a:solidFill>
              </a:rPr>
              <a:t>i</a:t>
            </a:r>
            <a:r>
              <a:rPr lang="en-IN" sz="2000" b="1" baseline="30000" dirty="0" err="1">
                <a:solidFill>
                  <a:srgbClr val="424242"/>
                </a:solidFill>
              </a:rPr>
              <a:t>th</a:t>
            </a:r>
            <a:r>
              <a:rPr lang="en-IN" sz="2000" b="1" dirty="0">
                <a:solidFill>
                  <a:srgbClr val="424242"/>
                </a:solidFill>
              </a:rPr>
              <a:t> index, </a:t>
            </a:r>
            <a:r>
              <a:rPr lang="en-IN" sz="2000" b="1" dirty="0" err="1">
                <a:solidFill>
                  <a:srgbClr val="424242"/>
                </a:solidFill>
              </a:rPr>
              <a:t>i</a:t>
            </a:r>
            <a:r>
              <a:rPr lang="en-IN" sz="2000" b="1" dirty="0">
                <a:solidFill>
                  <a:srgbClr val="424242"/>
                </a:solidFill>
              </a:rPr>
              <a:t>=4</a:t>
            </a:r>
            <a:endParaRPr lang="en-US" sz="2000" b="1" dirty="0">
              <a:solidFill>
                <a:srgbClr val="42424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166030" y="4019490"/>
                <a:ext cx="822307" cy="40011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000" b="1" i="1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000" b="1" i="1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424242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030" y="4019490"/>
                <a:ext cx="82230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91389" y="5924490"/>
                <a:ext cx="822307" cy="40011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sz="2000" b="1" i="1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000" b="1" i="1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424242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389" y="5924490"/>
                <a:ext cx="822307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190262" y="4019490"/>
                <a:ext cx="822307" cy="40011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000" b="1" i="1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solidFill>
                    <a:srgbClr val="424242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262" y="4019490"/>
                <a:ext cx="822307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76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3.7037E-7 L 0.06081 -3.7037E-7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0.06823 2.96296E-6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1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7.40741E-7 L 0.06666 -7.40741E-7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 animBg="1"/>
      <p:bldP spid="15" grpId="0" animBg="1"/>
      <p:bldP spid="21" grpId="0" animBg="1"/>
      <p:bldP spid="27" grpId="0" animBg="1"/>
      <p:bldP spid="32" grpId="0"/>
      <p:bldP spid="33" grpId="0"/>
      <p:bldP spid="34" grpId="0" animBg="1"/>
      <p:bldP spid="35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 -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424242"/>
          </a:solidFill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Input	: Array A, element x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# Output	: First index of element x in A or -1 if not found </a:t>
            </a:r>
            <a:r>
              <a:rPr lang="en-IN" b="1" dirty="0">
                <a:latin typeface="Consolas" pitchFamily="49" charset="0"/>
                <a:cs typeface="Consolas" pitchFamily="49" charset="0"/>
              </a:rPr>
              <a:t>	</a:t>
            </a:r>
          </a:p>
          <a:p>
            <a:pPr marL="0" indent="0">
              <a:buNone/>
            </a:pPr>
            <a:endParaRPr lang="en-IN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Linear_Search</a:t>
            </a:r>
            <a:endParaRPr lang="en-IN" b="1" dirty="0">
              <a:solidFill>
                <a:schemeClr val="accent5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for </a:t>
            </a:r>
            <a:r>
              <a:rPr lang="en-IN" b="1" dirty="0" err="1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b="1" dirty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 = 1 to last index of A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	 if A[</a:t>
            </a:r>
            <a:r>
              <a:rPr lang="en-IN" b="1" dirty="0" err="1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IN" b="1" dirty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] equals element x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		 return </a:t>
            </a:r>
            <a:r>
              <a:rPr lang="en-IN" b="1" dirty="0" err="1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i</a:t>
            </a:r>
            <a:endParaRPr lang="en-IN" b="1" dirty="0">
              <a:solidFill>
                <a:schemeClr val="accent5"/>
              </a:solidFill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5"/>
                </a:solidFill>
                <a:latin typeface="Consolas" pitchFamily="49" charset="0"/>
                <a:cs typeface="Consolas" pitchFamily="49" charset="0"/>
              </a:rPr>
              <a:t>return -1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56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 -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required element in the given array can be found at,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E.g. 2: It is at the first position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A71160"/>
                </a:solidFill>
              </a:rPr>
              <a:t>Best Case: </a:t>
            </a:r>
            <a:r>
              <a:rPr lang="en-US" dirty="0"/>
              <a:t>minimum comparison is required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-US" dirty="0"/>
              <a:t>E.g. 3 or 1: Anywhere after the first position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A71160"/>
                </a:solidFill>
              </a:rPr>
              <a:t>Average Case: </a:t>
            </a:r>
            <a:r>
              <a:rPr lang="en-US" dirty="0"/>
              <a:t>average number of comparison is required 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dirty="0"/>
              <a:t>E.g. 7: Last position or element does not found at all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A71160"/>
                </a:solidFill>
              </a:rPr>
              <a:t>Worst Case: </a:t>
            </a:r>
            <a:r>
              <a:rPr lang="en-US" dirty="0"/>
              <a:t>maximum comparison is required</a:t>
            </a:r>
          </a:p>
          <a:p>
            <a:pPr marL="914400" lvl="1" indent="-457200">
              <a:buFont typeface="+mj-lt"/>
              <a:buAutoNum type="arabicPeriod" startAt="2"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900519" y="4480339"/>
                <a:ext cx="217393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400" b="1" dirty="0"/>
                  <a:t>Search for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519" y="4480339"/>
                <a:ext cx="2173939" cy="461665"/>
              </a:xfrm>
              <a:prstGeom prst="rect">
                <a:avLst/>
              </a:prstGeom>
              <a:blipFill>
                <a:blip r:embed="rId2"/>
                <a:stretch>
                  <a:fillRect l="-4494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13742"/>
                  </p:ext>
                </p:extLst>
              </p:nvPr>
            </p:nvGraphicFramePr>
            <p:xfrm>
              <a:off x="4105658" y="4498857"/>
              <a:ext cx="3173688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4352608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13742"/>
                  </p:ext>
                </p:extLst>
              </p:nvPr>
            </p:nvGraphicFramePr>
            <p:xfrm>
              <a:off x="4105658" y="4498857"/>
              <a:ext cx="3173688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43526081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49" t="-2632" r="-50229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49" t="-2632" r="-40229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49" t="-2632" r="-30229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149" t="-2632" r="-20229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149" t="-2632" r="-10229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149" t="-2632" r="-2299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Left Brace 13"/>
          <p:cNvSpPr/>
          <p:nvPr/>
        </p:nvSpPr>
        <p:spPr>
          <a:xfrm rot="16200000">
            <a:off x="5520343" y="4097415"/>
            <a:ext cx="340660" cy="2065723"/>
          </a:xfrm>
          <a:prstGeom prst="leftBrace">
            <a:avLst>
              <a:gd name="adj1" fmla="val 8333"/>
              <a:gd name="adj2" fmla="val 50651"/>
            </a:avLst>
          </a:prstGeom>
          <a:ln w="28575">
            <a:solidFill>
              <a:srgbClr val="A711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/>
          <p:cNvSpPr/>
          <p:nvPr/>
        </p:nvSpPr>
        <p:spPr>
          <a:xfrm rot="16200000">
            <a:off x="7206222" y="3866127"/>
            <a:ext cx="182880" cy="1097280"/>
          </a:xfrm>
          <a:prstGeom prst="rightBrace">
            <a:avLst>
              <a:gd name="adj1" fmla="val 8333"/>
              <a:gd name="adj2" fmla="val 47541"/>
            </a:avLst>
          </a:prstGeom>
          <a:ln w="28575">
            <a:solidFill>
              <a:srgbClr val="A711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ular Callout 15"/>
          <p:cNvSpPr/>
          <p:nvPr/>
        </p:nvSpPr>
        <p:spPr>
          <a:xfrm>
            <a:off x="2849811" y="5333806"/>
            <a:ext cx="1322114" cy="365760"/>
          </a:xfrm>
          <a:prstGeom prst="wedgeRoundRectCallout">
            <a:avLst>
              <a:gd name="adj1" fmla="val 60195"/>
              <a:gd name="adj2" fmla="val -153521"/>
              <a:gd name="adj3" fmla="val 16667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A7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Best Case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4886406" y="5645746"/>
            <a:ext cx="1904358" cy="365760"/>
          </a:xfrm>
          <a:prstGeom prst="wedgeRoundRectCallout">
            <a:avLst>
              <a:gd name="adj1" fmla="val -7128"/>
              <a:gd name="adj2" fmla="val -127233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7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Average Case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6970194" y="3609771"/>
            <a:ext cx="1447800" cy="365760"/>
          </a:xfrm>
          <a:prstGeom prst="wedgeRoundRectCallout">
            <a:avLst>
              <a:gd name="adj1" fmla="val -30798"/>
              <a:gd name="adj2" fmla="val 11874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A7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Worst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254188" y="4480339"/>
                <a:ext cx="376518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188" y="4480339"/>
                <a:ext cx="376518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3226" r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222988" y="4494392"/>
                <a:ext cx="376518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988" y="4494392"/>
                <a:ext cx="376518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3279" r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12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 -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required element in the given array can be found at,</a:t>
            </a:r>
          </a:p>
          <a:p>
            <a:pPr marL="914400" lvl="1" indent="-457200">
              <a:buFont typeface="+mj-lt"/>
              <a:buAutoNum type="arabicPeriod" startAt="2"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658165" y="4754662"/>
                <a:ext cx="217393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400" b="1" dirty="0"/>
                  <a:t>Search for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165" y="4754662"/>
                <a:ext cx="2173939" cy="461665"/>
              </a:xfrm>
              <a:prstGeom prst="rect">
                <a:avLst/>
              </a:prstGeom>
              <a:blipFill>
                <a:blip r:embed="rId2"/>
                <a:stretch>
                  <a:fillRect l="-4202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032846"/>
                  </p:ext>
                </p:extLst>
              </p:nvPr>
            </p:nvGraphicFramePr>
            <p:xfrm>
              <a:off x="4863304" y="4773180"/>
              <a:ext cx="3173688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4352608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1" i="1" dirty="0" smtClean="0"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032846"/>
                  </p:ext>
                </p:extLst>
              </p:nvPr>
            </p:nvGraphicFramePr>
            <p:xfrm>
              <a:off x="4863304" y="4773180"/>
              <a:ext cx="3173688" cy="457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43526081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49" t="-2632" r="-50229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49" t="-2632" r="-40229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49" t="-2632" r="-30229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149" t="-2632" r="-20229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149" t="-2632" r="-102299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149" t="-2632" r="-2299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Left Brace 13"/>
          <p:cNvSpPr/>
          <p:nvPr/>
        </p:nvSpPr>
        <p:spPr>
          <a:xfrm rot="16200000">
            <a:off x="6277989" y="4371738"/>
            <a:ext cx="340660" cy="2065723"/>
          </a:xfrm>
          <a:prstGeom prst="leftBrace">
            <a:avLst>
              <a:gd name="adj1" fmla="val 8333"/>
              <a:gd name="adj2" fmla="val 50651"/>
            </a:avLst>
          </a:prstGeom>
          <a:ln w="28575">
            <a:solidFill>
              <a:srgbClr val="A711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/>
          <p:cNvSpPr/>
          <p:nvPr/>
        </p:nvSpPr>
        <p:spPr>
          <a:xfrm rot="16200000">
            <a:off x="7963868" y="4140450"/>
            <a:ext cx="182880" cy="1097280"/>
          </a:xfrm>
          <a:prstGeom prst="rightBrace">
            <a:avLst>
              <a:gd name="adj1" fmla="val 8333"/>
              <a:gd name="adj2" fmla="val 47541"/>
            </a:avLst>
          </a:prstGeom>
          <a:ln w="28575">
            <a:solidFill>
              <a:srgbClr val="A711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ular Callout 15"/>
          <p:cNvSpPr/>
          <p:nvPr/>
        </p:nvSpPr>
        <p:spPr>
          <a:xfrm>
            <a:off x="3701586" y="5621576"/>
            <a:ext cx="1322114" cy="365760"/>
          </a:xfrm>
          <a:prstGeom prst="wedgeRoundRectCallout">
            <a:avLst>
              <a:gd name="adj1" fmla="val 60195"/>
              <a:gd name="adj2" fmla="val -153521"/>
              <a:gd name="adj3" fmla="val 16667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A7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Best Case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5644052" y="5920069"/>
            <a:ext cx="1904358" cy="365760"/>
          </a:xfrm>
          <a:prstGeom prst="wedgeRoundRectCallout">
            <a:avLst>
              <a:gd name="adj1" fmla="val -7128"/>
              <a:gd name="adj2" fmla="val -127233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A7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Average Case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7727840" y="3884094"/>
            <a:ext cx="1447800" cy="365760"/>
          </a:xfrm>
          <a:prstGeom prst="wedgeRoundRectCallout">
            <a:avLst>
              <a:gd name="adj1" fmla="val -30798"/>
              <a:gd name="adj2" fmla="val 118747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A711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Worst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011834" y="4754662"/>
                <a:ext cx="376518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834" y="4754662"/>
                <a:ext cx="376518" cy="461665"/>
              </a:xfrm>
              <a:prstGeom prst="rect">
                <a:avLst/>
              </a:prstGeom>
              <a:blipFill>
                <a:blip r:embed="rId4"/>
                <a:stretch>
                  <a:fillRect l="-1613" r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980634" y="4768715"/>
                <a:ext cx="376518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634" y="4768715"/>
                <a:ext cx="376518" cy="461665"/>
              </a:xfrm>
              <a:prstGeom prst="rect">
                <a:avLst/>
              </a:prstGeom>
              <a:blipFill>
                <a:blip r:embed="rId5"/>
                <a:stretch>
                  <a:fillRect l="-3226" r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601569" y="1528740"/>
            <a:ext cx="3474720" cy="21031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-457200"/>
            <a:r>
              <a:rPr lang="en-US" sz="2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Case 1: </a:t>
            </a:r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element 2 which is at the first position so minimum comparison is required</a:t>
            </a:r>
          </a:p>
          <a:p>
            <a:pPr indent="-57150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370418" y="1528740"/>
            <a:ext cx="3474720" cy="21031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-457200" algn="just"/>
            <a:r>
              <a:rPr lang="en-US" sz="2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Case 2: </a:t>
            </a:r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element </a:t>
            </a:r>
            <a:r>
              <a:rPr lang="en-US" sz="2200" dirty="0">
                <a:solidFill>
                  <a:srgbClr val="424242"/>
                </a:solidFill>
              </a:rPr>
              <a:t>3 anywhere after the first position so, an </a:t>
            </a:r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average number of comparison is required </a:t>
            </a:r>
          </a:p>
          <a:p>
            <a:pPr indent="-57150"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25820" y="1528740"/>
            <a:ext cx="3474720" cy="210312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-457200" algn="just"/>
            <a:r>
              <a:rPr lang="en-US" sz="2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Case 3: </a:t>
            </a:r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element 7 at last position or element does not found at all, maximum comparison is required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95929" y="3080145"/>
            <a:ext cx="2286000" cy="548640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Best Case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64778" y="3080145"/>
            <a:ext cx="2286000" cy="548640"/>
          </a:xfrm>
          <a:prstGeom prst="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Average Case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20180" y="3080145"/>
            <a:ext cx="2286000" cy="548640"/>
          </a:xfrm>
          <a:prstGeom prst="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Worst Case </a:t>
            </a:r>
          </a:p>
        </p:txBody>
      </p:sp>
    </p:spTree>
    <p:extLst>
      <p:ext uri="{BB962C8B-B14F-4D97-AF65-F5344CB8AC3E}">
        <p14:creationId xmlns:p14="http://schemas.microsoft.com/office/powerpoint/2010/main" val="74720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33" grpId="0" animBg="1"/>
      <p:bldP spid="34" grpId="0" animBg="1"/>
      <p:bldP spid="35" grpId="0" animBg="1"/>
      <p:bldP spid="4" grpId="0" animBg="1"/>
      <p:bldP spid="36" grpId="0" animBg="1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Algorithm</a:t>
            </a:r>
          </a:p>
        </p:txBody>
      </p:sp>
      <p:graphicFrame>
        <p:nvGraphicFramePr>
          <p:cNvPr id="4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4052292"/>
              </p:ext>
            </p:extLst>
          </p:nvPr>
        </p:nvGraphicFramePr>
        <p:xfrm>
          <a:off x="1473200" y="1263650"/>
          <a:ext cx="9220200" cy="8255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3362168067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Best Case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Average Case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Worst Case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55578"/>
              </p:ext>
            </p:extLst>
          </p:nvPr>
        </p:nvGraphicFramePr>
        <p:xfrm>
          <a:off x="1473200" y="2090293"/>
          <a:ext cx="9220200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161349774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3313175590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972457118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Resource usage is minimum</a:t>
                      </a:r>
                    </a:p>
                  </a:txBody>
                  <a:tcPr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7EB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Resource usage is average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7EB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Resource usage is maximum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7EB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5423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15107"/>
              </p:ext>
            </p:extLst>
          </p:nvPr>
        </p:nvGraphicFramePr>
        <p:xfrm>
          <a:off x="1473200" y="2792476"/>
          <a:ext cx="9220200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161349774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3313175590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972457118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Algorithm’s behavior under optimal condition </a:t>
                      </a:r>
                    </a:p>
                  </a:txBody>
                  <a:tcPr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Algorithm’s behavior under random condition 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Algorithm’s behavior under the worst condition 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3291564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288798"/>
              </p:ext>
            </p:extLst>
          </p:nvPr>
        </p:nvGraphicFramePr>
        <p:xfrm>
          <a:off x="1473200" y="3494659"/>
          <a:ext cx="9220200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161349774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3313175590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972457118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Minimum number of steps or operations</a:t>
                      </a:r>
                    </a:p>
                  </a:txBody>
                  <a:tcPr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7EB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Average number of steps or operations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7EB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Maximum number of steps or operations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7EB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579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462091"/>
              </p:ext>
            </p:extLst>
          </p:nvPr>
        </p:nvGraphicFramePr>
        <p:xfrm>
          <a:off x="1473200" y="4196842"/>
          <a:ext cx="9220200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1613497744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3313175590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972457118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Lower bound on running time </a:t>
                      </a:r>
                    </a:p>
                  </a:txBody>
                  <a:tcPr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Average bound on running time 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Upper bound on running time 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8193592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743577"/>
              </p:ext>
            </p:extLst>
          </p:nvPr>
        </p:nvGraphicFramePr>
        <p:xfrm>
          <a:off x="1473200" y="4899025"/>
          <a:ext cx="9220200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1613497744"/>
                    </a:ext>
                  </a:extLst>
                </a:gridCol>
                <a:gridCol w="6146800">
                  <a:extLst>
                    <a:ext uri="{9D8B030D-6E8A-4147-A177-3AD203B41FA5}">
                      <a16:colId xmlns:a16="http://schemas.microsoft.com/office/drawing/2014/main" val="3313175590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Generally do not occur in real</a:t>
                      </a:r>
                    </a:p>
                  </a:txBody>
                  <a:tcPr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7EB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>
                          <a:solidFill>
                            <a:srgbClr val="002060"/>
                          </a:solidFill>
                        </a:rPr>
                        <a:t>Average and worst-case performances are the most used in algorithm analysis.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7EB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111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8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20E2A-F2D8-419C-9FD1-95D26342647C}"/>
              </a:ext>
            </a:extLst>
          </p:cNvPr>
          <p:cNvSpPr/>
          <p:nvPr/>
        </p:nvSpPr>
        <p:spPr>
          <a:xfrm>
            <a:off x="6096000" y="0"/>
            <a:ext cx="6096000" cy="6588000"/>
          </a:xfrm>
          <a:prstGeom prst="rect">
            <a:avLst/>
          </a:prstGeom>
          <a:gradFill flip="none" rotWithShape="1">
            <a:gsLst>
              <a:gs pos="55000">
                <a:srgbClr val="B21266"/>
              </a:gs>
              <a:gs pos="30000">
                <a:srgbClr val="A3115D">
                  <a:lumMod val="100000"/>
                </a:srgbClr>
              </a:gs>
              <a:gs pos="100000">
                <a:srgbClr val="ED6D9B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Suppose, you are writing a program to find a book from the shelf.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For any required book, it will start checking books one by one from the bottom.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If you wanted Harry Potter 3, it would only take 3 actions (or tries) because it’s the third book in the sequence.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If Harry Potter 7 — it’s the last book so it would have to check all 7 books.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What if there are total 10 books? How about 10,00,000 books? It would take 1 million tries.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6" name="Picture 2" descr="http://2.bp.blogspot.com/_5PudbMqUjng/TR5Cu-fq4ZI/AAAAAAAAACk/t_oojdxP-c8/s400/harrypott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07899" y="1962297"/>
            <a:ext cx="4206240" cy="325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-1"/>
            <a:ext cx="6096000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424242"/>
                </a:solidFill>
              </a:rPr>
              <a:t>Book Finder Example </a:t>
            </a:r>
          </a:p>
        </p:txBody>
      </p:sp>
    </p:spTree>
    <p:extLst>
      <p:ext uri="{BB962C8B-B14F-4D97-AF65-F5344CB8AC3E}">
        <p14:creationId xmlns:p14="http://schemas.microsoft.com/office/powerpoint/2010/main" val="271885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Sorting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you are sorting numbers in Ascending / Increasing order.</a:t>
            </a:r>
          </a:p>
          <a:p>
            <a:r>
              <a:rPr lang="en-US" dirty="0"/>
              <a:t>The initial arrangement of given numbers can be in any of the following three orders.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dirty="0"/>
              <a:t>Numbers are already in required order, i.e., Ascending order </a:t>
            </a:r>
          </a:p>
          <a:p>
            <a:pPr marL="544512" lvl="1" indent="0">
              <a:buNone/>
            </a:pPr>
            <a:r>
              <a:rPr lang="en-US" dirty="0"/>
              <a:t>No change is required – </a:t>
            </a:r>
            <a:r>
              <a:rPr lang="en-US" b="1" dirty="0">
                <a:solidFill>
                  <a:srgbClr val="A71160"/>
                </a:solidFill>
              </a:rPr>
              <a:t>Best Case</a:t>
            </a:r>
          </a:p>
          <a:p>
            <a:pPr marL="1001712" lvl="1" indent="-457200">
              <a:buFont typeface="+mj-lt"/>
              <a:buAutoNum type="arabicPeriod" startAt="2"/>
            </a:pPr>
            <a:r>
              <a:rPr lang="en-US" dirty="0"/>
              <a:t>Numbers are randomly arranged initially.</a:t>
            </a:r>
          </a:p>
          <a:p>
            <a:pPr marL="544512" lvl="1" indent="0">
              <a:buNone/>
            </a:pPr>
            <a:r>
              <a:rPr lang="en-US" dirty="0"/>
              <a:t>Some numbers will change their position – </a:t>
            </a:r>
            <a:r>
              <a:rPr lang="en-US" b="1" dirty="0">
                <a:solidFill>
                  <a:srgbClr val="A71160"/>
                </a:solidFill>
              </a:rPr>
              <a:t>Average Case</a:t>
            </a:r>
          </a:p>
          <a:p>
            <a:pPr marL="1001712" lvl="1" indent="-457200">
              <a:buFont typeface="+mj-lt"/>
              <a:buAutoNum type="arabicPeriod" startAt="3"/>
            </a:pPr>
            <a:r>
              <a:rPr lang="en-US" dirty="0"/>
              <a:t>Numbers are initially arranged in Descending or Decreasing order. </a:t>
            </a:r>
          </a:p>
          <a:p>
            <a:pPr marL="544512" lvl="1" indent="0">
              <a:buNone/>
            </a:pPr>
            <a:r>
              <a:rPr lang="en-US" dirty="0"/>
              <a:t>All numbers will change their position – </a:t>
            </a:r>
            <a:r>
              <a:rPr lang="en-US" b="1" dirty="0">
                <a:solidFill>
                  <a:srgbClr val="A71160"/>
                </a:solidFill>
              </a:rPr>
              <a:t>Worst Case</a:t>
            </a:r>
          </a:p>
          <a:p>
            <a:pPr marL="1001712" lvl="1" indent="-457200">
              <a:buFont typeface="+mj-lt"/>
              <a:buAutoNum type="arabicPeriod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5018296"/>
                  </p:ext>
                </p:extLst>
              </p:nvPr>
            </p:nvGraphicFramePr>
            <p:xfrm>
              <a:off x="3623361" y="4342418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1398714470"/>
                        </a:ext>
                      </a:extLst>
                    </a:gridCol>
                  </a:tblGrid>
                  <a:tr h="3423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𝟑𝟐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𝟒𝟏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5018296"/>
                  </p:ext>
                </p:extLst>
              </p:nvPr>
            </p:nvGraphicFramePr>
            <p:xfrm>
              <a:off x="3623361" y="4342418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139871447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49" t="-1515" r="-5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149" t="-1515" r="-4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149" t="-1515" r="-3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1149" t="-1515" r="-2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1149" t="-1515" r="-1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149" t="-1515" r="-2299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6409004"/>
                  </p:ext>
                </p:extLst>
              </p:nvPr>
            </p:nvGraphicFramePr>
            <p:xfrm>
              <a:off x="3623361" y="4926380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9598542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𝟑𝟐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𝟒𝟏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6409004"/>
                  </p:ext>
                </p:extLst>
              </p:nvPr>
            </p:nvGraphicFramePr>
            <p:xfrm>
              <a:off x="3623361" y="4926380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95985421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49" t="-1515" r="-5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49" t="-1515" r="-4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49" t="-1515" r="-3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149" t="-1515" r="-2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149" t="-1515" r="-1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149" t="-1515" r="-2299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8931786"/>
                  </p:ext>
                </p:extLst>
              </p:nvPr>
            </p:nvGraphicFramePr>
            <p:xfrm>
              <a:off x="3623361" y="5510343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155601329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𝟒𝟏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𝟑𝟐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8931786"/>
                  </p:ext>
                </p:extLst>
              </p:nvPr>
            </p:nvGraphicFramePr>
            <p:xfrm>
              <a:off x="3623361" y="5510343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155601329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49" t="-1515" r="-5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149" t="-1515" r="-4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49" t="-1515" r="-3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149" t="-1515" r="-2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149" t="-1515" r="-1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1149" t="-1515" r="-2299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5290841"/>
                  </p:ext>
                </p:extLst>
              </p:nvPr>
            </p:nvGraphicFramePr>
            <p:xfrm>
              <a:off x="8027721" y="4926380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547585649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𝟑𝟐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𝟒𝟏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5290841"/>
                  </p:ext>
                </p:extLst>
              </p:nvPr>
            </p:nvGraphicFramePr>
            <p:xfrm>
              <a:off x="8027721" y="4926380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54758564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49" t="-1515" r="-5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149" t="-1515" r="-4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149" t="-1515" r="-3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149" t="-1515" r="-2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149" t="-1515" r="-1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49" t="-1515" r="-2299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Straight Arrow Connector 7"/>
          <p:cNvCxnSpPr>
            <a:stCxn id="4" idx="3"/>
            <a:endCxn id="7" idx="1"/>
          </p:cNvCxnSpPr>
          <p:nvPr/>
        </p:nvCxnSpPr>
        <p:spPr>
          <a:xfrm>
            <a:off x="6797049" y="4540538"/>
            <a:ext cx="1230672" cy="583962"/>
          </a:xfrm>
          <a:prstGeom prst="straightConnector1">
            <a:avLst/>
          </a:prstGeom>
          <a:ln w="9525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3"/>
            <a:endCxn id="7" idx="1"/>
          </p:cNvCxnSpPr>
          <p:nvPr/>
        </p:nvCxnSpPr>
        <p:spPr>
          <a:xfrm>
            <a:off x="6797049" y="5124500"/>
            <a:ext cx="1230672" cy="0"/>
          </a:xfrm>
          <a:prstGeom prst="straightConnector1">
            <a:avLst/>
          </a:prstGeom>
          <a:ln w="63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 flipV="1">
            <a:off x="6797049" y="5124500"/>
            <a:ext cx="1230672" cy="583963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11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Sorting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you are sorting numbers in Ascending / Increasing order.</a:t>
            </a:r>
          </a:p>
          <a:p>
            <a:r>
              <a:rPr lang="en-US" dirty="0"/>
              <a:t>The initial arrangement of given numbers can be in any of the following three orders.</a:t>
            </a:r>
          </a:p>
          <a:p>
            <a:pPr marL="544512" lvl="1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6080504"/>
                  </p:ext>
                </p:extLst>
              </p:nvPr>
            </p:nvGraphicFramePr>
            <p:xfrm>
              <a:off x="3623361" y="4786169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1398714470"/>
                        </a:ext>
                      </a:extLst>
                    </a:gridCol>
                  </a:tblGrid>
                  <a:tr h="3423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𝟑𝟐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𝟒𝟏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6080504"/>
                  </p:ext>
                </p:extLst>
              </p:nvPr>
            </p:nvGraphicFramePr>
            <p:xfrm>
              <a:off x="3623361" y="4786169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139871447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49" t="-1515" r="-5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149" t="-1515" r="-4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149" t="-1515" r="-3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1149" t="-1515" r="-2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1149" t="-1515" r="-1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1149" t="-1515" r="-2299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2004732"/>
                  </p:ext>
                </p:extLst>
              </p:nvPr>
            </p:nvGraphicFramePr>
            <p:xfrm>
              <a:off x="3623361" y="5370131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9598542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𝟑𝟐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𝟒𝟏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2004732"/>
                  </p:ext>
                </p:extLst>
              </p:nvPr>
            </p:nvGraphicFramePr>
            <p:xfrm>
              <a:off x="3623361" y="5370131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95985421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49" t="-1515" r="-5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149" t="-1515" r="-4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49" t="-1515" r="-3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149" t="-1515" r="-2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149" t="-1515" r="-1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1149" t="-1515" r="-2299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3935437"/>
                  </p:ext>
                </p:extLst>
              </p:nvPr>
            </p:nvGraphicFramePr>
            <p:xfrm>
              <a:off x="3623361" y="5954094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155601329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𝟒𝟏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𝟑𝟐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3935437"/>
                  </p:ext>
                </p:extLst>
              </p:nvPr>
            </p:nvGraphicFramePr>
            <p:xfrm>
              <a:off x="3623361" y="5954094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155601329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49" t="-1515" r="-5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149" t="-1515" r="-4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49" t="-1515" r="-3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149" t="-1515" r="-2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149" t="-1515" r="-10229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1149" t="-1515" r="-2299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546818"/>
                  </p:ext>
                </p:extLst>
              </p:nvPr>
            </p:nvGraphicFramePr>
            <p:xfrm>
              <a:off x="8027721" y="5370131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547585649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1" i="1" dirty="0" smtClean="0">
                                    <a:latin typeface="Cambria Math" panose="02040503050406030204" pitchFamily="18" charset="0"/>
                                  </a:rPr>
                                  <m:t>𝟑𝟐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𝟒𝟏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546818"/>
                  </p:ext>
                </p:extLst>
              </p:nvPr>
            </p:nvGraphicFramePr>
            <p:xfrm>
              <a:off x="8027721" y="5370131"/>
              <a:ext cx="3173688" cy="396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89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28948">
                      <a:extLst>
                        <a:ext uri="{9D8B030D-6E8A-4147-A177-3AD203B41FA5}">
                          <a16:colId xmlns:a16="http://schemas.microsoft.com/office/drawing/2014/main" val="254758564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49" t="-1515" r="-5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149" t="-1515" r="-4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149" t="-1515" r="-3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149" t="-1515" r="-2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149" t="-1515" r="-102299" b="-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599C9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1149" t="-1515" r="-2299" b="-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Straight Arrow Connector 7"/>
          <p:cNvCxnSpPr>
            <a:stCxn id="4" idx="3"/>
            <a:endCxn id="7" idx="1"/>
          </p:cNvCxnSpPr>
          <p:nvPr/>
        </p:nvCxnSpPr>
        <p:spPr>
          <a:xfrm>
            <a:off x="6797049" y="4984289"/>
            <a:ext cx="1230672" cy="583962"/>
          </a:xfrm>
          <a:prstGeom prst="straightConnector1">
            <a:avLst/>
          </a:prstGeom>
          <a:ln w="9525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3"/>
            <a:endCxn id="7" idx="1"/>
          </p:cNvCxnSpPr>
          <p:nvPr/>
        </p:nvCxnSpPr>
        <p:spPr>
          <a:xfrm>
            <a:off x="6797049" y="5568251"/>
            <a:ext cx="1230672" cy="0"/>
          </a:xfrm>
          <a:prstGeom prst="straightConnector1">
            <a:avLst/>
          </a:prstGeom>
          <a:ln w="63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 flipV="1">
            <a:off x="6797049" y="5568251"/>
            <a:ext cx="1230672" cy="583963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01569" y="2012832"/>
            <a:ext cx="3474720" cy="2286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-457200" algn="just"/>
            <a:r>
              <a:rPr lang="en-US" sz="2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Case 1: </a:t>
            </a:r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Numbers are already in required order, i.e., Ascending order </a:t>
            </a:r>
          </a:p>
          <a:p>
            <a:pPr indent="-457200" algn="just"/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No change is required 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70418" y="2012832"/>
            <a:ext cx="3474720" cy="2286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-457200" algn="just"/>
            <a:r>
              <a:rPr lang="en-US" sz="2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Case 2: </a:t>
            </a:r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Numbers are randomly arranged initially. Some numbers will change their position</a:t>
            </a:r>
          </a:p>
          <a:p>
            <a:pPr indent="-57150" algn="just">
              <a:spcAft>
                <a:spcPts val="1200"/>
              </a:spcAft>
            </a:pP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25820" y="2012832"/>
            <a:ext cx="3474720" cy="2286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indent="-457200" algn="just"/>
            <a:r>
              <a:rPr lang="en-US" sz="22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Case 3: </a:t>
            </a:r>
            <a:r>
              <a:rPr lang="en-US" sz="22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Numbers are initially arranged in Descending order so, all numbers will change their position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95929" y="3752879"/>
            <a:ext cx="2286000" cy="548640"/>
          </a:xfrm>
          <a:prstGeom prst="rect">
            <a:avLst/>
          </a:prstGeom>
          <a:noFill/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Best Case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64778" y="3752879"/>
            <a:ext cx="2286000" cy="548640"/>
          </a:xfrm>
          <a:prstGeom prst="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Average Case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20180" y="3752879"/>
            <a:ext cx="2286000" cy="548640"/>
          </a:xfrm>
          <a:prstGeom prst="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A71160"/>
                </a:solidFill>
              </a:rPr>
              <a:t>Worst Case </a:t>
            </a:r>
          </a:p>
        </p:txBody>
      </p:sp>
    </p:spTree>
    <p:extLst>
      <p:ext uri="{BB962C8B-B14F-4D97-AF65-F5344CB8AC3E}">
        <p14:creationId xmlns:p14="http://schemas.microsoft.com/office/powerpoint/2010/main" val="429488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Best, Average, &amp; Worst Case</a:t>
            </a:r>
          </a:p>
        </p:txBody>
      </p:sp>
      <p:graphicFrame>
        <p:nvGraphicFramePr>
          <p:cNvPr id="5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1057053"/>
              </p:ext>
            </p:extLst>
          </p:nvPr>
        </p:nvGraphicFramePr>
        <p:xfrm>
          <a:off x="1247774" y="1707401"/>
          <a:ext cx="9601199" cy="8255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6999">
                  <a:extLst>
                    <a:ext uri="{9D8B030D-6E8A-4147-A177-3AD203B41FA5}">
                      <a16:colId xmlns:a16="http://schemas.microsoft.com/office/drawing/2014/main" val="2537892373"/>
                    </a:ext>
                  </a:extLst>
                </a:gridCol>
                <a:gridCol w="2352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7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976">
                  <a:extLst>
                    <a:ext uri="{9D8B030D-6E8A-4147-A177-3AD203B41FA5}">
                      <a16:colId xmlns:a16="http://schemas.microsoft.com/office/drawing/2014/main" val="3362168067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Problem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Best Case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Average Case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Worst Case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901244"/>
              </p:ext>
            </p:extLst>
          </p:nvPr>
        </p:nvGraphicFramePr>
        <p:xfrm>
          <a:off x="1247773" y="2534044"/>
          <a:ext cx="9601200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8483">
                  <a:extLst>
                    <a:ext uri="{9D8B030D-6E8A-4147-A177-3AD203B41FA5}">
                      <a16:colId xmlns:a16="http://schemas.microsoft.com/office/drawing/2014/main" val="3789358302"/>
                    </a:ext>
                  </a:extLst>
                </a:gridCol>
                <a:gridCol w="2350078">
                  <a:extLst>
                    <a:ext uri="{9D8B030D-6E8A-4147-A177-3AD203B41FA5}">
                      <a16:colId xmlns:a16="http://schemas.microsoft.com/office/drawing/2014/main" val="1613497744"/>
                    </a:ext>
                  </a:extLst>
                </a:gridCol>
                <a:gridCol w="2530016">
                  <a:extLst>
                    <a:ext uri="{9D8B030D-6E8A-4147-A177-3AD203B41FA5}">
                      <a16:colId xmlns:a16="http://schemas.microsoft.com/office/drawing/2014/main" val="3313175590"/>
                    </a:ext>
                  </a:extLst>
                </a:gridCol>
                <a:gridCol w="2812623">
                  <a:extLst>
                    <a:ext uri="{9D8B030D-6E8A-4147-A177-3AD203B41FA5}">
                      <a16:colId xmlns:a16="http://schemas.microsoft.com/office/drawing/2014/main" val="297245711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>
                          <a:solidFill>
                            <a:srgbClr val="A71160"/>
                          </a:solidFill>
                        </a:rPr>
                        <a:t>Linear Search</a:t>
                      </a:r>
                    </a:p>
                  </a:txBody>
                  <a:tcPr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7EB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Element at the first position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7EB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Element in any of the middle positions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7EB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Element at last position or not present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7EB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5423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378192"/>
              </p:ext>
            </p:extLst>
          </p:nvPr>
        </p:nvGraphicFramePr>
        <p:xfrm>
          <a:off x="1247773" y="3235468"/>
          <a:ext cx="9601200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8786">
                  <a:extLst>
                    <a:ext uri="{9D8B030D-6E8A-4147-A177-3AD203B41FA5}">
                      <a16:colId xmlns:a16="http://schemas.microsoft.com/office/drawing/2014/main" val="2695042085"/>
                    </a:ext>
                  </a:extLst>
                </a:gridCol>
                <a:gridCol w="2345801">
                  <a:extLst>
                    <a:ext uri="{9D8B030D-6E8A-4147-A177-3AD203B41FA5}">
                      <a16:colId xmlns:a16="http://schemas.microsoft.com/office/drawing/2014/main" val="1613497744"/>
                    </a:ext>
                  </a:extLst>
                </a:gridCol>
                <a:gridCol w="2532185">
                  <a:extLst>
                    <a:ext uri="{9D8B030D-6E8A-4147-A177-3AD203B41FA5}">
                      <a16:colId xmlns:a16="http://schemas.microsoft.com/office/drawing/2014/main" val="3313175590"/>
                    </a:ext>
                  </a:extLst>
                </a:gridCol>
                <a:gridCol w="2814428">
                  <a:extLst>
                    <a:ext uri="{9D8B030D-6E8A-4147-A177-3AD203B41FA5}">
                      <a16:colId xmlns:a16="http://schemas.microsoft.com/office/drawing/2014/main" val="297245711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>
                          <a:solidFill>
                            <a:srgbClr val="A71160"/>
                          </a:solidFill>
                        </a:rPr>
                        <a:t>Book Finder</a:t>
                      </a:r>
                    </a:p>
                  </a:txBody>
                  <a:tcPr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The first book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Any book in-between</a:t>
                      </a:r>
                    </a:p>
                    <a:p>
                      <a:pPr algn="just"/>
                      <a:endParaRPr lang="en-US" sz="2000" b="0" dirty="0"/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The last book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3291564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06658"/>
              </p:ext>
            </p:extLst>
          </p:nvPr>
        </p:nvGraphicFramePr>
        <p:xfrm>
          <a:off x="1247773" y="3940976"/>
          <a:ext cx="9601200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3273">
                  <a:extLst>
                    <a:ext uri="{9D8B030D-6E8A-4147-A177-3AD203B41FA5}">
                      <a16:colId xmlns:a16="http://schemas.microsoft.com/office/drawing/2014/main" val="3251830095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1613497744"/>
                    </a:ext>
                  </a:extLst>
                </a:gridCol>
                <a:gridCol w="2532185">
                  <a:extLst>
                    <a:ext uri="{9D8B030D-6E8A-4147-A177-3AD203B41FA5}">
                      <a16:colId xmlns:a16="http://schemas.microsoft.com/office/drawing/2014/main" val="3313175590"/>
                    </a:ext>
                  </a:extLst>
                </a:gridCol>
                <a:gridCol w="2814428">
                  <a:extLst>
                    <a:ext uri="{9D8B030D-6E8A-4147-A177-3AD203B41FA5}">
                      <a16:colId xmlns:a16="http://schemas.microsoft.com/office/drawing/2014/main" val="2972457118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>
                          <a:solidFill>
                            <a:srgbClr val="A71160"/>
                          </a:solidFill>
                        </a:rPr>
                        <a:t>Sorting </a:t>
                      </a:r>
                    </a:p>
                  </a:txBody>
                  <a:tcPr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7EB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Already sorted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7EB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Randomly arranged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27EBB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Sorted in reverse order </a:t>
                      </a:r>
                    </a:p>
                  </a:txBody>
                  <a:tcPr>
                    <a:lnL w="12700" cap="flat" cmpd="sng" algn="ctr">
                      <a:solidFill>
                        <a:srgbClr val="A01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27EBB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55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46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EC854-C88D-43CF-9A21-F4DB7995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Good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838D5-076F-445D-A8E1-71CD1B8B1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Efficient</a:t>
            </a:r>
          </a:p>
          <a:p>
            <a:pPr lvl="1"/>
            <a:r>
              <a:rPr lang="en-IN" dirty="0"/>
              <a:t>Running time</a:t>
            </a:r>
          </a:p>
          <a:p>
            <a:pPr lvl="1"/>
            <a:r>
              <a:rPr lang="en-IN" dirty="0"/>
              <a:t>Space used</a:t>
            </a:r>
          </a:p>
          <a:p>
            <a:r>
              <a:rPr lang="en-IN" b="1" dirty="0"/>
              <a:t>Efficiency as a function of input size</a:t>
            </a:r>
          </a:p>
          <a:p>
            <a:pPr lvl="1"/>
            <a:r>
              <a:rPr lang="en-IN" dirty="0"/>
              <a:t>The number of bits in an input number</a:t>
            </a:r>
          </a:p>
          <a:p>
            <a:pPr lvl="1"/>
            <a:r>
              <a:rPr lang="en-IN" dirty="0"/>
              <a:t>Number of data elements(Numbers and Points)</a:t>
            </a:r>
          </a:p>
        </p:txBody>
      </p:sp>
    </p:spTree>
    <p:extLst>
      <p:ext uri="{BB962C8B-B14F-4D97-AF65-F5344CB8AC3E}">
        <p14:creationId xmlns:p14="http://schemas.microsoft.com/office/powerpoint/2010/main" val="2020581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2EF6-8D29-4598-8B44-7D424926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Measuring the Running 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A3C47-A8C7-495D-8210-A0151A659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should we measure the running time of an algorithm?</a:t>
            </a:r>
          </a:p>
          <a:p>
            <a:r>
              <a:rPr lang="en-US" dirty="0"/>
              <a:t>Experimental Study</a:t>
            </a:r>
          </a:p>
          <a:p>
            <a:pPr lvl="1"/>
            <a:r>
              <a:rPr lang="en-US" dirty="0"/>
              <a:t>Write a program that implements the algorithm</a:t>
            </a:r>
          </a:p>
          <a:p>
            <a:pPr lvl="1"/>
            <a:r>
              <a:rPr lang="en-US" dirty="0"/>
              <a:t>Run the program with data sets of varying size and composition.</a:t>
            </a:r>
          </a:p>
          <a:p>
            <a:pPr lvl="1"/>
            <a:r>
              <a:rPr lang="en-US" dirty="0"/>
              <a:t>Use a method like </a:t>
            </a:r>
            <a:r>
              <a:rPr lang="en-US" dirty="0" err="1"/>
              <a:t>System.currentTimeMillis</a:t>
            </a:r>
            <a:r>
              <a:rPr lang="en-US" dirty="0"/>
              <a:t>() to get an accurate measure of the actual running time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5ADE2-D6CB-43F9-8F70-81325A9D3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658" y="2741830"/>
            <a:ext cx="4327909" cy="378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59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F479F-2957-4F8A-8639-13F46D4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Experimental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8A3D5-12B7-4F77-A7ED-AC5932889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</a:t>
            </a:r>
            <a:r>
              <a:rPr lang="en-US" dirty="0">
                <a:solidFill>
                  <a:srgbClr val="C00000"/>
                </a:solidFill>
              </a:rPr>
              <a:t>necessary</a:t>
            </a:r>
            <a:r>
              <a:rPr lang="en-US" dirty="0"/>
              <a:t> to implement and </a:t>
            </a:r>
            <a:r>
              <a:rPr lang="en-US" dirty="0">
                <a:solidFill>
                  <a:srgbClr val="C00000"/>
                </a:solidFill>
              </a:rPr>
              <a:t>test</a:t>
            </a:r>
            <a:r>
              <a:rPr lang="en-US" dirty="0"/>
              <a:t> the algorithm in order to determine its running time. </a:t>
            </a:r>
          </a:p>
          <a:p>
            <a:r>
              <a:rPr lang="en-US" dirty="0"/>
              <a:t>Experiments can be done only on a </a:t>
            </a:r>
            <a:r>
              <a:rPr lang="en-US" dirty="0">
                <a:solidFill>
                  <a:srgbClr val="C00000"/>
                </a:solidFill>
              </a:rPr>
              <a:t>limited set of inputs</a:t>
            </a:r>
            <a:r>
              <a:rPr lang="en-US" dirty="0"/>
              <a:t>, and may not be indicative of the running time on other inputs not included in the experiment. </a:t>
            </a:r>
          </a:p>
          <a:p>
            <a:r>
              <a:rPr lang="en-US" dirty="0"/>
              <a:t>In order to </a:t>
            </a:r>
            <a:r>
              <a:rPr lang="en-US" dirty="0">
                <a:solidFill>
                  <a:srgbClr val="C00000"/>
                </a:solidFill>
              </a:rPr>
              <a:t>compare</a:t>
            </a:r>
            <a:r>
              <a:rPr lang="en-US" dirty="0"/>
              <a:t> two algorithms, the </a:t>
            </a:r>
            <a:r>
              <a:rPr lang="en-US" dirty="0">
                <a:solidFill>
                  <a:srgbClr val="C00000"/>
                </a:solidFill>
              </a:rPr>
              <a:t>same hardware and software environments </a:t>
            </a:r>
            <a:r>
              <a:rPr lang="en-US" dirty="0"/>
              <a:t>should be used.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017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9F68-71E6-4CF3-B464-BE408439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Best/Worst/Average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F955F-3521-4ECE-8302-AB64820F9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specific size of input n, investigate running times for different input instances: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EC782-28D8-4A15-85A9-1C15D51EF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1593836"/>
            <a:ext cx="7319962" cy="452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02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C97F-D938-42E9-A5EB-CAB466DAD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Best/Worst/Average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DED43-0838-453E-ABA1-58496C6BD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inputs of all sizes: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DE141-E3C3-46A1-9E3F-E226B192B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464" y="1510760"/>
            <a:ext cx="8233067" cy="46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59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Asymptotic Notations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7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two algorithms A1 and A2 for a problem, how do we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711201"/>
            <a:ext cx="11929641" cy="5590565"/>
          </a:xfrm>
        </p:spPr>
        <p:txBody>
          <a:bodyPr/>
          <a:lstStyle/>
          <a:p>
            <a:r>
              <a:rPr lang="en-US" dirty="0"/>
              <a:t>which one runs faster?</a:t>
            </a:r>
          </a:p>
          <a:p>
            <a:r>
              <a:rPr lang="en-US" dirty="0"/>
              <a:t>What we need is a platform independent way of comparing algorithms.</a:t>
            </a:r>
          </a:p>
          <a:p>
            <a:r>
              <a:rPr lang="en-US" dirty="0">
                <a:solidFill>
                  <a:srgbClr val="C00000"/>
                </a:solidFill>
              </a:rPr>
              <a:t>Solution: </a:t>
            </a:r>
            <a:r>
              <a:rPr lang="en-US" dirty="0"/>
              <a:t>Count the worst-case number of basic operations b(n) for inputs of size n and then </a:t>
            </a:r>
            <a:r>
              <a:rPr lang="en-US" dirty="0" err="1"/>
              <a:t>analyse</a:t>
            </a:r>
            <a:r>
              <a:rPr lang="en-US" dirty="0"/>
              <a:t> how this function b(n) behaves as n grows. This is known as worst-case analysis.</a:t>
            </a:r>
          </a:p>
          <a:p>
            <a:r>
              <a:rPr lang="en-US" dirty="0"/>
              <a:t>Observations regarding worst-case analysis:</a:t>
            </a:r>
          </a:p>
          <a:p>
            <a:pPr lvl="1"/>
            <a:r>
              <a:rPr lang="en-US" dirty="0"/>
              <a:t>Usually, the running time grows with the input size n.</a:t>
            </a:r>
          </a:p>
          <a:p>
            <a:pPr lvl="1"/>
            <a:r>
              <a:rPr lang="en-US" dirty="0"/>
              <a:t>Consider two algorithm A1 and A2 for the same problem. </a:t>
            </a:r>
            <a:r>
              <a:rPr lang="en-US" dirty="0">
                <a:solidFill>
                  <a:srgbClr val="C00000"/>
                </a:solidFill>
              </a:rPr>
              <a:t>A1</a:t>
            </a:r>
            <a:r>
              <a:rPr lang="en-US" dirty="0"/>
              <a:t> has a worst-case running time </a:t>
            </a:r>
            <a:r>
              <a:rPr lang="en-US" dirty="0">
                <a:solidFill>
                  <a:srgbClr val="C00000"/>
                </a:solidFill>
              </a:rPr>
              <a:t>(100n + 1)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A2</a:t>
            </a:r>
            <a:r>
              <a:rPr lang="en-US" dirty="0"/>
              <a:t> has a worst-case running time </a:t>
            </a:r>
            <a:r>
              <a:rPr lang="en-US" dirty="0">
                <a:solidFill>
                  <a:srgbClr val="C00000"/>
                </a:solidFill>
              </a:rPr>
              <a:t>(2n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+ 3n + 1). </a:t>
            </a:r>
            <a:r>
              <a:rPr lang="en-US" dirty="0"/>
              <a:t>Which one is better?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A2</a:t>
            </a:r>
            <a:r>
              <a:rPr lang="en-US" dirty="0"/>
              <a:t> runs faster for small inputs (e.g., n = 1, 2)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A1</a:t>
            </a:r>
            <a:r>
              <a:rPr lang="en-US" dirty="0"/>
              <a:t> runs faster for all large inputs (for all n ≥ 49)</a:t>
            </a:r>
          </a:p>
          <a:p>
            <a:pPr lvl="1"/>
            <a:r>
              <a:rPr lang="en-US" dirty="0"/>
              <a:t>We would like to make a statement independent of the input size.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Solution: </a:t>
            </a:r>
            <a:r>
              <a:rPr lang="en-US" b="1" dirty="0"/>
              <a:t>Asymptotic analysis</a:t>
            </a:r>
          </a:p>
          <a:p>
            <a:pPr lvl="2"/>
            <a:r>
              <a:rPr lang="en-US" dirty="0"/>
              <a:t>We consider the running time for large inputs.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A1</a:t>
            </a:r>
            <a:r>
              <a:rPr lang="en-US" dirty="0"/>
              <a:t> is considered better than </a:t>
            </a:r>
            <a:r>
              <a:rPr lang="en-US" dirty="0">
                <a:solidFill>
                  <a:srgbClr val="C00000"/>
                </a:solidFill>
              </a:rPr>
              <a:t>A2</a:t>
            </a:r>
            <a:r>
              <a:rPr lang="en-US" dirty="0"/>
              <a:t> since A1 will beat A2 eventually</a:t>
            </a:r>
          </a:p>
        </p:txBody>
      </p:sp>
    </p:spTree>
    <p:extLst>
      <p:ext uri="{BB962C8B-B14F-4D97-AF65-F5344CB8AC3E}">
        <p14:creationId xmlns:p14="http://schemas.microsoft.com/office/powerpoint/2010/main" val="276044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Solution:</a:t>
            </a:r>
            <a:r>
              <a:rPr lang="en-US" dirty="0"/>
              <a:t> Do an asymptotic worst-case analysis.</a:t>
            </a:r>
          </a:p>
          <a:p>
            <a:r>
              <a:rPr lang="en-US" dirty="0"/>
              <a:t>Observations regarding asymptotic worst-case analysis:</a:t>
            </a:r>
          </a:p>
          <a:p>
            <a:r>
              <a:rPr lang="en-US" dirty="0"/>
              <a:t>It is </a:t>
            </a:r>
            <a:r>
              <a:rPr lang="en-US" dirty="0">
                <a:solidFill>
                  <a:srgbClr val="C00000"/>
                </a:solidFill>
              </a:rPr>
              <a:t>difficult to count </a:t>
            </a:r>
            <a:r>
              <a:rPr lang="en-US" dirty="0"/>
              <a:t>the number of operations at an extremely fine level and </a:t>
            </a:r>
            <a:r>
              <a:rPr lang="en-US" dirty="0">
                <a:solidFill>
                  <a:srgbClr val="C00000"/>
                </a:solidFill>
              </a:rPr>
              <a:t>keep track </a:t>
            </a:r>
            <a:r>
              <a:rPr lang="en-US" dirty="0"/>
              <a:t>of these constants.</a:t>
            </a:r>
          </a:p>
          <a:p>
            <a:r>
              <a:rPr lang="en-US" dirty="0"/>
              <a:t>Asymptotic analysis means that we are interested only in the </a:t>
            </a:r>
            <a:r>
              <a:rPr lang="en-US" dirty="0">
                <a:solidFill>
                  <a:srgbClr val="C00000"/>
                </a:solidFill>
              </a:rPr>
              <a:t>rate of growth </a:t>
            </a:r>
            <a:r>
              <a:rPr lang="en-US" dirty="0"/>
              <a:t>of the running time function w.r.t. the </a:t>
            </a:r>
            <a:r>
              <a:rPr lang="en-US" dirty="0">
                <a:solidFill>
                  <a:srgbClr val="C00000"/>
                </a:solidFill>
              </a:rPr>
              <a:t>input size</a:t>
            </a:r>
            <a:r>
              <a:rPr lang="en-US" dirty="0"/>
              <a:t>. For example, note that the rates of growth of functions </a:t>
            </a:r>
            <a:r>
              <a:rPr lang="en-US" dirty="0">
                <a:solidFill>
                  <a:srgbClr val="C00000"/>
                </a:solidFill>
              </a:rPr>
              <a:t>(n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+ 5n + 1) </a:t>
            </a:r>
            <a:r>
              <a:rPr lang="en-US" dirty="0"/>
              <a:t>and</a:t>
            </a:r>
            <a:r>
              <a:rPr lang="en-US" dirty="0">
                <a:solidFill>
                  <a:srgbClr val="C00000"/>
                </a:solidFill>
              </a:rPr>
              <a:t> (n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+ 2n + 5) </a:t>
            </a:r>
            <a:r>
              <a:rPr lang="en-US" dirty="0"/>
              <a:t>is determined by the </a:t>
            </a:r>
            <a:r>
              <a:rPr lang="en-US" dirty="0">
                <a:solidFill>
                  <a:srgbClr val="C00000"/>
                </a:solidFill>
              </a:rPr>
              <a:t>n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/>
              <a:t> (quadratic) term. The lower order terms are insignificant. So, we may as well drop them. </a:t>
            </a:r>
          </a:p>
          <a:p>
            <a:r>
              <a:rPr lang="en-US" dirty="0"/>
              <a:t>The nature of growth rate of functions </a:t>
            </a:r>
            <a:r>
              <a:rPr lang="en-US" dirty="0">
                <a:solidFill>
                  <a:srgbClr val="C00000"/>
                </a:solidFill>
              </a:rPr>
              <a:t>2n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5n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/>
              <a:t> are the same. Both are quadratic functions. It makes sense to </a:t>
            </a:r>
            <a:r>
              <a:rPr lang="en-US" dirty="0">
                <a:solidFill>
                  <a:srgbClr val="C00000"/>
                </a:solidFill>
              </a:rPr>
              <a:t>drop these constants </a:t>
            </a:r>
            <a:r>
              <a:rPr lang="en-US" dirty="0"/>
              <a:t>too when one is interested in the nature of the </a:t>
            </a:r>
            <a:r>
              <a:rPr lang="en-US" dirty="0">
                <a:solidFill>
                  <a:srgbClr val="C00000"/>
                </a:solidFill>
              </a:rPr>
              <a:t>growth functions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These constants typically depends upon system you are using, such as hardware, compiler etc.</a:t>
            </a:r>
            <a:r>
              <a:rPr lang="en-US" dirty="0"/>
              <a:t>  </a:t>
            </a:r>
          </a:p>
          <a:p>
            <a:r>
              <a:rPr lang="en-US" dirty="0"/>
              <a:t>We need a notation to capture the above ideas.</a:t>
            </a:r>
          </a:p>
        </p:txBody>
      </p:sp>
    </p:spTree>
    <p:extLst>
      <p:ext uri="{BB962C8B-B14F-4D97-AF65-F5344CB8AC3E}">
        <p14:creationId xmlns:p14="http://schemas.microsoft.com/office/powerpoint/2010/main" val="328438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A71160"/>
                </a:solidFill>
              </a:rPr>
              <a:t>theoretical (priori) approach </a:t>
            </a:r>
            <a:r>
              <a:rPr lang="en-US" dirty="0"/>
              <a:t>of analyzing an algorithm to measure the efficiency does not depend on the implementation of the algorithm.   </a:t>
            </a:r>
          </a:p>
          <a:p>
            <a:r>
              <a:rPr lang="en-US" dirty="0"/>
              <a:t>In this approach, the running time of an algorithm is describes as </a:t>
            </a:r>
            <a:r>
              <a:rPr lang="en-US" dirty="0">
                <a:solidFill>
                  <a:srgbClr val="A71160"/>
                </a:solidFill>
              </a:rPr>
              <a:t>Asymptotic Notations. </a:t>
            </a:r>
          </a:p>
          <a:p>
            <a:r>
              <a:rPr lang="en-US" dirty="0"/>
              <a:t>Computing the running time of algorithm’s operations in mathematical units of computation and defining the mathematical formula of its run-time performance is referred to as </a:t>
            </a:r>
            <a:r>
              <a:rPr lang="en-US" dirty="0">
                <a:solidFill>
                  <a:srgbClr val="A71160"/>
                </a:solidFill>
              </a:rPr>
              <a:t>Asymptotic Analysis. </a:t>
            </a:r>
          </a:p>
          <a:p>
            <a:r>
              <a:rPr lang="en-US" dirty="0"/>
              <a:t>An algorithm </a:t>
            </a:r>
            <a:r>
              <a:rPr lang="en-US" dirty="0">
                <a:solidFill>
                  <a:srgbClr val="A71160"/>
                </a:solidFill>
              </a:rPr>
              <a:t>may not have </a:t>
            </a:r>
            <a:r>
              <a:rPr lang="en-US" dirty="0"/>
              <a:t>the same performance for different types of inputs. With the increase in the input size, the performance will change.</a:t>
            </a:r>
          </a:p>
          <a:p>
            <a:r>
              <a:rPr lang="en-US" dirty="0"/>
              <a:t>Asymptotic analysis accomplishes the study of </a:t>
            </a:r>
            <a:r>
              <a:rPr lang="en-US" dirty="0">
                <a:solidFill>
                  <a:srgbClr val="A71160"/>
                </a:solidFill>
              </a:rPr>
              <a:t>change in performance </a:t>
            </a:r>
            <a:r>
              <a:rPr lang="en-US" dirty="0"/>
              <a:t>of the algorithm with the change in the order of the </a:t>
            </a:r>
            <a:r>
              <a:rPr lang="en-US" dirty="0">
                <a:solidFill>
                  <a:srgbClr val="C00000"/>
                </a:solidFill>
              </a:rPr>
              <a:t>input size</a:t>
            </a:r>
            <a:r>
              <a:rPr lang="en-US" dirty="0"/>
              <a:t>.</a:t>
            </a:r>
          </a:p>
          <a:p>
            <a:r>
              <a:rPr lang="en-US" dirty="0"/>
              <a:t>Using Asymptotic analysis, we can very well define the </a:t>
            </a:r>
            <a:r>
              <a:rPr lang="en-US" dirty="0">
                <a:solidFill>
                  <a:srgbClr val="A71160"/>
                </a:solidFill>
              </a:rPr>
              <a:t>best case, average case, and worst case</a:t>
            </a:r>
            <a:r>
              <a:rPr lang="en-US" dirty="0"/>
              <a:t> scenario of an algorithm.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95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Asymptotic notations are mathematical notations used to represent the </a:t>
                </a:r>
                <a:r>
                  <a:rPr lang="en-US" dirty="0">
                    <a:solidFill>
                      <a:srgbClr val="A71160"/>
                    </a:solidFill>
                  </a:rPr>
                  <a:t>time complexity </a:t>
                </a:r>
                <a:r>
                  <a:rPr lang="en-US" dirty="0"/>
                  <a:t>of algorithms for Asymptotic analysis.</a:t>
                </a:r>
              </a:p>
              <a:p>
                <a:r>
                  <a:rPr lang="en-US" dirty="0"/>
                  <a:t>Following are the </a:t>
                </a:r>
                <a:r>
                  <a:rPr lang="en-US" dirty="0">
                    <a:solidFill>
                      <a:srgbClr val="A71160"/>
                    </a:solidFill>
                  </a:rPr>
                  <a:t>commonly used asymptotic notations </a:t>
                </a:r>
                <a:r>
                  <a:rPr lang="en-US" dirty="0"/>
                  <a:t>to calculate the running time complexity of an algorithm.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Ο</m:t>
                    </m:r>
                  </m:oMath>
                </a14:m>
                <a:r>
                  <a:rPr lang="en-US" dirty="0"/>
                  <a:t> Notation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Notation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Notation</a:t>
                </a:r>
              </a:p>
              <a:p>
                <a:r>
                  <a:rPr lang="en-US" dirty="0"/>
                  <a:t>This is also known as an algorithm’s </a:t>
                </a:r>
                <a:r>
                  <a:rPr lang="en-US" dirty="0">
                    <a:solidFill>
                      <a:srgbClr val="A71160"/>
                    </a:solidFill>
                  </a:rPr>
                  <a:t>growth rate.</a:t>
                </a:r>
              </a:p>
              <a:p>
                <a:r>
                  <a:rPr lang="en-US" dirty="0"/>
                  <a:t>Asymptotic Notations are used,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To characterize the </a:t>
                </a:r>
                <a:r>
                  <a:rPr lang="en-US" dirty="0">
                    <a:solidFill>
                      <a:srgbClr val="A71160"/>
                    </a:solidFill>
                  </a:rPr>
                  <a:t>complexity</a:t>
                </a:r>
                <a:r>
                  <a:rPr lang="en-US" dirty="0"/>
                  <a:t> of an algorithm.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To compare the </a:t>
                </a:r>
                <a:r>
                  <a:rPr lang="en-US" dirty="0">
                    <a:solidFill>
                      <a:srgbClr val="A71160"/>
                    </a:solidFill>
                  </a:rPr>
                  <a:t>performance</a:t>
                </a:r>
                <a:r>
                  <a:rPr lang="en-US" dirty="0"/>
                  <a:t> of two or more algorithms solving the same problem.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94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𝐎</m:t>
                    </m:r>
                  </m:oMath>
                </a14:m>
                <a:r>
                  <a:rPr lang="en-US" dirty="0"/>
                  <a:t>-Notation (Big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𝐎</m:t>
                    </m:r>
                  </m:oMath>
                </a14:m>
                <a:r>
                  <a:rPr lang="en-US" dirty="0"/>
                  <a:t> notation) (Upper Bound)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t="-9402" b="-18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notation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formal way to express the </a:t>
                </a:r>
                <a:r>
                  <a:rPr lang="en-US" dirty="0">
                    <a:solidFill>
                      <a:srgbClr val="A71160"/>
                    </a:solidFill>
                  </a:rPr>
                  <a:t>upper bound </a:t>
                </a:r>
                <a:r>
                  <a:rPr lang="en-US" dirty="0"/>
                  <a:t>of an algorithm's running time. </a:t>
                </a:r>
              </a:p>
              <a:p>
                <a:r>
                  <a:rPr lang="en-US" dirty="0"/>
                  <a:t>It measures the </a:t>
                </a:r>
                <a:r>
                  <a:rPr lang="en-US" dirty="0">
                    <a:solidFill>
                      <a:srgbClr val="A71160"/>
                    </a:solidFill>
                  </a:rPr>
                  <a:t>worst case time complexity </a:t>
                </a:r>
                <a:r>
                  <a:rPr lang="en-US" dirty="0"/>
                  <a:t>or the longest amount of time an algorithm can possibly take to complete.</a:t>
                </a:r>
              </a:p>
              <a:p>
                <a:r>
                  <a:rPr lang="en-US" dirty="0"/>
                  <a:t>For a given function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dirty="0"/>
                  <a:t>the set of functions,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16" t="-1418" r="-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9727" y="3656475"/>
                <a:ext cx="11215692" cy="73152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sz="2200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200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200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200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200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</a:rPr>
                  <a:t>= 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200" b="0" i="0" baseline="-250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cg</m:t>
                    </m:r>
                    <m: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</a:rPr>
                  <a:t>for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200" b="0" i="0" baseline="-250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200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200" dirty="0">
                    <a:solidFill>
                      <a:srgbClr val="002060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27" y="3656475"/>
                <a:ext cx="11215692" cy="731520"/>
              </a:xfrm>
              <a:prstGeom prst="roundRect">
                <a:avLst/>
              </a:prstGeom>
              <a:blipFill>
                <a:blip r:embed="rId4"/>
                <a:stretch>
                  <a:fillRect t="-6667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69727" y="3647094"/>
            <a:ext cx="11215692" cy="731520"/>
          </a:xfrm>
          <a:prstGeom prst="roundRect">
            <a:avLst/>
          </a:prstGeom>
          <a:noFill/>
          <a:ln w="19050">
            <a:solidFill>
              <a:srgbClr val="A71160"/>
            </a:solidFill>
          </a:ln>
        </p:spPr>
        <p:txBody>
          <a:bodyPr wrap="square" rtlCol="0">
            <a:spAutoFit/>
          </a:bodyPr>
          <a:lstStyle/>
          <a:p>
            <a:endParaRPr lang="en-US" sz="2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38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6096000" y="0"/>
                <a:ext cx="6096000" cy="6588000"/>
              </a:xfrm>
              <a:prstGeom prst="rect">
                <a:avLst/>
              </a:prstGeom>
              <a:gradFill flip="none" rotWithShape="1">
                <a:gsLst>
                  <a:gs pos="55000">
                    <a:srgbClr val="B21266"/>
                  </a:gs>
                  <a:gs pos="30000">
                    <a:srgbClr val="A3115D">
                      <a:lumMod val="100000"/>
                    </a:srgbClr>
                  </a:gs>
                  <a:gs pos="100000">
                    <a:srgbClr val="ED6D9B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just"/>
                <a:endParaRPr lang="en-US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is an asymptotically </a:t>
                </a:r>
                <a:r>
                  <a:rPr lang="en-US" sz="2400" b="1" dirty="0">
                    <a:solidFill>
                      <a:schemeClr val="bg1"/>
                    </a:solidFill>
                  </a:rPr>
                  <a:t>upper bound </a:t>
                </a:r>
                <a:r>
                  <a:rPr lang="en-US" sz="2400" dirty="0">
                    <a:solidFill>
                      <a:schemeClr val="bg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implies: 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“≤” </m:t>
                      </m:r>
                      <m:r>
                        <a:rPr lang="en-US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bg1"/>
                  </a:solidFill>
                </a:endParaRPr>
              </a:p>
              <a:p>
                <a:pPr algn="just"/>
                <a:endParaRPr lang="en-US" sz="2400" b="1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bg1"/>
                    </a:solidFill>
                  </a:rPr>
                  <a:t>For any value of n, the running time of an algorithm does not cross the time provided by O(g(n)).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bg1"/>
                    </a:solidFill>
                  </a:rPr>
                  <a:t>Time taken by a known algorithm to solve a problem with worse case input gives the upper bound.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0"/>
                <a:ext cx="6096000" cy="6588000"/>
              </a:xfrm>
              <a:prstGeom prst="rect">
                <a:avLst/>
              </a:prstGeom>
              <a:blipFill rotWithShape="0">
                <a:blip r:embed="rId2"/>
                <a:stretch>
                  <a:fillRect l="-1300" r="-1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0" y="-1"/>
                <a:ext cx="6096000" cy="830997"/>
              </a:xfrm>
              <a:prstGeom prst="rect">
                <a:avLst/>
              </a:prstGeom>
              <a:noFill/>
            </p:spPr>
            <p:txBody>
              <a:bodyPr wrap="square" lIns="27432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3200" b="1" dirty="0">
                    <a:solidFill>
                      <a:srgbClr val="424242"/>
                    </a:solidFill>
                  </a:rPr>
                  <a:t>Big(</a:t>
                </a:r>
                <a14:m>
                  <m:oMath xmlns:m="http://schemas.openxmlformats.org/officeDocument/2006/math">
                    <m:r>
                      <a:rPr lang="en-US" sz="3200" b="1" i="0" dirty="0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𝐎</m:t>
                    </m:r>
                  </m:oMath>
                </a14:m>
                <a:r>
                  <a:rPr lang="en-US" sz="3200" b="1" dirty="0">
                    <a:solidFill>
                      <a:srgbClr val="424242"/>
                    </a:solidFill>
                  </a:rPr>
                  <a:t>) Notation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1"/>
                <a:ext cx="6096000" cy="830997"/>
              </a:xfrm>
              <a:prstGeom prst="rect">
                <a:avLst/>
              </a:prstGeom>
              <a:blipFill rotWithShape="0">
                <a:blip r:embed="rId3"/>
                <a:stretch>
                  <a:fillRect b="-13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993" y="2069550"/>
            <a:ext cx="3943350" cy="26670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H="1">
            <a:off x="985183" y="1435941"/>
            <a:ext cx="0" cy="37953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985184" y="5218801"/>
            <a:ext cx="457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997134" y="3636725"/>
            <a:ext cx="0" cy="16002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23323" y="5239388"/>
                <a:ext cx="25076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323" y="5239388"/>
                <a:ext cx="2507672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65131" y="5163093"/>
                <a:ext cx="5701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131" y="5163093"/>
                <a:ext cx="570116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66087" y="4976893"/>
                <a:ext cx="5701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87" y="4976893"/>
                <a:ext cx="570116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126985" y="1587299"/>
                <a:ext cx="957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85" y="1587299"/>
                <a:ext cx="957064" cy="400110"/>
              </a:xfrm>
              <a:prstGeom prst="rect">
                <a:avLst/>
              </a:prstGeom>
              <a:blipFill rotWithShape="0">
                <a:blip r:embed="rId8"/>
                <a:stretch>
                  <a:fillRect r="-254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167714" y="2683018"/>
                <a:ext cx="957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714" y="2683018"/>
                <a:ext cx="957064" cy="400110"/>
              </a:xfrm>
              <a:prstGeom prst="rect">
                <a:avLst/>
              </a:prstGeom>
              <a:blipFill rotWithShape="0"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10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 function f(n) and g(n) there are positive constants c and n</a:t>
            </a:r>
            <a:r>
              <a:rPr lang="en-US" baseline="-25000" dirty="0"/>
              <a:t>0</a:t>
            </a:r>
            <a:r>
              <a:rPr lang="en-US" dirty="0"/>
              <a:t> such that :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</a:rPr>
              <a:t>f(n) ≤ </a:t>
            </a:r>
            <a:r>
              <a:rPr lang="en-US" dirty="0" err="1">
                <a:solidFill>
                  <a:schemeClr val="tx2"/>
                </a:solidFill>
              </a:rPr>
              <a:t>c.g</a:t>
            </a:r>
            <a:r>
              <a:rPr lang="en-US" dirty="0">
                <a:solidFill>
                  <a:schemeClr val="tx2"/>
                </a:solidFill>
              </a:rPr>
              <a:t>(n) for n ≥ n</a:t>
            </a:r>
            <a:r>
              <a:rPr lang="en-US" baseline="-25000" dirty="0">
                <a:solidFill>
                  <a:schemeClr val="tx2"/>
                </a:solidFill>
              </a:rPr>
              <a:t>0</a:t>
            </a:r>
          </a:p>
          <a:p>
            <a:pPr marL="0" indent="0" algn="ctr">
              <a:buNone/>
            </a:pPr>
            <a:endParaRPr lang="en-US" baseline="-250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baseline="-250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baseline="-250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baseline="-250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baseline="-250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baseline="-25000" dirty="0">
              <a:solidFill>
                <a:schemeClr val="tx2"/>
              </a:solidFill>
            </a:endParaRPr>
          </a:p>
          <a:p>
            <a:pPr marL="0" indent="0" algn="l">
              <a:buNone/>
            </a:pPr>
            <a:r>
              <a:rPr lang="en-US" dirty="0">
                <a:solidFill>
                  <a:schemeClr val="tx2"/>
                </a:solidFill>
              </a:rPr>
              <a:t> Conclusion: 2n+6 is O(n)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529" y="1757851"/>
            <a:ext cx="5354472" cy="484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3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 the other hand n</a:t>
            </a:r>
            <a:r>
              <a:rPr lang="en-US" baseline="30000" dirty="0"/>
              <a:t>2</a:t>
            </a:r>
            <a:r>
              <a:rPr lang="en-US" dirty="0"/>
              <a:t> is not O(n) because</a:t>
            </a:r>
          </a:p>
          <a:p>
            <a:pPr marL="0" indent="0">
              <a:buNone/>
            </a:pPr>
            <a:r>
              <a:rPr lang="en-US" dirty="0"/>
              <a:t>there is no c and n</a:t>
            </a:r>
            <a:r>
              <a:rPr lang="en-US" baseline="-25000" dirty="0"/>
              <a:t>0</a:t>
            </a:r>
            <a:r>
              <a:rPr lang="en-US" dirty="0"/>
              <a:t> such that: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chemeClr val="tx2"/>
                </a:solidFill>
              </a:rPr>
              <a:t>n</a:t>
            </a:r>
            <a:r>
              <a:rPr lang="en-US" baseline="30000" dirty="0">
                <a:solidFill>
                  <a:schemeClr val="tx2"/>
                </a:solidFill>
              </a:rPr>
              <a:t>2</a:t>
            </a:r>
            <a:r>
              <a:rPr lang="en-US" dirty="0">
                <a:solidFill>
                  <a:schemeClr val="tx2"/>
                </a:solidFill>
              </a:rPr>
              <a:t> ≤ </a:t>
            </a:r>
            <a:r>
              <a:rPr lang="en-US" dirty="0" err="1">
                <a:solidFill>
                  <a:schemeClr val="tx2"/>
                </a:solidFill>
              </a:rPr>
              <a:t>cn</a:t>
            </a:r>
            <a:r>
              <a:rPr lang="en-US" dirty="0">
                <a:solidFill>
                  <a:schemeClr val="tx2"/>
                </a:solidFill>
              </a:rPr>
              <a:t>   for n ≥ n</a:t>
            </a:r>
            <a:r>
              <a:rPr lang="en-US" baseline="-25000" dirty="0">
                <a:solidFill>
                  <a:schemeClr val="tx2"/>
                </a:solidFill>
              </a:rPr>
              <a:t>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graph shows that no matter how large</a:t>
            </a:r>
          </a:p>
          <a:p>
            <a:pPr marL="0" indent="0">
              <a:buNone/>
            </a:pPr>
            <a:r>
              <a:rPr lang="en-US" dirty="0"/>
              <a:t>a c is chosen there is an n big enough </a:t>
            </a:r>
          </a:p>
          <a:p>
            <a:pPr marL="0" indent="0">
              <a:buNone/>
            </a:pPr>
            <a:r>
              <a:rPr lang="en-US" dirty="0"/>
              <a:t>that </a:t>
            </a:r>
            <a:r>
              <a:rPr lang="en-US" b="1" dirty="0">
                <a:solidFill>
                  <a:srgbClr val="C00000"/>
                </a:solidFill>
              </a:rPr>
              <a:t>n</a:t>
            </a:r>
            <a:r>
              <a:rPr lang="en-US" b="1" baseline="30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 &gt; </a:t>
            </a:r>
            <a:r>
              <a:rPr lang="en-US" b="1" dirty="0" err="1">
                <a:solidFill>
                  <a:srgbClr val="C00000"/>
                </a:solidFill>
              </a:rPr>
              <a:t>cn</a:t>
            </a:r>
            <a:r>
              <a:rPr lang="en-US" b="1" dirty="0">
                <a:solidFill>
                  <a:srgbClr val="C00000"/>
                </a:solidFill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683" y="1093029"/>
            <a:ext cx="3997514" cy="474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2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 lower order term and constant factor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sz="2400" dirty="0"/>
              <a:t>50 n log n is O(n log n)</a:t>
            </a:r>
          </a:p>
          <a:p>
            <a:pPr lvl="1"/>
            <a:r>
              <a:rPr lang="en-US" sz="2400" dirty="0"/>
              <a:t>7n -3 is O(n)</a:t>
            </a:r>
          </a:p>
          <a:p>
            <a:pPr lvl="1"/>
            <a:r>
              <a:rPr lang="en-US" sz="2400" dirty="0"/>
              <a:t>8n</a:t>
            </a:r>
            <a:r>
              <a:rPr lang="en-US" sz="2400" baseline="30000" dirty="0"/>
              <a:t>2</a:t>
            </a:r>
            <a:r>
              <a:rPr lang="en-US" sz="2400" dirty="0"/>
              <a:t> log n + 5n</a:t>
            </a:r>
            <a:r>
              <a:rPr lang="en-US" sz="2400" baseline="30000" dirty="0"/>
              <a:t>2</a:t>
            </a:r>
            <a:r>
              <a:rPr lang="en-US" sz="2400" dirty="0"/>
              <a:t> + n is O(n</a:t>
            </a:r>
            <a:r>
              <a:rPr lang="en-US" sz="2400" baseline="30000" dirty="0"/>
              <a:t>2</a:t>
            </a:r>
            <a:r>
              <a:rPr lang="en-US" sz="2400" dirty="0"/>
              <a:t> log n 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Use O-notations to express number of primitive operations executed as function of input size.</a:t>
            </a:r>
          </a:p>
          <a:p>
            <a:pPr lvl="1"/>
            <a:r>
              <a:rPr lang="en-US" sz="2400" dirty="0"/>
              <a:t>Comparing asymptotic running time:</a:t>
            </a:r>
          </a:p>
          <a:p>
            <a:pPr lvl="2"/>
            <a:r>
              <a:rPr lang="en-US" sz="2200" dirty="0"/>
              <a:t>an algorithm that runs O(n) times is better than one that runs in O(n</a:t>
            </a:r>
            <a:r>
              <a:rPr lang="en-US" sz="2200" baseline="30000" dirty="0"/>
              <a:t>2</a:t>
            </a:r>
            <a:r>
              <a:rPr lang="en-US" sz="2200" dirty="0"/>
              <a:t>) times</a:t>
            </a:r>
          </a:p>
          <a:p>
            <a:pPr lvl="2"/>
            <a:r>
              <a:rPr lang="en-US" sz="2200" dirty="0"/>
              <a:t>similarly, O(</a:t>
            </a:r>
            <a:r>
              <a:rPr lang="en-US" sz="2200" dirty="0" err="1"/>
              <a:t>logn</a:t>
            </a:r>
            <a:r>
              <a:rPr lang="en-US" sz="2200" dirty="0"/>
              <a:t>) is better than O(n)</a:t>
            </a:r>
          </a:p>
          <a:p>
            <a:pPr lvl="2"/>
            <a:r>
              <a:rPr lang="en-US" sz="2200" dirty="0">
                <a:solidFill>
                  <a:srgbClr val="C00000"/>
                </a:solidFill>
              </a:rPr>
              <a:t>Hierarchy of function: log n &lt; n &lt; n</a:t>
            </a:r>
            <a:r>
              <a:rPr lang="en-US" sz="2200" baseline="30000" dirty="0">
                <a:solidFill>
                  <a:srgbClr val="C00000"/>
                </a:solidFill>
              </a:rPr>
              <a:t>2</a:t>
            </a:r>
            <a:r>
              <a:rPr lang="en-US" sz="2200" dirty="0">
                <a:solidFill>
                  <a:srgbClr val="C00000"/>
                </a:solidFill>
              </a:rPr>
              <a:t> &lt; n</a:t>
            </a:r>
            <a:r>
              <a:rPr lang="en-US" sz="2200" baseline="30000" dirty="0">
                <a:solidFill>
                  <a:srgbClr val="C00000"/>
                </a:solidFill>
              </a:rPr>
              <a:t>3</a:t>
            </a:r>
            <a:r>
              <a:rPr lang="en-US" sz="2200" dirty="0">
                <a:solidFill>
                  <a:srgbClr val="C00000"/>
                </a:solidFill>
              </a:rPr>
              <a:t> &lt; 2</a:t>
            </a:r>
            <a:r>
              <a:rPr lang="en-US" sz="2200" baseline="30000" dirty="0">
                <a:solidFill>
                  <a:srgbClr val="C00000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20193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r>
                  <a:rPr lang="en-US" dirty="0"/>
                  <a:t>-Notation (Omega notation) (Lower Bound)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t="-9402" b="-18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Big Omega notation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) is used to define the </a:t>
                </a:r>
                <a:r>
                  <a:rPr lang="en-US" dirty="0">
                    <a:solidFill>
                      <a:srgbClr val="A71160"/>
                    </a:solidFill>
                  </a:rPr>
                  <a:t>lower bound </a:t>
                </a:r>
                <a:r>
                  <a:rPr lang="en-US" dirty="0"/>
                  <a:t>of any algorithm or we can say the best case of any algorithm.</a:t>
                </a:r>
              </a:p>
              <a:p>
                <a:r>
                  <a:rPr lang="en-US" dirty="0"/>
                  <a:t>This always indicates the </a:t>
                </a:r>
                <a:r>
                  <a:rPr lang="en-US" dirty="0">
                    <a:solidFill>
                      <a:srgbClr val="A71160"/>
                    </a:solidFill>
                  </a:rPr>
                  <a:t>minimum time required</a:t>
                </a:r>
                <a:r>
                  <a:rPr lang="en-US" dirty="0"/>
                  <a:t> for any algorithm for all input values, therefore the best case of any algorithm.</a:t>
                </a:r>
              </a:p>
              <a:p>
                <a:r>
                  <a:rPr lang="en-US" dirty="0"/>
                  <a:t>When a time complexity for any algorithm is represented in the form of big-Ω, it means that the algorithm will take </a:t>
                </a:r>
                <a:r>
                  <a:rPr lang="en-US" dirty="0">
                    <a:solidFill>
                      <a:srgbClr val="A71160"/>
                    </a:solidFill>
                  </a:rPr>
                  <a:t>at least this much time </a:t>
                </a:r>
                <a:r>
                  <a:rPr lang="en-US" dirty="0"/>
                  <a:t>to complete it's execution. It can definitely take more time than this too.</a:t>
                </a:r>
              </a:p>
              <a:p>
                <a:r>
                  <a:rPr lang="en-US" dirty="0"/>
                  <a:t>For a given function 𝑔(𝑛), we denote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dirty="0"/>
                  <a:t>𝑔(𝑛)) the set of functions,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16" t="-1418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878" y="4295636"/>
                <a:ext cx="11338560" cy="73152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sz="220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l-GR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l-GR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))={</m:t>
                    </m:r>
                    <m:r>
                      <m:rPr>
                        <m:sty m:val="p"/>
                      </m:rPr>
                      <a:rPr lang="el-GR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l-GR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l-GR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en-US" sz="2200" i="0" dirty="0">
                    <a:solidFill>
                      <a:srgbClr val="002060"/>
                    </a:solidFill>
                    <a:latin typeface="+mj-lt"/>
                  </a:rPr>
                  <a:t>there exist positive constants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sz="2200" i="0" dirty="0">
                    <a:solidFill>
                      <a:srgbClr val="002060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2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i="0" dirty="0">
                    <a:solidFill>
                      <a:srgbClr val="002060"/>
                    </a:solidFill>
                    <a:latin typeface="+mj-lt"/>
                  </a:rPr>
                  <a:t> such that</a:t>
                </a:r>
                <a:r>
                  <a:rPr lang="en-US" sz="2200" b="0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m:rPr>
                        <m:sty m:val="p"/>
                      </m:rPr>
                      <a:rPr lang="en-US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cg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2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22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i="0" dirty="0">
                    <a:solidFill>
                      <a:srgbClr val="002060"/>
                    </a:solidFill>
                    <a:latin typeface="+mj-lt"/>
                  </a:rPr>
                  <a:t>for all</a:t>
                </a:r>
                <a:r>
                  <a:rPr lang="en-US" sz="2200" b="0" i="0" dirty="0">
                    <a:solidFill>
                      <a:srgbClr val="00206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22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200" b="0" i="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78" y="4295636"/>
                <a:ext cx="11338560" cy="7315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84878" y="4295636"/>
            <a:ext cx="11338560" cy="731520"/>
          </a:xfrm>
          <a:prstGeom prst="roundRect">
            <a:avLst/>
          </a:prstGeom>
          <a:noFill/>
          <a:ln w="19050">
            <a:solidFill>
              <a:srgbClr val="A71160"/>
            </a:solidFill>
          </a:ln>
        </p:spPr>
        <p:txBody>
          <a:bodyPr wrap="square" rtlCol="0">
            <a:spAutoFit/>
          </a:bodyPr>
          <a:lstStyle/>
          <a:p>
            <a:endParaRPr lang="en-US" sz="2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8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6096000" y="0"/>
                <a:ext cx="6096000" cy="6588000"/>
              </a:xfrm>
              <a:prstGeom prst="rect">
                <a:avLst/>
              </a:prstGeom>
              <a:gradFill flip="none" rotWithShape="1">
                <a:gsLst>
                  <a:gs pos="55000">
                    <a:srgbClr val="B21266"/>
                  </a:gs>
                  <a:gs pos="30000">
                    <a:srgbClr val="A3115D">
                      <a:lumMod val="100000"/>
                    </a:srgbClr>
                  </a:gs>
                  <a:gs pos="100000">
                    <a:srgbClr val="ED6D9B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just"/>
                <a:endParaRPr lang="en-US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i="0" dirty="0">
                    <a:solidFill>
                      <a:schemeClr val="bg1"/>
                    </a:solidFill>
                    <a:latin typeface="+mj-lt"/>
                  </a:rPr>
                  <a:t>is an asymptotically </a:t>
                </a:r>
                <a:r>
                  <a:rPr lang="en-US" sz="2400" b="1" i="0" dirty="0">
                    <a:solidFill>
                      <a:schemeClr val="bg1"/>
                    </a:solidFill>
                    <a:latin typeface="+mj-lt"/>
                  </a:rPr>
                  <a:t>lower bound </a:t>
                </a:r>
                <a:r>
                  <a:rPr lang="en-US" sz="2400" i="0" dirty="0">
                    <a:solidFill>
                      <a:schemeClr val="bg1"/>
                    </a:solidFill>
                    <a:latin typeface="+mj-lt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i="0" dirty="0">
                  <a:solidFill>
                    <a:schemeClr val="bg1"/>
                  </a:solidFill>
                  <a:latin typeface="+mj-lt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l-G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l-G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 </m:t>
                    </m:r>
                    <m:r>
                      <m:rPr>
                        <m:sty m:val="p"/>
                      </m:rPr>
                      <a:rPr lang="el-GR" sz="24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implies: 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)“≥” 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bg1"/>
                    </a:solidFill>
                  </a:rPr>
                  <a:t>if there exists a positive constant c such that it lies above cg(n), for sufficiently large n.</a:t>
                </a:r>
              </a:p>
              <a:p>
                <a:pPr algn="just"/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bg1"/>
                    </a:solidFill>
                  </a:rPr>
                  <a:t>For any value of n, the minimum time required by the algorithm is given by Omega Ω(g(n)).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0"/>
                <a:ext cx="6096000" cy="6588000"/>
              </a:xfrm>
              <a:prstGeom prst="rect">
                <a:avLst/>
              </a:prstGeom>
              <a:blipFill rotWithShape="0">
                <a:blip r:embed="rId2"/>
                <a:stretch>
                  <a:fillRect l="-1300" r="-1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0" y="-1"/>
                <a:ext cx="6096000" cy="830997"/>
              </a:xfrm>
              <a:prstGeom prst="rect">
                <a:avLst/>
              </a:prstGeom>
              <a:noFill/>
            </p:spPr>
            <p:txBody>
              <a:bodyPr wrap="square" lIns="27432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3200" b="1" dirty="0">
                    <a:solidFill>
                      <a:srgbClr val="424242"/>
                    </a:solidFill>
                  </a:rPr>
                  <a:t>Big(</a:t>
                </a:r>
                <a14:m>
                  <m:oMath xmlns:m="http://schemas.openxmlformats.org/officeDocument/2006/math">
                    <m:r>
                      <a:rPr lang="en-US" sz="3200" b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r>
                  <a:rPr lang="en-US" sz="3200" b="1" dirty="0">
                    <a:solidFill>
                      <a:srgbClr val="424242"/>
                    </a:solidFill>
                  </a:rPr>
                  <a:t>) Notation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1"/>
                <a:ext cx="6096000" cy="830997"/>
              </a:xfrm>
              <a:prstGeom prst="rect">
                <a:avLst/>
              </a:prstGeom>
              <a:blipFill rotWithShape="0">
                <a:blip r:embed="rId3"/>
                <a:stretch>
                  <a:fillRect b="-13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23323" y="5239388"/>
                <a:ext cx="25076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l-GR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𝜴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323" y="5239388"/>
                <a:ext cx="2507672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765131" y="5163093"/>
                <a:ext cx="5701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131" y="5163093"/>
                <a:ext cx="570116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66087" y="4976893"/>
                <a:ext cx="5701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87" y="4976893"/>
                <a:ext cx="570116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112" y="1836098"/>
            <a:ext cx="4572000" cy="24932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606434" y="2572504"/>
                <a:ext cx="957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434" y="2572504"/>
                <a:ext cx="957064" cy="400110"/>
              </a:xfrm>
              <a:prstGeom prst="rect">
                <a:avLst/>
              </a:prstGeom>
              <a:blipFill rotWithShape="0">
                <a:blip r:embed="rId8"/>
                <a:stretch>
                  <a:fillRect r="-2548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421845" y="1505975"/>
                <a:ext cx="957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845" y="1505975"/>
                <a:ext cx="957064" cy="400110"/>
              </a:xfrm>
              <a:prstGeom prst="rect">
                <a:avLst/>
              </a:prstGeom>
              <a:blipFill rotWithShape="0"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 flipH="1">
            <a:off x="2013984" y="3460677"/>
            <a:ext cx="0" cy="17373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747111" y="1412971"/>
            <a:ext cx="0" cy="37953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47112" y="5195831"/>
            <a:ext cx="47548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606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3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 startAt="3"/>
                </a:pP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lang="en-US" dirty="0"/>
                  <a:t>-Notation (Theta notation) (Same order)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t="-9402" b="-18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notation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the formal way </a:t>
                </a:r>
                <a:r>
                  <a:rPr lang="en-US" dirty="0">
                    <a:solidFill>
                      <a:srgbClr val="A71160"/>
                    </a:solidFill>
                  </a:rPr>
                  <a:t>to enclose </a:t>
                </a:r>
                <a:r>
                  <a:rPr lang="en-US" dirty="0"/>
                  <a:t>both the lower bound and the upper bound of an algorithm's running time.</a:t>
                </a:r>
              </a:p>
              <a:p>
                <a:r>
                  <a:rPr lang="en-US" dirty="0"/>
                  <a:t>Since it represents the upper and the lower bound of the running time of an algorithm, it is used for analyzing </a:t>
                </a:r>
                <a:r>
                  <a:rPr lang="en-US" dirty="0">
                    <a:solidFill>
                      <a:srgbClr val="A71160"/>
                    </a:solidFill>
                  </a:rPr>
                  <a:t>the average case complexity </a:t>
                </a:r>
                <a:r>
                  <a:rPr lang="en-US" dirty="0"/>
                  <a:t>of an algorithm.</a:t>
                </a:r>
              </a:p>
              <a:p>
                <a:r>
                  <a:rPr lang="en-US" dirty="0"/>
                  <a:t>The time complexity represented by the Big-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notation is the range within which </a:t>
                </a:r>
                <a:r>
                  <a:rPr lang="en-US" dirty="0">
                    <a:solidFill>
                      <a:srgbClr val="A71160"/>
                    </a:solidFill>
                  </a:rPr>
                  <a:t>the actual running time </a:t>
                </a:r>
                <a:r>
                  <a:rPr lang="en-US" dirty="0"/>
                  <a:t>of the algorithm will be.</a:t>
                </a:r>
              </a:p>
              <a:p>
                <a:r>
                  <a:rPr lang="en-US" dirty="0"/>
                  <a:t>So, it defines </a:t>
                </a:r>
                <a:r>
                  <a:rPr lang="en-US" dirty="0">
                    <a:solidFill>
                      <a:srgbClr val="A71160"/>
                    </a:solidFill>
                  </a:rPr>
                  <a:t>the exact </a:t>
                </a:r>
                <a:r>
                  <a:rPr lang="en-US" dirty="0"/>
                  <a:t>Asymptotic behavior of an algorithm.</a:t>
                </a:r>
              </a:p>
              <a:p>
                <a:r>
                  <a:rPr lang="en-US" dirty="0"/>
                  <a:t>For a given function 𝑔(𝑛), we denote by θ(𝑔(𝑛)) the set of functions,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16" t="-1418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0999" y="4412973"/>
                <a:ext cx="11692882" cy="42564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9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))</m:t>
                    </m:r>
                    <m:r>
                      <m:rPr>
                        <m:nor/>
                      </m:rPr>
                      <a:rPr lang="en-US" sz="1900" i="1" dirty="0">
                        <a:solidFill>
                          <a:srgbClr val="002060"/>
                        </a:solidFill>
                      </a:rPr>
                      <m:t> = {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sz="1900" i="1" dirty="0">
                        <a:solidFill>
                          <a:srgbClr val="002060"/>
                        </a:solidFill>
                      </a:rPr>
                      <m:t> : </m:t>
                    </m:r>
                  </m:oMath>
                </a14:m>
                <a:r>
                  <a:rPr lang="en-US" sz="1900" i="0" dirty="0">
                    <a:solidFill>
                      <a:srgbClr val="002060"/>
                    </a:solidFill>
                    <a:latin typeface="+mj-lt"/>
                  </a:rPr>
                  <a:t>there exist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9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9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900" dirty="0">
                        <a:solidFill>
                          <a:srgbClr val="002060"/>
                        </a:solidFill>
                      </a:rPr>
                      <m:t>, 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9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90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1900" i="1" dirty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900" dirty="0">
                        <a:solidFill>
                          <a:srgbClr val="002060"/>
                        </a:solidFill>
                      </a:rPr>
                      <m:t>and</m:t>
                    </m:r>
                    <m:r>
                      <m:rPr>
                        <m:nor/>
                      </m:rPr>
                      <a:rPr lang="en-US" sz="1900" i="1" dirty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 sz="1900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900" b="0" i="0" baseline="-250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sz="1900" i="1" dirty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900" dirty="0">
                        <a:solidFill>
                          <a:srgbClr val="002060"/>
                        </a:solidFill>
                      </a:rPr>
                      <m:t>such</m:t>
                    </m:r>
                    <m:r>
                      <m:rPr>
                        <m:nor/>
                      </m:rPr>
                      <a:rPr lang="en-US" sz="1900" dirty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900" dirty="0">
                        <a:solidFill>
                          <a:srgbClr val="002060"/>
                        </a:solidFill>
                      </a:rPr>
                      <m:t>that</m:t>
                    </m:r>
                    <m:r>
                      <m:rPr>
                        <m:nor/>
                      </m:rPr>
                      <a:rPr lang="en-US" sz="1900" dirty="0">
                        <a:solidFill>
                          <a:srgbClr val="002060"/>
                        </a:solidFill>
                      </a:rPr>
                      <m:t> 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m:rPr>
                        <m:nor/>
                      </m:rPr>
                      <a:rPr lang="en-US" sz="1900" i="1" dirty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900" dirty="0">
                        <a:solidFill>
                          <a:srgbClr val="002060"/>
                        </a:solidFill>
                      </a:rPr>
                      <m:t>for</m:t>
                    </m:r>
                    <m:r>
                      <m:rPr>
                        <m:nor/>
                      </m:rPr>
                      <a:rPr lang="en-US" sz="1900" i="1" dirty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900" dirty="0">
                        <a:solidFill>
                          <a:srgbClr val="002060"/>
                        </a:solidFill>
                      </a:rPr>
                      <m:t>all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900" i="1" baseline="-250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9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US" sz="1900" i="1" dirty="0">
                        <a:solidFill>
                          <a:srgbClr val="002060"/>
                        </a:solidFill>
                      </a:rPr>
                      <m:t>}</m:t>
                    </m:r>
                  </m:oMath>
                </a14:m>
                <a:endParaRPr lang="en-US" sz="1900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4412973"/>
                <a:ext cx="11692882" cy="425648"/>
              </a:xfrm>
              <a:prstGeom prst="roundRect">
                <a:avLst/>
              </a:prstGeom>
              <a:blipFill>
                <a:blip r:embed="rId4"/>
                <a:stretch>
                  <a:fillRect t="-1429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39619" y="4305757"/>
            <a:ext cx="11811262" cy="640080"/>
          </a:xfrm>
          <a:prstGeom prst="roundRect">
            <a:avLst/>
          </a:prstGeom>
          <a:noFill/>
          <a:ln w="19050">
            <a:solidFill>
              <a:srgbClr val="A71160"/>
            </a:solidFill>
          </a:ln>
        </p:spPr>
        <p:txBody>
          <a:bodyPr wrap="square" rtlCol="0">
            <a:spAutoFit/>
          </a:bodyPr>
          <a:lstStyle/>
          <a:p>
            <a:endParaRPr lang="en-US" sz="2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274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6096000" y="0"/>
                <a:ext cx="6096000" cy="6588000"/>
              </a:xfrm>
              <a:prstGeom prst="rect">
                <a:avLst/>
              </a:prstGeom>
              <a:gradFill flip="none" rotWithShape="1">
                <a:gsLst>
                  <a:gs pos="55000">
                    <a:srgbClr val="B21266"/>
                  </a:gs>
                  <a:gs pos="30000">
                    <a:srgbClr val="A3115D">
                      <a:lumMod val="100000"/>
                    </a:srgbClr>
                  </a:gs>
                  <a:gs pos="100000">
                    <a:srgbClr val="ED6D9B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l-G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is a set, we can write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to indicate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is a member of </a:t>
                </a:r>
                <a14:m>
                  <m:oMath xmlns:m="http://schemas.openxmlformats.org/officeDocument/2006/math">
                    <m:r>
                      <a:rPr lang="el-G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l-G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)).</m:t>
                    </m:r>
                  </m:oMath>
                </a14:m>
                <a:endParaRPr lang="el-GR" sz="2400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l-G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l-GR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is an asymptotically tight bound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implies: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)“=” 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 algn="just"/>
                <a:endParaRPr lang="en-US" sz="2400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en-US" sz="2400" dirty="0">
                    <a:solidFill>
                      <a:schemeClr val="bg1"/>
                    </a:solidFill>
                  </a:rPr>
                  <a:t>If a function f(n) lies anywhere in between c</a:t>
                </a:r>
                <a:r>
                  <a:rPr lang="en-US" sz="2400" baseline="-25000" dirty="0">
                    <a:solidFill>
                      <a:schemeClr val="bg1"/>
                    </a:solidFill>
                  </a:rPr>
                  <a:t>1</a:t>
                </a:r>
                <a:r>
                  <a:rPr lang="en-US" sz="2400" dirty="0">
                    <a:solidFill>
                      <a:schemeClr val="bg1"/>
                    </a:solidFill>
                  </a:rPr>
                  <a:t>g(n) and c</a:t>
                </a:r>
                <a:r>
                  <a:rPr lang="en-US" sz="2400" baseline="-25000" dirty="0">
                    <a:solidFill>
                      <a:schemeClr val="bg1"/>
                    </a:solidFill>
                  </a:rPr>
                  <a:t>2</a:t>
                </a:r>
                <a:r>
                  <a:rPr lang="en-US" sz="2400" dirty="0">
                    <a:solidFill>
                      <a:schemeClr val="bg1"/>
                    </a:solidFill>
                  </a:rPr>
                  <a:t>g(n) for all n ≥ n</a:t>
                </a:r>
                <a:r>
                  <a:rPr lang="en-US" sz="2400" baseline="-25000" dirty="0">
                    <a:solidFill>
                      <a:schemeClr val="bg1"/>
                    </a:solidFill>
                  </a:rPr>
                  <a:t>0</a:t>
                </a:r>
                <a:r>
                  <a:rPr lang="en-US" sz="2400" dirty="0">
                    <a:solidFill>
                      <a:schemeClr val="bg1"/>
                    </a:solidFill>
                  </a:rPr>
                  <a:t>, then f(n) is said to be asymptotically </a:t>
                </a:r>
                <a:r>
                  <a:rPr lang="en-US" sz="2400" b="1" dirty="0">
                    <a:solidFill>
                      <a:schemeClr val="bg1"/>
                    </a:solidFill>
                  </a:rPr>
                  <a:t>tight bound.</a:t>
                </a:r>
              </a:p>
              <a:p>
                <a:pPr algn="just"/>
                <a:endParaRPr lang="en-US" sz="2400" b="1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en-US" sz="2400" b="1" dirty="0">
                    <a:solidFill>
                      <a:schemeClr val="bg1"/>
                    </a:solidFill>
                  </a:rPr>
                  <a:t>f(n) is Θ(g(n)) if and only if f(n) is Ο(g(n)) and f(n) is Ω(g(n))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0"/>
                <a:ext cx="6096000" cy="6588000"/>
              </a:xfrm>
              <a:prstGeom prst="rect">
                <a:avLst/>
              </a:prstGeom>
              <a:blipFill>
                <a:blip r:embed="rId2"/>
                <a:stretch>
                  <a:fillRect l="-1500" r="-1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0" y="41196"/>
                <a:ext cx="6096000" cy="748603"/>
              </a:xfrm>
              <a:prstGeom prst="rect">
                <a:avLst/>
              </a:prstGeom>
              <a:noFill/>
            </p:spPr>
            <p:txBody>
              <a:bodyPr wrap="square" lIns="27432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3200" b="1" dirty="0" smtClean="0">
                        <a:latin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lang="en-US" sz="3200" dirty="0"/>
                  <a:t>-</a:t>
                </a:r>
                <a:r>
                  <a:rPr lang="en-US" sz="3200" b="1" dirty="0">
                    <a:solidFill>
                      <a:srgbClr val="424242"/>
                    </a:solidFill>
                  </a:rPr>
                  <a:t>Notation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1196"/>
                <a:ext cx="6096000" cy="748603"/>
              </a:xfrm>
              <a:prstGeom prst="rect">
                <a:avLst/>
              </a:prstGeom>
              <a:blipFill>
                <a:blip r:embed="rId3"/>
                <a:stretch>
                  <a:fillRect b="-21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23323" y="5226325"/>
                <a:ext cx="25076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l-GR" sz="2400" b="1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b="1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323" y="5226325"/>
                <a:ext cx="2507672" cy="461665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509638" y="5163093"/>
                <a:ext cx="5701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638" y="5163093"/>
                <a:ext cx="570116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66087" y="4963446"/>
                <a:ext cx="5701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87" y="4963446"/>
                <a:ext cx="570116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916" y="1149424"/>
            <a:ext cx="4333875" cy="4057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788281" y="2782880"/>
                <a:ext cx="957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281" y="2782880"/>
                <a:ext cx="957064" cy="400110"/>
              </a:xfrm>
              <a:prstGeom prst="rect">
                <a:avLst/>
              </a:prstGeom>
              <a:blipFill rotWithShape="0">
                <a:blip r:embed="rId8"/>
                <a:stretch>
                  <a:fillRect r="-15287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788281" y="1923473"/>
                <a:ext cx="957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281" y="1923473"/>
                <a:ext cx="957064" cy="400110"/>
              </a:xfrm>
              <a:prstGeom prst="rect">
                <a:avLst/>
              </a:prstGeom>
              <a:blipFill rotWithShape="0">
                <a:blip r:embed="rId9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 flipH="1">
            <a:off x="747111" y="1412971"/>
            <a:ext cx="0" cy="37953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47112" y="5195831"/>
            <a:ext cx="47548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832238" y="3346566"/>
            <a:ext cx="0" cy="18288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788281" y="917053"/>
                <a:ext cx="957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i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281" y="917053"/>
                <a:ext cx="957064" cy="400110"/>
              </a:xfrm>
              <a:prstGeom prst="rect">
                <a:avLst/>
              </a:prstGeom>
              <a:blipFill rotWithShape="0">
                <a:blip r:embed="rId10"/>
                <a:stretch>
                  <a:fillRect r="-1528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84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3" grpId="0"/>
      <p:bldP spid="14" grpId="0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O-Notation (Big O notation) (Upper Bound)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Ω-Notation (Omega notation) (Lower Bound)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l-GR" dirty="0"/>
              <a:t>θ-</a:t>
            </a:r>
            <a:r>
              <a:rPr lang="en-US" dirty="0"/>
              <a:t>Notation (Theta notation) (Same order)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92875" y="1534886"/>
                <a:ext cx="8138160" cy="769441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dirty="0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Ο</m:t>
                    </m:r>
                    <m:r>
                      <a:rPr lang="en-US" sz="2200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00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2200" dirty="0">
                    <a:solidFill>
                      <a:srgbClr val="424242"/>
                    </a:solidFill>
                  </a:rPr>
                  <a:t>= {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424242"/>
                    </a:solidFill>
                  </a:rPr>
                  <a:t> : there exist positive constants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200" dirty="0">
                    <a:solidFill>
                      <a:srgbClr val="424242"/>
                    </a:solidFill>
                  </a:rPr>
                  <a:t>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 dirty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200" i="1" dirty="0">
                            <a:solidFill>
                              <a:srgbClr val="42424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424242"/>
                    </a:solidFill>
                  </a:rPr>
                  <a:t> such that</a:t>
                </a:r>
                <a14:m>
                  <m:oMath xmlns:m="http://schemas.openxmlformats.org/officeDocument/2006/math">
                    <m:r>
                      <a:rPr lang="en-US" sz="2200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200" b="1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200" b="1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b="1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200" b="1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1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200" b="1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sz="2200" b="1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200" b="1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1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200" b="1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>
                    <a:solidFill>
                      <a:srgbClr val="424242"/>
                    </a:solidFill>
                  </a:rPr>
                  <a:t>for all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baseline="-25000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 dirty="0">
                        <a:solidFill>
                          <a:srgbClr val="42424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>
                    <a:solidFill>
                      <a:srgbClr val="424242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75" y="1534886"/>
                <a:ext cx="8138160" cy="769441"/>
              </a:xfrm>
              <a:prstGeom prst="rect">
                <a:avLst/>
              </a:prstGeom>
              <a:blipFill>
                <a:blip r:embed="rId2"/>
                <a:stretch>
                  <a:fillRect t="-3906" b="-14844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2875" y="3381104"/>
                <a:ext cx="8138160" cy="769441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200">
                    <a:solidFill>
                      <a:srgbClr val="424242"/>
                    </a:solidFill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 smtClean="0"/>
                      <m:t>Ω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dirty="0"/>
                  <a:t>= {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: </a:t>
                </a:r>
                <a:r>
                  <a:rPr lang="en-US" dirty="0">
                    <a:latin typeface="+mn-lt"/>
                  </a:rPr>
                  <a:t>there exist positive constants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𝒄𝒈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75" y="3381104"/>
                <a:ext cx="8138160" cy="769441"/>
              </a:xfrm>
              <a:prstGeom prst="rect">
                <a:avLst/>
              </a:prstGeom>
              <a:blipFill>
                <a:blip r:embed="rId3"/>
                <a:stretch>
                  <a:fillRect t="-5469" b="-14844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92875" y="5227321"/>
                <a:ext cx="8138160" cy="768096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200">
                    <a:solidFill>
                      <a:srgbClr val="424242"/>
                    </a:solidFill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 = {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: </a:t>
                </a:r>
                <a:r>
                  <a:rPr lang="en-US" dirty="0">
                    <a:latin typeface="+mn-lt"/>
                  </a:rPr>
                  <a:t>there exist positive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such that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𝐠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</m:d>
                    <m:r>
                      <a:rPr lang="en-US" b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𝐟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</m:d>
                    <m:r>
                      <a:rPr lang="en-US" b="1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𝐠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</m:d>
                  </m:oMath>
                </a14:m>
                <a:r>
                  <a:rPr lang="en-US" dirty="0"/>
                  <a:t> 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75" y="5227321"/>
                <a:ext cx="8138160" cy="768096"/>
              </a:xfrm>
              <a:prstGeom prst="rect">
                <a:avLst/>
              </a:prstGeom>
              <a:blipFill>
                <a:blip r:embed="rId4"/>
                <a:stretch>
                  <a:fillRect t="-5469" r="-1346" b="-14063"/>
                </a:stretch>
              </a:blip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300753" y="1585840"/>
                <a:ext cx="2468880" cy="512064"/>
              </a:xfrm>
              <a:prstGeom prst="wedgeRoundRectCallout">
                <a:avLst>
                  <a:gd name="adj1" fmla="val -68749"/>
                  <a:gd name="adj2" fmla="val 3679"/>
                  <a:gd name="adj3" fmla="val 16667"/>
                </a:avLst>
              </a:prstGeom>
              <a:noFill/>
              <a:ln w="9525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US" sz="2400" b="1" i="0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sz="2400" b="1" i="0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0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𝐎</m:t>
                      </m:r>
                      <m:r>
                        <a:rPr lang="en-US" sz="2400" b="1" i="0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sz="2400" b="1" i="0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sz="2400" b="1" i="0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b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753" y="1585840"/>
                <a:ext cx="2468880" cy="512064"/>
              </a:xfrm>
              <a:prstGeom prst="wedgeRoundRectCallout">
                <a:avLst>
                  <a:gd name="adj1" fmla="val -68749"/>
                  <a:gd name="adj2" fmla="val 3679"/>
                  <a:gd name="adj3" fmla="val 16667"/>
                </a:avLst>
              </a:prstGeom>
              <a:blipFill>
                <a:blip r:embed="rId5"/>
                <a:stretch>
                  <a:fillRect b="-10465"/>
                </a:stretch>
              </a:blipFill>
              <a:ln w="952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300753" y="3413111"/>
                <a:ext cx="2468880" cy="512064"/>
              </a:xfrm>
              <a:prstGeom prst="wedgeRoundRectCallout">
                <a:avLst>
                  <a:gd name="adj1" fmla="val -68537"/>
                  <a:gd name="adj2" fmla="val 6793"/>
                  <a:gd name="adj3" fmla="val 16667"/>
                </a:avLst>
              </a:prstGeom>
              <a:noFill/>
              <a:ln w="9525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 i="1">
                    <a:solidFill>
                      <a:srgbClr val="A7116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latin typeface="Cambria Math" panose="02040503050406030204" pitchFamily="18" charset="0"/>
                        </a:rPr>
                        <m:t>𝐟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dirty="0"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</m:d>
                      <m:r>
                        <a:rPr lang="en-US" b="1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l-GR" i="0" dirty="0"/>
                        <m:t>Ω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i="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753" y="3413111"/>
                <a:ext cx="2468880" cy="512064"/>
              </a:xfrm>
              <a:prstGeom prst="wedgeRoundRectCallout">
                <a:avLst>
                  <a:gd name="adj1" fmla="val -68537"/>
                  <a:gd name="adj2" fmla="val 6793"/>
                  <a:gd name="adj3" fmla="val 16667"/>
                </a:avLst>
              </a:prstGeom>
              <a:blipFill>
                <a:blip r:embed="rId6"/>
                <a:stretch>
                  <a:fillRect b="-11628"/>
                </a:stretch>
              </a:blipFill>
              <a:ln w="952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300753" y="5240383"/>
                <a:ext cx="2468880" cy="510778"/>
              </a:xfrm>
              <a:prstGeom prst="wedgeRoundRectCallout">
                <a:avLst>
                  <a:gd name="adj1" fmla="val -69151"/>
                  <a:gd name="adj2" fmla="val 11694"/>
                  <a:gd name="adj3" fmla="val 16667"/>
                </a:avLst>
              </a:prstGeom>
              <a:noFill/>
              <a:ln w="9525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 b="1" i="1">
                    <a:solidFill>
                      <a:srgbClr val="A7116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𝛉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𝐠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b="1" i="0" dirty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i="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753" y="5240383"/>
                <a:ext cx="2468880" cy="510778"/>
              </a:xfrm>
              <a:prstGeom prst="wedgeRoundRectCallout">
                <a:avLst>
                  <a:gd name="adj1" fmla="val -69151"/>
                  <a:gd name="adj2" fmla="val 11694"/>
                  <a:gd name="adj3" fmla="val 16667"/>
                </a:avLst>
              </a:prstGeom>
              <a:blipFill>
                <a:blip r:embed="rId7"/>
                <a:stretch>
                  <a:fillRect b="-12941"/>
                </a:stretch>
              </a:blipFill>
              <a:ln w="952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279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Notations – Examples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71182" y="990600"/>
                <a:ext cx="4152900" cy="2334226"/>
              </a:xfrm>
            </p:spPr>
            <p:txBody>
              <a:bodyPr/>
              <a:lstStyle/>
              <a:p>
                <a:pPr algn="l"/>
                <a:r>
                  <a:rPr lang="en-US" dirty="0"/>
                  <a:t>Example 1:</a:t>
                </a:r>
              </a:p>
              <a:p>
                <a:pPr marL="457200" lvl="1" indent="0" algn="l"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i="1" dirty="0"/>
                  <a:t>  </a:t>
                </a:r>
                <a:r>
                  <a:rPr lang="en-US" sz="2400" dirty="0"/>
                  <a:t>and</a:t>
                </a:r>
                <a:r>
                  <a:rPr lang="en-US" sz="2400" i="1" dirty="0"/>
                  <a:t>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457200" lvl="1" indent="0" algn="l">
                  <a:buNone/>
                </a:pPr>
                <a:endParaRPr lang="en-US" dirty="0"/>
              </a:p>
              <a:p>
                <a:pPr marL="914400" lvl="2" indent="0" algn="l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182" y="990600"/>
                <a:ext cx="4152900" cy="2334226"/>
              </a:xfrm>
              <a:blipFill>
                <a:blip r:embed="rId2"/>
                <a:stretch>
                  <a:fillRect l="-2053" t="-3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26397" y="3126917"/>
                <a:ext cx="4480560" cy="4616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rgbClr val="42424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400" b="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rgbClr val="A711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l-GR" sz="2400" dirty="0" smtClean="0">
                          <a:solidFill>
                            <a:srgbClr val="A71160"/>
                          </a:solidFill>
                        </a:rPr>
                        <m:t>Ω</m:t>
                      </m:r>
                      <m:r>
                        <a:rPr lang="el-GR" sz="2400" b="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dirty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i="1" dirty="0">
                  <a:solidFill>
                    <a:srgbClr val="A7116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97" y="3126917"/>
                <a:ext cx="4480560" cy="461665"/>
              </a:xfrm>
              <a:prstGeom prst="rect">
                <a:avLst/>
              </a:prstGeom>
              <a:blipFill>
                <a:blip r:embed="rId3"/>
                <a:stretch>
                  <a:fillRect l="-1223" b="-16883"/>
                </a:stretch>
              </a:blipFill>
              <a:ln w="6350">
                <a:solidFill>
                  <a:srgbClr val="42424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04212" y="3126917"/>
                <a:ext cx="4480560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6350">
                <a:solidFill>
                  <a:srgbClr val="A7116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i="1" dirty="0">
                          <a:solidFill>
                            <a:srgbClr val="424242"/>
                          </a:solidFill>
                        </a:rPr>
                        <m:t>O</m:t>
                      </m:r>
                      <m:r>
                        <a:rPr lang="el-GR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i="1" dirty="0">
                  <a:solidFill>
                    <a:srgbClr val="424242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12" y="3126917"/>
                <a:ext cx="4480560" cy="461665"/>
              </a:xfrm>
              <a:prstGeom prst="rect">
                <a:avLst/>
              </a:prstGeom>
              <a:blipFill>
                <a:blip r:embed="rId4"/>
                <a:stretch>
                  <a:fillRect l="-1087" b="-16883"/>
                </a:stretch>
              </a:blipFill>
              <a:ln w="6350">
                <a:solidFill>
                  <a:srgbClr val="A711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ular Callout 6"/>
          <p:cNvSpPr/>
          <p:nvPr/>
        </p:nvSpPr>
        <p:spPr>
          <a:xfrm>
            <a:off x="633676" y="2066273"/>
            <a:ext cx="1799369" cy="705448"/>
          </a:xfrm>
          <a:prstGeom prst="wedgeRoundRectCallout">
            <a:avLst>
              <a:gd name="adj1" fmla="val -28803"/>
              <a:gd name="adj2" fmla="val -93786"/>
              <a:gd name="adj3" fmla="val 16667"/>
            </a:avLst>
          </a:prstGeom>
          <a:noFill/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424242"/>
                </a:solidFill>
              </a:rPr>
              <a:t>Algo</a:t>
            </a:r>
            <a:r>
              <a:rPr lang="en-US" sz="2000" dirty="0">
                <a:solidFill>
                  <a:srgbClr val="424242"/>
                </a:solidFill>
              </a:rPr>
              <a:t>. 1 running time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2770000" y="2050576"/>
            <a:ext cx="1799369" cy="705448"/>
          </a:xfrm>
          <a:prstGeom prst="wedgeRoundRectCallout">
            <a:avLst>
              <a:gd name="adj1" fmla="val -34206"/>
              <a:gd name="adj2" fmla="val -86108"/>
              <a:gd name="adj3" fmla="val 16667"/>
            </a:avLst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424242"/>
                </a:solidFill>
              </a:rPr>
              <a:t>Algo</a:t>
            </a:r>
            <a:r>
              <a:rPr lang="en-US" sz="2000" dirty="0">
                <a:solidFill>
                  <a:srgbClr val="424242"/>
                </a:solidFill>
              </a:rPr>
              <a:t>. 2 running time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6893033" y="2050576"/>
            <a:ext cx="1799369" cy="705448"/>
          </a:xfrm>
          <a:prstGeom prst="wedgeRoundRectCallout">
            <a:avLst>
              <a:gd name="adj1" fmla="val -16483"/>
              <a:gd name="adj2" fmla="val -88123"/>
              <a:gd name="adj3" fmla="val 16667"/>
            </a:avLst>
          </a:prstGeom>
          <a:noFill/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424242"/>
                </a:solidFill>
              </a:rPr>
              <a:t>Algo</a:t>
            </a:r>
            <a:r>
              <a:rPr lang="en-US" sz="2000" dirty="0">
                <a:solidFill>
                  <a:srgbClr val="424242"/>
                </a:solidFill>
              </a:rPr>
              <a:t>. 1 running time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9015528" y="2050576"/>
            <a:ext cx="1799369" cy="705448"/>
          </a:xfrm>
          <a:prstGeom prst="wedgeRoundRectCallout">
            <a:avLst>
              <a:gd name="adj1" fmla="val -29188"/>
              <a:gd name="adj2" fmla="val -90029"/>
              <a:gd name="adj3" fmla="val 16667"/>
            </a:avLst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424242"/>
                </a:solidFill>
              </a:rPr>
              <a:t>Algo</a:t>
            </a:r>
            <a:r>
              <a:rPr lang="en-US" sz="2000" dirty="0">
                <a:solidFill>
                  <a:srgbClr val="424242"/>
                </a:solidFill>
              </a:rPr>
              <a:t>. 2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7061079"/>
                  </p:ext>
                </p:extLst>
              </p:nvPr>
            </p:nvGraphicFramePr>
            <p:xfrm>
              <a:off x="1196787" y="3990601"/>
              <a:ext cx="3966885" cy="236982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322295">
                      <a:extLst>
                        <a:ext uri="{9D8B030D-6E8A-4147-A177-3AD203B41FA5}">
                          <a16:colId xmlns:a16="http://schemas.microsoft.com/office/drawing/2014/main" val="2362693975"/>
                        </a:ext>
                      </a:extLst>
                    </a:gridCol>
                    <a:gridCol w="1322295">
                      <a:extLst>
                        <a:ext uri="{9D8B030D-6E8A-4147-A177-3AD203B41FA5}">
                          <a16:colId xmlns:a16="http://schemas.microsoft.com/office/drawing/2014/main" val="1636308206"/>
                        </a:ext>
                      </a:extLst>
                    </a:gridCol>
                    <a:gridCol w="1322295">
                      <a:extLst>
                        <a:ext uri="{9D8B030D-6E8A-4147-A177-3AD203B41FA5}">
                          <a16:colId xmlns:a16="http://schemas.microsoft.com/office/drawing/2014/main" val="34805803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424242"/>
                            </a:solidFill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baseline="30000" dirty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424242"/>
                            </a:solidFill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424242"/>
                            </a:solidFill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48734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01889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478497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38514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329379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75858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7061079"/>
                  </p:ext>
                </p:extLst>
              </p:nvPr>
            </p:nvGraphicFramePr>
            <p:xfrm>
              <a:off x="1196787" y="3990601"/>
              <a:ext cx="3966885" cy="236982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322295">
                      <a:extLst>
                        <a:ext uri="{9D8B030D-6E8A-4147-A177-3AD203B41FA5}">
                          <a16:colId xmlns:a16="http://schemas.microsoft.com/office/drawing/2014/main" val="2362693975"/>
                        </a:ext>
                      </a:extLst>
                    </a:gridCol>
                    <a:gridCol w="1322295">
                      <a:extLst>
                        <a:ext uri="{9D8B030D-6E8A-4147-A177-3AD203B41FA5}">
                          <a16:colId xmlns:a16="http://schemas.microsoft.com/office/drawing/2014/main" val="1636308206"/>
                        </a:ext>
                      </a:extLst>
                    </a:gridCol>
                    <a:gridCol w="1322295">
                      <a:extLst>
                        <a:ext uri="{9D8B030D-6E8A-4147-A177-3AD203B41FA5}">
                          <a16:colId xmlns:a16="http://schemas.microsoft.com/office/drawing/2014/main" val="3480580320"/>
                        </a:ext>
                      </a:extLst>
                    </a:gridCol>
                  </a:tblGrid>
                  <a:tr h="3886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563" r="-200922" b="-510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9541" t="-1563" r="-100000" b="-510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461" t="-1563" r="-461" b="-5109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487340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01889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4784975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385147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3293798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75858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/>
          <p:cNvSpPr txBox="1"/>
          <p:nvPr/>
        </p:nvSpPr>
        <p:spPr>
          <a:xfrm>
            <a:off x="1671917" y="4424082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1917" y="4801720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1917" y="5179358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1917" y="5556996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1917" y="5934635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8572" y="4424082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8572" y="4801720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8572" y="5179358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8572" y="5556996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8572" y="5934635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6289" y="4424082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6289" y="4801720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6289" y="5179358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5606" y="5556996"/>
            <a:ext cx="4572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9053" y="5934634"/>
            <a:ext cx="4572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6045708" y="882567"/>
            <a:ext cx="100584" cy="5531399"/>
            <a:chOff x="4406940" y="815332"/>
            <a:chExt cx="100584" cy="5531399"/>
          </a:xfrm>
        </p:grpSpPr>
        <p:cxnSp>
          <p:nvCxnSpPr>
            <p:cNvPr id="28" name="Straight Connector 27"/>
            <p:cNvCxnSpPr/>
            <p:nvPr/>
          </p:nvCxnSpPr>
          <p:spPr>
            <a:xfrm flipH="1">
              <a:off x="4457031" y="860331"/>
              <a:ext cx="0" cy="5486400"/>
            </a:xfrm>
            <a:prstGeom prst="line">
              <a:avLst/>
            </a:prstGeom>
            <a:solidFill>
              <a:srgbClr val="F19D19"/>
            </a:solidFill>
            <a:ln w="28575">
              <a:solidFill>
                <a:srgbClr val="F19D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4406940" y="815332"/>
              <a:ext cx="100584" cy="91440"/>
            </a:xfrm>
            <a:prstGeom prst="ellipse">
              <a:avLst/>
            </a:prstGeom>
            <a:solidFill>
              <a:srgbClr val="F19D19"/>
            </a:solidFill>
            <a:ln>
              <a:solidFill>
                <a:srgbClr val="F19D1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"/>
              <p:cNvSpPr txBox="1">
                <a:spLocks/>
              </p:cNvSpPr>
              <p:nvPr/>
            </p:nvSpPr>
            <p:spPr>
              <a:xfrm>
                <a:off x="6797488" y="990600"/>
                <a:ext cx="4152900" cy="23342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dirty="0"/>
                  <a:t>Example 2:</a:t>
                </a:r>
              </a:p>
              <a:p>
                <a:pPr marL="457200" lvl="1" indent="0" algn="l">
                  <a:buNone/>
                </a:pP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and</a:t>
                </a:r>
                <a:r>
                  <a:rPr lang="en-US" sz="2400" i="1" dirty="0"/>
                  <a:t>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488" y="990600"/>
                <a:ext cx="4152900" cy="2334226"/>
              </a:xfrm>
              <a:prstGeom prst="rect">
                <a:avLst/>
              </a:prstGeom>
              <a:blipFill>
                <a:blip r:embed="rId6"/>
                <a:stretch>
                  <a:fillRect l="-2056" t="-3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6484675"/>
                  </p:ext>
                </p:extLst>
              </p:nvPr>
            </p:nvGraphicFramePr>
            <p:xfrm>
              <a:off x="7064191" y="3995084"/>
              <a:ext cx="3966885" cy="236982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322295">
                      <a:extLst>
                        <a:ext uri="{9D8B030D-6E8A-4147-A177-3AD203B41FA5}">
                          <a16:colId xmlns:a16="http://schemas.microsoft.com/office/drawing/2014/main" val="2362693975"/>
                        </a:ext>
                      </a:extLst>
                    </a:gridCol>
                    <a:gridCol w="1322295">
                      <a:extLst>
                        <a:ext uri="{9D8B030D-6E8A-4147-A177-3AD203B41FA5}">
                          <a16:colId xmlns:a16="http://schemas.microsoft.com/office/drawing/2014/main" val="1636308206"/>
                        </a:ext>
                      </a:extLst>
                    </a:gridCol>
                    <a:gridCol w="1322295">
                      <a:extLst>
                        <a:ext uri="{9D8B030D-6E8A-4147-A177-3AD203B41FA5}">
                          <a16:colId xmlns:a16="http://schemas.microsoft.com/office/drawing/2014/main" val="348058032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424242"/>
                            </a:solidFill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424242"/>
                            </a:solidFill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baseline="30000" dirty="0">
                                    <a:solidFill>
                                      <a:srgbClr val="4242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000" b="1" kern="1200" dirty="0">
                            <a:solidFill>
                              <a:srgbClr val="424242"/>
                            </a:solidFill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48734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01889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478497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38514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329379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75858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6484675"/>
                  </p:ext>
                </p:extLst>
              </p:nvPr>
            </p:nvGraphicFramePr>
            <p:xfrm>
              <a:off x="7064191" y="3995084"/>
              <a:ext cx="3966885" cy="236982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322295">
                      <a:extLst>
                        <a:ext uri="{9D8B030D-6E8A-4147-A177-3AD203B41FA5}">
                          <a16:colId xmlns:a16="http://schemas.microsoft.com/office/drawing/2014/main" val="2362693975"/>
                        </a:ext>
                      </a:extLst>
                    </a:gridCol>
                    <a:gridCol w="1322295">
                      <a:extLst>
                        <a:ext uri="{9D8B030D-6E8A-4147-A177-3AD203B41FA5}">
                          <a16:colId xmlns:a16="http://schemas.microsoft.com/office/drawing/2014/main" val="1636308206"/>
                        </a:ext>
                      </a:extLst>
                    </a:gridCol>
                    <a:gridCol w="1322295">
                      <a:extLst>
                        <a:ext uri="{9D8B030D-6E8A-4147-A177-3AD203B41FA5}">
                          <a16:colId xmlns:a16="http://schemas.microsoft.com/office/drawing/2014/main" val="3480580320"/>
                        </a:ext>
                      </a:extLst>
                    </a:gridCol>
                  </a:tblGrid>
                  <a:tr h="3886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1563" r="-200922" b="-510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99541" t="-1563" r="-100000" b="-510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461" t="-1563" r="-461" b="-5109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487340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01889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4784975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solidFill>
                          <a:srgbClr val="F9BBD0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385147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3293798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>
                            <a:latin typeface="+mn-lt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n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rgbClr val="A0144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758582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2" name="TextBox 31"/>
          <p:cNvSpPr txBox="1"/>
          <p:nvPr/>
        </p:nvSpPr>
        <p:spPr>
          <a:xfrm>
            <a:off x="7539321" y="4428565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39321" y="4806203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9321" y="5183841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9321" y="5561479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9321" y="5939118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5976" y="4428565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65976" y="4806203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5976" y="5183841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5293" y="5561479"/>
            <a:ext cx="4572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5293" y="5939117"/>
            <a:ext cx="4572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13693" y="4428565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13693" y="4806203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13693" y="5183841"/>
            <a:ext cx="26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13692" y="5561479"/>
            <a:ext cx="2743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27139" y="5939117"/>
            <a:ext cx="2743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9101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Notations – Examples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 3: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3" name="Table 4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8155421"/>
                  </p:ext>
                </p:extLst>
              </p:nvPr>
            </p:nvGraphicFramePr>
            <p:xfrm>
              <a:off x="1592537" y="2240282"/>
              <a:ext cx="7657117" cy="3566159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4549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6498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836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382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6152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234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A71160"/>
                            </a:solidFill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baseline="30000" dirty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A71160"/>
                            </a:solidFill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2000" b="1" i="1" dirty="0" smtClean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 baseline="30000" dirty="0">
                                    <a:solidFill>
                                      <a:srgbClr val="A711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A71160"/>
                            </a:solidFill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 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 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&lt;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7"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2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=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3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&gt;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4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=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5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&lt;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6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&lt;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7</a:t>
                          </a:r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 &lt; 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3" name="Table 4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8155421"/>
                  </p:ext>
                </p:extLst>
              </p:nvPr>
            </p:nvGraphicFramePr>
            <p:xfrm>
              <a:off x="1592537" y="2240282"/>
              <a:ext cx="7657117" cy="3566159"/>
            </p:xfrm>
            <a:graphic>
              <a:graphicData uri="http://schemas.openxmlformats.org/drawingml/2006/table">
                <a:tbl>
                  <a:tblPr firstRow="1" firstCol="1" bandRow="1">
                    <a:tableStyleId>{8A107856-5554-42FB-B03E-39F5DBC370BA}</a:tableStyleId>
                  </a:tblPr>
                  <a:tblGrid>
                    <a:gridCol w="4549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6498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836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382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6152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234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33" t="-1429" r="-1578667" b="-7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29" t="-1429" r="-428571" b="-7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2159" t="-1429" r="-322907" b="-74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 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 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1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4503" t="-97260" r="-142715" b="-613699"/>
                          </a:stretch>
                        </a:blipFill>
                      </a:tcPr>
                    </a:tc>
                    <a:tc rowSpan="7"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2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4503" t="-194595" r="-142715" b="-50540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3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4503" t="-294595" r="-142715" b="-40540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4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4503" t="-394595" r="-142715" b="-30540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>
                              <a:effectLst/>
                            </a:rPr>
                            <a:t>5</a:t>
                          </a:r>
                          <a:endParaRPr lang="en-US" sz="2000" b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4503" t="-501370" r="-142715" b="-20958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6</a:t>
                          </a: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+mj-lt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4503" t="-593243" r="-142715" b="-1067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4895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2000" b="0" dirty="0">
                              <a:effectLst/>
                            </a:rPr>
                            <a:t>7</a:t>
                          </a:r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2000" b="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4503" t="-693243" r="-142715" b="-67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975522" y="4134369"/>
                <a:ext cx="2119252" cy="14434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2400" dirty="0"/>
                  <a:t>Here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15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𝑠𝑜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baseline="-25000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522" y="4134369"/>
                <a:ext cx="2119252" cy="1443472"/>
              </a:xfrm>
              <a:prstGeom prst="rect">
                <a:avLst/>
              </a:prstGeom>
              <a:blipFill>
                <a:blip r:embed="rId4"/>
                <a:stretch>
                  <a:fillRect l="-2586" t="-1266" r="-5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/>
          <p:nvPr/>
        </p:nvCxnSpPr>
        <p:spPr>
          <a:xfrm>
            <a:off x="6792695" y="3989035"/>
            <a:ext cx="0" cy="1740932"/>
          </a:xfrm>
          <a:prstGeom prst="straightConnector1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05929" y="267452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86361" y="313172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86361" y="358892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7657" y="398903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47225" y="444623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6793" y="490343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6793" y="536063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4472" y="267452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73295" y="315083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75648" y="358892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62948" y="398903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61771" y="442712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60594" y="488432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34907" y="5341525"/>
            <a:ext cx="574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63895" y="2693635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4963895" y="3162503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4963895" y="3619703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4963895" y="4076903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4963895" y="4501491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4913162" y="4947023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4963895" y="5360635"/>
            <a:ext cx="152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1687295" y="2998435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1687295" y="3455635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1687295" y="3912835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1687295" y="4370035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1687295" y="4827235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1687295" y="5284435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1687295" y="5741635"/>
            <a:ext cx="2286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4811495" y="2661022"/>
            <a:ext cx="1828800" cy="1793411"/>
          </a:xfrm>
          <a:prstGeom prst="roundRect">
            <a:avLst/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1592537" y="4008199"/>
            <a:ext cx="5047758" cy="458895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4744004" y="1428746"/>
                <a:ext cx="4480560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6350">
                <a:solidFill>
                  <a:srgbClr val="A7116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42424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i="1" dirty="0">
                          <a:solidFill>
                            <a:srgbClr val="424242"/>
                          </a:solidFill>
                        </a:rPr>
                        <m:t>O</m:t>
                      </m:r>
                      <m:r>
                        <a:rPr lang="el-GR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dirty="0">
                          <a:solidFill>
                            <a:srgbClr val="424242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i="1" dirty="0">
                  <a:solidFill>
                    <a:srgbClr val="424242"/>
                  </a:solidFill>
                </a:endParaRP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004" y="1428746"/>
                <a:ext cx="4480560" cy="461665"/>
              </a:xfrm>
              <a:prstGeom prst="rect">
                <a:avLst/>
              </a:prstGeom>
              <a:blipFill>
                <a:blip r:embed="rId5"/>
                <a:stretch>
                  <a:fillRect l="-1087" b="-16883"/>
                </a:stretch>
              </a:blipFill>
              <a:ln w="6350">
                <a:solidFill>
                  <a:srgbClr val="A7116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67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4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76" grpId="0" animBg="1"/>
      <p:bldP spid="80" grpId="0" animBg="1"/>
      <p:bldP spid="8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6096000" y="0"/>
                <a:ext cx="6096000" cy="6588000"/>
              </a:xfrm>
              <a:prstGeom prst="rect">
                <a:avLst/>
              </a:prstGeom>
              <a:gradFill flip="none" rotWithShape="1">
                <a:gsLst>
                  <a:gs pos="55000">
                    <a:srgbClr val="B21266"/>
                  </a:gs>
                  <a:gs pos="30000">
                    <a:srgbClr val="A3115D">
                      <a:lumMod val="100000"/>
                    </a:srgbClr>
                  </a:gs>
                  <a:gs pos="100000">
                    <a:srgbClr val="ED6D9B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bg1"/>
                    </a:solidFill>
                  </a:rPr>
                  <a:t>Example 4: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𝐟</m:t>
                    </m:r>
                    <m:r>
                      <a:rPr lang="en-US" sz="2400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sz="2400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𝟑𝟎𝐧</m:t>
                    </m:r>
                    <m:r>
                      <a:rPr lang="en-US" sz="2400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2400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is in the order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,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𝐠</m:t>
                    </m:r>
                    <m:r>
                      <a:rPr lang="en-US" sz="2400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sz="2400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4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4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is order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,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 algn="just"/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bg1"/>
                    </a:solidFill>
                  </a:rPr>
                  <a:t>In general, any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function is faster-growing than any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function.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0"/>
                <a:ext cx="6096000" cy="6588000"/>
              </a:xfrm>
              <a:prstGeom prst="rect">
                <a:avLst/>
              </a:prstGeom>
              <a:blipFill>
                <a:blip r:embed="rId2"/>
                <a:stretch>
                  <a:fillRect l="-1198" t="-554" r="-1397"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0" y="41036"/>
            <a:ext cx="6096000" cy="748923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Asymptotic Notations – Examples </a:t>
            </a:r>
            <a:endParaRPr lang="en-US" sz="3200" b="1" dirty="0">
              <a:solidFill>
                <a:srgbClr val="424242"/>
              </a:solidFill>
            </a:endParaRPr>
          </a:p>
        </p:txBody>
      </p:sp>
      <p:sp>
        <p:nvSpPr>
          <p:cNvPr id="17" name="Line 4"/>
          <p:cNvSpPr>
            <a:spLocks noChangeShapeType="1"/>
          </p:cNvSpPr>
          <p:nvPr/>
        </p:nvSpPr>
        <p:spPr bwMode="auto">
          <a:xfrm flipV="1">
            <a:off x="1801936" y="1702525"/>
            <a:ext cx="0" cy="3048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5"/>
          <p:cNvSpPr>
            <a:spLocks noChangeShapeType="1"/>
          </p:cNvSpPr>
          <p:nvPr/>
        </p:nvSpPr>
        <p:spPr bwMode="auto">
          <a:xfrm>
            <a:off x="1801936" y="4750525"/>
            <a:ext cx="297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 flipV="1">
            <a:off x="1801936" y="2058913"/>
            <a:ext cx="2586891" cy="2234412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Freeform 7"/>
          <p:cNvSpPr>
            <a:spLocks/>
          </p:cNvSpPr>
          <p:nvPr/>
        </p:nvSpPr>
        <p:spPr bwMode="auto">
          <a:xfrm>
            <a:off x="1801937" y="1854925"/>
            <a:ext cx="1371598" cy="2729238"/>
          </a:xfrm>
          <a:custGeom>
            <a:avLst/>
            <a:gdLst>
              <a:gd name="T0" fmla="*/ 0 w 1104"/>
              <a:gd name="T1" fmla="*/ 3048000 h 1920"/>
              <a:gd name="T2" fmla="*/ 1066800 w 1104"/>
              <a:gd name="T3" fmla="*/ 2286000 h 1920"/>
              <a:gd name="T4" fmla="*/ 1752600 w 1104"/>
              <a:gd name="T5" fmla="*/ 0 h 19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1920">
                <a:moveTo>
                  <a:pt x="0" y="1920"/>
                </a:moveTo>
                <a:cubicBezTo>
                  <a:pt x="244" y="1840"/>
                  <a:pt x="488" y="1760"/>
                  <a:pt x="672" y="1440"/>
                </a:cubicBezTo>
                <a:cubicBezTo>
                  <a:pt x="856" y="1120"/>
                  <a:pt x="980" y="560"/>
                  <a:pt x="1104" y="0"/>
                </a:cubicBezTo>
              </a:path>
            </a:pathLst>
          </a:custGeom>
          <a:noFill/>
          <a:ln w="3810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4007443" y="2316059"/>
            <a:ext cx="1354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ko-KR" sz="2000" i="1" dirty="0">
                <a:solidFill>
                  <a:srgbClr val="0066FF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f</a:t>
            </a:r>
            <a:r>
              <a:rPr lang="en-US" altLang="ko-KR" sz="2000" dirty="0">
                <a:solidFill>
                  <a:srgbClr val="0066FF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(</a:t>
            </a:r>
            <a:r>
              <a:rPr lang="en-US" altLang="ko-KR" sz="2000" i="1" dirty="0">
                <a:solidFill>
                  <a:srgbClr val="0066FF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2000" dirty="0">
                <a:solidFill>
                  <a:srgbClr val="0066FF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)=30</a:t>
            </a:r>
            <a:r>
              <a:rPr lang="en-US" altLang="ko-KR" sz="2000" i="1" dirty="0">
                <a:solidFill>
                  <a:srgbClr val="0066FF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2000" dirty="0">
                <a:solidFill>
                  <a:srgbClr val="0066FF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+8</a:t>
            </a:r>
            <a:endParaRPr lang="en-US" altLang="ko-KR" sz="2000" i="1" dirty="0">
              <a:solidFill>
                <a:srgbClr val="0066FF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2560027" y="4731415"/>
            <a:ext cx="17604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</a:rPr>
              <a:t>Increasing </a:t>
            </a:r>
            <a:r>
              <a:rPr lang="en-US" altLang="ko-KR" sz="2000" i="1" dirty="0">
                <a:latin typeface="Times New Roman" panose="02020603050405020304" pitchFamily="18" charset="0"/>
                <a:ea typeface="굴림" panose="020B0600000101010101" pitchFamily="34" charset="-127"/>
              </a:rPr>
              <a:t>n </a:t>
            </a:r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</a:t>
            </a:r>
            <a:endParaRPr lang="en-US" altLang="ko-KR" sz="2000" dirty="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1854692" y="1959384"/>
            <a:ext cx="12843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ko-KR" sz="2000" i="1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g</a:t>
            </a:r>
            <a:r>
              <a:rPr lang="en-US" altLang="ko-KR" sz="2000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(</a:t>
            </a:r>
            <a:r>
              <a:rPr lang="en-US" altLang="ko-KR" sz="2000" i="1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)=</a:t>
            </a:r>
            <a:r>
              <a:rPr lang="en-US" altLang="ko-KR" sz="2000" i="1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2000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2</a:t>
            </a:r>
            <a:r>
              <a:rPr lang="en-US" altLang="ko-KR" sz="2000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+1</a:t>
            </a:r>
            <a:endParaRPr lang="en-US" altLang="ko-KR" sz="2000" i="1" dirty="0">
              <a:solidFill>
                <a:srgbClr val="C00000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 rot="16200000">
            <a:off x="433215" y="3085208"/>
            <a:ext cx="22802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</a:rPr>
              <a:t>Value of function </a:t>
            </a:r>
            <a:r>
              <a:rPr lang="en-US" altLang="ko-KR" sz="2000" dirty="0"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</a:t>
            </a:r>
            <a:endParaRPr lang="en-US" altLang="ko-KR" sz="2000" dirty="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ounded Rectangular Callout 26"/>
              <p:cNvSpPr/>
              <p:nvPr/>
            </p:nvSpPr>
            <p:spPr>
              <a:xfrm>
                <a:off x="3274746" y="4310744"/>
                <a:ext cx="1689141" cy="365760"/>
              </a:xfrm>
              <a:prstGeom prst="wedgeRoundRectCallout">
                <a:avLst>
                  <a:gd name="adj1" fmla="val -72548"/>
                  <a:gd name="adj2" fmla="val 60323"/>
                  <a:gd name="adj3" fmla="val 16667"/>
                </a:avLst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rgbClr val="C00000"/>
                    </a:solidFill>
                  </a:rPr>
                  <a:t>Base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Rounded Rectangular Callou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746" y="4310744"/>
                <a:ext cx="1689141" cy="365760"/>
              </a:xfrm>
              <a:prstGeom prst="wedgeRoundRectCallout">
                <a:avLst>
                  <a:gd name="adj1" fmla="val -72548"/>
                  <a:gd name="adj2" fmla="val 60323"/>
                  <a:gd name="adj3" fmla="val 16667"/>
                </a:avLst>
              </a:prstGeom>
              <a:blipFill>
                <a:blip r:embed="rId3"/>
                <a:stretch>
                  <a:fillRect t="-8451" b="-1690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/>
          <p:cNvCxnSpPr/>
          <p:nvPr/>
        </p:nvCxnSpPr>
        <p:spPr>
          <a:xfrm>
            <a:off x="2855856" y="3419708"/>
            <a:ext cx="12879" cy="1311707"/>
          </a:xfrm>
          <a:prstGeom prst="line">
            <a:avLst/>
          </a:prstGeom>
          <a:ln w="28575">
            <a:solidFill>
              <a:srgbClr val="42424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746274" y="1593669"/>
                <a:ext cx="2521131" cy="535577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2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400" b="1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400" b="1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274" y="1593669"/>
                <a:ext cx="2521131" cy="535577"/>
              </a:xfrm>
              <a:prstGeom prst="rect">
                <a:avLst/>
              </a:prstGeom>
              <a:blipFill>
                <a:blip r:embed="rId4"/>
                <a:stretch>
                  <a:fillRect l="-2169" b="-8889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54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/>
      <p:bldP spid="24" grpId="0"/>
      <p:bldP spid="25" grpId="0"/>
      <p:bldP spid="26" grpId="0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Orders of Magnitude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3439503"/>
                  </p:ext>
                </p:extLst>
              </p:nvPr>
            </p:nvGraphicFramePr>
            <p:xfrm>
              <a:off x="877389" y="1714500"/>
              <a:ext cx="10437222" cy="3429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9907">
                      <a:extLst>
                        <a:ext uri="{9D8B030D-6E8A-4147-A177-3AD203B41FA5}">
                          <a16:colId xmlns:a16="http://schemas.microsoft.com/office/drawing/2014/main" val="4290887919"/>
                        </a:ext>
                      </a:extLst>
                    </a:gridCol>
                    <a:gridCol w="1099892">
                      <a:extLst>
                        <a:ext uri="{9D8B030D-6E8A-4147-A177-3AD203B41FA5}">
                          <a16:colId xmlns:a16="http://schemas.microsoft.com/office/drawing/2014/main" val="1575911806"/>
                        </a:ext>
                      </a:extLst>
                    </a:gridCol>
                    <a:gridCol w="1376226">
                      <a:extLst>
                        <a:ext uri="{9D8B030D-6E8A-4147-A177-3AD203B41FA5}">
                          <a16:colId xmlns:a16="http://schemas.microsoft.com/office/drawing/2014/main" val="2769260205"/>
                        </a:ext>
                      </a:extLst>
                    </a:gridCol>
                    <a:gridCol w="1547927">
                      <a:extLst>
                        <a:ext uri="{9D8B030D-6E8A-4147-A177-3AD203B41FA5}">
                          <a16:colId xmlns:a16="http://schemas.microsoft.com/office/drawing/2014/main" val="2024315581"/>
                        </a:ext>
                      </a:extLst>
                    </a:gridCol>
                    <a:gridCol w="1912147">
                      <a:extLst>
                        <a:ext uri="{9D8B030D-6E8A-4147-A177-3AD203B41FA5}">
                          <a16:colId xmlns:a16="http://schemas.microsoft.com/office/drawing/2014/main" val="1293002562"/>
                        </a:ext>
                      </a:extLst>
                    </a:gridCol>
                    <a:gridCol w="1886201">
                      <a:extLst>
                        <a:ext uri="{9D8B030D-6E8A-4147-A177-3AD203B41FA5}">
                          <a16:colId xmlns:a16="http://schemas.microsoft.com/office/drawing/2014/main" val="959502218"/>
                        </a:ext>
                      </a:extLst>
                    </a:gridCol>
                    <a:gridCol w="1664922">
                      <a:extLst>
                        <a:ext uri="{9D8B030D-6E8A-4147-A177-3AD203B41FA5}">
                          <a16:colId xmlns:a16="http://schemas.microsoft.com/office/drawing/2014/main" val="3111579742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1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2400" b="1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𝒍𝒐𝒈</m:t>
                                    </m:r>
                                  </m:fName>
                                  <m:e>
                                    <m:r>
                                      <a:rPr lang="en-US" sz="2400" b="1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2400" b="1" i="1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𝒏𝒍𝒐𝒈</m:t>
                                </m:r>
                                <m:r>
                                  <a:rPr lang="en-US" sz="2400" b="1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1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400" b="1" i="1" baseline="30000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400" b="1" i="1" baseline="30000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400" b="1" baseline="30000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400" b="1" i="1" baseline="30000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sz="2400" b="1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137704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64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07068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64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256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4096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65536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2.09 x 10</a:t>
                          </a:r>
                          <a:r>
                            <a:rPr lang="en-US" sz="2400" b="0" i="0" baseline="3000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6189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64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384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4096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262144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1.84 × 10</a:t>
                          </a:r>
                          <a:r>
                            <a:rPr lang="en-US" sz="2400" b="0" i="0" u="none" strike="noStrike" kern="1200" baseline="3000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baseline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1.26 x 10</a:t>
                          </a:r>
                          <a:r>
                            <a:rPr lang="en-US" sz="2400" b="0" i="0" baseline="3000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40873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256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2048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65536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16777216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1.15 × 10</a:t>
                          </a:r>
                          <a:r>
                            <a:rPr lang="en-US" sz="2400" b="0" i="0" u="none" strike="noStrike" kern="1200" baseline="3000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77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baseline="0" smtClean="0">
                                    <a:solidFill>
                                      <a:srgbClr val="42424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400" b="0" i="0" baseline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83190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1024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10240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1048576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1.07 × 10</a:t>
                          </a:r>
                          <a:r>
                            <a:rPr lang="en-US" sz="2400" b="0" i="0" u="none" strike="noStrike" kern="1200" baseline="3000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1.79 × 10</a:t>
                          </a:r>
                          <a:r>
                            <a:rPr lang="en-US" sz="2400" b="0" i="0" u="none" strike="noStrike" kern="1200" baseline="3000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308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baseline="0" smtClean="0">
                                    <a:solidFill>
                                      <a:srgbClr val="42424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400" b="0" i="0" baseline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0578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4096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49152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16777216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6.87 × 10</a:t>
                          </a:r>
                          <a:r>
                            <a:rPr lang="en-US" sz="2400" b="0" i="0" u="none" strike="noStrike" kern="1200" baseline="3000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  <a:r>
                            <a:rPr lang="en-US" sz="2400" b="0" i="0" u="none" strike="noStrike" kern="1200" baseline="30000" dirty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1233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baseline="0" smtClean="0">
                                    <a:solidFill>
                                      <a:srgbClr val="42424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400" b="0" i="0" baseline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91844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3439503"/>
                  </p:ext>
                </p:extLst>
              </p:nvPr>
            </p:nvGraphicFramePr>
            <p:xfrm>
              <a:off x="877389" y="1714500"/>
              <a:ext cx="10437222" cy="3429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9907">
                      <a:extLst>
                        <a:ext uri="{9D8B030D-6E8A-4147-A177-3AD203B41FA5}">
                          <a16:colId xmlns:a16="http://schemas.microsoft.com/office/drawing/2014/main" val="4290887919"/>
                        </a:ext>
                      </a:extLst>
                    </a:gridCol>
                    <a:gridCol w="1099892">
                      <a:extLst>
                        <a:ext uri="{9D8B030D-6E8A-4147-A177-3AD203B41FA5}">
                          <a16:colId xmlns:a16="http://schemas.microsoft.com/office/drawing/2014/main" val="1575911806"/>
                        </a:ext>
                      </a:extLst>
                    </a:gridCol>
                    <a:gridCol w="1376226">
                      <a:extLst>
                        <a:ext uri="{9D8B030D-6E8A-4147-A177-3AD203B41FA5}">
                          <a16:colId xmlns:a16="http://schemas.microsoft.com/office/drawing/2014/main" val="2769260205"/>
                        </a:ext>
                      </a:extLst>
                    </a:gridCol>
                    <a:gridCol w="1547927">
                      <a:extLst>
                        <a:ext uri="{9D8B030D-6E8A-4147-A177-3AD203B41FA5}">
                          <a16:colId xmlns:a16="http://schemas.microsoft.com/office/drawing/2014/main" val="2024315581"/>
                        </a:ext>
                      </a:extLst>
                    </a:gridCol>
                    <a:gridCol w="1912147">
                      <a:extLst>
                        <a:ext uri="{9D8B030D-6E8A-4147-A177-3AD203B41FA5}">
                          <a16:colId xmlns:a16="http://schemas.microsoft.com/office/drawing/2014/main" val="1293002562"/>
                        </a:ext>
                      </a:extLst>
                    </a:gridCol>
                    <a:gridCol w="1886201">
                      <a:extLst>
                        <a:ext uri="{9D8B030D-6E8A-4147-A177-3AD203B41FA5}">
                          <a16:colId xmlns:a16="http://schemas.microsoft.com/office/drawing/2014/main" val="959502218"/>
                        </a:ext>
                      </a:extLst>
                    </a:gridCol>
                    <a:gridCol w="1664922">
                      <a:extLst>
                        <a:ext uri="{9D8B030D-6E8A-4147-A177-3AD203B41FA5}">
                          <a16:colId xmlns:a16="http://schemas.microsoft.com/office/drawing/2014/main" val="3111579742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41" t="-885" r="-1000000" b="-419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740" t="-885" r="-761878" b="-419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9558" t="-885" r="-510177" b="-419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2047" t="-885" r="-353937" b="-419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0510" t="-885" r="-186306" b="-419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5161" t="-885" r="-88710" b="-419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8205" t="-885" r="-733" b="-419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3770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4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8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64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24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070683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4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64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256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4096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65536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2.09 x 10</a:t>
                          </a:r>
                          <a:r>
                            <a:rPr lang="en-US" sz="2400" b="0" i="0" baseline="3000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13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618943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64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384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4096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262144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1.84 × 10</a:t>
                          </a:r>
                          <a:r>
                            <a:rPr lang="en-US" sz="2400" b="0" i="0" u="none" strike="noStrike" kern="1200" baseline="3000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19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baseline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1.26 x 10</a:t>
                          </a:r>
                          <a:r>
                            <a:rPr lang="en-US" sz="2400" b="0" i="0" baseline="3000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29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40873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256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8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2048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65536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16777216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1.15 × 10</a:t>
                          </a:r>
                          <a:r>
                            <a:rPr lang="en-US" sz="2400" b="0" i="0" u="none" strike="noStrike" kern="1200" baseline="3000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77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8205" t="-452000" r="-733" b="-2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31908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1024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10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10240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1048576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1.07 × 10</a:t>
                          </a:r>
                          <a:r>
                            <a:rPr lang="en-US" sz="2400" b="0" i="0" u="none" strike="noStrike" kern="1200" baseline="3000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1.79 × 10</a:t>
                          </a:r>
                          <a:r>
                            <a:rPr lang="en-US" sz="2400" b="0" i="0" u="none" strike="noStrike" kern="1200" baseline="3000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308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8205" t="-552000" r="-733" b="-1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05789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4096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12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dirty="0" smtClean="0">
                              <a:solidFill>
                                <a:srgbClr val="424242"/>
                              </a:solidFill>
                              <a:latin typeface="+mn-lt"/>
                            </a:rPr>
                            <a:t>49152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16777216</a:t>
                          </a:r>
                          <a:endParaRPr lang="en-US" sz="2400" b="0" i="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6.87 × 10</a:t>
                          </a:r>
                          <a:r>
                            <a:rPr lang="en-US" sz="2400" b="0" i="0" u="none" strike="noStrike" kern="1200" baseline="3000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i="0" u="none" strike="noStrike" kern="1200" baseline="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  <a:r>
                            <a:rPr lang="en-US" sz="2400" b="0" i="0" u="none" strike="noStrike" kern="1200" baseline="30000" dirty="0" smtClean="0">
                              <a:solidFill>
                                <a:srgbClr val="42424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1233</a:t>
                          </a:r>
                          <a:endParaRPr lang="en-US" sz="2400" b="0" i="0" baseline="30000" dirty="0">
                            <a:solidFill>
                              <a:srgbClr val="424242"/>
                            </a:solidFill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28205" t="-652000" r="-733" b="-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18449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ounded Rectangle 5"/>
          <p:cNvSpPr/>
          <p:nvPr/>
        </p:nvSpPr>
        <p:spPr>
          <a:xfrm>
            <a:off x="955767" y="2898947"/>
            <a:ext cx="10278289" cy="381000"/>
          </a:xfrm>
          <a:prstGeom prst="roundRect">
            <a:avLst/>
          </a:prstGeom>
          <a:solidFill>
            <a:schemeClr val="accent2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4A75-0A7D-438B-AD4D-C7DE514C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0A756-4C23-4C9E-B274-3EB8EFBE1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O(c) &lt; O(log </a:t>
            </a:r>
            <a:r>
              <a:rPr lang="en-IN" dirty="0" err="1"/>
              <a:t>logn</a:t>
            </a:r>
            <a:r>
              <a:rPr lang="en-IN" dirty="0"/>
              <a:t>) &lt; O(</a:t>
            </a:r>
            <a:r>
              <a:rPr lang="en-IN" dirty="0" err="1"/>
              <a:t>logn</a:t>
            </a:r>
            <a:r>
              <a:rPr lang="en-IN" dirty="0"/>
              <a:t>) &lt; O(n</a:t>
            </a:r>
            <a:r>
              <a:rPr lang="en-IN" baseline="30000" dirty="0"/>
              <a:t>1/2</a:t>
            </a:r>
            <a:r>
              <a:rPr lang="en-IN" dirty="0"/>
              <a:t>) &lt; O(n) &lt; O(</a:t>
            </a:r>
            <a:r>
              <a:rPr lang="en-IN" dirty="0" err="1"/>
              <a:t>nlogn</a:t>
            </a:r>
            <a:r>
              <a:rPr lang="en-IN" dirty="0"/>
              <a:t>) &lt; O(n</a:t>
            </a:r>
            <a:r>
              <a:rPr lang="en-IN" baseline="30000" dirty="0"/>
              <a:t>2</a:t>
            </a:r>
            <a:r>
              <a:rPr lang="en-IN" dirty="0"/>
              <a:t>) &lt; O(n</a:t>
            </a:r>
            <a:r>
              <a:rPr lang="en-IN" baseline="30000" dirty="0"/>
              <a:t>3</a:t>
            </a:r>
            <a:r>
              <a:rPr lang="en-IN" dirty="0"/>
              <a:t>) &lt; O(</a:t>
            </a:r>
            <a:r>
              <a:rPr lang="en-IN" dirty="0" err="1"/>
              <a:t>n</a:t>
            </a:r>
            <a:r>
              <a:rPr lang="en-IN" baseline="30000" dirty="0" err="1"/>
              <a:t>k</a:t>
            </a:r>
            <a:r>
              <a:rPr lang="en-IN" dirty="0"/>
              <a:t>) &lt; O(2</a:t>
            </a:r>
            <a:r>
              <a:rPr lang="en-IN" baseline="30000" dirty="0"/>
              <a:t>n</a:t>
            </a:r>
            <a:r>
              <a:rPr lang="en-IN" dirty="0"/>
              <a:t>) &lt; O(</a:t>
            </a:r>
            <a:r>
              <a:rPr lang="en-IN" dirty="0" err="1"/>
              <a:t>n</a:t>
            </a:r>
            <a:r>
              <a:rPr lang="en-IN" baseline="30000" dirty="0" err="1"/>
              <a:t>n</a:t>
            </a:r>
            <a:r>
              <a:rPr lang="en-IN" dirty="0"/>
              <a:t>) &lt; O(2</a:t>
            </a:r>
            <a:r>
              <a:rPr lang="en-IN" baseline="30000" dirty="0"/>
              <a:t>2^n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3392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of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Arrange the given notations in the increasing order of their values.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For each of the following pairs of functions, either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Ω(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=</m:t>
                    </m:r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. Determine which relationship is correct.</a:t>
                </a:r>
              </a:p>
              <a:p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2999085"/>
                  </p:ext>
                </p:extLst>
              </p:nvPr>
            </p:nvGraphicFramePr>
            <p:xfrm>
              <a:off x="434922" y="1436913"/>
              <a:ext cx="11204085" cy="4612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8662">
                      <a:extLst>
                        <a:ext uri="{9D8B030D-6E8A-4147-A177-3AD203B41FA5}">
                          <a16:colId xmlns:a16="http://schemas.microsoft.com/office/drawing/2014/main" val="3352586213"/>
                        </a:ext>
                      </a:extLst>
                    </a:gridCol>
                    <a:gridCol w="678662">
                      <a:extLst>
                        <a:ext uri="{9D8B030D-6E8A-4147-A177-3AD203B41FA5}">
                          <a16:colId xmlns:a16="http://schemas.microsoft.com/office/drawing/2014/main" val="2709402537"/>
                        </a:ext>
                      </a:extLst>
                    </a:gridCol>
                    <a:gridCol w="1007575">
                      <a:extLst>
                        <a:ext uri="{9D8B030D-6E8A-4147-A177-3AD203B41FA5}">
                          <a16:colId xmlns:a16="http://schemas.microsoft.com/office/drawing/2014/main" val="3252694521"/>
                        </a:ext>
                      </a:extLst>
                    </a:gridCol>
                    <a:gridCol w="641185">
                      <a:extLst>
                        <a:ext uri="{9D8B030D-6E8A-4147-A177-3AD203B41FA5}">
                          <a16:colId xmlns:a16="http://schemas.microsoft.com/office/drawing/2014/main" val="3776547894"/>
                        </a:ext>
                      </a:extLst>
                    </a:gridCol>
                    <a:gridCol w="824379">
                      <a:extLst>
                        <a:ext uri="{9D8B030D-6E8A-4147-A177-3AD203B41FA5}">
                          <a16:colId xmlns:a16="http://schemas.microsoft.com/office/drawing/2014/main" val="3777864780"/>
                        </a:ext>
                      </a:extLst>
                    </a:gridCol>
                    <a:gridCol w="1233792">
                      <a:extLst>
                        <a:ext uri="{9D8B030D-6E8A-4147-A177-3AD203B41FA5}">
                          <a16:colId xmlns:a16="http://schemas.microsoft.com/office/drawing/2014/main" val="1140023161"/>
                        </a:ext>
                      </a:extLst>
                    </a:gridCol>
                    <a:gridCol w="506567">
                      <a:extLst>
                        <a:ext uri="{9D8B030D-6E8A-4147-A177-3AD203B41FA5}">
                          <a16:colId xmlns:a16="http://schemas.microsoft.com/office/drawing/2014/main" val="1292681857"/>
                        </a:ext>
                      </a:extLst>
                    </a:gridCol>
                    <a:gridCol w="1570020">
                      <a:extLst>
                        <a:ext uri="{9D8B030D-6E8A-4147-A177-3AD203B41FA5}">
                          <a16:colId xmlns:a16="http://schemas.microsoft.com/office/drawing/2014/main" val="3091747945"/>
                        </a:ext>
                      </a:extLst>
                    </a:gridCol>
                    <a:gridCol w="554769">
                      <a:extLst>
                        <a:ext uri="{9D8B030D-6E8A-4147-A177-3AD203B41FA5}">
                          <a16:colId xmlns:a16="http://schemas.microsoft.com/office/drawing/2014/main" val="2450183584"/>
                        </a:ext>
                      </a:extLst>
                    </a:gridCol>
                    <a:gridCol w="1081134">
                      <a:extLst>
                        <a:ext uri="{9D8B030D-6E8A-4147-A177-3AD203B41FA5}">
                          <a16:colId xmlns:a16="http://schemas.microsoft.com/office/drawing/2014/main" val="2584789204"/>
                        </a:ext>
                      </a:extLst>
                    </a:gridCol>
                    <a:gridCol w="732783">
                      <a:extLst>
                        <a:ext uri="{9D8B030D-6E8A-4147-A177-3AD203B41FA5}">
                          <a16:colId xmlns:a16="http://schemas.microsoft.com/office/drawing/2014/main" val="4265400761"/>
                        </a:ext>
                      </a:extLst>
                    </a:gridCol>
                    <a:gridCol w="1099173">
                      <a:extLst>
                        <a:ext uri="{9D8B030D-6E8A-4147-A177-3AD203B41FA5}">
                          <a16:colId xmlns:a16="http://schemas.microsoft.com/office/drawing/2014/main" val="3390434344"/>
                        </a:ext>
                      </a:extLst>
                    </a:gridCol>
                    <a:gridCol w="595384">
                      <a:extLst>
                        <a:ext uri="{9D8B030D-6E8A-4147-A177-3AD203B41FA5}">
                          <a16:colId xmlns:a16="http://schemas.microsoft.com/office/drawing/2014/main" val="33307909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1.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𝑛𝑙𝑜𝑔𝑛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𝑙𝑜𝑔𝑛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z="2400" b="0" i="1" baseline="30000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baseline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baseline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𝑙𝑜𝑔𝑛</m:t>
                                </m:r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2 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𝑙𝑜𝑔𝑙𝑜𝑔𝑛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dirty="0" err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𝑙𝑜𝑔𝑛</m:t>
                                </m:r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24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847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2999085"/>
                  </p:ext>
                </p:extLst>
              </p:nvPr>
            </p:nvGraphicFramePr>
            <p:xfrm>
              <a:off x="434922" y="1436913"/>
              <a:ext cx="11204085" cy="4612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8662">
                      <a:extLst>
                        <a:ext uri="{9D8B030D-6E8A-4147-A177-3AD203B41FA5}">
                          <a16:colId xmlns:a16="http://schemas.microsoft.com/office/drawing/2014/main" val="3352586213"/>
                        </a:ext>
                      </a:extLst>
                    </a:gridCol>
                    <a:gridCol w="678662">
                      <a:extLst>
                        <a:ext uri="{9D8B030D-6E8A-4147-A177-3AD203B41FA5}">
                          <a16:colId xmlns:a16="http://schemas.microsoft.com/office/drawing/2014/main" val="2709402537"/>
                        </a:ext>
                      </a:extLst>
                    </a:gridCol>
                    <a:gridCol w="1007575">
                      <a:extLst>
                        <a:ext uri="{9D8B030D-6E8A-4147-A177-3AD203B41FA5}">
                          <a16:colId xmlns:a16="http://schemas.microsoft.com/office/drawing/2014/main" val="3252694521"/>
                        </a:ext>
                      </a:extLst>
                    </a:gridCol>
                    <a:gridCol w="641185">
                      <a:extLst>
                        <a:ext uri="{9D8B030D-6E8A-4147-A177-3AD203B41FA5}">
                          <a16:colId xmlns:a16="http://schemas.microsoft.com/office/drawing/2014/main" val="3776547894"/>
                        </a:ext>
                      </a:extLst>
                    </a:gridCol>
                    <a:gridCol w="824379">
                      <a:extLst>
                        <a:ext uri="{9D8B030D-6E8A-4147-A177-3AD203B41FA5}">
                          <a16:colId xmlns:a16="http://schemas.microsoft.com/office/drawing/2014/main" val="3777864780"/>
                        </a:ext>
                      </a:extLst>
                    </a:gridCol>
                    <a:gridCol w="1233792">
                      <a:extLst>
                        <a:ext uri="{9D8B030D-6E8A-4147-A177-3AD203B41FA5}">
                          <a16:colId xmlns:a16="http://schemas.microsoft.com/office/drawing/2014/main" val="1140023161"/>
                        </a:ext>
                      </a:extLst>
                    </a:gridCol>
                    <a:gridCol w="506567">
                      <a:extLst>
                        <a:ext uri="{9D8B030D-6E8A-4147-A177-3AD203B41FA5}">
                          <a16:colId xmlns:a16="http://schemas.microsoft.com/office/drawing/2014/main" val="1292681857"/>
                        </a:ext>
                      </a:extLst>
                    </a:gridCol>
                    <a:gridCol w="1570020">
                      <a:extLst>
                        <a:ext uri="{9D8B030D-6E8A-4147-A177-3AD203B41FA5}">
                          <a16:colId xmlns:a16="http://schemas.microsoft.com/office/drawing/2014/main" val="3091747945"/>
                        </a:ext>
                      </a:extLst>
                    </a:gridCol>
                    <a:gridCol w="554769">
                      <a:extLst>
                        <a:ext uri="{9D8B030D-6E8A-4147-A177-3AD203B41FA5}">
                          <a16:colId xmlns:a16="http://schemas.microsoft.com/office/drawing/2014/main" val="2450183584"/>
                        </a:ext>
                      </a:extLst>
                    </a:gridCol>
                    <a:gridCol w="1081134">
                      <a:extLst>
                        <a:ext uri="{9D8B030D-6E8A-4147-A177-3AD203B41FA5}">
                          <a16:colId xmlns:a16="http://schemas.microsoft.com/office/drawing/2014/main" val="2584789204"/>
                        </a:ext>
                      </a:extLst>
                    </a:gridCol>
                    <a:gridCol w="732783">
                      <a:extLst>
                        <a:ext uri="{9D8B030D-6E8A-4147-A177-3AD203B41FA5}">
                          <a16:colId xmlns:a16="http://schemas.microsoft.com/office/drawing/2014/main" val="4265400761"/>
                        </a:ext>
                      </a:extLst>
                    </a:gridCol>
                    <a:gridCol w="1099173">
                      <a:extLst>
                        <a:ext uri="{9D8B030D-6E8A-4147-A177-3AD203B41FA5}">
                          <a16:colId xmlns:a16="http://schemas.microsoft.com/office/drawing/2014/main" val="3390434344"/>
                        </a:ext>
                      </a:extLst>
                    </a:gridCol>
                    <a:gridCol w="595384">
                      <a:extLst>
                        <a:ext uri="{9D8B030D-6E8A-4147-A177-3AD203B41FA5}">
                          <a16:colId xmlns:a16="http://schemas.microsoft.com/office/drawing/2014/main" val="3330790999"/>
                        </a:ext>
                      </a:extLst>
                    </a:gridCol>
                  </a:tblGrid>
                  <a:tr h="46126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</a:rPr>
                            <a:t>1.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7792" r="-1444643" b="-29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35758" t="-7792" r="-880606" b="-29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70476" t="-7792" r="-1283810" b="-29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63235" t="-7792" r="-891176" b="-29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1881" t="-7792" r="-500000" b="-29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410" t="-7792" r="-1116867" b="-29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54651" t="-7792" r="-259302" b="-29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89011" t="-7792" r="-635165" b="-29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10112" t="-7792" r="-224719" b="-29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01667" t="-7792" r="-233333" b="-29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867778" t="-7792" r="-55556" b="-29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77551" t="-7792" r="-2041" b="-29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8474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4211045"/>
                  </p:ext>
                </p:extLst>
              </p:nvPr>
            </p:nvGraphicFramePr>
            <p:xfrm>
              <a:off x="434922" y="1986897"/>
              <a:ext cx="11155680" cy="47237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1581">
                      <a:extLst>
                        <a:ext uri="{9D8B030D-6E8A-4147-A177-3AD203B41FA5}">
                          <a16:colId xmlns:a16="http://schemas.microsoft.com/office/drawing/2014/main" val="1884753345"/>
                        </a:ext>
                      </a:extLst>
                    </a:gridCol>
                    <a:gridCol w="995108">
                      <a:extLst>
                        <a:ext uri="{9D8B030D-6E8A-4147-A177-3AD203B41FA5}">
                          <a16:colId xmlns:a16="http://schemas.microsoft.com/office/drawing/2014/main" val="2709402537"/>
                        </a:ext>
                      </a:extLst>
                    </a:gridCol>
                    <a:gridCol w="2474676">
                      <a:extLst>
                        <a:ext uri="{9D8B030D-6E8A-4147-A177-3AD203B41FA5}">
                          <a16:colId xmlns:a16="http://schemas.microsoft.com/office/drawing/2014/main" val="3252694521"/>
                        </a:ext>
                      </a:extLst>
                    </a:gridCol>
                    <a:gridCol w="733237">
                      <a:extLst>
                        <a:ext uri="{9D8B030D-6E8A-4147-A177-3AD203B41FA5}">
                          <a16:colId xmlns:a16="http://schemas.microsoft.com/office/drawing/2014/main" val="3776547894"/>
                        </a:ext>
                      </a:extLst>
                    </a:gridCol>
                    <a:gridCol w="1123539">
                      <a:extLst>
                        <a:ext uri="{9D8B030D-6E8A-4147-A177-3AD203B41FA5}">
                          <a16:colId xmlns:a16="http://schemas.microsoft.com/office/drawing/2014/main" val="3777864780"/>
                        </a:ext>
                      </a:extLst>
                    </a:gridCol>
                    <a:gridCol w="1546837">
                      <a:extLst>
                        <a:ext uri="{9D8B030D-6E8A-4147-A177-3AD203B41FA5}">
                          <a16:colId xmlns:a16="http://schemas.microsoft.com/office/drawing/2014/main" val="1140023161"/>
                        </a:ext>
                      </a:extLst>
                    </a:gridCol>
                    <a:gridCol w="1820351">
                      <a:extLst>
                        <a:ext uri="{9D8B030D-6E8A-4147-A177-3AD203B41FA5}">
                          <a16:colId xmlns:a16="http://schemas.microsoft.com/office/drawing/2014/main" val="3091747945"/>
                        </a:ext>
                      </a:extLst>
                    </a:gridCol>
                    <a:gridCol w="1820351">
                      <a:extLst>
                        <a:ext uri="{9D8B030D-6E8A-4147-A177-3AD203B41FA5}">
                          <a16:colId xmlns:a16="http://schemas.microsoft.com/office/drawing/2014/main" val="375919116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8 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+1)4</m:t>
                                </m:r>
                                <m:sSup>
                                  <m:sSupPr>
                                    <m:ctrlPr>
                                      <a:rPr lang="en-US" sz="2400" b="0" i="1" baseline="3000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/>
                                  <m:sup/>
                                </m:sSup>
                                <m:r>
                                  <a:rPr lang="en-US" sz="24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(1+</m:t>
                                    </m:r>
                                    <m: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(1+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0" dirty="0">
                                        <a:solidFill>
                                          <a:schemeClr val="tx1"/>
                                        </a:solidFill>
                                      </a:rPr>
                                      <m:t> 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24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4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𝑙𝑜𝑔𝑛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𝑛𝑙𝑜𝑔𝑛</m:t>
                                </m:r>
                                <m:r>
                                  <a:rPr lang="en-US" sz="24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2400" b="0" baseline="30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8474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4211045"/>
                  </p:ext>
                </p:extLst>
              </p:nvPr>
            </p:nvGraphicFramePr>
            <p:xfrm>
              <a:off x="434922" y="1986897"/>
              <a:ext cx="11155680" cy="47237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1581">
                      <a:extLst>
                        <a:ext uri="{9D8B030D-6E8A-4147-A177-3AD203B41FA5}">
                          <a16:colId xmlns:a16="http://schemas.microsoft.com/office/drawing/2014/main" val="1884753345"/>
                        </a:ext>
                      </a:extLst>
                    </a:gridCol>
                    <a:gridCol w="995108">
                      <a:extLst>
                        <a:ext uri="{9D8B030D-6E8A-4147-A177-3AD203B41FA5}">
                          <a16:colId xmlns:a16="http://schemas.microsoft.com/office/drawing/2014/main" val="2709402537"/>
                        </a:ext>
                      </a:extLst>
                    </a:gridCol>
                    <a:gridCol w="2474676">
                      <a:extLst>
                        <a:ext uri="{9D8B030D-6E8A-4147-A177-3AD203B41FA5}">
                          <a16:colId xmlns:a16="http://schemas.microsoft.com/office/drawing/2014/main" val="3252694521"/>
                        </a:ext>
                      </a:extLst>
                    </a:gridCol>
                    <a:gridCol w="733237">
                      <a:extLst>
                        <a:ext uri="{9D8B030D-6E8A-4147-A177-3AD203B41FA5}">
                          <a16:colId xmlns:a16="http://schemas.microsoft.com/office/drawing/2014/main" val="3776547894"/>
                        </a:ext>
                      </a:extLst>
                    </a:gridCol>
                    <a:gridCol w="1123539">
                      <a:extLst>
                        <a:ext uri="{9D8B030D-6E8A-4147-A177-3AD203B41FA5}">
                          <a16:colId xmlns:a16="http://schemas.microsoft.com/office/drawing/2014/main" val="3777864780"/>
                        </a:ext>
                      </a:extLst>
                    </a:gridCol>
                    <a:gridCol w="1546837">
                      <a:extLst>
                        <a:ext uri="{9D8B030D-6E8A-4147-A177-3AD203B41FA5}">
                          <a16:colId xmlns:a16="http://schemas.microsoft.com/office/drawing/2014/main" val="1140023161"/>
                        </a:ext>
                      </a:extLst>
                    </a:gridCol>
                    <a:gridCol w="1820351">
                      <a:extLst>
                        <a:ext uri="{9D8B030D-6E8A-4147-A177-3AD203B41FA5}">
                          <a16:colId xmlns:a16="http://schemas.microsoft.com/office/drawing/2014/main" val="3091747945"/>
                        </a:ext>
                      </a:extLst>
                    </a:gridCol>
                    <a:gridCol w="1820351">
                      <a:extLst>
                        <a:ext uri="{9D8B030D-6E8A-4147-A177-3AD203B41FA5}">
                          <a16:colId xmlns:a16="http://schemas.microsoft.com/office/drawing/2014/main" val="3759191163"/>
                        </a:ext>
                      </a:extLst>
                    </a:gridCol>
                  </a:tblGrid>
                  <a:tr h="472377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 smtClean="0">
                              <a:solidFill>
                                <a:schemeClr val="tx1"/>
                              </a:solidFill>
                            </a:rPr>
                            <a:t>2. 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4634" t="-116456" r="-953659" b="-1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6502" t="-116456" r="-285222" b="-1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63333" t="-116456" r="-865000" b="-1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30270" t="-116456" r="-461081" b="-1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87747" t="-116456" r="-237154" b="-1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12709" t="-116456" r="-100669" b="-183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12709" t="-116456" r="-669" b="-183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8474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7171236"/>
                  </p:ext>
                </p:extLst>
              </p:nvPr>
            </p:nvGraphicFramePr>
            <p:xfrm>
              <a:off x="1973036" y="3785050"/>
              <a:ext cx="8245929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72105">
                      <a:extLst>
                        <a:ext uri="{9D8B030D-6E8A-4147-A177-3AD203B41FA5}">
                          <a16:colId xmlns:a16="http://schemas.microsoft.com/office/drawing/2014/main" val="2967920881"/>
                        </a:ext>
                      </a:extLst>
                    </a:gridCol>
                    <a:gridCol w="3773824">
                      <a:extLst>
                        <a:ext uri="{9D8B030D-6E8A-4147-A177-3AD203B41FA5}">
                          <a16:colId xmlns:a16="http://schemas.microsoft.com/office/drawing/2014/main" val="17663537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; 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p>
                                  <m:sSupPr>
                                    <m:ctrlPr>
                                      <a:rPr lang="pt-BR" sz="2200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200" b="1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pt-BR" sz="2200" b="0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)=10; 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⁡10</m:t>
                                </m:r>
                              </m:oMath>
                            </m:oMathPara>
                          </a14:m>
                          <a:endParaRPr lang="pt-BR" sz="2200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013938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; 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pt-BR" sz="2200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p>
                                  <m:sSupPr>
                                    <m:ctrlPr>
                                      <a:rPr lang="pt-BR" sz="2200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200" b="0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; 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)=10</m:t>
                                </m:r>
                                <m:sSup>
                                  <m:sSupPr>
                                    <m:ctrlPr>
                                      <a:rPr lang="pt-BR" sz="2200" i="1" dirty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 dirty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200" i="1" dirty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200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1548599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; 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p>
                                  <m:sSupPr>
                                    <m:ctrlPr>
                                      <a:rPr lang="pt-BR" sz="2200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𝑙𝑜𝑔</m:t>
                                    </m:r>
                                  </m:e>
                                  <m:sup>
                                    <m:r>
                                      <a:rPr lang="en-US" sz="2200" b="0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pt-BR" sz="2200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pt-BR" sz="2200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200" i="1" dirty="0" smtClean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2200" b="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; 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)=3</m:t>
                                </m:r>
                                <m:r>
                                  <a:rPr lang="pt-BR" sz="2200" i="1" baseline="30000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pt-BR" sz="2200" baseline="30000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923617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; 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pt-BR" sz="2200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; 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m:rPr>
                                    <m:sty m:val="p"/>
                                  </m:rP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pt-BR" sz="2200" i="1" dirty="0" smtClean="0">
                                    <a:solidFill>
                                      <a:srgbClr val="A71160"/>
                                    </a:solidFill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sSup>
                                  <m:sSupPr>
                                    <m:ctrlPr>
                                      <a:rPr lang="pt-BR" sz="2200" i="1" dirty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i="1" dirty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2200" i="1" dirty="0">
                                        <a:solidFill>
                                          <a:srgbClr val="A711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200" dirty="0">
                            <a:solidFill>
                              <a:srgbClr val="A7116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221553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7171236"/>
                  </p:ext>
                </p:extLst>
              </p:nvPr>
            </p:nvGraphicFramePr>
            <p:xfrm>
              <a:off x="1973036" y="3785050"/>
              <a:ext cx="8245929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72105">
                      <a:extLst>
                        <a:ext uri="{9D8B030D-6E8A-4147-A177-3AD203B41FA5}">
                          <a16:colId xmlns:a16="http://schemas.microsoft.com/office/drawing/2014/main" val="2967920881"/>
                        </a:ext>
                      </a:extLst>
                    </a:gridCol>
                    <a:gridCol w="3773824">
                      <a:extLst>
                        <a:ext uri="{9D8B030D-6E8A-4147-A177-3AD203B41FA5}">
                          <a16:colId xmlns:a16="http://schemas.microsoft.com/office/drawing/2014/main" val="17663537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36" t="-1333" r="-84741" b="-31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8548" t="-1333" r="-323" b="-314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013938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36" t="-100000" r="-84741" b="-2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8548" t="-100000" r="-323" b="-2105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548599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36" t="-202667" r="-84741" b="-1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8548" t="-202667" r="-323" b="-1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23617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36" t="-302667" r="-84741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18548" t="-302667" r="-323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21553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0818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Notations in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an example of buying elephants and goldfish:</a:t>
                </a:r>
              </a:p>
              <a:p>
                <a:pPr marL="0" indent="0" algn="ctr">
                  <a:buNone/>
                </a:pPr>
                <a:r>
                  <a:rPr lang="en-US" dirty="0"/>
                  <a:t>Cost = </a:t>
                </a:r>
                <a:r>
                  <a:rPr lang="en-US" dirty="0" err="1"/>
                  <a:t>cost_of_elephants</a:t>
                </a:r>
                <a:r>
                  <a:rPr lang="en-US" dirty="0"/>
                  <a:t> + </a:t>
                </a:r>
                <a:r>
                  <a:rPr lang="en-US" dirty="0" err="1"/>
                  <a:t>cost_of_goldfish</a:t>
                </a:r>
                <a:r>
                  <a:rPr lang="en-US" dirty="0"/>
                  <a:t> </a:t>
                </a:r>
              </a:p>
              <a:p>
                <a:pPr marL="0" indent="0" algn="ctr">
                  <a:buNone/>
                </a:pPr>
                <a:r>
                  <a:rPr lang="en-US" dirty="0"/>
                  <a:t>Cost ≈ </a:t>
                </a:r>
                <a:r>
                  <a:rPr lang="en-US" dirty="0" err="1"/>
                  <a:t>cost_of_elephants</a:t>
                </a:r>
                <a:r>
                  <a:rPr lang="en-US" dirty="0"/>
                  <a:t> (approximation)</a:t>
                </a:r>
              </a:p>
              <a:p>
                <a:endParaRPr lang="en-US" dirty="0"/>
              </a:p>
              <a:p>
                <a:r>
                  <a:rPr lang="en-US" b="1" dirty="0"/>
                  <a:t>Maximum Rule</a:t>
                </a:r>
                <a:r>
                  <a:rPr lang="en-US" dirty="0"/>
                  <a:t>: Let,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→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  the max rule says that: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i="0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200" i="0" dirty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sz="2200" i="0" dirty="0">
                        <a:latin typeface="Cambria Math" panose="02040503050406030204" pitchFamily="18" charset="0"/>
                      </a:rPr>
                      <m:t> + 100</m:t>
                    </m:r>
                    <m:sSup>
                      <m:sSup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i="0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200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200" i="0" dirty="0">
                        <a:latin typeface="Cambria Math" panose="02040503050406030204" pitchFamily="18" charset="0"/>
                      </a:rPr>
                      <m:t> + 10</m:t>
                    </m:r>
                    <m:r>
                      <m:rPr>
                        <m:sty m:val="p"/>
                      </m:rPr>
                      <a:rPr lang="pt-BR" sz="2200" i="0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pt-BR" sz="2200" i="0" dirty="0">
                        <a:latin typeface="Cambria Math" panose="02040503050406030204" pitchFamily="18" charset="0"/>
                      </a:rPr>
                      <m:t> + 50 </m:t>
                    </m:r>
                    <m:r>
                      <m:rPr>
                        <m:sty m:val="p"/>
                      </m:rPr>
                      <a:rPr lang="pt-BR" sz="2200" i="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pt-BR" sz="220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200" b="1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pt-BR" sz="2200" b="1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200" b="1" i="1" dirty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0" dirty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p>
                        <m:r>
                          <a:rPr lang="en-US" sz="2200" b="1" i="0" dirty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pt-BR" sz="2200" b="1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pt-BR" sz="2200" b="1" dirty="0">
                  <a:solidFill>
                    <a:srgbClr val="A71160"/>
                  </a:solidFill>
                </a:endParaRPr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pt-BR" sz="2200" i="0" dirty="0">
                        <a:latin typeface="Cambria Math" panose="02040503050406030204" pitchFamily="18" charset="0"/>
                      </a:rPr>
                      <m:t>10</m:t>
                    </m:r>
                    <m:sSup>
                      <m:sSup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i="0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200" i="0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sz="2200" i="0" dirty="0">
                        <a:latin typeface="Cambria Math" panose="02040503050406030204" pitchFamily="18" charset="0"/>
                      </a:rPr>
                      <m:t> + 2</m:t>
                    </m:r>
                    <m:sSup>
                      <m:sSup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i="0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200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20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sz="2200" i="0" dirty="0">
                        <a:latin typeface="Cambria Math" panose="02040503050406030204" pitchFamily="18" charset="0"/>
                      </a:rPr>
                      <m:t>is</m:t>
                    </m:r>
                    <m:r>
                      <a:rPr lang="pt-BR" sz="220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200" b="1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pt-BR" sz="2200" b="1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200" b="1" i="1" dirty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0" dirty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p>
                        <m:r>
                          <a:rPr lang="en-US" sz="2200" b="1" i="0" dirty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pt-BR" sz="2200" b="1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)    </m:t>
                    </m:r>
                  </m:oMath>
                </a14:m>
                <a:endParaRPr lang="pt-BR" sz="2200" b="1" dirty="0"/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i="0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200" i="0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pt-BR" sz="2200" dirty="0"/>
                  <a:t>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i="0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200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200" dirty="0"/>
                  <a:t> is </a:t>
                </a:r>
                <a14:m>
                  <m:oMath xmlns:m="http://schemas.openxmlformats.org/officeDocument/2006/math">
                    <m:r>
                      <a:rPr lang="pt-BR" sz="2200" b="1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pt-BR" sz="2200" b="1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200" b="1" i="1" dirty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1" i="0" dirty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p>
                        <m:r>
                          <a:rPr lang="en-US" sz="2200" b="1" i="0" dirty="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pt-BR" sz="2200" b="1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pt-BR" sz="2200" b="1" dirty="0"/>
              </a:p>
              <a:p>
                <a:endParaRPr lang="en-US" dirty="0"/>
              </a:p>
              <a:p>
                <a:r>
                  <a:rPr lang="en-US" dirty="0"/>
                  <a:t>The low order terms in a function are relatively insignificant for large 𝒏</a:t>
                </a:r>
              </a:p>
              <a:p>
                <a:pPr marL="0" indent="0">
                  <a:buNone/>
                </a:pPr>
                <a:r>
                  <a:rPr lang="en-US" dirty="0"/>
                  <a:t>		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i="1" dirty="0">
                        <a:latin typeface="Cambria Math" panose="02040503050406030204" pitchFamily="18" charset="0"/>
                      </a:rPr>
                      <m:t> + 100</m:t>
                    </m:r>
                    <m:sSup>
                      <m:sSup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>
                        <a:latin typeface="Cambria Math" panose="02040503050406030204" pitchFamily="18" charset="0"/>
                      </a:rPr>
                      <m:t> + 10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+ 50≈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6" t="-1418" b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ular Callout 3"/>
          <p:cNvSpPr/>
          <p:nvPr/>
        </p:nvSpPr>
        <p:spPr>
          <a:xfrm>
            <a:off x="8958944" y="1680754"/>
            <a:ext cx="1188720" cy="365760"/>
          </a:xfrm>
          <a:prstGeom prst="wedgeRoundRectCallout">
            <a:avLst>
              <a:gd name="adj1" fmla="val -71944"/>
              <a:gd name="adj2" fmla="val -52651"/>
              <a:gd name="adj3" fmla="val 16667"/>
            </a:avLst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A71160"/>
                </a:solidFill>
              </a:rPr>
              <a:t>Negligible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79668" y="3135085"/>
            <a:ext cx="4389120" cy="5486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𝑂( 𝑓(𝑛)+𝑔(𝑛))=𝑂(max⁡(𝑓(𝑛),𝑔(𝑛)))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75315" y="3143795"/>
            <a:ext cx="4389120" cy="548640"/>
          </a:xfrm>
          <a:prstGeom prst="roundRect">
            <a:avLst/>
          </a:prstGeom>
          <a:noFill/>
          <a:ln w="19050">
            <a:solidFill>
              <a:srgbClr val="890E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45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Express 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baseline="3000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/1000 − 100</m:t>
                    </m:r>
                    <m:r>
                      <a:rPr lang="en-US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baseline="3000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− 100</m:t>
                    </m:r>
                    <m:r>
                      <a:rPr lang="en-US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+ 3 </m:t>
                    </m:r>
                  </m:oMath>
                </a14:m>
                <a:r>
                  <a:rPr lang="en-US" dirty="0"/>
                  <a:t>in terms of </a:t>
                </a:r>
                <a:r>
                  <a:rPr lang="el-GR" dirty="0"/>
                  <a:t>θ</a:t>
                </a:r>
                <a:r>
                  <a:rPr lang="en-US" dirty="0"/>
                  <a:t> notation.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Express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pt-BR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baseline="3000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+ 10</m:t>
                    </m:r>
                    <m:r>
                      <a:rPr lang="pt-BR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+ 5 </m:t>
                    </m:r>
                  </m:oMath>
                </a14:m>
                <a:r>
                  <a:rPr lang="pt-BR" dirty="0"/>
                  <a:t>in terms of O notation.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Express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+ 2</m:t>
                    </m:r>
                    <m:r>
                      <a:rPr lang="en-US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in terms of O notation.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t-BR" dirty="0"/>
                  <a:t>Prove or disprove (i) </a:t>
                </a:r>
                <a:r>
                  <a:rPr lang="pt-BR" dirty="0">
                    <a:solidFill>
                      <a:srgbClr val="A71160"/>
                    </a:solidFill>
                  </a:rPr>
                  <a:t>Is 2</a:t>
                </a:r>
                <a:r>
                  <a:rPr lang="pt-BR" baseline="30000" dirty="0">
                    <a:solidFill>
                      <a:srgbClr val="A71160"/>
                    </a:solidFill>
                  </a:rPr>
                  <a:t>n+1</a:t>
                </a:r>
                <a:r>
                  <a:rPr lang="pt-BR" dirty="0">
                    <a:solidFill>
                      <a:srgbClr val="A71160"/>
                    </a:solidFill>
                  </a:rPr>
                  <a:t> = O(2</a:t>
                </a:r>
                <a:r>
                  <a:rPr lang="pt-BR" baseline="30000" dirty="0">
                    <a:solidFill>
                      <a:srgbClr val="A71160"/>
                    </a:solidFill>
                  </a:rPr>
                  <a:t>n</a:t>
                </a:r>
                <a:r>
                  <a:rPr lang="pt-BR" dirty="0">
                    <a:solidFill>
                      <a:srgbClr val="A71160"/>
                    </a:solidFill>
                  </a:rPr>
                  <a:t>) </a:t>
                </a:r>
                <a:r>
                  <a:rPr lang="pt-BR" dirty="0"/>
                  <a:t>(ii) </a:t>
                </a:r>
                <a:r>
                  <a:rPr lang="pt-BR" dirty="0">
                    <a:solidFill>
                      <a:srgbClr val="A71160"/>
                    </a:solidFill>
                  </a:rPr>
                  <a:t>Is 2</a:t>
                </a:r>
                <a:r>
                  <a:rPr lang="pt-BR" baseline="30000" dirty="0">
                    <a:solidFill>
                      <a:srgbClr val="A71160"/>
                    </a:solidFill>
                  </a:rPr>
                  <a:t>2n</a:t>
                </a:r>
                <a:r>
                  <a:rPr lang="pt-BR" dirty="0">
                    <a:solidFill>
                      <a:srgbClr val="A71160"/>
                    </a:solidFill>
                  </a:rPr>
                  <a:t> = O(2</a:t>
                </a:r>
                <a:r>
                  <a:rPr lang="pt-BR" baseline="30000" dirty="0">
                    <a:solidFill>
                      <a:srgbClr val="A71160"/>
                    </a:solidFill>
                  </a:rPr>
                  <a:t>n</a:t>
                </a:r>
                <a:r>
                  <a:rPr lang="pt-BR" dirty="0">
                    <a:solidFill>
                      <a:srgbClr val="A71160"/>
                    </a:solidFill>
                  </a:rPr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Check the correctness for the following equality,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20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20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20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2200">
                            <a:solidFill>
                              <a:srgbClr val="A711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200" i="1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>
                  <a:solidFill>
                    <a:srgbClr val="A71160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</a:t>
                </a:r>
                <a:r>
                  <a:rPr lang="el-GR" dirty="0"/>
                  <a:t>θ </a:t>
                </a:r>
                <a:r>
                  <a:rPr lang="en-US" dirty="0"/>
                  <a:t>notation for the following function</a:t>
                </a:r>
              </a:p>
              <a:p>
                <a:pPr marL="1001712" lvl="1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200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) = 3 ∗ 2</m:t>
                    </m:r>
                    <m:r>
                      <a:rPr lang="en-US" sz="2200" i="1" baseline="3000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+ 4</m:t>
                    </m:r>
                    <m:r>
                      <a:rPr lang="en-US" sz="2200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baseline="3000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+ 5</m:t>
                    </m:r>
                    <m:r>
                      <a:rPr lang="en-US" sz="2200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+ 2</m:t>
                    </m:r>
                  </m:oMath>
                </a14:m>
                <a:endParaRPr lang="en-US" sz="2200" dirty="0">
                  <a:solidFill>
                    <a:srgbClr val="A71160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O</a:t>
                </a:r>
                <a:r>
                  <a:rPr lang="el-GR" dirty="0"/>
                  <a:t> </a:t>
                </a:r>
                <a:r>
                  <a:rPr lang="en-US" dirty="0"/>
                  <a:t>notation for the following function</a:t>
                </a:r>
              </a:p>
              <a:p>
                <a:pPr marL="857250" lvl="1" indent="-457200" algn="l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) = 2</m:t>
                    </m:r>
                    <m:r>
                      <m:rPr>
                        <m:sty m:val="p"/>
                      </m:rPr>
                      <a:rPr lang="en-US" i="0" baseline="3000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+ 6</m:t>
                    </m:r>
                    <m:r>
                      <m:rPr>
                        <m:sty m:val="p"/>
                      </m:rPr>
                      <a:rPr lang="en-US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baseline="3000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+ 3</m:t>
                    </m:r>
                    <m:r>
                      <m:rPr>
                        <m:sty m:val="p"/>
                      </m:rPr>
                      <a:rPr lang="en-US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n-US" dirty="0">
                  <a:solidFill>
                    <a:srgbClr val="A71160"/>
                  </a:solidFill>
                </a:endParaRPr>
              </a:p>
              <a:p>
                <a:pPr marL="857250" lvl="1" indent="-457200" algn="l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) = 4</m:t>
                    </m:r>
                    <m:r>
                      <m:rPr>
                        <m:sty m:val="p"/>
                      </m:rPr>
                      <a:rPr lang="en-US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baseline="3000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 + 2</m:t>
                    </m:r>
                    <m:r>
                      <m:rPr>
                        <m:sty m:val="p"/>
                      </m:rPr>
                      <a:rPr lang="en-US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+ 3 </m:t>
                    </m:r>
                  </m:oMath>
                </a14:m>
                <a:endParaRPr lang="en-US" b="1" dirty="0">
                  <a:solidFill>
                    <a:srgbClr val="A7116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</a:t>
                </a:r>
                <a:r>
                  <a:rPr lang="el-GR" dirty="0"/>
                  <a:t>Ω </a:t>
                </a:r>
                <a:r>
                  <a:rPr lang="en-US" dirty="0"/>
                  <a:t>notation for the following function</a:t>
                </a:r>
              </a:p>
              <a:p>
                <a:pPr marL="742950" lvl="2" indent="-342900" algn="l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000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 i="0" dirty="0" smtClean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) = 4∗ 2</m:t>
                    </m:r>
                    <m:r>
                      <m:rPr>
                        <m:sty m:val="p"/>
                      </m:rPr>
                      <a:rPr lang="en-US" sz="2000" i="0" baseline="3000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+ 3</m:t>
                    </m:r>
                    <m:r>
                      <m:rPr>
                        <m:sty m:val="p"/>
                      </m:rPr>
                      <a:rPr lang="en-US" sz="2000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n-US" sz="2000" dirty="0">
                  <a:solidFill>
                    <a:srgbClr val="A71160"/>
                  </a:solidFill>
                </a:endParaRPr>
              </a:p>
              <a:p>
                <a:pPr marL="742950" lvl="2" indent="-342900" algn="l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000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) = 5</m:t>
                    </m:r>
                    <m:r>
                      <m:rPr>
                        <m:sty m:val="p"/>
                      </m:rPr>
                      <a:rPr lang="en-US" sz="2000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 i="0" baseline="3000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sz="2000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 i="0" baseline="3000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+ 3</m:t>
                    </m:r>
                    <m:r>
                      <m:rPr>
                        <m:sty m:val="p"/>
                      </m:rPr>
                      <a:rPr lang="en-US" sz="2000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000" i="0" dirty="0">
                        <a:solidFill>
                          <a:srgbClr val="A71160"/>
                        </a:solidFill>
                        <a:latin typeface="Cambria Math" panose="02040503050406030204" pitchFamily="18" charset="0"/>
                      </a:rPr>
                      <m:t> + 2 </m:t>
                    </m:r>
                  </m:oMath>
                </a14:m>
                <a:endParaRPr lang="pt-BR" sz="2000" dirty="0">
                  <a:solidFill>
                    <a:srgbClr val="A7116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8" t="-1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563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828C-F1B4-41BC-B2FF-A49405480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proving Asymptotic Notations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9877B-8858-423E-A860-F48286A98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en-US" b="1" dirty="0"/>
              <a:t>Proof by definition </a:t>
            </a:r>
            <a:r>
              <a:rPr lang="en-US" dirty="0"/>
              <a:t>: In this method, we apply the formal definition of the                                           asymptotic notation, and find out the values of constants c &gt; 0 and n</a:t>
            </a:r>
            <a:r>
              <a:rPr lang="en-US" baseline="-25000" dirty="0"/>
              <a:t>0</a:t>
            </a:r>
            <a:r>
              <a:rPr lang="en-US" dirty="0"/>
              <a:t> &gt; 0, such that the required notation is proved.                </a:t>
            </a:r>
          </a:p>
          <a:p>
            <a:pPr marL="0" indent="0">
              <a:buNone/>
            </a:pPr>
            <a:r>
              <a:rPr lang="en-US" dirty="0"/>
              <a:t>                              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2) </a:t>
            </a:r>
            <a:r>
              <a:rPr lang="en-US" b="1" dirty="0"/>
              <a:t>Proof by Limit Rules </a:t>
            </a:r>
            <a:r>
              <a:rPr lang="en-US" dirty="0"/>
              <a:t>: In this method, we apply certain rules of limit, and then                                             prove the required notation.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424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F0FEE-6185-48E3-B18E-17CEF575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Proof by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1CCE9-F80A-4EBE-BA97-8A61AF46D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Prove the following statements :</a:t>
            </a:r>
          </a:p>
          <a:p>
            <a:pPr marL="457200" indent="-457200">
              <a:buAutoNum type="arabicPeriod"/>
            </a:pPr>
            <a:r>
              <a:rPr lang="en-US" b="1" dirty="0"/>
              <a:t>n</a:t>
            </a:r>
            <a:r>
              <a:rPr lang="en-US" b="1" baseline="30000" dirty="0"/>
              <a:t>2 </a:t>
            </a:r>
            <a:r>
              <a:rPr lang="en-US" b="1" dirty="0"/>
              <a:t>+ n = O(n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</a:p>
          <a:p>
            <a:pPr marL="544512" lvl="1" indent="0">
              <a:buNone/>
            </a:pPr>
            <a:r>
              <a:rPr lang="en-US" dirty="0"/>
              <a:t>According to the formal definition, let f(n) = n</a:t>
            </a:r>
            <a:r>
              <a:rPr lang="en-US" baseline="30000" dirty="0"/>
              <a:t>2</a:t>
            </a:r>
            <a:r>
              <a:rPr lang="en-US" dirty="0"/>
              <a:t> + n and g(n) = n</a:t>
            </a:r>
            <a:r>
              <a:rPr lang="en-US" baseline="30000" dirty="0"/>
              <a:t>2 </a:t>
            </a:r>
            <a:r>
              <a:rPr lang="en-US" dirty="0"/>
              <a:t>  </a:t>
            </a:r>
          </a:p>
          <a:p>
            <a:pPr marL="544512" lvl="1" indent="0">
              <a:buNone/>
            </a:pPr>
            <a:r>
              <a:rPr lang="en-US" dirty="0"/>
              <a:t>Find the values of constants c &gt; 0 and n</a:t>
            </a:r>
            <a:r>
              <a:rPr lang="en-US" baseline="-25000" dirty="0"/>
              <a:t>0</a:t>
            </a:r>
            <a:r>
              <a:rPr lang="en-US" dirty="0"/>
              <a:t> &gt; 0, such that  0 ≤ f(n) ≤ c g(n), for all n ≥ n</a:t>
            </a:r>
            <a:r>
              <a:rPr lang="en-US" baseline="-25000" dirty="0"/>
              <a:t>0</a:t>
            </a:r>
            <a:r>
              <a:rPr lang="en-US" dirty="0"/>
              <a:t> (condition for Big-O notation)2</a:t>
            </a:r>
          </a:p>
          <a:p>
            <a:pPr marL="457200" indent="-457200">
              <a:buAutoNum type="arabicPeriod"/>
            </a:pPr>
            <a:r>
              <a:rPr lang="en-US" b="1" dirty="0"/>
              <a:t>n</a:t>
            </a:r>
            <a:r>
              <a:rPr lang="en-US" b="1" baseline="30000" dirty="0"/>
              <a:t>3</a:t>
            </a:r>
            <a:r>
              <a:rPr lang="en-US" b="1" dirty="0"/>
              <a:t> + 4n</a:t>
            </a:r>
            <a:r>
              <a:rPr lang="en-US" b="1" baseline="30000" dirty="0"/>
              <a:t>2</a:t>
            </a:r>
            <a:r>
              <a:rPr lang="en-US" b="1" dirty="0"/>
              <a:t> = </a:t>
            </a:r>
            <a:r>
              <a:rPr lang="el-GR" b="1" dirty="0"/>
              <a:t>Ω(</a:t>
            </a:r>
            <a:r>
              <a:rPr lang="en-US" b="1" dirty="0"/>
              <a:t>n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</a:p>
          <a:p>
            <a:pPr marL="544512" lvl="1" indent="0">
              <a:buNone/>
            </a:pPr>
            <a:r>
              <a:rPr lang="en-US" dirty="0"/>
              <a:t>According to the formal definition, let f(n) = n</a:t>
            </a:r>
            <a:r>
              <a:rPr lang="en-US" baseline="30000" dirty="0"/>
              <a:t>3</a:t>
            </a:r>
            <a:r>
              <a:rPr lang="en-US" dirty="0"/>
              <a:t> + 4n</a:t>
            </a:r>
            <a:r>
              <a:rPr lang="en-US" baseline="30000" dirty="0"/>
              <a:t>2</a:t>
            </a:r>
            <a:r>
              <a:rPr lang="en-US" dirty="0"/>
              <a:t> and g(n) = n</a:t>
            </a:r>
            <a:r>
              <a:rPr lang="en-US" baseline="30000" dirty="0"/>
              <a:t>2  </a:t>
            </a:r>
            <a:r>
              <a:rPr lang="en-US" dirty="0"/>
              <a:t> </a:t>
            </a:r>
          </a:p>
          <a:p>
            <a:pPr marL="544512" lvl="1" indent="0">
              <a:buNone/>
            </a:pPr>
            <a:r>
              <a:rPr lang="en-US" dirty="0"/>
              <a:t>Find the values of constants c &gt; 0 and n</a:t>
            </a:r>
            <a:r>
              <a:rPr lang="en-US" baseline="-25000" dirty="0"/>
              <a:t>0</a:t>
            </a:r>
            <a:r>
              <a:rPr lang="en-US" dirty="0"/>
              <a:t> &gt; 0, such that  0 ≤ c g(n) ≤ f(n), for all n ≥ n</a:t>
            </a:r>
            <a:r>
              <a:rPr lang="en-US" baseline="-25000" dirty="0"/>
              <a:t>0</a:t>
            </a:r>
            <a:r>
              <a:rPr lang="en-US" dirty="0"/>
              <a:t> (condition for Big-Ω notation)</a:t>
            </a:r>
            <a:endParaRPr lang="en-US" b="1" dirty="0"/>
          </a:p>
          <a:p>
            <a:pPr marL="457200" indent="-457200">
              <a:buAutoNum type="arabicPeriod"/>
            </a:pPr>
            <a:r>
              <a:rPr lang="en-US" b="1" dirty="0"/>
              <a:t>n</a:t>
            </a:r>
            <a:r>
              <a:rPr lang="en-US" b="1" baseline="30000" dirty="0"/>
              <a:t>2</a:t>
            </a:r>
            <a:r>
              <a:rPr lang="en-US" b="1" dirty="0"/>
              <a:t> + n = </a:t>
            </a:r>
            <a:r>
              <a:rPr lang="el-GR" b="1" dirty="0"/>
              <a:t>Θ(</a:t>
            </a:r>
            <a:r>
              <a:rPr lang="en-US" b="1" dirty="0"/>
              <a:t>n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</a:p>
          <a:p>
            <a:pPr marL="544512" lvl="1" indent="0">
              <a:buNone/>
            </a:pPr>
            <a:r>
              <a:rPr lang="en-US" dirty="0"/>
              <a:t>According to the formal definition, let f(n) = n</a:t>
            </a:r>
            <a:r>
              <a:rPr lang="en-US" baseline="30000" dirty="0"/>
              <a:t>2</a:t>
            </a:r>
            <a:r>
              <a:rPr lang="en-US" dirty="0"/>
              <a:t> + n and g(n) = n</a:t>
            </a:r>
            <a:r>
              <a:rPr lang="en-US" baseline="30000" dirty="0"/>
              <a:t>2</a:t>
            </a:r>
            <a:r>
              <a:rPr lang="en-US" dirty="0"/>
              <a:t>   </a:t>
            </a:r>
          </a:p>
          <a:p>
            <a:pPr marL="544512" lvl="1" indent="0">
              <a:buNone/>
            </a:pPr>
            <a:r>
              <a:rPr lang="en-US" dirty="0"/>
              <a:t>Find the values of constants c1 &gt; 0, c2 &gt; 0, and n0 &gt; 0, such that  0 ≤ c1 g(n) ≤  f(n) ≤ c2 g(n), for all n ≥ n</a:t>
            </a:r>
            <a:r>
              <a:rPr lang="en-US" baseline="-25000" dirty="0"/>
              <a:t>0</a:t>
            </a:r>
            <a:r>
              <a:rPr lang="en-US" dirty="0"/>
              <a:t> (condition for Θ notation)</a:t>
            </a:r>
          </a:p>
          <a:p>
            <a:pPr marL="1001712" lvl="1" indent="-457200">
              <a:buAutoNum type="arabicPeriod"/>
            </a:pPr>
            <a:endParaRPr lang="en-US" b="1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84DA0-CF6E-4B95-AA88-A7ABB7D8CAE6}"/>
              </a:ext>
            </a:extLst>
          </p:cNvPr>
          <p:cNvSpPr txBox="1"/>
          <p:nvPr/>
        </p:nvSpPr>
        <p:spPr>
          <a:xfrm>
            <a:off x="2467992" y="1296139"/>
            <a:ext cx="10486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≈ </a:t>
            </a:r>
            <a:r>
              <a:rPr lang="en-US" sz="2400" b="1" dirty="0">
                <a:solidFill>
                  <a:srgbClr val="FF0000"/>
                </a:solidFill>
              </a:rPr>
              <a:t>O(n</a:t>
            </a:r>
            <a:r>
              <a:rPr lang="en-US" sz="2400" b="1" baseline="30000" dirty="0">
                <a:solidFill>
                  <a:srgbClr val="FF0000"/>
                </a:solidFill>
              </a:rPr>
              <a:t>3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C9CC24-23FF-4879-AA53-2AE86AD7F68B}"/>
              </a:ext>
            </a:extLst>
          </p:cNvPr>
          <p:cNvSpPr txBox="1"/>
          <p:nvPr/>
        </p:nvSpPr>
        <p:spPr>
          <a:xfrm>
            <a:off x="2673658" y="2690336"/>
            <a:ext cx="9396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≈</a:t>
            </a:r>
            <a:r>
              <a:rPr lang="el-GR" sz="2400" b="1" dirty="0"/>
              <a:t> </a:t>
            </a:r>
            <a:r>
              <a:rPr lang="el-GR" sz="2400" b="1" dirty="0">
                <a:solidFill>
                  <a:srgbClr val="FF0000"/>
                </a:solidFill>
              </a:rPr>
              <a:t>Ω</a:t>
            </a:r>
            <a:r>
              <a:rPr lang="en-US" sz="2400" b="1" dirty="0">
                <a:solidFill>
                  <a:srgbClr val="FF0000"/>
                </a:solidFill>
              </a:rPr>
              <a:t>(n)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3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A9AA9-A25E-408E-A935-581BAA09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Proof by Limit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753EE-B60E-4158-B6F2-05327AC2A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f(n) and g(n) are asymptotically increasing functions, then the following rules hold true:</a:t>
            </a:r>
          </a:p>
          <a:p>
            <a:pPr marL="0" indent="0">
              <a:buNone/>
            </a:pPr>
            <a:endParaRPr lang="en-IN" sz="2400" u="sng" dirty="0"/>
          </a:p>
          <a:p>
            <a:pPr marL="0" indent="0">
              <a:buNone/>
            </a:pPr>
            <a:endParaRPr lang="en-IN" u="sng" dirty="0"/>
          </a:p>
          <a:p>
            <a:pPr marL="0" indent="0">
              <a:buNone/>
            </a:pPr>
            <a:endParaRPr lang="en-IN" sz="2400" u="sng" dirty="0"/>
          </a:p>
          <a:p>
            <a:pPr marL="0" indent="0">
              <a:buNone/>
            </a:pPr>
            <a:endParaRPr lang="en-IN" u="sng" dirty="0"/>
          </a:p>
          <a:p>
            <a:pPr marL="0" indent="0">
              <a:buNone/>
            </a:pPr>
            <a:endParaRPr lang="en-IN" sz="2400" u="sng" dirty="0"/>
          </a:p>
          <a:p>
            <a:pPr marL="0" indent="0">
              <a:buNone/>
            </a:pPr>
            <a:r>
              <a:rPr lang="en-IN" sz="2400" u="sng" dirty="0"/>
              <a:t>Prove that</a:t>
            </a:r>
            <a:r>
              <a:rPr lang="en-IN" sz="2400" dirty="0"/>
              <a:t> : √n grows asymptotically faster than log n. </a:t>
            </a:r>
          </a:p>
          <a:p>
            <a:pPr marL="0" indent="0">
              <a:buNone/>
            </a:pPr>
            <a:r>
              <a:rPr lang="en-IN" sz="2400" dirty="0"/>
              <a:t>Proof: Let us consider f(n) = √n and g(n) = log n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   We compute                            and then based on the result, the specific</a:t>
            </a:r>
          </a:p>
          <a:p>
            <a:pPr marL="0" indent="0">
              <a:buNone/>
            </a:pPr>
            <a:r>
              <a:rPr lang="en-IN" sz="2400" dirty="0"/>
              <a:t>                       </a:t>
            </a:r>
          </a:p>
          <a:p>
            <a:pPr marL="0" indent="0">
              <a:buNone/>
            </a:pPr>
            <a:r>
              <a:rPr lang="en-IN" sz="2400" dirty="0"/>
              <a:t>            “Limit Rule” proves the desired result.</a:t>
            </a:r>
          </a:p>
          <a:p>
            <a:pPr marL="0" indent="0">
              <a:buNone/>
            </a:pPr>
            <a:r>
              <a:rPr lang="pt-BR" dirty="0"/>
              <a:t>f(n)=n³ and g(n)=2n³+n</a:t>
            </a:r>
            <a:r>
              <a:rPr lang="en-IN" sz="2400" dirty="0"/>
              <a:t> </a:t>
            </a:r>
            <a:endParaRPr lang="en-IN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AF501637-5563-48DD-A932-18FA3F173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993" y="1867778"/>
            <a:ext cx="6505575" cy="1400175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EA79AC62-3D2C-4DC2-98D1-8CD4C01EDB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8" t="19306" r="75113" b="20612"/>
          <a:stretch/>
        </p:blipFill>
        <p:spPr>
          <a:xfrm>
            <a:off x="2756218" y="4734934"/>
            <a:ext cx="1511809" cy="84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Little-Oh and Little-Omega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f(n)=o(g(n))  =&gt; For </a:t>
            </a:r>
            <a:r>
              <a:rPr lang="en-US" dirty="0">
                <a:solidFill>
                  <a:srgbClr val="FF0000"/>
                </a:solidFill>
              </a:rPr>
              <a:t>every c</a:t>
            </a:r>
            <a:r>
              <a:rPr lang="en-US" dirty="0"/>
              <a:t>, there should exist n</a:t>
            </a:r>
            <a:r>
              <a:rPr lang="en-US" baseline="-25000" dirty="0"/>
              <a:t>0</a:t>
            </a:r>
            <a:r>
              <a:rPr lang="en-US" dirty="0"/>
              <a:t> , </a:t>
            </a:r>
            <a:r>
              <a:rPr lang="en-US" dirty="0" err="1"/>
              <a:t>s.t.</a:t>
            </a:r>
            <a:r>
              <a:rPr lang="en-US" dirty="0"/>
              <a:t> f(n) ≤ c g(n) for n ≥ n</a:t>
            </a:r>
            <a:r>
              <a:rPr lang="en-US" baseline="-25000" dirty="0"/>
              <a:t>0</a:t>
            </a:r>
          </a:p>
          <a:p>
            <a:pPr marL="0" indent="0">
              <a:buNone/>
            </a:pPr>
            <a:r>
              <a:rPr lang="en-US" dirty="0"/>
              <a:t>f(n)=</a:t>
            </a:r>
            <a:r>
              <a:rPr lang="el-GR" dirty="0"/>
              <a:t>ω</a:t>
            </a:r>
            <a:r>
              <a:rPr lang="en-US" dirty="0"/>
              <a:t>(g(n))  =&gt; For </a:t>
            </a:r>
            <a:r>
              <a:rPr lang="en-US" dirty="0">
                <a:solidFill>
                  <a:srgbClr val="FF0000"/>
                </a:solidFill>
              </a:rPr>
              <a:t>every c</a:t>
            </a:r>
            <a:r>
              <a:rPr lang="en-US" dirty="0"/>
              <a:t>, there should exist n</a:t>
            </a:r>
            <a:r>
              <a:rPr lang="en-US" baseline="-25000" dirty="0"/>
              <a:t>0</a:t>
            </a:r>
            <a:r>
              <a:rPr lang="en-US" dirty="0"/>
              <a:t> , </a:t>
            </a:r>
            <a:r>
              <a:rPr lang="en-US" dirty="0" err="1"/>
              <a:t>s.t.</a:t>
            </a:r>
            <a:r>
              <a:rPr lang="en-US" dirty="0"/>
              <a:t> f(n) ≥ c g(n) for n ≥ n</a:t>
            </a:r>
            <a:r>
              <a:rPr lang="en-US" baseline="-25000" dirty="0"/>
              <a:t>0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Analogy with real numbers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f(n) = O(g(n)) ≅ f ≤ 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f(n) = </a:t>
            </a:r>
            <a:r>
              <a:rPr lang="el-GR" dirty="0"/>
              <a:t>Ω(</a:t>
            </a:r>
            <a:r>
              <a:rPr lang="en-US" dirty="0"/>
              <a:t>g(n)) ≅ f ≥ 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f(n) = </a:t>
            </a:r>
            <a:r>
              <a:rPr lang="el-GR" dirty="0"/>
              <a:t>Θ(</a:t>
            </a:r>
            <a:r>
              <a:rPr lang="en-US" dirty="0"/>
              <a:t>g(n)) ≅ f = 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f(n) = o(g(n)) ≅ f &lt; 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f(n) = </a:t>
            </a:r>
            <a:r>
              <a:rPr lang="el-GR" dirty="0"/>
              <a:t>ω(</a:t>
            </a:r>
            <a:r>
              <a:rPr lang="en-US" dirty="0"/>
              <a:t>g(n)) ≅ f &gt; g</a:t>
            </a:r>
            <a:endParaRPr lang="en-US" baseline="-25000" dirty="0"/>
          </a:p>
          <a:p>
            <a:pPr marL="0" indent="0">
              <a:buNone/>
            </a:pP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825096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You Need to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Properties of logarithms: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Properties of exponentials: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Geometric progression: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Arithmetic progression: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935" y="861193"/>
            <a:ext cx="3010183" cy="15497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935" y="2784096"/>
            <a:ext cx="3672749" cy="8197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935" y="4137212"/>
            <a:ext cx="4048125" cy="762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2935" y="5505397"/>
            <a:ext cx="350520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831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725F-4F02-44C7-9B92-5FA7F95D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68503-4724-4A00-BD4A-5325D72FD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Find upper bound of running time of constant function f(n) = 6993.</a:t>
            </a:r>
            <a:r>
              <a:rPr lang="en-US" sz="2000" dirty="0"/>
              <a:t> </a:t>
            </a:r>
          </a:p>
          <a:p>
            <a:r>
              <a:rPr lang="en-US" sz="2000" dirty="0"/>
              <a:t>To find the upper bound of f(n), we have to find c and n0 such that 0 ≤ f (n) ≤ </a:t>
            </a:r>
            <a:r>
              <a:rPr lang="en-US" sz="2000" dirty="0" err="1"/>
              <a:t>c.g</a:t>
            </a:r>
            <a:r>
              <a:rPr lang="en-US" sz="2000" dirty="0"/>
              <a:t>(n) for all n ≥ n</a:t>
            </a:r>
            <a:r>
              <a:rPr lang="en-US" sz="2000" baseline="-25000" dirty="0"/>
              <a:t>0</a:t>
            </a:r>
          </a:p>
          <a:p>
            <a:r>
              <a:rPr lang="en-US" sz="2000" dirty="0"/>
              <a:t>0 ≤ f (n) ≤ c × g (n)</a:t>
            </a:r>
          </a:p>
          <a:p>
            <a:r>
              <a:rPr lang="en-US" sz="2000" dirty="0"/>
              <a:t>0 ≤ 6993 ≤ c × g (n)</a:t>
            </a:r>
          </a:p>
          <a:p>
            <a:r>
              <a:rPr lang="en-US" sz="2000" dirty="0"/>
              <a:t>0 ≤ 6993 ≤ 6993 x 1</a:t>
            </a:r>
          </a:p>
          <a:p>
            <a:r>
              <a:rPr lang="en-US" sz="2000" dirty="0"/>
              <a:t>So, c = 6993  and g(n) = 1</a:t>
            </a:r>
          </a:p>
          <a:p>
            <a:r>
              <a:rPr lang="en-US" sz="2000" dirty="0"/>
              <a:t>Any value of c which is greater than 6993, satisfies the above inequalities, so all such values of c are possible.</a:t>
            </a:r>
          </a:p>
          <a:p>
            <a:r>
              <a:rPr lang="en-US" sz="2000" dirty="0"/>
              <a:t>0 ≤ 6993 ≤ 8000 x 1 → true</a:t>
            </a:r>
          </a:p>
          <a:p>
            <a:r>
              <a:rPr lang="en-US" sz="2000" dirty="0"/>
              <a:t>0 ≤ 6993 ≤ 10500 x 1 → true</a:t>
            </a:r>
          </a:p>
          <a:p>
            <a:r>
              <a:rPr lang="en-US" sz="2000" dirty="0"/>
              <a:t>Function f(n) is constant, so it does not depend on problem size n. So n0= 1</a:t>
            </a:r>
          </a:p>
          <a:p>
            <a:r>
              <a:rPr lang="en-US" sz="2000" dirty="0"/>
              <a:t>f(n) = O(g(n)) = O(1) for c = 6993, n</a:t>
            </a:r>
            <a:r>
              <a:rPr lang="en-US" sz="2000" baseline="-25000" dirty="0"/>
              <a:t>0</a:t>
            </a:r>
            <a:r>
              <a:rPr lang="en-US" sz="2000" dirty="0"/>
              <a:t> = 1</a:t>
            </a:r>
          </a:p>
          <a:p>
            <a:r>
              <a:rPr lang="en-US" sz="2000" dirty="0"/>
              <a:t>f(n) = O(g(n)) = O(1) for c = 8000, n</a:t>
            </a:r>
            <a:r>
              <a:rPr lang="en-US" sz="2000" baseline="-25000" dirty="0"/>
              <a:t>0</a:t>
            </a:r>
            <a:r>
              <a:rPr lang="en-US" sz="2000" dirty="0"/>
              <a:t> = 1  and so 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715398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8FAD5-9559-456E-98C8-D01A603F6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376B-3545-4920-886C-0A6D487BC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Find upper bound of running time of a linear function f(n) = 6n + 3.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666666"/>
                </a:solidFill>
                <a:latin typeface="Average Sans"/>
              </a:rPr>
              <a:t>To find upper bound of f(n), we have to find c and n0 such that 0 ≤ f (n) ≤ c × g (n) for all n ≥ n0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666666"/>
                </a:solidFill>
                <a:latin typeface="Average Sans"/>
              </a:rPr>
              <a:t>0  ≤  f (n) ≤ c × g (n)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666666"/>
                </a:solidFill>
                <a:latin typeface="Average Sans"/>
              </a:rPr>
              <a:t>0  ≤  6n + 3 ≤ c × g (n)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666666"/>
                </a:solidFill>
                <a:latin typeface="Average Sans"/>
              </a:rPr>
              <a:t>0  ≤  6n + 3 ≤ 6n + 3n,  for all n ≥ 1 (There can be such infinite possibilities)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666666"/>
                </a:solidFill>
                <a:latin typeface="Average Sans"/>
              </a:rPr>
              <a:t>0  ≤  6n + 3 ≤ 9n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666666"/>
                </a:solidFill>
                <a:latin typeface="Average Sans"/>
              </a:rPr>
              <a:t>So, c = 9 and   g (n) = n,  n</a:t>
            </a:r>
            <a:r>
              <a:rPr lang="en-IN" sz="1800" baseline="-25000" dirty="0">
                <a:solidFill>
                  <a:srgbClr val="666666"/>
                </a:solidFill>
                <a:latin typeface="Average Sans"/>
              </a:rPr>
              <a:t>0</a:t>
            </a:r>
            <a:r>
              <a:rPr lang="en-IN" sz="1800" dirty="0">
                <a:solidFill>
                  <a:srgbClr val="666666"/>
                </a:solidFill>
                <a:latin typeface="Average Sans"/>
              </a:rPr>
              <a:t> = 1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37D3B6-39F7-46DC-A566-BBB171651285}"/>
              </a:ext>
            </a:extLst>
          </p:cNvPr>
          <p:cNvSpPr txBox="1"/>
          <p:nvPr/>
        </p:nvSpPr>
        <p:spPr>
          <a:xfrm>
            <a:off x="131178" y="3671892"/>
            <a:ext cx="6126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dirty="0">
                <a:solidFill>
                  <a:srgbClr val="666666"/>
                </a:solidFill>
                <a:effectLst/>
                <a:latin typeface="inherit"/>
              </a:rPr>
              <a:t>Tabular Approach</a:t>
            </a:r>
            <a:endParaRPr lang="en-US" b="0" i="0" dirty="0">
              <a:solidFill>
                <a:srgbClr val="666666"/>
              </a:solidFill>
              <a:effectLst/>
              <a:latin typeface="Average Sans"/>
            </a:endParaRPr>
          </a:p>
          <a:p>
            <a:pPr algn="l" fontAlgn="base"/>
            <a:r>
              <a:rPr lang="en-US" b="0" i="0" dirty="0">
                <a:solidFill>
                  <a:srgbClr val="666666"/>
                </a:solidFill>
                <a:effectLst/>
                <a:latin typeface="Average Sans"/>
              </a:rPr>
              <a:t>0 ≤ 6n + 3 ≤ c × g (n)</a:t>
            </a:r>
          </a:p>
          <a:p>
            <a:pPr algn="l" fontAlgn="base"/>
            <a:r>
              <a:rPr lang="en-US" b="0" i="0" dirty="0">
                <a:solidFill>
                  <a:srgbClr val="666666"/>
                </a:solidFill>
                <a:effectLst/>
                <a:latin typeface="Average Sans"/>
              </a:rPr>
              <a:t>0 ≤ 6n + 3 ≤ 7 n</a:t>
            </a:r>
          </a:p>
          <a:p>
            <a:pPr algn="l" fontAlgn="base"/>
            <a:r>
              <a:rPr lang="en-US" b="0" i="0" dirty="0">
                <a:solidFill>
                  <a:srgbClr val="666666"/>
                </a:solidFill>
                <a:effectLst/>
                <a:latin typeface="Average Sans"/>
              </a:rPr>
              <a:t>Now, manually find out the proper n</a:t>
            </a:r>
            <a:r>
              <a:rPr lang="en-US" b="0" i="0" baseline="-25000" dirty="0">
                <a:solidFill>
                  <a:srgbClr val="666666"/>
                </a:solidFill>
                <a:effectLst/>
                <a:latin typeface="inherit"/>
              </a:rPr>
              <a:t>0</a:t>
            </a:r>
            <a:r>
              <a:rPr lang="en-US" b="0" i="0" dirty="0">
                <a:solidFill>
                  <a:srgbClr val="666666"/>
                </a:solidFill>
                <a:effectLst/>
                <a:latin typeface="Average Sans"/>
              </a:rPr>
              <a:t>, such that f (n) ≤ </a:t>
            </a:r>
            <a:r>
              <a:rPr lang="en-US" b="0" i="0" dirty="0" err="1">
                <a:solidFill>
                  <a:srgbClr val="666666"/>
                </a:solidFill>
                <a:effectLst/>
                <a:latin typeface="Average Sans"/>
              </a:rPr>
              <a:t>c.g</a:t>
            </a:r>
            <a:r>
              <a:rPr lang="en-US" b="0" i="0" dirty="0">
                <a:solidFill>
                  <a:srgbClr val="666666"/>
                </a:solidFill>
                <a:effectLst/>
                <a:latin typeface="Average Sans"/>
              </a:rPr>
              <a:t> (n)</a:t>
            </a:r>
            <a:r>
              <a:rPr lang="pt-BR" b="0" i="0" dirty="0">
                <a:solidFill>
                  <a:srgbClr val="666666"/>
                </a:solidFill>
                <a:effectLst/>
                <a:latin typeface="Average Sans"/>
              </a:rPr>
              <a:t> </a:t>
            </a:r>
          </a:p>
          <a:p>
            <a:pPr algn="l" fontAlgn="base"/>
            <a:endParaRPr lang="pt-BR" b="0" i="0" dirty="0">
              <a:solidFill>
                <a:srgbClr val="666666"/>
              </a:solidFill>
              <a:effectLst/>
              <a:latin typeface="Average Sans"/>
            </a:endParaRPr>
          </a:p>
          <a:p>
            <a:pPr algn="l" fontAlgn="base"/>
            <a:r>
              <a:rPr lang="pt-BR" b="0" i="0" dirty="0">
                <a:solidFill>
                  <a:srgbClr val="666666"/>
                </a:solidFill>
                <a:effectLst/>
                <a:latin typeface="Average Sans"/>
              </a:rPr>
              <a:t>From Table, for n ≥ 3, f (n) ≤ c × g (n) holds true. So, c = 7, g(n) = n and n</a:t>
            </a:r>
            <a:r>
              <a:rPr lang="pt-BR" b="0" i="0" baseline="-25000" dirty="0">
                <a:solidFill>
                  <a:srgbClr val="666666"/>
                </a:solidFill>
                <a:effectLst/>
                <a:latin typeface="Average Sans"/>
              </a:rPr>
              <a:t>0</a:t>
            </a:r>
            <a:r>
              <a:rPr lang="pt-BR" b="0" i="0" dirty="0">
                <a:solidFill>
                  <a:srgbClr val="666666"/>
                </a:solidFill>
                <a:effectLst/>
                <a:latin typeface="Average Sans"/>
              </a:rPr>
              <a:t> = 3, There can be such multiple pair of (c, n</a:t>
            </a:r>
            <a:r>
              <a:rPr lang="pt-BR" b="0" i="0" baseline="-25000" dirty="0">
                <a:solidFill>
                  <a:srgbClr val="666666"/>
                </a:solidFill>
                <a:effectLst/>
                <a:latin typeface="Average Sans"/>
              </a:rPr>
              <a:t>0</a:t>
            </a:r>
            <a:r>
              <a:rPr lang="pt-BR" b="0" i="0" dirty="0">
                <a:solidFill>
                  <a:srgbClr val="666666"/>
                </a:solidFill>
                <a:effectLst/>
                <a:latin typeface="Average Sans"/>
              </a:rPr>
              <a:t>)</a:t>
            </a:r>
          </a:p>
          <a:p>
            <a:pPr algn="l" fontAlgn="base"/>
            <a:endParaRPr lang="pt-BR" b="0" i="0" dirty="0">
              <a:solidFill>
                <a:srgbClr val="666666"/>
              </a:solidFill>
              <a:effectLst/>
              <a:latin typeface="Average Sans"/>
            </a:endParaRPr>
          </a:p>
          <a:p>
            <a:pPr algn="l" fontAlgn="base"/>
            <a:r>
              <a:rPr lang="pt-BR" b="0" i="0" dirty="0">
                <a:solidFill>
                  <a:srgbClr val="666666"/>
                </a:solidFill>
                <a:effectLst/>
                <a:latin typeface="Average Sans"/>
              </a:rPr>
              <a:t>f(n) = O(g(n)) = O(n) for c = 9, n</a:t>
            </a:r>
            <a:r>
              <a:rPr lang="pt-BR" b="0" i="0" baseline="-25000" dirty="0">
                <a:solidFill>
                  <a:srgbClr val="666666"/>
                </a:solidFill>
                <a:effectLst/>
                <a:latin typeface="Average Sans"/>
              </a:rPr>
              <a:t>0</a:t>
            </a:r>
            <a:r>
              <a:rPr lang="pt-BR" b="0" i="0" dirty="0">
                <a:solidFill>
                  <a:srgbClr val="666666"/>
                </a:solidFill>
                <a:effectLst/>
                <a:latin typeface="Average Sans"/>
              </a:rPr>
              <a:t> = 1</a:t>
            </a:r>
          </a:p>
          <a:p>
            <a:pPr algn="l" fontAlgn="base"/>
            <a:r>
              <a:rPr lang="pt-BR" b="0" i="0" dirty="0">
                <a:solidFill>
                  <a:srgbClr val="666666"/>
                </a:solidFill>
                <a:effectLst/>
                <a:latin typeface="Average Sans"/>
              </a:rPr>
              <a:t>f(n) = O(g(n)) = O(n) for c = 7, n</a:t>
            </a:r>
            <a:r>
              <a:rPr lang="pt-BR" b="0" i="0" baseline="-25000" dirty="0">
                <a:solidFill>
                  <a:srgbClr val="666666"/>
                </a:solidFill>
                <a:effectLst/>
                <a:latin typeface="Average Sans"/>
              </a:rPr>
              <a:t>0</a:t>
            </a:r>
            <a:r>
              <a:rPr lang="pt-BR" b="0" i="0" dirty="0">
                <a:solidFill>
                  <a:srgbClr val="666666"/>
                </a:solidFill>
                <a:effectLst/>
                <a:latin typeface="Average Sans"/>
              </a:rPr>
              <a:t> = 3</a:t>
            </a:r>
            <a:endParaRPr lang="en-US" b="0" i="0" dirty="0">
              <a:solidFill>
                <a:srgbClr val="666666"/>
              </a:solidFill>
              <a:effectLst/>
              <a:latin typeface="Average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354032-7C8A-4AF9-85D2-C1169CDC2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395" y="3748892"/>
            <a:ext cx="6052176" cy="286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0609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9067-B7FB-4A8D-9242-569644433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A58D5-141C-4AE9-9C29-214F29093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Example: Find lower bound of running time of quadratic function f(n) = 3n</a:t>
            </a:r>
            <a:r>
              <a:rPr lang="en-IN" baseline="30000" dirty="0"/>
              <a:t>2</a:t>
            </a:r>
            <a:r>
              <a:rPr lang="en-IN" dirty="0"/>
              <a:t> + 2n + 4.</a:t>
            </a:r>
          </a:p>
          <a:p>
            <a:r>
              <a:rPr lang="en-IN" sz="2000" dirty="0">
                <a:solidFill>
                  <a:srgbClr val="666666"/>
                </a:solidFill>
                <a:latin typeface="Average Sans"/>
              </a:rPr>
              <a:t>To find lower bound of f(n), we have to find c and n0 such that  0 ≤ </a:t>
            </a:r>
            <a:r>
              <a:rPr lang="en-IN" sz="2000" dirty="0" err="1">
                <a:solidFill>
                  <a:srgbClr val="666666"/>
                </a:solidFill>
                <a:latin typeface="Average Sans"/>
              </a:rPr>
              <a:t>c.g</a:t>
            </a:r>
            <a:r>
              <a:rPr lang="en-IN" sz="2000" dirty="0">
                <a:solidFill>
                  <a:srgbClr val="666666"/>
                </a:solidFill>
                <a:latin typeface="Average Sans"/>
              </a:rPr>
              <a:t>(n) ≤ f(n) for all  n ³ n0</a:t>
            </a:r>
          </a:p>
          <a:p>
            <a:r>
              <a:rPr lang="en-IN" sz="2000" dirty="0">
                <a:solidFill>
                  <a:srgbClr val="666666"/>
                </a:solidFill>
                <a:latin typeface="Average Sans"/>
              </a:rPr>
              <a:t>0 ≤ c × g(n) ≤ f(n)</a:t>
            </a:r>
          </a:p>
          <a:p>
            <a:r>
              <a:rPr lang="en-IN" sz="2000" dirty="0">
                <a:solidFill>
                  <a:srgbClr val="666666"/>
                </a:solidFill>
                <a:latin typeface="Average Sans"/>
              </a:rPr>
              <a:t>0 ≤ c × g(n) ≤ 3n</a:t>
            </a:r>
            <a:r>
              <a:rPr lang="en-IN" sz="2000" baseline="30000" dirty="0">
                <a:solidFill>
                  <a:srgbClr val="666666"/>
                </a:solidFill>
                <a:latin typeface="Average Sans"/>
              </a:rPr>
              <a:t>2</a:t>
            </a:r>
            <a:r>
              <a:rPr lang="en-IN" sz="2000" dirty="0">
                <a:solidFill>
                  <a:srgbClr val="666666"/>
                </a:solidFill>
                <a:latin typeface="Average Sans"/>
              </a:rPr>
              <a:t> + 2n + 4</a:t>
            </a:r>
          </a:p>
          <a:p>
            <a:r>
              <a:rPr lang="en-IN" sz="2000" dirty="0">
                <a:solidFill>
                  <a:srgbClr val="666666"/>
                </a:solidFill>
                <a:latin typeface="Average Sans"/>
              </a:rPr>
              <a:t>0 ≤ 3n</a:t>
            </a:r>
            <a:r>
              <a:rPr lang="en-IN" sz="2000" baseline="30000" dirty="0">
                <a:solidFill>
                  <a:srgbClr val="666666"/>
                </a:solidFill>
                <a:latin typeface="Average Sans"/>
              </a:rPr>
              <a:t>2</a:t>
            </a:r>
            <a:r>
              <a:rPr lang="en-IN" sz="2000" dirty="0">
                <a:solidFill>
                  <a:srgbClr val="666666"/>
                </a:solidFill>
                <a:latin typeface="Average Sans"/>
              </a:rPr>
              <a:t> ≤ 3n</a:t>
            </a:r>
            <a:r>
              <a:rPr lang="en-IN" sz="2000" baseline="30000" dirty="0">
                <a:solidFill>
                  <a:srgbClr val="666666"/>
                </a:solidFill>
                <a:latin typeface="Average Sans"/>
              </a:rPr>
              <a:t>2</a:t>
            </a:r>
            <a:r>
              <a:rPr lang="en-IN" sz="2000" dirty="0">
                <a:solidFill>
                  <a:srgbClr val="666666"/>
                </a:solidFill>
                <a:latin typeface="Average Sans"/>
              </a:rPr>
              <a:t> + 2n + 4, → true, for all n ≥ 1</a:t>
            </a:r>
          </a:p>
          <a:p>
            <a:r>
              <a:rPr lang="en-IN" sz="2000" dirty="0">
                <a:solidFill>
                  <a:srgbClr val="666666"/>
                </a:solidFill>
                <a:latin typeface="Average Sans"/>
              </a:rPr>
              <a:t>0 ≤ n</a:t>
            </a:r>
            <a:r>
              <a:rPr lang="en-IN" sz="2000" baseline="30000" dirty="0">
                <a:solidFill>
                  <a:srgbClr val="666666"/>
                </a:solidFill>
                <a:latin typeface="Average Sans"/>
              </a:rPr>
              <a:t>2</a:t>
            </a:r>
            <a:r>
              <a:rPr lang="en-IN" sz="2000" dirty="0">
                <a:solidFill>
                  <a:srgbClr val="666666"/>
                </a:solidFill>
                <a:latin typeface="Average Sans"/>
              </a:rPr>
              <a:t> ≤ 3n</a:t>
            </a:r>
            <a:r>
              <a:rPr lang="en-IN" sz="2000" baseline="30000" dirty="0">
                <a:solidFill>
                  <a:srgbClr val="666666"/>
                </a:solidFill>
                <a:latin typeface="Average Sans"/>
              </a:rPr>
              <a:t>2</a:t>
            </a:r>
            <a:r>
              <a:rPr lang="en-IN" sz="2000" dirty="0">
                <a:solidFill>
                  <a:srgbClr val="666666"/>
                </a:solidFill>
                <a:latin typeface="Average Sans"/>
              </a:rPr>
              <a:t> + 2n + 4,   → true, for all n ≥ 1</a:t>
            </a:r>
          </a:p>
          <a:p>
            <a:r>
              <a:rPr lang="en-IN" sz="2000" dirty="0">
                <a:solidFill>
                  <a:srgbClr val="666666"/>
                </a:solidFill>
                <a:latin typeface="Average Sans"/>
              </a:rPr>
              <a:t>Above both inequalities are true and there exists such infinite inequalities.</a:t>
            </a:r>
          </a:p>
          <a:p>
            <a:r>
              <a:rPr lang="en-IN" sz="2000" dirty="0">
                <a:solidFill>
                  <a:srgbClr val="666666"/>
                </a:solidFill>
                <a:latin typeface="Average Sans"/>
              </a:rPr>
              <a:t>So, f(n) = </a:t>
            </a:r>
            <a:r>
              <a:rPr lang="el-GR" sz="2000" dirty="0">
                <a:solidFill>
                  <a:srgbClr val="666666"/>
                </a:solidFill>
                <a:latin typeface="Average Sans"/>
              </a:rPr>
              <a:t>Ω (</a:t>
            </a:r>
            <a:r>
              <a:rPr lang="en-IN" sz="2000" dirty="0">
                <a:solidFill>
                  <a:srgbClr val="666666"/>
                </a:solidFill>
                <a:latin typeface="Average Sans"/>
              </a:rPr>
              <a:t>g(n)) = </a:t>
            </a:r>
            <a:r>
              <a:rPr lang="el-GR" sz="2000" dirty="0">
                <a:solidFill>
                  <a:srgbClr val="666666"/>
                </a:solidFill>
                <a:latin typeface="Average Sans"/>
              </a:rPr>
              <a:t>Ω (</a:t>
            </a:r>
            <a:r>
              <a:rPr lang="en-IN" sz="2000" dirty="0">
                <a:solidFill>
                  <a:srgbClr val="666666"/>
                </a:solidFill>
                <a:latin typeface="Average Sans"/>
              </a:rPr>
              <a:t>n2) for c = 3, n0 = 1</a:t>
            </a:r>
          </a:p>
          <a:p>
            <a:r>
              <a:rPr lang="en-IN" sz="2000" dirty="0">
                <a:solidFill>
                  <a:srgbClr val="666666"/>
                </a:solidFill>
                <a:latin typeface="Average Sans"/>
              </a:rPr>
              <a:t>f(n) = </a:t>
            </a:r>
            <a:r>
              <a:rPr lang="el-GR" sz="2000" dirty="0">
                <a:solidFill>
                  <a:srgbClr val="666666"/>
                </a:solidFill>
                <a:latin typeface="Average Sans"/>
              </a:rPr>
              <a:t>Ω (</a:t>
            </a:r>
            <a:r>
              <a:rPr lang="en-IN" sz="2000" dirty="0">
                <a:solidFill>
                  <a:srgbClr val="666666"/>
                </a:solidFill>
                <a:latin typeface="Average Sans"/>
              </a:rPr>
              <a:t>g(n)) = </a:t>
            </a:r>
            <a:r>
              <a:rPr lang="el-GR" sz="2000" dirty="0">
                <a:solidFill>
                  <a:srgbClr val="666666"/>
                </a:solidFill>
                <a:latin typeface="Average Sans"/>
              </a:rPr>
              <a:t>Ω (</a:t>
            </a:r>
            <a:r>
              <a:rPr lang="en-IN" sz="2000" dirty="0">
                <a:solidFill>
                  <a:srgbClr val="666666"/>
                </a:solidFill>
                <a:latin typeface="Average Sans"/>
              </a:rPr>
              <a:t>n2) for c = 1, n0 = 1</a:t>
            </a:r>
          </a:p>
        </p:txBody>
      </p:sp>
    </p:spTree>
    <p:extLst>
      <p:ext uri="{BB962C8B-B14F-4D97-AF65-F5344CB8AC3E}">
        <p14:creationId xmlns:p14="http://schemas.microsoft.com/office/powerpoint/2010/main" val="7706969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0633-824E-4D43-A747-50F5D4ABB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BC8DB-438A-4E8C-9AFB-C97E56F51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tight bound of running time of a cubic function f(n) = 2n</a:t>
            </a:r>
            <a:r>
              <a:rPr lang="en-US" baseline="30000" dirty="0"/>
              <a:t>3</a:t>
            </a:r>
            <a:r>
              <a:rPr lang="en-US" dirty="0"/>
              <a:t> + 4n + 5.</a:t>
            </a:r>
          </a:p>
          <a:p>
            <a:pPr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To find tight bound of f(n), we have to find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,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and n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0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such that, 0 ≤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1 </a:t>
            </a:r>
            <a:r>
              <a:rPr lang="en-US" sz="2200" b="1" i="0" dirty="0">
                <a:solidFill>
                  <a:srgbClr val="666666"/>
                </a:solidFill>
                <a:effectLst/>
                <a:latin typeface="inherit"/>
              </a:rPr>
              <a:t>×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g(n) ≤ f(n) ≤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2 </a:t>
            </a:r>
            <a:r>
              <a:rPr lang="en-US" sz="2200" b="1" i="0" dirty="0">
                <a:solidFill>
                  <a:srgbClr val="666666"/>
                </a:solidFill>
                <a:effectLst/>
                <a:latin typeface="inherit"/>
              </a:rPr>
              <a:t>×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g(n)  for all n ≥ n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0</a:t>
            </a:r>
            <a:endParaRPr lang="en-US" sz="2200" b="0" i="0" dirty="0">
              <a:solidFill>
                <a:srgbClr val="666666"/>
              </a:solidFill>
              <a:effectLst/>
              <a:latin typeface="Average Sans"/>
            </a:endParaRPr>
          </a:p>
          <a:p>
            <a:pPr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0 ≤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1 </a:t>
            </a:r>
            <a:r>
              <a:rPr lang="en-US" sz="2200" b="1" i="0" dirty="0">
                <a:solidFill>
                  <a:srgbClr val="666666"/>
                </a:solidFill>
                <a:effectLst/>
                <a:latin typeface="inherit"/>
              </a:rPr>
              <a:t>×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g(n) ≤ 2n</a:t>
            </a:r>
            <a:r>
              <a:rPr lang="en-US" sz="2200" b="0" i="0" baseline="30000" dirty="0">
                <a:solidFill>
                  <a:srgbClr val="666666"/>
                </a:solidFill>
                <a:effectLst/>
                <a:latin typeface="inherit"/>
              </a:rPr>
              <a:t>3 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+ 4n + 5 ≤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2 </a:t>
            </a:r>
            <a:r>
              <a:rPr lang="en-US" sz="2200" b="1" i="0" dirty="0">
                <a:solidFill>
                  <a:srgbClr val="666666"/>
                </a:solidFill>
                <a:effectLst/>
                <a:latin typeface="inherit"/>
              </a:rPr>
              <a:t>×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g(n)</a:t>
            </a:r>
          </a:p>
          <a:p>
            <a:pPr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0 ≤ 2n</a:t>
            </a:r>
            <a:r>
              <a:rPr lang="en-US" sz="2200" b="0" i="0" baseline="30000" dirty="0">
                <a:solidFill>
                  <a:srgbClr val="666666"/>
                </a:solidFill>
                <a:effectLst/>
                <a:latin typeface="inherit"/>
              </a:rPr>
              <a:t>3  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≤ 2n</a:t>
            </a:r>
            <a:r>
              <a:rPr lang="en-US" sz="2200" b="0" i="0" baseline="30000" dirty="0">
                <a:solidFill>
                  <a:srgbClr val="666666"/>
                </a:solidFill>
                <a:effectLst/>
                <a:latin typeface="inherit"/>
              </a:rPr>
              <a:t>3 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+ 4n + 5 ≤ 11n</a:t>
            </a:r>
            <a:r>
              <a:rPr lang="en-US" sz="2200" b="0" i="0" baseline="30000" dirty="0">
                <a:solidFill>
                  <a:srgbClr val="666666"/>
                </a:solidFill>
                <a:effectLst/>
                <a:latin typeface="inherit"/>
              </a:rPr>
              <a:t>3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, for all n ≥ 1</a:t>
            </a:r>
          </a:p>
          <a:p>
            <a:pPr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Above inequality is true and there exists such infinite inequalities. So,</a:t>
            </a:r>
          </a:p>
          <a:p>
            <a:pPr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f(n) = Θ(g(n)) = Θ(n</a:t>
            </a:r>
            <a:r>
              <a:rPr lang="en-US" sz="2200" b="0" i="0" baseline="30000" dirty="0">
                <a:solidFill>
                  <a:srgbClr val="666666"/>
                </a:solidFill>
                <a:effectLst/>
                <a:latin typeface="inherit"/>
              </a:rPr>
              <a:t>3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) for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= 2,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= 11, n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0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= 1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421276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E8287-4F17-4252-9DD4-12042072F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General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4A18C-C63D-4A69-91C5-6868738D7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sz="2400" b="1" i="0" dirty="0">
                <a:solidFill>
                  <a:srgbClr val="666666"/>
                </a:solidFill>
                <a:effectLst/>
                <a:latin typeface="inherit"/>
              </a:rPr>
              <a:t>Example: 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Average Sans"/>
              </a:rPr>
              <a:t>Show that : (</a:t>
            </a:r>
            <a:r>
              <a:rPr lang="en-US" sz="2400" b="0" i="0" dirty="0" err="1">
                <a:solidFill>
                  <a:srgbClr val="666666"/>
                </a:solidFill>
                <a:effectLst/>
                <a:latin typeface="Average Sans"/>
              </a:rPr>
              <a:t>i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Average Sans"/>
              </a:rPr>
              <a:t>) 3n + 2 = Θ(n) (ii) 6*2</a:t>
            </a:r>
            <a:r>
              <a:rPr lang="en-US" sz="2400" b="0" i="0" baseline="30000" dirty="0">
                <a:solidFill>
                  <a:srgbClr val="666666"/>
                </a:solidFill>
                <a:effectLst/>
                <a:latin typeface="inherit"/>
              </a:rPr>
              <a:t>n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Average Sans"/>
              </a:rPr>
              <a:t> + n</a:t>
            </a:r>
            <a:r>
              <a:rPr lang="en-US" sz="2400" b="0" i="0" baseline="30000" dirty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Average Sans"/>
              </a:rPr>
              <a:t> = Θ(2</a:t>
            </a:r>
            <a:r>
              <a:rPr lang="en-US" sz="2400" b="0" i="0" baseline="30000" dirty="0">
                <a:solidFill>
                  <a:srgbClr val="666666"/>
                </a:solidFill>
                <a:effectLst/>
                <a:latin typeface="inherit"/>
              </a:rPr>
              <a:t>n</a:t>
            </a:r>
            <a:r>
              <a:rPr lang="en-US" sz="2400" b="0" i="0" dirty="0">
                <a:solidFill>
                  <a:srgbClr val="666666"/>
                </a:solidFill>
                <a:effectLst/>
                <a:latin typeface="Average Sans"/>
              </a:rPr>
              <a:t>) </a:t>
            </a:r>
          </a:p>
          <a:p>
            <a:pPr algn="l" fontAlgn="base"/>
            <a:r>
              <a:rPr lang="en-US" sz="2400" b="1" i="0" dirty="0">
                <a:solidFill>
                  <a:srgbClr val="666666"/>
                </a:solidFill>
                <a:effectLst/>
                <a:latin typeface="Average Sans"/>
              </a:rPr>
              <a:t>(</a:t>
            </a:r>
            <a:r>
              <a:rPr lang="en-US" sz="2400" b="1" i="0" dirty="0" err="1">
                <a:solidFill>
                  <a:srgbClr val="666666"/>
                </a:solidFill>
                <a:effectLst/>
                <a:latin typeface="Average Sans"/>
              </a:rPr>
              <a:t>i</a:t>
            </a:r>
            <a:r>
              <a:rPr lang="en-US" sz="2400" b="1" i="0" dirty="0">
                <a:solidFill>
                  <a:srgbClr val="666666"/>
                </a:solidFill>
                <a:effectLst/>
                <a:latin typeface="Average Sans"/>
              </a:rPr>
              <a:t>)    3n + 2 = Θ(n)</a:t>
            </a:r>
          </a:p>
          <a:p>
            <a:pPr lvl="1"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To prove above statement, we have to find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,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and n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0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such that, 0 ≤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sz="2200" b="1" i="0" dirty="0">
                <a:solidFill>
                  <a:srgbClr val="666666"/>
                </a:solidFill>
                <a:effectLst/>
                <a:latin typeface="inherit"/>
              </a:rPr>
              <a:t>×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g(n) ≤  f(n) ≤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g(n)  for all n ≥ n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0</a:t>
            </a:r>
            <a:endParaRPr lang="en-US" sz="2200" b="0" i="0" dirty="0">
              <a:solidFill>
                <a:srgbClr val="666666"/>
              </a:solidFill>
              <a:effectLst/>
              <a:latin typeface="Average Sans"/>
            </a:endParaRPr>
          </a:p>
          <a:p>
            <a:pPr lvl="1"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0 ≤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sz="2200" b="1" i="0" dirty="0">
                <a:solidFill>
                  <a:srgbClr val="666666"/>
                </a:solidFill>
                <a:effectLst/>
                <a:latin typeface="inherit"/>
              </a:rPr>
              <a:t>×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g(n) ≤ 3n + 2 ≤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2 </a:t>
            </a:r>
            <a:r>
              <a:rPr lang="en-US" sz="2200" b="1" i="0" dirty="0">
                <a:solidFill>
                  <a:srgbClr val="666666"/>
                </a:solidFill>
                <a:effectLst/>
                <a:latin typeface="inherit"/>
              </a:rPr>
              <a:t>× 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g(n)</a:t>
            </a:r>
          </a:p>
          <a:p>
            <a:pPr lvl="1"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0 ≤ 2n ≤ 3n + 2 ≤ 5n, for all n ≥ 1</a:t>
            </a:r>
          </a:p>
          <a:p>
            <a:pPr lvl="1"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So,    f(n) = Θ(g(n)) = Θ(n) for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= 2,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= 5 n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0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= 1</a:t>
            </a:r>
          </a:p>
          <a:p>
            <a:pPr algn="l" fontAlgn="base"/>
            <a:r>
              <a:rPr lang="en-US" sz="2400" b="1" i="0" dirty="0">
                <a:solidFill>
                  <a:srgbClr val="666666"/>
                </a:solidFill>
                <a:effectLst/>
                <a:latin typeface="Average Sans"/>
              </a:rPr>
              <a:t>(ii)   6*2</a:t>
            </a:r>
            <a:r>
              <a:rPr lang="en-US" sz="2400" b="1" i="0" baseline="30000" dirty="0">
                <a:solidFill>
                  <a:srgbClr val="666666"/>
                </a:solidFill>
                <a:effectLst/>
                <a:latin typeface="inherit"/>
              </a:rPr>
              <a:t>n</a:t>
            </a:r>
            <a:r>
              <a:rPr lang="en-US" sz="2400" b="1" i="0" dirty="0">
                <a:solidFill>
                  <a:srgbClr val="666666"/>
                </a:solidFill>
                <a:effectLst/>
                <a:latin typeface="Average Sans"/>
              </a:rPr>
              <a:t> + n</a:t>
            </a:r>
            <a:r>
              <a:rPr lang="en-US" sz="2400" b="1" i="0" baseline="30000" dirty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sz="2400" b="1" i="0" dirty="0">
                <a:solidFill>
                  <a:srgbClr val="666666"/>
                </a:solidFill>
                <a:effectLst/>
                <a:latin typeface="Average Sans"/>
              </a:rPr>
              <a:t> = Θ(2</a:t>
            </a:r>
            <a:r>
              <a:rPr lang="en-US" sz="2400" b="1" i="0" baseline="30000" dirty="0">
                <a:solidFill>
                  <a:srgbClr val="666666"/>
                </a:solidFill>
                <a:effectLst/>
                <a:latin typeface="inherit"/>
              </a:rPr>
              <a:t>n</a:t>
            </a:r>
            <a:r>
              <a:rPr lang="en-US" sz="2400" b="1" i="0" dirty="0">
                <a:solidFill>
                  <a:srgbClr val="666666"/>
                </a:solidFill>
                <a:effectLst/>
                <a:latin typeface="Average Sans"/>
              </a:rPr>
              <a:t>)</a:t>
            </a:r>
          </a:p>
          <a:p>
            <a:pPr lvl="1"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To prove above statement, we have to find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,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and n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0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such that, 0 ≤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sz="2200" b="1" i="0" dirty="0">
                <a:solidFill>
                  <a:srgbClr val="666666"/>
                </a:solidFill>
                <a:effectLst/>
                <a:latin typeface="inherit"/>
              </a:rPr>
              <a:t>×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g(n) ≤  f(n) ≤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g(n)  for all n ≥ n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0</a:t>
            </a:r>
            <a:endParaRPr lang="en-US" sz="2200" b="0" i="0" dirty="0">
              <a:solidFill>
                <a:srgbClr val="666666"/>
              </a:solidFill>
              <a:effectLst/>
              <a:latin typeface="Average Sans"/>
            </a:endParaRPr>
          </a:p>
          <a:p>
            <a:pPr lvl="1"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0 ≤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sz="2200" b="1" i="0" dirty="0">
                <a:solidFill>
                  <a:srgbClr val="666666"/>
                </a:solidFill>
                <a:effectLst/>
                <a:latin typeface="inherit"/>
              </a:rPr>
              <a:t>×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g(n) ≤ 6*2</a:t>
            </a:r>
            <a:r>
              <a:rPr lang="en-US" sz="2200" b="0" i="0" baseline="30000" dirty="0">
                <a:solidFill>
                  <a:srgbClr val="666666"/>
                </a:solidFill>
                <a:effectLst/>
                <a:latin typeface="inherit"/>
              </a:rPr>
              <a:t>n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+ n</a:t>
            </a:r>
            <a:r>
              <a:rPr lang="en-US" sz="2200" b="0" i="0" baseline="30000" dirty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≤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2 </a:t>
            </a:r>
            <a:r>
              <a:rPr lang="en-US" sz="2200" b="1" i="0" dirty="0">
                <a:solidFill>
                  <a:srgbClr val="666666"/>
                </a:solidFill>
                <a:effectLst/>
                <a:latin typeface="inherit"/>
              </a:rPr>
              <a:t>×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g(n)</a:t>
            </a:r>
          </a:p>
          <a:p>
            <a:pPr lvl="1"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0 ≤ 6.2</a:t>
            </a:r>
            <a:r>
              <a:rPr lang="en-US" sz="2200" b="0" i="0" baseline="30000" dirty="0">
                <a:solidFill>
                  <a:srgbClr val="666666"/>
                </a:solidFill>
                <a:effectLst/>
                <a:latin typeface="inherit"/>
              </a:rPr>
              <a:t>n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≤ 6*2</a:t>
            </a:r>
            <a:r>
              <a:rPr lang="en-US" sz="2200" b="0" i="0" baseline="30000" dirty="0">
                <a:solidFill>
                  <a:srgbClr val="666666"/>
                </a:solidFill>
                <a:effectLst/>
                <a:latin typeface="inherit"/>
              </a:rPr>
              <a:t>n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+ n</a:t>
            </a:r>
            <a:r>
              <a:rPr lang="en-US" sz="2200" b="0" i="0" baseline="30000" dirty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≤ 7*2</a:t>
            </a:r>
            <a:r>
              <a:rPr lang="en-US" sz="2200" b="0" i="0" baseline="30000" dirty="0">
                <a:solidFill>
                  <a:srgbClr val="666666"/>
                </a:solidFill>
                <a:effectLst/>
                <a:latin typeface="inherit"/>
              </a:rPr>
              <a:t>n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, for all n ≥ 1</a:t>
            </a:r>
          </a:p>
          <a:p>
            <a:pPr lvl="1" algn="l" fontAlgn="base"/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So, f(n) = Θ(g(n)) = Θ(2</a:t>
            </a:r>
            <a:r>
              <a:rPr lang="en-US" sz="2200" b="0" i="0" baseline="30000" dirty="0">
                <a:solidFill>
                  <a:srgbClr val="666666"/>
                </a:solidFill>
                <a:effectLst/>
                <a:latin typeface="inherit"/>
              </a:rPr>
              <a:t>n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) for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= 6, c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= 7 n</a:t>
            </a:r>
            <a:r>
              <a:rPr lang="en-US" sz="2200" b="0" i="0" baseline="-25000" dirty="0">
                <a:solidFill>
                  <a:srgbClr val="666666"/>
                </a:solidFill>
                <a:effectLst/>
                <a:latin typeface="inherit"/>
              </a:rPr>
              <a:t>0</a:t>
            </a:r>
            <a:r>
              <a:rPr lang="en-US" sz="2200" b="0" i="0" dirty="0">
                <a:solidFill>
                  <a:srgbClr val="666666"/>
                </a:solidFill>
                <a:effectLst/>
                <a:latin typeface="Average Sans"/>
              </a:rPr>
              <a:t> = 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4593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5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8389</TotalTime>
  <Words>6266</Words>
  <Application>Microsoft Office PowerPoint</Application>
  <PresentationFormat>Widescreen</PresentationFormat>
  <Paragraphs>770</Paragraphs>
  <Slides>56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8" baseType="lpstr">
      <vt:lpstr>inherit</vt:lpstr>
      <vt:lpstr>Wingdings 3</vt:lpstr>
      <vt:lpstr>Calibri</vt:lpstr>
      <vt:lpstr>Roboto Condensed</vt:lpstr>
      <vt:lpstr>Arial</vt:lpstr>
      <vt:lpstr>Consolas</vt:lpstr>
      <vt:lpstr>Times New Roman</vt:lpstr>
      <vt:lpstr>Wingdings</vt:lpstr>
      <vt:lpstr>Courier New</vt:lpstr>
      <vt:lpstr>Average Sans</vt:lpstr>
      <vt:lpstr>Cambria Math</vt:lpstr>
      <vt:lpstr>Office Theme</vt:lpstr>
      <vt:lpstr>Elementary Algorithmic</vt:lpstr>
      <vt:lpstr>PowerPoint Presentation</vt:lpstr>
      <vt:lpstr>Introduction </vt:lpstr>
      <vt:lpstr>Efficiency of Algorithm</vt:lpstr>
      <vt:lpstr>How Analysis is Done?</vt:lpstr>
      <vt:lpstr>Time Complexity</vt:lpstr>
      <vt:lpstr>Problem &amp; Instance</vt:lpstr>
      <vt:lpstr>Linear Search</vt:lpstr>
      <vt:lpstr>Linear Search – Example </vt:lpstr>
      <vt:lpstr>Linear Search - Algorithm</vt:lpstr>
      <vt:lpstr>Linear Search - Analysis</vt:lpstr>
      <vt:lpstr>Linear Search - Analysis</vt:lpstr>
      <vt:lpstr>Analysis of Algorithm</vt:lpstr>
      <vt:lpstr>PowerPoint Presentation</vt:lpstr>
      <vt:lpstr>Number Sorting - Example</vt:lpstr>
      <vt:lpstr>Number Sorting - Example</vt:lpstr>
      <vt:lpstr>Best, Average, &amp; Worst Case</vt:lpstr>
      <vt:lpstr>What is a Good Algorithm?</vt:lpstr>
      <vt:lpstr>Measuring the Running Time </vt:lpstr>
      <vt:lpstr>Limitations of Experimental Studies</vt:lpstr>
      <vt:lpstr>Best/Worst/Average Case</vt:lpstr>
      <vt:lpstr>Best/Worst/Average Case</vt:lpstr>
      <vt:lpstr>Asymptotic Notations</vt:lpstr>
      <vt:lpstr>Given two algorithms A1 and A2 for a problem, how do we decide</vt:lpstr>
      <vt:lpstr>continue..</vt:lpstr>
      <vt:lpstr>Introduction </vt:lpstr>
      <vt:lpstr>Asymptotic Notations</vt:lpstr>
      <vt:lpstr>O-Notation (Big O notation) (Upper Bound)</vt:lpstr>
      <vt:lpstr>PowerPoint Presentation</vt:lpstr>
      <vt:lpstr>Example</vt:lpstr>
      <vt:lpstr>Example</vt:lpstr>
      <vt:lpstr>Simple rule</vt:lpstr>
      <vt:lpstr>Ω-Notation (Omega notation) (Lower Bound)</vt:lpstr>
      <vt:lpstr>PowerPoint Presentation</vt:lpstr>
      <vt:lpstr>θ-Notation (Theta notation) (Same order) </vt:lpstr>
      <vt:lpstr>PowerPoint Presentation</vt:lpstr>
      <vt:lpstr>Asymptotic Notations</vt:lpstr>
      <vt:lpstr>Asymptotic Notations – Examples </vt:lpstr>
      <vt:lpstr>Asymptotic Notations – Examples </vt:lpstr>
      <vt:lpstr>PowerPoint Presentation</vt:lpstr>
      <vt:lpstr>Common Orders of Magnitude</vt:lpstr>
      <vt:lpstr>Comparison</vt:lpstr>
      <vt:lpstr>Growth of Function</vt:lpstr>
      <vt:lpstr>Asymptotic Notations in Equations</vt:lpstr>
      <vt:lpstr>Exercises </vt:lpstr>
      <vt:lpstr>Methods of proving Asymptotic Notations </vt:lpstr>
      <vt:lpstr>Proof by definition</vt:lpstr>
      <vt:lpstr>Proof by Limit Rules</vt:lpstr>
      <vt:lpstr>Little-Oh and Little-Omega</vt:lpstr>
      <vt:lpstr>Math You Need to Review</vt:lpstr>
      <vt:lpstr>Examples</vt:lpstr>
      <vt:lpstr>PowerPoint Presentation</vt:lpstr>
      <vt:lpstr>PowerPoint Presentation</vt:lpstr>
      <vt:lpstr>PowerPoint Presentation</vt:lpstr>
      <vt:lpstr>General Problems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CSE-30</cp:lastModifiedBy>
  <cp:revision>522</cp:revision>
  <dcterms:created xsi:type="dcterms:W3CDTF">2020-05-01T05:09:15Z</dcterms:created>
  <dcterms:modified xsi:type="dcterms:W3CDTF">2024-07-15T09:19:57Z</dcterms:modified>
</cp:coreProperties>
</file>