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7"/>
  </p:notesMasterIdLst>
  <p:sldIdLst>
    <p:sldId id="503" r:id="rId2"/>
    <p:sldId id="351" r:id="rId3"/>
    <p:sldId id="460" r:id="rId4"/>
    <p:sldId id="353" r:id="rId5"/>
    <p:sldId id="461" r:id="rId6"/>
    <p:sldId id="462" r:id="rId7"/>
    <p:sldId id="465" r:id="rId8"/>
    <p:sldId id="397" r:id="rId9"/>
    <p:sldId id="578" r:id="rId10"/>
    <p:sldId id="579" r:id="rId11"/>
    <p:sldId id="356" r:id="rId12"/>
    <p:sldId id="580" r:id="rId13"/>
    <p:sldId id="463" r:id="rId14"/>
    <p:sldId id="359" r:id="rId15"/>
    <p:sldId id="360" r:id="rId16"/>
    <p:sldId id="361" r:id="rId17"/>
    <p:sldId id="362" r:id="rId18"/>
    <p:sldId id="363" r:id="rId19"/>
    <p:sldId id="364" r:id="rId20"/>
    <p:sldId id="365" r:id="rId21"/>
    <p:sldId id="559" r:id="rId22"/>
    <p:sldId id="560" r:id="rId23"/>
    <p:sldId id="561" r:id="rId24"/>
    <p:sldId id="564" r:id="rId25"/>
    <p:sldId id="565" r:id="rId26"/>
    <p:sldId id="582" r:id="rId27"/>
    <p:sldId id="562" r:id="rId28"/>
    <p:sldId id="367" r:id="rId29"/>
    <p:sldId id="546" r:id="rId30"/>
    <p:sldId id="368" r:id="rId31"/>
    <p:sldId id="538" r:id="rId32"/>
    <p:sldId id="539" r:id="rId33"/>
    <p:sldId id="540" r:id="rId34"/>
    <p:sldId id="541" r:id="rId35"/>
    <p:sldId id="542" r:id="rId36"/>
    <p:sldId id="545" r:id="rId37"/>
    <p:sldId id="548" r:id="rId38"/>
    <p:sldId id="549" r:id="rId39"/>
    <p:sldId id="544" r:id="rId40"/>
    <p:sldId id="547" r:id="rId41"/>
    <p:sldId id="370" r:id="rId42"/>
    <p:sldId id="555" r:id="rId43"/>
    <p:sldId id="529" r:id="rId44"/>
    <p:sldId id="581" r:id="rId45"/>
    <p:sldId id="530" r:id="rId46"/>
    <p:sldId id="531" r:id="rId47"/>
    <p:sldId id="550" r:id="rId48"/>
    <p:sldId id="551" r:id="rId49"/>
    <p:sldId id="552" r:id="rId50"/>
    <p:sldId id="532" r:id="rId51"/>
    <p:sldId id="533" r:id="rId52"/>
    <p:sldId id="534" r:id="rId53"/>
    <p:sldId id="535" r:id="rId54"/>
    <p:sldId id="536" r:id="rId55"/>
    <p:sldId id="537" r:id="rId56"/>
    <p:sldId id="553" r:id="rId57"/>
    <p:sldId id="554" r:id="rId58"/>
    <p:sldId id="556" r:id="rId59"/>
    <p:sldId id="557" r:id="rId60"/>
    <p:sldId id="566" r:id="rId61"/>
    <p:sldId id="567" r:id="rId62"/>
    <p:sldId id="568" r:id="rId63"/>
    <p:sldId id="569" r:id="rId64"/>
    <p:sldId id="378" r:id="rId65"/>
    <p:sldId id="380"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702"/>
    <a:srgbClr val="8AAC46"/>
    <a:srgbClr val="E40524"/>
    <a:srgbClr val="34495E"/>
    <a:srgbClr val="0066FF"/>
    <a:srgbClr val="F8EDEC"/>
    <a:srgbClr val="D6B5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97" autoAdjust="0"/>
    <p:restoredTop sz="93537" autoAdjust="0"/>
  </p:normalViewPr>
  <p:slideViewPr>
    <p:cSldViewPr>
      <p:cViewPr varScale="1">
        <p:scale>
          <a:sx n="61" d="100"/>
          <a:sy n="61" d="100"/>
        </p:scale>
        <p:origin x="828" y="5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8/24/2023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a:t>
            </a:fld>
            <a:endParaRPr lang="en-US"/>
          </a:p>
        </p:txBody>
      </p:sp>
    </p:spTree>
    <p:extLst>
      <p:ext uri="{BB962C8B-B14F-4D97-AF65-F5344CB8AC3E}">
        <p14:creationId xmlns:p14="http://schemas.microsoft.com/office/powerpoint/2010/main" val="2353192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2735319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53</a:t>
            </a:fld>
            <a:endParaRPr lang="en-US"/>
          </a:p>
        </p:txBody>
      </p:sp>
    </p:spTree>
    <p:extLst>
      <p:ext uri="{BB962C8B-B14F-4D97-AF65-F5344CB8AC3E}">
        <p14:creationId xmlns:p14="http://schemas.microsoft.com/office/powerpoint/2010/main" val="30139278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64</a:t>
            </a:fld>
            <a:endParaRPr lang="en-US"/>
          </a:p>
        </p:txBody>
      </p:sp>
    </p:spTree>
    <p:extLst>
      <p:ext uri="{BB962C8B-B14F-4D97-AF65-F5344CB8AC3E}">
        <p14:creationId xmlns:p14="http://schemas.microsoft.com/office/powerpoint/2010/main" val="15597214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4000" y="106364"/>
            <a:ext cx="11684000" cy="808037"/>
          </a:xfrm>
        </p:spPr>
        <p:txBody>
          <a:bodyPr/>
          <a:lstStyle>
            <a:lvl1pPr algn="l">
              <a:defRPr>
                <a:latin typeface="Open Sans Semibold" panose="020B0706030804020204" pitchFamily="34" charset="0"/>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254000" y="990600"/>
            <a:ext cx="11684000" cy="5334000"/>
          </a:xfrm>
        </p:spPr>
        <p:txBody>
          <a:bodyPr>
            <a:normAutofit/>
          </a:bodyPr>
          <a:lstStyle>
            <a:lvl1pPr marL="342900" indent="-342900" algn="just">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gn="just">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gn="just">
              <a:lnSpc>
                <a:spcPct val="114000"/>
              </a:lnSpc>
              <a:buClrTx/>
              <a:defRPr sz="1800">
                <a:latin typeface="+mj-lt"/>
                <a:ea typeface="Times New Roman" panose="02020603050405020304" pitchFamily="18" charset="0"/>
                <a:cs typeface="Times New Roman" panose="02020603050405020304" pitchFamily="18" charset="0"/>
              </a:defRPr>
            </a:lvl3pPr>
            <a:lvl4pPr algn="just">
              <a:lnSpc>
                <a:spcPct val="114000"/>
              </a:lnSpc>
              <a:buClrTx/>
              <a:defRPr sz="1600">
                <a:latin typeface="+mj-lt"/>
                <a:ea typeface="Times New Roman" panose="02020603050405020304" pitchFamily="18" charset="0"/>
                <a:cs typeface="Times New Roman" panose="02020603050405020304" pitchFamily="18" charset="0"/>
              </a:defRPr>
            </a:lvl4pPr>
            <a:lvl5pPr algn="just">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12192000" cy="381000"/>
          </a:xfrm>
          <a:prstGeom prst="rect">
            <a:avLst/>
          </a:prstGeom>
          <a:solidFill>
            <a:srgbClr val="0070C0"/>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endParaRPr lang="da-DK" sz="18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a:xfrm>
            <a:off x="4978400" y="6492876"/>
            <a:ext cx="609600" cy="365125"/>
          </a:xfrm>
        </p:spPr>
        <p:txBody>
          <a:bodyPr/>
          <a:lstStyle>
            <a:lvl1pPr algn="ctr">
              <a:defRPr sz="1800">
                <a:solidFill>
                  <a:schemeClr val="bg1"/>
                </a:solidFill>
              </a:defRPr>
            </a:lvl1pPr>
          </a:lstStyle>
          <a:p>
            <a:fld id="{5EA8BEFB-AE5B-48F9-BBAD-B489CDE48C80}"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1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810.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6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1.png"/><Relationship Id="rId2" Type="http://schemas.openxmlformats.org/officeDocument/2006/relationships/image" Target="../media/image340.png"/><Relationship Id="rId1" Type="http://schemas.openxmlformats.org/officeDocument/2006/relationships/slideLayout" Target="../slideLayouts/slideLayout2.xml"/><Relationship Id="rId4" Type="http://schemas.openxmlformats.org/officeDocument/2006/relationships/image" Target="../media/image360.png"/></Relationships>
</file>

<file path=ppt/slides/_rels/slide46.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image" Target="../media/image470.png"/><Relationship Id="rId3" Type="http://schemas.openxmlformats.org/officeDocument/2006/relationships/image" Target="../media/image371.png"/><Relationship Id="rId7" Type="http://schemas.openxmlformats.org/officeDocument/2006/relationships/image" Target="../media/image410.png"/><Relationship Id="rId12" Type="http://schemas.openxmlformats.org/officeDocument/2006/relationships/image" Target="../media/image460.png"/><Relationship Id="rId2" Type="http://schemas.openxmlformats.org/officeDocument/2006/relationships/image" Target="../media/image370.png"/><Relationship Id="rId1" Type="http://schemas.openxmlformats.org/officeDocument/2006/relationships/slideLayout" Target="../slideLayouts/slideLayout2.xml"/><Relationship Id="rId6" Type="http://schemas.openxmlformats.org/officeDocument/2006/relationships/image" Target="../media/image400.png"/><Relationship Id="rId11" Type="http://schemas.openxmlformats.org/officeDocument/2006/relationships/image" Target="../media/image450.png"/><Relationship Id="rId5" Type="http://schemas.openxmlformats.org/officeDocument/2006/relationships/image" Target="../media/image390.png"/><Relationship Id="rId10" Type="http://schemas.openxmlformats.org/officeDocument/2006/relationships/image" Target="../media/image440.png"/><Relationship Id="rId4" Type="http://schemas.openxmlformats.org/officeDocument/2006/relationships/image" Target="../media/image380.png"/><Relationship Id="rId9" Type="http://schemas.openxmlformats.org/officeDocument/2006/relationships/image" Target="../media/image4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0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480.png"/><Relationship Id="rId7" Type="http://schemas.openxmlformats.org/officeDocument/2006/relationships/image" Target="../media/image540.png"/><Relationship Id="rId12" Type="http://schemas.openxmlformats.org/officeDocument/2006/relationships/image" Target="../media/image59.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0.png"/><Relationship Id="rId5" Type="http://schemas.openxmlformats.org/officeDocument/2006/relationships/image" Target="../media/image520.png"/><Relationship Id="rId10" Type="http://schemas.openxmlformats.org/officeDocument/2006/relationships/image" Target="../media/image570.png"/><Relationship Id="rId4" Type="http://schemas.openxmlformats.org/officeDocument/2006/relationships/image" Target="../media/image490.png"/><Relationship Id="rId9" Type="http://schemas.openxmlformats.org/officeDocument/2006/relationships/image" Target="../media/image560.png"/></Relationships>
</file>

<file path=ppt/slides/_rels/slide52.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50.png"/><Relationship Id="rId3" Type="http://schemas.openxmlformats.org/officeDocument/2006/relationships/image" Target="../media/image64.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49.png"/><Relationship Id="rId5" Type="http://schemas.openxmlformats.org/officeDocument/2006/relationships/image" Target="../media/image62.png"/><Relationship Id="rId10" Type="http://schemas.openxmlformats.org/officeDocument/2006/relationships/image" Target="../media/image69.png"/><Relationship Id="rId4" Type="http://schemas.openxmlformats.org/officeDocument/2006/relationships/image" Target="../media/image61.png"/><Relationship Id="rId9" Type="http://schemas.openxmlformats.org/officeDocument/2006/relationships/image" Target="../media/image68.png"/></Relationships>
</file>

<file path=ppt/slides/_rels/slide5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2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image" Target="../media/image541.png"/><Relationship Id="rId1" Type="http://schemas.openxmlformats.org/officeDocument/2006/relationships/slideLayout" Target="../slideLayouts/slideLayout2.xml"/><Relationship Id="rId4" Type="http://schemas.openxmlformats.org/officeDocument/2006/relationships/image" Target="../media/image7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1701782" y="2245294"/>
            <a:ext cx="4188156" cy="1754326"/>
          </a:xfrm>
          <a:prstGeom prst="rect">
            <a:avLst/>
          </a:prstGeom>
          <a:noFill/>
        </p:spPr>
        <p:txBody>
          <a:bodyPr wrap="square" rtlCol="0">
            <a:spAutoFit/>
          </a:bodyPr>
          <a:lstStyle/>
          <a:p>
            <a:r>
              <a:rPr lang="en-US" sz="3600" b="1" dirty="0">
                <a:solidFill>
                  <a:schemeClr val="bg1"/>
                </a:solidFill>
                <a:latin typeface="Swis721 Cn BT" panose="020B0506020202030204" pitchFamily="34" charset="0"/>
                <a:ea typeface="Open Sans Bold" panose="020B0806030504020204" pitchFamily="34" charset="0"/>
                <a:cs typeface="Open Sans Bold" panose="020B0806030504020204" pitchFamily="34" charset="0"/>
              </a:rPr>
              <a:t>Unit-3</a:t>
            </a:r>
          </a:p>
          <a:p>
            <a:r>
              <a:rPr lang="en-US" sz="3600" b="1" dirty="0">
                <a:solidFill>
                  <a:schemeClr val="bg1"/>
                </a:solidFill>
                <a:ea typeface="Open Sans Semibold" panose="020B0706030804020204" pitchFamily="34" charset="0"/>
                <a:cs typeface="Open Sans Semibold" panose="020B0706030804020204" pitchFamily="34" charset="0"/>
              </a:rPr>
              <a:t>Divide and Conquer Algorithm</a:t>
            </a:r>
            <a:endParaRPr lang="en-US" sz="3600" b="1" dirty="0">
              <a:solidFill>
                <a:schemeClr val="bg1"/>
              </a:solidFill>
              <a:latin typeface="Swis721 Cn BT" panose="020B0506020202030204" pitchFamily="34" charset="0"/>
              <a:ea typeface="Open Sans Bold" panose="020B0806030504020204" pitchFamily="34" charset="0"/>
              <a:cs typeface="Open Sans Bold" panose="020B0806030504020204" pitchFamily="34" charset="0"/>
            </a:endParaRPr>
          </a:p>
        </p:txBody>
      </p:sp>
      <p:sp>
        <p:nvSpPr>
          <p:cNvPr id="30" name="Rectangle 29"/>
          <p:cNvSpPr/>
          <p:nvPr/>
        </p:nvSpPr>
        <p:spPr>
          <a:xfrm>
            <a:off x="6428944" y="4487342"/>
            <a:ext cx="405675" cy="294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 descr="Image result for ANALYSIS AND DESIGN OF ALGORITHMS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17754" y="2070483"/>
            <a:ext cx="1852733" cy="1828800"/>
          </a:xfrm>
          <a:prstGeom prst="rect">
            <a:avLst/>
          </a:prstGeom>
          <a:noFill/>
          <a:extLst>
            <a:ext uri="{909E8E84-426E-40DD-AFC4-6F175D3DCCD1}">
              <a14:hiddenFill xmlns:a14="http://schemas.microsoft.com/office/drawing/2010/main">
                <a:solidFill>
                  <a:srgbClr val="FFFFFF"/>
                </a:solidFill>
              </a14:hiddenFill>
            </a:ext>
          </a:extLst>
        </p:spPr>
      </p:pic>
      <p:sp>
        <p:nvSpPr>
          <p:cNvPr id="28" name="Title 7">
            <a:extLst>
              <a:ext uri="{FF2B5EF4-FFF2-40B4-BE49-F238E27FC236}">
                <a16:creationId xmlns:a16="http://schemas.microsoft.com/office/drawing/2014/main" id="{2364638C-97FF-409E-B60F-C549459DFE52}"/>
              </a:ext>
            </a:extLst>
          </p:cNvPr>
          <p:cNvSpPr>
            <a:spLocks noGrp="1"/>
          </p:cNvSpPr>
          <p:nvPr>
            <p:ph type="ctrTitle"/>
          </p:nvPr>
        </p:nvSpPr>
        <p:spPr>
          <a:xfrm>
            <a:off x="559489" y="1122363"/>
            <a:ext cx="7803275" cy="3740801"/>
          </a:xfrm>
        </p:spPr>
        <p:txBody>
          <a:bodyPr>
            <a:normAutofit/>
          </a:bodyPr>
          <a:lstStyle/>
          <a:p>
            <a:r>
              <a:rPr lang="en-US" sz="5400" b="0" dirty="0">
                <a:latin typeface="Roboto Condensed" panose="02000000000000000000" pitchFamily="2" charset="0"/>
                <a:ea typeface="Roboto Condensed" panose="02000000000000000000" pitchFamily="2" charset="0"/>
              </a:rPr>
              <a:t>2CS503 Design &amp; Analysis of Algorithm</a:t>
            </a:r>
            <a:br>
              <a:rPr lang="en-US" sz="5400" b="0" dirty="0">
                <a:latin typeface="Roboto Condensed" panose="02000000000000000000" pitchFamily="2" charset="0"/>
                <a:ea typeface="Roboto Condensed" panose="02000000000000000000" pitchFamily="2" charset="0"/>
              </a:rPr>
            </a:br>
            <a:br>
              <a:rPr lang="en-US" sz="5400" b="0" dirty="0">
                <a:latin typeface="Roboto Condensed" panose="02000000000000000000" pitchFamily="2" charset="0"/>
                <a:ea typeface="Roboto Condensed" panose="02000000000000000000" pitchFamily="2" charset="0"/>
              </a:rPr>
            </a:br>
            <a:r>
              <a:rPr lang="en-US" sz="5400" b="1" dirty="0">
                <a:latin typeface="Roboto Condensed" panose="02000000000000000000" pitchFamily="2" charset="0"/>
                <a:ea typeface="Roboto Condensed" panose="02000000000000000000" pitchFamily="2" charset="0"/>
              </a:rPr>
              <a:t>Recurrence Relation</a:t>
            </a:r>
          </a:p>
        </p:txBody>
      </p:sp>
      <p:sp>
        <p:nvSpPr>
          <p:cNvPr id="2" name="TextBox 1">
            <a:extLst>
              <a:ext uri="{FF2B5EF4-FFF2-40B4-BE49-F238E27FC236}">
                <a16:creationId xmlns:a16="http://schemas.microsoft.com/office/drawing/2014/main" id="{470178EF-09F2-4A8E-8D42-229F2559E936}"/>
              </a:ext>
            </a:extLst>
          </p:cNvPr>
          <p:cNvSpPr txBox="1"/>
          <p:nvPr/>
        </p:nvSpPr>
        <p:spPr>
          <a:xfrm>
            <a:off x="1" y="6400800"/>
            <a:ext cx="12192000" cy="369332"/>
          </a:xfrm>
          <a:prstGeom prst="rect">
            <a:avLst/>
          </a:prstGeom>
          <a:noFill/>
        </p:spPr>
        <p:txBody>
          <a:bodyPr wrap="square" rtlCol="0">
            <a:spAutoFit/>
          </a:bodyPr>
          <a:lstStyle/>
          <a:p>
            <a:r>
              <a:rPr lang="en-IN" dirty="0"/>
              <a:t>Disclaimer: Content in the PPT is prepared from Books</a:t>
            </a:r>
            <a:r>
              <a:rPr lang="en-IN"/>
              <a:t>, videos and </a:t>
            </a:r>
            <a:r>
              <a:rPr lang="en-IN" dirty="0"/>
              <a:t>blogs</a:t>
            </a:r>
          </a:p>
        </p:txBody>
      </p:sp>
    </p:spTree>
    <p:extLst>
      <p:ext uri="{BB962C8B-B14F-4D97-AF65-F5344CB8AC3E}">
        <p14:creationId xmlns:p14="http://schemas.microsoft.com/office/powerpoint/2010/main" val="3309420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to be covered</a:t>
            </a:r>
          </a:p>
        </p:txBody>
      </p:sp>
      <p:sp>
        <p:nvSpPr>
          <p:cNvPr id="3" name="Content Placeholder 2"/>
          <p:cNvSpPr>
            <a:spLocks noGrp="1"/>
          </p:cNvSpPr>
          <p:nvPr>
            <p:ph idx="1"/>
          </p:nvPr>
        </p:nvSpPr>
        <p:spPr/>
        <p:txBody>
          <a:bodyPr>
            <a:normAutofit/>
          </a:bodyPr>
          <a:lstStyle/>
          <a:p>
            <a:r>
              <a:rPr lang="en-US" dirty="0"/>
              <a:t>Introduction to Recurrence Equation</a:t>
            </a:r>
          </a:p>
          <a:p>
            <a:r>
              <a:rPr lang="en-US" dirty="0"/>
              <a:t>Different methods to solve recurrence</a:t>
            </a:r>
          </a:p>
          <a:p>
            <a:r>
              <a:rPr lang="en-US" dirty="0"/>
              <a:t>Divide and Conquer Technique</a:t>
            </a:r>
          </a:p>
          <a:p>
            <a:r>
              <a:rPr lang="en-US" dirty="0"/>
              <a:t>Multiplying large Integers Problem</a:t>
            </a:r>
          </a:p>
          <a:p>
            <a:r>
              <a:rPr lang="en-US" dirty="0"/>
              <a:t>Problem Solving using divide and conquer algorithm – </a:t>
            </a:r>
          </a:p>
          <a:p>
            <a:pPr marL="914400" lvl="1" indent="-457200">
              <a:buFont typeface="+mj-lt"/>
              <a:buAutoNum type="arabicPeriod"/>
            </a:pPr>
            <a:r>
              <a:rPr lang="en-US" dirty="0"/>
              <a:t>Binary Search</a:t>
            </a:r>
          </a:p>
          <a:p>
            <a:pPr marL="914400" lvl="1" indent="-457200">
              <a:buFont typeface="+mj-lt"/>
              <a:buAutoNum type="arabicPeriod"/>
            </a:pPr>
            <a:r>
              <a:rPr lang="en-US" dirty="0"/>
              <a:t>Sorting (Merge Sort, Quick Sort)</a:t>
            </a:r>
          </a:p>
          <a:p>
            <a:pPr marL="914400" lvl="1" indent="-457200">
              <a:buFont typeface="+mj-lt"/>
              <a:buAutoNum type="arabicPeriod"/>
            </a:pPr>
            <a:r>
              <a:rPr lang="en-US" dirty="0"/>
              <a:t>Matrix Multiplication</a:t>
            </a:r>
          </a:p>
          <a:p>
            <a:pPr marL="914400" lvl="1" indent="-457200">
              <a:buFont typeface="+mj-lt"/>
              <a:buAutoNum type="arabicPeriod"/>
            </a:pPr>
            <a:r>
              <a:rPr lang="en-US" dirty="0"/>
              <a:t>Exponential</a:t>
            </a:r>
          </a:p>
        </p:txBody>
      </p:sp>
      <p:sp>
        <p:nvSpPr>
          <p:cNvPr id="4" name="Slide Number Placeholder 3"/>
          <p:cNvSpPr>
            <a:spLocks noGrp="1"/>
          </p:cNvSpPr>
          <p:nvPr>
            <p:ph type="sldNum" sz="quarter" idx="12"/>
          </p:nvPr>
        </p:nvSpPr>
        <p:spPr/>
        <p:txBody>
          <a:bodyPr/>
          <a:lstStyle/>
          <a:p>
            <a:fld id="{5EA8BEFB-AE5B-48F9-BBAD-B489CDE48C80}" type="slidenum">
              <a:rPr lang="en-US" smtClean="0"/>
              <a:pPr/>
              <a:t>2</a:t>
            </a:fld>
            <a:endParaRPr lang="en-US" dirty="0"/>
          </a:p>
        </p:txBody>
      </p:sp>
    </p:spTree>
    <p:extLst>
      <p:ext uri="{BB962C8B-B14F-4D97-AF65-F5344CB8AC3E}">
        <p14:creationId xmlns:p14="http://schemas.microsoft.com/office/powerpoint/2010/main" val="2943974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500"/>
                                        <p:tgtEl>
                                          <p:spTgt spid="3">
                                            <p:txEl>
                                              <p:pRg st="3" end="3"/>
                                            </p:txEl>
                                          </p:spTgt>
                                        </p:tgtEl>
                                      </p:cBhvr>
                                    </p:animEffect>
                                  </p:childTnLst>
                                </p:cTn>
                              </p:par>
                            </p:childTnLst>
                          </p:cTn>
                        </p:par>
                        <p:par>
                          <p:cTn id="22" fill="hold">
                            <p:stCondLst>
                              <p:cond delay="1000"/>
                            </p:stCondLst>
                            <p:childTnLst>
                              <p:par>
                                <p:cTn id="23" presetID="10" presetClass="entr" presetSubtype="0" fill="hold" grpId="0" nodeType="after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fade">
                                      <p:cBhvr>
                                        <p:cTn id="34" dur="500"/>
                                        <p:tgtEl>
                                          <p:spTgt spid="3">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Many algorithms (divide and conquer) are </a:t>
                </a:r>
                <a:r>
                  <a:rPr lang="en-US" b="1" dirty="0"/>
                  <a:t>recursive</a:t>
                </a:r>
                <a:r>
                  <a:rPr lang="en-US" dirty="0"/>
                  <a:t> in nature. </a:t>
                </a:r>
              </a:p>
              <a:p>
                <a:r>
                  <a:rPr lang="en-US" dirty="0"/>
                  <a:t>When we analyze them, we get a </a:t>
                </a:r>
                <a:r>
                  <a:rPr lang="en-US" b="1" dirty="0">
                    <a:solidFill>
                      <a:srgbClr val="FF0000"/>
                    </a:solidFill>
                  </a:rPr>
                  <a:t>recurrence relation </a:t>
                </a:r>
                <a:r>
                  <a:rPr lang="en-US" b="1" dirty="0"/>
                  <a:t>for time complexity. </a:t>
                </a:r>
              </a:p>
              <a:p>
                <a:r>
                  <a:rPr lang="en-US" dirty="0"/>
                  <a:t>We get running time as a </a:t>
                </a:r>
                <a:r>
                  <a:rPr lang="en-US" b="1" dirty="0"/>
                  <a:t>function of </a:t>
                </a:r>
                <a14:m>
                  <m:oMath xmlns:m="http://schemas.openxmlformats.org/officeDocument/2006/math">
                    <m:r>
                      <a:rPr lang="en-US" b="1" i="1" dirty="0">
                        <a:latin typeface="Cambria Math" panose="02040503050406030204" pitchFamily="18" charset="0"/>
                      </a:rPr>
                      <m:t>𝒏</m:t>
                    </m:r>
                  </m:oMath>
                </a14:m>
                <a:r>
                  <a:rPr lang="en-US" b="1" dirty="0"/>
                  <a:t> </a:t>
                </a:r>
                <a:r>
                  <a:rPr lang="en-US" dirty="0"/>
                  <a:t>(input size) and we get the running time on inputs of </a:t>
                </a:r>
                <a:r>
                  <a:rPr lang="en-US" b="1" dirty="0"/>
                  <a:t>smaller sizes</a:t>
                </a:r>
                <a:r>
                  <a:rPr lang="en-US" dirty="0"/>
                  <a:t>.</a:t>
                </a:r>
              </a:p>
              <a:p>
                <a:r>
                  <a:rPr lang="en-US" dirty="0"/>
                  <a:t>A recurrence is a </a:t>
                </a:r>
                <a:r>
                  <a:rPr lang="en-US" b="1" dirty="0"/>
                  <a:t>recursive description of a function</a:t>
                </a:r>
                <a:r>
                  <a:rPr lang="en-US" dirty="0"/>
                  <a:t>, or a description of a function in terms of itself. </a:t>
                </a:r>
              </a:p>
              <a:p>
                <a:pPr marL="0" indent="0">
                  <a:buNone/>
                </a:pPr>
                <a:r>
                  <a:rPr lang="en-US" dirty="0"/>
                  <a:t>	</a:t>
                </a:r>
                <a:r>
                  <a:rPr lang="en-US" dirty="0">
                    <a:solidFill>
                      <a:srgbClr val="FF0000"/>
                    </a:solidFill>
                  </a:rPr>
                  <a:t>Or</a:t>
                </a:r>
              </a:p>
              <a:p>
                <a:r>
                  <a:rPr lang="en-US" dirty="0"/>
                  <a:t> A recurrence is an equation or inequality that describes a function in terms of its values on smaller inputs.</a:t>
                </a:r>
              </a:p>
              <a:p>
                <a:pPr marL="0" indent="0">
                  <a:buNone/>
                </a:pPr>
                <a:r>
                  <a:rPr lang="en-US" dirty="0">
                    <a:solidFill>
                      <a:srgbClr val="FF0000"/>
                    </a:solidFill>
                  </a:rPr>
                  <a:t>             Or</a:t>
                </a:r>
              </a:p>
              <a:p>
                <a:r>
                  <a:rPr lang="en-US" dirty="0"/>
                  <a:t>A recurrence relation is an equation that defines a sequence based on a rule that gives the next term as a function of the previous term(s)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914" r="-783"/>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3</a:t>
            </a:fld>
            <a:endParaRPr lang="en-US" dirty="0"/>
          </a:p>
        </p:txBody>
      </p:sp>
    </p:spTree>
    <p:extLst>
      <p:ext uri="{BB962C8B-B14F-4D97-AF65-F5344CB8AC3E}">
        <p14:creationId xmlns:p14="http://schemas.microsoft.com/office/powerpoint/2010/main" val="277057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 to Solve Recurrence</a:t>
            </a:r>
          </a:p>
        </p:txBody>
      </p:sp>
      <p:sp>
        <p:nvSpPr>
          <p:cNvPr id="3" name="Content Placeholder 2"/>
          <p:cNvSpPr>
            <a:spLocks noGrp="1"/>
          </p:cNvSpPr>
          <p:nvPr>
            <p:ph idx="1"/>
          </p:nvPr>
        </p:nvSpPr>
        <p:spPr/>
        <p:txBody>
          <a:bodyPr/>
          <a:lstStyle/>
          <a:p>
            <a:r>
              <a:rPr lang="en-US" dirty="0">
                <a:solidFill>
                  <a:srgbClr val="FF0000"/>
                </a:solidFill>
              </a:rPr>
              <a:t>Substitution</a:t>
            </a:r>
          </a:p>
          <a:p>
            <a:r>
              <a:rPr lang="en-US" dirty="0">
                <a:solidFill>
                  <a:srgbClr val="FF0000"/>
                </a:solidFill>
              </a:rPr>
              <a:t>Homogeneous  (characteristic equation)</a:t>
            </a:r>
          </a:p>
          <a:p>
            <a:r>
              <a:rPr lang="en-US" dirty="0">
                <a:solidFill>
                  <a:srgbClr val="FF0000"/>
                </a:solidFill>
              </a:rPr>
              <a:t>Non-homogeneous</a:t>
            </a:r>
          </a:p>
          <a:p>
            <a:r>
              <a:rPr lang="en-US" dirty="0"/>
              <a:t>Master method</a:t>
            </a:r>
          </a:p>
          <a:p>
            <a:r>
              <a:rPr lang="en-US" dirty="0"/>
              <a:t>Recurrence tree</a:t>
            </a:r>
          </a:p>
          <a:p>
            <a:r>
              <a:rPr lang="en-US" dirty="0"/>
              <a:t>Intelligent guess work</a:t>
            </a:r>
          </a:p>
          <a:p>
            <a:r>
              <a:rPr lang="en-US" dirty="0"/>
              <a:t>Change of variable</a:t>
            </a:r>
          </a:p>
          <a:p>
            <a:r>
              <a:rPr lang="en-US" dirty="0"/>
              <a:t>Range transformations </a:t>
            </a:r>
          </a:p>
          <a:p>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4</a:t>
            </a:fld>
            <a:endParaRPr lang="en-US" dirty="0"/>
          </a:p>
        </p:txBody>
      </p:sp>
    </p:spTree>
    <p:extLst>
      <p:ext uri="{BB962C8B-B14F-4D97-AF65-F5344CB8AC3E}">
        <p14:creationId xmlns:p14="http://schemas.microsoft.com/office/powerpoint/2010/main" val="1363825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iterate type="lt">
                                    <p:tmPct val="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iterate type="lt">
                                    <p:tmPct val="0"/>
                                  </p:iterate>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iterate type="lt">
                                    <p:tmPct val="0"/>
                                  </p:iterate>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grpId="0" nodeType="afterEffect">
                                  <p:stCondLst>
                                    <p:cond delay="0"/>
                                  </p:stCondLst>
                                  <p:iterate type="lt">
                                    <p:tmPct val="0"/>
                                  </p:iterate>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fade">
                                      <p:cBhvr>
                                        <p:cTn id="31" dur="500"/>
                                        <p:tgtEl>
                                          <p:spTgt spid="3">
                                            <p:txEl>
                                              <p:pRg st="6" end="6"/>
                                            </p:txEl>
                                          </p:spTgt>
                                        </p:tgtEl>
                                      </p:cBhvr>
                                    </p:animEffect>
                                  </p:childTnLst>
                                </p:cTn>
                              </p:par>
                            </p:childTnLst>
                          </p:cTn>
                        </p:par>
                        <p:par>
                          <p:cTn id="32" fill="hold">
                            <p:stCondLst>
                              <p:cond delay="3500"/>
                            </p:stCondLst>
                            <p:childTnLst>
                              <p:par>
                                <p:cTn id="33" presetID="10" presetClass="entr" presetSubtype="0" fill="hold" grpId="0" nodeType="after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6" presetClass="emph" presetSubtype="0" fill="hold" nodeType="clickEffect">
                                  <p:stCondLst>
                                    <p:cond delay="0"/>
                                  </p:stCondLst>
                                  <p:iterate type="lt">
                                    <p:tmPct val="4000"/>
                                  </p:iterate>
                                  <p:childTnLst>
                                    <p:set>
                                      <p:cBhvr override="childStyle">
                                        <p:cTn id="39" dur="500" fill="hold"/>
                                        <p:tgtEl>
                                          <p:spTgt spid="3">
                                            <p:txEl>
                                              <p:pRg st="0" end="0"/>
                                            </p:txEl>
                                          </p:spTgt>
                                        </p:tgtEl>
                                        <p:attrNameLst>
                                          <p:attrName>style.color</p:attrName>
                                        </p:attrNameLst>
                                      </p:cBhvr>
                                      <p:to>
                                        <p:clrVal>
                                          <a:srgbClr val="E40524"/>
                                        </p:clrVal>
                                      </p:to>
                                    </p:set>
                                    <p:set>
                                      <p:cBhvr>
                                        <p:cTn id="40" dur="500" fill="hold"/>
                                        <p:tgtEl>
                                          <p:spTgt spid="3">
                                            <p:txEl>
                                              <p:pRg st="0" end="0"/>
                                            </p:txEl>
                                          </p:spTgt>
                                        </p:tgtEl>
                                        <p:attrNameLst>
                                          <p:attrName>fillcolor</p:attrName>
                                        </p:attrNameLst>
                                      </p:cBhvr>
                                      <p:to>
                                        <p:clrVal>
                                          <a:srgbClr val="E40524"/>
                                        </p:clrVal>
                                      </p:to>
                                    </p:set>
                                    <p:set>
                                      <p:cBhvr>
                                        <p:cTn id="41" dur="500" fill="hold"/>
                                        <p:tgtEl>
                                          <p:spTgt spid="3">
                                            <p:txEl>
                                              <p:pRg st="0" end="0"/>
                                            </p:txEl>
                                          </p:spTgt>
                                        </p:tgtEl>
                                        <p:attrNameLst>
                                          <p:attrName>fill.type</p:attrName>
                                        </p:attrNameLst>
                                      </p:cBhvr>
                                      <p:to>
                                        <p:strVal val="solid"/>
                                      </p:to>
                                    </p:set>
                                  </p:childTnLst>
                                </p:cTn>
                              </p:par>
                            </p:childTnLst>
                          </p:cTn>
                        </p:par>
                        <p:par>
                          <p:cTn id="42" fill="hold">
                            <p:stCondLst>
                              <p:cond delay="720"/>
                            </p:stCondLst>
                            <p:childTnLst>
                              <p:par>
                                <p:cTn id="43" presetID="16" presetClass="emph" presetSubtype="0" fill="hold" nodeType="afterEffect">
                                  <p:stCondLst>
                                    <p:cond delay="0"/>
                                  </p:stCondLst>
                                  <p:iterate type="lt">
                                    <p:tmPct val="4000"/>
                                  </p:iterate>
                                  <p:childTnLst>
                                    <p:set>
                                      <p:cBhvr override="childStyle">
                                        <p:cTn id="44" dur="500" fill="hold"/>
                                        <p:tgtEl>
                                          <p:spTgt spid="3">
                                            <p:txEl>
                                              <p:pRg st="3" end="3"/>
                                            </p:txEl>
                                          </p:spTgt>
                                        </p:tgtEl>
                                        <p:attrNameLst>
                                          <p:attrName>style.color</p:attrName>
                                        </p:attrNameLst>
                                      </p:cBhvr>
                                      <p:to>
                                        <p:clrVal>
                                          <a:srgbClr val="E40524"/>
                                        </p:clrVal>
                                      </p:to>
                                    </p:set>
                                    <p:set>
                                      <p:cBhvr>
                                        <p:cTn id="45" dur="500" fill="hold"/>
                                        <p:tgtEl>
                                          <p:spTgt spid="3">
                                            <p:txEl>
                                              <p:pRg st="3" end="3"/>
                                            </p:txEl>
                                          </p:spTgt>
                                        </p:tgtEl>
                                        <p:attrNameLst>
                                          <p:attrName>fillcolor</p:attrName>
                                        </p:attrNameLst>
                                      </p:cBhvr>
                                      <p:to>
                                        <p:clrVal>
                                          <a:srgbClr val="E40524"/>
                                        </p:clrVal>
                                      </p:to>
                                    </p:set>
                                    <p:set>
                                      <p:cBhvr>
                                        <p:cTn id="46" dur="500" fill="hold"/>
                                        <p:tgtEl>
                                          <p:spTgt spid="3">
                                            <p:txEl>
                                              <p:pRg st="3" end="3"/>
                                            </p:txEl>
                                          </p:spTgt>
                                        </p:tgtEl>
                                        <p:attrNameLst>
                                          <p:attrName>fill.type</p:attrName>
                                        </p:attrNameLst>
                                      </p:cBhvr>
                                      <p:to>
                                        <p:strVal val="solid"/>
                                      </p:to>
                                    </p:set>
                                  </p:childTnLst>
                                </p:cTn>
                              </p:par>
                            </p:childTnLst>
                          </p:cTn>
                        </p:par>
                        <p:par>
                          <p:cTn id="47" fill="hold">
                            <p:stCondLst>
                              <p:cond delay="1440"/>
                            </p:stCondLst>
                            <p:childTnLst>
                              <p:par>
                                <p:cTn id="48" presetID="16" presetClass="emph" presetSubtype="0" fill="hold" nodeType="afterEffect">
                                  <p:stCondLst>
                                    <p:cond delay="0"/>
                                  </p:stCondLst>
                                  <p:iterate type="lt">
                                    <p:tmPct val="4000"/>
                                  </p:iterate>
                                  <p:childTnLst>
                                    <p:set>
                                      <p:cBhvr override="childStyle">
                                        <p:cTn id="49" dur="500" fill="hold"/>
                                        <p:tgtEl>
                                          <p:spTgt spid="3">
                                            <p:txEl>
                                              <p:pRg st="4" end="4"/>
                                            </p:txEl>
                                          </p:spTgt>
                                        </p:tgtEl>
                                        <p:attrNameLst>
                                          <p:attrName>style.color</p:attrName>
                                        </p:attrNameLst>
                                      </p:cBhvr>
                                      <p:to>
                                        <p:clrVal>
                                          <a:srgbClr val="E40524"/>
                                        </p:clrVal>
                                      </p:to>
                                    </p:set>
                                    <p:set>
                                      <p:cBhvr>
                                        <p:cTn id="50" dur="500" fill="hold"/>
                                        <p:tgtEl>
                                          <p:spTgt spid="3">
                                            <p:txEl>
                                              <p:pRg st="4" end="4"/>
                                            </p:txEl>
                                          </p:spTgt>
                                        </p:tgtEl>
                                        <p:attrNameLst>
                                          <p:attrName>fillcolor</p:attrName>
                                        </p:attrNameLst>
                                      </p:cBhvr>
                                      <p:to>
                                        <p:clrVal>
                                          <a:srgbClr val="E40524"/>
                                        </p:clrVal>
                                      </p:to>
                                    </p:set>
                                    <p:set>
                                      <p:cBhvr>
                                        <p:cTn id="51" dur="500" fill="hold"/>
                                        <p:tgtEl>
                                          <p:spTgt spid="3">
                                            <p:txEl>
                                              <p:pRg st="4" end="4"/>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Substitution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make a guess for the solution and then we use mathematical induction to prove the guess is correct or incorrect.</a:t>
                </a:r>
              </a:p>
              <a:p>
                <a:r>
                  <a:rPr lang="en-US" dirty="0"/>
                  <a:t>Example 1: </a:t>
                </a:r>
              </a:p>
              <a:p>
                <a:endParaRPr lang="en-US" dirty="0"/>
              </a:p>
              <a:p>
                <a:r>
                  <a:rPr lang="en-US" dirty="0"/>
                  <a:t>Replacing </a:t>
                </a:r>
                <a14:m>
                  <m:oMath xmlns:m="http://schemas.openxmlformats.org/officeDocument/2006/math">
                    <m:r>
                      <a:rPr lang="en-US" i="1" dirty="0" smtClean="0">
                        <a:latin typeface="Cambria Math" panose="02040503050406030204" pitchFamily="18" charset="0"/>
                      </a:rPr>
                      <m:t>𝑛</m:t>
                    </m:r>
                  </m:oMath>
                </a14:m>
                <a:r>
                  <a:rPr lang="en-US" dirty="0"/>
                  <a:t> by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r>
                  <a:rPr lang="en-US" dirty="0"/>
                  <a:t> and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−2</m:t>
                    </m:r>
                  </m:oMath>
                </a14:m>
                <a:r>
                  <a:rPr lang="en-US" dirty="0"/>
                  <a:t>, we can write following equations.</a:t>
                </a:r>
              </a:p>
              <a:p>
                <a:endParaRPr lang="en-US" dirty="0"/>
              </a:p>
              <a:p>
                <a:endParaRPr lang="en-US" dirty="0"/>
              </a:p>
              <a:p>
                <a:endParaRPr lang="en-US" dirty="0"/>
              </a:p>
              <a:p>
                <a:r>
                  <a:rPr lang="en-US" dirty="0"/>
                  <a:t> Substituting equation </a:t>
                </a:r>
                <a14:m>
                  <m:oMath xmlns:m="http://schemas.openxmlformats.org/officeDocument/2006/math">
                    <m:r>
                      <a:rPr lang="en-US" i="1" dirty="0" smtClean="0">
                        <a:solidFill>
                          <a:srgbClr val="FF0000"/>
                        </a:solidFill>
                        <a:latin typeface="Cambria Math" panose="02040503050406030204" pitchFamily="18" charset="0"/>
                      </a:rPr>
                      <m:t>3</m:t>
                    </m:r>
                  </m:oMath>
                </a14:m>
                <a:r>
                  <a:rPr lang="en-US" dirty="0">
                    <a:solidFill>
                      <a:srgbClr val="FF0000"/>
                    </a:solidFill>
                  </a:rPr>
                  <a:t> in </a:t>
                </a:r>
                <a14:m>
                  <m:oMath xmlns:m="http://schemas.openxmlformats.org/officeDocument/2006/math">
                    <m:r>
                      <a:rPr lang="en-US" i="1" dirty="0" smtClean="0">
                        <a:solidFill>
                          <a:srgbClr val="FF0000"/>
                        </a:solidFill>
                        <a:latin typeface="Cambria Math" panose="02040503050406030204" pitchFamily="18" charset="0"/>
                      </a:rPr>
                      <m:t>2</m:t>
                    </m:r>
                  </m:oMath>
                </a14:m>
                <a:r>
                  <a:rPr lang="en-US" dirty="0">
                    <a:solidFill>
                      <a:srgbClr val="FF0000"/>
                    </a:solidFill>
                  </a:rPr>
                  <a:t> </a:t>
                </a:r>
                <a:r>
                  <a:rPr lang="en-US" dirty="0"/>
                  <a:t>and equation </a:t>
                </a:r>
                <a14:m>
                  <m:oMath xmlns:m="http://schemas.openxmlformats.org/officeDocument/2006/math">
                    <m:r>
                      <a:rPr lang="en-US" i="1" dirty="0" smtClean="0">
                        <a:solidFill>
                          <a:srgbClr val="FF0000"/>
                        </a:solidFill>
                        <a:latin typeface="Cambria Math" panose="02040503050406030204" pitchFamily="18" charset="0"/>
                      </a:rPr>
                      <m:t>2</m:t>
                    </m:r>
                  </m:oMath>
                </a14:m>
                <a:r>
                  <a:rPr lang="en-US" dirty="0">
                    <a:solidFill>
                      <a:srgbClr val="FF0000"/>
                    </a:solidFill>
                  </a:rPr>
                  <a:t> in </a:t>
                </a:r>
                <a14:m>
                  <m:oMath xmlns:m="http://schemas.openxmlformats.org/officeDocument/2006/math">
                    <m:r>
                      <a:rPr lang="en-US" i="1" dirty="0" smtClean="0">
                        <a:solidFill>
                          <a:srgbClr val="FF0000"/>
                        </a:solidFill>
                        <a:latin typeface="Cambria Math" panose="02040503050406030204" pitchFamily="18" charset="0"/>
                      </a:rPr>
                      <m:t>1</m:t>
                    </m:r>
                  </m:oMath>
                </a14:m>
                <a:r>
                  <a:rPr lang="en-US" dirty="0">
                    <a:solidFill>
                      <a:srgbClr val="FF0000"/>
                    </a:solidFill>
                  </a:rPr>
                  <a:t> </a:t>
                </a:r>
                <a:r>
                  <a:rPr lang="en-US" dirty="0"/>
                  <a:t>we have now,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457" r="-783"/>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5</a:t>
            </a:fld>
            <a:endParaRPr lang="en-US" dirty="0"/>
          </a:p>
        </p:txBody>
      </p:sp>
      <mc:AlternateContent xmlns:mc="http://schemas.openxmlformats.org/markup-compatibility/2006" xmlns:a14="http://schemas.microsoft.com/office/drawing/2010/main">
        <mc:Choice Requires="a14">
          <p:sp>
            <p:nvSpPr>
              <p:cNvPr id="5" name="Rectangle 4"/>
              <p:cNvSpPr/>
              <p:nvPr/>
            </p:nvSpPr>
            <p:spPr>
              <a:xfrm>
                <a:off x="3810000" y="2209800"/>
                <a:ext cx="411480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−1)+</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 </m:t>
                      </m:r>
                    </m:oMath>
                  </m:oMathPara>
                </a14:m>
                <a:endParaRPr lang="en-US" sz="2400" dirty="0">
                  <a:solidFill>
                    <a:srgbClr val="C00000"/>
                  </a:solidFill>
                </a:endParaRPr>
              </a:p>
            </p:txBody>
          </p:sp>
        </mc:Choice>
        <mc:Fallback xmlns="">
          <p:sp>
            <p:nvSpPr>
              <p:cNvPr id="5" name="Rectangle 4"/>
              <p:cNvSpPr>
                <a:spLocks noRot="1" noChangeAspect="1" noMove="1" noResize="1" noEditPoints="1" noAdjustHandles="1" noChangeArrowheads="1" noChangeShapeType="1" noTextEdit="1"/>
              </p:cNvSpPr>
              <p:nvPr/>
            </p:nvSpPr>
            <p:spPr>
              <a:xfrm>
                <a:off x="3810000" y="2209800"/>
                <a:ext cx="4114800" cy="457200"/>
              </a:xfrm>
              <a:prstGeom prst="rect">
                <a:avLst/>
              </a:prstGeom>
              <a:blipFill>
                <a:blip r:embed="rId3"/>
                <a:stretch>
                  <a:fillRect b="-14103"/>
                </a:stretch>
              </a:blipFill>
              <a:ln w="19050">
                <a:solidFill>
                  <a:srgbClr val="002060"/>
                </a:solidFill>
              </a:ln>
            </p:spPr>
            <p:txBody>
              <a:bodyPr/>
              <a:lstStyle/>
              <a:p>
                <a:r>
                  <a:rPr lang="en-IN">
                    <a:noFill/>
                  </a:rPr>
                  <a:t> </a:t>
                </a:r>
              </a:p>
            </p:txBody>
          </p:sp>
        </mc:Fallback>
      </mc:AlternateContent>
      <p:cxnSp>
        <p:nvCxnSpPr>
          <p:cNvPr id="7" name="Straight Connector 6"/>
          <p:cNvCxnSpPr>
            <a:stCxn id="5" idx="3"/>
            <a:endCxn id="8" idx="2"/>
          </p:cNvCxnSpPr>
          <p:nvPr/>
        </p:nvCxnSpPr>
        <p:spPr>
          <a:xfrm>
            <a:off x="7924800" y="2438400"/>
            <a:ext cx="983672"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8" name="Oval 7"/>
          <p:cNvSpPr/>
          <p:nvPr/>
        </p:nvSpPr>
        <p:spPr>
          <a:xfrm>
            <a:off x="8908472" y="2209800"/>
            <a:ext cx="457200" cy="457200"/>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1</a:t>
            </a:r>
          </a:p>
        </p:txBody>
      </p:sp>
      <mc:AlternateContent xmlns:mc="http://schemas.openxmlformats.org/markup-compatibility/2006" xmlns:a14="http://schemas.microsoft.com/office/drawing/2010/main">
        <mc:Choice Requires="a14">
          <p:sp>
            <p:nvSpPr>
              <p:cNvPr id="10" name="Rectangle 9"/>
              <p:cNvSpPr/>
              <p:nvPr/>
            </p:nvSpPr>
            <p:spPr>
              <a:xfrm>
                <a:off x="3810000" y="3505200"/>
                <a:ext cx="411480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−1)=</m:t>
                      </m:r>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−2)+</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−1 </m:t>
                      </m:r>
                    </m:oMath>
                  </m:oMathPara>
                </a14:m>
                <a:endParaRPr lang="en-US" sz="2400" dirty="0">
                  <a:solidFill>
                    <a:srgbClr val="C00000"/>
                  </a:solidFill>
                </a:endParaRPr>
              </a:p>
            </p:txBody>
          </p:sp>
        </mc:Choice>
        <mc:Fallback xmlns="">
          <p:sp>
            <p:nvSpPr>
              <p:cNvPr id="10" name="Rectangle 9"/>
              <p:cNvSpPr>
                <a:spLocks noRot="1" noChangeAspect="1" noMove="1" noResize="1" noEditPoints="1" noAdjustHandles="1" noChangeArrowheads="1" noChangeShapeType="1" noTextEdit="1"/>
              </p:cNvSpPr>
              <p:nvPr/>
            </p:nvSpPr>
            <p:spPr>
              <a:xfrm>
                <a:off x="3810000" y="3505200"/>
                <a:ext cx="4114800" cy="457200"/>
              </a:xfrm>
              <a:prstGeom prst="rect">
                <a:avLst/>
              </a:prstGeom>
              <a:blipFill>
                <a:blip r:embed="rId4"/>
                <a:stretch>
                  <a:fillRect b="-15385"/>
                </a:stretch>
              </a:blipFill>
              <a:ln w="19050">
                <a:solidFill>
                  <a:srgbClr val="002060"/>
                </a:solidFill>
              </a:ln>
            </p:spPr>
            <p:txBody>
              <a:bodyPr/>
              <a:lstStyle/>
              <a:p>
                <a:r>
                  <a:rPr lang="en-IN">
                    <a:noFill/>
                  </a:rPr>
                  <a:t> </a:t>
                </a:r>
              </a:p>
            </p:txBody>
          </p:sp>
        </mc:Fallback>
      </mc:AlternateContent>
      <p:cxnSp>
        <p:nvCxnSpPr>
          <p:cNvPr id="11" name="Straight Connector 10"/>
          <p:cNvCxnSpPr>
            <a:stCxn id="10" idx="3"/>
            <a:endCxn id="12" idx="2"/>
          </p:cNvCxnSpPr>
          <p:nvPr/>
        </p:nvCxnSpPr>
        <p:spPr>
          <a:xfrm>
            <a:off x="7924800" y="3733800"/>
            <a:ext cx="983672"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2" name="Oval 11"/>
          <p:cNvSpPr/>
          <p:nvPr/>
        </p:nvSpPr>
        <p:spPr>
          <a:xfrm>
            <a:off x="8908472" y="3505200"/>
            <a:ext cx="457200" cy="457200"/>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2</a:t>
            </a:r>
          </a:p>
        </p:txBody>
      </p:sp>
      <mc:AlternateContent xmlns:mc="http://schemas.openxmlformats.org/markup-compatibility/2006" xmlns:a14="http://schemas.microsoft.com/office/drawing/2010/main">
        <mc:Choice Requires="a14">
          <p:sp>
            <p:nvSpPr>
              <p:cNvPr id="13" name="Rectangle 12"/>
              <p:cNvSpPr/>
              <p:nvPr/>
            </p:nvSpPr>
            <p:spPr>
              <a:xfrm>
                <a:off x="3810000" y="4267200"/>
                <a:ext cx="411480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−2)=</m:t>
                      </m:r>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−3)+</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−2 </m:t>
                      </m:r>
                    </m:oMath>
                  </m:oMathPara>
                </a14:m>
                <a:endParaRPr lang="en-US" sz="2400" dirty="0">
                  <a:solidFill>
                    <a:srgbClr val="C00000"/>
                  </a:solidFill>
                </a:endParaRPr>
              </a:p>
            </p:txBody>
          </p:sp>
        </mc:Choice>
        <mc:Fallback xmlns="">
          <p:sp>
            <p:nvSpPr>
              <p:cNvPr id="13" name="Rectangle 12"/>
              <p:cNvSpPr>
                <a:spLocks noRot="1" noChangeAspect="1" noMove="1" noResize="1" noEditPoints="1" noAdjustHandles="1" noChangeArrowheads="1" noChangeShapeType="1" noTextEdit="1"/>
              </p:cNvSpPr>
              <p:nvPr/>
            </p:nvSpPr>
            <p:spPr>
              <a:xfrm>
                <a:off x="3810000" y="4267200"/>
                <a:ext cx="4114800" cy="457200"/>
              </a:xfrm>
              <a:prstGeom prst="rect">
                <a:avLst/>
              </a:prstGeom>
              <a:blipFill>
                <a:blip r:embed="rId5"/>
                <a:stretch>
                  <a:fillRect b="-15385"/>
                </a:stretch>
              </a:blipFill>
              <a:ln w="19050">
                <a:solidFill>
                  <a:srgbClr val="002060"/>
                </a:solidFill>
              </a:ln>
            </p:spPr>
            <p:txBody>
              <a:bodyPr/>
              <a:lstStyle/>
              <a:p>
                <a:r>
                  <a:rPr lang="en-IN">
                    <a:noFill/>
                  </a:rPr>
                  <a:t> </a:t>
                </a:r>
              </a:p>
            </p:txBody>
          </p:sp>
        </mc:Fallback>
      </mc:AlternateContent>
      <p:cxnSp>
        <p:nvCxnSpPr>
          <p:cNvPr id="14" name="Straight Connector 13"/>
          <p:cNvCxnSpPr>
            <a:stCxn id="13" idx="3"/>
            <a:endCxn id="15" idx="2"/>
          </p:cNvCxnSpPr>
          <p:nvPr/>
        </p:nvCxnSpPr>
        <p:spPr>
          <a:xfrm>
            <a:off x="7924800" y="4495800"/>
            <a:ext cx="983672"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8908472" y="4267200"/>
            <a:ext cx="457200" cy="457200"/>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3</a:t>
            </a:r>
          </a:p>
        </p:txBody>
      </p:sp>
      <mc:AlternateContent xmlns:mc="http://schemas.openxmlformats.org/markup-compatibility/2006" xmlns:a14="http://schemas.microsoft.com/office/drawing/2010/main">
        <mc:Choice Requires="a14">
          <p:sp>
            <p:nvSpPr>
              <p:cNvPr id="16" name="Rectangle 15"/>
              <p:cNvSpPr/>
              <p:nvPr/>
            </p:nvSpPr>
            <p:spPr>
              <a:xfrm>
                <a:off x="3505200" y="5410200"/>
                <a:ext cx="518160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−3)+</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−2+</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−1+</m:t>
                      </m:r>
                      <m:r>
                        <a:rPr lang="en-US" sz="2400" i="1" dirty="0">
                          <a:solidFill>
                            <a:srgbClr val="C00000"/>
                          </a:solidFill>
                          <a:latin typeface="Cambria Math" panose="02040503050406030204" pitchFamily="18" charset="0"/>
                        </a:rPr>
                        <m:t>𝑛</m:t>
                      </m:r>
                    </m:oMath>
                  </m:oMathPara>
                </a14:m>
                <a:endParaRPr lang="en-US" sz="2400" dirty="0">
                  <a:solidFill>
                    <a:srgbClr val="C00000"/>
                  </a:solidFill>
                </a:endParaRPr>
              </a:p>
            </p:txBody>
          </p:sp>
        </mc:Choice>
        <mc:Fallback xmlns="">
          <p:sp>
            <p:nvSpPr>
              <p:cNvPr id="16" name="Rectangle 15"/>
              <p:cNvSpPr>
                <a:spLocks noRot="1" noChangeAspect="1" noMove="1" noResize="1" noEditPoints="1" noAdjustHandles="1" noChangeArrowheads="1" noChangeShapeType="1" noTextEdit="1"/>
              </p:cNvSpPr>
              <p:nvPr/>
            </p:nvSpPr>
            <p:spPr>
              <a:xfrm>
                <a:off x="3505200" y="5410200"/>
                <a:ext cx="5181600" cy="457200"/>
              </a:xfrm>
              <a:prstGeom prst="rect">
                <a:avLst/>
              </a:prstGeom>
              <a:blipFill>
                <a:blip r:embed="rId6"/>
                <a:stretch>
                  <a:fillRect b="-14103"/>
                </a:stretch>
              </a:blipFill>
              <a:ln w="19050">
                <a:solidFill>
                  <a:srgbClr val="002060"/>
                </a:solidFill>
              </a:ln>
            </p:spPr>
            <p:txBody>
              <a:bodyPr/>
              <a:lstStyle/>
              <a:p>
                <a:r>
                  <a:rPr lang="en-IN">
                    <a:noFill/>
                  </a:rPr>
                  <a:t> </a:t>
                </a:r>
              </a:p>
            </p:txBody>
          </p:sp>
        </mc:Fallback>
      </mc:AlternateContent>
      <p:cxnSp>
        <p:nvCxnSpPr>
          <p:cNvPr id="23" name="Straight Connector 22"/>
          <p:cNvCxnSpPr>
            <a:stCxn id="16" idx="3"/>
            <a:endCxn id="24" idx="2"/>
          </p:cNvCxnSpPr>
          <p:nvPr/>
        </p:nvCxnSpPr>
        <p:spPr>
          <a:xfrm>
            <a:off x="8686800" y="5638800"/>
            <a:ext cx="221672"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8908472" y="5410200"/>
            <a:ext cx="457200" cy="457200"/>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4</a:t>
            </a:r>
          </a:p>
        </p:txBody>
      </p:sp>
      <p:cxnSp>
        <p:nvCxnSpPr>
          <p:cNvPr id="9" name="Straight Connector 8"/>
          <p:cNvCxnSpPr/>
          <p:nvPr/>
        </p:nvCxnSpPr>
        <p:spPr>
          <a:xfrm>
            <a:off x="5433060" y="3903408"/>
            <a:ext cx="1173480" cy="0"/>
          </a:xfrm>
          <a:prstGeom prst="line">
            <a:avLst/>
          </a:prstGeom>
          <a:ln w="38100">
            <a:solidFill>
              <a:srgbClr val="34495E"/>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3886200" y="4662948"/>
            <a:ext cx="1173480" cy="0"/>
          </a:xfrm>
          <a:prstGeom prst="line">
            <a:avLst/>
          </a:prstGeom>
          <a:ln w="38100">
            <a:solidFill>
              <a:srgbClr val="34495E"/>
            </a:solidFill>
          </a:ln>
        </p:spPr>
        <p:style>
          <a:lnRef idx="1">
            <a:schemeClr val="accent1"/>
          </a:lnRef>
          <a:fillRef idx="0">
            <a:schemeClr val="accent1"/>
          </a:fillRef>
          <a:effectRef idx="0">
            <a:schemeClr val="accent1"/>
          </a:effectRef>
          <a:fontRef idx="minor">
            <a:schemeClr val="tx1"/>
          </a:fontRef>
        </p:style>
      </p:cxnSp>
      <p:sp>
        <p:nvSpPr>
          <p:cNvPr id="18" name="Rounded Rectangle 17"/>
          <p:cNvSpPr/>
          <p:nvPr/>
        </p:nvSpPr>
        <p:spPr>
          <a:xfrm>
            <a:off x="3886200" y="3505200"/>
            <a:ext cx="1173480" cy="457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5441172" y="2209800"/>
            <a:ext cx="1173480" cy="4572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7168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par>
                          <p:cTn id="36" fill="hold">
                            <p:stCondLst>
                              <p:cond delay="500"/>
                            </p:stCondLst>
                            <p:childTnLst>
                              <p:par>
                                <p:cTn id="37" presetID="22" presetClass="entr" presetSubtype="8" fill="hold" nodeType="after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par>
                                <p:cTn id="40" presetID="22" presetClass="entr" presetSubtype="8"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500"/>
                                        <p:tgtEl>
                                          <p:spTgt spid="13"/>
                                        </p:tgtEl>
                                      </p:cBhvr>
                                    </p:animEffect>
                                  </p:childTnLst>
                                </p:cTn>
                              </p:par>
                            </p:childTnLst>
                          </p:cTn>
                        </p:par>
                        <p:par>
                          <p:cTn id="48" fill="hold">
                            <p:stCondLst>
                              <p:cond delay="500"/>
                            </p:stCondLst>
                            <p:childTnLst>
                              <p:par>
                                <p:cTn id="49" presetID="22" presetClass="entr" presetSubtype="8" fill="hold" nodeType="afterEffect">
                                  <p:stCondLst>
                                    <p:cond delay="0"/>
                                  </p:stCondLst>
                                  <p:childTnLst>
                                    <p:set>
                                      <p:cBhvr>
                                        <p:cTn id="50" dur="1" fill="hold">
                                          <p:stCondLst>
                                            <p:cond delay="0"/>
                                          </p:stCondLst>
                                        </p:cTn>
                                        <p:tgtEl>
                                          <p:spTgt spid="14"/>
                                        </p:tgtEl>
                                        <p:attrNameLst>
                                          <p:attrName>style.visibility</p:attrName>
                                        </p:attrNameLst>
                                      </p:cBhvr>
                                      <p:to>
                                        <p:strVal val="visible"/>
                                      </p:to>
                                    </p:set>
                                    <p:animEffect transition="in" filter="wipe(left)">
                                      <p:cBhvr>
                                        <p:cTn id="51" dur="500"/>
                                        <p:tgtEl>
                                          <p:spTgt spid="14"/>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left)">
                                      <p:cBhvr>
                                        <p:cTn id="54" dur="500"/>
                                        <p:tgtEl>
                                          <p:spTgt spid="15"/>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animEffect transition="in" filter="fade">
                                      <p:cBhvr>
                                        <p:cTn id="59" dur="500"/>
                                        <p:tgtEl>
                                          <p:spTgt spid="3">
                                            <p:txEl>
                                              <p:pRg st="7" end="7"/>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left)">
                                      <p:cBhvr>
                                        <p:cTn id="64" dur="500"/>
                                        <p:tgtEl>
                                          <p:spTgt spid="9"/>
                                        </p:tgtEl>
                                      </p:cBhvr>
                                    </p:animEffect>
                                  </p:childTnLst>
                                </p:cTn>
                              </p:par>
                              <p:par>
                                <p:cTn id="65" presetID="22" presetClass="entr" presetSubtype="8"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animEffect transition="in" filter="wipe(left)">
                                      <p:cBhvr>
                                        <p:cTn id="67" dur="500"/>
                                        <p:tgtEl>
                                          <p:spTgt spid="20"/>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wipe(left)">
                                      <p:cBhvr>
                                        <p:cTn id="72" dur="500"/>
                                        <p:tgtEl>
                                          <p:spTgt spid="22"/>
                                        </p:tgtEl>
                                      </p:cBhvr>
                                    </p:animEffect>
                                  </p:childTnLst>
                                </p:cTn>
                              </p:par>
                              <p:par>
                                <p:cTn id="73" presetID="22" presetClass="entr" presetSubtype="8"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wipe(left)">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500"/>
                                        <p:tgtEl>
                                          <p:spTgt spid="16"/>
                                        </p:tgtEl>
                                      </p:cBhvr>
                                    </p:animEffect>
                                  </p:childTnLst>
                                </p:cTn>
                              </p:par>
                            </p:childTnLst>
                          </p:cTn>
                        </p:par>
                        <p:par>
                          <p:cTn id="81" fill="hold">
                            <p:stCondLst>
                              <p:cond delay="500"/>
                            </p:stCondLst>
                            <p:childTnLst>
                              <p:par>
                                <p:cTn id="82" presetID="22" presetClass="entr" presetSubtype="8" fill="hold" nodeType="after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wipe(left)">
                                      <p:cBhvr>
                                        <p:cTn id="84" dur="500"/>
                                        <p:tgtEl>
                                          <p:spTgt spid="23"/>
                                        </p:tgtEl>
                                      </p:cBhvr>
                                    </p:animEffect>
                                  </p:childTnLst>
                                </p:cTn>
                              </p:par>
                            </p:childTnLst>
                          </p:cTn>
                        </p:par>
                        <p:par>
                          <p:cTn id="85" fill="hold">
                            <p:stCondLst>
                              <p:cond delay="1000"/>
                            </p:stCondLst>
                            <p:childTnLst>
                              <p:par>
                                <p:cTn id="86" presetID="22" presetClass="entr" presetSubtype="8" fill="hold" grpId="0" nodeType="afterEffect">
                                  <p:stCondLst>
                                    <p:cond delay="0"/>
                                  </p:stCondLst>
                                  <p:childTnLst>
                                    <p:set>
                                      <p:cBhvr>
                                        <p:cTn id="87" dur="1" fill="hold">
                                          <p:stCondLst>
                                            <p:cond delay="0"/>
                                          </p:stCondLst>
                                        </p:cTn>
                                        <p:tgtEl>
                                          <p:spTgt spid="24"/>
                                        </p:tgtEl>
                                        <p:attrNameLst>
                                          <p:attrName>style.visibility</p:attrName>
                                        </p:attrNameLst>
                                      </p:cBhvr>
                                      <p:to>
                                        <p:strVal val="visible"/>
                                      </p:to>
                                    </p:set>
                                    <p:animEffect transition="in" filter="wipe(left)">
                                      <p:cBhvr>
                                        <p:cTn id="8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animBg="1"/>
      <p:bldP spid="12" grpId="0" animBg="1"/>
      <p:bldP spid="13" grpId="0" animBg="1"/>
      <p:bldP spid="15" grpId="0" animBg="1"/>
      <p:bldP spid="16" grpId="0" animBg="1"/>
      <p:bldP spid="24" grpId="0" animBg="1"/>
      <p:bldP spid="18"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Substitution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endParaRPr lang="en-US" dirty="0"/>
              </a:p>
              <a:p>
                <a:endParaRPr lang="en-US" dirty="0"/>
              </a:p>
              <a:p>
                <a:r>
                  <a:rPr lang="en-US" dirty="0"/>
                  <a:t>From above, we can write the general form as,</a:t>
                </a:r>
              </a:p>
              <a:p>
                <a:endParaRPr lang="en-US" dirty="0"/>
              </a:p>
              <a:p>
                <a:endParaRPr lang="en-US" dirty="0"/>
              </a:p>
              <a:p>
                <a:r>
                  <a:rPr lang="en-US" dirty="0"/>
                  <a:t>Suppose, if we take </a:t>
                </a:r>
                <a14:m>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 = </m:t>
                    </m:r>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a:t>then,</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0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6</a:t>
            </a:fld>
            <a:endParaRPr lang="en-US" dirty="0"/>
          </a:p>
        </p:txBody>
      </p:sp>
      <mc:AlternateContent xmlns:mc="http://schemas.openxmlformats.org/markup-compatibility/2006" xmlns:a14="http://schemas.microsoft.com/office/drawing/2010/main">
        <mc:Choice Requires="a14">
          <p:sp>
            <p:nvSpPr>
              <p:cNvPr id="5" name="Rectangle 4"/>
              <p:cNvSpPr/>
              <p:nvPr/>
            </p:nvSpPr>
            <p:spPr>
              <a:xfrm>
                <a:off x="3503676" y="1295400"/>
                <a:ext cx="5184648"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𝑇</m:t>
                      </m:r>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−3)+</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−2+</m:t>
                      </m:r>
                      <m:r>
                        <a:rPr lang="en-US" sz="2400" i="1" dirty="0">
                          <a:solidFill>
                            <a:srgbClr val="C00000"/>
                          </a:solidFill>
                          <a:latin typeface="Cambria Math" panose="02040503050406030204" pitchFamily="18" charset="0"/>
                        </a:rPr>
                        <m:t>𝑛</m:t>
                      </m:r>
                      <m:r>
                        <a:rPr lang="en-US" sz="2400" i="1" dirty="0">
                          <a:solidFill>
                            <a:srgbClr val="C00000"/>
                          </a:solidFill>
                          <a:latin typeface="Cambria Math" panose="02040503050406030204" pitchFamily="18" charset="0"/>
                        </a:rPr>
                        <m:t>−1+</m:t>
                      </m:r>
                      <m:r>
                        <a:rPr lang="en-US" sz="2400" i="1" dirty="0">
                          <a:solidFill>
                            <a:srgbClr val="C00000"/>
                          </a:solidFill>
                          <a:latin typeface="Cambria Math" panose="02040503050406030204" pitchFamily="18" charset="0"/>
                        </a:rPr>
                        <m:t>𝑛</m:t>
                      </m:r>
                    </m:oMath>
                  </m:oMathPara>
                </a14:m>
                <a:endParaRPr lang="en-US" sz="2400" i="1" dirty="0">
                  <a:solidFill>
                    <a:srgbClr val="C00000"/>
                  </a:solidFill>
                  <a:latin typeface="Cambria Math" panose="020405030504060302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3503676" y="1295400"/>
                <a:ext cx="5184648" cy="457200"/>
              </a:xfrm>
              <a:prstGeom prst="rect">
                <a:avLst/>
              </a:prstGeom>
              <a:blipFill>
                <a:blip r:embed="rId3"/>
                <a:stretch>
                  <a:fillRect b="-16667"/>
                </a:stretch>
              </a:blipFill>
              <a:ln w="19050">
                <a:solidFill>
                  <a:srgbClr val="00206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2392680" y="2667000"/>
                <a:ext cx="740664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𝑇</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𝑛</m:t>
                          </m:r>
                        </m:e>
                      </m:d>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𝑇</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𝑘</m:t>
                          </m:r>
                        </m:e>
                      </m:d>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𝑘</m:t>
                      </m:r>
                      <m:r>
                        <a:rPr lang="en-US" sz="2400" i="1">
                          <a:solidFill>
                            <a:srgbClr val="C00000"/>
                          </a:solidFill>
                          <a:latin typeface="Cambria Math" panose="02040503050406030204" pitchFamily="18" charset="0"/>
                        </a:rPr>
                        <m:t>+1)+(</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𝑘</m:t>
                      </m:r>
                      <m:r>
                        <a:rPr lang="en-US" sz="2400" i="1">
                          <a:solidFill>
                            <a:srgbClr val="C00000"/>
                          </a:solidFill>
                          <a:latin typeface="Cambria Math" panose="02040503050406030204" pitchFamily="18" charset="0"/>
                        </a:rPr>
                        <m:t>+2)+ …+</m:t>
                      </m:r>
                      <m:r>
                        <a:rPr lang="en-US" sz="2400" i="1">
                          <a:solidFill>
                            <a:srgbClr val="C00000"/>
                          </a:solidFill>
                          <a:latin typeface="Cambria Math" panose="02040503050406030204" pitchFamily="18" charset="0"/>
                        </a:rPr>
                        <m:t>𝑛</m:t>
                      </m:r>
                    </m:oMath>
                  </m:oMathPara>
                </a14:m>
                <a:endParaRPr lang="en-US" sz="2400" i="1" dirty="0">
                  <a:solidFill>
                    <a:srgbClr val="C00000"/>
                  </a:solidFill>
                  <a:latin typeface="Cambria Math" panose="02040503050406030204" pitchFamily="18" charset="0"/>
                </a:endParaRPr>
              </a:p>
            </p:txBody>
          </p:sp>
        </mc:Choice>
        <mc:Fallback xmlns="">
          <p:sp>
            <p:nvSpPr>
              <p:cNvPr id="6" name="Rectangle 5"/>
              <p:cNvSpPr>
                <a:spLocks noRot="1" noChangeAspect="1" noMove="1" noResize="1" noEditPoints="1" noAdjustHandles="1" noChangeArrowheads="1" noChangeShapeType="1" noTextEdit="1"/>
              </p:cNvSpPr>
              <p:nvPr/>
            </p:nvSpPr>
            <p:spPr>
              <a:xfrm>
                <a:off x="2392680" y="2667000"/>
                <a:ext cx="7406640" cy="457200"/>
              </a:xfrm>
              <a:prstGeom prst="rect">
                <a:avLst/>
              </a:prstGeom>
              <a:blipFill>
                <a:blip r:embed="rId4"/>
                <a:stretch>
                  <a:fillRect b="-16667"/>
                </a:stretch>
              </a:blipFill>
              <a:ln w="19050">
                <a:solidFill>
                  <a:srgbClr val="00206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2438400" y="4114800"/>
                <a:ext cx="740664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𝑇</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𝑇</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+1+</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m:t>
                      </m:r>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+2+ …+</m:t>
                      </m:r>
                      <m:r>
                        <a:rPr lang="en-US" sz="2400" i="1">
                          <a:solidFill>
                            <a:srgbClr val="C00000"/>
                          </a:solidFill>
                          <a:latin typeface="Cambria Math" panose="02040503050406030204" pitchFamily="18" charset="0"/>
                        </a:rPr>
                        <m:t>𝑛</m:t>
                      </m:r>
                    </m:oMath>
                  </m:oMathPara>
                </a14:m>
                <a:endParaRPr sz="2400" i="1" dirty="0">
                  <a:solidFill>
                    <a:srgbClr val="C00000"/>
                  </a:solidFill>
                  <a:latin typeface="Cambria Math" panose="02040503050406030204" pitchFamily="18" charset="0"/>
                </a:endParaRPr>
              </a:p>
            </p:txBody>
          </p:sp>
        </mc:Choice>
        <mc:Fallback xmlns="">
          <p:sp>
            <p:nvSpPr>
              <p:cNvPr id="7" name="Rectangle 6"/>
              <p:cNvSpPr>
                <a:spLocks noRot="1" noChangeAspect="1" noMove="1" noResize="1" noEditPoints="1" noAdjustHandles="1" noChangeArrowheads="1" noChangeShapeType="1" noTextEdit="1"/>
              </p:cNvSpPr>
              <p:nvPr/>
            </p:nvSpPr>
            <p:spPr>
              <a:xfrm>
                <a:off x="2438400" y="4114800"/>
                <a:ext cx="7406640" cy="457200"/>
              </a:xfrm>
              <a:prstGeom prst="rect">
                <a:avLst/>
              </a:prstGeom>
              <a:blipFill>
                <a:blip r:embed="rId5"/>
                <a:stretch>
                  <a:fillRect b="-17949"/>
                </a:stretch>
              </a:blipFill>
              <a:ln w="19050">
                <a:solidFill>
                  <a:srgbClr val="00206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3733800" y="4876800"/>
                <a:ext cx="4114800" cy="45720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𝑇</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𝑛</m:t>
                          </m:r>
                        </m:e>
                      </m:d>
                      <m:r>
                        <a:rPr lang="en-US" sz="2400" i="1">
                          <a:solidFill>
                            <a:srgbClr val="C00000"/>
                          </a:solidFill>
                          <a:latin typeface="Cambria Math" panose="02040503050406030204" pitchFamily="18" charset="0"/>
                        </a:rPr>
                        <m:t>=0+1+2+ …+</m:t>
                      </m:r>
                      <m:r>
                        <a:rPr lang="en-US" sz="2400" i="1">
                          <a:solidFill>
                            <a:srgbClr val="C00000"/>
                          </a:solidFill>
                          <a:latin typeface="Cambria Math" panose="02040503050406030204" pitchFamily="18" charset="0"/>
                        </a:rPr>
                        <m:t>𝑛</m:t>
                      </m:r>
                    </m:oMath>
                  </m:oMathPara>
                </a14:m>
                <a:endParaRPr lang="en-US" sz="2400" i="1" dirty="0">
                  <a:solidFill>
                    <a:srgbClr val="C00000"/>
                  </a:solidFill>
                  <a:latin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3733800" y="4876800"/>
                <a:ext cx="4114800" cy="457200"/>
              </a:xfrm>
              <a:prstGeom prst="rect">
                <a:avLst/>
              </a:prstGeom>
              <a:blipFill>
                <a:blip r:embed="rId6"/>
                <a:stretch>
                  <a:fillRect/>
                </a:stretch>
              </a:blipFill>
              <a:ln w="19050">
                <a:solidFill>
                  <a:srgbClr val="002060"/>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3733800" y="5612534"/>
                <a:ext cx="4114800" cy="822960"/>
              </a:xfrm>
              <a:prstGeom prst="rect">
                <a:avLst/>
              </a:prstGeom>
              <a:no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400" i="1">
                          <a:solidFill>
                            <a:srgbClr val="C00000"/>
                          </a:solidFill>
                          <a:latin typeface="Cambria Math" panose="02040503050406030204" pitchFamily="18" charset="0"/>
                        </a:rPr>
                        <m:t>𝑇</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𝑛</m:t>
                          </m:r>
                        </m:e>
                      </m:d>
                      <m:r>
                        <a:rPr lang="en-US" sz="2400" i="1">
                          <a:solidFill>
                            <a:srgbClr val="C00000"/>
                          </a:solidFill>
                          <a:latin typeface="Cambria Math" panose="02040503050406030204" pitchFamily="18" charset="0"/>
                        </a:rPr>
                        <m:t>=</m:t>
                      </m:r>
                      <m:f>
                        <m:fPr>
                          <m:ctrlPr>
                            <a:rPr lang="en-US" sz="2400" i="1">
                              <a:solidFill>
                                <a:srgbClr val="C00000"/>
                              </a:solidFill>
                              <a:latin typeface="Cambria Math" panose="02040503050406030204" pitchFamily="18" charset="0"/>
                            </a:rPr>
                          </m:ctrlPr>
                        </m:fPr>
                        <m:num>
                          <m:r>
                            <a:rPr lang="en-US" sz="2400" i="1">
                              <a:solidFill>
                                <a:srgbClr val="C00000"/>
                              </a:solidFill>
                              <a:latin typeface="Cambria Math" panose="02040503050406030204" pitchFamily="18" charset="0"/>
                            </a:rPr>
                            <m:t>𝑛</m:t>
                          </m:r>
                          <m:d>
                            <m:dPr>
                              <m:ctrlPr>
                                <a:rPr lang="en-US" sz="2400" i="1">
                                  <a:solidFill>
                                    <a:srgbClr val="C00000"/>
                                  </a:solidFill>
                                  <a:latin typeface="Cambria Math" panose="02040503050406030204" pitchFamily="18" charset="0"/>
                                </a:rPr>
                              </m:ctrlPr>
                            </m:dPr>
                            <m:e>
                              <m:r>
                                <a:rPr lang="en-US" sz="2400" i="1">
                                  <a:solidFill>
                                    <a:srgbClr val="C00000"/>
                                  </a:solidFill>
                                  <a:latin typeface="Cambria Math" panose="02040503050406030204" pitchFamily="18" charset="0"/>
                                </a:rPr>
                                <m:t>𝑛</m:t>
                              </m:r>
                              <m:r>
                                <a:rPr lang="en-US" sz="2400" i="1">
                                  <a:solidFill>
                                    <a:srgbClr val="C00000"/>
                                  </a:solidFill>
                                  <a:latin typeface="Cambria Math" panose="02040503050406030204" pitchFamily="18" charset="0"/>
                                </a:rPr>
                                <m:t>+1</m:t>
                              </m:r>
                            </m:e>
                          </m:d>
                          <m:r>
                            <a:rPr lang="en-US" sz="2400" i="1">
                              <a:solidFill>
                                <a:srgbClr val="C00000"/>
                              </a:solidFill>
                              <a:latin typeface="Cambria Math" panose="02040503050406030204" pitchFamily="18" charset="0"/>
                            </a:rPr>
                            <m:t> </m:t>
                          </m:r>
                        </m:num>
                        <m:den>
                          <m:r>
                            <a:rPr lang="en-US" sz="2400" i="1">
                              <a:solidFill>
                                <a:srgbClr val="C00000"/>
                              </a:solidFill>
                              <a:latin typeface="Cambria Math" panose="02040503050406030204" pitchFamily="18" charset="0"/>
                            </a:rPr>
                            <m:t>2</m:t>
                          </m:r>
                        </m:den>
                      </m:f>
                      <m:r>
                        <a:rPr lang="en-US" sz="2400" i="1" dirty="0">
                          <a:solidFill>
                            <a:srgbClr val="C00000"/>
                          </a:solidFill>
                          <a:latin typeface="Cambria Math" panose="02040503050406030204" pitchFamily="18" charset="0"/>
                        </a:rPr>
                        <m:t>=</m:t>
                      </m:r>
                      <m:r>
                        <a:rPr lang="en-US" sz="2400" i="1" dirty="0">
                          <a:solidFill>
                            <a:srgbClr val="C00000"/>
                          </a:solidFill>
                          <a:latin typeface="Cambria Math" panose="02040503050406030204" pitchFamily="18" charset="0"/>
                        </a:rPr>
                        <m:t>𝑶</m:t>
                      </m:r>
                      <m:d>
                        <m:dPr>
                          <m:ctrlPr>
                            <a:rPr lang="en-US" sz="2400" i="1" dirty="0">
                              <a:solidFill>
                                <a:srgbClr val="C00000"/>
                              </a:solidFill>
                              <a:latin typeface="Cambria Math" panose="02040503050406030204" pitchFamily="18" charset="0"/>
                            </a:rPr>
                          </m:ctrlPr>
                        </m:dPr>
                        <m:e>
                          <m:sSup>
                            <m:sSupPr>
                              <m:ctrlPr>
                                <a:rPr lang="en-US" sz="2400" i="1" dirty="0">
                                  <a:solidFill>
                                    <a:srgbClr val="C00000"/>
                                  </a:solidFill>
                                  <a:latin typeface="Cambria Math" panose="02040503050406030204" pitchFamily="18" charset="0"/>
                                </a:rPr>
                              </m:ctrlPr>
                            </m:sSupPr>
                            <m:e>
                              <m:r>
                                <a:rPr lang="en-US" sz="2400" i="1" dirty="0">
                                  <a:solidFill>
                                    <a:srgbClr val="C00000"/>
                                  </a:solidFill>
                                  <a:latin typeface="Cambria Math" panose="02040503050406030204" pitchFamily="18" charset="0"/>
                                </a:rPr>
                                <m:t>𝒏</m:t>
                              </m:r>
                            </m:e>
                            <m:sup>
                              <m:r>
                                <a:rPr lang="en-US" sz="2400" i="1" dirty="0">
                                  <a:solidFill>
                                    <a:srgbClr val="C00000"/>
                                  </a:solidFill>
                                  <a:latin typeface="Cambria Math" panose="02040503050406030204" pitchFamily="18" charset="0"/>
                                </a:rPr>
                                <m:t>𝟐</m:t>
                              </m:r>
                            </m:sup>
                          </m:sSup>
                        </m:e>
                      </m:d>
                    </m:oMath>
                  </m:oMathPara>
                </a14:m>
                <a:endParaRPr lang="en-US" sz="2400" i="1" dirty="0">
                  <a:solidFill>
                    <a:srgbClr val="C00000"/>
                  </a:solidFill>
                  <a:latin typeface="Cambria Math" panose="02040503050406030204" pitchFamily="18" charset="0"/>
                </a:endParaRPr>
              </a:p>
            </p:txBody>
          </p:sp>
        </mc:Choice>
        <mc:Fallback xmlns="">
          <p:sp>
            <p:nvSpPr>
              <p:cNvPr id="9" name="Rectangle 8"/>
              <p:cNvSpPr>
                <a:spLocks noRot="1" noChangeAspect="1" noMove="1" noResize="1" noEditPoints="1" noAdjustHandles="1" noChangeArrowheads="1" noChangeShapeType="1" noTextEdit="1"/>
              </p:cNvSpPr>
              <p:nvPr/>
            </p:nvSpPr>
            <p:spPr>
              <a:xfrm>
                <a:off x="3733800" y="5612534"/>
                <a:ext cx="4114800" cy="822960"/>
              </a:xfrm>
              <a:prstGeom prst="rect">
                <a:avLst/>
              </a:prstGeom>
              <a:blipFill>
                <a:blip r:embed="rId7"/>
                <a:stretch>
                  <a:fillRect/>
                </a:stretch>
              </a:blipFill>
              <a:ln w="19050">
                <a:solidFill>
                  <a:srgbClr val="002060"/>
                </a:solidFill>
              </a:ln>
            </p:spPr>
            <p:txBody>
              <a:bodyPr/>
              <a:lstStyle/>
              <a:p>
                <a:r>
                  <a:rPr lang="en-IN">
                    <a:noFill/>
                  </a:rPr>
                  <a:t> </a:t>
                </a:r>
              </a:p>
            </p:txBody>
          </p:sp>
        </mc:Fallback>
      </mc:AlternateContent>
      <p:cxnSp>
        <p:nvCxnSpPr>
          <p:cNvPr id="10" name="Straight Connector 9"/>
          <p:cNvCxnSpPr>
            <a:stCxn id="5" idx="3"/>
            <a:endCxn id="11" idx="2"/>
          </p:cNvCxnSpPr>
          <p:nvPr/>
        </p:nvCxnSpPr>
        <p:spPr>
          <a:xfrm>
            <a:off x="8688324" y="1524000"/>
            <a:ext cx="379476" cy="0"/>
          </a:xfrm>
          <a:prstGeom prst="line">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9067800" y="1295400"/>
            <a:ext cx="457200" cy="457200"/>
          </a:xfrm>
          <a:prstGeom prst="ellipse">
            <a:avLst/>
          </a:prstGeom>
          <a:no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4</a:t>
            </a:r>
          </a:p>
        </p:txBody>
      </p:sp>
    </p:spTree>
    <p:extLst>
      <p:ext uri="{BB962C8B-B14F-4D97-AF65-F5344CB8AC3E}">
        <p14:creationId xmlns:p14="http://schemas.microsoft.com/office/powerpoint/2010/main" val="356562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500"/>
                                        <p:tgtEl>
                                          <p:spTgt spid="3">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pPr marL="0" indent="0">
                  <a:buNone/>
                </a:pPr>
                <a14:m>
                  <m:oMathPara xmlns:m="http://schemas.openxmlformats.org/officeDocument/2006/math">
                    <m:oMathParaPr>
                      <m:jc m:val="center"/>
                    </m:oMathParaPr>
                    <m:oMath xmlns:m="http://schemas.openxmlformats.org/officeDocument/2006/math">
                      <m:r>
                        <a:rPr lang="en-US" i="1" smtClean="0">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 </m:t>
                          </m:r>
                          <m:r>
                            <a:rPr lang="en-US" i="1">
                              <a:latin typeface="Cambria Math" panose="02040503050406030204" pitchFamily="18" charset="0"/>
                            </a:rPr>
                            <m:t>𝑛</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i="1">
                                  <a:latin typeface="Cambria Math" panose="02040503050406030204" pitchFamily="18" charset="0"/>
                                </a:rPr>
                                <m:t>𝑐</m:t>
                              </m:r>
                              <m:r>
                                <a:rPr lang="en-US" i="1">
                                  <a:latin typeface="Cambria Math" panose="02040503050406030204" pitchFamily="18" charset="0"/>
                                </a:rPr>
                                <m:t>1 </m:t>
                              </m:r>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=0</m:t>
                              </m:r>
                            </m:e>
                            <m:e>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−1</m:t>
                                  </m:r>
                                </m:e>
                              </m:d>
                              <m:r>
                                <a:rPr lang="en-US" i="1">
                                  <a:latin typeface="Cambria Math" panose="02040503050406030204" pitchFamily="18" charset="0"/>
                                </a:rPr>
                                <m:t>   </m:t>
                              </m:r>
                              <m:r>
                                <a:rPr lang="en-US" i="1">
                                  <a:latin typeface="Cambria Math" panose="02040503050406030204" pitchFamily="18" charset="0"/>
                                </a:rPr>
                                <m:t>𝑜</m:t>
                              </m:r>
                              <m:r>
                                <a:rPr lang="en-US" i="1">
                                  <a:latin typeface="Cambria Math" panose="02040503050406030204" pitchFamily="18" charset="0"/>
                                </a:rPr>
                                <m:t>/</m:t>
                              </m:r>
                              <m:r>
                                <a:rPr lang="en-US" i="1">
                                  <a:latin typeface="Cambria Math" panose="02040503050406030204" pitchFamily="18" charset="0"/>
                                </a:rPr>
                                <m:t>𝑤</m:t>
                              </m:r>
                            </m:e>
                          </m:eqArr>
                        </m:e>
                      </m:d>
                    </m:oMath>
                  </m:oMathPara>
                </a14:m>
                <a:endParaRPr lang="en-US" dirty="0"/>
              </a:p>
              <a:p>
                <a:pPr marL="0" indent="0" algn="l">
                  <a:buNone/>
                </a:pPr>
                <a:r>
                  <a:rPr lang="en-US" dirty="0"/>
                  <a:t>Rewrite, 		</a:t>
                </a:r>
                <a14:m>
                  <m:oMath xmlns:m="http://schemas.openxmlformats.org/officeDocument/2006/math">
                    <m:r>
                      <a:rPr lang="en-US" i="1">
                        <a:latin typeface="Cambria Math" panose="02040503050406030204" pitchFamily="18" charset="0"/>
                      </a:rPr>
                      <m:t>𝑡</m:t>
                    </m:r>
                    <m:d>
                      <m:dPr>
                        <m:ctrlPr>
                          <a:rPr lang="en-US" i="1">
                            <a:latin typeface="Cambria Math" panose="02040503050406030204" pitchFamily="18" charset="0"/>
                          </a:rPr>
                        </m:ctrlPr>
                      </m:dPr>
                      <m:e>
                        <m:r>
                          <a:rPr lang="en-US" i="1" smtClean="0">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−1)</m:t>
                    </m:r>
                  </m:oMath>
                </a14:m>
                <a:endParaRPr lang="en-US" dirty="0"/>
              </a:p>
              <a:p>
                <a:pPr marL="0" indent="0">
                  <a:buNone/>
                </a:pPr>
                <a:r>
                  <a:rPr lang="en-US" dirty="0">
                    <a:solidFill>
                      <a:srgbClr val="C00000"/>
                    </a:solidFill>
                  </a:rPr>
                  <a:t>Now,  replace </a:t>
                </a:r>
                <a14:m>
                  <m:oMath xmlns:m="http://schemas.openxmlformats.org/officeDocument/2006/math">
                    <m:r>
                      <a:rPr lang="en-US" i="1" dirty="0" smtClean="0">
                        <a:solidFill>
                          <a:srgbClr val="C00000"/>
                        </a:solidFill>
                        <a:latin typeface="Cambria Math" panose="02040503050406030204" pitchFamily="18" charset="0"/>
                      </a:rPr>
                      <m:t>𝑛</m:t>
                    </m:r>
                  </m:oMath>
                </a14:m>
                <a:r>
                  <a:rPr lang="en-US" dirty="0">
                    <a:solidFill>
                      <a:srgbClr val="C00000"/>
                    </a:solidFill>
                  </a:rPr>
                  <a:t> by </a:t>
                </a:r>
                <a14:m>
                  <m:oMath xmlns:m="http://schemas.openxmlformats.org/officeDocument/2006/math">
                    <m:r>
                      <a:rPr lang="en-US" i="1" dirty="0" smtClean="0">
                        <a:solidFill>
                          <a:srgbClr val="C00000"/>
                        </a:solidFill>
                        <a:latin typeface="Cambria Math" panose="02040503050406030204" pitchFamily="18" charset="0"/>
                      </a:rPr>
                      <m:t>𝑛</m:t>
                    </m:r>
                    <m:r>
                      <a:rPr lang="en-US" i="1" dirty="0" smtClean="0">
                        <a:solidFill>
                          <a:srgbClr val="C00000"/>
                        </a:solidFill>
                        <a:latin typeface="Cambria Math" panose="02040503050406030204" pitchFamily="18" charset="0"/>
                      </a:rPr>
                      <m:t> – 1 </m:t>
                    </m:r>
                  </m:oMath>
                </a14:m>
                <a:r>
                  <a:rPr lang="en-US" dirty="0">
                    <a:solidFill>
                      <a:srgbClr val="C00000"/>
                    </a:solidFill>
                  </a:rPr>
                  <a:t>and </a:t>
                </a:r>
                <a14:m>
                  <m:oMath xmlns:m="http://schemas.openxmlformats.org/officeDocument/2006/math">
                    <m:r>
                      <a:rPr lang="en-US" i="1" dirty="0" smtClean="0">
                        <a:solidFill>
                          <a:srgbClr val="C00000"/>
                        </a:solidFill>
                        <a:latin typeface="Cambria Math" panose="02040503050406030204" pitchFamily="18" charset="0"/>
                      </a:rPr>
                      <m:t>𝑛</m:t>
                    </m:r>
                    <m:r>
                      <a:rPr lang="en-US" i="1" dirty="0" smtClean="0">
                        <a:solidFill>
                          <a:srgbClr val="C00000"/>
                        </a:solidFill>
                        <a:latin typeface="Cambria Math" panose="02040503050406030204" pitchFamily="18" charset="0"/>
                      </a:rPr>
                      <m:t> − 2</m:t>
                    </m:r>
                  </m:oMath>
                </a14:m>
                <a:endParaRPr lang="en-US" dirty="0">
                  <a:solidFill>
                    <a:srgbClr val="C00000"/>
                  </a:solidFill>
                </a:endParaRPr>
              </a:p>
              <a:p>
                <a:pPr marL="0" indent="0">
                  <a:buNone/>
                </a:pPr>
                <a14:m>
                  <m:oMathPara xmlns:m="http://schemas.openxmlformats.org/officeDocument/2006/math">
                    <m:oMathParaPr>
                      <m:jc m:val="center"/>
                    </m:oMathParaPr>
                    <m:oMath xmlns:m="http://schemas.openxmlformats.org/officeDocument/2006/math">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−1</m:t>
                          </m:r>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−2)</m:t>
                      </m:r>
                    </m:oMath>
                  </m:oMathPara>
                </a14:m>
                <a:endParaRPr lang="en-US" dirty="0"/>
              </a:p>
              <a:p>
                <a:pPr marL="0" indent="0">
                  <a:buNone/>
                </a:pPr>
                <a14:m>
                  <m:oMathPara xmlns:m="http://schemas.openxmlformats.org/officeDocument/2006/math">
                    <m:oMathParaPr>
                      <m:jc m:val="center"/>
                    </m:oMathParaPr>
                    <m:oMath xmlns:m="http://schemas.openxmlformats.org/officeDocument/2006/math">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−2</m:t>
                          </m:r>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−3)</m:t>
                      </m:r>
                    </m:oMath>
                  </m:oMathPara>
                </a14:m>
                <a:endParaRPr lang="en-US" dirty="0"/>
              </a:p>
              <a:p>
                <a:pPr marL="0" indent="0">
                  <a:buNone/>
                </a:pPr>
                <a:r>
                  <a:rPr lang="en-US" dirty="0"/>
                  <a:t>So, </a:t>
                </a:r>
              </a:p>
              <a:p>
                <a:pPr marL="0" indent="0">
                  <a:buNone/>
                </a:pPr>
                <a14:m>
                  <m:oMathPara xmlns:m="http://schemas.openxmlformats.org/officeDocument/2006/math">
                    <m:oMathParaPr>
                      <m:jc m:val="center"/>
                    </m:oMathParaPr>
                    <m:oMath xmlns:m="http://schemas.openxmlformats.org/officeDocument/2006/math">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𝑐</m:t>
                      </m:r>
                      <m:r>
                        <a:rPr lang="en-US" i="1">
                          <a:latin typeface="Cambria Math" panose="02040503050406030204" pitchFamily="18" charset="0"/>
                        </a:rPr>
                        <m:t>2+</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−3)</m:t>
                      </m:r>
                    </m:oMath>
                  </m:oMathPara>
                </a14:m>
                <a:endParaRPr lang="en-US" dirty="0"/>
              </a:p>
              <a:p>
                <a:pPr marL="0" indent="0">
                  <a:buNone/>
                </a:pPr>
                <a:r>
                  <a:rPr lang="en-US" dirty="0"/>
                  <a:t>In general,</a:t>
                </a:r>
              </a:p>
              <a:p>
                <a:pPr marL="0" indent="0">
                  <a:buNone/>
                </a:pPr>
                <a14:m>
                  <m:oMathPara xmlns:m="http://schemas.openxmlformats.org/officeDocument/2006/math">
                    <m:oMathParaPr>
                      <m:jc m:val="center"/>
                    </m:oMathParaPr>
                    <m:oMath xmlns:m="http://schemas.openxmlformats.org/officeDocument/2006/math">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𝑘𝑐</m:t>
                      </m:r>
                      <m:r>
                        <a:rPr lang="en-US" i="1">
                          <a:latin typeface="Cambria Math" panose="02040503050406030204" pitchFamily="18" charset="0"/>
                        </a:rPr>
                        <m:t>2+</m:t>
                      </m:r>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𝑘</m:t>
                      </m:r>
                      <m:r>
                        <a:rPr lang="en-US" i="1">
                          <a:latin typeface="Cambria Math" panose="02040503050406030204" pitchFamily="18" charset="0"/>
                        </a:rPr>
                        <m:t>)</m:t>
                      </m:r>
                    </m:oMath>
                  </m:oMathPara>
                </a14:m>
                <a:endParaRPr lang="en-US" dirty="0"/>
              </a:p>
              <a:p>
                <a:pPr marL="0" indent="0" algn="l">
                  <a:buNone/>
                </a:pPr>
                <a:r>
                  <a:rPr lang="en-US" dirty="0"/>
                  <a:t>Suppose if we take </a:t>
                </a:r>
                <a14:m>
                  <m:oMath xmlns:m="http://schemas.openxmlformats.org/officeDocument/2006/math">
                    <m:r>
                      <a:rPr lang="en-US" i="1" dirty="0">
                        <a:latin typeface="Cambria Math" panose="02040503050406030204" pitchFamily="18" charset="0"/>
                      </a:rPr>
                      <m:t>𝑘</m:t>
                    </m:r>
                    <m:r>
                      <a:rPr lang="en-US" i="1" dirty="0">
                        <a:latin typeface="Cambria Math" panose="02040503050406030204" pitchFamily="18" charset="0"/>
                      </a:rPr>
                      <m:t> = </m:t>
                    </m:r>
                    <m:r>
                      <a:rPr lang="en-US" i="1" dirty="0">
                        <a:latin typeface="Cambria Math" panose="02040503050406030204" pitchFamily="18" charset="0"/>
                      </a:rPr>
                      <m:t>𝑛</m:t>
                    </m:r>
                    <m:r>
                      <a:rPr lang="en-US" i="1" dirty="0">
                        <a:latin typeface="Cambria Math" panose="02040503050406030204" pitchFamily="18" charset="0"/>
                      </a:rPr>
                      <m:t> </m:t>
                    </m:r>
                  </m:oMath>
                </a14:m>
                <a:r>
                  <a:rPr lang="en-US" dirty="0"/>
                  <a:t>then,</a:t>
                </a:r>
              </a:p>
              <a:p>
                <a:pPr marL="0" indent="0">
                  <a:buNone/>
                </a:pPr>
                <a14:m>
                  <m:oMathPara xmlns:m="http://schemas.openxmlformats.org/officeDocument/2006/math">
                    <m:oMathParaPr>
                      <m:jc m:val="center"/>
                    </m:oMathParaPr>
                    <m:oMath xmlns:m="http://schemas.openxmlformats.org/officeDocument/2006/math">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𝑛𝑐</m:t>
                      </m:r>
                      <m:r>
                        <a:rPr lang="en-US" i="1">
                          <a:latin typeface="Cambria Math" panose="02040503050406030204" pitchFamily="18" charset="0"/>
                        </a:rPr>
                        <m:t>2+</m:t>
                      </m:r>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m:t>
                          </m:r>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𝑛𝑐</m:t>
                      </m:r>
                      <m:r>
                        <a:rPr lang="en-US" i="1">
                          <a:latin typeface="Cambria Math" panose="02040503050406030204" pitchFamily="18" charset="0"/>
                        </a:rPr>
                        <m:t>2+</m:t>
                      </m:r>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0</m:t>
                          </m:r>
                        </m:e>
                      </m:d>
                      <m:r>
                        <a:rPr lang="en-US" i="1">
                          <a:latin typeface="Cambria Math" panose="02040503050406030204" pitchFamily="18" charset="0"/>
                        </a:rPr>
                        <m:t>=</m:t>
                      </m:r>
                      <m:r>
                        <a:rPr lang="en-US" i="1">
                          <a:latin typeface="Cambria Math" panose="02040503050406030204" pitchFamily="18" charset="0"/>
                        </a:rPr>
                        <m:t>𝑛𝑐</m:t>
                      </m:r>
                      <m:r>
                        <a:rPr lang="en-US" i="1">
                          <a:latin typeface="Cambria Math" panose="02040503050406030204" pitchFamily="18" charset="0"/>
                        </a:rPr>
                        <m:t>2+</m:t>
                      </m:r>
                      <m:r>
                        <a:rPr lang="en-US" i="1">
                          <a:latin typeface="Cambria Math" panose="02040503050406030204" pitchFamily="18" charset="0"/>
                        </a:rPr>
                        <m:t>𝑐</m:t>
                      </m:r>
                      <m:r>
                        <a:rPr lang="en-US" i="1">
                          <a:latin typeface="Cambria Math" panose="02040503050406030204" pitchFamily="18" charset="0"/>
                        </a:rPr>
                        <m:t>1=</m:t>
                      </m:r>
                      <m:r>
                        <a:rPr lang="en-US" b="1" i="1">
                          <a:latin typeface="Cambria Math" panose="02040503050406030204" pitchFamily="18" charset="0"/>
                        </a:rPr>
                        <m:t>𝑶</m:t>
                      </m:r>
                      <m:d>
                        <m:dPr>
                          <m:ctrlPr>
                            <a:rPr lang="en-US" b="1" i="1">
                              <a:latin typeface="Cambria Math" panose="02040503050406030204" pitchFamily="18" charset="0"/>
                            </a:rPr>
                          </m:ctrlPr>
                        </m:dPr>
                        <m:e>
                          <m:r>
                            <a:rPr lang="en-US" b="1" i="1">
                              <a:latin typeface="Cambria Math" panose="02040503050406030204" pitchFamily="18" charset="0"/>
                            </a:rPr>
                            <m:t>𝒏</m:t>
                          </m:r>
                        </m:e>
                      </m:d>
                    </m:oMath>
                  </m:oMathPara>
                </a14:m>
                <a:endParaRPr lang="en-US" b="1" dirty="0"/>
              </a:p>
              <a:p>
                <a:pPr marL="0" indent="0">
                  <a:buNone/>
                </a:pPr>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04"/>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7</a:t>
            </a:fld>
            <a:endParaRPr lang="en-US" dirty="0"/>
          </a:p>
        </p:txBody>
      </p:sp>
      <p:sp>
        <p:nvSpPr>
          <p:cNvPr id="6" name="Rounded Rectangle 5"/>
          <p:cNvSpPr/>
          <p:nvPr/>
        </p:nvSpPr>
        <p:spPr>
          <a:xfrm>
            <a:off x="8748252" y="5666454"/>
            <a:ext cx="838200" cy="41910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1714500" y="2362200"/>
            <a:ext cx="8763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554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animEffect transition="in" filter="fade">
                                      <p:cBhvr>
                                        <p:cTn id="47" dur="500"/>
                                        <p:tgtEl>
                                          <p:spTgt spid="3">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8" end="8"/>
                                            </p:txEl>
                                          </p:spTgt>
                                        </p:tgtEl>
                                        <p:attrNameLst>
                                          <p:attrName>style.visibility</p:attrName>
                                        </p:attrNameLst>
                                      </p:cBhvr>
                                      <p:to>
                                        <p:strVal val="visible"/>
                                      </p:to>
                                    </p:set>
                                    <p:animEffect transition="in" filter="fade">
                                      <p:cBhvr>
                                        <p:cTn id="52" dur="500"/>
                                        <p:tgtEl>
                                          <p:spTgt spid="3">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9" end="9"/>
                                            </p:txEl>
                                          </p:spTgt>
                                        </p:tgtEl>
                                        <p:attrNameLst>
                                          <p:attrName>style.visibility</p:attrName>
                                        </p:attrNameLst>
                                      </p:cBhvr>
                                      <p:to>
                                        <p:strVal val="visible"/>
                                      </p:to>
                                    </p:set>
                                    <p:animEffect transition="in" filter="fade">
                                      <p:cBhvr>
                                        <p:cTn id="57" dur="500"/>
                                        <p:tgtEl>
                                          <p:spTgt spid="3">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Effect transition="in" filter="fade">
                                      <p:cBhvr>
                                        <p:cTn id="62" dur="500"/>
                                        <p:tgtEl>
                                          <p:spTgt spid="3">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wipe(left)">
                                      <p:cBhvr>
                                        <p:cTn id="6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a:t>
            </a:r>
            <a:r>
              <a:rPr lang="en-US"/>
              <a:t>2 </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Solve the following recurrence using substitution method.</a:t>
                </a: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 </m:t>
                          </m:r>
                          <m:r>
                            <a:rPr lang="en-US" i="1">
                              <a:latin typeface="Cambria Math" panose="02040503050406030204" pitchFamily="18" charset="0"/>
                            </a:rPr>
                            <m:t>𝑛</m:t>
                          </m:r>
                        </m:e>
                      </m:d>
                      <m:r>
                        <a:rPr lang="en-US" i="1">
                          <a:latin typeface="Cambria Math" panose="02040503050406030204" pitchFamily="18" charset="0"/>
                        </a:rPr>
                        <m:t>=</m:t>
                      </m:r>
                      <m:d>
                        <m:dPr>
                          <m:begChr m:val="{"/>
                          <m:endChr m:val=""/>
                          <m:ctrlPr>
                            <a:rPr lang="en-US" i="1">
                              <a:latin typeface="Cambria Math" panose="02040503050406030204" pitchFamily="18" charset="0"/>
                            </a:rPr>
                          </m:ctrlPr>
                        </m:dPr>
                        <m:e>
                          <m:eqArr>
                            <m:eqArrPr>
                              <m:ctrlPr>
                                <a:rPr lang="en-US" i="1">
                                  <a:latin typeface="Cambria Math" panose="02040503050406030204" pitchFamily="18" charset="0"/>
                                </a:rPr>
                              </m:ctrlPr>
                            </m:eqArrPr>
                            <m:e>
                              <m:r>
                                <a:rPr lang="en-US" b="0" i="1" smtClean="0">
                                  <a:latin typeface="Cambria Math" panose="02040503050406030204" pitchFamily="18" charset="0"/>
                                </a:rPr>
                                <m:t>1         </m:t>
                              </m:r>
                              <m:r>
                                <a:rPr lang="en-US" i="1">
                                  <a:latin typeface="Cambria Math" panose="02040503050406030204" pitchFamily="18" charset="0"/>
                                </a:rPr>
                                <m:t> </m:t>
                              </m:r>
                              <m:r>
                                <a:rPr lang="en-US" i="1">
                                  <a:latin typeface="Cambria Math" panose="02040503050406030204" pitchFamily="18" charset="0"/>
                                </a:rPr>
                                <m:t>𝑖𝑓</m:t>
                              </m:r>
                              <m:r>
                                <a:rPr lang="en-US" i="1">
                                  <a:latin typeface="Cambria Math" panose="02040503050406030204" pitchFamily="18" charset="0"/>
                                </a:rPr>
                                <m:t> </m:t>
                              </m:r>
                              <m:r>
                                <a:rPr lang="en-US" i="1">
                                  <a:latin typeface="Cambria Math" panose="02040503050406030204" pitchFamily="18" charset="0"/>
                                </a:rPr>
                                <m:t>𝑛</m:t>
                              </m:r>
                              <m:r>
                                <a:rPr lang="en-US" i="1">
                                  <a:latin typeface="Cambria Math" panose="02040503050406030204" pitchFamily="18" charset="0"/>
                                </a:rPr>
                                <m:t>=0 </m:t>
                              </m:r>
                              <m:r>
                                <a:rPr lang="en-US" b="0" i="1" smtClean="0">
                                  <a:latin typeface="Cambria Math" panose="02040503050406030204" pitchFamily="18" charset="0"/>
                                </a:rPr>
                                <m:t>𝑜𝑟</m:t>
                              </m:r>
                              <m:r>
                                <a:rPr lang="en-US" b="0" i="1" smtClean="0">
                                  <a:latin typeface="Cambria Math" panose="02040503050406030204" pitchFamily="18" charset="0"/>
                                </a:rPr>
                                <m:t> 1</m:t>
                              </m:r>
                            </m:e>
                            <m:e>
                              <m:r>
                                <a:rPr lang="en-US" b="0" i="1" smtClean="0">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r>
                                    <a:rPr lang="en-US" i="1">
                                      <a:latin typeface="Cambria Math" panose="02040503050406030204" pitchFamily="18" charset="0"/>
                                    </a:rPr>
                                    <m:t>−1</m:t>
                                  </m:r>
                                </m:e>
                              </m:d>
                              <m:r>
                                <a:rPr lang="en-US" i="1">
                                  <a:latin typeface="Cambria Math" panose="02040503050406030204" pitchFamily="18" charset="0"/>
                                </a:rPr>
                                <m:t> </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−1 </m:t>
                              </m:r>
                              <m:r>
                                <a:rPr lang="en-US" i="1">
                                  <a:latin typeface="Cambria Math" panose="02040503050406030204" pitchFamily="18" charset="0"/>
                                </a:rPr>
                                <m:t>𝑜</m:t>
                              </m:r>
                              <m:r>
                                <a:rPr lang="en-US" i="1">
                                  <a:latin typeface="Cambria Math" panose="02040503050406030204" pitchFamily="18" charset="0"/>
                                </a:rPr>
                                <m:t>/</m:t>
                              </m:r>
                              <m:r>
                                <a:rPr lang="en-US" i="1">
                                  <a:latin typeface="Cambria Math" panose="02040503050406030204" pitchFamily="18" charset="0"/>
                                </a:rPr>
                                <m:t>𝑤</m:t>
                              </m:r>
                            </m:e>
                          </m:eqArr>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04" t="-45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8</a:t>
            </a:fld>
            <a:endParaRPr lang="en-US" dirty="0"/>
          </a:p>
        </p:txBody>
      </p:sp>
    </p:spTree>
    <p:extLst>
      <p:ext uri="{BB962C8B-B14F-4D97-AF65-F5344CB8AC3E}">
        <p14:creationId xmlns:p14="http://schemas.microsoft.com/office/powerpoint/2010/main" val="2631063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302C2-3789-4743-B845-38244537F1A9}"/>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35D04DD0-4B05-434D-8740-E739C27BC662}"/>
              </a:ext>
            </a:extLst>
          </p:cNvPr>
          <p:cNvSpPr>
            <a:spLocks noGrp="1"/>
          </p:cNvSpPr>
          <p:nvPr>
            <p:ph idx="1"/>
          </p:nvPr>
        </p:nvSpPr>
        <p:spPr/>
        <p:txBody>
          <a:bodyPr/>
          <a:lstStyle/>
          <a:p>
            <a:pPr marL="0" indent="0">
              <a:buNone/>
            </a:pPr>
            <a:r>
              <a:rPr lang="en-IN" dirty="0"/>
              <a:t>Solving recurrence relation</a:t>
            </a:r>
          </a:p>
          <a:p>
            <a:pPr lvl="1"/>
            <a:r>
              <a:rPr lang="en-IN" dirty="0"/>
              <a:t>Iteration (already discussed in previous </a:t>
            </a:r>
            <a:r>
              <a:rPr lang="en-IN" dirty="0" err="1"/>
              <a:t>slids</a:t>
            </a:r>
            <a:r>
              <a:rPr lang="en-IN" dirty="0"/>
              <a:t>)</a:t>
            </a:r>
          </a:p>
          <a:p>
            <a:pPr lvl="1"/>
            <a:r>
              <a:rPr lang="en-IN" dirty="0"/>
              <a:t>Characteristics root</a:t>
            </a:r>
          </a:p>
          <a:p>
            <a:pPr lvl="1"/>
            <a:r>
              <a:rPr lang="en-IN" dirty="0"/>
              <a:t>Generating function</a:t>
            </a:r>
          </a:p>
        </p:txBody>
      </p:sp>
      <p:sp>
        <p:nvSpPr>
          <p:cNvPr id="4" name="Slide Number Placeholder 3">
            <a:extLst>
              <a:ext uri="{FF2B5EF4-FFF2-40B4-BE49-F238E27FC236}">
                <a16:creationId xmlns:a16="http://schemas.microsoft.com/office/drawing/2014/main" id="{E9A825AA-52E6-4917-A39F-E77B2288EC06}"/>
              </a:ext>
            </a:extLst>
          </p:cNvPr>
          <p:cNvSpPr>
            <a:spLocks noGrp="1"/>
          </p:cNvSpPr>
          <p:nvPr>
            <p:ph type="sldNum" sz="quarter" idx="12"/>
          </p:nvPr>
        </p:nvSpPr>
        <p:spPr/>
        <p:txBody>
          <a:bodyPr/>
          <a:lstStyle/>
          <a:p>
            <a:fld id="{5EA8BEFB-AE5B-48F9-BBAD-B489CDE48C80}" type="slidenum">
              <a:rPr lang="en-US" smtClean="0"/>
              <a:pPr/>
              <a:t>9</a:t>
            </a:fld>
            <a:endParaRPr lang="en-US" dirty="0"/>
          </a:p>
        </p:txBody>
      </p:sp>
    </p:spTree>
    <p:extLst>
      <p:ext uri="{BB962C8B-B14F-4D97-AF65-F5344CB8AC3E}">
        <p14:creationId xmlns:p14="http://schemas.microsoft.com/office/powerpoint/2010/main" val="4001634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A961B-DF16-4066-9C98-77C5CFB0E713}"/>
              </a:ext>
            </a:extLst>
          </p:cNvPr>
          <p:cNvSpPr>
            <a:spLocks noGrp="1"/>
          </p:cNvSpPr>
          <p:nvPr>
            <p:ph type="title"/>
          </p:nvPr>
        </p:nvSpPr>
        <p:spPr/>
        <p:txBody>
          <a:bodyPr/>
          <a:lstStyle/>
          <a:p>
            <a:r>
              <a:rPr lang="en-US" dirty="0"/>
              <a:t>Homogeneous Recurrence </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8B1F6E-0A88-4757-9C2A-1F85A99E3D41}"/>
                  </a:ext>
                </a:extLst>
              </p:cNvPr>
              <p:cNvSpPr>
                <a:spLocks noGrp="1"/>
              </p:cNvSpPr>
              <p:nvPr>
                <p:ph idx="1"/>
              </p:nvPr>
            </p:nvSpPr>
            <p:spPr/>
            <p:txBody>
              <a:bodyPr/>
              <a:lstStyle/>
              <a:p>
                <a:r>
                  <a:rPr lang="en-US" dirty="0"/>
                  <a:t>Find the equation in terms of x, i.e., characteristic equation.</a:t>
                </a:r>
              </a:p>
              <a:p>
                <a:r>
                  <a:rPr lang="en-US" dirty="0"/>
                  <a:t>Solve the characteristics equation and find the characteristic root.</a:t>
                </a:r>
              </a:p>
              <a:p>
                <a:r>
                  <a:rPr lang="en-US" dirty="0"/>
                  <a:t>If characteristic roots are:</a:t>
                </a:r>
              </a:p>
              <a:p>
                <a:pPr lvl="1"/>
                <a:r>
                  <a:rPr lang="en-US" sz="2400" dirty="0"/>
                  <a:t>r = r</a:t>
                </a:r>
                <a:r>
                  <a:rPr lang="en-US" sz="2400" baseline="-25000" dirty="0"/>
                  <a:t>1</a:t>
                </a:r>
                <a:r>
                  <a:rPr lang="en-US" sz="2400" dirty="0"/>
                  <a:t>, r</a:t>
                </a:r>
                <a:r>
                  <a:rPr lang="en-US" sz="2400" baseline="-25000" dirty="0"/>
                  <a:t>2</a:t>
                </a:r>
                <a:r>
                  <a:rPr lang="en-US" sz="2400" dirty="0"/>
                  <a:t>, r</a:t>
                </a:r>
                <a:r>
                  <a:rPr lang="en-US" sz="2400" baseline="-25000" dirty="0"/>
                  <a:t>3</a:t>
                </a:r>
                <a:r>
                  <a:rPr lang="en-US" sz="2400" dirty="0"/>
                  <a:t> </a:t>
                </a:r>
                <a:r>
                  <a:rPr lang="en-US" sz="2400" dirty="0">
                    <a:solidFill>
                      <a:srgbClr val="FF0000"/>
                    </a:solidFill>
                  </a:rPr>
                  <a:t>distinct</a:t>
                </a:r>
                <a:r>
                  <a:rPr lang="en-US" sz="2400" dirty="0"/>
                  <a:t> =&gt; Sol: T(n) = c</a:t>
                </a:r>
                <a:r>
                  <a:rPr lang="en-US" sz="2400" baseline="-25000" dirty="0"/>
                  <a:t>1</a:t>
                </a:r>
                <a:r>
                  <a:rPr lang="en-US" sz="2400" dirty="0"/>
                  <a:t>.r</a:t>
                </a:r>
                <a:r>
                  <a:rPr lang="en-US" sz="2400" baseline="-25000" dirty="0"/>
                  <a:t>1</a:t>
                </a:r>
                <a:r>
                  <a:rPr lang="en-US" sz="2400" baseline="30000" dirty="0"/>
                  <a:t>n</a:t>
                </a:r>
                <a:r>
                  <a:rPr lang="en-US" sz="2400" dirty="0"/>
                  <a:t> + c</a:t>
                </a:r>
                <a:r>
                  <a:rPr lang="en-US" sz="2400" baseline="-25000" dirty="0"/>
                  <a:t>2</a:t>
                </a:r>
                <a:r>
                  <a:rPr lang="en-US" sz="2400" dirty="0"/>
                  <a:t>.r</a:t>
                </a:r>
                <a:r>
                  <a:rPr lang="en-US" sz="2400" baseline="-25000" dirty="0"/>
                  <a:t>2</a:t>
                </a:r>
                <a:r>
                  <a:rPr lang="en-US" sz="2400" baseline="30000" dirty="0"/>
                  <a:t>n</a:t>
                </a:r>
                <a:r>
                  <a:rPr lang="en-US" sz="2400" dirty="0"/>
                  <a:t> + c</a:t>
                </a:r>
                <a:r>
                  <a:rPr lang="en-US" sz="2400" baseline="-25000" dirty="0"/>
                  <a:t>3</a:t>
                </a:r>
                <a:r>
                  <a:rPr lang="en-US" sz="2400" dirty="0"/>
                  <a:t>.r</a:t>
                </a:r>
                <a:r>
                  <a:rPr lang="en-US" sz="2400" baseline="-25000" dirty="0"/>
                  <a:t>3</a:t>
                </a:r>
                <a:r>
                  <a:rPr lang="en-US" sz="2400" baseline="30000" dirty="0"/>
                  <a:t>n</a:t>
                </a:r>
              </a:p>
              <a:p>
                <a:pPr lvl="1"/>
                <a:r>
                  <a:rPr lang="en-US" sz="2400" dirty="0"/>
                  <a:t>r = r</a:t>
                </a:r>
                <a:r>
                  <a:rPr lang="en-US" sz="2400" baseline="-25000" dirty="0"/>
                  <a:t>1</a:t>
                </a:r>
                <a:r>
                  <a:rPr lang="en-US" sz="2400" dirty="0"/>
                  <a:t> , r</a:t>
                </a:r>
                <a:r>
                  <a:rPr lang="en-US" sz="2400" baseline="-25000" dirty="0"/>
                  <a:t>1</a:t>
                </a:r>
                <a:r>
                  <a:rPr lang="en-US" sz="2400" dirty="0"/>
                  <a:t> </a:t>
                </a:r>
                <a:r>
                  <a:rPr lang="en-US" sz="2400" dirty="0">
                    <a:solidFill>
                      <a:srgbClr val="FF0000"/>
                    </a:solidFill>
                  </a:rPr>
                  <a:t>same         </a:t>
                </a:r>
                <a:r>
                  <a:rPr lang="en-US" sz="2400" dirty="0"/>
                  <a:t>=&gt; Sol: T(n) = (c</a:t>
                </a:r>
                <a:r>
                  <a:rPr lang="en-US" sz="2400" baseline="-25000" dirty="0"/>
                  <a:t>1</a:t>
                </a:r>
                <a:r>
                  <a:rPr lang="en-US" sz="2400" dirty="0"/>
                  <a:t>+n.c</a:t>
                </a:r>
                <a:r>
                  <a:rPr lang="en-US" sz="2400" baseline="-25000" dirty="0"/>
                  <a:t>2</a:t>
                </a:r>
                <a:r>
                  <a:rPr lang="en-US" sz="2400" dirty="0"/>
                  <a:t>)r</a:t>
                </a:r>
                <a:r>
                  <a:rPr lang="en-US" sz="2400" baseline="-25000" dirty="0"/>
                  <a:t>1</a:t>
                </a:r>
                <a:r>
                  <a:rPr lang="en-US" sz="2400" baseline="30000" dirty="0"/>
                  <a:t>n </a:t>
                </a:r>
                <a14:m>
                  <m:oMath xmlns:m="http://schemas.openxmlformats.org/officeDocument/2006/math">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             </m:t>
                        </m:r>
                        <m:r>
                          <a:rPr lang="en-US" sz="2800" b="0" i="1" smtClean="0">
                            <a:latin typeface="Cambria Math" panose="02040503050406030204" pitchFamily="18" charset="0"/>
                          </a:rPr>
                          <m:t>𝑡</m:t>
                        </m:r>
                      </m:e>
                      <m:sub>
                        <m:r>
                          <a:rPr lang="en-US" sz="2800" b="0" i="1" smtClean="0">
                            <a:latin typeface="Cambria Math" panose="02040503050406030204" pitchFamily="18" charset="0"/>
                          </a:rPr>
                          <m:t>𝑛</m:t>
                        </m:r>
                      </m:sub>
                    </m:sSub>
                    <m:r>
                      <a:rPr lang="en-US" sz="2800" i="1" smtClean="0">
                        <a:latin typeface="Cambria Math" panose="02040503050406030204" pitchFamily="18" charset="0"/>
                      </a:rPr>
                      <m:t>=</m:t>
                    </m:r>
                    <m:nary>
                      <m:naryPr>
                        <m:chr m:val="∑"/>
                        <m:ctrlPr>
                          <a:rPr lang="en-US" sz="2800" i="1" smtClean="0">
                            <a:latin typeface="Cambria Math" panose="02040503050406030204" pitchFamily="18" charset="0"/>
                          </a:rPr>
                        </m:ctrlPr>
                      </m:naryPr>
                      <m:sub>
                        <m:r>
                          <m:rPr>
                            <m:brk m:alnAt="23"/>
                          </m:rPr>
                          <a:rPr lang="en-US" sz="2800" b="0" i="1" smtClean="0">
                            <a:latin typeface="Cambria Math" panose="02040503050406030204" pitchFamily="18" charset="0"/>
                          </a:rPr>
                          <m:t>𝑖</m:t>
                        </m:r>
                        <m:r>
                          <a:rPr lang="en-US" sz="2800" b="0" i="1" smtClean="0">
                            <a:latin typeface="Cambria Math" panose="02040503050406030204" pitchFamily="18" charset="0"/>
                          </a:rPr>
                          <m:t>=1</m:t>
                        </m:r>
                      </m:sub>
                      <m:sup>
                        <m:r>
                          <a:rPr lang="en-US" sz="2800" b="0" i="1" smtClean="0">
                            <a:latin typeface="Cambria Math" panose="02040503050406030204" pitchFamily="18" charset="0"/>
                          </a:rPr>
                          <m:t>𝑘</m:t>
                        </m:r>
                      </m:sup>
                      <m:e>
                        <m:sSub>
                          <m:sSubPr>
                            <m:ctrlPr>
                              <a:rPr lang="en-US" sz="2800" i="1" smtClean="0">
                                <a:latin typeface="Cambria Math" panose="02040503050406030204" pitchFamily="18" charset="0"/>
                              </a:rPr>
                            </m:ctrlPr>
                          </m:sSubPr>
                          <m:e>
                            <m:r>
                              <a:rPr lang="en-US" sz="2800" b="0" i="1" smtClean="0">
                                <a:latin typeface="Cambria Math" panose="02040503050406030204" pitchFamily="18" charset="0"/>
                              </a:rPr>
                              <m:t>𝑐</m:t>
                            </m:r>
                          </m:e>
                          <m:sub>
                            <m:r>
                              <a:rPr lang="en-US" sz="2800" b="0" i="1" smtClean="0">
                                <a:latin typeface="Cambria Math" panose="02040503050406030204" pitchFamily="18" charset="0"/>
                              </a:rPr>
                              <m:t>𝑖</m:t>
                            </m:r>
                          </m:sub>
                        </m:sSub>
                        <m:sSubSup>
                          <m:sSubSupPr>
                            <m:ctrlPr>
                              <a:rPr lang="en-US" sz="2800" i="1" smtClean="0">
                                <a:latin typeface="Cambria Math" panose="02040503050406030204" pitchFamily="18" charset="0"/>
                              </a:rPr>
                            </m:ctrlPr>
                          </m:sSubSupPr>
                          <m:e>
                            <m:r>
                              <a:rPr lang="en-US" sz="2800" b="0" i="1" smtClean="0">
                                <a:latin typeface="Cambria Math" panose="02040503050406030204" pitchFamily="18" charset="0"/>
                              </a:rPr>
                              <m:t>𝑟</m:t>
                            </m:r>
                          </m:e>
                          <m:sub>
                            <m:r>
                              <a:rPr lang="en-US" sz="2800" b="0" i="1" smtClean="0">
                                <a:latin typeface="Cambria Math" panose="02040503050406030204" pitchFamily="18" charset="0"/>
                              </a:rPr>
                              <m:t>𝑖</m:t>
                            </m:r>
                          </m:sub>
                          <m:sup>
                            <m:r>
                              <a:rPr lang="en-US" sz="2800" b="0" i="1" smtClean="0">
                                <a:latin typeface="Cambria Math" panose="02040503050406030204" pitchFamily="18" charset="0"/>
                              </a:rPr>
                              <m:t>𝑛</m:t>
                            </m:r>
                          </m:sup>
                        </m:sSubSup>
                      </m:e>
                    </m:nary>
                  </m:oMath>
                </a14:m>
                <a:endParaRPr lang="en-US" sz="2400" baseline="30000" dirty="0"/>
              </a:p>
              <a:p>
                <a:pPr lvl="1"/>
                <a:r>
                  <a:rPr lang="en-US" sz="2400" dirty="0"/>
                  <a:t>r = r</a:t>
                </a:r>
                <a:r>
                  <a:rPr lang="en-US" sz="2400" baseline="-25000" dirty="0"/>
                  <a:t>1</a:t>
                </a:r>
                <a:r>
                  <a:rPr lang="en-US" sz="2400" dirty="0"/>
                  <a:t>, r</a:t>
                </a:r>
                <a:r>
                  <a:rPr lang="en-US" sz="2400" baseline="-25000" dirty="0"/>
                  <a:t>1</a:t>
                </a:r>
                <a:r>
                  <a:rPr lang="en-US" sz="2400" dirty="0"/>
                  <a:t>, r</a:t>
                </a:r>
                <a:r>
                  <a:rPr lang="en-US" sz="2400" baseline="-25000" dirty="0"/>
                  <a:t>2</a:t>
                </a:r>
                <a:r>
                  <a:rPr lang="en-US" sz="2400" dirty="0"/>
                  <a:t>, r</a:t>
                </a:r>
                <a:r>
                  <a:rPr lang="en-US" sz="2400" baseline="-25000" dirty="0"/>
                  <a:t>3               </a:t>
                </a:r>
                <a:r>
                  <a:rPr lang="en-US" sz="2400" dirty="0"/>
                  <a:t>=&gt; Sol: T(n) = </a:t>
                </a:r>
                <a:r>
                  <a:rPr lang="en-US" sz="2400" dirty="0">
                    <a:solidFill>
                      <a:srgbClr val="00B050"/>
                    </a:solidFill>
                  </a:rPr>
                  <a:t>(c</a:t>
                </a:r>
                <a:r>
                  <a:rPr lang="en-US" sz="2400" baseline="-25000" dirty="0">
                    <a:solidFill>
                      <a:srgbClr val="00B050"/>
                    </a:solidFill>
                  </a:rPr>
                  <a:t>1</a:t>
                </a:r>
                <a:r>
                  <a:rPr lang="en-US" sz="2400" dirty="0">
                    <a:solidFill>
                      <a:srgbClr val="00B050"/>
                    </a:solidFill>
                  </a:rPr>
                  <a:t>+n.c</a:t>
                </a:r>
                <a:r>
                  <a:rPr lang="en-US" sz="2400" baseline="-25000" dirty="0">
                    <a:solidFill>
                      <a:srgbClr val="00B050"/>
                    </a:solidFill>
                  </a:rPr>
                  <a:t>2</a:t>
                </a:r>
                <a:r>
                  <a:rPr lang="en-US" sz="2400" dirty="0">
                    <a:solidFill>
                      <a:srgbClr val="00B050"/>
                    </a:solidFill>
                  </a:rPr>
                  <a:t>)r</a:t>
                </a:r>
                <a:r>
                  <a:rPr lang="en-US" sz="2400" baseline="-25000" dirty="0">
                    <a:solidFill>
                      <a:srgbClr val="00B050"/>
                    </a:solidFill>
                  </a:rPr>
                  <a:t>1</a:t>
                </a:r>
                <a:r>
                  <a:rPr lang="en-US" sz="2400" baseline="30000" dirty="0">
                    <a:solidFill>
                      <a:srgbClr val="00B050"/>
                    </a:solidFill>
                  </a:rPr>
                  <a:t>n </a:t>
                </a:r>
                <a:r>
                  <a:rPr lang="en-US" sz="2400" dirty="0"/>
                  <a:t>+ </a:t>
                </a:r>
                <a:r>
                  <a:rPr lang="en-US" sz="2400" dirty="0">
                    <a:solidFill>
                      <a:srgbClr val="00B0F0"/>
                    </a:solidFill>
                  </a:rPr>
                  <a:t>c</a:t>
                </a:r>
                <a:r>
                  <a:rPr lang="en-US" sz="2400" baseline="-25000" dirty="0">
                    <a:solidFill>
                      <a:srgbClr val="00B0F0"/>
                    </a:solidFill>
                  </a:rPr>
                  <a:t>3</a:t>
                </a:r>
                <a:r>
                  <a:rPr lang="en-US" sz="2400" dirty="0">
                    <a:solidFill>
                      <a:srgbClr val="00B0F0"/>
                    </a:solidFill>
                  </a:rPr>
                  <a:t>.r</a:t>
                </a:r>
                <a:r>
                  <a:rPr lang="en-US" sz="2400" baseline="-25000" dirty="0">
                    <a:solidFill>
                      <a:srgbClr val="00B0F0"/>
                    </a:solidFill>
                  </a:rPr>
                  <a:t>2</a:t>
                </a:r>
                <a:r>
                  <a:rPr lang="en-US" sz="2400" baseline="30000" dirty="0">
                    <a:solidFill>
                      <a:srgbClr val="00B0F0"/>
                    </a:solidFill>
                  </a:rPr>
                  <a:t>n</a:t>
                </a:r>
                <a:r>
                  <a:rPr lang="en-US" sz="2400" dirty="0">
                    <a:solidFill>
                      <a:srgbClr val="00B0F0"/>
                    </a:solidFill>
                  </a:rPr>
                  <a:t> + c</a:t>
                </a:r>
                <a:r>
                  <a:rPr lang="en-US" sz="2400" baseline="-25000" dirty="0">
                    <a:solidFill>
                      <a:srgbClr val="00B0F0"/>
                    </a:solidFill>
                  </a:rPr>
                  <a:t>4</a:t>
                </a:r>
                <a:r>
                  <a:rPr lang="en-US" sz="2400" dirty="0">
                    <a:solidFill>
                      <a:srgbClr val="00B0F0"/>
                    </a:solidFill>
                  </a:rPr>
                  <a:t>.r</a:t>
                </a:r>
                <a:r>
                  <a:rPr lang="en-US" sz="2400" baseline="-25000" dirty="0">
                    <a:solidFill>
                      <a:srgbClr val="00B0F0"/>
                    </a:solidFill>
                  </a:rPr>
                  <a:t>3</a:t>
                </a:r>
                <a:r>
                  <a:rPr lang="en-US" sz="2400" baseline="30000" dirty="0">
                    <a:solidFill>
                      <a:srgbClr val="00B0F0"/>
                    </a:solidFill>
                  </a:rPr>
                  <a:t>n</a:t>
                </a:r>
                <a:endParaRPr lang="en-US" sz="2400" dirty="0">
                  <a:solidFill>
                    <a:srgbClr val="00B0F0"/>
                  </a:solidFill>
                </a:endParaRPr>
              </a:p>
              <a:p>
                <a:pPr lvl="1"/>
                <a:r>
                  <a:rPr lang="en-US" sz="2400" dirty="0"/>
                  <a:t>r = r</a:t>
                </a:r>
                <a:r>
                  <a:rPr lang="en-US" sz="2400" baseline="-25000" dirty="0"/>
                  <a:t>1</a:t>
                </a:r>
                <a:r>
                  <a:rPr lang="en-US" sz="2400" dirty="0"/>
                  <a:t>, r</a:t>
                </a:r>
                <a:r>
                  <a:rPr lang="en-US" sz="2400" baseline="-25000" dirty="0"/>
                  <a:t>1</a:t>
                </a:r>
                <a:r>
                  <a:rPr lang="en-US" sz="2400" dirty="0"/>
                  <a:t>, r</a:t>
                </a:r>
                <a:r>
                  <a:rPr lang="en-US" sz="2400" baseline="-25000" dirty="0"/>
                  <a:t>1</a:t>
                </a:r>
                <a:r>
                  <a:rPr lang="en-US" sz="2400" dirty="0"/>
                  <a:t>, r</a:t>
                </a:r>
                <a:r>
                  <a:rPr lang="en-US" sz="2400" baseline="-25000" dirty="0"/>
                  <a:t>2               </a:t>
                </a:r>
                <a:r>
                  <a:rPr lang="en-US" sz="2400" dirty="0"/>
                  <a:t>=&gt; Sol: T(n) = </a:t>
                </a:r>
                <a:r>
                  <a:rPr lang="en-US" sz="2400" dirty="0">
                    <a:solidFill>
                      <a:srgbClr val="00B050"/>
                    </a:solidFill>
                  </a:rPr>
                  <a:t>(c</a:t>
                </a:r>
                <a:r>
                  <a:rPr lang="en-US" sz="2400" baseline="-25000" dirty="0">
                    <a:solidFill>
                      <a:srgbClr val="00B050"/>
                    </a:solidFill>
                  </a:rPr>
                  <a:t>1</a:t>
                </a:r>
                <a:r>
                  <a:rPr lang="en-US" sz="2400" dirty="0">
                    <a:solidFill>
                      <a:srgbClr val="00B050"/>
                    </a:solidFill>
                  </a:rPr>
                  <a:t>+n.c</a:t>
                </a:r>
                <a:r>
                  <a:rPr lang="en-US" sz="2400" baseline="-25000" dirty="0">
                    <a:solidFill>
                      <a:srgbClr val="00B050"/>
                    </a:solidFill>
                  </a:rPr>
                  <a:t>2</a:t>
                </a:r>
                <a:r>
                  <a:rPr lang="en-US" sz="2400" dirty="0">
                    <a:solidFill>
                      <a:srgbClr val="00B050"/>
                    </a:solidFill>
                  </a:rPr>
                  <a:t>+n</a:t>
                </a:r>
                <a:r>
                  <a:rPr lang="en-US" sz="2400" baseline="30000" dirty="0">
                    <a:solidFill>
                      <a:srgbClr val="00B050"/>
                    </a:solidFill>
                  </a:rPr>
                  <a:t>2</a:t>
                </a:r>
                <a:r>
                  <a:rPr lang="en-US" sz="2400" dirty="0">
                    <a:solidFill>
                      <a:srgbClr val="00B050"/>
                    </a:solidFill>
                  </a:rPr>
                  <a:t>.c</a:t>
                </a:r>
                <a:r>
                  <a:rPr lang="en-US" sz="2400" baseline="-25000" dirty="0">
                    <a:solidFill>
                      <a:srgbClr val="00B050"/>
                    </a:solidFill>
                  </a:rPr>
                  <a:t>3</a:t>
                </a:r>
                <a:r>
                  <a:rPr lang="en-US" sz="2400" dirty="0">
                    <a:solidFill>
                      <a:srgbClr val="00B050"/>
                    </a:solidFill>
                  </a:rPr>
                  <a:t>)r</a:t>
                </a:r>
                <a:r>
                  <a:rPr lang="en-US" sz="2400" baseline="-25000" dirty="0">
                    <a:solidFill>
                      <a:srgbClr val="00B050"/>
                    </a:solidFill>
                  </a:rPr>
                  <a:t>1</a:t>
                </a:r>
                <a:r>
                  <a:rPr lang="en-US" sz="2400" baseline="30000" dirty="0">
                    <a:solidFill>
                      <a:srgbClr val="00B050"/>
                    </a:solidFill>
                  </a:rPr>
                  <a:t>n </a:t>
                </a:r>
                <a:r>
                  <a:rPr lang="en-US" sz="2400" dirty="0"/>
                  <a:t>+ </a:t>
                </a:r>
                <a:r>
                  <a:rPr lang="en-US" sz="2400" dirty="0">
                    <a:solidFill>
                      <a:srgbClr val="00B0F0"/>
                    </a:solidFill>
                  </a:rPr>
                  <a:t>c</a:t>
                </a:r>
                <a:r>
                  <a:rPr lang="en-US" sz="2400" baseline="-25000" dirty="0">
                    <a:solidFill>
                      <a:srgbClr val="00B0F0"/>
                    </a:solidFill>
                  </a:rPr>
                  <a:t>4</a:t>
                </a:r>
                <a:r>
                  <a:rPr lang="en-US" sz="2400" dirty="0">
                    <a:solidFill>
                      <a:srgbClr val="00B0F0"/>
                    </a:solidFill>
                  </a:rPr>
                  <a:t>.r</a:t>
                </a:r>
                <a:r>
                  <a:rPr lang="en-US" sz="2400" baseline="-25000" dirty="0">
                    <a:solidFill>
                      <a:srgbClr val="00B0F0"/>
                    </a:solidFill>
                  </a:rPr>
                  <a:t>2</a:t>
                </a:r>
                <a:r>
                  <a:rPr lang="en-US" sz="2400" baseline="30000" dirty="0">
                    <a:solidFill>
                      <a:srgbClr val="00B0F0"/>
                    </a:solidFill>
                  </a:rPr>
                  <a:t>n</a:t>
                </a:r>
                <a:endParaRPr lang="en-US" sz="2400" dirty="0">
                  <a:solidFill>
                    <a:srgbClr val="00B0F0"/>
                  </a:solidFill>
                </a:endParaRPr>
              </a:p>
              <a:p>
                <a:pPr lvl="1"/>
                <a:endParaRPr lang="en-US" sz="2400" baseline="-25000" dirty="0"/>
              </a:p>
              <a:p>
                <a:pPr lvl="1"/>
                <a:endParaRPr lang="en-US" baseline="30000" dirty="0"/>
              </a:p>
              <a:p>
                <a:endParaRPr lang="en-IN" dirty="0"/>
              </a:p>
            </p:txBody>
          </p:sp>
        </mc:Choice>
        <mc:Fallback xmlns="">
          <p:sp>
            <p:nvSpPr>
              <p:cNvPr id="3" name="Content Placeholder 2">
                <a:extLst>
                  <a:ext uri="{FF2B5EF4-FFF2-40B4-BE49-F238E27FC236}">
                    <a16:creationId xmlns:a16="http://schemas.microsoft.com/office/drawing/2014/main" id="{FF8B1F6E-0A88-4757-9C2A-1F85A99E3D41}"/>
                  </a:ext>
                </a:extLst>
              </p:cNvPr>
              <p:cNvSpPr>
                <a:spLocks noGrp="1" noRot="1" noChangeAspect="1" noMove="1" noResize="1" noEditPoints="1" noAdjustHandles="1" noChangeArrowheads="1" noChangeShapeType="1" noTextEdit="1"/>
              </p:cNvSpPr>
              <p:nvPr>
                <p:ph idx="1"/>
              </p:nvPr>
            </p:nvSpPr>
            <p:spPr>
              <a:blipFill>
                <a:blip r:embed="rId2"/>
                <a:stretch>
                  <a:fillRect l="-731" t="-45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EDD8E9A-2560-4F4B-9A1B-0E516ABCA825}"/>
              </a:ext>
            </a:extLst>
          </p:cNvPr>
          <p:cNvSpPr>
            <a:spLocks noGrp="1"/>
          </p:cNvSpPr>
          <p:nvPr>
            <p:ph type="sldNum" sz="quarter" idx="12"/>
          </p:nvPr>
        </p:nvSpPr>
        <p:spPr/>
        <p:txBody>
          <a:bodyPr/>
          <a:lstStyle/>
          <a:p>
            <a:fld id="{5EA8BEFB-AE5B-48F9-BBAD-B489CDE48C80}" type="slidenum">
              <a:rPr lang="en-US" smtClean="0"/>
              <a:pPr/>
              <a:t>10</a:t>
            </a:fld>
            <a:endParaRPr lang="en-US" dirty="0"/>
          </a:p>
        </p:txBody>
      </p:sp>
      <p:sp>
        <p:nvSpPr>
          <p:cNvPr id="5" name="Rounded Rectangle 4">
            <a:extLst>
              <a:ext uri="{FF2B5EF4-FFF2-40B4-BE49-F238E27FC236}">
                <a16:creationId xmlns:a16="http://schemas.microsoft.com/office/drawing/2014/main" id="{2C5AE4A3-745A-43F4-8C19-20B99F98FA48}"/>
              </a:ext>
            </a:extLst>
          </p:cNvPr>
          <p:cNvSpPr/>
          <p:nvPr/>
        </p:nvSpPr>
        <p:spPr>
          <a:xfrm>
            <a:off x="7467600" y="3048001"/>
            <a:ext cx="2286000" cy="53340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931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Homogeneous Recurrence </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Recurrence equation</a:t>
                </a:r>
              </a:p>
              <a:p>
                <a:pPr marL="0" indent="0" algn="ctr">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IN" b="0" i="1" smtClean="0">
                        <a:latin typeface="Cambria Math" panose="02040503050406030204" pitchFamily="18" charset="0"/>
                      </a:rPr>
                      <m:t>𝑇</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IN" b="0" i="1" smtClean="0">
                        <a:latin typeface="Cambria Math" panose="02040503050406030204" pitchFamily="18" charset="0"/>
                      </a:rPr>
                      <m:t>𝑇</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IN" b="0" i="1" smtClean="0">
                        <a:latin typeface="Cambria Math" panose="02040503050406030204" pitchFamily="18" charset="0"/>
                      </a:rPr>
                      <m:t>𝑇</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−2)+⋯+</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𝑘</m:t>
                        </m:r>
                      </m:sub>
                    </m:sSub>
                    <m:r>
                      <a:rPr lang="en-IN" b="0" i="1" smtClean="0">
                        <a:latin typeface="Cambria Math" panose="02040503050406030204" pitchFamily="18" charset="0"/>
                        <a:ea typeface="Cambria Math" panose="02040503050406030204" pitchFamily="18" charset="0"/>
                      </a:rPr>
                      <m:t>𝑇</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𝑛</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𝑘</m:t>
                    </m:r>
                    <m:r>
                      <a:rPr lang="en-IN" b="0" i="1" smtClean="0">
                        <a:latin typeface="Cambria Math" panose="02040503050406030204" pitchFamily="18" charset="0"/>
                        <a:ea typeface="Cambria Math" panose="02040503050406030204" pitchFamily="18" charset="0"/>
                      </a:rPr>
                      <m:t>)=0</m:t>
                    </m:r>
                  </m:oMath>
                </a14:m>
                <a:endParaRPr lang="en-US" dirty="0"/>
              </a:p>
              <a:p>
                <a:pPr algn="l"/>
                <a:r>
                  <a:rPr lang="en-US" dirty="0"/>
                  <a:t>The equation of degree </a:t>
                </a:r>
                <a14:m>
                  <m:oMath xmlns:m="http://schemas.openxmlformats.org/officeDocument/2006/math">
                    <m:r>
                      <a:rPr lang="en-US" i="1" dirty="0" smtClean="0">
                        <a:latin typeface="Cambria Math" panose="02040503050406030204" pitchFamily="18" charset="0"/>
                      </a:rPr>
                      <m:t>𝑘</m:t>
                    </m:r>
                    <m:r>
                      <a:rPr lang="en-IN" b="0" i="1" dirty="0" smtClean="0">
                        <a:latin typeface="Cambria Math" panose="02040503050406030204" pitchFamily="18" charset="0"/>
                      </a:rPr>
                      <m:t> </m:t>
                    </m:r>
                  </m:oMath>
                </a14:m>
                <a:r>
                  <a:rPr lang="en-US" dirty="0"/>
                  <a:t>in </a:t>
                </a:r>
                <a14:m>
                  <m:oMath xmlns:m="http://schemas.openxmlformats.org/officeDocument/2006/math">
                    <m:r>
                      <a:rPr lang="en-US" i="1" dirty="0" smtClean="0">
                        <a:latin typeface="Cambria Math" panose="02040503050406030204" pitchFamily="18" charset="0"/>
                      </a:rPr>
                      <m:t>𝑥</m:t>
                    </m:r>
                  </m:oMath>
                </a14:m>
                <a:r>
                  <a:rPr lang="en-US" dirty="0"/>
                  <a:t> is called the characteristic equation of the recurrence,</a:t>
                </a:r>
              </a:p>
              <a:p>
                <a:pPr marL="0" indent="0" algn="l">
                  <a:buNone/>
                </a:pPr>
                <a14:m>
                  <m:oMath xmlns:m="http://schemas.openxmlformats.org/officeDocument/2006/math">
                    <m:r>
                      <a:rPr lang="en-IN" b="0" i="1" smtClean="0">
                        <a:latin typeface="Cambria Math" panose="02040503050406030204" pitchFamily="18" charset="0"/>
                      </a:rPr>
                      <m:t>           </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sSup>
                      <m:sSupPr>
                        <m:ctrlPr>
                          <a:rPr lang="en-U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𝑘</m:t>
                        </m:r>
                      </m:sup>
                    </m:s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𝑘</m:t>
                        </m:r>
                        <m:r>
                          <a:rPr lang="en-US" b="0" i="1" smtClean="0">
                            <a:latin typeface="Cambria Math" panose="02040503050406030204" pitchFamily="18" charset="0"/>
                          </a:rPr>
                          <m:t>−1</m:t>
                        </m:r>
                      </m:sup>
                    </m:sSup>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𝑘</m:t>
                        </m:r>
                      </m:sub>
                    </m:sSub>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0</m:t>
                        </m:r>
                      </m:sup>
                    </m:sSup>
                  </m:oMath>
                </a14:m>
                <a:r>
                  <a:rPr lang="en-US" dirty="0"/>
                  <a:t>     {</a:t>
                </a:r>
                <a:r>
                  <a:rPr lang="en-US" sz="1600" dirty="0"/>
                  <a:t>order=n-(n-k)=&gt;k i.e. difference between highest and lowest</a:t>
                </a:r>
                <a:r>
                  <a:rPr lang="en-US" dirty="0"/>
                  <a:t>} </a:t>
                </a:r>
              </a:p>
              <a:p>
                <a:pPr marL="0" indent="0" algn="l">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457"/>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11</a:t>
            </a:fld>
            <a:endParaRPr lang="en-US" dirty="0"/>
          </a:p>
        </p:txBody>
      </p:sp>
    </p:spTree>
    <p:extLst>
      <p:ext uri="{BB962C8B-B14F-4D97-AF65-F5344CB8AC3E}">
        <p14:creationId xmlns:p14="http://schemas.microsoft.com/office/powerpoint/2010/main" val="4272874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AD52-5321-4D78-B3E4-9A3E81EE949D}"/>
              </a:ext>
            </a:extLst>
          </p:cNvPr>
          <p:cNvSpPr>
            <a:spLocks noGrp="1"/>
          </p:cNvSpPr>
          <p:nvPr>
            <p:ph type="title"/>
          </p:nvPr>
        </p:nvSpPr>
        <p:spPr/>
        <p:txBody>
          <a:bodyPr/>
          <a:lstStyle/>
          <a:p>
            <a:r>
              <a:rPr lang="en-US" dirty="0"/>
              <a:t>Example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F693B0-C95A-4229-9549-7F6FBB633B6D}"/>
                  </a:ext>
                </a:extLst>
              </p:cNvPr>
              <p:cNvSpPr>
                <a:spLocks noGrp="1"/>
              </p:cNvSpPr>
              <p:nvPr>
                <p:ph idx="1"/>
              </p:nvPr>
            </p:nvSpPr>
            <p:spPr>
              <a:xfrm>
                <a:off x="1524000" y="990600"/>
                <a:ext cx="10414000" cy="5334000"/>
              </a:xfrm>
            </p:spPr>
            <p:txBody>
              <a:bodyPr/>
              <a:lstStyle/>
              <a:p>
                <a:r>
                  <a:rPr lang="en-US" i="1" dirty="0">
                    <a:latin typeface="Book Antiqua" panose="02040602050305030304" pitchFamily="18" charset="0"/>
                    <a:cs typeface="Aparajita" panose="02020603050405020304" pitchFamily="18" charset="0"/>
                  </a:rPr>
                  <a:t>T(n)= T(n-1) + 2 T(n-2) , n&gt;=2, T(0) = 0, T(1) = 1</a:t>
                </a:r>
              </a:p>
              <a:p>
                <a:r>
                  <a:rPr lang="en-US" i="1" dirty="0">
                    <a:latin typeface="Book Antiqua" panose="02040602050305030304" pitchFamily="18" charset="0"/>
                    <a:cs typeface="Aparajita" panose="02020603050405020304" pitchFamily="18" charset="0"/>
                  </a:rPr>
                  <a:t>T(n) - T(n-1) - 2 T(n-2) = 0</a:t>
                </a:r>
              </a:p>
              <a:p>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−2=0</m:t>
                    </m:r>
                  </m:oMath>
                </a14:m>
                <a:endParaRPr lang="en-IN" i="1" dirty="0">
                  <a:latin typeface="Book Antiqua" panose="02040602050305030304" pitchFamily="18" charset="0"/>
                  <a:cs typeface="Aparajita" panose="02020603050405020304" pitchFamily="18" charset="0"/>
                </a:endParaRPr>
              </a:p>
              <a:p>
                <a14:m>
                  <m:oMath xmlns:m="http://schemas.openxmlformats.org/officeDocument/2006/math">
                    <m:r>
                      <a:rPr lang="en-US" i="1">
                        <a:latin typeface="Cambria Math" panose="02040503050406030204" pitchFamily="18" charset="0"/>
                      </a:rPr>
                      <m:t>𝑥</m:t>
                    </m:r>
                    <m:r>
                      <a:rPr lang="en-US" b="0" i="1" smtClean="0">
                        <a:latin typeface="Cambria Math" panose="02040503050406030204" pitchFamily="18" charset="0"/>
                      </a:rPr>
                      <m:t>=</m:t>
                    </m:r>
                    <m:r>
                      <a:rPr lang="en-US" i="1">
                        <a:latin typeface="Cambria Math" panose="02040503050406030204" pitchFamily="18" charset="0"/>
                      </a:rPr>
                      <m:t>2</m:t>
                    </m:r>
                    <m:r>
                      <a:rPr lang="en-US" b="0" i="1" smtClean="0">
                        <a:latin typeface="Cambria Math" panose="02040503050406030204" pitchFamily="18" charset="0"/>
                      </a:rPr>
                      <m:t>, −1</m:t>
                    </m:r>
                  </m:oMath>
                </a14:m>
                <a:endParaRPr lang="en-US" b="0" i="1" dirty="0">
                  <a:latin typeface="Book Antiqua" panose="02040602050305030304" pitchFamily="18" charset="0"/>
                </a:endParaRPr>
              </a:p>
              <a:p>
                <a:r>
                  <a:rPr lang="en-IN" i="1" dirty="0">
                    <a:latin typeface="Book Antiqua" panose="02040602050305030304" pitchFamily="18" charset="0"/>
                    <a:cs typeface="Aparajita" panose="02020603050405020304" pitchFamily="18" charset="0"/>
                  </a:rPr>
                  <a:t>T(n) = c</a:t>
                </a:r>
                <a:r>
                  <a:rPr lang="en-IN" i="1" baseline="-25000" dirty="0">
                    <a:latin typeface="Book Antiqua" panose="02040602050305030304" pitchFamily="18" charset="0"/>
                    <a:cs typeface="Aparajita" panose="02020603050405020304" pitchFamily="18" charset="0"/>
                  </a:rPr>
                  <a:t>1</a:t>
                </a:r>
                <a:r>
                  <a:rPr lang="en-IN" i="1" dirty="0">
                    <a:latin typeface="Book Antiqua" panose="02040602050305030304" pitchFamily="18" charset="0"/>
                    <a:cs typeface="Aparajita" panose="02020603050405020304" pitchFamily="18" charset="0"/>
                  </a:rPr>
                  <a:t>.2</a:t>
                </a:r>
                <a:r>
                  <a:rPr lang="en-IN" i="1" baseline="30000" dirty="0">
                    <a:latin typeface="Book Antiqua" panose="02040602050305030304" pitchFamily="18" charset="0"/>
                    <a:cs typeface="Aparajita" panose="02020603050405020304" pitchFamily="18" charset="0"/>
                  </a:rPr>
                  <a:t>n </a:t>
                </a:r>
                <a:r>
                  <a:rPr lang="en-IN" i="1" dirty="0">
                    <a:latin typeface="Book Antiqua" panose="02040602050305030304" pitchFamily="18" charset="0"/>
                    <a:cs typeface="Aparajita" panose="02020603050405020304" pitchFamily="18" charset="0"/>
                  </a:rPr>
                  <a:t>+ c</a:t>
                </a:r>
                <a:r>
                  <a:rPr lang="en-IN" i="1" baseline="-25000" dirty="0">
                    <a:latin typeface="Book Antiqua" panose="02040602050305030304" pitchFamily="18" charset="0"/>
                    <a:cs typeface="Aparajita" panose="02020603050405020304" pitchFamily="18" charset="0"/>
                  </a:rPr>
                  <a:t>2</a:t>
                </a:r>
                <a:r>
                  <a:rPr lang="en-IN" i="1" dirty="0">
                    <a:latin typeface="Book Antiqua" panose="02040602050305030304" pitchFamily="18" charset="0"/>
                    <a:cs typeface="Aparajita" panose="02020603050405020304" pitchFamily="18" charset="0"/>
                  </a:rPr>
                  <a:t>.(-1)</a:t>
                </a:r>
                <a:r>
                  <a:rPr lang="en-IN" i="1" baseline="30000" dirty="0">
                    <a:latin typeface="Book Antiqua" panose="02040602050305030304" pitchFamily="18" charset="0"/>
                    <a:cs typeface="Aparajita" panose="02020603050405020304" pitchFamily="18" charset="0"/>
                  </a:rPr>
                  <a:t>n</a:t>
                </a:r>
              </a:p>
              <a:p>
                <a:r>
                  <a:rPr lang="en-IN" i="1" dirty="0">
                    <a:latin typeface="Book Antiqua" panose="02040602050305030304" pitchFamily="18" charset="0"/>
                    <a:cs typeface="Aparajita" panose="02020603050405020304" pitchFamily="18" charset="0"/>
                  </a:rPr>
                  <a:t>T(0) = 0, c</a:t>
                </a:r>
                <a:r>
                  <a:rPr lang="en-IN" i="1" baseline="-25000" dirty="0">
                    <a:latin typeface="Book Antiqua" panose="02040602050305030304" pitchFamily="18" charset="0"/>
                    <a:cs typeface="Aparajita" panose="02020603050405020304" pitchFamily="18" charset="0"/>
                  </a:rPr>
                  <a:t>1</a:t>
                </a:r>
                <a:r>
                  <a:rPr lang="en-IN" i="1" dirty="0">
                    <a:latin typeface="Book Antiqua" panose="02040602050305030304" pitchFamily="18" charset="0"/>
                    <a:cs typeface="Aparajita" panose="02020603050405020304" pitchFamily="18" charset="0"/>
                  </a:rPr>
                  <a:t> + c</a:t>
                </a:r>
                <a:r>
                  <a:rPr lang="en-IN" i="1" baseline="-25000" dirty="0">
                    <a:latin typeface="Book Antiqua" panose="02040602050305030304" pitchFamily="18" charset="0"/>
                    <a:cs typeface="Aparajita" panose="02020603050405020304" pitchFamily="18" charset="0"/>
                  </a:rPr>
                  <a:t>2</a:t>
                </a:r>
                <a:r>
                  <a:rPr lang="en-IN" i="1" dirty="0">
                    <a:latin typeface="Book Antiqua" panose="02040602050305030304" pitchFamily="18" charset="0"/>
                    <a:cs typeface="Aparajita" panose="02020603050405020304" pitchFamily="18" charset="0"/>
                  </a:rPr>
                  <a:t>=0</a:t>
                </a:r>
              </a:p>
              <a:p>
                <a:r>
                  <a:rPr lang="en-IN" i="1" dirty="0">
                    <a:latin typeface="Book Antiqua" panose="02040602050305030304" pitchFamily="18" charset="0"/>
                    <a:cs typeface="Aparajita" panose="02020603050405020304" pitchFamily="18" charset="0"/>
                  </a:rPr>
                  <a:t>T(1) = 1, 2.c</a:t>
                </a:r>
                <a:r>
                  <a:rPr lang="en-IN" i="1" baseline="-25000" dirty="0">
                    <a:latin typeface="Book Antiqua" panose="02040602050305030304" pitchFamily="18" charset="0"/>
                    <a:cs typeface="Aparajita" panose="02020603050405020304" pitchFamily="18" charset="0"/>
                  </a:rPr>
                  <a:t>1 </a:t>
                </a:r>
                <a:r>
                  <a:rPr lang="en-IN" i="1" dirty="0">
                    <a:latin typeface="Book Antiqua" panose="02040602050305030304" pitchFamily="18" charset="0"/>
                    <a:cs typeface="Aparajita" panose="02020603050405020304" pitchFamily="18" charset="0"/>
                  </a:rPr>
                  <a:t>- c</a:t>
                </a:r>
                <a:r>
                  <a:rPr lang="en-IN" i="1" baseline="-25000" dirty="0">
                    <a:latin typeface="Book Antiqua" panose="02040602050305030304" pitchFamily="18" charset="0"/>
                    <a:cs typeface="Aparajita" panose="02020603050405020304" pitchFamily="18" charset="0"/>
                  </a:rPr>
                  <a:t>2</a:t>
                </a:r>
                <a:r>
                  <a:rPr lang="en-IN" i="1" dirty="0">
                    <a:latin typeface="Book Antiqua" panose="02040602050305030304" pitchFamily="18" charset="0"/>
                    <a:cs typeface="Aparajita" panose="02020603050405020304" pitchFamily="18" charset="0"/>
                  </a:rPr>
                  <a:t>=1</a:t>
                </a:r>
              </a:p>
              <a:p>
                <a:r>
                  <a:rPr lang="en-IN" i="1" dirty="0">
                    <a:latin typeface="Book Antiqua" panose="02040602050305030304" pitchFamily="18" charset="0"/>
                    <a:cs typeface="Aparajita" panose="02020603050405020304" pitchFamily="18" charset="0"/>
                  </a:rPr>
                  <a:t>c</a:t>
                </a:r>
                <a:r>
                  <a:rPr lang="en-IN" i="1" baseline="-25000" dirty="0">
                    <a:latin typeface="Book Antiqua" panose="02040602050305030304" pitchFamily="18" charset="0"/>
                    <a:cs typeface="Aparajita" panose="02020603050405020304" pitchFamily="18" charset="0"/>
                  </a:rPr>
                  <a:t>1</a:t>
                </a:r>
                <a:r>
                  <a:rPr lang="en-IN" i="1" dirty="0">
                    <a:latin typeface="Book Antiqua" panose="02040602050305030304" pitchFamily="18" charset="0"/>
                    <a:cs typeface="Aparajita" panose="02020603050405020304" pitchFamily="18" charset="0"/>
                  </a:rPr>
                  <a:t>= 1/3, c</a:t>
                </a:r>
                <a:r>
                  <a:rPr lang="en-IN" i="1" baseline="-25000" dirty="0">
                    <a:latin typeface="Book Antiqua" panose="02040602050305030304" pitchFamily="18" charset="0"/>
                    <a:cs typeface="Aparajita" panose="02020603050405020304" pitchFamily="18" charset="0"/>
                  </a:rPr>
                  <a:t>2</a:t>
                </a:r>
                <a:r>
                  <a:rPr lang="en-IN" i="1" dirty="0">
                    <a:latin typeface="Book Antiqua" panose="02040602050305030304" pitchFamily="18" charset="0"/>
                    <a:cs typeface="Aparajita" panose="02020603050405020304" pitchFamily="18" charset="0"/>
                  </a:rPr>
                  <a:t>= -1/3</a:t>
                </a:r>
              </a:p>
              <a:p>
                <a:endParaRPr lang="en-IN" i="1" dirty="0">
                  <a:latin typeface="Book Antiqua" panose="02040602050305030304" pitchFamily="18" charset="0"/>
                  <a:cs typeface="Aparajita" panose="02020603050405020304" pitchFamily="18" charset="0"/>
                </a:endParaRPr>
              </a:p>
              <a:p>
                <a:r>
                  <a:rPr lang="en-US" i="1" dirty="0">
                    <a:latin typeface="Book Antiqua" panose="02040602050305030304" pitchFamily="18" charset="0"/>
                    <a:cs typeface="Aparajita" panose="02020603050405020304" pitchFamily="18" charset="0"/>
                  </a:rPr>
                  <a:t>T(n)= 4(T(n-1) - T(n-2)) , n&gt;=2, T(0) = 1, T(1) = 1</a:t>
                </a:r>
              </a:p>
              <a:p>
                <a:endParaRPr lang="en-IN" i="1" dirty="0">
                  <a:latin typeface="Book Antiqua" panose="02040602050305030304" pitchFamily="18" charset="0"/>
                  <a:cs typeface="Aparajita" panose="02020603050405020304" pitchFamily="18" charset="0"/>
                </a:endParaRPr>
              </a:p>
            </p:txBody>
          </p:sp>
        </mc:Choice>
        <mc:Fallback xmlns="">
          <p:sp>
            <p:nvSpPr>
              <p:cNvPr id="3" name="Content Placeholder 2">
                <a:extLst>
                  <a:ext uri="{FF2B5EF4-FFF2-40B4-BE49-F238E27FC236}">
                    <a16:creationId xmlns:a16="http://schemas.microsoft.com/office/drawing/2014/main" id="{1CF693B0-C95A-4229-9549-7F6FBB633B6D}"/>
                  </a:ext>
                </a:extLst>
              </p:cNvPr>
              <p:cNvSpPr>
                <a:spLocks noGrp="1" noRot="1" noChangeAspect="1" noMove="1" noResize="1" noEditPoints="1" noAdjustHandles="1" noChangeArrowheads="1" noChangeShapeType="1" noTextEdit="1"/>
              </p:cNvSpPr>
              <p:nvPr>
                <p:ph idx="1"/>
              </p:nvPr>
            </p:nvSpPr>
            <p:spPr>
              <a:xfrm>
                <a:off x="1524000" y="990600"/>
                <a:ext cx="10414000" cy="5334000"/>
              </a:xfrm>
              <a:blipFill>
                <a:blip r:embed="rId2"/>
                <a:stretch>
                  <a:fillRect l="-761" t="-343"/>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8ADB77B2-4A81-4C0A-B235-B86DE3E351A3}"/>
              </a:ext>
            </a:extLst>
          </p:cNvPr>
          <p:cNvSpPr>
            <a:spLocks noGrp="1"/>
          </p:cNvSpPr>
          <p:nvPr>
            <p:ph type="sldNum" sz="quarter" idx="12"/>
          </p:nvPr>
        </p:nvSpPr>
        <p:spPr/>
        <p:txBody>
          <a:bodyPr/>
          <a:lstStyle/>
          <a:p>
            <a:fld id="{5EA8BEFB-AE5B-48F9-BBAD-B489CDE48C80}" type="slidenum">
              <a:rPr lang="en-US" smtClean="0"/>
              <a:pPr/>
              <a:t>12</a:t>
            </a:fld>
            <a:endParaRPr lang="en-US" dirty="0"/>
          </a:p>
        </p:txBody>
      </p:sp>
    </p:spTree>
    <p:extLst>
      <p:ext uri="{BB962C8B-B14F-4D97-AF65-F5344CB8AC3E}">
        <p14:creationId xmlns:p14="http://schemas.microsoft.com/office/powerpoint/2010/main" val="3608552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Fibonacci series</a:t>
            </a:r>
          </a:p>
        </p:txBody>
      </p:sp>
      <p:sp>
        <p:nvSpPr>
          <p:cNvPr id="4" name="Slide Number Placeholder 3"/>
          <p:cNvSpPr>
            <a:spLocks noGrp="1"/>
          </p:cNvSpPr>
          <p:nvPr>
            <p:ph type="sldNum" sz="quarter" idx="12"/>
          </p:nvPr>
        </p:nvSpPr>
        <p:spPr/>
        <p:txBody>
          <a:bodyPr/>
          <a:lstStyle/>
          <a:p>
            <a:fld id="{5EA8BEFB-AE5B-48F9-BBAD-B489CDE48C80}" type="slidenum">
              <a:rPr lang="en-US" smtClean="0"/>
              <a:pPr/>
              <a:t>13</a:t>
            </a:fld>
            <a:endParaRPr lang="en-US" dirty="0"/>
          </a:p>
        </p:txBody>
      </p:sp>
      <p:sp>
        <p:nvSpPr>
          <p:cNvPr id="5" name="Content Placeholder 3"/>
          <p:cNvSpPr txBox="1">
            <a:spLocks noGrp="1"/>
          </p:cNvSpPr>
          <p:nvPr>
            <p:ph idx="1"/>
          </p:nvPr>
        </p:nvSpPr>
        <p:spPr>
          <a:xfrm>
            <a:off x="1714500" y="990601"/>
            <a:ext cx="8763000" cy="3154069"/>
          </a:xfrm>
          <a:prstGeom prst="rect">
            <a:avLst/>
          </a:prstGeom>
          <a:solidFill>
            <a:schemeClr val="bg2"/>
          </a:solidFill>
        </p:spPr>
        <p:style>
          <a:lnRef idx="0">
            <a:scrgbClr r="0" g="0" b="0"/>
          </a:lnRef>
          <a:fillRef idx="1001">
            <a:schemeClr val="lt2"/>
          </a:fillRef>
          <a:effectRef idx="0">
            <a:scrgbClr r="0" g="0" b="0"/>
          </a:effectRef>
          <a:fontRef idx="major"/>
        </p:style>
        <p:txBody>
          <a:bodyPr wrap="square" rtlCol="0">
            <a:spAutoFit/>
          </a:bodyPr>
          <a:lstStyle/>
          <a:p>
            <a:pPr marL="0" indent="0" algn="l">
              <a:spcAft>
                <a:spcPts val="300"/>
              </a:spcAft>
              <a:buNone/>
            </a:pPr>
            <a:r>
              <a:rPr lang="en-US" b="1" dirty="0">
                <a:solidFill>
                  <a:schemeClr val="tx2">
                    <a:lumMod val="60000"/>
                    <a:lumOff val="40000"/>
                  </a:schemeClr>
                </a:solidFill>
                <a:latin typeface="Consolas" pitchFamily="49" charset="0"/>
                <a:cs typeface="Consolas" pitchFamily="49" charset="0"/>
              </a:rPr>
              <a:t>Function </a:t>
            </a:r>
            <a:r>
              <a:rPr lang="en-US" b="1" dirty="0" err="1">
                <a:solidFill>
                  <a:schemeClr val="tx2">
                    <a:lumMod val="60000"/>
                    <a:lumOff val="40000"/>
                  </a:schemeClr>
                </a:solidFill>
                <a:latin typeface="Consolas" pitchFamily="49" charset="0"/>
                <a:cs typeface="Consolas" pitchFamily="49" charset="0"/>
              </a:rPr>
              <a:t>fibiter</a:t>
            </a:r>
            <a:r>
              <a:rPr lang="en-US" b="1" dirty="0">
                <a:solidFill>
                  <a:schemeClr val="tx2">
                    <a:lumMod val="60000"/>
                    <a:lumOff val="40000"/>
                  </a:schemeClr>
                </a:solidFill>
                <a:latin typeface="Consolas" pitchFamily="49" charset="0"/>
                <a:cs typeface="Consolas" pitchFamily="49" charset="0"/>
              </a:rPr>
              <a:t>(n)</a:t>
            </a:r>
          </a:p>
          <a:p>
            <a:pPr marL="0" indent="0" algn="l">
              <a:spcAft>
                <a:spcPts val="300"/>
              </a:spcAft>
              <a:buNone/>
            </a:pPr>
            <a:r>
              <a:rPr lang="en-US" b="1" dirty="0">
                <a:latin typeface="Consolas" pitchFamily="49" charset="0"/>
                <a:cs typeface="Consolas" pitchFamily="49" charset="0"/>
              </a:rPr>
              <a:t>	</a:t>
            </a:r>
            <a:r>
              <a:rPr lang="en-US" b="1" dirty="0" err="1">
                <a:latin typeface="Consolas" pitchFamily="49" charset="0"/>
                <a:cs typeface="Consolas" pitchFamily="49" charset="0"/>
              </a:rPr>
              <a:t>i</a:t>
            </a:r>
            <a:r>
              <a:rPr lang="en-US" b="1" dirty="0">
                <a:latin typeface="Consolas" pitchFamily="49" charset="0"/>
                <a:cs typeface="Consolas" pitchFamily="49" charset="0"/>
              </a:rPr>
              <a:t> ← 1; j ← 0;</a:t>
            </a:r>
          </a:p>
          <a:p>
            <a:pPr marL="0" indent="0" algn="l">
              <a:spcAft>
                <a:spcPts val="300"/>
              </a:spcAft>
              <a:buNone/>
            </a:pPr>
            <a:r>
              <a:rPr lang="en-US" b="1" dirty="0">
                <a:latin typeface="Consolas" pitchFamily="49" charset="0"/>
                <a:cs typeface="Consolas" pitchFamily="49" charset="0"/>
              </a:rPr>
              <a:t>	for k ← 1 to n do</a:t>
            </a:r>
          </a:p>
          <a:p>
            <a:pPr marL="0" indent="0" algn="l">
              <a:spcAft>
                <a:spcPts val="300"/>
              </a:spcAft>
              <a:buNone/>
            </a:pPr>
            <a:r>
              <a:rPr lang="en-US" b="1" dirty="0">
                <a:latin typeface="Consolas" pitchFamily="49" charset="0"/>
                <a:cs typeface="Consolas" pitchFamily="49" charset="0"/>
              </a:rPr>
              <a:t>		j ← </a:t>
            </a:r>
            <a:r>
              <a:rPr lang="en-US" b="1" dirty="0" err="1">
                <a:latin typeface="Consolas" pitchFamily="49" charset="0"/>
                <a:cs typeface="Consolas" pitchFamily="49" charset="0"/>
              </a:rPr>
              <a:t>i</a:t>
            </a:r>
            <a:r>
              <a:rPr lang="en-US" b="1" dirty="0">
                <a:latin typeface="Consolas" pitchFamily="49" charset="0"/>
                <a:cs typeface="Consolas" pitchFamily="49" charset="0"/>
              </a:rPr>
              <a:t> + j;</a:t>
            </a:r>
          </a:p>
          <a:p>
            <a:pPr marL="0" indent="0" algn="l">
              <a:spcAft>
                <a:spcPts val="300"/>
              </a:spcAft>
              <a:buNone/>
            </a:pPr>
            <a:r>
              <a:rPr lang="en-US" b="1" dirty="0">
                <a:latin typeface="Consolas" pitchFamily="49" charset="0"/>
                <a:cs typeface="Consolas" pitchFamily="49" charset="0"/>
              </a:rPr>
              <a:t>		</a:t>
            </a:r>
            <a:r>
              <a:rPr lang="en-US" b="1" dirty="0" err="1">
                <a:latin typeface="Consolas" pitchFamily="49" charset="0"/>
                <a:cs typeface="Consolas" pitchFamily="49" charset="0"/>
              </a:rPr>
              <a:t>i</a:t>
            </a:r>
            <a:r>
              <a:rPr lang="en-US" b="1" dirty="0">
                <a:latin typeface="Consolas" pitchFamily="49" charset="0"/>
                <a:cs typeface="Consolas" pitchFamily="49" charset="0"/>
              </a:rPr>
              <a:t> ← j – </a:t>
            </a:r>
            <a:r>
              <a:rPr lang="en-US" b="1" dirty="0" err="1">
                <a:latin typeface="Consolas" pitchFamily="49" charset="0"/>
                <a:cs typeface="Consolas" pitchFamily="49" charset="0"/>
              </a:rPr>
              <a:t>i</a:t>
            </a:r>
            <a:r>
              <a:rPr lang="en-US" b="1" dirty="0">
                <a:latin typeface="Consolas" pitchFamily="49" charset="0"/>
                <a:cs typeface="Consolas" pitchFamily="49" charset="0"/>
              </a:rPr>
              <a:t>;</a:t>
            </a:r>
          </a:p>
          <a:p>
            <a:pPr marL="0" indent="0" algn="l">
              <a:spcAft>
                <a:spcPts val="300"/>
              </a:spcAft>
              <a:buNone/>
            </a:pPr>
            <a:r>
              <a:rPr lang="en-US" b="1" dirty="0">
                <a:latin typeface="Consolas" pitchFamily="49" charset="0"/>
                <a:cs typeface="Consolas" pitchFamily="49" charset="0"/>
              </a:rPr>
              <a:t>		return j</a:t>
            </a:r>
          </a:p>
        </p:txBody>
      </p:sp>
      <mc:AlternateContent xmlns:mc="http://schemas.openxmlformats.org/markup-compatibility/2006" xmlns:a14="http://schemas.microsoft.com/office/drawing/2010/main">
        <mc:Choice Requires="a14">
          <p:sp>
            <p:nvSpPr>
              <p:cNvPr id="7" name="TextBox 6"/>
              <p:cNvSpPr txBox="1"/>
              <p:nvPr/>
            </p:nvSpPr>
            <p:spPr>
              <a:xfrm>
                <a:off x="1714500" y="4378304"/>
                <a:ext cx="8763000" cy="1938992"/>
              </a:xfrm>
              <a:prstGeom prst="rect">
                <a:avLst/>
              </a:prstGeom>
              <a:noFill/>
            </p:spPr>
            <p:txBody>
              <a:bodyPr wrap="square" rtlCol="0">
                <a:spAutoFit/>
              </a:bodyPr>
              <a:lstStyle/>
              <a:p>
                <a:pPr algn="just"/>
                <a:r>
                  <a:rPr lang="en-US" sz="2400" b="1" dirty="0"/>
                  <a:t>Iterative Algorithm for Fibonacci series: </a:t>
                </a:r>
                <a:r>
                  <a:rPr lang="en-US" sz="2400" dirty="0"/>
                  <a:t>If we count all arithmetic operations at unit cost; the instructions inside </a:t>
                </a:r>
                <a:r>
                  <a:rPr lang="en-US" sz="2400" i="1" dirty="0"/>
                  <a:t>for</a:t>
                </a:r>
                <a:r>
                  <a:rPr lang="en-US" sz="2400" dirty="0"/>
                  <a:t> loop take constant time </a:t>
                </a:r>
                <a14:m>
                  <m:oMath xmlns:m="http://schemas.openxmlformats.org/officeDocument/2006/math">
                    <m:r>
                      <a:rPr lang="en-US" sz="2400" i="1" dirty="0">
                        <a:latin typeface="Cambria Math" panose="02040503050406030204" pitchFamily="18" charset="0"/>
                      </a:rPr>
                      <m:t>𝑐</m:t>
                    </m:r>
                  </m:oMath>
                </a14:m>
                <a:r>
                  <a:rPr lang="en-US" sz="2400" dirty="0"/>
                  <a:t>. The time taken by the for loop is bounded above by </a:t>
                </a:r>
                <a14:m>
                  <m:oMath xmlns:m="http://schemas.openxmlformats.org/officeDocument/2006/math">
                    <m:r>
                      <a:rPr lang="en-US" sz="2400" i="1" dirty="0">
                        <a:latin typeface="Cambria Math" panose="02040503050406030204" pitchFamily="18" charset="0"/>
                      </a:rPr>
                      <m:t>𝑛</m:t>
                    </m:r>
                  </m:oMath>
                </a14:m>
                <a:r>
                  <a:rPr lang="en-US" sz="2400" dirty="0"/>
                  <a:t>, </a:t>
                </a:r>
                <a14:m>
                  <m:oMath xmlns:m="http://schemas.openxmlformats.org/officeDocument/2006/math">
                    <m:r>
                      <a:rPr lang="en-US" sz="2400" i="1" dirty="0">
                        <a:latin typeface="Cambria Math" panose="02040503050406030204" pitchFamily="18" charset="0"/>
                      </a:rPr>
                      <m:t>𝑖</m:t>
                    </m:r>
                    <m:r>
                      <a:rPr lang="en-US" sz="2400" i="1" dirty="0">
                        <a:latin typeface="Cambria Math" panose="02040503050406030204" pitchFamily="18" charset="0"/>
                      </a:rPr>
                      <m:t>.</m:t>
                    </m:r>
                    <m:r>
                      <a:rPr lang="en-US" sz="2400" i="1" dirty="0">
                        <a:latin typeface="Cambria Math" panose="02040503050406030204" pitchFamily="18" charset="0"/>
                      </a:rPr>
                      <m:t>𝑒</m:t>
                    </m:r>
                  </m:oMath>
                </a14:m>
                <a:r>
                  <a:rPr lang="en-US" sz="2400" dirty="0"/>
                  <a:t>., </a:t>
                </a:r>
                <a14:m>
                  <m:oMath xmlns:m="http://schemas.openxmlformats.org/officeDocument/2006/math">
                    <m:r>
                      <a:rPr lang="en-US" sz="2400" b="1" i="1" dirty="0">
                        <a:latin typeface="Cambria Math" panose="02040503050406030204" pitchFamily="18" charset="0"/>
                      </a:rPr>
                      <m:t>𝒏𝒄</m:t>
                    </m:r>
                    <m:r>
                      <a:rPr lang="en-US" sz="2400" b="1" i="1" dirty="0">
                        <a:latin typeface="Cambria Math" panose="02040503050406030204" pitchFamily="18" charset="0"/>
                      </a:rPr>
                      <m:t> =</m:t>
                    </m:r>
                    <m:r>
                      <a:rPr lang="en-US" sz="2400" b="1" i="1" dirty="0">
                        <a:latin typeface="Cambria Math" panose="02040503050406030204" pitchFamily="18" charset="0"/>
                        <a:ea typeface="Cambria Math" panose="02040503050406030204" pitchFamily="18" charset="0"/>
                      </a:rPr>
                      <m:t>𝛉</m:t>
                    </m:r>
                    <m:r>
                      <a:rPr lang="en-US" sz="2400" b="1" i="1" dirty="0">
                        <a:latin typeface="Cambria Math" panose="02040503050406030204" pitchFamily="18" charset="0"/>
                      </a:rPr>
                      <m:t>(</m:t>
                    </m:r>
                    <m:r>
                      <a:rPr lang="en-US" sz="2400" b="1" i="1" dirty="0">
                        <a:latin typeface="Cambria Math" panose="02040503050406030204" pitchFamily="18" charset="0"/>
                      </a:rPr>
                      <m:t>𝒏</m:t>
                    </m:r>
                    <m:r>
                      <a:rPr lang="en-US" sz="2400" b="1" i="1" dirty="0">
                        <a:latin typeface="Cambria Math" panose="02040503050406030204" pitchFamily="18" charset="0"/>
                      </a:rPr>
                      <m:t>)</m:t>
                    </m:r>
                  </m:oMath>
                </a14:m>
                <a:endParaRPr lang="en-US" sz="2400" dirty="0">
                  <a:ea typeface="Calibri" panose="020F0502020204030204" pitchFamily="34" charset="0"/>
                  <a:cs typeface="Times New Roman" panose="02020603050405020304" pitchFamily="18" charset="0"/>
                </a:endParaRPr>
              </a:p>
              <a:p>
                <a:pPr algn="just"/>
                <a:endParaRPr lang="en-US" sz="2400" dirty="0"/>
              </a:p>
            </p:txBody>
          </p:sp>
        </mc:Choice>
        <mc:Fallback xmlns="">
          <p:sp>
            <p:nvSpPr>
              <p:cNvPr id="7" name="TextBox 6"/>
              <p:cNvSpPr txBox="1">
                <a:spLocks noRot="1" noChangeAspect="1" noMove="1" noResize="1" noEditPoints="1" noAdjustHandles="1" noChangeArrowheads="1" noChangeShapeType="1" noTextEdit="1"/>
              </p:cNvSpPr>
              <p:nvPr/>
            </p:nvSpPr>
            <p:spPr>
              <a:xfrm>
                <a:off x="1714500" y="4378304"/>
                <a:ext cx="8763000" cy="1938992"/>
              </a:xfrm>
              <a:prstGeom prst="rect">
                <a:avLst/>
              </a:prstGeom>
              <a:blipFill>
                <a:blip r:embed="rId2"/>
                <a:stretch>
                  <a:fillRect l="-1043" t="-2516" r="-1043"/>
                </a:stretch>
              </a:blipFill>
            </p:spPr>
            <p:txBody>
              <a:bodyPr/>
              <a:lstStyle/>
              <a:p>
                <a:r>
                  <a:rPr lang="en-IN">
                    <a:noFill/>
                  </a:rPr>
                  <a:t> </a:t>
                </a:r>
              </a:p>
            </p:txBody>
          </p:sp>
        </mc:Fallback>
      </mc:AlternateContent>
      <p:sp>
        <p:nvSpPr>
          <p:cNvPr id="8" name="Rounded Rectangle 7"/>
          <p:cNvSpPr/>
          <p:nvPr/>
        </p:nvSpPr>
        <p:spPr>
          <a:xfrm>
            <a:off x="2532268" y="5514976"/>
            <a:ext cx="838200" cy="381000"/>
          </a:xfrm>
          <a:prstGeom prst="roundRect">
            <a:avLst/>
          </a:prstGeom>
          <a:solidFill>
            <a:srgbClr val="FF0000">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428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fade">
                                      <p:cBhvr>
                                        <p:cTn id="10" dur="500"/>
                                        <p:tgtEl>
                                          <p:spTgt spid="5">
                                            <p:txEl>
                                              <p:pRg st="0" end="0"/>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fade">
                                      <p:cBhvr>
                                        <p:cTn id="13" dur="500"/>
                                        <p:tgtEl>
                                          <p:spTgt spid="5">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500"/>
                                        <p:tgtEl>
                                          <p:spTgt spid="5">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fade">
                                      <p:cBhvr>
                                        <p:cTn id="25" dur="500"/>
                                        <p:tgtEl>
                                          <p:spTgt spid="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fade">
                                      <p:cBhvr>
                                        <p:cTn id="30" dur="500"/>
                                        <p:tgtEl>
                                          <p:spTgt spid="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8" presetClass="entr" presetSubtype="6"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strips(downRight)">
                                      <p:cBhvr>
                                        <p:cTn id="3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Fibonacci series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it-IT" dirty="0"/>
                  <a:t>Recursive Algorithm for Fibonacci series,</a:t>
                </a:r>
              </a:p>
              <a:p>
                <a:endParaRPr lang="it-IT" dirty="0"/>
              </a:p>
              <a:p>
                <a:endParaRPr lang="it-IT" dirty="0"/>
              </a:p>
              <a:p>
                <a:endParaRPr lang="it-IT" dirty="0"/>
              </a:p>
              <a:p>
                <a:endParaRPr lang="it-IT" dirty="0"/>
              </a:p>
              <a:p>
                <a:r>
                  <a:rPr lang="it-IT" dirty="0"/>
                  <a:t>The recurrence equation of above algorithm is given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d>
                        <m:dPr>
                          <m:begChr m:val="{"/>
                          <m:endChr m:val=""/>
                          <m:ctrlPr>
                            <a:rPr lang="it-IT" i="1" smtClean="0">
                              <a:latin typeface="Cambria Math" panose="02040503050406030204" pitchFamily="18" charset="0"/>
                            </a:rPr>
                          </m:ctrlPr>
                        </m:dPr>
                        <m:e>
                          <m:eqArr>
                            <m:eqArrPr>
                              <m:ctrlPr>
                                <a:rPr lang="it-IT" i="1" smtClean="0">
                                  <a:latin typeface="Cambria Math" panose="02040503050406030204" pitchFamily="18" charset="0"/>
                                </a:rPr>
                              </m:ctrlPr>
                            </m:eqArrPr>
                            <m:e>
                              <m:r>
                                <a:rPr lang="en-US" b="0" i="1" smtClean="0">
                                  <a:latin typeface="Cambria Math" panose="02040503050406030204" pitchFamily="18" charset="0"/>
                                </a:rPr>
                                <m:t>𝑛</m:t>
                              </m:r>
                              <m:r>
                                <a:rPr lang="en-US" b="0" i="1" smtClean="0">
                                  <a:latin typeface="Cambria Math" panose="02040503050406030204" pitchFamily="18" charset="0"/>
                                </a:rPr>
                                <m:t>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𝑛</m:t>
                              </m:r>
                              <m:r>
                                <a:rPr lang="en-US" b="0" i="1" smtClean="0">
                                  <a:latin typeface="Cambria Math" panose="02040503050406030204" pitchFamily="18" charset="0"/>
                                </a:rPr>
                                <m:t>=0 </m:t>
                              </m:r>
                              <m:r>
                                <a:rPr lang="en-US" b="0" i="1" smtClean="0">
                                  <a:latin typeface="Cambria Math" panose="02040503050406030204" pitchFamily="18" charset="0"/>
                                </a:rPr>
                                <m:t>𝑜𝑟</m:t>
                              </m:r>
                              <m:r>
                                <a:rPr lang="en-US" b="0" i="1" smtClean="0">
                                  <a:latin typeface="Cambria Math" panose="02040503050406030204" pitchFamily="18" charset="0"/>
                                </a:rPr>
                                <m:t> 1</m:t>
                              </m:r>
                            </m:e>
                            <m:e>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𝑇</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−2</m:t>
                                  </m:r>
                                </m:e>
                              </m:d>
                              <m:r>
                                <a:rPr lang="en-US" b="0" i="1" smtClean="0">
                                  <a:latin typeface="Cambria Math" panose="02040503050406030204" pitchFamily="18" charset="0"/>
                                </a:rPr>
                                <m:t>  </m:t>
                              </m:r>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𝑤</m:t>
                              </m:r>
                            </m:e>
                          </m:eqArr>
                        </m:e>
                      </m:d>
                    </m:oMath>
                  </m:oMathPara>
                </a14:m>
                <a:endParaRPr lang="it-IT" dirty="0"/>
              </a:p>
              <a:p>
                <a:r>
                  <a:rPr lang="en-US" dirty="0"/>
                  <a:t>The recurrence can be re-written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−1</m:t>
                          </m:r>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−2</m:t>
                          </m:r>
                        </m:e>
                      </m:d>
                      <m:r>
                        <a:rPr lang="en-US" b="0" i="1" smtClean="0">
                          <a:latin typeface="Cambria Math" panose="02040503050406030204" pitchFamily="18" charset="0"/>
                        </a:rPr>
                        <m:t>=0</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A8BEFB-AE5B-48F9-BBAD-B489CDE48C80}" type="slidenum">
              <a:rPr lang="en-US" smtClean="0"/>
              <a:pPr/>
              <a:t>14</a:t>
            </a:fld>
            <a:endParaRPr lang="en-US" dirty="0"/>
          </a:p>
        </p:txBody>
      </p:sp>
      <p:sp>
        <p:nvSpPr>
          <p:cNvPr id="6" name="Content Placeholder 3"/>
          <p:cNvSpPr txBox="1">
            <a:spLocks/>
          </p:cNvSpPr>
          <p:nvPr/>
        </p:nvSpPr>
        <p:spPr>
          <a:xfrm>
            <a:off x="1889760" y="1600200"/>
            <a:ext cx="8412480" cy="1580048"/>
          </a:xfrm>
          <a:prstGeom prst="rect">
            <a:avLst/>
          </a:prstGeom>
          <a:solidFill>
            <a:schemeClr val="bg2"/>
          </a:solidFill>
        </p:spPr>
        <p:style>
          <a:lnRef idx="0">
            <a:scrgbClr r="0" g="0" b="0"/>
          </a:lnRef>
          <a:fillRef idx="1001">
            <a:schemeClr val="lt2"/>
          </a:fillRef>
          <a:effectRef idx="0">
            <a:scrgbClr r="0" g="0" b="0"/>
          </a:effectRef>
          <a:fontRef idx="major"/>
        </p:style>
        <p:txBody>
          <a:bodyPr vert="horz" wrap="square" lIns="91440" tIns="45720" rIns="91440" bIns="45720" rtlCol="0">
            <a:spAutoFit/>
          </a:bodyPr>
          <a:lstStyle>
            <a:lvl1pPr marL="342900" indent="-342900" algn="just"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just"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j-lt"/>
                <a:ea typeface="+mj-ea"/>
                <a:cs typeface="+mj-cs"/>
              </a:defRPr>
            </a:lvl9pPr>
          </a:lstStyle>
          <a:p>
            <a:pPr marL="0" indent="0" algn="l">
              <a:spcAft>
                <a:spcPts val="300"/>
              </a:spcAft>
              <a:buNone/>
            </a:pPr>
            <a:r>
              <a:rPr lang="en-US" b="1">
                <a:solidFill>
                  <a:schemeClr val="tx2">
                    <a:lumMod val="60000"/>
                    <a:lumOff val="40000"/>
                  </a:schemeClr>
                </a:solidFill>
                <a:latin typeface="Consolas" pitchFamily="49" charset="0"/>
                <a:cs typeface="Consolas" pitchFamily="49" charset="0"/>
              </a:rPr>
              <a:t>Function fibrec(n)</a:t>
            </a:r>
          </a:p>
          <a:p>
            <a:pPr marL="0" indent="0" algn="l">
              <a:spcAft>
                <a:spcPts val="300"/>
              </a:spcAft>
              <a:buNone/>
            </a:pPr>
            <a:r>
              <a:rPr lang="en-US" b="1">
                <a:latin typeface="Consolas" pitchFamily="49" charset="0"/>
                <a:cs typeface="Consolas" pitchFamily="49" charset="0"/>
              </a:rPr>
              <a:t>	if n &lt; 2 then return n</a:t>
            </a:r>
          </a:p>
          <a:p>
            <a:pPr marL="0" indent="0" algn="l">
              <a:spcAft>
                <a:spcPts val="300"/>
              </a:spcAft>
              <a:buNone/>
            </a:pPr>
            <a:r>
              <a:rPr lang="en-US" b="1">
                <a:latin typeface="Consolas" pitchFamily="49" charset="0"/>
                <a:cs typeface="Consolas" pitchFamily="49" charset="0"/>
              </a:rPr>
              <a:t>	else return fibrec (n – 1) + fibrec (n – 2)</a:t>
            </a:r>
            <a:endParaRPr lang="en-US" b="1" dirty="0">
              <a:latin typeface="Consolas" pitchFamily="49" charset="0"/>
              <a:cs typeface="Consolas" pitchFamily="49" charset="0"/>
            </a:endParaRPr>
          </a:p>
        </p:txBody>
      </p:sp>
    </p:spTree>
    <p:extLst>
      <p:ext uri="{BB962C8B-B14F-4D97-AF65-F5344CB8AC3E}">
        <p14:creationId xmlns:p14="http://schemas.microsoft.com/office/powerpoint/2010/main" val="322502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fade">
                                      <p:cBhvr>
                                        <p:cTn id="15" dur="500"/>
                                        <p:tgtEl>
                                          <p:spTgt spid="6">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fade">
                                      <p:cBhvr>
                                        <p:cTn id="18" dur="500"/>
                                        <p:tgtEl>
                                          <p:spTgt spid="6">
                                            <p:txEl>
                                              <p:pRg st="1" end="1"/>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500"/>
                                        <p:tgtEl>
                                          <p:spTgt spid="6">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par>
                          <p:cTn id="27" fill="hold">
                            <p:stCondLst>
                              <p:cond delay="500"/>
                            </p:stCondLst>
                            <p:childTnLst>
                              <p:par>
                                <p:cTn id="28" presetID="10" presetClass="entr" presetSubtype="0" fill="hold" nodeType="after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par>
                          <p:cTn id="36" fill="hold">
                            <p:stCondLst>
                              <p:cond delay="500"/>
                            </p:stCondLst>
                            <p:childTnLst>
                              <p:par>
                                <p:cTn id="37" presetID="10" presetClass="entr" presetSubtype="0" fill="hold" nodeType="after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Fibonacci series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characteristic polynomial is,</a:t>
                </a:r>
              </a:p>
              <a:p>
                <a:pPr marL="0"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−1=</m:t>
                      </m:r>
                      <m:r>
                        <a:rPr lang="en-US" b="0" i="0" smtClean="0">
                          <a:latin typeface="Cambria Math" panose="02040503050406030204" pitchFamily="18" charset="0"/>
                        </a:rPr>
                        <m:t>0</m:t>
                      </m:r>
                    </m:oMath>
                  </m:oMathPara>
                </a14:m>
                <a:endParaRPr lang="en-US" b="0" dirty="0"/>
              </a:p>
              <a:p>
                <a:r>
                  <a:rPr lang="en-US" dirty="0"/>
                  <a:t>Whose roots are,</a:t>
                </a:r>
              </a:p>
              <a:p>
                <a:pPr marL="0" indent="0" algn="ctr">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𝑟</m:t>
                        </m:r>
                      </m:e>
                      <m:sub>
                        <m:r>
                          <a:rPr lang="en-US" sz="2800" i="1">
                            <a:latin typeface="Cambria Math" panose="02040503050406030204" pitchFamily="18" charset="0"/>
                          </a:rPr>
                          <m:t>1</m:t>
                        </m:r>
                      </m:sub>
                    </m:sSub>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rad>
                          <m:radPr>
                            <m:degHide m:val="on"/>
                            <m:ctrlPr>
                              <a:rPr lang="en-US" sz="2800" i="1">
                                <a:latin typeface="Cambria Math" panose="02040503050406030204" pitchFamily="18" charset="0"/>
                              </a:rPr>
                            </m:ctrlPr>
                          </m:radPr>
                          <m:deg/>
                          <m:e>
                            <m:r>
                              <a:rPr lang="en-US" sz="2800" i="1">
                                <a:latin typeface="Cambria Math" panose="02040503050406030204" pitchFamily="18" charset="0"/>
                              </a:rPr>
                              <m:t>5</m:t>
                            </m:r>
                          </m:e>
                        </m:rad>
                      </m:num>
                      <m:den>
                        <m:r>
                          <a:rPr lang="en-US" sz="2800" i="1">
                            <a:latin typeface="Cambria Math" panose="02040503050406030204" pitchFamily="18" charset="0"/>
                          </a:rPr>
                          <m:t>2</m:t>
                        </m:r>
                      </m:den>
                    </m:f>
                  </m:oMath>
                </a14:m>
                <a:r>
                  <a:rPr lang="en-US" sz="2800" dirty="0"/>
                  <a:t>   and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𝑟</m:t>
                        </m:r>
                      </m:e>
                      <m:sub>
                        <m:r>
                          <a:rPr lang="en-US" sz="2800" i="1">
                            <a:latin typeface="Cambria Math" panose="02040503050406030204" pitchFamily="18" charset="0"/>
                          </a:rPr>
                          <m:t>2</m:t>
                        </m:r>
                      </m:sub>
                    </m:sSub>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rad>
                          <m:radPr>
                            <m:degHide m:val="on"/>
                            <m:ctrlPr>
                              <a:rPr lang="en-US" sz="2800" i="1">
                                <a:latin typeface="Cambria Math" panose="02040503050406030204" pitchFamily="18" charset="0"/>
                              </a:rPr>
                            </m:ctrlPr>
                          </m:radPr>
                          <m:deg/>
                          <m:e>
                            <m:r>
                              <a:rPr lang="en-US" sz="2800" i="1">
                                <a:latin typeface="Cambria Math" panose="02040503050406030204" pitchFamily="18" charset="0"/>
                              </a:rPr>
                              <m:t>5</m:t>
                            </m:r>
                          </m:e>
                        </m:rad>
                      </m:num>
                      <m:den>
                        <m:r>
                          <a:rPr lang="en-US" sz="2800" i="1">
                            <a:latin typeface="Cambria Math" panose="02040503050406030204" pitchFamily="18" charset="0"/>
                          </a:rPr>
                          <m:t>2</m:t>
                        </m:r>
                      </m:den>
                    </m:f>
                  </m:oMath>
                </a14:m>
                <a:endParaRPr lang="en-US" sz="2800" dirty="0"/>
              </a:p>
              <a:p>
                <a:r>
                  <a:rPr lang="en-US" dirty="0"/>
                  <a:t>The general solution is therefore of the form,</a:t>
                </a:r>
              </a:p>
              <a:p>
                <a:pPr marL="0" indent="0">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smtClean="0">
                              <a:latin typeface="Cambria Math" panose="02040503050406030204" pitchFamily="18" charset="0"/>
                            </a:rPr>
                            <m:t>𝑻</m:t>
                          </m:r>
                        </m:e>
                        <m:sub>
                          <m:r>
                            <a:rPr lang="en-US" b="1" i="1" smtClean="0">
                              <a:latin typeface="Cambria Math" panose="02040503050406030204" pitchFamily="18" charset="0"/>
                            </a:rPr>
                            <m:t>𝒏</m:t>
                          </m:r>
                        </m:sub>
                      </m:sSub>
                      <m:r>
                        <a:rPr lang="en-US" b="1" i="1">
                          <a:latin typeface="Cambria Math" panose="02040503050406030204" pitchFamily="18" charset="0"/>
                        </a:rPr>
                        <m:t>=</m:t>
                      </m:r>
                      <m:r>
                        <a:rPr lang="en-US" b="1" i="1"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𝒄</m:t>
                          </m:r>
                        </m:e>
                        <m:sub>
                          <m:r>
                            <a:rPr lang="en-US" b="1" i="1" smtClean="0">
                              <a:latin typeface="Cambria Math" panose="02040503050406030204" pitchFamily="18" charset="0"/>
                            </a:rPr>
                            <m:t>𝟏</m:t>
                          </m:r>
                        </m:sub>
                      </m:sSub>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𝒓</m:t>
                          </m:r>
                        </m:e>
                        <m:sub>
                          <m:r>
                            <a:rPr lang="en-US" b="1" i="1" smtClean="0">
                              <a:latin typeface="Cambria Math" panose="02040503050406030204" pitchFamily="18" charset="0"/>
                            </a:rPr>
                            <m:t>𝟏</m:t>
                          </m:r>
                        </m:sub>
                        <m:sup>
                          <m:r>
                            <a:rPr lang="en-US" b="1" i="1" smtClean="0">
                              <a:latin typeface="Cambria Math" panose="02040503050406030204" pitchFamily="18" charset="0"/>
                            </a:rPr>
                            <m:t>𝒏</m:t>
                          </m:r>
                        </m:sup>
                      </m:sSubSup>
                      <m:r>
                        <a:rPr lang="en-US" b="1" i="0" smtClean="0">
                          <a:latin typeface="Cambria Math" panose="02040503050406030204" pitchFamily="18" charset="0"/>
                        </a:rPr>
                        <m:t>+ </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𝒄</m:t>
                          </m:r>
                        </m:e>
                        <m:sub>
                          <m:r>
                            <a:rPr lang="en-US" b="1" i="1" smtClean="0">
                              <a:latin typeface="Cambria Math" panose="02040503050406030204" pitchFamily="18" charset="0"/>
                            </a:rPr>
                            <m:t>𝟐</m:t>
                          </m:r>
                        </m:sub>
                      </m:sSub>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𝒓</m:t>
                          </m:r>
                        </m:e>
                        <m:sub>
                          <m:r>
                            <a:rPr lang="en-US" b="1" i="1" smtClean="0">
                              <a:latin typeface="Cambria Math" panose="02040503050406030204" pitchFamily="18" charset="0"/>
                            </a:rPr>
                            <m:t>𝟐</m:t>
                          </m:r>
                        </m:sub>
                        <m:sup>
                          <m:r>
                            <a:rPr lang="en-US" b="1" i="1" smtClean="0">
                              <a:latin typeface="Cambria Math" panose="02040503050406030204" pitchFamily="18" charset="0"/>
                            </a:rPr>
                            <m:t>𝒏</m:t>
                          </m:r>
                        </m:sup>
                      </m:sSubSup>
                    </m:oMath>
                  </m:oMathPara>
                </a14:m>
                <a:endParaRPr lang="en-US" b="1" dirty="0"/>
              </a:p>
              <a:p>
                <a:r>
                  <a:rPr lang="en-US" dirty="0"/>
                  <a:t>Substituting initial values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=0 </m:t>
                    </m:r>
                  </m:oMath>
                </a14:m>
                <a:r>
                  <a:rPr lang="en-US" dirty="0"/>
                  <a:t>and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2</m:t>
                          </m:r>
                        </m:sub>
                      </m:sSub>
                      <m:r>
                        <a:rPr lang="en-US" b="0" i="1" smtClean="0">
                          <a:latin typeface="Cambria Math" panose="02040503050406030204" pitchFamily="18" charset="0"/>
                        </a:rPr>
                        <m:t>=0             </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oMath>
                  </m:oMathPara>
                </a14:m>
                <a:endParaRPr lang="en-US" b="0"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𝑇</m:t>
                          </m:r>
                        </m:e>
                        <m:sub>
                          <m:r>
                            <a:rPr lang="en-US" b="0" i="1" smtClean="0">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1</m:t>
                          </m:r>
                        </m:sub>
                      </m:sSub>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2</m:t>
                          </m:r>
                        </m:sub>
                      </m:sSub>
                      <m:r>
                        <a:rPr lang="en-US" b="0" i="1" smtClean="0">
                          <a:latin typeface="Cambria Math" panose="02040503050406030204" pitchFamily="18" charset="0"/>
                        </a:rPr>
                        <m:t> =1      (2)</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ounded Rectangle 3"/>
              <p:cNvSpPr/>
              <p:nvPr/>
            </p:nvSpPr>
            <p:spPr>
              <a:xfrm>
                <a:off x="8153400" y="3505200"/>
                <a:ext cx="2057400" cy="13716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𝒕</m:t>
                          </m:r>
                        </m:e>
                        <m:sub>
                          <m:r>
                            <a:rPr lang="en-US" sz="2400" b="1" i="1">
                              <a:latin typeface="Cambria Math" panose="02040503050406030204" pitchFamily="18" charset="0"/>
                            </a:rPr>
                            <m:t>𝒏</m:t>
                          </m:r>
                        </m:sub>
                      </m:sSub>
                      <m:r>
                        <a:rPr lang="en-US" sz="2400" b="1" i="1">
                          <a:latin typeface="Cambria Math" panose="02040503050406030204" pitchFamily="18" charset="0"/>
                        </a:rPr>
                        <m:t>=</m:t>
                      </m:r>
                      <m:nary>
                        <m:naryPr>
                          <m:chr m:val="∑"/>
                          <m:ctrlPr>
                            <a:rPr lang="en-US" sz="2400" b="1" i="1">
                              <a:latin typeface="Cambria Math" panose="02040503050406030204" pitchFamily="18" charset="0"/>
                            </a:rPr>
                          </m:ctrlPr>
                        </m:naryPr>
                        <m:sub>
                          <m:r>
                            <m:rPr>
                              <m:brk m:alnAt="23"/>
                            </m:rPr>
                            <a:rPr lang="en-US" sz="2400" b="1" i="1">
                              <a:latin typeface="Cambria Math" panose="02040503050406030204" pitchFamily="18" charset="0"/>
                            </a:rPr>
                            <m:t>𝒊</m:t>
                          </m:r>
                          <m:r>
                            <a:rPr lang="en-US" sz="2400" b="1" i="1">
                              <a:latin typeface="Cambria Math" panose="02040503050406030204" pitchFamily="18" charset="0"/>
                            </a:rPr>
                            <m:t>=</m:t>
                          </m:r>
                          <m:r>
                            <a:rPr lang="en-US" sz="2400" b="1" i="1">
                              <a:latin typeface="Cambria Math" panose="02040503050406030204" pitchFamily="18" charset="0"/>
                            </a:rPr>
                            <m:t>𝟏</m:t>
                          </m:r>
                        </m:sub>
                        <m:sup>
                          <m:r>
                            <a:rPr lang="en-US" sz="2400" b="1" i="1">
                              <a:latin typeface="Cambria Math" panose="02040503050406030204" pitchFamily="18" charset="0"/>
                            </a:rPr>
                            <m:t>𝒌</m:t>
                          </m:r>
                        </m:sup>
                        <m:e>
                          <m:sSub>
                            <m:sSubPr>
                              <m:ctrlPr>
                                <a:rPr lang="en-US" sz="2400" b="1" i="1">
                                  <a:latin typeface="Cambria Math" panose="02040503050406030204" pitchFamily="18" charset="0"/>
                                </a:rPr>
                              </m:ctrlPr>
                            </m:sSubPr>
                            <m:e>
                              <m:r>
                                <a:rPr lang="en-US" sz="2400" b="1" i="1">
                                  <a:latin typeface="Cambria Math" panose="02040503050406030204" pitchFamily="18" charset="0"/>
                                </a:rPr>
                                <m:t>𝒄</m:t>
                              </m:r>
                            </m:e>
                            <m:sub>
                              <m:r>
                                <a:rPr lang="en-US" sz="2400" b="1" i="1">
                                  <a:latin typeface="Cambria Math" panose="02040503050406030204" pitchFamily="18" charset="0"/>
                                </a:rPr>
                                <m:t>𝒊</m:t>
                              </m:r>
                            </m:sub>
                          </m:sSub>
                          <m:sSubSup>
                            <m:sSubSupPr>
                              <m:ctrlPr>
                                <a:rPr lang="en-US" sz="2400" b="1" i="1">
                                  <a:latin typeface="Cambria Math" panose="02040503050406030204" pitchFamily="18" charset="0"/>
                                </a:rPr>
                              </m:ctrlPr>
                            </m:sSubSupPr>
                            <m:e>
                              <m:r>
                                <a:rPr lang="en-US" sz="2400" b="1" i="1">
                                  <a:latin typeface="Cambria Math" panose="02040503050406030204" pitchFamily="18" charset="0"/>
                                </a:rPr>
                                <m:t>𝒓</m:t>
                              </m:r>
                            </m:e>
                            <m:sub>
                              <m:r>
                                <a:rPr lang="en-US" sz="2400" b="1" i="1">
                                  <a:latin typeface="Cambria Math" panose="02040503050406030204" pitchFamily="18" charset="0"/>
                                </a:rPr>
                                <m:t>𝒊</m:t>
                              </m:r>
                            </m:sub>
                            <m:sup>
                              <m:r>
                                <a:rPr lang="en-US" sz="2400" b="1" i="1">
                                  <a:latin typeface="Cambria Math" panose="02040503050406030204" pitchFamily="18" charset="0"/>
                                </a:rPr>
                                <m:t>𝒏</m:t>
                              </m:r>
                            </m:sup>
                          </m:sSubSup>
                        </m:e>
                      </m:nary>
                    </m:oMath>
                  </m:oMathPara>
                </a14:m>
                <a:endParaRPr lang="en-US" sz="2400" b="1" dirty="0"/>
              </a:p>
            </p:txBody>
          </p:sp>
        </mc:Choice>
        <mc:Fallback xmlns="">
          <p:sp>
            <p:nvSpPr>
              <p:cNvPr id="4" name="Rounded Rectangle 3"/>
              <p:cNvSpPr>
                <a:spLocks noRot="1" noChangeAspect="1" noMove="1" noResize="1" noEditPoints="1" noAdjustHandles="1" noChangeArrowheads="1" noChangeShapeType="1" noTextEdit="1"/>
              </p:cNvSpPr>
              <p:nvPr/>
            </p:nvSpPr>
            <p:spPr>
              <a:xfrm>
                <a:off x="8153400" y="3505200"/>
                <a:ext cx="2057400" cy="1371600"/>
              </a:xfrm>
              <a:prstGeom prst="round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689273" y="1066800"/>
                <a:ext cx="2781300" cy="1295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𝑥</m:t>
                      </m:r>
                      <m:r>
                        <a:rPr lang="en-US" sz="2000" i="1">
                          <a:latin typeface="Cambria Math" panose="02040503050406030204" pitchFamily="18" charset="0"/>
                        </a:rPr>
                        <m:t> =</m:t>
                      </m:r>
                      <m:f>
                        <m:fPr>
                          <m:ctrlPr>
                            <a:rPr lang="en-US" sz="2000" i="1">
                              <a:latin typeface="Cambria Math" panose="02040503050406030204" pitchFamily="18" charset="0"/>
                            </a:rPr>
                          </m:ctrlPr>
                        </m:fPr>
                        <m:num>
                          <m:r>
                            <a:rPr lang="en-US" sz="2000" i="1">
                              <a:latin typeface="Cambria Math" panose="02040503050406030204" pitchFamily="18" charset="0"/>
                            </a:rPr>
                            <m:t>−</m:t>
                          </m:r>
                          <m:r>
                            <a:rPr lang="en-US" sz="2000" i="1">
                              <a:latin typeface="Cambria Math" panose="02040503050406030204" pitchFamily="18" charset="0"/>
                            </a:rPr>
                            <m:t>𝑏</m:t>
                          </m:r>
                          <m:r>
                            <a:rPr lang="en-US" sz="2000" i="1">
                              <a:latin typeface="Cambria Math" panose="02040503050406030204" pitchFamily="18" charset="0"/>
                              <a:ea typeface="Cambria Math" panose="02040503050406030204" pitchFamily="18" charset="0"/>
                            </a:rPr>
                            <m:t>±</m:t>
                          </m:r>
                          <m:rad>
                            <m:radPr>
                              <m:degHide m:val="on"/>
                              <m:ctrlPr>
                                <a:rPr lang="en-US" sz="2000" i="1">
                                  <a:latin typeface="Cambria Math" panose="02040503050406030204" pitchFamily="18" charset="0"/>
                                  <a:ea typeface="Cambria Math" panose="02040503050406030204" pitchFamily="18" charset="0"/>
                                </a:rPr>
                              </m:ctrlPr>
                            </m:radPr>
                            <m:deg/>
                            <m:e>
                              <m:sSup>
                                <m:sSupPr>
                                  <m:ctrlPr>
                                    <a:rPr lang="en-US" sz="2000" i="1">
                                      <a:latin typeface="Cambria Math" panose="02040503050406030204" pitchFamily="18" charset="0"/>
                                      <a:ea typeface="Cambria Math" panose="02040503050406030204" pitchFamily="18" charset="0"/>
                                    </a:rPr>
                                  </m:ctrlPr>
                                </m:sSupPr>
                                <m:e>
                                  <m:r>
                                    <a:rPr lang="en-US" sz="2000" i="1">
                                      <a:latin typeface="Cambria Math" panose="02040503050406030204" pitchFamily="18" charset="0"/>
                                      <a:ea typeface="Cambria Math" panose="02040503050406030204" pitchFamily="18" charset="0"/>
                                    </a:rPr>
                                    <m:t>𝑏</m:t>
                                  </m:r>
                                </m:e>
                                <m:sup>
                                  <m:r>
                                    <a:rPr lang="en-US" sz="2000" i="1">
                                      <a:latin typeface="Cambria Math" panose="02040503050406030204" pitchFamily="18" charset="0"/>
                                      <a:ea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−4</m:t>
                              </m:r>
                              <m:r>
                                <a:rPr lang="en-US" sz="2000" i="1">
                                  <a:latin typeface="Cambria Math" panose="02040503050406030204" pitchFamily="18" charset="0"/>
                                  <a:ea typeface="Cambria Math" panose="02040503050406030204" pitchFamily="18" charset="0"/>
                                </a:rPr>
                                <m:t>𝑎𝑐</m:t>
                              </m:r>
                            </m:e>
                          </m:rad>
                        </m:num>
                        <m:den>
                          <m:r>
                            <a:rPr lang="en-US" sz="2000" i="1">
                              <a:latin typeface="Cambria Math" panose="02040503050406030204" pitchFamily="18" charset="0"/>
                            </a:rPr>
                            <m:t>2</m:t>
                          </m:r>
                          <m:r>
                            <a:rPr lang="en-US" sz="2000" i="1">
                              <a:latin typeface="Cambria Math" panose="02040503050406030204" pitchFamily="18" charset="0"/>
                            </a:rPr>
                            <m:t>𝑎</m:t>
                          </m:r>
                        </m:den>
                      </m:f>
                    </m:oMath>
                  </m:oMathPara>
                </a14:m>
                <a:endParaRPr lang="en-US" sz="2000" dirty="0"/>
              </a:p>
            </p:txBody>
          </p:sp>
        </mc:Choice>
        <mc:Fallback xmlns="">
          <p:sp>
            <p:nvSpPr>
              <p:cNvPr id="6" name="Rounded Rectangle 5"/>
              <p:cNvSpPr>
                <a:spLocks noRot="1" noChangeAspect="1" noMove="1" noResize="1" noEditPoints="1" noAdjustHandles="1" noChangeArrowheads="1" noChangeShapeType="1" noTextEdit="1"/>
              </p:cNvSpPr>
              <p:nvPr/>
            </p:nvSpPr>
            <p:spPr>
              <a:xfrm>
                <a:off x="7689273" y="1066800"/>
                <a:ext cx="2781300" cy="1295400"/>
              </a:xfrm>
              <a:prstGeom prst="roundRect">
                <a:avLst/>
              </a:prstGeom>
              <a:blipFill>
                <a:blip r:embed="rId4"/>
                <a:stretch>
                  <a:fillRect/>
                </a:stretch>
              </a:blipFill>
            </p:spPr>
            <p:txBody>
              <a:bodyPr/>
              <a:lstStyle/>
              <a:p>
                <a:r>
                  <a:rPr lang="en-IN">
                    <a:noFill/>
                  </a:rPr>
                  <a:t> </a:t>
                </a:r>
              </a:p>
            </p:txBody>
          </p:sp>
        </mc:Fallback>
      </mc:AlternateContent>
      <p:sp>
        <p:nvSpPr>
          <p:cNvPr id="7" name="Slide Number Placeholder 6"/>
          <p:cNvSpPr>
            <a:spLocks noGrp="1"/>
          </p:cNvSpPr>
          <p:nvPr>
            <p:ph type="sldNum" sz="quarter" idx="12"/>
          </p:nvPr>
        </p:nvSpPr>
        <p:spPr/>
        <p:txBody>
          <a:bodyPr/>
          <a:lstStyle/>
          <a:p>
            <a:fld id="{5EA8BEFB-AE5B-48F9-BBAD-B489CDE48C80}" type="slidenum">
              <a:rPr lang="en-US" smtClean="0"/>
              <a:pPr/>
              <a:t>15</a:t>
            </a:fld>
            <a:endParaRPr lang="en-US" dirty="0"/>
          </a:p>
        </p:txBody>
      </p:sp>
    </p:spTree>
    <p:extLst>
      <p:ext uri="{BB962C8B-B14F-4D97-AF65-F5344CB8AC3E}">
        <p14:creationId xmlns:p14="http://schemas.microsoft.com/office/powerpoint/2010/main" val="715536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xit" presetSubtype="0" fill="hold" grpId="1" nodeType="clickEffect">
                                  <p:stCondLst>
                                    <p:cond delay="0"/>
                                  </p:stCondLst>
                                  <p:childTnLst>
                                    <p:set>
                                      <p:cBhvr>
                                        <p:cTn id="25" dur="1" fill="hold">
                                          <p:stCondLst>
                                            <p:cond delay="0"/>
                                          </p:stCondLst>
                                        </p:cTn>
                                        <p:tgtEl>
                                          <p:spTgt spid="6"/>
                                        </p:tgtEl>
                                        <p:attrNameLst>
                                          <p:attrName>style.visibility</p:attrName>
                                        </p:attrNameLst>
                                      </p:cBhvr>
                                      <p:to>
                                        <p:strVal val="hidden"/>
                                      </p:to>
                                    </p:se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500"/>
                                        <p:tgtEl>
                                          <p:spTgt spid="3">
                                            <p:txEl>
                                              <p:pRg st="5" end="5"/>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1" nodeType="clickEffect">
                                  <p:stCondLst>
                                    <p:cond delay="0"/>
                                  </p:stCondLst>
                                  <p:childTnLst>
                                    <p:set>
                                      <p:cBhvr>
                                        <p:cTn id="49" dur="1" fill="hold">
                                          <p:stCondLst>
                                            <p:cond delay="0"/>
                                          </p:stCondLst>
                                        </p:cTn>
                                        <p:tgtEl>
                                          <p:spTgt spid="4"/>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6" end="6"/>
                                            </p:txEl>
                                          </p:spTgt>
                                        </p:tgtEl>
                                        <p:attrNameLst>
                                          <p:attrName>style.visibility</p:attrName>
                                        </p:attrNameLst>
                                      </p:cBhvr>
                                      <p:to>
                                        <p:strVal val="visible"/>
                                      </p:to>
                                    </p:set>
                                    <p:animEffect transition="in" filter="fade">
                                      <p:cBhvr>
                                        <p:cTn id="54" dur="500"/>
                                        <p:tgtEl>
                                          <p:spTgt spid="3">
                                            <p:txEl>
                                              <p:pRg st="6" end="6"/>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animEffect transition="in" filter="fade">
                                      <p:cBhvr>
                                        <p:cTn id="59" dur="500"/>
                                        <p:tgtEl>
                                          <p:spTgt spid="3">
                                            <p:txEl>
                                              <p:pRg st="7" end="7"/>
                                            </p:txEl>
                                          </p:spTgt>
                                        </p:tgtEl>
                                      </p:cBhvr>
                                    </p:animEffect>
                                  </p:childTnLst>
                                </p:cTn>
                              </p:par>
                              <p:par>
                                <p:cTn id="60" presetID="10" presetClass="entr" presetSubtype="0" fill="hold" nodeType="withEffect">
                                  <p:stCondLst>
                                    <p:cond delay="0"/>
                                  </p:stCondLst>
                                  <p:childTnLst>
                                    <p:set>
                                      <p:cBhvr>
                                        <p:cTn id="61" dur="1" fill="hold">
                                          <p:stCondLst>
                                            <p:cond delay="0"/>
                                          </p:stCondLst>
                                        </p:cTn>
                                        <p:tgtEl>
                                          <p:spTgt spid="3">
                                            <p:txEl>
                                              <p:pRg st="8" end="8"/>
                                            </p:txEl>
                                          </p:spTgt>
                                        </p:tgtEl>
                                        <p:attrNameLst>
                                          <p:attrName>style.visibility</p:attrName>
                                        </p:attrNameLst>
                                      </p:cBhvr>
                                      <p:to>
                                        <p:strVal val="visible"/>
                                      </p:to>
                                    </p:set>
                                    <p:animEffect transition="in" filter="fade">
                                      <p:cBhvr>
                                        <p:cTn id="6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6" grpId="0" animBg="1"/>
      <p:bldP spid="6"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Fibonacci series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Solving these equations, we obtain</a:t>
                </a:r>
              </a:p>
              <a:p>
                <a:pPr marL="0" indent="0" algn="ctr">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5</m:t>
                            </m:r>
                          </m:e>
                        </m:rad>
                      </m:den>
                    </m:f>
                    <m:r>
                      <a:rPr lang="en-US" i="1" smtClean="0">
                        <a:latin typeface="Cambria Math" panose="02040503050406030204" pitchFamily="18" charset="0"/>
                      </a:rPr>
                      <m:t> </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b="0" i="1" smtClean="0">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1</m:t>
                        </m:r>
                      </m:num>
                      <m:den>
                        <m:rad>
                          <m:radPr>
                            <m:degHide m:val="on"/>
                            <m:ctrlPr>
                              <a:rPr lang="en-US" i="1">
                                <a:latin typeface="Cambria Math" panose="02040503050406030204" pitchFamily="18" charset="0"/>
                              </a:rPr>
                            </m:ctrlPr>
                          </m:radPr>
                          <m:deg/>
                          <m:e>
                            <m:r>
                              <a:rPr lang="en-US" i="1">
                                <a:latin typeface="Cambria Math" panose="02040503050406030204" pitchFamily="18" charset="0"/>
                              </a:rPr>
                              <m:t>5</m:t>
                            </m:r>
                          </m:e>
                        </m:rad>
                      </m:den>
                    </m:f>
                  </m:oMath>
                </a14:m>
                <a:r>
                  <a:rPr lang="en-US" dirty="0"/>
                  <a:t> </a:t>
                </a:r>
              </a:p>
              <a:p>
                <a:r>
                  <a:rPr lang="en-US" dirty="0"/>
                  <a:t>Substituting the values of roots and constants,</a:t>
                </a:r>
              </a:p>
              <a:p>
                <a:pPr marL="0" indent="0" algn="ctr">
                  <a:buNone/>
                </a:pP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𝑛</m:t>
                        </m:r>
                      </m:sub>
                    </m:sSub>
                    <m:r>
                      <a:rPr lang="en-US" i="1" smtClean="0">
                        <a:latin typeface="Cambria Math" panose="02040503050406030204" pitchFamily="18" charset="0"/>
                      </a:rPr>
                      <m:t>=</m:t>
                    </m:r>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ad>
                          <m:radPr>
                            <m:degHide m:val="on"/>
                            <m:ctrlPr>
                              <a:rPr lang="en-US" i="1" smtClean="0">
                                <a:latin typeface="Cambria Math" panose="02040503050406030204" pitchFamily="18" charset="0"/>
                              </a:rPr>
                            </m:ctrlPr>
                          </m:radPr>
                          <m:deg/>
                          <m:e>
                            <m:r>
                              <a:rPr lang="en-US" b="0" i="1" smtClean="0">
                                <a:latin typeface="Cambria Math" panose="02040503050406030204" pitchFamily="18" charset="0"/>
                              </a:rPr>
                              <m:t>5</m:t>
                            </m:r>
                          </m:e>
                        </m:rad>
                      </m:den>
                    </m:f>
                    <m:d>
                      <m:dPr>
                        <m:begChr m:val="["/>
                        <m:endChr m:val="]"/>
                        <m:ctrlPr>
                          <a:rPr lang="en-US" i="1" smtClean="0">
                            <a:latin typeface="Cambria Math" panose="02040503050406030204" pitchFamily="18" charset="0"/>
                          </a:rPr>
                        </m:ctrlPr>
                      </m:dPr>
                      <m:e>
                        <m:sSup>
                          <m:sSupPr>
                            <m:ctrlPr>
                              <a:rPr lang="en-US" i="1" smtClean="0">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rad>
                                      <m:radPr>
                                        <m:degHide m:val="on"/>
                                        <m:ctrlPr>
                                          <a:rPr lang="en-US" i="1">
                                            <a:latin typeface="Cambria Math" panose="02040503050406030204" pitchFamily="18" charset="0"/>
                                          </a:rPr>
                                        </m:ctrlPr>
                                      </m:radPr>
                                      <m:deg/>
                                      <m:e>
                                        <m:r>
                                          <a:rPr lang="en-US" i="1">
                                            <a:latin typeface="Cambria Math" panose="02040503050406030204" pitchFamily="18" charset="0"/>
                                          </a:rPr>
                                          <m:t>5</m:t>
                                        </m:r>
                                      </m:e>
                                    </m:rad>
                                  </m:num>
                                  <m:den>
                                    <m:r>
                                      <a:rPr lang="en-US" i="1">
                                        <a:latin typeface="Cambria Math" panose="02040503050406030204" pitchFamily="18" charset="0"/>
                                      </a:rPr>
                                      <m:t>2</m:t>
                                    </m:r>
                                  </m:den>
                                </m:f>
                              </m:e>
                            </m:d>
                          </m:e>
                          <m:sup>
                            <m:r>
                              <a:rPr lang="en-US" b="0" i="1" smtClean="0">
                                <a:latin typeface="Cambria Math" panose="02040503050406030204" pitchFamily="18" charset="0"/>
                              </a:rPr>
                              <m:t>𝑛</m:t>
                            </m:r>
                          </m:sup>
                        </m:sSup>
                        <m:r>
                          <a:rPr lang="en-US" b="0" i="1" smtClean="0">
                            <a:latin typeface="Cambria Math" panose="02040503050406030204" pitchFamily="18" charset="0"/>
                          </a:rPr>
                          <m:t> − </m:t>
                        </m:r>
                        <m:sSup>
                          <m:sSupPr>
                            <m:ctrlPr>
                              <a:rPr lang="en-US" b="0" i="1" smtClean="0">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r>
                                      <a:rPr lang="en-US" i="1">
                                        <a:latin typeface="Cambria Math" panose="02040503050406030204" pitchFamily="18" charset="0"/>
                                      </a:rPr>
                                      <m:t>1</m:t>
                                    </m:r>
                                    <m:r>
                                      <a:rPr lang="en-US" b="0" i="1" smtClean="0">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rPr>
                                          <m:t>5</m:t>
                                        </m:r>
                                      </m:e>
                                    </m:rad>
                                  </m:num>
                                  <m:den>
                                    <m:r>
                                      <a:rPr lang="en-US" i="1">
                                        <a:latin typeface="Cambria Math" panose="02040503050406030204" pitchFamily="18" charset="0"/>
                                      </a:rPr>
                                      <m:t>2</m:t>
                                    </m:r>
                                  </m:den>
                                </m:f>
                              </m:e>
                            </m:d>
                          </m:e>
                          <m:sup>
                            <m:r>
                              <a:rPr lang="en-US" b="0" i="1" smtClean="0">
                                <a:latin typeface="Cambria Math" panose="02040503050406030204" pitchFamily="18" charset="0"/>
                              </a:rPr>
                              <m:t>𝑛</m:t>
                            </m:r>
                          </m:sup>
                        </m:sSup>
                        <m:r>
                          <a:rPr lang="en-US" b="0" i="1" smtClean="0">
                            <a:latin typeface="Cambria Math" panose="02040503050406030204" pitchFamily="18" charset="0"/>
                          </a:rPr>
                          <m:t> </m:t>
                        </m:r>
                      </m:e>
                    </m:d>
                    <m:r>
                      <a:rPr lang="en-US" b="0" i="0" smtClean="0">
                        <a:latin typeface="Cambria Math" panose="02040503050406030204" pitchFamily="18" charset="0"/>
                      </a:rPr>
                      <m:t>………</m:t>
                    </m:r>
                    <m:r>
                      <m:rPr>
                        <m:sty m:val="p"/>
                      </m:rPr>
                      <a:rPr lang="en-US" b="0" i="0" smtClean="0">
                        <a:latin typeface="Cambria Math" panose="02040503050406030204" pitchFamily="18" charset="0"/>
                      </a:rPr>
                      <m:t>de</m:t>
                    </m:r>
                    <m:r>
                      <a:rPr lang="en-US" b="0" i="0" smtClean="0">
                        <a:latin typeface="Cambria Math" panose="02040503050406030204" pitchFamily="18" charset="0"/>
                      </a:rPr>
                      <m:t> </m:t>
                    </m:r>
                    <m:sSup>
                      <m:sSupPr>
                        <m:ctrlPr>
                          <a:rPr lang="en-US" b="0" i="1" smtClean="0">
                            <a:latin typeface="Cambria Math" panose="02040503050406030204" pitchFamily="18" charset="0"/>
                          </a:rPr>
                        </m:ctrlPr>
                      </m:sSupPr>
                      <m:e>
                        <m:r>
                          <m:rPr>
                            <m:sty m:val="p"/>
                          </m:rPr>
                          <a:rPr lang="en-US" b="0" i="0" smtClean="0">
                            <a:latin typeface="Cambria Math" panose="02040503050406030204" pitchFamily="18" charset="0"/>
                          </a:rPr>
                          <m:t>Moivre</m:t>
                        </m:r>
                      </m:e>
                      <m:sup>
                        <m:r>
                          <a:rPr lang="en-US" b="0" i="0" smtClean="0">
                            <a:latin typeface="Cambria Math" panose="02040503050406030204" pitchFamily="18" charset="0"/>
                          </a:rPr>
                          <m:t>′</m:t>
                        </m:r>
                      </m:sup>
                    </m:sSup>
                    <m:r>
                      <m:rPr>
                        <m:sty m:val="p"/>
                      </m:rPr>
                      <a:rPr lang="en-US" b="0" i="0" smtClean="0">
                        <a:latin typeface="Cambria Math" panose="02040503050406030204" pitchFamily="18" charset="0"/>
                      </a:rPr>
                      <m:t>s</m:t>
                    </m:r>
                    <m:r>
                      <a:rPr lang="en-US" b="0" i="0" smtClean="0">
                        <a:latin typeface="Cambria Math" panose="02040503050406030204" pitchFamily="18" charset="0"/>
                      </a:rPr>
                      <m:t> </m:t>
                    </m:r>
                    <m:r>
                      <m:rPr>
                        <m:sty m:val="p"/>
                      </m:rPr>
                      <a:rPr lang="en-US" b="0" i="0" smtClean="0">
                        <a:latin typeface="Cambria Math" panose="02040503050406030204" pitchFamily="18" charset="0"/>
                      </a:rPr>
                      <m:t>formula</m:t>
                    </m:r>
                  </m:oMath>
                </a14:m>
                <a:r>
                  <a:rPr lang="en-US" dirty="0"/>
                  <a:t> </a:t>
                </a:r>
              </a:p>
              <a:p>
                <a:pPr marL="0" indent="0" algn="ctr">
                  <a:buNone/>
                </a:pPr>
                <a14:m>
                  <m:oMathPara xmlns:m="http://schemas.openxmlformats.org/officeDocument/2006/math">
                    <m:oMathParaPr>
                      <m:jc m:val="centerGroup"/>
                    </m:oMathParaPr>
                    <m:oMath xmlns:m="http://schemas.openxmlformats.org/officeDocument/2006/math">
                      <m:sSub>
                        <m:sSubPr>
                          <m:ctrlPr>
                            <a:rPr lang="en-US" sz="2800" b="1" i="1">
                              <a:latin typeface="Cambria Math" panose="02040503050406030204" pitchFamily="18" charset="0"/>
                            </a:rPr>
                          </m:ctrlPr>
                        </m:sSubPr>
                        <m:e>
                          <m:r>
                            <a:rPr lang="en-US" sz="2800" b="1" i="1">
                              <a:latin typeface="Cambria Math" panose="02040503050406030204" pitchFamily="18" charset="0"/>
                            </a:rPr>
                            <m:t>𝑻</m:t>
                          </m:r>
                        </m:e>
                        <m:sub>
                          <m:r>
                            <a:rPr lang="en-US" sz="2800" b="1" i="1">
                              <a:latin typeface="Cambria Math" panose="02040503050406030204" pitchFamily="18" charset="0"/>
                            </a:rPr>
                            <m:t>𝒏</m:t>
                          </m:r>
                          <m:r>
                            <a:rPr lang="en-US" sz="2800" b="1" i="1">
                              <a:latin typeface="Cambria Math" panose="02040503050406030204" pitchFamily="18" charset="0"/>
                            </a:rPr>
                            <m:t> </m:t>
                          </m:r>
                        </m:sub>
                      </m:sSub>
                      <m:r>
                        <a:rPr lang="en-US" sz="2800" b="1" i="1">
                          <a:latin typeface="Cambria Math" panose="02040503050406030204" pitchFamily="18" charset="0"/>
                          <a:ea typeface="Cambria Math" panose="02040503050406030204" pitchFamily="18" charset="0"/>
                        </a:rPr>
                        <m:t>∈</m:t>
                      </m:r>
                      <m:r>
                        <a:rPr lang="en-US" sz="2800" b="1" i="1">
                          <a:latin typeface="Cambria Math" panose="02040503050406030204" pitchFamily="18" charset="0"/>
                          <a:ea typeface="Cambria Math" panose="02040503050406030204" pitchFamily="18" charset="0"/>
                        </a:rPr>
                        <m:t>𝑶</m:t>
                      </m:r>
                      <m:sSup>
                        <m:sSupPr>
                          <m:ctrlPr>
                            <a:rPr lang="en-US" sz="2800" b="1" i="1">
                              <a:latin typeface="Cambria Math" panose="02040503050406030204" pitchFamily="18" charset="0"/>
                              <a:ea typeface="Cambria Math" panose="02040503050406030204" pitchFamily="18" charset="0"/>
                            </a:rPr>
                          </m:ctrlPr>
                        </m:sSupPr>
                        <m:e>
                          <m:d>
                            <m:dPr>
                              <m:ctrlPr>
                                <a:rPr lang="en-US" sz="2800" b="1" i="1">
                                  <a:latin typeface="Cambria Math" panose="02040503050406030204" pitchFamily="18" charset="0"/>
                                  <a:ea typeface="Cambria Math" panose="02040503050406030204" pitchFamily="18" charset="0"/>
                                </a:rPr>
                              </m:ctrlPr>
                            </m:dPr>
                            <m:e>
                              <m:r>
                                <a:rPr lang="en-US" sz="2800" b="1" i="1">
                                  <a:latin typeface="Cambria Math" panose="02040503050406030204" pitchFamily="18" charset="0"/>
                                  <a:ea typeface="Cambria Math" panose="02040503050406030204" pitchFamily="18" charset="0"/>
                                </a:rPr>
                                <m:t>∅</m:t>
                              </m:r>
                            </m:e>
                          </m:d>
                        </m:e>
                        <m:sup>
                          <m:r>
                            <a:rPr lang="en-US" sz="2800" b="1" i="1">
                              <a:latin typeface="Cambria Math" panose="02040503050406030204" pitchFamily="18" charset="0"/>
                              <a:ea typeface="Cambria Math" panose="02040503050406030204" pitchFamily="18" charset="0"/>
                            </a:rPr>
                            <m:t>𝒏</m:t>
                          </m:r>
                        </m:sup>
                      </m:sSup>
                    </m:oMath>
                  </m:oMathPara>
                </a14:m>
                <a:endParaRPr lang="en-US" sz="2800" dirty="0"/>
              </a:p>
              <a:p>
                <a:r>
                  <a:rPr lang="en-US" b="1" dirty="0"/>
                  <a:t>Time taken for recursive Fibonacci algorithm grows exponentially.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r="-104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A8BEFB-AE5B-48F9-BBAD-B489CDE48C80}" type="slidenum">
              <a:rPr lang="en-US" smtClean="0"/>
              <a:pPr/>
              <a:t>16</a:t>
            </a:fld>
            <a:endParaRPr lang="en-US" dirty="0"/>
          </a:p>
        </p:txBody>
      </p:sp>
      <p:sp>
        <p:nvSpPr>
          <p:cNvPr id="6" name="Rounded Rectangle 5"/>
          <p:cNvSpPr/>
          <p:nvPr/>
        </p:nvSpPr>
        <p:spPr>
          <a:xfrm>
            <a:off x="5105400" y="3733800"/>
            <a:ext cx="1981200" cy="533400"/>
          </a:xfrm>
          <a:prstGeom prst="round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287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strips(downRight)">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Tower of Hanoi</a:t>
            </a:r>
          </a:p>
        </p:txBody>
      </p:sp>
      <p:sp>
        <p:nvSpPr>
          <p:cNvPr id="3" name="Slide Number Placeholder 2"/>
          <p:cNvSpPr>
            <a:spLocks noGrp="1"/>
          </p:cNvSpPr>
          <p:nvPr>
            <p:ph type="sldNum" sz="quarter" idx="12"/>
          </p:nvPr>
        </p:nvSpPr>
        <p:spPr/>
        <p:txBody>
          <a:bodyPr/>
          <a:lstStyle/>
          <a:p>
            <a:fld id="{5EA8BEFB-AE5B-48F9-BBAD-B489CDE48C80}" type="slidenum">
              <a:rPr lang="en-US" smtClean="0"/>
              <a:pPr/>
              <a:t>17</a:t>
            </a:fld>
            <a:endParaRPr lang="en-US" dirty="0"/>
          </a:p>
        </p:txBody>
      </p:sp>
      <p:sp>
        <p:nvSpPr>
          <p:cNvPr id="8" name="Right Arrow 7"/>
          <p:cNvSpPr/>
          <p:nvPr/>
        </p:nvSpPr>
        <p:spPr>
          <a:xfrm>
            <a:off x="5561646" y="1920240"/>
            <a:ext cx="914400" cy="365760"/>
          </a:xfrm>
          <a:prstGeom prst="rightArrow">
            <a:avLst/>
          </a:prstGeom>
          <a:gradFill flip="none" rotWithShape="1">
            <a:gsLst>
              <a:gs pos="0">
                <a:schemeClr val="accent3">
                  <a:lumMod val="0"/>
                  <a:lumOff val="100000"/>
                </a:schemeClr>
              </a:gs>
              <a:gs pos="35000">
                <a:schemeClr val="accent3">
                  <a:lumMod val="0"/>
                  <a:lumOff val="100000"/>
                </a:schemeClr>
              </a:gs>
              <a:gs pos="76000">
                <a:srgbClr val="C00000"/>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a:stretch>
            <a:fillRect/>
          </a:stretch>
        </p:blipFill>
        <p:spPr>
          <a:xfrm>
            <a:off x="1798689" y="1371600"/>
            <a:ext cx="3486150" cy="1295400"/>
          </a:xfrm>
          <a:prstGeom prst="rect">
            <a:avLst/>
          </a:prstGeom>
        </p:spPr>
      </p:pic>
      <p:pic>
        <p:nvPicPr>
          <p:cNvPr id="12" name="Picture 11"/>
          <p:cNvPicPr>
            <a:picLocks noChangeAspect="1"/>
          </p:cNvPicPr>
          <p:nvPr/>
        </p:nvPicPr>
        <p:blipFill>
          <a:blip r:embed="rId3"/>
          <a:stretch>
            <a:fillRect/>
          </a:stretch>
        </p:blipFill>
        <p:spPr>
          <a:xfrm>
            <a:off x="6844789" y="1371601"/>
            <a:ext cx="3590925" cy="1266825"/>
          </a:xfrm>
          <a:prstGeom prst="rect">
            <a:avLst/>
          </a:prstGeom>
        </p:spPr>
      </p:pic>
      <p:pic>
        <p:nvPicPr>
          <p:cNvPr id="13" name="Picture 12"/>
          <p:cNvPicPr>
            <a:picLocks noChangeAspect="1"/>
          </p:cNvPicPr>
          <p:nvPr/>
        </p:nvPicPr>
        <p:blipFill>
          <a:blip r:embed="rId4"/>
          <a:stretch>
            <a:fillRect/>
          </a:stretch>
        </p:blipFill>
        <p:spPr>
          <a:xfrm>
            <a:off x="1798689" y="4130358"/>
            <a:ext cx="3486150" cy="1343025"/>
          </a:xfrm>
          <a:prstGeom prst="rect">
            <a:avLst/>
          </a:prstGeom>
        </p:spPr>
      </p:pic>
      <p:pic>
        <p:nvPicPr>
          <p:cNvPr id="14" name="Picture 13"/>
          <p:cNvPicPr>
            <a:picLocks noChangeAspect="1"/>
          </p:cNvPicPr>
          <p:nvPr/>
        </p:nvPicPr>
        <p:blipFill>
          <a:blip r:embed="rId5"/>
          <a:stretch>
            <a:fillRect/>
          </a:stretch>
        </p:blipFill>
        <p:spPr>
          <a:xfrm>
            <a:off x="6873363" y="4177982"/>
            <a:ext cx="3562350" cy="1295400"/>
          </a:xfrm>
          <a:prstGeom prst="rect">
            <a:avLst/>
          </a:prstGeom>
        </p:spPr>
      </p:pic>
      <p:sp>
        <p:nvSpPr>
          <p:cNvPr id="15" name="Right Arrow 14"/>
          <p:cNvSpPr/>
          <p:nvPr/>
        </p:nvSpPr>
        <p:spPr>
          <a:xfrm rot="5400000">
            <a:off x="8260080" y="3398520"/>
            <a:ext cx="914400" cy="365760"/>
          </a:xfrm>
          <a:prstGeom prst="rightArrow">
            <a:avLst/>
          </a:prstGeom>
          <a:gradFill flip="none" rotWithShape="1">
            <a:gsLst>
              <a:gs pos="0">
                <a:schemeClr val="accent3">
                  <a:lumMod val="0"/>
                  <a:lumOff val="100000"/>
                </a:schemeClr>
              </a:gs>
              <a:gs pos="35000">
                <a:schemeClr val="accent3">
                  <a:lumMod val="0"/>
                  <a:lumOff val="100000"/>
                </a:schemeClr>
              </a:gs>
              <a:gs pos="76000">
                <a:srgbClr val="0070C0"/>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5"/>
          <p:cNvSpPr/>
          <p:nvPr/>
        </p:nvSpPr>
        <p:spPr>
          <a:xfrm rot="10800000">
            <a:off x="5561647" y="4511039"/>
            <a:ext cx="914400" cy="365760"/>
          </a:xfrm>
          <a:prstGeom prst="rightArrow">
            <a:avLst/>
          </a:prstGeom>
          <a:gradFill flip="none" rotWithShape="1">
            <a:gsLst>
              <a:gs pos="0">
                <a:schemeClr val="accent3">
                  <a:lumMod val="0"/>
                  <a:lumOff val="100000"/>
                </a:schemeClr>
              </a:gs>
              <a:gs pos="35000">
                <a:schemeClr val="accent3">
                  <a:lumMod val="0"/>
                  <a:lumOff val="100000"/>
                </a:schemeClr>
              </a:gs>
              <a:gs pos="76000">
                <a:srgbClr val="8AAC46"/>
              </a:gs>
            </a:gsLst>
            <a:path path="circle">
              <a:fillToRect l="50000" t="-80000" r="50000" b="18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184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Righ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Right)">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ipe(up)">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strips(downLeft)">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right)">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trips(downLeft)">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5" grpId="0" animBg="1"/>
      <p:bldP spid="1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Tower of Hanoi</a:t>
            </a:r>
          </a:p>
        </p:txBody>
      </p:sp>
      <p:pic>
        <p:nvPicPr>
          <p:cNvPr id="4" name="Content Placeholder 3"/>
          <p:cNvPicPr>
            <a:picLocks noGrp="1" noChangeAspect="1"/>
          </p:cNvPicPr>
          <p:nvPr>
            <p:ph idx="1"/>
          </p:nvPr>
        </p:nvPicPr>
        <p:blipFill>
          <a:blip r:embed="rId2"/>
          <a:stretch>
            <a:fillRect/>
          </a:stretch>
        </p:blipFill>
        <p:spPr>
          <a:xfrm>
            <a:off x="6230302" y="4202308"/>
            <a:ext cx="4147719" cy="1371600"/>
          </a:xfrm>
          <a:prstGeom prst="rect">
            <a:avLst/>
          </a:prstGeom>
        </p:spPr>
      </p:pic>
      <p:pic>
        <p:nvPicPr>
          <p:cNvPr id="6" name="Picture 5"/>
          <p:cNvPicPr>
            <a:picLocks noChangeAspect="1"/>
          </p:cNvPicPr>
          <p:nvPr/>
        </p:nvPicPr>
        <p:blipFill>
          <a:blip r:embed="rId3"/>
          <a:stretch>
            <a:fillRect/>
          </a:stretch>
        </p:blipFill>
        <p:spPr>
          <a:xfrm>
            <a:off x="8113660" y="3053654"/>
            <a:ext cx="381000" cy="838200"/>
          </a:xfrm>
          <a:prstGeom prst="rect">
            <a:avLst/>
          </a:prstGeom>
        </p:spPr>
      </p:pic>
      <p:sp>
        <p:nvSpPr>
          <p:cNvPr id="3" name="Slide Number Placeholder 2"/>
          <p:cNvSpPr>
            <a:spLocks noGrp="1"/>
          </p:cNvSpPr>
          <p:nvPr>
            <p:ph type="sldNum" sz="quarter" idx="12"/>
          </p:nvPr>
        </p:nvSpPr>
        <p:spPr/>
        <p:txBody>
          <a:bodyPr/>
          <a:lstStyle/>
          <a:p>
            <a:fld id="{5EA8BEFB-AE5B-48F9-BBAD-B489CDE48C80}" type="slidenum">
              <a:rPr lang="en-US" smtClean="0"/>
              <a:pPr/>
              <a:t>18</a:t>
            </a:fld>
            <a:endParaRPr lang="en-US" dirty="0"/>
          </a:p>
        </p:txBody>
      </p:sp>
      <p:pic>
        <p:nvPicPr>
          <p:cNvPr id="5" name="Picture 4"/>
          <p:cNvPicPr>
            <a:picLocks noChangeAspect="1"/>
          </p:cNvPicPr>
          <p:nvPr/>
        </p:nvPicPr>
        <p:blipFill>
          <a:blip r:embed="rId4"/>
          <a:stretch>
            <a:fillRect/>
          </a:stretch>
        </p:blipFill>
        <p:spPr>
          <a:xfrm>
            <a:off x="1752600" y="1554480"/>
            <a:ext cx="3566160" cy="1097280"/>
          </a:xfrm>
          <a:prstGeom prst="rect">
            <a:avLst/>
          </a:prstGeom>
        </p:spPr>
      </p:pic>
      <p:pic>
        <p:nvPicPr>
          <p:cNvPr id="8" name="Picture 7"/>
          <p:cNvPicPr>
            <a:picLocks noChangeAspect="1"/>
          </p:cNvPicPr>
          <p:nvPr/>
        </p:nvPicPr>
        <p:blipFill>
          <a:blip r:embed="rId5"/>
          <a:stretch>
            <a:fillRect/>
          </a:stretch>
        </p:blipFill>
        <p:spPr>
          <a:xfrm>
            <a:off x="6479690" y="1554480"/>
            <a:ext cx="3883511" cy="1097280"/>
          </a:xfrm>
          <a:prstGeom prst="rect">
            <a:avLst/>
          </a:prstGeom>
        </p:spPr>
      </p:pic>
      <p:pic>
        <p:nvPicPr>
          <p:cNvPr id="9" name="Picture 8"/>
          <p:cNvPicPr>
            <a:picLocks noChangeAspect="1"/>
          </p:cNvPicPr>
          <p:nvPr/>
        </p:nvPicPr>
        <p:blipFill>
          <a:blip r:embed="rId3"/>
          <a:stretch>
            <a:fillRect/>
          </a:stretch>
        </p:blipFill>
        <p:spPr>
          <a:xfrm rot="16200000">
            <a:off x="5943600" y="1526282"/>
            <a:ext cx="381000" cy="838200"/>
          </a:xfrm>
          <a:prstGeom prst="rect">
            <a:avLst/>
          </a:prstGeom>
        </p:spPr>
      </p:pic>
    </p:spTree>
    <p:extLst>
      <p:ext uri="{BB962C8B-B14F-4D97-AF65-F5344CB8AC3E}">
        <p14:creationId xmlns:p14="http://schemas.microsoft.com/office/powerpoint/2010/main" val="390848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downRigh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strips(downRigh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strips(downLeft)">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Tower of Hanoi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number of movements of a ring required in the tower of Hanoi problem is given by,</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r>
                                <a:rPr lang="en-US" b="0" i="1" smtClean="0">
                                  <a:latin typeface="Cambria Math" panose="02040503050406030204" pitchFamily="18" charset="0"/>
                                </a:rPr>
                                <m:t>0                 </m:t>
                              </m:r>
                              <m:r>
                                <a:rPr lang="en-US" b="0" i="1" smtClean="0">
                                  <a:latin typeface="Cambria Math" panose="02040503050406030204" pitchFamily="18" charset="0"/>
                                </a:rPr>
                                <m:t>𝑖𝑓</m:t>
                              </m:r>
                              <m:r>
                                <a:rPr lang="en-US" b="0" i="1" smtClean="0">
                                  <a:latin typeface="Cambria Math" panose="02040503050406030204" pitchFamily="18" charset="0"/>
                                </a:rPr>
                                <m:t> </m:t>
                              </m:r>
                              <m:r>
                                <a:rPr lang="en-US" b="0" i="1" smtClean="0">
                                  <a:latin typeface="Cambria Math" panose="02040503050406030204" pitchFamily="18" charset="0"/>
                                </a:rPr>
                                <m:t>𝑚</m:t>
                              </m:r>
                              <m:r>
                                <a:rPr lang="en-US" b="0" i="1" smtClean="0">
                                  <a:latin typeface="Cambria Math" panose="02040503050406030204" pitchFamily="18" charset="0"/>
                                </a:rPr>
                                <m:t>=0</m:t>
                              </m:r>
                            </m:e>
                            <m:e>
                              <m:r>
                                <a:rPr lang="en-US" b="0" i="1" smtClean="0">
                                  <a:latin typeface="Cambria Math" panose="02040503050406030204" pitchFamily="18" charset="0"/>
                                </a:rPr>
                                <m:t>2</m:t>
                              </m:r>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+1  </m:t>
                              </m:r>
                              <m:r>
                                <a:rPr lang="en-US" b="0" i="1" smtClean="0">
                                  <a:latin typeface="Cambria Math" panose="02040503050406030204" pitchFamily="18" charset="0"/>
                                </a:rPr>
                                <m:t>𝑜</m:t>
                              </m:r>
                              <m:r>
                                <a:rPr lang="en-US" b="0" i="1" smtClean="0">
                                  <a:latin typeface="Cambria Math" panose="02040503050406030204" pitchFamily="18" charset="0"/>
                                </a:rPr>
                                <m:t>/</m:t>
                              </m:r>
                              <m:r>
                                <a:rPr lang="en-US" b="0" i="1" smtClean="0">
                                  <a:latin typeface="Cambria Math" panose="02040503050406030204" pitchFamily="18" charset="0"/>
                                </a:rPr>
                                <m:t>𝑤</m:t>
                              </m:r>
                            </m:e>
                          </m:eqArr>
                        </m:e>
                      </m:d>
                    </m:oMath>
                  </m:oMathPara>
                </a14:m>
                <a:endParaRPr lang="en-US" dirty="0"/>
              </a:p>
              <a:p>
                <a:r>
                  <a:rPr lang="en-US" dirty="0"/>
                  <a:t>The equation can be written as,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e>
                      </m:d>
                      <m:r>
                        <a:rPr lang="en-US" b="0" i="1" smtClean="0">
                          <a:latin typeface="Cambria Math" panose="02040503050406030204" pitchFamily="18" charset="0"/>
                        </a:rPr>
                        <m:t>−2</m:t>
                      </m:r>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=1     (1)</m:t>
                      </m:r>
                    </m:oMath>
                  </m:oMathPara>
                </a14:m>
                <a:endParaRPr lang="en-US" dirty="0"/>
              </a:p>
              <a:p>
                <a:r>
                  <a:rPr lang="en-US" dirty="0"/>
                  <a:t>To convert it into homogeneous equation,</a:t>
                </a:r>
              </a:p>
              <a:p>
                <a:pPr lvl="1"/>
                <a:r>
                  <a:rPr lang="en-US" dirty="0">
                    <a:solidFill>
                      <a:srgbClr val="0066FF"/>
                    </a:solidFill>
                  </a:rPr>
                  <a:t>Multiply with -1 and replace m by m-1,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𝑚</m:t>
                          </m:r>
                          <m:r>
                            <a:rPr lang="en-US" b="0" i="1" smtClean="0">
                              <a:latin typeface="Cambria Math" panose="02040503050406030204" pitchFamily="18" charset="0"/>
                            </a:rPr>
                            <m:t>−1</m:t>
                          </m:r>
                        </m:e>
                      </m:d>
                      <m:r>
                        <a:rPr lang="en-US" b="0" i="1" smtClean="0">
                          <a:latin typeface="Cambria Math" panose="02040503050406030204" pitchFamily="18" charset="0"/>
                        </a:rPr>
                        <m:t>+</m:t>
                      </m:r>
                      <m:r>
                        <a:rPr lang="en-US" i="1">
                          <a:latin typeface="Cambria Math" panose="02040503050406030204" pitchFamily="18" charset="0"/>
                        </a:rPr>
                        <m:t>2</m:t>
                      </m:r>
                      <m:r>
                        <a:rPr lang="en-US" i="1">
                          <a:latin typeface="Cambria Math" panose="02040503050406030204" pitchFamily="18" charset="0"/>
                        </a:rPr>
                        <m:t>𝑡</m:t>
                      </m:r>
                      <m:d>
                        <m:dPr>
                          <m:ctrlPr>
                            <a:rPr lang="en-US" i="1">
                              <a:latin typeface="Cambria Math" panose="02040503050406030204" pitchFamily="18" charset="0"/>
                            </a:rPr>
                          </m:ctrlPr>
                        </m:dPr>
                        <m:e>
                          <m:r>
                            <a:rPr lang="en-US" i="1">
                              <a:latin typeface="Cambria Math" panose="02040503050406030204" pitchFamily="18" charset="0"/>
                            </a:rPr>
                            <m:t>𝑚</m:t>
                          </m:r>
                          <m:r>
                            <a:rPr lang="en-US" i="1">
                              <a:latin typeface="Cambria Math" panose="02040503050406030204" pitchFamily="18" charset="0"/>
                            </a:rPr>
                            <m:t>−2</m:t>
                          </m:r>
                        </m:e>
                      </m:d>
                      <m:r>
                        <a:rPr lang="en-US" i="1">
                          <a:latin typeface="Cambria Math" panose="02040503050406030204" pitchFamily="18" charset="0"/>
                        </a:rPr>
                        <m:t>=</m:t>
                      </m:r>
                      <m:r>
                        <a:rPr lang="en-US" b="0" i="1" smtClean="0">
                          <a:latin typeface="Cambria Math" panose="02040503050406030204" pitchFamily="18" charset="0"/>
                        </a:rPr>
                        <m:t>−</m:t>
                      </m:r>
                      <m:r>
                        <a:rPr lang="en-US" i="1">
                          <a:latin typeface="Cambria Math" panose="02040503050406030204" pitchFamily="18" charset="0"/>
                        </a:rPr>
                        <m:t>1     (</m:t>
                      </m:r>
                      <m:r>
                        <a:rPr lang="en-US" b="0" i="1" smtClean="0">
                          <a:latin typeface="Cambria Math" panose="02040503050406030204" pitchFamily="18" charset="0"/>
                        </a:rPr>
                        <m:t>2</m:t>
                      </m:r>
                      <m:r>
                        <a:rPr lang="en-US" i="1">
                          <a:latin typeface="Cambria Math" panose="02040503050406030204" pitchFamily="18" charset="0"/>
                        </a:rPr>
                        <m:t>)</m:t>
                      </m:r>
                    </m:oMath>
                  </m:oMathPara>
                </a14:m>
                <a:endParaRPr lang="en-US" dirty="0"/>
              </a:p>
              <a:p>
                <a:r>
                  <a:rPr lang="en-US" dirty="0"/>
                  <a:t>Solving equations (1) and (2), we have now</a:t>
                </a:r>
              </a:p>
              <a:p>
                <a:pPr marL="0" indent="0">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𝒕</m:t>
                      </m:r>
                      <m:d>
                        <m:dPr>
                          <m:ctrlPr>
                            <a:rPr lang="en-US" b="1" i="1">
                              <a:latin typeface="Cambria Math" panose="02040503050406030204" pitchFamily="18" charset="0"/>
                            </a:rPr>
                          </m:ctrlPr>
                        </m:dPr>
                        <m:e>
                          <m:r>
                            <a:rPr lang="en-US" b="1" i="1">
                              <a:latin typeface="Cambria Math" panose="02040503050406030204" pitchFamily="18" charset="0"/>
                            </a:rPr>
                            <m:t>𝒎</m:t>
                          </m:r>
                        </m:e>
                      </m:d>
                      <m:r>
                        <a:rPr lang="en-US" b="1" i="1">
                          <a:latin typeface="Cambria Math" panose="02040503050406030204" pitchFamily="18" charset="0"/>
                        </a:rPr>
                        <m:t>−</m:t>
                      </m:r>
                      <m:r>
                        <a:rPr lang="en-US" b="1" i="1" smtClean="0">
                          <a:latin typeface="Cambria Math" panose="02040503050406030204" pitchFamily="18" charset="0"/>
                        </a:rPr>
                        <m:t>𝟑</m:t>
                      </m:r>
                      <m:r>
                        <a:rPr lang="en-US" b="1" i="1">
                          <a:latin typeface="Cambria Math" panose="02040503050406030204" pitchFamily="18" charset="0"/>
                        </a:rPr>
                        <m:t>𝒕</m:t>
                      </m:r>
                      <m:d>
                        <m:dPr>
                          <m:ctrlPr>
                            <a:rPr lang="en-US" b="1" i="1">
                              <a:latin typeface="Cambria Math" panose="02040503050406030204" pitchFamily="18" charset="0"/>
                            </a:rPr>
                          </m:ctrlPr>
                        </m:dPr>
                        <m:e>
                          <m:r>
                            <a:rPr lang="en-US" b="1" i="1">
                              <a:latin typeface="Cambria Math" panose="02040503050406030204" pitchFamily="18" charset="0"/>
                            </a:rPr>
                            <m:t>𝒎</m:t>
                          </m:r>
                          <m:r>
                            <a:rPr lang="en-US" b="1" i="1">
                              <a:latin typeface="Cambria Math" panose="02040503050406030204" pitchFamily="18" charset="0"/>
                            </a:rPr>
                            <m:t>−</m:t>
                          </m:r>
                          <m:r>
                            <a:rPr lang="en-US" b="1" i="1">
                              <a:latin typeface="Cambria Math" panose="02040503050406030204" pitchFamily="18" charset="0"/>
                            </a:rPr>
                            <m:t>𝟏</m:t>
                          </m:r>
                        </m:e>
                      </m:d>
                      <m:r>
                        <a:rPr lang="en-US" b="1" i="1" smtClean="0">
                          <a:latin typeface="Cambria Math" panose="02040503050406030204" pitchFamily="18" charset="0"/>
                        </a:rPr>
                        <m:t>+</m:t>
                      </m:r>
                      <m:r>
                        <a:rPr lang="en-US" b="1" i="1" smtClean="0">
                          <a:latin typeface="Cambria Math" panose="02040503050406030204" pitchFamily="18" charset="0"/>
                        </a:rPr>
                        <m:t>𝟐</m:t>
                      </m:r>
                      <m:r>
                        <a:rPr lang="en-US" b="1" i="1" smtClean="0">
                          <a:latin typeface="Cambria Math" panose="02040503050406030204" pitchFamily="18" charset="0"/>
                        </a:rPr>
                        <m:t>𝒕</m:t>
                      </m:r>
                      <m:r>
                        <a:rPr lang="en-US" b="1" i="1" smtClean="0">
                          <a:latin typeface="Cambria Math" panose="02040503050406030204" pitchFamily="18" charset="0"/>
                        </a:rPr>
                        <m:t>(</m:t>
                      </m:r>
                      <m:r>
                        <a:rPr lang="en-US" b="1" i="1" smtClean="0">
                          <a:latin typeface="Cambria Math" panose="02040503050406030204" pitchFamily="18" charset="0"/>
                        </a:rPr>
                        <m:t>𝒎</m:t>
                      </m:r>
                      <m:r>
                        <a:rPr lang="en-US" b="1" i="1" smtClean="0">
                          <a:latin typeface="Cambria Math" panose="02040503050406030204" pitchFamily="18" charset="0"/>
                        </a:rPr>
                        <m:t>−</m:t>
                      </m:r>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𝟎</m:t>
                      </m:r>
                    </m:oMath>
                  </m:oMathPara>
                </a14:m>
                <a:endParaRPr lang="en-US" b="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r="-10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19</a:t>
            </a:fld>
            <a:endParaRPr lang="en-US" dirty="0"/>
          </a:p>
        </p:txBody>
      </p:sp>
    </p:spTree>
    <p:extLst>
      <p:ext uri="{BB962C8B-B14F-4D97-AF65-F5344CB8AC3E}">
        <p14:creationId xmlns:p14="http://schemas.microsoft.com/office/powerpoint/2010/main" val="179659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Tower of Hanoi</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The characteristic polynomial is,</a:t>
                </a:r>
              </a:p>
              <a:p>
                <a:pPr marL="0" indent="0">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𝑥</m:t>
                          </m:r>
                        </m:e>
                        <m:sup>
                          <m:r>
                            <a:rPr lang="en-US" i="1">
                              <a:latin typeface="Cambria Math" panose="02040503050406030204" pitchFamily="18" charset="0"/>
                            </a:rPr>
                            <m:t>2</m:t>
                          </m:r>
                        </m:sup>
                      </m:sSup>
                      <m:r>
                        <a:rPr lang="en-US" i="1">
                          <a:latin typeface="Cambria Math" panose="02040503050406030204" pitchFamily="18" charset="0"/>
                        </a:rPr>
                        <m:t>−3</m:t>
                      </m:r>
                      <m:r>
                        <a:rPr lang="en-US" i="1">
                          <a:latin typeface="Cambria Math" panose="02040503050406030204" pitchFamily="18" charset="0"/>
                        </a:rPr>
                        <m:t>𝑥</m:t>
                      </m:r>
                      <m:r>
                        <a:rPr lang="en-US" i="1">
                          <a:latin typeface="Cambria Math" panose="02040503050406030204" pitchFamily="18" charset="0"/>
                        </a:rPr>
                        <m:t>+2=</m:t>
                      </m:r>
                      <m:r>
                        <a:rPr lang="en-US">
                          <a:latin typeface="Cambria Math" panose="02040503050406030204" pitchFamily="18" charset="0"/>
                        </a:rPr>
                        <m:t>0</m:t>
                      </m:r>
                    </m:oMath>
                  </m:oMathPara>
                </a14:m>
                <a:endParaRPr lang="en-US" dirty="0"/>
              </a:p>
              <a:p>
                <a:r>
                  <a:rPr lang="en-US" dirty="0"/>
                  <a:t>Whose roots are,</a:t>
                </a:r>
              </a:p>
              <a:p>
                <a:pPr marL="0" indent="0" algn="ctr">
                  <a:buNone/>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1</m:t>
                        </m:r>
                      </m:sub>
                    </m:sSub>
                    <m:r>
                      <a:rPr lang="en-US" i="1">
                        <a:latin typeface="Cambria Math" panose="02040503050406030204" pitchFamily="18" charset="0"/>
                      </a:rPr>
                      <m:t>=2</m:t>
                    </m:r>
                  </m:oMath>
                </a14:m>
                <a:r>
                  <a:rPr lang="en-US" dirty="0"/>
                  <a:t>   and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2</m:t>
                        </m:r>
                      </m:sub>
                    </m:sSub>
                    <m:r>
                      <a:rPr lang="en-US" i="1">
                        <a:latin typeface="Cambria Math" panose="02040503050406030204" pitchFamily="18" charset="0"/>
                      </a:rPr>
                      <m:t>=1</m:t>
                    </m:r>
                  </m:oMath>
                </a14:m>
                <a:endParaRPr lang="en-US" dirty="0"/>
              </a:p>
              <a:p>
                <a:r>
                  <a:rPr lang="en-US" dirty="0"/>
                  <a:t>The general solution is therefore of the form,</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𝑡</m:t>
                          </m:r>
                        </m:e>
                        <m:sub>
                          <m:r>
                            <a:rPr lang="en-US" i="1">
                              <a:latin typeface="Cambria Math" panose="02040503050406030204" pitchFamily="18" charset="0"/>
                            </a:rPr>
                            <m:t>𝑚</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sSup>
                        <m:sSupPr>
                          <m:ctrlPr>
                            <a:rPr lang="en-US" i="1">
                              <a:latin typeface="Cambria Math" panose="02040503050406030204" pitchFamily="18" charset="0"/>
                            </a:rPr>
                          </m:ctrlPr>
                        </m:sSupPr>
                        <m:e>
                          <m:r>
                            <a:rPr lang="en-US" i="1">
                              <a:latin typeface="Cambria Math" panose="02040503050406030204" pitchFamily="18" charset="0"/>
                            </a:rPr>
                            <m:t>1</m:t>
                          </m:r>
                        </m:e>
                        <m:sup>
                          <m:r>
                            <a:rPr lang="en-US" i="1">
                              <a:latin typeface="Cambria Math" panose="02040503050406030204" pitchFamily="18" charset="0"/>
                            </a:rPr>
                            <m:t>𝑚</m:t>
                          </m:r>
                        </m:sup>
                      </m:sSup>
                      <m:r>
                        <a:rPr lang="en-US">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2</m:t>
                          </m:r>
                        </m:sub>
                      </m:sSub>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𝑚</m:t>
                          </m:r>
                        </m:sup>
                      </m:sSup>
                    </m:oMath>
                  </m:oMathPara>
                </a14:m>
                <a:endParaRPr lang="en-US" dirty="0"/>
              </a:p>
              <a:p>
                <a:r>
                  <a:rPr lang="en-US" dirty="0"/>
                  <a:t>Substituting initial values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=0 </m:t>
                    </m:r>
                  </m:oMath>
                </a14:m>
                <a:r>
                  <a:rPr lang="en-US" dirty="0"/>
                  <a:t>and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=1</m:t>
                    </m:r>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0</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r>
                        <a:rPr lang="en-US">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2</m:t>
                          </m:r>
                        </m:sub>
                      </m:sSub>
                      <m:r>
                        <a:rPr lang="en-US" i="1">
                          <a:latin typeface="Cambria Math" panose="02040503050406030204" pitchFamily="18" charset="0"/>
                        </a:rPr>
                        <m:t>=0       </m:t>
                      </m:r>
                      <m:d>
                        <m:dPr>
                          <m:ctrlPr>
                            <a:rPr lang="en-US" i="1">
                              <a:latin typeface="Cambria Math" panose="02040503050406030204" pitchFamily="18" charset="0"/>
                            </a:rPr>
                          </m:ctrlPr>
                        </m:dPr>
                        <m:e>
                          <m:r>
                            <a:rPr lang="en-US" i="1">
                              <a:latin typeface="Cambria Math" panose="02040503050406030204" pitchFamily="18" charset="0"/>
                            </a:rPr>
                            <m:t>1</m:t>
                          </m:r>
                        </m:e>
                      </m:d>
                    </m:oMath>
                  </m:oMathPara>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𝑡</m:t>
                          </m:r>
                        </m:e>
                        <m:sub>
                          <m:r>
                            <a:rPr lang="en-US" i="1">
                              <a:latin typeface="Cambria Math" panose="02040503050406030204" pitchFamily="18" charset="0"/>
                            </a:rPr>
                            <m:t>1</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1</m:t>
                          </m:r>
                        </m:sub>
                      </m:sSub>
                      <m:r>
                        <a:rPr lang="en-US">
                          <a:latin typeface="Cambria Math" panose="02040503050406030204" pitchFamily="18" charset="0"/>
                        </a:rPr>
                        <m:t>+</m:t>
                      </m:r>
                      <m:r>
                        <a:rPr lang="en-US" b="0" i="0" smtClean="0">
                          <a:latin typeface="Cambria Math" panose="02040503050406030204" pitchFamily="18" charset="0"/>
                        </a:rPr>
                        <m:t>2</m:t>
                      </m:r>
                      <m:sSub>
                        <m:sSubPr>
                          <m:ctrlPr>
                            <a:rPr lang="en-US" i="1">
                              <a:latin typeface="Cambria Math" panose="02040503050406030204" pitchFamily="18" charset="0"/>
                            </a:rPr>
                          </m:ctrlPr>
                        </m:sSubPr>
                        <m:e>
                          <m:r>
                            <a:rPr lang="en-US" i="1">
                              <a:latin typeface="Cambria Math" panose="02040503050406030204" pitchFamily="18" charset="0"/>
                            </a:rPr>
                            <m:t>𝑐</m:t>
                          </m:r>
                        </m:e>
                        <m:sub>
                          <m:r>
                            <a:rPr lang="en-US" i="1">
                              <a:latin typeface="Cambria Math" panose="02040503050406030204" pitchFamily="18" charset="0"/>
                            </a:rPr>
                            <m:t>2</m:t>
                          </m:r>
                        </m:sub>
                      </m:sSub>
                      <m:r>
                        <a:rPr lang="en-US" b="0" i="1" smtClean="0">
                          <a:latin typeface="Cambria Math" panose="02040503050406030204" pitchFamily="18" charset="0"/>
                        </a:rPr>
                        <m:t>=1</m:t>
                      </m:r>
                      <m:r>
                        <a:rPr lang="en-US" i="1">
                          <a:latin typeface="Cambria Math" panose="02040503050406030204" pitchFamily="18" charset="0"/>
                        </a:rPr>
                        <m:t>       (2)</m:t>
                      </m:r>
                    </m:oMath>
                  </m:oMathPara>
                </a14:m>
                <a:endParaRPr lang="en-US" dirty="0"/>
              </a:p>
              <a:p>
                <a:r>
                  <a:rPr lang="en-US" dirty="0"/>
                  <a:t>Solving these linear equations we get c</a:t>
                </a:r>
                <a:r>
                  <a:rPr lang="en-US" baseline="-25000" dirty="0"/>
                  <a:t>1</a:t>
                </a:r>
                <a:r>
                  <a:rPr lang="en-US" dirty="0"/>
                  <a:t> = -1 and c</a:t>
                </a:r>
                <a:r>
                  <a:rPr lang="en-US" baseline="-25000" dirty="0"/>
                  <a:t>2</a:t>
                </a:r>
                <a:r>
                  <a:rPr lang="en-US" dirty="0"/>
                  <a:t> = 1.</a:t>
                </a:r>
              </a:p>
              <a:p>
                <a:r>
                  <a:rPr lang="en-US" dirty="0"/>
                  <a:t>Therefore time complexity of tower of Hanoi problem is given as,</a:t>
                </a:r>
              </a:p>
              <a:p>
                <a:pPr marL="0" indent="0">
                  <a:buNone/>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𝒕</m:t>
                      </m:r>
                      <m:d>
                        <m:dPr>
                          <m:ctrlPr>
                            <a:rPr lang="en-US" b="1" i="1" smtClean="0">
                              <a:latin typeface="Cambria Math" panose="02040503050406030204" pitchFamily="18" charset="0"/>
                            </a:rPr>
                          </m:ctrlPr>
                        </m:dPr>
                        <m:e>
                          <m:r>
                            <a:rPr lang="en-US" b="1" i="1" smtClean="0">
                              <a:latin typeface="Cambria Math" panose="02040503050406030204" pitchFamily="18" charset="0"/>
                            </a:rPr>
                            <m:t>𝒎</m:t>
                          </m:r>
                        </m:e>
                      </m:d>
                      <m:r>
                        <a:rPr lang="en-US" b="1" i="1" smtClean="0">
                          <a:latin typeface="Cambria Math" panose="02040503050406030204" pitchFamily="18" charset="0"/>
                        </a:rPr>
                        <m:t>=</m:t>
                      </m:r>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𝒎</m:t>
                          </m:r>
                        </m:sup>
                      </m:sSup>
                      <m:r>
                        <a:rPr lang="en-US" b="1" i="1" smtClean="0">
                          <a:latin typeface="Cambria Math" panose="02040503050406030204" pitchFamily="18" charset="0"/>
                        </a:rPr>
                        <m:t> −</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𝑶</m:t>
                      </m:r>
                      <m:d>
                        <m:dPr>
                          <m:ctrlPr>
                            <a:rPr lang="en-US" b="1" i="1" smtClean="0">
                              <a:latin typeface="Cambria Math" panose="02040503050406030204" pitchFamily="18" charset="0"/>
                            </a:rPr>
                          </m:ctrlPr>
                        </m:dPr>
                        <m:e>
                          <m:sSup>
                            <m:sSupPr>
                              <m:ctrlPr>
                                <a:rPr lang="en-US" b="1" i="1" smtClean="0">
                                  <a:latin typeface="Cambria Math" panose="02040503050406030204" pitchFamily="18" charset="0"/>
                                </a:rPr>
                              </m:ctrlPr>
                            </m:sSupPr>
                            <m:e>
                              <m:r>
                                <a:rPr lang="en-US" b="1" i="1" smtClean="0">
                                  <a:latin typeface="Cambria Math" panose="02040503050406030204" pitchFamily="18" charset="0"/>
                                </a:rPr>
                                <m:t>𝟐</m:t>
                              </m:r>
                            </m:e>
                            <m:sup>
                              <m:r>
                                <a:rPr lang="en-US" b="1" i="1" smtClean="0">
                                  <a:latin typeface="Cambria Math" panose="02040503050406030204" pitchFamily="18" charset="0"/>
                                </a:rPr>
                                <m:t>𝒎</m:t>
                              </m:r>
                            </m:sup>
                          </m:sSup>
                        </m:e>
                      </m:d>
                    </m:oMath>
                  </m:oMathPara>
                </a14:m>
                <a:endParaRPr lang="en-US" b="1"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914"/>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A8BEFB-AE5B-48F9-BBAD-B489CDE48C80}" type="slidenum">
              <a:rPr lang="en-US" smtClean="0"/>
              <a:pPr/>
              <a:t>20</a:t>
            </a:fld>
            <a:endParaRPr lang="en-US" dirty="0"/>
          </a:p>
        </p:txBody>
      </p:sp>
      <p:sp>
        <p:nvSpPr>
          <p:cNvPr id="6" name="Rounded Rectangle 5"/>
          <p:cNvSpPr/>
          <p:nvPr/>
        </p:nvSpPr>
        <p:spPr>
          <a:xfrm>
            <a:off x="6858000" y="5791200"/>
            <a:ext cx="914400" cy="457200"/>
          </a:xfrm>
          <a:prstGeom prst="roundRect">
            <a:avLst/>
          </a:prstGeom>
          <a:solidFill>
            <a:srgbClr val="FF0000">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3966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8" presetClass="entr" presetSubtype="6" fill="hold" grpId="0" nodeType="clickEffect">
                                  <p:stCondLst>
                                    <p:cond delay="0"/>
                                  </p:stCondLst>
                                  <p:childTnLst>
                                    <p:set>
                                      <p:cBhvr>
                                        <p:cTn id="66" dur="1" fill="hold">
                                          <p:stCondLst>
                                            <p:cond delay="0"/>
                                          </p:stCondLst>
                                        </p:cTn>
                                        <p:tgtEl>
                                          <p:spTgt spid="6"/>
                                        </p:tgtEl>
                                        <p:attrNameLst>
                                          <p:attrName>style.visibility</p:attrName>
                                        </p:attrNameLst>
                                      </p:cBhvr>
                                      <p:to>
                                        <p:strVal val="visible"/>
                                      </p:to>
                                    </p:set>
                                    <p:animEffect transition="in" filter="strips(downRight)">
                                      <p:cBhvr>
                                        <p:cTn id="6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6C5D5-0763-43E0-A382-2903B51182A7}"/>
              </a:ext>
            </a:extLst>
          </p:cNvPr>
          <p:cNvSpPr>
            <a:spLocks noGrp="1"/>
          </p:cNvSpPr>
          <p:nvPr>
            <p:ph type="title"/>
          </p:nvPr>
        </p:nvSpPr>
        <p:spPr/>
        <p:txBody>
          <a:bodyPr/>
          <a:lstStyle/>
          <a:p>
            <a:r>
              <a:rPr lang="en-IN" dirty="0"/>
              <a:t>Non-homogeneous recurrence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BE1DF0-D9DD-4CAF-BFA0-59BF6D976C07}"/>
                  </a:ext>
                </a:extLst>
              </p:cNvPr>
              <p:cNvSpPr>
                <a:spLocks noGrp="1"/>
              </p:cNvSpPr>
              <p:nvPr>
                <p:ph idx="1"/>
              </p:nvPr>
            </p:nvSpPr>
            <p:spPr/>
            <p:txBody>
              <a:bodyPr>
                <a:normAutofit/>
              </a:bodyPr>
              <a:lstStyle/>
              <a:p>
                <a:pPr marL="0" indent="0">
                  <a:buNone/>
                </a:pPr>
                <a:r>
                  <a:rPr lang="en-US" dirty="0"/>
                  <a:t>Recurrence equation</a:t>
                </a:r>
              </a:p>
              <a:p>
                <a:pPr marL="0" indent="0" algn="ctr">
                  <a:buNone/>
                </a:pPr>
                <a:r>
                  <a:rPr lang="en-US" dirty="0"/>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0</m:t>
                        </m:r>
                      </m:sub>
                    </m:sSub>
                    <m:r>
                      <a:rPr lang="en-IN" b="0" i="1" smtClean="0">
                        <a:latin typeface="Cambria Math" panose="02040503050406030204" pitchFamily="18" charset="0"/>
                      </a:rPr>
                      <m:t>𝑇</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r>
                      <a:rPr lang="en-IN" b="0" i="1" smtClean="0">
                        <a:latin typeface="Cambria Math" panose="02040503050406030204" pitchFamily="18" charset="0"/>
                      </a:rPr>
                      <m:t>𝑇</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2</m:t>
                        </m:r>
                      </m:sub>
                    </m:sSub>
                    <m:r>
                      <a:rPr lang="en-IN" b="0" i="1" smtClean="0">
                        <a:latin typeface="Cambria Math" panose="02040503050406030204" pitchFamily="18" charset="0"/>
                      </a:rPr>
                      <m:t>𝑇</m:t>
                    </m:r>
                    <m:r>
                      <a:rPr lang="en-IN" b="0" i="1" smtClean="0">
                        <a:latin typeface="Cambria Math" panose="02040503050406030204" pitchFamily="18" charset="0"/>
                      </a:rPr>
                      <m:t>(</m:t>
                    </m:r>
                    <m:r>
                      <a:rPr lang="en-IN" b="0" i="1" smtClean="0">
                        <a:latin typeface="Cambria Math" panose="02040503050406030204" pitchFamily="18" charset="0"/>
                      </a:rPr>
                      <m:t>𝑛</m:t>
                    </m:r>
                    <m:r>
                      <a:rPr lang="en-IN" b="0" i="1" smtClean="0">
                        <a:latin typeface="Cambria Math" panose="02040503050406030204" pitchFamily="18" charset="0"/>
                      </a:rPr>
                      <m:t>−2)+⋯+</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m:t>
                        </m:r>
                      </m:e>
                      <m:sub>
                        <m:r>
                          <a:rPr lang="en-US" b="0" i="1" smtClean="0">
                            <a:latin typeface="Cambria Math" panose="02040503050406030204" pitchFamily="18" charset="0"/>
                            <a:ea typeface="Cambria Math" panose="02040503050406030204" pitchFamily="18" charset="0"/>
                          </a:rPr>
                          <m:t>𝑘</m:t>
                        </m:r>
                      </m:sub>
                    </m:sSub>
                    <m:r>
                      <a:rPr lang="en-IN" b="0" i="1" smtClean="0">
                        <a:latin typeface="Cambria Math" panose="02040503050406030204" pitchFamily="18" charset="0"/>
                        <a:ea typeface="Cambria Math" panose="02040503050406030204" pitchFamily="18" charset="0"/>
                      </a:rPr>
                      <m:t>𝑇</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𝑛</m:t>
                    </m:r>
                    <m:r>
                      <a:rPr lang="en-IN" b="0" i="1" smtClean="0">
                        <a:latin typeface="Cambria Math" panose="02040503050406030204" pitchFamily="18" charset="0"/>
                        <a:ea typeface="Cambria Math" panose="02040503050406030204" pitchFamily="18" charset="0"/>
                      </a:rPr>
                      <m:t>−</m:t>
                    </m:r>
                    <m:r>
                      <a:rPr lang="en-IN" b="0" i="1" smtClean="0">
                        <a:latin typeface="Cambria Math" panose="02040503050406030204" pitchFamily="18" charset="0"/>
                        <a:ea typeface="Cambria Math" panose="02040503050406030204" pitchFamily="18" charset="0"/>
                      </a:rPr>
                      <m:t>𝑘</m:t>
                    </m:r>
                    <m:r>
                      <a:rPr lang="en-IN" b="0" i="1" smtClean="0">
                        <a:latin typeface="Cambria Math" panose="02040503050406030204" pitchFamily="18" charset="0"/>
                        <a:ea typeface="Cambria Math" panose="02040503050406030204" pitchFamily="18" charset="0"/>
                      </a:rPr>
                      <m:t>)=</m:t>
                    </m:r>
                    <m:r>
                      <a:rPr lang="en-IN" b="0" i="1" smtClean="0">
                        <a:solidFill>
                          <a:srgbClr val="C00000"/>
                        </a:solidFill>
                        <a:latin typeface="Cambria Math" panose="02040503050406030204" pitchFamily="18" charset="0"/>
                        <a:ea typeface="Cambria Math" panose="02040503050406030204" pitchFamily="18" charset="0"/>
                      </a:rPr>
                      <m:t>𝑓</m:t>
                    </m:r>
                    <m:r>
                      <a:rPr lang="en-IN" b="0" i="1" smtClean="0">
                        <a:solidFill>
                          <a:srgbClr val="C00000"/>
                        </a:solidFill>
                        <a:latin typeface="Cambria Math" panose="02040503050406030204" pitchFamily="18" charset="0"/>
                        <a:ea typeface="Cambria Math" panose="02040503050406030204" pitchFamily="18" charset="0"/>
                      </a:rPr>
                      <m:t>(</m:t>
                    </m:r>
                    <m:r>
                      <a:rPr lang="en-IN" b="0" i="1" smtClean="0">
                        <a:solidFill>
                          <a:srgbClr val="C00000"/>
                        </a:solidFill>
                        <a:latin typeface="Cambria Math" panose="02040503050406030204" pitchFamily="18" charset="0"/>
                        <a:ea typeface="Cambria Math" panose="02040503050406030204" pitchFamily="18" charset="0"/>
                      </a:rPr>
                      <m:t>𝑛</m:t>
                    </m:r>
                    <m:r>
                      <a:rPr lang="en-IN" b="0" i="1" smtClean="0">
                        <a:solidFill>
                          <a:srgbClr val="C00000"/>
                        </a:solidFill>
                        <a:latin typeface="Cambria Math" panose="02040503050406030204" pitchFamily="18" charset="0"/>
                        <a:ea typeface="Cambria Math" panose="02040503050406030204" pitchFamily="18" charset="0"/>
                      </a:rPr>
                      <m:t>)</m:t>
                    </m:r>
                  </m:oMath>
                </a14:m>
                <a:endParaRPr lang="en-US" dirty="0">
                  <a:solidFill>
                    <a:srgbClr val="C00000"/>
                  </a:solidFill>
                </a:endParaRPr>
              </a:p>
              <a:p>
                <a:pPr marL="0" indent="0">
                  <a:buNone/>
                </a:pPr>
                <a:r>
                  <a:rPr lang="en-IN" dirty="0"/>
                  <a:t>is called as recurrence of order k, where a</a:t>
                </a:r>
                <a:r>
                  <a:rPr lang="en-IN" baseline="-25000" dirty="0"/>
                  <a:t>0</a:t>
                </a:r>
                <a:r>
                  <a:rPr lang="en-IN" dirty="0"/>
                  <a:t>,a</a:t>
                </a:r>
                <a:r>
                  <a:rPr lang="en-IN" baseline="-25000" dirty="0"/>
                  <a:t>1</a:t>
                </a:r>
                <a:r>
                  <a:rPr lang="en-IN" dirty="0"/>
                  <a:t>,a</a:t>
                </a:r>
                <a:r>
                  <a:rPr lang="en-IN" baseline="-25000" dirty="0"/>
                  <a:t>2</a:t>
                </a:r>
                <a:r>
                  <a:rPr lang="en-IN" dirty="0"/>
                  <a:t>,…</a:t>
                </a:r>
                <a:r>
                  <a:rPr lang="en-IN" dirty="0" err="1"/>
                  <a:t>a</a:t>
                </a:r>
                <a:r>
                  <a:rPr lang="en-IN" baseline="-25000" dirty="0" err="1"/>
                  <a:t>k</a:t>
                </a:r>
                <a:r>
                  <a:rPr lang="en-IN" dirty="0"/>
                  <a:t> are constants, it is also known as k</a:t>
                </a:r>
                <a:r>
                  <a:rPr lang="en-IN" baseline="30000" dirty="0"/>
                  <a:t>th</a:t>
                </a:r>
                <a:r>
                  <a:rPr lang="en-IN" dirty="0"/>
                  <a:t> order linear recurrence relation.</a:t>
                </a:r>
              </a:p>
              <a:p>
                <a:pPr marL="0" indent="0">
                  <a:buNone/>
                </a:pPr>
                <a:r>
                  <a:rPr lang="en-IN" dirty="0"/>
                  <a:t>The solution of a given recurrence relation is given by:</a:t>
                </a:r>
              </a:p>
              <a:p>
                <a:pPr marL="0" indent="0">
                  <a:buNone/>
                </a:pPr>
                <a:r>
                  <a:rPr lang="en-IN" dirty="0">
                    <a:solidFill>
                      <a:srgbClr val="C00000"/>
                    </a:solidFill>
                  </a:rPr>
                  <a:t>Total solution </a:t>
                </a:r>
                <a:r>
                  <a:rPr lang="en-IN" dirty="0"/>
                  <a:t>or </a:t>
                </a:r>
                <a:r>
                  <a:rPr lang="en-IN" dirty="0">
                    <a:solidFill>
                      <a:srgbClr val="C00000"/>
                    </a:solidFill>
                  </a:rPr>
                  <a:t>general solution </a:t>
                </a:r>
                <a:r>
                  <a:rPr lang="en-IN" dirty="0"/>
                  <a:t>:= Homogeneous solution + Particular solution</a:t>
                </a:r>
              </a:p>
              <a:p>
                <a:pPr marL="0" indent="0">
                  <a:buNone/>
                </a:pPr>
                <a:r>
                  <a:rPr lang="en-IN" b="1" i="1" dirty="0">
                    <a:latin typeface="Cambria Math" panose="02040503050406030204" pitchFamily="18" charset="0"/>
                    <a:ea typeface="Cambria Math" panose="02040503050406030204" pitchFamily="18" charset="0"/>
                  </a:rPr>
                  <a:t>                            </a:t>
                </a:r>
                <a:r>
                  <a:rPr lang="en-IN" b="1" dirty="0">
                    <a:latin typeface="Cambria Math" panose="02040503050406030204" pitchFamily="18" charset="0"/>
                    <a:ea typeface="Cambria Math" panose="02040503050406030204" pitchFamily="18" charset="0"/>
                  </a:rPr>
                  <a:t>T(n) = T(n)</a:t>
                </a:r>
                <a:r>
                  <a:rPr lang="en-IN" b="1" baseline="30000" dirty="0" err="1">
                    <a:latin typeface="Cambria Math" panose="02040503050406030204" pitchFamily="18" charset="0"/>
                    <a:ea typeface="Cambria Math" panose="02040503050406030204" pitchFamily="18" charset="0"/>
                  </a:rPr>
                  <a:t>h</a:t>
                </a:r>
                <a:r>
                  <a:rPr lang="en-IN" b="1" dirty="0" err="1">
                    <a:latin typeface="Cambria Math" panose="02040503050406030204" pitchFamily="18" charset="0"/>
                    <a:ea typeface="Cambria Math" panose="02040503050406030204" pitchFamily="18" charset="0"/>
                  </a:rPr>
                  <a:t>+T</a:t>
                </a:r>
                <a:r>
                  <a:rPr lang="en-IN" b="1" dirty="0">
                    <a:latin typeface="Cambria Math" panose="02040503050406030204" pitchFamily="18" charset="0"/>
                    <a:ea typeface="Cambria Math" panose="02040503050406030204" pitchFamily="18" charset="0"/>
                  </a:rPr>
                  <a:t>(n)</a:t>
                </a:r>
                <a:r>
                  <a:rPr lang="en-IN" b="1" baseline="30000" dirty="0">
                    <a:latin typeface="Cambria Math" panose="02040503050406030204" pitchFamily="18" charset="0"/>
                    <a:ea typeface="Cambria Math" panose="02040503050406030204" pitchFamily="18" charset="0"/>
                  </a:rPr>
                  <a:t>p</a:t>
                </a:r>
              </a:p>
              <a:p>
                <a:pPr marL="0" indent="0">
                  <a:buNone/>
                </a:pPr>
                <a:endParaRPr lang="en-IN" b="1" i="1" baseline="30000" dirty="0">
                  <a:latin typeface="Cambria Math" panose="02040503050406030204" pitchFamily="18" charset="0"/>
                  <a:ea typeface="Cambria Math" panose="02040503050406030204" pitchFamily="18" charset="0"/>
                </a:endParaRPr>
              </a:p>
              <a:p>
                <a:pPr marL="0" indent="0">
                  <a:buNone/>
                </a:pPr>
                <a:r>
                  <a:rPr lang="en-IN" b="1" dirty="0">
                    <a:solidFill>
                      <a:srgbClr val="C00000"/>
                    </a:solidFill>
                    <a:latin typeface="Cambria Math" panose="02040503050406030204" pitchFamily="18" charset="0"/>
                    <a:ea typeface="Cambria Math" panose="02040503050406030204" pitchFamily="18" charset="0"/>
                  </a:rPr>
                  <a:t>Homogeneous solution(T(n)</a:t>
                </a:r>
                <a:r>
                  <a:rPr lang="en-IN" b="1" baseline="30000" dirty="0">
                    <a:solidFill>
                      <a:srgbClr val="C00000"/>
                    </a:solidFill>
                    <a:latin typeface="Cambria Math" panose="02040503050406030204" pitchFamily="18" charset="0"/>
                    <a:ea typeface="Cambria Math" panose="02040503050406030204" pitchFamily="18" charset="0"/>
                  </a:rPr>
                  <a:t>h</a:t>
                </a:r>
                <a:r>
                  <a:rPr lang="en-IN" b="1" dirty="0">
                    <a:solidFill>
                      <a:srgbClr val="C00000"/>
                    </a:solidFill>
                    <a:latin typeface="Cambria Math" panose="02040503050406030204" pitchFamily="18" charset="0"/>
                    <a:ea typeface="Cambria Math" panose="02040503050406030204" pitchFamily="18" charset="0"/>
                  </a:rPr>
                  <a:t>)</a:t>
                </a:r>
                <a:r>
                  <a:rPr lang="en-IN" b="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we calculate homogeneous solution by putting f(n)=0, and simply solves it</a:t>
                </a:r>
                <a:r>
                  <a:rPr lang="en-IN" b="1" dirty="0">
                    <a:latin typeface="Cambria Math" panose="02040503050406030204" pitchFamily="18" charset="0"/>
                    <a:ea typeface="Cambria Math" panose="02040503050406030204" pitchFamily="18" charset="0"/>
                  </a:rPr>
                  <a:t>.</a:t>
                </a:r>
              </a:p>
              <a:p>
                <a:pPr marL="0" indent="0">
                  <a:buNone/>
                </a:pPr>
                <a:r>
                  <a:rPr lang="en-IN" sz="2000" b="1" dirty="0">
                    <a:latin typeface="Cambria Math" panose="02040503050406030204" pitchFamily="18" charset="0"/>
                    <a:ea typeface="Cambria Math" panose="02040503050406030204" pitchFamily="18" charset="0"/>
                  </a:rPr>
                  <a:t>T(n)</a:t>
                </a:r>
                <a:r>
                  <a:rPr lang="en-IN" sz="2000" b="1" baseline="30000" dirty="0">
                    <a:latin typeface="Cambria Math" panose="02040503050406030204" pitchFamily="18" charset="0"/>
                    <a:ea typeface="Cambria Math" panose="02040503050406030204" pitchFamily="18" charset="0"/>
                  </a:rPr>
                  <a:t>h</a:t>
                </a:r>
                <a:r>
                  <a:rPr lang="en-IN" sz="2000" b="1" dirty="0">
                    <a:latin typeface="Cambria Math" panose="02040503050406030204" pitchFamily="18" charset="0"/>
                    <a:ea typeface="Cambria Math" panose="02040503050406030204" pitchFamily="18" charset="0"/>
                  </a:rPr>
                  <a:t> =&gt;</a:t>
                </a:r>
                <a14:m>
                  <m:oMath xmlns:m="http://schemas.openxmlformats.org/officeDocument/2006/math">
                    <m:sSub>
                      <m:sSubPr>
                        <m:ctrlPr>
                          <a:rPr lang="en-US" sz="2000" i="1" smtClean="0">
                            <a:latin typeface="Cambria Math" panose="02040503050406030204" pitchFamily="18" charset="0"/>
                          </a:rPr>
                        </m:ctrlPr>
                      </m:sSubPr>
                      <m:e>
                        <m:r>
                          <a:rPr lang="en-IN" sz="2000" b="0" i="1" smtClean="0">
                            <a:latin typeface="Cambria Math" panose="02040503050406030204" pitchFamily="18" charset="0"/>
                          </a:rPr>
                          <m:t> </m:t>
                        </m:r>
                        <m:r>
                          <a:rPr lang="en-US" sz="2000" b="0" i="1" smtClean="0">
                            <a:latin typeface="Cambria Math" panose="02040503050406030204" pitchFamily="18" charset="0"/>
                          </a:rPr>
                          <m:t>𝑎</m:t>
                        </m:r>
                      </m:e>
                      <m:sub>
                        <m:r>
                          <a:rPr lang="en-US" sz="2000" b="0" i="1" smtClean="0">
                            <a:latin typeface="Cambria Math" panose="02040503050406030204" pitchFamily="18" charset="0"/>
                          </a:rPr>
                          <m:t>0</m:t>
                        </m:r>
                      </m:sub>
                    </m:sSub>
                    <m:r>
                      <a:rPr lang="en-IN" sz="2000" b="0" i="1" smtClean="0">
                        <a:latin typeface="Cambria Math" panose="02040503050406030204" pitchFamily="18" charset="0"/>
                      </a:rPr>
                      <m:t>𝑇</m:t>
                    </m:r>
                    <m:r>
                      <a:rPr lang="en-IN" sz="2000" b="0" i="1" smtClean="0">
                        <a:latin typeface="Cambria Math" panose="02040503050406030204" pitchFamily="18" charset="0"/>
                      </a:rPr>
                      <m:t>(</m:t>
                    </m:r>
                    <m:r>
                      <a:rPr lang="en-IN" sz="2000" b="0" i="1" smtClean="0">
                        <a:latin typeface="Cambria Math" panose="02040503050406030204" pitchFamily="18" charset="0"/>
                      </a:rPr>
                      <m:t>𝑛</m:t>
                    </m:r>
                    <m:r>
                      <a:rPr lang="en-IN"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1</m:t>
                        </m:r>
                      </m:sub>
                    </m:sSub>
                    <m:r>
                      <a:rPr lang="en-IN" sz="2000" b="0" i="1" smtClean="0">
                        <a:latin typeface="Cambria Math" panose="02040503050406030204" pitchFamily="18" charset="0"/>
                      </a:rPr>
                      <m:t>𝑇</m:t>
                    </m:r>
                    <m:r>
                      <a:rPr lang="en-IN" sz="2000" b="0" i="1" smtClean="0">
                        <a:latin typeface="Cambria Math" panose="02040503050406030204" pitchFamily="18" charset="0"/>
                      </a:rPr>
                      <m:t>(</m:t>
                    </m:r>
                    <m:r>
                      <a:rPr lang="en-IN" sz="2000" b="0" i="1" smtClean="0">
                        <a:latin typeface="Cambria Math" panose="02040503050406030204" pitchFamily="18" charset="0"/>
                      </a:rPr>
                      <m:t>𝑛</m:t>
                    </m:r>
                    <m:r>
                      <a:rPr lang="en-IN" sz="2000" b="0" i="1" smtClean="0">
                        <a:latin typeface="Cambria Math" panose="02040503050406030204" pitchFamily="18" charset="0"/>
                      </a:rPr>
                      <m:t>−1)+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𝑎</m:t>
                        </m:r>
                      </m:e>
                      <m:sub>
                        <m:r>
                          <a:rPr lang="en-US" sz="2000" b="0" i="1" smtClean="0">
                            <a:latin typeface="Cambria Math" panose="02040503050406030204" pitchFamily="18" charset="0"/>
                          </a:rPr>
                          <m:t>2</m:t>
                        </m:r>
                      </m:sub>
                    </m:sSub>
                    <m:r>
                      <a:rPr lang="en-IN" sz="2000" b="0" i="1" smtClean="0">
                        <a:latin typeface="Cambria Math" panose="02040503050406030204" pitchFamily="18" charset="0"/>
                      </a:rPr>
                      <m:t>𝑇</m:t>
                    </m:r>
                    <m:r>
                      <a:rPr lang="en-IN" sz="2000" b="0" i="1" smtClean="0">
                        <a:latin typeface="Cambria Math" panose="02040503050406030204" pitchFamily="18" charset="0"/>
                      </a:rPr>
                      <m:t>(</m:t>
                    </m:r>
                    <m:r>
                      <a:rPr lang="en-IN" sz="2000" b="0" i="1" smtClean="0">
                        <a:latin typeface="Cambria Math" panose="02040503050406030204" pitchFamily="18" charset="0"/>
                      </a:rPr>
                      <m:t>𝑛</m:t>
                    </m:r>
                    <m:r>
                      <a:rPr lang="en-IN" sz="2000" b="0" i="1" smtClean="0">
                        <a:latin typeface="Cambria Math" panose="02040503050406030204" pitchFamily="18" charset="0"/>
                      </a:rPr>
                      <m:t>−2)+⋯+</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𝑎</m:t>
                        </m:r>
                      </m:e>
                      <m:sub>
                        <m:r>
                          <a:rPr lang="en-US" sz="2000" b="0" i="1" smtClean="0">
                            <a:latin typeface="Cambria Math" panose="02040503050406030204" pitchFamily="18" charset="0"/>
                            <a:ea typeface="Cambria Math" panose="02040503050406030204" pitchFamily="18" charset="0"/>
                          </a:rPr>
                          <m:t>𝑘</m:t>
                        </m:r>
                      </m:sub>
                    </m:sSub>
                    <m:r>
                      <a:rPr lang="en-IN" sz="2000" b="0" i="1" smtClean="0">
                        <a:latin typeface="Cambria Math" panose="02040503050406030204" pitchFamily="18" charset="0"/>
                        <a:ea typeface="Cambria Math" panose="02040503050406030204" pitchFamily="18" charset="0"/>
                      </a:rPr>
                      <m:t>𝑇</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𝑛</m:t>
                    </m:r>
                    <m:r>
                      <a:rPr lang="en-IN" sz="2000" b="0" i="1" smtClean="0">
                        <a:latin typeface="Cambria Math" panose="02040503050406030204" pitchFamily="18" charset="0"/>
                        <a:ea typeface="Cambria Math" panose="02040503050406030204" pitchFamily="18" charset="0"/>
                      </a:rPr>
                      <m:t>−</m:t>
                    </m:r>
                    <m:r>
                      <a:rPr lang="en-IN" sz="2000" b="0" i="1" smtClean="0">
                        <a:latin typeface="Cambria Math" panose="02040503050406030204" pitchFamily="18" charset="0"/>
                        <a:ea typeface="Cambria Math" panose="02040503050406030204" pitchFamily="18" charset="0"/>
                      </a:rPr>
                      <m:t>𝑘</m:t>
                    </m:r>
                    <m:r>
                      <a:rPr lang="en-IN" sz="2000" b="0" i="1" smtClean="0">
                        <a:latin typeface="Cambria Math" panose="02040503050406030204" pitchFamily="18" charset="0"/>
                        <a:ea typeface="Cambria Math" panose="02040503050406030204" pitchFamily="18" charset="0"/>
                      </a:rPr>
                      <m:t>)=0</m:t>
                    </m:r>
                  </m:oMath>
                </a14:m>
                <a:endParaRPr lang="en-IN" sz="2000" b="1" dirty="0">
                  <a:latin typeface="Cambria Math" panose="02040503050406030204" pitchFamily="18" charset="0"/>
                  <a:ea typeface="Cambria Math" panose="02040503050406030204" pitchFamily="18" charset="0"/>
                </a:endParaRPr>
              </a:p>
              <a:p>
                <a:pPr marL="0" indent="0">
                  <a:buNone/>
                </a:pPr>
                <a:endParaRPr lang="en-IN" sz="3200" b="1" baseline="30000" dirty="0">
                  <a:latin typeface="Cambria Math" panose="02040503050406030204" pitchFamily="18" charset="0"/>
                  <a:ea typeface="Cambria Math" panose="02040503050406030204" pitchFamily="18" charset="0"/>
                </a:endParaRPr>
              </a:p>
            </p:txBody>
          </p:sp>
        </mc:Choice>
        <mc:Fallback xmlns="">
          <p:sp>
            <p:nvSpPr>
              <p:cNvPr id="3" name="Content Placeholder 2">
                <a:extLst>
                  <a:ext uri="{FF2B5EF4-FFF2-40B4-BE49-F238E27FC236}">
                    <a16:creationId xmlns:a16="http://schemas.microsoft.com/office/drawing/2014/main" id="{2DBE1DF0-D9DD-4CAF-BFA0-59BF6D976C07}"/>
                  </a:ext>
                </a:extLst>
              </p:cNvPr>
              <p:cNvSpPr>
                <a:spLocks noGrp="1" noRot="1" noChangeAspect="1" noMove="1" noResize="1" noEditPoints="1" noAdjustHandles="1" noChangeArrowheads="1" noChangeShapeType="1" noTextEdit="1"/>
              </p:cNvSpPr>
              <p:nvPr>
                <p:ph idx="1"/>
              </p:nvPr>
            </p:nvSpPr>
            <p:spPr>
              <a:blipFill>
                <a:blip r:embed="rId2"/>
                <a:stretch>
                  <a:fillRect l="-835" t="-457" r="-783"/>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CDDF6F1A-EA12-44A0-8F3A-B799E55BD5C6}"/>
              </a:ext>
            </a:extLst>
          </p:cNvPr>
          <p:cNvSpPr>
            <a:spLocks noGrp="1"/>
          </p:cNvSpPr>
          <p:nvPr>
            <p:ph type="sldNum" sz="quarter" idx="12"/>
          </p:nvPr>
        </p:nvSpPr>
        <p:spPr/>
        <p:txBody>
          <a:bodyPr/>
          <a:lstStyle/>
          <a:p>
            <a:fld id="{5EA8BEFB-AE5B-48F9-BBAD-B489CDE48C80}" type="slidenum">
              <a:rPr lang="en-US" smtClean="0"/>
              <a:pPr/>
              <a:t>21</a:t>
            </a:fld>
            <a:endParaRPr lang="en-US" dirty="0"/>
          </a:p>
        </p:txBody>
      </p:sp>
    </p:spTree>
    <p:extLst>
      <p:ext uri="{BB962C8B-B14F-4D97-AF65-F5344CB8AC3E}">
        <p14:creationId xmlns:p14="http://schemas.microsoft.com/office/powerpoint/2010/main" val="12353953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C6FE2E-A6D5-4A57-A61D-469E2DED3158}"/>
              </a:ext>
            </a:extLst>
          </p:cNvPr>
          <p:cNvSpPr>
            <a:spLocks noGrp="1"/>
          </p:cNvSpPr>
          <p:nvPr>
            <p:ph idx="1"/>
          </p:nvPr>
        </p:nvSpPr>
        <p:spPr>
          <a:xfrm>
            <a:off x="254000" y="914400"/>
            <a:ext cx="11684000" cy="5410200"/>
          </a:xfrm>
        </p:spPr>
        <p:txBody>
          <a:bodyPr/>
          <a:lstStyle/>
          <a:p>
            <a:pPr marL="0" indent="0">
              <a:buNone/>
            </a:pPr>
            <a:r>
              <a:rPr lang="en-IN" b="1" dirty="0">
                <a:solidFill>
                  <a:srgbClr val="C00000"/>
                </a:solidFill>
                <a:latin typeface="Cambria Math" panose="02040503050406030204" pitchFamily="18" charset="0"/>
                <a:ea typeface="Cambria Math" panose="02040503050406030204" pitchFamily="18" charset="0"/>
              </a:rPr>
              <a:t>Particular solution(T(n)</a:t>
            </a:r>
            <a:r>
              <a:rPr lang="en-IN" b="1" baseline="30000" dirty="0">
                <a:solidFill>
                  <a:srgbClr val="C00000"/>
                </a:solidFill>
                <a:latin typeface="Cambria Math" panose="02040503050406030204" pitchFamily="18" charset="0"/>
                <a:ea typeface="Cambria Math" panose="02040503050406030204" pitchFamily="18" charset="0"/>
              </a:rPr>
              <a:t>p</a:t>
            </a:r>
            <a:r>
              <a:rPr lang="en-IN" b="1" dirty="0">
                <a:solidFill>
                  <a:srgbClr val="C00000"/>
                </a:solidFill>
                <a:latin typeface="Cambria Math" panose="02040503050406030204" pitchFamily="18" charset="0"/>
                <a:ea typeface="Cambria Math" panose="02040503050406030204" pitchFamily="18" charset="0"/>
              </a:rPr>
              <a:t>)</a:t>
            </a:r>
            <a:r>
              <a:rPr lang="en-IN" b="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it exist only when RHS of recurrence relation is non-zero. i.e. f(n)≠0.</a:t>
            </a:r>
          </a:p>
          <a:p>
            <a:pPr marL="0" indent="0">
              <a:buNone/>
            </a:pPr>
            <a:r>
              <a:rPr lang="en-IN" dirty="0">
                <a:latin typeface="Cambria Math" panose="02040503050406030204" pitchFamily="18" charset="0"/>
                <a:ea typeface="Cambria Math" panose="02040503050406030204" pitchFamily="18" charset="0"/>
              </a:rPr>
              <a:t>If  f(n)≠0 we consider three possibility:</a:t>
            </a:r>
          </a:p>
          <a:p>
            <a:pPr lvl="1" indent="-342900"/>
            <a:r>
              <a:rPr lang="en-IN" sz="2400" dirty="0">
                <a:latin typeface="Cambria Math" panose="02040503050406030204" pitchFamily="18" charset="0"/>
                <a:ea typeface="Cambria Math" panose="02040503050406030204" pitchFamily="18" charset="0"/>
              </a:rPr>
              <a:t>Case1: f(n) is constant</a:t>
            </a:r>
          </a:p>
          <a:p>
            <a:pPr lvl="1" indent="-342900"/>
            <a:r>
              <a:rPr lang="en-IN" sz="2400" dirty="0">
                <a:latin typeface="Cambria Math" panose="02040503050406030204" pitchFamily="18" charset="0"/>
                <a:ea typeface="Cambria Math" panose="02040503050406030204" pitchFamily="18" charset="0"/>
              </a:rPr>
              <a:t>Case2: f(n) is polynomial of degree n</a:t>
            </a:r>
          </a:p>
          <a:p>
            <a:pPr lvl="1" indent="-342900"/>
            <a:r>
              <a:rPr lang="en-IN" sz="2400" dirty="0">
                <a:latin typeface="Cambria Math" panose="02040503050406030204" pitchFamily="18" charset="0"/>
                <a:ea typeface="Cambria Math" panose="02040503050406030204" pitchFamily="18" charset="0"/>
              </a:rPr>
              <a:t>Case3: f(n) is exponential</a:t>
            </a:r>
          </a:p>
          <a:p>
            <a:pPr marL="0" indent="0">
              <a:buNone/>
            </a:pPr>
            <a:endParaRPr lang="en-IN" dirty="0">
              <a:latin typeface="Cambria Math" panose="02040503050406030204" pitchFamily="18" charset="0"/>
              <a:ea typeface="Cambria Math" panose="02040503050406030204" pitchFamily="18" charset="0"/>
            </a:endParaRPr>
          </a:p>
          <a:p>
            <a:pPr marL="0" indent="0">
              <a:buNone/>
            </a:pPr>
            <a:endParaRPr lang="en-IN" dirty="0"/>
          </a:p>
        </p:txBody>
      </p:sp>
      <p:sp>
        <p:nvSpPr>
          <p:cNvPr id="4" name="Slide Number Placeholder 3">
            <a:extLst>
              <a:ext uri="{FF2B5EF4-FFF2-40B4-BE49-F238E27FC236}">
                <a16:creationId xmlns:a16="http://schemas.microsoft.com/office/drawing/2014/main" id="{8D2765C9-BA45-44F2-A32F-E9BE593E3DAD}"/>
              </a:ext>
            </a:extLst>
          </p:cNvPr>
          <p:cNvSpPr>
            <a:spLocks noGrp="1"/>
          </p:cNvSpPr>
          <p:nvPr>
            <p:ph type="sldNum" sz="quarter" idx="12"/>
          </p:nvPr>
        </p:nvSpPr>
        <p:spPr/>
        <p:txBody>
          <a:bodyPr/>
          <a:lstStyle/>
          <a:p>
            <a:fld id="{5EA8BEFB-AE5B-48F9-BBAD-B489CDE48C80}" type="slidenum">
              <a:rPr lang="en-US" smtClean="0"/>
              <a:pPr/>
              <a:t>22</a:t>
            </a:fld>
            <a:endParaRPr lang="en-US" dirty="0"/>
          </a:p>
        </p:txBody>
      </p:sp>
    </p:spTree>
    <p:extLst>
      <p:ext uri="{BB962C8B-B14F-4D97-AF65-F5344CB8AC3E}">
        <p14:creationId xmlns:p14="http://schemas.microsoft.com/office/powerpoint/2010/main" val="32963111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97D4B6-8CD8-482B-A01D-D2C10CB07790}"/>
              </a:ext>
            </a:extLst>
          </p:cNvPr>
          <p:cNvSpPr>
            <a:spLocks noGrp="1"/>
          </p:cNvSpPr>
          <p:nvPr>
            <p:ph idx="1"/>
          </p:nvPr>
        </p:nvSpPr>
        <p:spPr>
          <a:xfrm>
            <a:off x="254000" y="962382"/>
            <a:ext cx="4724400" cy="4876800"/>
          </a:xfrm>
        </p:spPr>
        <p:txBody>
          <a:bodyPr/>
          <a:lstStyle/>
          <a:p>
            <a:pPr marL="0" indent="0">
              <a:buNone/>
            </a:pPr>
            <a:r>
              <a:rPr lang="en-IN" b="1" dirty="0">
                <a:solidFill>
                  <a:srgbClr val="C00000"/>
                </a:solidFill>
                <a:latin typeface="Cambria Math" panose="02040503050406030204" pitchFamily="18" charset="0"/>
                <a:ea typeface="Cambria Math" panose="02040503050406030204" pitchFamily="18" charset="0"/>
              </a:rPr>
              <a:t>Particular solution(T(n)</a:t>
            </a:r>
            <a:r>
              <a:rPr lang="en-IN" b="1" baseline="30000" dirty="0">
                <a:solidFill>
                  <a:srgbClr val="C00000"/>
                </a:solidFill>
                <a:latin typeface="Cambria Math" panose="02040503050406030204" pitchFamily="18" charset="0"/>
                <a:ea typeface="Cambria Math" panose="02040503050406030204" pitchFamily="18" charset="0"/>
              </a:rPr>
              <a:t>p</a:t>
            </a:r>
            <a:r>
              <a:rPr lang="en-IN" b="1" dirty="0">
                <a:solidFill>
                  <a:srgbClr val="C00000"/>
                </a:solidFill>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a:p>
            <a:pPr marL="400050" lvl="1" indent="0">
              <a:buNone/>
            </a:pPr>
            <a:r>
              <a:rPr lang="en-IN" sz="2400" dirty="0">
                <a:latin typeface="Cambria Math" panose="02040503050406030204" pitchFamily="18" charset="0"/>
                <a:ea typeface="Cambria Math" panose="02040503050406030204" pitchFamily="18" charset="0"/>
              </a:rPr>
              <a:t>Case1: f(n) is constant</a:t>
            </a:r>
          </a:p>
          <a:p>
            <a:pPr marL="1714500" lvl="3" indent="-457200">
              <a:buFont typeface="+mj-lt"/>
              <a:buAutoNum type="arabicPeriod"/>
            </a:pPr>
            <a:r>
              <a:rPr lang="en-IN" sz="1800" dirty="0">
                <a:latin typeface="Cambria Math" panose="02040503050406030204" pitchFamily="18" charset="0"/>
                <a:ea typeface="Cambria Math" panose="02040503050406030204" pitchFamily="18" charset="0"/>
              </a:rPr>
              <a:t>find p by putting T(n)=p,</a:t>
            </a:r>
          </a:p>
          <a:p>
            <a:pPr marL="1714500" lvl="3" indent="-457200">
              <a:buFont typeface="+mj-lt"/>
              <a:buAutoNum type="arabicPeriod"/>
            </a:pPr>
            <a:r>
              <a:rPr lang="en-IN" sz="1800" dirty="0">
                <a:latin typeface="Cambria Math" panose="02040503050406030204" pitchFamily="18" charset="0"/>
                <a:ea typeface="Cambria Math" panose="02040503050406030204" pitchFamily="18" charset="0"/>
              </a:rPr>
              <a:t>If fails, put T(n)=np</a:t>
            </a:r>
          </a:p>
          <a:p>
            <a:pPr marL="1714500" lvl="3" indent="-457200">
              <a:buFont typeface="+mj-lt"/>
              <a:buAutoNum type="arabicPeriod"/>
            </a:pPr>
            <a:r>
              <a:rPr lang="en-IN" sz="1800" dirty="0">
                <a:latin typeface="Cambria Math" panose="02040503050406030204" pitchFamily="18" charset="0"/>
                <a:ea typeface="Cambria Math" panose="02040503050406030204" pitchFamily="18" charset="0"/>
              </a:rPr>
              <a:t>If fails, put T(n)=n</a:t>
            </a:r>
            <a:r>
              <a:rPr lang="en-IN" sz="1800" baseline="30000" dirty="0">
                <a:latin typeface="Cambria Math" panose="02040503050406030204" pitchFamily="18" charset="0"/>
                <a:ea typeface="Cambria Math" panose="02040503050406030204" pitchFamily="18" charset="0"/>
              </a:rPr>
              <a:t>2</a:t>
            </a:r>
            <a:r>
              <a:rPr lang="en-IN" sz="1800" dirty="0">
                <a:latin typeface="Cambria Math" panose="02040503050406030204" pitchFamily="18" charset="0"/>
                <a:ea typeface="Cambria Math" panose="02040503050406030204" pitchFamily="18" charset="0"/>
              </a:rPr>
              <a:t>p…</a:t>
            </a:r>
          </a:p>
          <a:p>
            <a:pPr marL="0" indent="0">
              <a:buNone/>
            </a:pPr>
            <a:endParaRPr lang="en-IN" dirty="0"/>
          </a:p>
        </p:txBody>
      </p:sp>
      <p:sp>
        <p:nvSpPr>
          <p:cNvPr id="4" name="Slide Number Placeholder 3">
            <a:extLst>
              <a:ext uri="{FF2B5EF4-FFF2-40B4-BE49-F238E27FC236}">
                <a16:creationId xmlns:a16="http://schemas.microsoft.com/office/drawing/2014/main" id="{E4819E14-E7DC-4402-B0E9-3064A57D3D1C}"/>
              </a:ext>
            </a:extLst>
          </p:cNvPr>
          <p:cNvSpPr>
            <a:spLocks noGrp="1"/>
          </p:cNvSpPr>
          <p:nvPr>
            <p:ph type="sldNum" sz="quarter" idx="12"/>
          </p:nvPr>
        </p:nvSpPr>
        <p:spPr/>
        <p:txBody>
          <a:bodyPr/>
          <a:lstStyle/>
          <a:p>
            <a:fld id="{5EA8BEFB-AE5B-48F9-BBAD-B489CDE48C80}" type="slidenum">
              <a:rPr lang="en-US" smtClean="0"/>
              <a:pPr/>
              <a:t>23</a:t>
            </a:fld>
            <a:endParaRPr lang="en-US" dirty="0"/>
          </a:p>
        </p:txBody>
      </p:sp>
      <p:sp>
        <p:nvSpPr>
          <p:cNvPr id="5" name="TextBox 4">
            <a:extLst>
              <a:ext uri="{FF2B5EF4-FFF2-40B4-BE49-F238E27FC236}">
                <a16:creationId xmlns:a16="http://schemas.microsoft.com/office/drawing/2014/main" id="{37A408E8-E25A-4E58-B522-E95C1C8892FE}"/>
              </a:ext>
            </a:extLst>
          </p:cNvPr>
          <p:cNvSpPr txBox="1"/>
          <p:nvPr/>
        </p:nvSpPr>
        <p:spPr>
          <a:xfrm>
            <a:off x="5283200" y="990600"/>
            <a:ext cx="6781800" cy="4801314"/>
          </a:xfrm>
          <a:prstGeom prst="rect">
            <a:avLst/>
          </a:prstGeom>
          <a:noFill/>
        </p:spPr>
        <p:txBody>
          <a:bodyPr wrap="square" rtlCol="0">
            <a:spAutoFit/>
          </a:bodyPr>
          <a:lstStyle/>
          <a:p>
            <a:r>
              <a:rPr lang="en-IN" sz="1800" b="1" dirty="0">
                <a:latin typeface="Cambria Math" panose="02040503050406030204" pitchFamily="18" charset="0"/>
                <a:ea typeface="Cambria Math" panose="02040503050406030204" pitchFamily="18" charset="0"/>
              </a:rPr>
              <a:t>   T(n)</a:t>
            </a:r>
            <a:r>
              <a:rPr lang="en-IN" b="1" dirty="0">
                <a:latin typeface="Cambria Math" panose="02040503050406030204" pitchFamily="18" charset="0"/>
                <a:ea typeface="Cambria Math" panose="02040503050406030204" pitchFamily="18" charset="0"/>
              </a:rPr>
              <a:t>-2T(n-1)+T(n-2)=1</a:t>
            </a:r>
          </a:p>
          <a:p>
            <a:endParaRPr lang="en-IN" b="1" dirty="0">
              <a:latin typeface="Cambria Math" panose="02040503050406030204" pitchFamily="18" charset="0"/>
              <a:ea typeface="Cambria Math" panose="02040503050406030204" pitchFamily="18" charset="0"/>
            </a:endParaRPr>
          </a:p>
          <a:p>
            <a:r>
              <a:rPr lang="en-IN" b="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=&gt; To calculate Particular solution </a:t>
            </a:r>
          </a:p>
          <a:p>
            <a:r>
              <a:rPr lang="en-IN" b="1" dirty="0">
                <a:latin typeface="Cambria Math" panose="02040503050406030204" pitchFamily="18" charset="0"/>
                <a:ea typeface="Cambria Math" panose="02040503050406030204" pitchFamily="18" charset="0"/>
              </a:rPr>
              <a:t>   </a:t>
            </a:r>
          </a:p>
          <a:p>
            <a:r>
              <a:rPr lang="en-IN" b="1" dirty="0">
                <a:latin typeface="Cambria Math" panose="02040503050406030204" pitchFamily="18" charset="0"/>
                <a:ea typeface="Cambria Math" panose="02040503050406030204" pitchFamily="18" charset="0"/>
              </a:rPr>
              <a:t>=&gt; </a:t>
            </a:r>
            <a:r>
              <a:rPr lang="en-IN" dirty="0">
                <a:latin typeface="Cambria Math" panose="02040503050406030204" pitchFamily="18" charset="0"/>
                <a:ea typeface="Cambria Math" panose="02040503050406030204" pitchFamily="18" charset="0"/>
              </a:rPr>
              <a:t>put T(n)=P</a:t>
            </a:r>
          </a:p>
          <a:p>
            <a:r>
              <a:rPr lang="en-IN" b="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=&gt; P-2(P)+P=1</a:t>
            </a:r>
          </a:p>
          <a:p>
            <a:r>
              <a:rPr lang="en-IN" dirty="0">
                <a:latin typeface="Cambria Math" panose="02040503050406030204" pitchFamily="18" charset="0"/>
                <a:ea typeface="Cambria Math" panose="02040503050406030204" pitchFamily="18" charset="0"/>
              </a:rPr>
              <a:t>   =&gt; 0=1 </a:t>
            </a:r>
            <a:r>
              <a:rPr lang="en-IN" dirty="0">
                <a:solidFill>
                  <a:srgbClr val="C00000"/>
                </a:solidFill>
                <a:latin typeface="Cambria Math" panose="02040503050406030204" pitchFamily="18" charset="0"/>
                <a:ea typeface="Cambria Math" panose="02040503050406030204" pitchFamily="18" charset="0"/>
              </a:rPr>
              <a:t>fail</a:t>
            </a:r>
          </a:p>
          <a:p>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=&gt; put T(n)=</a:t>
            </a:r>
            <a:r>
              <a:rPr lang="en-IN" dirty="0" err="1">
                <a:latin typeface="Cambria Math" panose="02040503050406030204" pitchFamily="18" charset="0"/>
                <a:ea typeface="Cambria Math" panose="02040503050406030204" pitchFamily="18" charset="0"/>
              </a:rPr>
              <a:t>nP</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   =&gt; nP-2(n-1)P+(n-2)P=1</a:t>
            </a:r>
          </a:p>
          <a:p>
            <a:r>
              <a:rPr lang="en-IN" dirty="0">
                <a:latin typeface="Cambria Math" panose="02040503050406030204" pitchFamily="18" charset="0"/>
                <a:ea typeface="Cambria Math" panose="02040503050406030204" pitchFamily="18" charset="0"/>
              </a:rPr>
              <a:t>   =&gt; 0=1 </a:t>
            </a:r>
            <a:r>
              <a:rPr lang="en-IN" dirty="0">
                <a:solidFill>
                  <a:srgbClr val="C00000"/>
                </a:solidFill>
                <a:latin typeface="Cambria Math" panose="02040503050406030204" pitchFamily="18" charset="0"/>
                <a:ea typeface="Cambria Math" panose="02040503050406030204" pitchFamily="18" charset="0"/>
              </a:rPr>
              <a:t>fail</a:t>
            </a:r>
          </a:p>
          <a:p>
            <a:r>
              <a:rPr lang="en-IN" dirty="0">
                <a:latin typeface="Cambria Math" panose="02040503050406030204" pitchFamily="18" charset="0"/>
                <a:ea typeface="Cambria Math" panose="02040503050406030204" pitchFamily="18" charset="0"/>
              </a:rPr>
              <a:t>   </a:t>
            </a:r>
          </a:p>
          <a:p>
            <a:r>
              <a:rPr lang="en-IN" dirty="0">
                <a:latin typeface="Cambria Math" panose="02040503050406030204" pitchFamily="18" charset="0"/>
                <a:ea typeface="Cambria Math" panose="02040503050406030204" pitchFamily="18" charset="0"/>
              </a:rPr>
              <a:t>=&gt; put T(n)=n</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P</a:t>
            </a:r>
          </a:p>
          <a:p>
            <a:r>
              <a:rPr lang="en-IN" dirty="0">
                <a:latin typeface="Cambria Math" panose="02040503050406030204" pitchFamily="18" charset="0"/>
                <a:ea typeface="Cambria Math" panose="02040503050406030204" pitchFamily="18" charset="0"/>
              </a:rPr>
              <a:t>   =&gt; n</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P – 2(n-1)</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P+(n-2)</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P=1 </a:t>
            </a:r>
            <a:endParaRPr lang="en-IN" baseline="30000"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   =&gt; p=1/2</a:t>
            </a:r>
          </a:p>
          <a:p>
            <a:r>
              <a:rPr lang="en-IN" dirty="0">
                <a:latin typeface="Cambria Math" panose="02040503050406030204" pitchFamily="18" charset="0"/>
                <a:ea typeface="Cambria Math" panose="02040503050406030204" pitchFamily="18" charset="0"/>
              </a:rPr>
              <a:t>   =&gt; Now put the value of P in solution</a:t>
            </a:r>
          </a:p>
          <a:p>
            <a:r>
              <a:rPr lang="en-IN" dirty="0">
                <a:latin typeface="Cambria Math" panose="02040503050406030204" pitchFamily="18" charset="0"/>
                <a:ea typeface="Cambria Math" panose="02040503050406030204" pitchFamily="18" charset="0"/>
              </a:rPr>
              <a:t>           </a:t>
            </a:r>
            <a:r>
              <a:rPr lang="en-IN" b="1" dirty="0">
                <a:latin typeface="Cambria Math" panose="02040503050406030204" pitchFamily="18" charset="0"/>
                <a:ea typeface="Cambria Math" panose="02040503050406030204" pitchFamily="18" charset="0"/>
              </a:rPr>
              <a:t>T(n)</a:t>
            </a:r>
            <a:r>
              <a:rPr lang="en-IN" b="1" baseline="30000" dirty="0">
                <a:latin typeface="Cambria Math" panose="02040503050406030204" pitchFamily="18" charset="0"/>
                <a:ea typeface="Cambria Math" panose="02040503050406030204" pitchFamily="18" charset="0"/>
              </a:rPr>
              <a:t>p</a:t>
            </a:r>
            <a:r>
              <a:rPr lang="en-IN" b="1" dirty="0">
                <a:latin typeface="Cambria Math" panose="02040503050406030204" pitchFamily="18" charset="0"/>
                <a:ea typeface="Cambria Math" panose="02040503050406030204" pitchFamily="18" charset="0"/>
              </a:rPr>
              <a:t>=n</a:t>
            </a:r>
            <a:r>
              <a:rPr lang="en-IN" b="1" baseline="30000" dirty="0">
                <a:latin typeface="Cambria Math" panose="02040503050406030204" pitchFamily="18" charset="0"/>
                <a:ea typeface="Cambria Math" panose="02040503050406030204" pitchFamily="18" charset="0"/>
              </a:rPr>
              <a:t>2</a:t>
            </a:r>
            <a:r>
              <a:rPr lang="en-IN" b="1" dirty="0">
                <a:latin typeface="Cambria Math" panose="02040503050406030204" pitchFamily="18" charset="0"/>
                <a:ea typeface="Cambria Math" panose="02040503050406030204" pitchFamily="18" charset="0"/>
              </a:rPr>
              <a:t>P=&gt;n</a:t>
            </a:r>
            <a:r>
              <a:rPr lang="en-IN" b="1" baseline="30000" dirty="0">
                <a:latin typeface="Cambria Math" panose="02040503050406030204" pitchFamily="18" charset="0"/>
                <a:ea typeface="Cambria Math" panose="02040503050406030204" pitchFamily="18" charset="0"/>
              </a:rPr>
              <a:t>2</a:t>
            </a:r>
            <a:r>
              <a:rPr lang="en-IN" b="1" dirty="0">
                <a:latin typeface="Cambria Math" panose="02040503050406030204" pitchFamily="18" charset="0"/>
                <a:ea typeface="Cambria Math" panose="02040503050406030204" pitchFamily="18" charset="0"/>
              </a:rPr>
              <a:t>/2</a:t>
            </a:r>
            <a:endParaRPr lang="en-IN" b="1" dirty="0">
              <a:solidFill>
                <a:srgbClr val="C00000"/>
              </a:solidFill>
            </a:endParaRPr>
          </a:p>
        </p:txBody>
      </p:sp>
    </p:spTree>
    <p:extLst>
      <p:ext uri="{BB962C8B-B14F-4D97-AF65-F5344CB8AC3E}">
        <p14:creationId xmlns:p14="http://schemas.microsoft.com/office/powerpoint/2010/main" val="318415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97D4B6-8CD8-482B-A01D-D2C10CB07790}"/>
              </a:ext>
            </a:extLst>
          </p:cNvPr>
          <p:cNvSpPr>
            <a:spLocks noGrp="1"/>
          </p:cNvSpPr>
          <p:nvPr>
            <p:ph idx="1"/>
          </p:nvPr>
        </p:nvSpPr>
        <p:spPr>
          <a:xfrm>
            <a:off x="254000" y="962382"/>
            <a:ext cx="5029200" cy="4876800"/>
          </a:xfrm>
        </p:spPr>
        <p:txBody>
          <a:bodyPr/>
          <a:lstStyle/>
          <a:p>
            <a:pPr marL="0" indent="0">
              <a:buNone/>
            </a:pPr>
            <a:r>
              <a:rPr lang="en-IN" b="1" dirty="0">
                <a:solidFill>
                  <a:srgbClr val="C00000"/>
                </a:solidFill>
                <a:latin typeface="Cambria Math" panose="02040503050406030204" pitchFamily="18" charset="0"/>
                <a:ea typeface="Cambria Math" panose="02040503050406030204" pitchFamily="18" charset="0"/>
              </a:rPr>
              <a:t>Particular solution(T(n)</a:t>
            </a:r>
            <a:r>
              <a:rPr lang="en-IN" b="1" baseline="30000" dirty="0">
                <a:solidFill>
                  <a:srgbClr val="C00000"/>
                </a:solidFill>
                <a:latin typeface="Cambria Math" panose="02040503050406030204" pitchFamily="18" charset="0"/>
                <a:ea typeface="Cambria Math" panose="02040503050406030204" pitchFamily="18" charset="0"/>
              </a:rPr>
              <a:t>p</a:t>
            </a:r>
            <a:r>
              <a:rPr lang="en-IN" b="1" dirty="0">
                <a:solidFill>
                  <a:srgbClr val="C00000"/>
                </a:solidFill>
                <a:latin typeface="Cambria Math" panose="02040503050406030204" pitchFamily="18" charset="0"/>
                <a:ea typeface="Cambria Math" panose="02040503050406030204" pitchFamily="18" charset="0"/>
              </a:rPr>
              <a:t>)</a:t>
            </a:r>
            <a:endParaRPr lang="en-IN" dirty="0">
              <a:latin typeface="Cambria Math" panose="02040503050406030204" pitchFamily="18" charset="0"/>
              <a:ea typeface="Cambria Math" panose="02040503050406030204" pitchFamily="18" charset="0"/>
            </a:endParaRPr>
          </a:p>
          <a:p>
            <a:pPr marL="400050" lvl="1" indent="0">
              <a:buNone/>
            </a:pPr>
            <a:r>
              <a:rPr lang="en-IN" sz="2400" dirty="0">
                <a:latin typeface="Cambria Math" panose="02040503050406030204" pitchFamily="18" charset="0"/>
                <a:ea typeface="Cambria Math" panose="02040503050406030204" pitchFamily="18" charset="0"/>
              </a:rPr>
              <a:t>Case2: f(n) is polynomial</a:t>
            </a:r>
          </a:p>
          <a:p>
            <a:pPr marL="1714500" lvl="3" indent="-457200">
              <a:buFont typeface="+mj-lt"/>
              <a:buAutoNum type="arabicPeriod"/>
            </a:pPr>
            <a:r>
              <a:rPr lang="en-IN" sz="1800" dirty="0">
                <a:latin typeface="Cambria Math" panose="02040503050406030204" pitchFamily="18" charset="0"/>
                <a:ea typeface="Cambria Math" panose="02040503050406030204" pitchFamily="18" charset="0"/>
              </a:rPr>
              <a:t>T(n)=d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n+d</a:t>
            </a:r>
            <a:r>
              <a:rPr lang="en-IN" sz="1800" baseline="-25000" dirty="0">
                <a:latin typeface="Cambria Math" panose="02040503050406030204" pitchFamily="18" charset="0"/>
                <a:ea typeface="Cambria Math" panose="02040503050406030204" pitchFamily="18" charset="0"/>
              </a:rPr>
              <a:t>2</a:t>
            </a:r>
            <a:r>
              <a:rPr lang="en-IN" sz="1800" dirty="0">
                <a:latin typeface="Cambria Math" panose="02040503050406030204" pitchFamily="18" charset="0"/>
                <a:ea typeface="Cambria Math" panose="02040503050406030204" pitchFamily="18" charset="0"/>
              </a:rPr>
              <a:t>n</a:t>
            </a:r>
            <a:r>
              <a:rPr lang="en-IN" sz="1800" baseline="30000" dirty="0">
                <a:latin typeface="Cambria Math" panose="02040503050406030204" pitchFamily="18" charset="0"/>
                <a:ea typeface="Cambria Math" panose="02040503050406030204" pitchFamily="18" charset="0"/>
              </a:rPr>
              <a:t>2</a:t>
            </a:r>
            <a:r>
              <a:rPr lang="en-IN" sz="1800" dirty="0">
                <a:latin typeface="Cambria Math" panose="02040503050406030204" pitchFamily="18" charset="0"/>
                <a:ea typeface="Cambria Math" panose="02040503050406030204" pitchFamily="18" charset="0"/>
              </a:rPr>
              <a:t>…</a:t>
            </a:r>
            <a:r>
              <a:rPr lang="en-IN" sz="1800" dirty="0" err="1">
                <a:latin typeface="Cambria Math" panose="02040503050406030204" pitchFamily="18" charset="0"/>
                <a:ea typeface="Cambria Math" panose="02040503050406030204" pitchFamily="18" charset="0"/>
              </a:rPr>
              <a:t>d</a:t>
            </a:r>
            <a:r>
              <a:rPr lang="en-IN" sz="1800" baseline="-25000" dirty="0" err="1">
                <a:latin typeface="Cambria Math" panose="02040503050406030204" pitchFamily="18" charset="0"/>
                <a:ea typeface="Cambria Math" panose="02040503050406030204" pitchFamily="18" charset="0"/>
              </a:rPr>
              <a:t>m</a:t>
            </a:r>
            <a:r>
              <a:rPr lang="en-IN" sz="1800" dirty="0" err="1">
                <a:latin typeface="Cambria Math" panose="02040503050406030204" pitchFamily="18" charset="0"/>
                <a:ea typeface="Cambria Math" panose="02040503050406030204" pitchFamily="18" charset="0"/>
              </a:rPr>
              <a:t>n</a:t>
            </a:r>
            <a:r>
              <a:rPr lang="en-IN" sz="1800" baseline="30000" dirty="0" err="1">
                <a:latin typeface="Cambria Math" panose="02040503050406030204" pitchFamily="18" charset="0"/>
                <a:ea typeface="Cambria Math" panose="02040503050406030204" pitchFamily="18" charset="0"/>
              </a:rPr>
              <a:t>m</a:t>
            </a:r>
            <a:endParaRPr lang="en-IN" sz="1800" baseline="30000" dirty="0">
              <a:latin typeface="Cambria Math" panose="02040503050406030204" pitchFamily="18" charset="0"/>
              <a:ea typeface="Cambria Math" panose="02040503050406030204" pitchFamily="18" charset="0"/>
            </a:endParaRPr>
          </a:p>
          <a:p>
            <a:pPr marL="1714500" lvl="3" indent="-457200">
              <a:buFont typeface="+mj-lt"/>
              <a:buAutoNum type="arabicPeriod"/>
            </a:pPr>
            <a:r>
              <a:rPr lang="en-IN" sz="1800" dirty="0">
                <a:latin typeface="Cambria Math" panose="02040503050406030204" pitchFamily="18" charset="0"/>
                <a:ea typeface="Cambria Math" panose="02040503050406030204" pitchFamily="18" charset="0"/>
              </a:rPr>
              <a:t>Find d0, d1, d2.. by comparing the co-efficient  </a:t>
            </a:r>
          </a:p>
          <a:p>
            <a:pPr marL="0" indent="0">
              <a:buNone/>
            </a:pPr>
            <a:endParaRPr lang="en-IN" dirty="0"/>
          </a:p>
        </p:txBody>
      </p:sp>
      <p:sp>
        <p:nvSpPr>
          <p:cNvPr id="4" name="Slide Number Placeholder 3">
            <a:extLst>
              <a:ext uri="{FF2B5EF4-FFF2-40B4-BE49-F238E27FC236}">
                <a16:creationId xmlns:a16="http://schemas.microsoft.com/office/drawing/2014/main" id="{E4819E14-E7DC-4402-B0E9-3064A57D3D1C}"/>
              </a:ext>
            </a:extLst>
          </p:cNvPr>
          <p:cNvSpPr>
            <a:spLocks noGrp="1"/>
          </p:cNvSpPr>
          <p:nvPr>
            <p:ph type="sldNum" sz="quarter" idx="12"/>
          </p:nvPr>
        </p:nvSpPr>
        <p:spPr/>
        <p:txBody>
          <a:bodyPr/>
          <a:lstStyle/>
          <a:p>
            <a:fld id="{5EA8BEFB-AE5B-48F9-BBAD-B489CDE48C80}" type="slidenum">
              <a:rPr lang="en-US" smtClean="0"/>
              <a:pPr/>
              <a:t>24</a:t>
            </a:fld>
            <a:endParaRPr lang="en-US" dirty="0"/>
          </a:p>
        </p:txBody>
      </p:sp>
      <p:sp>
        <p:nvSpPr>
          <p:cNvPr id="5" name="TextBox 4">
            <a:extLst>
              <a:ext uri="{FF2B5EF4-FFF2-40B4-BE49-F238E27FC236}">
                <a16:creationId xmlns:a16="http://schemas.microsoft.com/office/drawing/2014/main" id="{37A408E8-E25A-4E58-B522-E95C1C8892FE}"/>
              </a:ext>
            </a:extLst>
          </p:cNvPr>
          <p:cNvSpPr txBox="1"/>
          <p:nvPr/>
        </p:nvSpPr>
        <p:spPr>
          <a:xfrm>
            <a:off x="5283200" y="1028343"/>
            <a:ext cx="6781800" cy="4247317"/>
          </a:xfrm>
          <a:prstGeom prst="rect">
            <a:avLst/>
          </a:prstGeom>
          <a:noFill/>
        </p:spPr>
        <p:txBody>
          <a:bodyPr wrap="square" rtlCol="0">
            <a:spAutoFit/>
          </a:bodyPr>
          <a:lstStyle/>
          <a:p>
            <a:r>
              <a:rPr lang="en-IN" sz="1800" b="1" dirty="0">
                <a:latin typeface="Cambria Math" panose="02040503050406030204" pitchFamily="18" charset="0"/>
                <a:ea typeface="Cambria Math" panose="02040503050406030204" pitchFamily="18" charset="0"/>
              </a:rPr>
              <a:t>   T(n)</a:t>
            </a:r>
            <a:r>
              <a:rPr lang="en-IN" b="1" dirty="0">
                <a:latin typeface="Cambria Math" panose="02040503050406030204" pitchFamily="18" charset="0"/>
                <a:ea typeface="Cambria Math" panose="02040503050406030204" pitchFamily="18" charset="0"/>
              </a:rPr>
              <a:t>-8T(n-1) =14n+5</a:t>
            </a:r>
          </a:p>
          <a:p>
            <a:endParaRPr lang="en-IN" b="1" dirty="0">
              <a:latin typeface="Cambria Math" panose="02040503050406030204" pitchFamily="18" charset="0"/>
              <a:ea typeface="Cambria Math" panose="02040503050406030204" pitchFamily="18" charset="0"/>
            </a:endParaRPr>
          </a:p>
          <a:p>
            <a:r>
              <a:rPr lang="en-IN" b="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=&gt; To calculate Particular solution </a:t>
            </a:r>
          </a:p>
          <a:p>
            <a:r>
              <a:rPr lang="en-IN" b="1" dirty="0">
                <a:latin typeface="Cambria Math" panose="02040503050406030204" pitchFamily="18" charset="0"/>
                <a:ea typeface="Cambria Math" panose="02040503050406030204" pitchFamily="18" charset="0"/>
              </a:rPr>
              <a:t>   </a:t>
            </a:r>
          </a:p>
          <a:p>
            <a:r>
              <a:rPr lang="en-IN" b="1" dirty="0">
                <a:latin typeface="Cambria Math" panose="02040503050406030204" pitchFamily="18" charset="0"/>
                <a:ea typeface="Cambria Math" panose="02040503050406030204" pitchFamily="18" charset="0"/>
              </a:rPr>
              <a:t>=&gt; </a:t>
            </a:r>
            <a:r>
              <a:rPr lang="en-IN" dirty="0">
                <a:latin typeface="Cambria Math" panose="02040503050406030204" pitchFamily="18" charset="0"/>
                <a:ea typeface="Cambria Math" panose="02040503050406030204" pitchFamily="18" charset="0"/>
              </a:rPr>
              <a:t>put T(n)=</a:t>
            </a:r>
            <a:r>
              <a:rPr lang="en-IN" sz="1800" dirty="0">
                <a:latin typeface="Cambria Math" panose="02040503050406030204" pitchFamily="18" charset="0"/>
                <a:ea typeface="Cambria Math" panose="02040503050406030204" pitchFamily="18" charset="0"/>
              </a:rPr>
              <a:t> 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a:t>
            </a:r>
          </a:p>
          <a:p>
            <a:r>
              <a:rPr lang="en-IN" dirty="0">
                <a:latin typeface="Cambria Math" panose="02040503050406030204" pitchFamily="18" charset="0"/>
                <a:ea typeface="Cambria Math" panose="02040503050406030204" pitchFamily="18" charset="0"/>
              </a:rPr>
              <a:t>=&gt; </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 – 8(d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(n-1))=14n+5</a:t>
            </a:r>
            <a:endParaRPr lang="en-IN"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=&gt; -7d</a:t>
            </a:r>
            <a:r>
              <a:rPr lang="en-IN" baseline="-25000" dirty="0">
                <a:latin typeface="Cambria Math" panose="02040503050406030204" pitchFamily="18" charset="0"/>
                <a:ea typeface="Cambria Math" panose="02040503050406030204" pitchFamily="18" charset="0"/>
              </a:rPr>
              <a:t>0</a:t>
            </a:r>
            <a:r>
              <a:rPr lang="en-IN" dirty="0">
                <a:latin typeface="Cambria Math" panose="02040503050406030204" pitchFamily="18" charset="0"/>
                <a:ea typeface="Cambria Math" panose="02040503050406030204" pitchFamily="18" charset="0"/>
              </a:rPr>
              <a:t> – 7d</a:t>
            </a:r>
            <a:r>
              <a:rPr lang="en-IN" baseline="-25000" dirty="0">
                <a:latin typeface="Cambria Math" panose="02040503050406030204" pitchFamily="18" charset="0"/>
                <a:ea typeface="Cambria Math" panose="02040503050406030204" pitchFamily="18" charset="0"/>
              </a:rPr>
              <a:t>1</a:t>
            </a:r>
            <a:r>
              <a:rPr lang="en-IN" dirty="0">
                <a:latin typeface="Cambria Math" panose="02040503050406030204" pitchFamily="18" charset="0"/>
                <a:ea typeface="Cambria Math" panose="02040503050406030204" pitchFamily="18" charset="0"/>
              </a:rPr>
              <a:t>n+8d</a:t>
            </a:r>
            <a:r>
              <a:rPr lang="en-IN" baseline="-25000" dirty="0">
                <a:latin typeface="Cambria Math" panose="02040503050406030204" pitchFamily="18" charset="0"/>
                <a:ea typeface="Cambria Math" panose="02040503050406030204" pitchFamily="18" charset="0"/>
              </a:rPr>
              <a:t>1</a:t>
            </a:r>
            <a:r>
              <a:rPr lang="en-IN" dirty="0">
                <a:latin typeface="Cambria Math" panose="02040503050406030204" pitchFamily="18" charset="0"/>
                <a:ea typeface="Cambria Math" panose="02040503050406030204" pitchFamily="18" charset="0"/>
              </a:rPr>
              <a:t>=5 + 14n</a:t>
            </a:r>
          </a:p>
          <a:p>
            <a:r>
              <a:rPr lang="en-IN" dirty="0">
                <a:solidFill>
                  <a:srgbClr val="C00000"/>
                </a:solidFill>
                <a:latin typeface="Cambria Math" panose="02040503050406030204" pitchFamily="18" charset="0"/>
                <a:ea typeface="Cambria Math" panose="02040503050406030204" pitchFamily="18" charset="0"/>
              </a:rPr>
              <a:t>=&gt; By comparing the coefficient of n</a:t>
            </a:r>
            <a:r>
              <a:rPr lang="en-IN" baseline="30000" dirty="0">
                <a:solidFill>
                  <a:srgbClr val="C00000"/>
                </a:solidFill>
                <a:latin typeface="Cambria Math" panose="02040503050406030204" pitchFamily="18" charset="0"/>
                <a:ea typeface="Cambria Math" panose="02040503050406030204" pitchFamily="18" charset="0"/>
              </a:rPr>
              <a:t>0</a:t>
            </a:r>
            <a:r>
              <a:rPr lang="en-IN" dirty="0">
                <a:solidFill>
                  <a:srgbClr val="C00000"/>
                </a:solidFill>
                <a:latin typeface="Cambria Math" panose="02040503050406030204" pitchFamily="18" charset="0"/>
                <a:ea typeface="Cambria Math" panose="02040503050406030204" pitchFamily="18" charset="0"/>
              </a:rPr>
              <a:t>, n</a:t>
            </a:r>
            <a:r>
              <a:rPr lang="en-IN" baseline="30000" dirty="0">
                <a:solidFill>
                  <a:srgbClr val="C00000"/>
                </a:solidFill>
                <a:latin typeface="Cambria Math" panose="02040503050406030204" pitchFamily="18" charset="0"/>
                <a:ea typeface="Cambria Math" panose="02040503050406030204" pitchFamily="18" charset="0"/>
              </a:rPr>
              <a:t>1</a:t>
            </a:r>
            <a:r>
              <a:rPr lang="en-IN" dirty="0">
                <a:solidFill>
                  <a:srgbClr val="C00000"/>
                </a:solidFill>
                <a:latin typeface="Cambria Math" panose="02040503050406030204" pitchFamily="18" charset="0"/>
                <a:ea typeface="Cambria Math" panose="02040503050406030204" pitchFamily="18" charset="0"/>
              </a:rPr>
              <a:t> term</a:t>
            </a:r>
          </a:p>
          <a:p>
            <a:r>
              <a:rPr lang="en-IN" dirty="0">
                <a:latin typeface="Cambria Math" panose="02040503050406030204" pitchFamily="18" charset="0"/>
                <a:ea typeface="Cambria Math" panose="02040503050406030204" pitchFamily="18" charset="0"/>
              </a:rPr>
              <a:t>=&gt; -7d</a:t>
            </a:r>
            <a:r>
              <a:rPr lang="en-IN" baseline="-25000" dirty="0">
                <a:latin typeface="Cambria Math" panose="02040503050406030204" pitchFamily="18" charset="0"/>
                <a:ea typeface="Cambria Math" panose="02040503050406030204" pitchFamily="18" charset="0"/>
              </a:rPr>
              <a:t>1</a:t>
            </a:r>
            <a:r>
              <a:rPr lang="en-IN" dirty="0">
                <a:latin typeface="Cambria Math" panose="02040503050406030204" pitchFamily="18" charset="0"/>
                <a:ea typeface="Cambria Math" panose="02040503050406030204" pitchFamily="18" charset="0"/>
              </a:rPr>
              <a:t>=14  =&gt; d</a:t>
            </a:r>
            <a:r>
              <a:rPr lang="en-IN" baseline="-25000" dirty="0">
                <a:latin typeface="Cambria Math" panose="02040503050406030204" pitchFamily="18" charset="0"/>
                <a:ea typeface="Cambria Math" panose="02040503050406030204" pitchFamily="18" charset="0"/>
              </a:rPr>
              <a:t>1</a:t>
            </a:r>
            <a:r>
              <a:rPr lang="en-IN" dirty="0">
                <a:latin typeface="Cambria Math" panose="02040503050406030204" pitchFamily="18" charset="0"/>
                <a:ea typeface="Cambria Math" panose="02040503050406030204" pitchFamily="18" charset="0"/>
              </a:rPr>
              <a:t>=-2</a:t>
            </a:r>
          </a:p>
          <a:p>
            <a:r>
              <a:rPr lang="en-IN" dirty="0">
                <a:latin typeface="Cambria Math" panose="02040503050406030204" pitchFamily="18" charset="0"/>
                <a:ea typeface="Cambria Math" panose="02040503050406030204" pitchFamily="18" charset="0"/>
              </a:rPr>
              <a:t>=&gt; -7d</a:t>
            </a:r>
            <a:r>
              <a:rPr lang="en-IN" baseline="-25000" dirty="0">
                <a:latin typeface="Cambria Math" panose="02040503050406030204" pitchFamily="18" charset="0"/>
                <a:ea typeface="Cambria Math" panose="02040503050406030204" pitchFamily="18" charset="0"/>
              </a:rPr>
              <a:t>0</a:t>
            </a:r>
            <a:r>
              <a:rPr lang="en-IN" dirty="0">
                <a:latin typeface="Cambria Math" panose="02040503050406030204" pitchFamily="18" charset="0"/>
                <a:ea typeface="Cambria Math" panose="02040503050406030204" pitchFamily="18" charset="0"/>
              </a:rPr>
              <a:t>+8d</a:t>
            </a:r>
            <a:r>
              <a:rPr lang="en-IN" baseline="-25000" dirty="0">
                <a:latin typeface="Cambria Math" panose="02040503050406030204" pitchFamily="18" charset="0"/>
                <a:ea typeface="Cambria Math" panose="02040503050406030204" pitchFamily="18" charset="0"/>
              </a:rPr>
              <a:t>1</a:t>
            </a:r>
            <a:r>
              <a:rPr lang="en-IN" dirty="0">
                <a:latin typeface="Cambria Math" panose="02040503050406030204" pitchFamily="18" charset="0"/>
                <a:ea typeface="Cambria Math" panose="02040503050406030204" pitchFamily="18" charset="0"/>
              </a:rPr>
              <a:t>=5 =&gt;d</a:t>
            </a:r>
            <a:r>
              <a:rPr lang="en-IN" baseline="-25000" dirty="0">
                <a:latin typeface="Cambria Math" panose="02040503050406030204" pitchFamily="18" charset="0"/>
                <a:ea typeface="Cambria Math" panose="02040503050406030204" pitchFamily="18" charset="0"/>
              </a:rPr>
              <a:t>0</a:t>
            </a:r>
            <a:r>
              <a:rPr lang="en-IN" dirty="0">
                <a:latin typeface="Cambria Math" panose="02040503050406030204" pitchFamily="18" charset="0"/>
                <a:ea typeface="Cambria Math" panose="02040503050406030204" pitchFamily="18" charset="0"/>
              </a:rPr>
              <a:t>= -3</a:t>
            </a:r>
          </a:p>
          <a:p>
            <a:r>
              <a:rPr lang="en-IN" dirty="0">
                <a:latin typeface="Cambria Math" panose="02040503050406030204" pitchFamily="18" charset="0"/>
                <a:ea typeface="Cambria Math" panose="02040503050406030204" pitchFamily="18" charset="0"/>
              </a:rPr>
              <a:t>   Now put the value of d</a:t>
            </a:r>
            <a:r>
              <a:rPr lang="en-IN" baseline="-25000" dirty="0">
                <a:latin typeface="Cambria Math" panose="02040503050406030204" pitchFamily="18" charset="0"/>
                <a:ea typeface="Cambria Math" panose="02040503050406030204" pitchFamily="18" charset="0"/>
              </a:rPr>
              <a:t>0</a:t>
            </a:r>
            <a:r>
              <a:rPr lang="en-IN" dirty="0">
                <a:latin typeface="Cambria Math" panose="02040503050406030204" pitchFamily="18" charset="0"/>
                <a:ea typeface="Cambria Math" panose="02040503050406030204" pitchFamily="18" charset="0"/>
              </a:rPr>
              <a:t> and d</a:t>
            </a:r>
            <a:r>
              <a:rPr lang="en-IN" baseline="-25000" dirty="0">
                <a:latin typeface="Cambria Math" panose="02040503050406030204" pitchFamily="18" charset="0"/>
                <a:ea typeface="Cambria Math" panose="02040503050406030204" pitchFamily="18" charset="0"/>
              </a:rPr>
              <a:t>1</a:t>
            </a:r>
            <a:r>
              <a:rPr lang="en-IN" dirty="0">
                <a:latin typeface="Cambria Math" panose="02040503050406030204" pitchFamily="18" charset="0"/>
                <a:ea typeface="Cambria Math" panose="02040503050406030204" pitchFamily="18" charset="0"/>
              </a:rPr>
              <a:t> to get the solution</a:t>
            </a:r>
          </a:p>
          <a:p>
            <a:r>
              <a:rPr lang="en-IN" b="1" dirty="0">
                <a:latin typeface="Cambria Math" panose="02040503050406030204" pitchFamily="18" charset="0"/>
                <a:ea typeface="Cambria Math" panose="02040503050406030204" pitchFamily="18" charset="0"/>
              </a:rPr>
              <a:t>   T(n)</a:t>
            </a:r>
            <a:r>
              <a:rPr lang="en-IN" b="1" baseline="30000" dirty="0">
                <a:latin typeface="Cambria Math" panose="02040503050406030204" pitchFamily="18" charset="0"/>
                <a:ea typeface="Cambria Math" panose="02040503050406030204" pitchFamily="18" charset="0"/>
              </a:rPr>
              <a:t>p</a:t>
            </a:r>
            <a:r>
              <a:rPr lang="en-IN" b="1" dirty="0">
                <a:latin typeface="Cambria Math" panose="02040503050406030204" pitchFamily="18" charset="0"/>
                <a:ea typeface="Cambria Math" panose="02040503050406030204" pitchFamily="18" charset="0"/>
              </a:rPr>
              <a:t>=</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a:t>
            </a:r>
          </a:p>
          <a:p>
            <a:r>
              <a:rPr lang="en-IN" dirty="0">
                <a:latin typeface="Cambria Math" panose="02040503050406030204" pitchFamily="18" charset="0"/>
                <a:ea typeface="Cambria Math" panose="02040503050406030204" pitchFamily="18" charset="0"/>
              </a:rPr>
              <a:t>   </a:t>
            </a:r>
            <a:r>
              <a:rPr lang="en-IN" b="1" dirty="0">
                <a:latin typeface="Cambria Math" panose="02040503050406030204" pitchFamily="18" charset="0"/>
                <a:ea typeface="Cambria Math" panose="02040503050406030204" pitchFamily="18" charset="0"/>
              </a:rPr>
              <a:t>T(n)</a:t>
            </a:r>
            <a:r>
              <a:rPr lang="en-IN" b="1" baseline="30000" dirty="0">
                <a:latin typeface="Cambria Math" panose="02040503050406030204" pitchFamily="18" charset="0"/>
                <a:ea typeface="Cambria Math" panose="02040503050406030204" pitchFamily="18" charset="0"/>
              </a:rPr>
              <a:t>p</a:t>
            </a:r>
            <a:r>
              <a:rPr lang="en-IN" b="1" dirty="0">
                <a:latin typeface="Cambria Math" panose="02040503050406030204" pitchFamily="18" charset="0"/>
                <a:ea typeface="Cambria Math" panose="02040503050406030204" pitchFamily="18" charset="0"/>
              </a:rPr>
              <a:t>= -3 </a:t>
            </a:r>
            <a:r>
              <a:rPr lang="en-IN" sz="1800" b="1" dirty="0">
                <a:latin typeface="Cambria Math" panose="02040503050406030204" pitchFamily="18" charset="0"/>
                <a:ea typeface="Cambria Math" panose="02040503050406030204" pitchFamily="18" charset="0"/>
              </a:rPr>
              <a:t>+ </a:t>
            </a:r>
            <a:r>
              <a:rPr lang="en-IN" b="1" dirty="0">
                <a:latin typeface="Cambria Math" panose="02040503050406030204" pitchFamily="18" charset="0"/>
                <a:ea typeface="Cambria Math" panose="02040503050406030204" pitchFamily="18" charset="0"/>
              </a:rPr>
              <a:t>(-2)</a:t>
            </a:r>
            <a:r>
              <a:rPr lang="en-IN" sz="1800" b="1" dirty="0">
                <a:latin typeface="Cambria Math" panose="02040503050406030204" pitchFamily="18" charset="0"/>
                <a:ea typeface="Cambria Math" panose="02040503050406030204" pitchFamily="18" charset="0"/>
              </a:rPr>
              <a:t>n</a:t>
            </a:r>
          </a:p>
          <a:p>
            <a:endParaRPr lang="en-IN" sz="1800" dirty="0">
              <a:latin typeface="Cambria Math" panose="02040503050406030204" pitchFamily="18" charset="0"/>
              <a:ea typeface="Cambria Math" panose="02040503050406030204" pitchFamily="18" charset="0"/>
            </a:endParaRPr>
          </a:p>
          <a:p>
            <a:endParaRPr lang="en-IN" b="1" dirty="0">
              <a:solidFill>
                <a:srgbClr val="C00000"/>
              </a:solidFill>
            </a:endParaRPr>
          </a:p>
        </p:txBody>
      </p:sp>
    </p:spTree>
    <p:extLst>
      <p:ext uri="{BB962C8B-B14F-4D97-AF65-F5344CB8AC3E}">
        <p14:creationId xmlns:p14="http://schemas.microsoft.com/office/powerpoint/2010/main" val="420960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97D4B6-8CD8-482B-A01D-D2C10CB07790}"/>
              </a:ext>
            </a:extLst>
          </p:cNvPr>
          <p:cNvSpPr>
            <a:spLocks noGrp="1"/>
          </p:cNvSpPr>
          <p:nvPr>
            <p:ph idx="1"/>
          </p:nvPr>
        </p:nvSpPr>
        <p:spPr>
          <a:xfrm>
            <a:off x="127000" y="962382"/>
            <a:ext cx="5283200" cy="4876800"/>
          </a:xfrm>
        </p:spPr>
        <p:txBody>
          <a:bodyPr>
            <a:normAutofit/>
          </a:bodyPr>
          <a:lstStyle/>
          <a:p>
            <a:pPr marL="0" indent="0">
              <a:buNone/>
            </a:pPr>
            <a:r>
              <a:rPr lang="en-IN" b="1" dirty="0">
                <a:solidFill>
                  <a:srgbClr val="C00000"/>
                </a:solidFill>
                <a:latin typeface="Cambria Math" panose="02040503050406030204" pitchFamily="18" charset="0"/>
                <a:ea typeface="Cambria Math" panose="02040503050406030204" pitchFamily="18" charset="0"/>
              </a:rPr>
              <a:t>Particular solution(T(n)</a:t>
            </a:r>
            <a:r>
              <a:rPr lang="en-IN" b="1" baseline="30000" dirty="0">
                <a:solidFill>
                  <a:srgbClr val="C00000"/>
                </a:solidFill>
                <a:latin typeface="Cambria Math" panose="02040503050406030204" pitchFamily="18" charset="0"/>
                <a:ea typeface="Cambria Math" panose="02040503050406030204" pitchFamily="18" charset="0"/>
              </a:rPr>
              <a:t>p</a:t>
            </a:r>
            <a:r>
              <a:rPr lang="en-IN" b="1" dirty="0">
                <a:solidFill>
                  <a:srgbClr val="C00000"/>
                </a:solidFill>
                <a:latin typeface="Cambria Math" panose="02040503050406030204" pitchFamily="18" charset="0"/>
                <a:ea typeface="Cambria Math" panose="02040503050406030204" pitchFamily="18" charset="0"/>
              </a:rPr>
              <a:t>)</a:t>
            </a:r>
          </a:p>
          <a:p>
            <a:pPr marL="0" indent="0">
              <a:buNone/>
            </a:pPr>
            <a:r>
              <a:rPr lang="en-IN" dirty="0">
                <a:latin typeface="Cambria Math" panose="02040503050406030204" pitchFamily="18" charset="0"/>
                <a:ea typeface="Cambria Math" panose="02040503050406030204" pitchFamily="18" charset="0"/>
              </a:rPr>
              <a:t>f(n) is exponential function</a:t>
            </a:r>
            <a:endParaRPr lang="en-IN" b="1" dirty="0">
              <a:solidFill>
                <a:srgbClr val="C00000"/>
              </a:solidFill>
              <a:latin typeface="Cambria Math" panose="02040503050406030204" pitchFamily="18" charset="0"/>
              <a:ea typeface="Cambria Math" panose="02040503050406030204" pitchFamily="18" charset="0"/>
            </a:endParaRPr>
          </a:p>
          <a:p>
            <a:pPr marL="0" indent="0">
              <a:buNone/>
            </a:pPr>
            <a:r>
              <a:rPr lang="en-IN" sz="2000" b="1" dirty="0">
                <a:solidFill>
                  <a:srgbClr val="C00000"/>
                </a:solidFill>
                <a:latin typeface="Cambria Math" panose="02040503050406030204" pitchFamily="18" charset="0"/>
                <a:ea typeface="Cambria Math" panose="02040503050406030204" pitchFamily="18" charset="0"/>
              </a:rPr>
              <a:t> </a:t>
            </a:r>
            <a:r>
              <a:rPr lang="en-IN" sz="2400" dirty="0">
                <a:latin typeface="Cambria Math" panose="02040503050406030204" pitchFamily="18" charset="0"/>
                <a:ea typeface="Cambria Math" panose="02040503050406030204" pitchFamily="18" charset="0"/>
              </a:rPr>
              <a:t>Case3: </a:t>
            </a:r>
            <a:r>
              <a:rPr lang="en-IN" sz="2000" dirty="0">
                <a:latin typeface="Cambria Math" panose="02040503050406030204" pitchFamily="18" charset="0"/>
                <a:ea typeface="Cambria Math" panose="02040503050406030204" pitchFamily="18" charset="0"/>
              </a:rPr>
              <a:t>(a)if a is not the characteristic root</a:t>
            </a:r>
            <a:endParaRPr lang="en-IN" sz="2200" dirty="0">
              <a:latin typeface="Cambria Math" panose="02040503050406030204" pitchFamily="18" charset="0"/>
              <a:ea typeface="Cambria Math" panose="02040503050406030204" pitchFamily="18" charset="0"/>
            </a:endParaRPr>
          </a:p>
          <a:p>
            <a:pPr>
              <a:buFont typeface="Wingdings" panose="05000000000000000000" pitchFamily="2" charset="2"/>
              <a:buChar char="Ø"/>
            </a:pPr>
            <a:r>
              <a:rPr lang="en-IN" sz="1800" dirty="0">
                <a:solidFill>
                  <a:srgbClr val="00B050"/>
                </a:solidFill>
                <a:latin typeface="Cambria Math" panose="02040503050406030204" pitchFamily="18" charset="0"/>
                <a:ea typeface="Cambria Math" panose="02040503050406030204" pitchFamily="18" charset="0"/>
              </a:rPr>
              <a:t>find d by putting T(n)=d</a:t>
            </a:r>
            <a:r>
              <a:rPr lang="en-IN" sz="1800" baseline="-25000" dirty="0">
                <a:solidFill>
                  <a:srgbClr val="00B050"/>
                </a:solidFill>
                <a:latin typeface="Cambria Math" panose="02040503050406030204" pitchFamily="18" charset="0"/>
                <a:ea typeface="Cambria Math" panose="02040503050406030204" pitchFamily="18" charset="0"/>
              </a:rPr>
              <a:t>0</a:t>
            </a:r>
            <a:r>
              <a:rPr lang="en-IN" sz="1800" dirty="0">
                <a:solidFill>
                  <a:srgbClr val="00B050"/>
                </a:solidFill>
                <a:latin typeface="Cambria Math" panose="02040503050406030204" pitchFamily="18" charset="0"/>
                <a:ea typeface="Cambria Math" panose="02040503050406030204" pitchFamily="18" charset="0"/>
              </a:rPr>
              <a:t>*a</a:t>
            </a:r>
            <a:r>
              <a:rPr lang="en-IN" sz="1800" baseline="30000" dirty="0">
                <a:solidFill>
                  <a:srgbClr val="00B050"/>
                </a:solidFill>
                <a:latin typeface="Cambria Math" panose="02040503050406030204" pitchFamily="18" charset="0"/>
                <a:ea typeface="Cambria Math" panose="02040503050406030204" pitchFamily="18" charset="0"/>
              </a:rPr>
              <a:t>n</a:t>
            </a:r>
            <a:r>
              <a:rPr lang="en-IN" sz="1800" dirty="0">
                <a:solidFill>
                  <a:srgbClr val="00B050"/>
                </a:solidFill>
                <a:latin typeface="Cambria Math" panose="02040503050406030204" pitchFamily="18" charset="0"/>
                <a:ea typeface="Cambria Math" panose="02040503050406030204" pitchFamily="18" charset="0"/>
              </a:rPr>
              <a:t>,</a:t>
            </a:r>
          </a:p>
          <a:p>
            <a:pPr>
              <a:buFont typeface="Wingdings" panose="05000000000000000000" pitchFamily="2" charset="2"/>
              <a:buChar char="Ø"/>
            </a:pPr>
            <a:r>
              <a:rPr lang="en-IN" sz="1800" dirty="0">
                <a:solidFill>
                  <a:srgbClr val="00B0F0"/>
                </a:solidFill>
                <a:latin typeface="Cambria Math" panose="02040503050406030204" pitchFamily="18" charset="0"/>
                <a:ea typeface="Cambria Math" panose="02040503050406030204" pitchFamily="18" charset="0"/>
              </a:rPr>
              <a:t>find d by putting T(n)= (d</a:t>
            </a:r>
            <a:r>
              <a:rPr lang="en-IN" sz="1800" baseline="-25000" dirty="0">
                <a:solidFill>
                  <a:srgbClr val="00B0F0"/>
                </a:solidFill>
                <a:latin typeface="Cambria Math" panose="02040503050406030204" pitchFamily="18" charset="0"/>
                <a:ea typeface="Cambria Math" panose="02040503050406030204" pitchFamily="18" charset="0"/>
              </a:rPr>
              <a:t>0</a:t>
            </a:r>
            <a:r>
              <a:rPr lang="en-IN" sz="1800" dirty="0">
                <a:solidFill>
                  <a:srgbClr val="00B0F0"/>
                </a:solidFill>
                <a:latin typeface="Cambria Math" panose="02040503050406030204" pitchFamily="18" charset="0"/>
                <a:ea typeface="Cambria Math" panose="02040503050406030204" pitchFamily="18" charset="0"/>
              </a:rPr>
              <a:t>+d</a:t>
            </a:r>
            <a:r>
              <a:rPr lang="en-IN" sz="1800" baseline="-25000" dirty="0">
                <a:solidFill>
                  <a:srgbClr val="00B0F0"/>
                </a:solidFill>
                <a:latin typeface="Cambria Math" panose="02040503050406030204" pitchFamily="18" charset="0"/>
                <a:ea typeface="Cambria Math" panose="02040503050406030204" pitchFamily="18" charset="0"/>
              </a:rPr>
              <a:t>1</a:t>
            </a:r>
            <a:r>
              <a:rPr lang="en-IN" sz="1800" dirty="0">
                <a:solidFill>
                  <a:srgbClr val="00B0F0"/>
                </a:solidFill>
                <a:latin typeface="Cambria Math" panose="02040503050406030204" pitchFamily="18" charset="0"/>
                <a:ea typeface="Cambria Math" panose="02040503050406030204" pitchFamily="18" charset="0"/>
              </a:rPr>
              <a:t>n) a</a:t>
            </a:r>
            <a:r>
              <a:rPr lang="en-IN" sz="1800" baseline="30000" dirty="0">
                <a:solidFill>
                  <a:srgbClr val="00B0F0"/>
                </a:solidFill>
                <a:latin typeface="Cambria Math" panose="02040503050406030204" pitchFamily="18" charset="0"/>
                <a:ea typeface="Cambria Math" panose="02040503050406030204" pitchFamily="18" charset="0"/>
              </a:rPr>
              <a:t>n </a:t>
            </a:r>
            <a:r>
              <a:rPr lang="en-IN" sz="1800" dirty="0">
                <a:solidFill>
                  <a:srgbClr val="00B0F0"/>
                </a:solidFill>
                <a:latin typeface="Cambria Math" panose="02040503050406030204" pitchFamily="18" charset="0"/>
                <a:ea typeface="Cambria Math" panose="02040503050406030204" pitchFamily="18" charset="0"/>
              </a:rPr>
              <a:t>if f(n) contain 1 order polynomial</a:t>
            </a:r>
          </a:p>
          <a:p>
            <a:pPr marL="0" indent="0">
              <a:buNone/>
            </a:pPr>
            <a:r>
              <a:rPr lang="en-IN" dirty="0"/>
              <a:t>  </a:t>
            </a:r>
            <a:r>
              <a:rPr lang="en-IN" sz="2100" dirty="0">
                <a:latin typeface="Cambria Math" panose="02040503050406030204" pitchFamily="18" charset="0"/>
                <a:ea typeface="Cambria Math" panose="02040503050406030204" pitchFamily="18" charset="0"/>
              </a:rPr>
              <a:t>Case3: (b) if a is a characteristic root</a:t>
            </a:r>
          </a:p>
          <a:p>
            <a:pPr>
              <a:buFont typeface="Wingdings" panose="05000000000000000000" pitchFamily="2" charset="2"/>
              <a:buChar char="Ø"/>
            </a:pPr>
            <a:r>
              <a:rPr lang="en-IN" sz="1700" dirty="0">
                <a:solidFill>
                  <a:srgbClr val="00B050"/>
                </a:solidFill>
                <a:latin typeface="Cambria Math" panose="02040503050406030204" pitchFamily="18" charset="0"/>
                <a:ea typeface="Cambria Math" panose="02040503050406030204" pitchFamily="18" charset="0"/>
              </a:rPr>
              <a:t>find d by putting T(n)=</a:t>
            </a:r>
            <a:r>
              <a:rPr lang="en-IN" sz="1700" dirty="0" err="1">
                <a:solidFill>
                  <a:srgbClr val="FF0000"/>
                </a:solidFill>
                <a:latin typeface="Cambria Math" panose="02040503050406030204" pitchFamily="18" charset="0"/>
                <a:ea typeface="Cambria Math" panose="02040503050406030204" pitchFamily="18" charset="0"/>
              </a:rPr>
              <a:t>n</a:t>
            </a:r>
            <a:r>
              <a:rPr lang="en-IN" sz="1700" baseline="30000" dirty="0" err="1">
                <a:solidFill>
                  <a:srgbClr val="FF0000"/>
                </a:solidFill>
                <a:latin typeface="Cambria Math" panose="02040503050406030204" pitchFamily="18" charset="0"/>
                <a:ea typeface="Cambria Math" panose="02040503050406030204" pitchFamily="18" charset="0"/>
              </a:rPr>
              <a:t>t</a:t>
            </a:r>
            <a:r>
              <a:rPr lang="en-IN" sz="1700" baseline="30000" dirty="0">
                <a:solidFill>
                  <a:srgbClr val="FF0000"/>
                </a:solidFill>
                <a:latin typeface="Cambria Math" panose="02040503050406030204" pitchFamily="18" charset="0"/>
                <a:ea typeface="Cambria Math" panose="02040503050406030204" pitchFamily="18" charset="0"/>
              </a:rPr>
              <a:t> </a:t>
            </a:r>
            <a:r>
              <a:rPr lang="en-IN" sz="1700" dirty="0">
                <a:solidFill>
                  <a:srgbClr val="00B050"/>
                </a:solidFill>
                <a:latin typeface="Cambria Math" panose="02040503050406030204" pitchFamily="18" charset="0"/>
                <a:ea typeface="Cambria Math" panose="02040503050406030204" pitchFamily="18" charset="0"/>
              </a:rPr>
              <a:t>*d</a:t>
            </a:r>
            <a:r>
              <a:rPr lang="en-IN" sz="1700" baseline="-25000" dirty="0">
                <a:solidFill>
                  <a:srgbClr val="00B050"/>
                </a:solidFill>
                <a:latin typeface="Cambria Math" panose="02040503050406030204" pitchFamily="18" charset="0"/>
                <a:ea typeface="Cambria Math" panose="02040503050406030204" pitchFamily="18" charset="0"/>
              </a:rPr>
              <a:t>0</a:t>
            </a:r>
            <a:r>
              <a:rPr lang="en-IN" sz="1700" dirty="0">
                <a:solidFill>
                  <a:srgbClr val="00B050"/>
                </a:solidFill>
                <a:latin typeface="Cambria Math" panose="02040503050406030204" pitchFamily="18" charset="0"/>
                <a:ea typeface="Cambria Math" panose="02040503050406030204" pitchFamily="18" charset="0"/>
              </a:rPr>
              <a:t>*a</a:t>
            </a:r>
            <a:r>
              <a:rPr lang="en-IN" sz="1700" baseline="30000" dirty="0">
                <a:solidFill>
                  <a:srgbClr val="00B050"/>
                </a:solidFill>
                <a:latin typeface="Cambria Math" panose="02040503050406030204" pitchFamily="18" charset="0"/>
                <a:ea typeface="Cambria Math" panose="02040503050406030204" pitchFamily="18" charset="0"/>
              </a:rPr>
              <a:t>n</a:t>
            </a:r>
            <a:r>
              <a:rPr lang="en-IN" sz="1700" dirty="0">
                <a:solidFill>
                  <a:srgbClr val="00B050"/>
                </a:solidFill>
                <a:latin typeface="Cambria Math" panose="02040503050406030204" pitchFamily="18" charset="0"/>
                <a:ea typeface="Cambria Math" panose="02040503050406030204" pitchFamily="18" charset="0"/>
              </a:rPr>
              <a:t>,</a:t>
            </a:r>
          </a:p>
          <a:p>
            <a:pPr>
              <a:buFont typeface="Wingdings" panose="05000000000000000000" pitchFamily="2" charset="2"/>
              <a:buChar char="Ø"/>
            </a:pPr>
            <a:r>
              <a:rPr lang="en-IN" sz="1700" dirty="0">
                <a:solidFill>
                  <a:srgbClr val="00B0F0"/>
                </a:solidFill>
                <a:latin typeface="Cambria Math" panose="02040503050406030204" pitchFamily="18" charset="0"/>
                <a:ea typeface="Cambria Math" panose="02040503050406030204" pitchFamily="18" charset="0"/>
              </a:rPr>
              <a:t>find d by putting T(n)= </a:t>
            </a:r>
            <a:r>
              <a:rPr lang="en-IN" sz="1700" dirty="0" err="1">
                <a:solidFill>
                  <a:srgbClr val="FF0000"/>
                </a:solidFill>
                <a:latin typeface="Cambria Math" panose="02040503050406030204" pitchFamily="18" charset="0"/>
                <a:ea typeface="Cambria Math" panose="02040503050406030204" pitchFamily="18" charset="0"/>
              </a:rPr>
              <a:t>n</a:t>
            </a:r>
            <a:r>
              <a:rPr lang="en-IN" sz="1700" baseline="30000" dirty="0" err="1">
                <a:solidFill>
                  <a:srgbClr val="FF0000"/>
                </a:solidFill>
                <a:latin typeface="Cambria Math" panose="02040503050406030204" pitchFamily="18" charset="0"/>
                <a:ea typeface="Cambria Math" panose="02040503050406030204" pitchFamily="18" charset="0"/>
              </a:rPr>
              <a:t>t</a:t>
            </a:r>
            <a:r>
              <a:rPr lang="en-IN" sz="1700" baseline="30000" dirty="0">
                <a:solidFill>
                  <a:srgbClr val="FF0000"/>
                </a:solidFill>
                <a:latin typeface="Cambria Math" panose="02040503050406030204" pitchFamily="18" charset="0"/>
                <a:ea typeface="Cambria Math" panose="02040503050406030204" pitchFamily="18" charset="0"/>
              </a:rPr>
              <a:t> </a:t>
            </a:r>
            <a:r>
              <a:rPr lang="en-IN" sz="1700" dirty="0">
                <a:solidFill>
                  <a:srgbClr val="00B0F0"/>
                </a:solidFill>
                <a:latin typeface="Cambria Math" panose="02040503050406030204" pitchFamily="18" charset="0"/>
                <a:ea typeface="Cambria Math" panose="02040503050406030204" pitchFamily="18" charset="0"/>
              </a:rPr>
              <a:t>(d</a:t>
            </a:r>
            <a:r>
              <a:rPr lang="en-IN" sz="1700" baseline="-25000" dirty="0">
                <a:solidFill>
                  <a:srgbClr val="00B0F0"/>
                </a:solidFill>
                <a:latin typeface="Cambria Math" panose="02040503050406030204" pitchFamily="18" charset="0"/>
                <a:ea typeface="Cambria Math" panose="02040503050406030204" pitchFamily="18" charset="0"/>
              </a:rPr>
              <a:t>0</a:t>
            </a:r>
            <a:r>
              <a:rPr lang="en-IN" sz="1700" dirty="0">
                <a:solidFill>
                  <a:srgbClr val="00B0F0"/>
                </a:solidFill>
                <a:latin typeface="Cambria Math" panose="02040503050406030204" pitchFamily="18" charset="0"/>
                <a:ea typeface="Cambria Math" panose="02040503050406030204" pitchFamily="18" charset="0"/>
              </a:rPr>
              <a:t>+d</a:t>
            </a:r>
            <a:r>
              <a:rPr lang="en-IN" sz="1700" baseline="-25000" dirty="0">
                <a:solidFill>
                  <a:srgbClr val="00B0F0"/>
                </a:solidFill>
                <a:latin typeface="Cambria Math" panose="02040503050406030204" pitchFamily="18" charset="0"/>
                <a:ea typeface="Cambria Math" panose="02040503050406030204" pitchFamily="18" charset="0"/>
              </a:rPr>
              <a:t>1</a:t>
            </a:r>
            <a:r>
              <a:rPr lang="en-IN" sz="1700" dirty="0">
                <a:solidFill>
                  <a:srgbClr val="00B0F0"/>
                </a:solidFill>
                <a:latin typeface="Cambria Math" panose="02040503050406030204" pitchFamily="18" charset="0"/>
                <a:ea typeface="Cambria Math" panose="02040503050406030204" pitchFamily="18" charset="0"/>
              </a:rPr>
              <a:t>n) a</a:t>
            </a:r>
            <a:r>
              <a:rPr lang="en-IN" sz="1700" baseline="30000" dirty="0">
                <a:solidFill>
                  <a:srgbClr val="00B0F0"/>
                </a:solidFill>
                <a:latin typeface="Cambria Math" panose="02040503050406030204" pitchFamily="18" charset="0"/>
                <a:ea typeface="Cambria Math" panose="02040503050406030204" pitchFamily="18" charset="0"/>
              </a:rPr>
              <a:t>n </a:t>
            </a:r>
            <a:r>
              <a:rPr lang="en-IN" sz="1700" dirty="0">
                <a:solidFill>
                  <a:srgbClr val="00B0F0"/>
                </a:solidFill>
                <a:latin typeface="Cambria Math" panose="02040503050406030204" pitchFamily="18" charset="0"/>
                <a:ea typeface="Cambria Math" panose="02040503050406030204" pitchFamily="18" charset="0"/>
              </a:rPr>
              <a:t>if f(n) contain 1 order polynomial</a:t>
            </a:r>
          </a:p>
          <a:p>
            <a:pPr>
              <a:buFont typeface="Wingdings" panose="05000000000000000000" pitchFamily="2" charset="2"/>
              <a:buChar char="Ø"/>
            </a:pPr>
            <a:r>
              <a:rPr lang="en-IN" sz="1700" dirty="0">
                <a:solidFill>
                  <a:srgbClr val="FF0000"/>
                </a:solidFill>
                <a:latin typeface="Cambria Math" panose="02040503050406030204" pitchFamily="18" charset="0"/>
                <a:ea typeface="Cambria Math" panose="02040503050406030204" pitchFamily="18" charset="0"/>
              </a:rPr>
              <a:t>t </a:t>
            </a:r>
            <a:r>
              <a:rPr lang="en-IN" sz="1700" dirty="0">
                <a:solidFill>
                  <a:srgbClr val="00B0F0"/>
                </a:solidFill>
                <a:latin typeface="Cambria Math" panose="02040503050406030204" pitchFamily="18" charset="0"/>
                <a:ea typeface="Cambria Math" panose="02040503050406030204" pitchFamily="18" charset="0"/>
              </a:rPr>
              <a:t>is the multiplicity of the root, i.e. 3, 3 are the root =&gt; n</a:t>
            </a:r>
            <a:r>
              <a:rPr lang="en-IN" sz="1700" baseline="30000" dirty="0">
                <a:solidFill>
                  <a:srgbClr val="00B0F0"/>
                </a:solidFill>
                <a:latin typeface="Cambria Math" panose="02040503050406030204" pitchFamily="18" charset="0"/>
                <a:ea typeface="Cambria Math" panose="02040503050406030204" pitchFamily="18" charset="0"/>
              </a:rPr>
              <a:t>2</a:t>
            </a:r>
            <a:r>
              <a:rPr lang="en-IN" sz="1700" dirty="0">
                <a:solidFill>
                  <a:srgbClr val="00B0F0"/>
                </a:solidFill>
                <a:latin typeface="Cambria Math" panose="02040503050406030204" pitchFamily="18" charset="0"/>
                <a:ea typeface="Cambria Math" panose="02040503050406030204" pitchFamily="18" charset="0"/>
              </a:rPr>
              <a:t> as 3 repeat 2 times so value of t=2</a:t>
            </a:r>
          </a:p>
          <a:p>
            <a:pPr marL="0" indent="0">
              <a:buNone/>
            </a:pPr>
            <a:endParaRPr lang="en-IN" dirty="0"/>
          </a:p>
        </p:txBody>
      </p:sp>
      <p:sp>
        <p:nvSpPr>
          <p:cNvPr id="4" name="Slide Number Placeholder 3">
            <a:extLst>
              <a:ext uri="{FF2B5EF4-FFF2-40B4-BE49-F238E27FC236}">
                <a16:creationId xmlns:a16="http://schemas.microsoft.com/office/drawing/2014/main" id="{E4819E14-E7DC-4402-B0E9-3064A57D3D1C}"/>
              </a:ext>
            </a:extLst>
          </p:cNvPr>
          <p:cNvSpPr>
            <a:spLocks noGrp="1"/>
          </p:cNvSpPr>
          <p:nvPr>
            <p:ph type="sldNum" sz="quarter" idx="12"/>
          </p:nvPr>
        </p:nvSpPr>
        <p:spPr/>
        <p:txBody>
          <a:bodyPr/>
          <a:lstStyle/>
          <a:p>
            <a:fld id="{5EA8BEFB-AE5B-48F9-BBAD-B489CDE48C80}" type="slidenum">
              <a:rPr lang="en-US" smtClean="0"/>
              <a:pPr/>
              <a:t>25</a:t>
            </a:fld>
            <a:endParaRPr lang="en-US" dirty="0"/>
          </a:p>
        </p:txBody>
      </p:sp>
      <p:sp>
        <p:nvSpPr>
          <p:cNvPr id="5" name="TextBox 4">
            <a:extLst>
              <a:ext uri="{FF2B5EF4-FFF2-40B4-BE49-F238E27FC236}">
                <a16:creationId xmlns:a16="http://schemas.microsoft.com/office/drawing/2014/main" id="{37A408E8-E25A-4E58-B522-E95C1C8892FE}"/>
              </a:ext>
            </a:extLst>
          </p:cNvPr>
          <p:cNvSpPr txBox="1"/>
          <p:nvPr/>
        </p:nvSpPr>
        <p:spPr>
          <a:xfrm>
            <a:off x="7010400" y="1066800"/>
            <a:ext cx="4775200" cy="3970318"/>
          </a:xfrm>
          <a:prstGeom prst="rect">
            <a:avLst/>
          </a:prstGeom>
          <a:noFill/>
        </p:spPr>
        <p:txBody>
          <a:bodyPr wrap="square" rtlCol="0">
            <a:spAutoFit/>
          </a:bodyPr>
          <a:lstStyle/>
          <a:p>
            <a:r>
              <a:rPr lang="en-IN" sz="1800" b="1" dirty="0">
                <a:latin typeface="Cambria Math" panose="02040503050406030204" pitchFamily="18" charset="0"/>
                <a:ea typeface="Cambria Math" panose="02040503050406030204" pitchFamily="18" charset="0"/>
              </a:rPr>
              <a:t> T(n)</a:t>
            </a:r>
            <a:r>
              <a:rPr lang="en-IN" b="1" dirty="0">
                <a:latin typeface="Cambria Math" panose="02040503050406030204" pitchFamily="18" charset="0"/>
                <a:ea typeface="Cambria Math" panose="02040503050406030204" pitchFamily="18" charset="0"/>
              </a:rPr>
              <a:t>-8T(n-1) =5 * 2</a:t>
            </a:r>
            <a:r>
              <a:rPr lang="en-IN" b="1" baseline="30000" dirty="0">
                <a:latin typeface="Cambria Math" panose="02040503050406030204" pitchFamily="18" charset="0"/>
                <a:ea typeface="Cambria Math" panose="02040503050406030204" pitchFamily="18" charset="0"/>
              </a:rPr>
              <a:t>n</a:t>
            </a:r>
          </a:p>
          <a:p>
            <a:endParaRPr lang="en-IN" b="1" dirty="0">
              <a:latin typeface="Cambria Math" panose="02040503050406030204" pitchFamily="18" charset="0"/>
              <a:ea typeface="Cambria Math" panose="02040503050406030204" pitchFamily="18" charset="0"/>
            </a:endParaRPr>
          </a:p>
          <a:p>
            <a:r>
              <a:rPr lang="en-IN" b="1" dirty="0">
                <a:latin typeface="Cambria Math" panose="02040503050406030204" pitchFamily="18" charset="0"/>
                <a:ea typeface="Cambria Math" panose="02040503050406030204" pitchFamily="18" charset="0"/>
              </a:rPr>
              <a:t>   </a:t>
            </a:r>
            <a:r>
              <a:rPr lang="en-IN" dirty="0">
                <a:latin typeface="Cambria Math" panose="02040503050406030204" pitchFamily="18" charset="0"/>
                <a:ea typeface="Cambria Math" panose="02040503050406030204" pitchFamily="18" charset="0"/>
              </a:rPr>
              <a:t>=&gt; To calculate Particular solution </a:t>
            </a:r>
          </a:p>
          <a:p>
            <a:r>
              <a:rPr lang="en-IN" b="1" dirty="0">
                <a:latin typeface="Cambria Math" panose="02040503050406030204" pitchFamily="18" charset="0"/>
                <a:ea typeface="Cambria Math" panose="02040503050406030204" pitchFamily="18" charset="0"/>
              </a:rPr>
              <a:t>   </a:t>
            </a:r>
          </a:p>
          <a:p>
            <a:r>
              <a:rPr lang="en-IN" b="1" dirty="0">
                <a:latin typeface="Cambria Math" panose="02040503050406030204" pitchFamily="18" charset="0"/>
                <a:ea typeface="Cambria Math" panose="02040503050406030204" pitchFamily="18" charset="0"/>
              </a:rPr>
              <a:t>=&gt; </a:t>
            </a:r>
            <a:r>
              <a:rPr lang="en-IN" dirty="0">
                <a:latin typeface="Cambria Math" panose="02040503050406030204" pitchFamily="18" charset="0"/>
                <a:ea typeface="Cambria Math" panose="02040503050406030204" pitchFamily="18" charset="0"/>
              </a:rPr>
              <a:t>put T(n)=</a:t>
            </a:r>
            <a:r>
              <a:rPr lang="en-IN" sz="1800" dirty="0">
                <a:latin typeface="Cambria Math" panose="02040503050406030204" pitchFamily="18" charset="0"/>
                <a:ea typeface="Cambria Math" panose="02040503050406030204" pitchFamily="18" charset="0"/>
              </a:rPr>
              <a:t> da</a:t>
            </a:r>
            <a:r>
              <a:rPr lang="en-IN" sz="1800" baseline="30000" dirty="0">
                <a:latin typeface="Cambria Math" panose="02040503050406030204" pitchFamily="18" charset="0"/>
                <a:ea typeface="Cambria Math" panose="02040503050406030204" pitchFamily="18" charset="0"/>
              </a:rPr>
              <a:t>n      {a=2}</a:t>
            </a:r>
          </a:p>
          <a:p>
            <a:r>
              <a:rPr lang="en-IN" dirty="0">
                <a:latin typeface="Cambria Math" panose="02040503050406030204" pitchFamily="18" charset="0"/>
                <a:ea typeface="Cambria Math" panose="02040503050406030204" pitchFamily="18" charset="0"/>
              </a:rPr>
              <a:t>=&gt; </a:t>
            </a:r>
            <a:r>
              <a:rPr lang="en-IN" sz="1800" dirty="0">
                <a:latin typeface="Cambria Math" panose="02040503050406030204" pitchFamily="18" charset="0"/>
                <a:ea typeface="Cambria Math" panose="02040503050406030204" pitchFamily="18" charset="0"/>
              </a:rPr>
              <a:t>d*2</a:t>
            </a:r>
            <a:r>
              <a:rPr lang="en-IN" sz="1800" baseline="30000" dirty="0">
                <a:latin typeface="Cambria Math" panose="02040503050406030204" pitchFamily="18" charset="0"/>
                <a:ea typeface="Cambria Math" panose="02040503050406030204" pitchFamily="18" charset="0"/>
              </a:rPr>
              <a:t>n</a:t>
            </a:r>
            <a:r>
              <a:rPr lang="en-IN" sz="1800" dirty="0">
                <a:latin typeface="Cambria Math" panose="02040503050406030204" pitchFamily="18" charset="0"/>
                <a:ea typeface="Cambria Math" panose="02040503050406030204" pitchFamily="18" charset="0"/>
              </a:rPr>
              <a:t> – 8*d2</a:t>
            </a:r>
            <a:r>
              <a:rPr lang="en-IN" sz="1800" baseline="30000" dirty="0">
                <a:latin typeface="Cambria Math" panose="02040503050406030204" pitchFamily="18" charset="0"/>
                <a:ea typeface="Cambria Math" panose="02040503050406030204" pitchFamily="18" charset="0"/>
              </a:rPr>
              <a:t>n-1</a:t>
            </a:r>
            <a:r>
              <a:rPr lang="en-IN" sz="1800" dirty="0">
                <a:latin typeface="Cambria Math" panose="02040503050406030204" pitchFamily="18" charset="0"/>
                <a:ea typeface="Cambria Math" panose="02040503050406030204" pitchFamily="18" charset="0"/>
              </a:rPr>
              <a:t>=5*2</a:t>
            </a:r>
            <a:r>
              <a:rPr lang="en-IN" sz="1800" baseline="30000" dirty="0">
                <a:latin typeface="Cambria Math" panose="02040503050406030204" pitchFamily="18" charset="0"/>
                <a:ea typeface="Cambria Math" panose="02040503050406030204" pitchFamily="18" charset="0"/>
              </a:rPr>
              <a:t>n</a:t>
            </a:r>
            <a:endParaRPr lang="en-IN" baseline="30000" dirty="0">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=&gt; </a:t>
            </a:r>
            <a:r>
              <a:rPr lang="en-IN" sz="1800" dirty="0">
                <a:latin typeface="Cambria Math" panose="02040503050406030204" pitchFamily="18" charset="0"/>
                <a:ea typeface="Cambria Math" panose="02040503050406030204" pitchFamily="18" charset="0"/>
              </a:rPr>
              <a:t>d*2</a:t>
            </a:r>
            <a:r>
              <a:rPr lang="en-IN" sz="1800" baseline="30000" dirty="0">
                <a:latin typeface="Cambria Math" panose="02040503050406030204" pitchFamily="18" charset="0"/>
                <a:ea typeface="Cambria Math" panose="02040503050406030204" pitchFamily="18" charset="0"/>
              </a:rPr>
              <a:t>n</a:t>
            </a:r>
            <a:r>
              <a:rPr lang="en-IN" sz="1800" dirty="0">
                <a:latin typeface="Cambria Math" panose="02040503050406030204" pitchFamily="18" charset="0"/>
                <a:ea typeface="Cambria Math" panose="02040503050406030204" pitchFamily="18" charset="0"/>
              </a:rPr>
              <a:t> – 4*2</a:t>
            </a:r>
            <a:r>
              <a:rPr lang="en-IN" sz="1800" baseline="30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*d2</a:t>
            </a:r>
            <a:r>
              <a:rPr lang="en-IN" sz="1800" baseline="30000" dirty="0">
                <a:latin typeface="Cambria Math" panose="02040503050406030204" pitchFamily="18" charset="0"/>
                <a:ea typeface="Cambria Math" panose="02040503050406030204" pitchFamily="18" charset="0"/>
              </a:rPr>
              <a:t>n-1</a:t>
            </a:r>
            <a:r>
              <a:rPr lang="en-IN" sz="1800" dirty="0">
                <a:latin typeface="Cambria Math" panose="02040503050406030204" pitchFamily="18" charset="0"/>
                <a:ea typeface="Cambria Math" panose="02040503050406030204" pitchFamily="18" charset="0"/>
              </a:rPr>
              <a:t>=5*2</a:t>
            </a:r>
            <a:r>
              <a:rPr lang="en-IN" sz="1800" baseline="30000" dirty="0">
                <a:latin typeface="Cambria Math" panose="02040503050406030204" pitchFamily="18" charset="0"/>
                <a:ea typeface="Cambria Math" panose="02040503050406030204" pitchFamily="18" charset="0"/>
              </a:rPr>
              <a:t>n</a:t>
            </a:r>
          </a:p>
          <a:p>
            <a:r>
              <a:rPr lang="en-IN" dirty="0">
                <a:solidFill>
                  <a:srgbClr val="C00000"/>
                </a:solidFill>
                <a:latin typeface="Cambria Math" panose="02040503050406030204" pitchFamily="18" charset="0"/>
                <a:ea typeface="Cambria Math" panose="02040503050406030204" pitchFamily="18" charset="0"/>
              </a:rPr>
              <a:t>=&gt; </a:t>
            </a:r>
            <a:r>
              <a:rPr lang="en-IN" sz="1800" dirty="0">
                <a:latin typeface="Cambria Math" panose="02040503050406030204" pitchFamily="18" charset="0"/>
                <a:ea typeface="Cambria Math" panose="02040503050406030204" pitchFamily="18" charset="0"/>
              </a:rPr>
              <a:t>d*2</a:t>
            </a:r>
            <a:r>
              <a:rPr lang="en-IN" sz="1800" baseline="30000" dirty="0">
                <a:latin typeface="Cambria Math" panose="02040503050406030204" pitchFamily="18" charset="0"/>
                <a:ea typeface="Cambria Math" panose="02040503050406030204" pitchFamily="18" charset="0"/>
              </a:rPr>
              <a:t>n</a:t>
            </a:r>
            <a:r>
              <a:rPr lang="en-IN" sz="1800" dirty="0">
                <a:latin typeface="Cambria Math" panose="02040503050406030204" pitchFamily="18" charset="0"/>
                <a:ea typeface="Cambria Math" panose="02040503050406030204" pitchFamily="18" charset="0"/>
              </a:rPr>
              <a:t> – 4*d2</a:t>
            </a:r>
            <a:r>
              <a:rPr lang="en-IN" sz="1800" baseline="30000" dirty="0">
                <a:latin typeface="Cambria Math" panose="02040503050406030204" pitchFamily="18" charset="0"/>
                <a:ea typeface="Cambria Math" panose="02040503050406030204" pitchFamily="18" charset="0"/>
              </a:rPr>
              <a:t>n</a:t>
            </a:r>
            <a:r>
              <a:rPr lang="en-IN" sz="1800" dirty="0">
                <a:latin typeface="Cambria Math" panose="02040503050406030204" pitchFamily="18" charset="0"/>
                <a:ea typeface="Cambria Math" panose="02040503050406030204" pitchFamily="18" charset="0"/>
              </a:rPr>
              <a:t>=5*2</a:t>
            </a:r>
            <a:r>
              <a:rPr lang="en-IN" sz="1800" baseline="30000" dirty="0">
                <a:latin typeface="Cambria Math" panose="02040503050406030204" pitchFamily="18" charset="0"/>
                <a:ea typeface="Cambria Math" panose="02040503050406030204" pitchFamily="18" charset="0"/>
              </a:rPr>
              <a:t>n</a:t>
            </a:r>
          </a:p>
          <a:p>
            <a:r>
              <a:rPr lang="en-IN" dirty="0">
                <a:solidFill>
                  <a:srgbClr val="C00000"/>
                </a:solidFill>
                <a:latin typeface="Cambria Math" panose="02040503050406030204" pitchFamily="18" charset="0"/>
                <a:ea typeface="Cambria Math" panose="02040503050406030204" pitchFamily="18" charset="0"/>
              </a:rPr>
              <a:t>=&gt;2</a:t>
            </a:r>
            <a:r>
              <a:rPr lang="en-IN" baseline="30000" dirty="0">
                <a:solidFill>
                  <a:srgbClr val="C00000"/>
                </a:solidFill>
                <a:latin typeface="Cambria Math" panose="02040503050406030204" pitchFamily="18" charset="0"/>
                <a:ea typeface="Cambria Math" panose="02040503050406030204" pitchFamily="18" charset="0"/>
              </a:rPr>
              <a:t>n</a:t>
            </a:r>
            <a:r>
              <a:rPr lang="en-IN" dirty="0">
                <a:solidFill>
                  <a:srgbClr val="C00000"/>
                </a:solidFill>
                <a:latin typeface="Cambria Math" panose="02040503050406030204" pitchFamily="18" charset="0"/>
                <a:ea typeface="Cambria Math" panose="02040503050406030204" pitchFamily="18" charset="0"/>
              </a:rPr>
              <a:t>(d-4d)=5*2</a:t>
            </a:r>
            <a:r>
              <a:rPr lang="en-IN" baseline="30000" dirty="0">
                <a:solidFill>
                  <a:srgbClr val="C00000"/>
                </a:solidFill>
                <a:latin typeface="Cambria Math" panose="02040503050406030204" pitchFamily="18" charset="0"/>
                <a:ea typeface="Cambria Math" panose="02040503050406030204" pitchFamily="18" charset="0"/>
              </a:rPr>
              <a:t>n</a:t>
            </a:r>
          </a:p>
          <a:p>
            <a:r>
              <a:rPr lang="en-IN" dirty="0">
                <a:solidFill>
                  <a:srgbClr val="C00000"/>
                </a:solidFill>
                <a:latin typeface="Cambria Math" panose="02040503050406030204" pitchFamily="18" charset="0"/>
                <a:ea typeface="Cambria Math" panose="02040503050406030204" pitchFamily="18" charset="0"/>
              </a:rPr>
              <a:t>=&gt; By comparing the coefficient of 2</a:t>
            </a:r>
            <a:r>
              <a:rPr lang="en-IN" baseline="30000" dirty="0">
                <a:solidFill>
                  <a:srgbClr val="C00000"/>
                </a:solidFill>
                <a:latin typeface="Cambria Math" panose="02040503050406030204" pitchFamily="18" charset="0"/>
                <a:ea typeface="Cambria Math" panose="02040503050406030204" pitchFamily="18" charset="0"/>
              </a:rPr>
              <a:t>n</a:t>
            </a:r>
            <a:endParaRPr lang="en-IN" dirty="0">
              <a:solidFill>
                <a:srgbClr val="C00000"/>
              </a:solidFill>
              <a:latin typeface="Cambria Math" panose="02040503050406030204" pitchFamily="18" charset="0"/>
              <a:ea typeface="Cambria Math" panose="02040503050406030204" pitchFamily="18" charset="0"/>
            </a:endParaRPr>
          </a:p>
          <a:p>
            <a:r>
              <a:rPr lang="en-IN" dirty="0">
                <a:latin typeface="Cambria Math" panose="02040503050406030204" pitchFamily="18" charset="0"/>
                <a:ea typeface="Cambria Math" panose="02040503050406030204" pitchFamily="18" charset="0"/>
              </a:rPr>
              <a:t>=&gt; d=-5/3</a:t>
            </a:r>
          </a:p>
          <a:p>
            <a:r>
              <a:rPr lang="en-IN" dirty="0">
                <a:latin typeface="Cambria Math" panose="02040503050406030204" pitchFamily="18" charset="0"/>
                <a:ea typeface="Cambria Math" panose="02040503050406030204" pitchFamily="18" charset="0"/>
              </a:rPr>
              <a:t>   Now put the value of d to get the solution</a:t>
            </a:r>
          </a:p>
          <a:p>
            <a:r>
              <a:rPr lang="en-IN" b="1" dirty="0">
                <a:latin typeface="Cambria Math" panose="02040503050406030204" pitchFamily="18" charset="0"/>
                <a:ea typeface="Cambria Math" panose="02040503050406030204" pitchFamily="18" charset="0"/>
              </a:rPr>
              <a:t>   T(n)</a:t>
            </a:r>
            <a:r>
              <a:rPr lang="en-IN" b="1" baseline="30000" dirty="0">
                <a:latin typeface="Cambria Math" panose="02040503050406030204" pitchFamily="18" charset="0"/>
                <a:ea typeface="Cambria Math" panose="02040503050406030204" pitchFamily="18" charset="0"/>
              </a:rPr>
              <a:t>p</a:t>
            </a:r>
            <a:r>
              <a:rPr lang="en-IN" b="1" dirty="0">
                <a:latin typeface="Cambria Math" panose="02040503050406030204" pitchFamily="18" charset="0"/>
                <a:ea typeface="Cambria Math" panose="02040503050406030204" pitchFamily="18" charset="0"/>
              </a:rPr>
              <a:t>=</a:t>
            </a:r>
            <a:r>
              <a:rPr lang="en-IN" sz="1800" dirty="0">
                <a:latin typeface="Cambria Math" panose="02040503050406030204" pitchFamily="18" charset="0"/>
                <a:ea typeface="Cambria Math" panose="02040503050406030204" pitchFamily="18" charset="0"/>
              </a:rPr>
              <a:t>da</a:t>
            </a:r>
            <a:r>
              <a:rPr lang="en-IN" sz="1800" baseline="30000" dirty="0">
                <a:latin typeface="Cambria Math" panose="02040503050406030204" pitchFamily="18" charset="0"/>
                <a:ea typeface="Cambria Math" panose="02040503050406030204" pitchFamily="18" charset="0"/>
              </a:rPr>
              <a:t>n</a:t>
            </a:r>
          </a:p>
          <a:p>
            <a:r>
              <a:rPr lang="en-IN" dirty="0">
                <a:latin typeface="Cambria Math" panose="02040503050406030204" pitchFamily="18" charset="0"/>
                <a:ea typeface="Cambria Math" panose="02040503050406030204" pitchFamily="18" charset="0"/>
              </a:rPr>
              <a:t>   </a:t>
            </a:r>
            <a:r>
              <a:rPr lang="en-IN" b="1" dirty="0">
                <a:latin typeface="Cambria Math" panose="02040503050406030204" pitchFamily="18" charset="0"/>
                <a:ea typeface="Cambria Math" panose="02040503050406030204" pitchFamily="18" charset="0"/>
              </a:rPr>
              <a:t>T(n)</a:t>
            </a:r>
            <a:r>
              <a:rPr lang="en-IN" b="1" baseline="30000" dirty="0">
                <a:latin typeface="Cambria Math" panose="02040503050406030204" pitchFamily="18" charset="0"/>
                <a:ea typeface="Cambria Math" panose="02040503050406030204" pitchFamily="18" charset="0"/>
              </a:rPr>
              <a:t>p</a:t>
            </a:r>
            <a:r>
              <a:rPr lang="en-IN" b="1" dirty="0">
                <a:latin typeface="Cambria Math" panose="02040503050406030204" pitchFamily="18" charset="0"/>
                <a:ea typeface="Cambria Math" panose="02040503050406030204" pitchFamily="18" charset="0"/>
              </a:rPr>
              <a:t>= -5/3*</a:t>
            </a:r>
            <a:r>
              <a:rPr lang="en-IN" sz="1800" b="1" dirty="0">
                <a:latin typeface="Cambria Math" panose="02040503050406030204" pitchFamily="18" charset="0"/>
                <a:ea typeface="Cambria Math" panose="02040503050406030204" pitchFamily="18" charset="0"/>
              </a:rPr>
              <a:t> </a:t>
            </a:r>
            <a:r>
              <a:rPr lang="en-IN" b="1" dirty="0">
                <a:latin typeface="Cambria Math" panose="02040503050406030204" pitchFamily="18" charset="0"/>
                <a:ea typeface="Cambria Math" panose="02040503050406030204" pitchFamily="18" charset="0"/>
              </a:rPr>
              <a:t>2</a:t>
            </a:r>
            <a:r>
              <a:rPr lang="en-IN" sz="1800" b="1" baseline="30000" dirty="0">
                <a:latin typeface="Cambria Math" panose="02040503050406030204" pitchFamily="18" charset="0"/>
                <a:ea typeface="Cambria Math" panose="02040503050406030204" pitchFamily="18" charset="0"/>
              </a:rPr>
              <a:t>n</a:t>
            </a:r>
            <a:endParaRPr lang="en-IN" b="1" baseline="30000" dirty="0">
              <a:solidFill>
                <a:srgbClr val="C00000"/>
              </a:solidFill>
            </a:endParaRPr>
          </a:p>
        </p:txBody>
      </p:sp>
    </p:spTree>
    <p:extLst>
      <p:ext uri="{BB962C8B-B14F-4D97-AF65-F5344CB8AC3E}">
        <p14:creationId xmlns:p14="http://schemas.microsoft.com/office/powerpoint/2010/main" val="2647220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18ED3-C213-4A44-B099-56D1673E600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7C4AA76-3684-44C8-8905-7822BE99A016}"/>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T(n)-7T(n-1)+12T(n-2) = 4</a:t>
            </a:r>
            <a:r>
              <a:rPr lang="en-US" baseline="30000" dirty="0">
                <a:latin typeface="Cambria" panose="02040503050406030204" pitchFamily="18" charset="0"/>
                <a:ea typeface="Cambria" panose="02040503050406030204" pitchFamily="18" charset="0"/>
              </a:rPr>
              <a:t>n</a:t>
            </a:r>
          </a:p>
          <a:p>
            <a:r>
              <a:rPr lang="en-US" dirty="0">
                <a:latin typeface="Cambria" panose="02040503050406030204" pitchFamily="18" charset="0"/>
                <a:ea typeface="Cambria" panose="02040503050406030204" pitchFamily="18" charset="0"/>
              </a:rPr>
              <a:t>T(n)-7T(n-1)+12T(n-2) = n.4</a:t>
            </a:r>
            <a:r>
              <a:rPr lang="en-US" baseline="30000" dirty="0">
                <a:latin typeface="Cambria" panose="02040503050406030204" pitchFamily="18" charset="0"/>
                <a:ea typeface="Cambria" panose="02040503050406030204" pitchFamily="18" charset="0"/>
              </a:rPr>
              <a:t>n</a:t>
            </a:r>
          </a:p>
          <a:p>
            <a:endParaRPr lang="en-IN" baseline="30000" dirty="0">
              <a:latin typeface="Cambria" panose="02040503050406030204" pitchFamily="18" charset="0"/>
              <a:ea typeface="Cambria" panose="02040503050406030204" pitchFamily="18" charset="0"/>
            </a:endParaRPr>
          </a:p>
        </p:txBody>
      </p:sp>
      <p:sp>
        <p:nvSpPr>
          <p:cNvPr id="4" name="Slide Number Placeholder 3">
            <a:extLst>
              <a:ext uri="{FF2B5EF4-FFF2-40B4-BE49-F238E27FC236}">
                <a16:creationId xmlns:a16="http://schemas.microsoft.com/office/drawing/2014/main" id="{017F4A22-7BE4-4B26-9E80-B51564E49FB1}"/>
              </a:ext>
            </a:extLst>
          </p:cNvPr>
          <p:cNvSpPr>
            <a:spLocks noGrp="1"/>
          </p:cNvSpPr>
          <p:nvPr>
            <p:ph type="sldNum" sz="quarter" idx="12"/>
          </p:nvPr>
        </p:nvSpPr>
        <p:spPr/>
        <p:txBody>
          <a:bodyPr/>
          <a:lstStyle/>
          <a:p>
            <a:fld id="{5EA8BEFB-AE5B-48F9-BBAD-B489CDE48C80}" type="slidenum">
              <a:rPr lang="en-US" smtClean="0"/>
              <a:pPr/>
              <a:t>26</a:t>
            </a:fld>
            <a:endParaRPr lang="en-US" dirty="0"/>
          </a:p>
        </p:txBody>
      </p:sp>
    </p:spTree>
    <p:extLst>
      <p:ext uri="{BB962C8B-B14F-4D97-AF65-F5344CB8AC3E}">
        <p14:creationId xmlns:p14="http://schemas.microsoft.com/office/powerpoint/2010/main" val="29507695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7243-B447-4E38-BF9F-42E44E961B39}"/>
              </a:ext>
            </a:extLst>
          </p:cNvPr>
          <p:cNvSpPr>
            <a:spLocks noGrp="1"/>
          </p:cNvSpPr>
          <p:nvPr>
            <p:ph type="title"/>
          </p:nvPr>
        </p:nvSpPr>
        <p:spPr/>
        <p:txBody>
          <a:bodyPr>
            <a:normAutofit/>
          </a:bodyPr>
          <a:lstStyle/>
          <a:p>
            <a:r>
              <a:rPr lang="en-IN" sz="2800" dirty="0"/>
              <a:t>Find the total solution: </a:t>
            </a:r>
            <a:r>
              <a:rPr lang="en-IN" sz="2800" dirty="0">
                <a:latin typeface="Cambria Math" panose="02040503050406030204" pitchFamily="18" charset="0"/>
                <a:ea typeface="Cambria Math" panose="02040503050406030204" pitchFamily="18" charset="0"/>
              </a:rPr>
              <a:t> </a:t>
            </a:r>
            <a:r>
              <a:rPr lang="en-IN" sz="2800" b="1" dirty="0">
                <a:latin typeface="Cambria Math" panose="02040503050406030204" pitchFamily="18" charset="0"/>
                <a:ea typeface="Cambria Math" panose="02040503050406030204" pitchFamily="18" charset="0"/>
              </a:rPr>
              <a:t>T(n)-8T(n-1) =14n+5</a:t>
            </a:r>
            <a:endParaRPr lang="en-IN" sz="2800" dirty="0"/>
          </a:p>
        </p:txBody>
      </p:sp>
      <p:sp>
        <p:nvSpPr>
          <p:cNvPr id="3" name="Content Placeholder 2">
            <a:extLst>
              <a:ext uri="{FF2B5EF4-FFF2-40B4-BE49-F238E27FC236}">
                <a16:creationId xmlns:a16="http://schemas.microsoft.com/office/drawing/2014/main" id="{7C7CF210-92E8-4AAE-AF83-02BD4193A338}"/>
              </a:ext>
            </a:extLst>
          </p:cNvPr>
          <p:cNvSpPr>
            <a:spLocks noGrp="1"/>
          </p:cNvSpPr>
          <p:nvPr>
            <p:ph idx="1"/>
          </p:nvPr>
        </p:nvSpPr>
        <p:spPr>
          <a:xfrm>
            <a:off x="762000" y="914401"/>
            <a:ext cx="4622800" cy="2590799"/>
          </a:xfrm>
        </p:spPr>
        <p:txBody>
          <a:bodyPr>
            <a:normAutofit/>
          </a:bodyPr>
          <a:lstStyle/>
          <a:p>
            <a:pPr marL="0" indent="0">
              <a:buNone/>
            </a:pPr>
            <a:r>
              <a:rPr lang="en-IN" sz="1800" dirty="0">
                <a:latin typeface="Cambria Math" panose="02040503050406030204" pitchFamily="18" charset="0"/>
                <a:ea typeface="Cambria Math" panose="02040503050406030204" pitchFamily="18" charset="0"/>
              </a:rPr>
              <a:t>1.   Homogeneous solution(T(n)</a:t>
            </a:r>
            <a:r>
              <a:rPr lang="en-IN" sz="1800" baseline="30000" dirty="0">
                <a:latin typeface="Cambria Math" panose="02040503050406030204" pitchFamily="18" charset="0"/>
                <a:ea typeface="Cambria Math" panose="02040503050406030204" pitchFamily="18" charset="0"/>
              </a:rPr>
              <a:t>h</a:t>
            </a:r>
            <a:r>
              <a:rPr lang="en-IN" sz="1800" dirty="0">
                <a:latin typeface="Cambria Math" panose="02040503050406030204" pitchFamily="18" charset="0"/>
                <a:ea typeface="Cambria Math" panose="02040503050406030204" pitchFamily="18" charset="0"/>
              </a:rPr>
              <a:t>)</a:t>
            </a:r>
          </a:p>
          <a:p>
            <a:pPr marL="0" indent="0">
              <a:buNone/>
            </a:pPr>
            <a:r>
              <a:rPr lang="en-IN" sz="1800" b="1" dirty="0">
                <a:latin typeface="Cambria Math" panose="02040503050406030204" pitchFamily="18" charset="0"/>
                <a:ea typeface="Cambria Math" panose="02040503050406030204" pitchFamily="18" charset="0"/>
              </a:rPr>
              <a:t>       T(n)-8T(n-1)=0</a:t>
            </a:r>
          </a:p>
          <a:p>
            <a:pPr marL="0" indent="0">
              <a:buNone/>
            </a:pPr>
            <a:r>
              <a:rPr lang="en-IN" sz="1800" b="1" dirty="0">
                <a:latin typeface="Cambria Math" panose="02040503050406030204" pitchFamily="18" charset="0"/>
                <a:ea typeface="Cambria Math" panose="02040503050406030204" pitchFamily="18" charset="0"/>
              </a:rPr>
              <a:t>       characteristic equation</a:t>
            </a:r>
          </a:p>
          <a:p>
            <a:pPr marL="0" indent="0">
              <a:buNone/>
            </a:pPr>
            <a:r>
              <a:rPr lang="en-IN" sz="1800" dirty="0">
                <a:latin typeface="Cambria Math" panose="02040503050406030204" pitchFamily="18" charset="0"/>
                <a:ea typeface="Cambria Math" panose="02040503050406030204" pitchFamily="18" charset="0"/>
              </a:rPr>
              <a:t>       X-8=0 , roots=(8)</a:t>
            </a:r>
          </a:p>
          <a:p>
            <a:pPr marL="0" indent="0">
              <a:buNone/>
            </a:pPr>
            <a:r>
              <a:rPr lang="en-IN" sz="1800" b="1" dirty="0">
                <a:latin typeface="Cambria Math" panose="02040503050406030204" pitchFamily="18" charset="0"/>
                <a:ea typeface="Cambria Math" panose="02040503050406030204" pitchFamily="18" charset="0"/>
              </a:rPr>
              <a:t>       T(n)</a:t>
            </a:r>
            <a:r>
              <a:rPr lang="en-IN" sz="1800" b="1" baseline="30000" dirty="0">
                <a:latin typeface="Cambria Math" panose="02040503050406030204" pitchFamily="18" charset="0"/>
                <a:ea typeface="Cambria Math" panose="02040503050406030204" pitchFamily="18" charset="0"/>
              </a:rPr>
              <a:t>h </a:t>
            </a:r>
            <a:r>
              <a:rPr lang="en-IN" sz="1800" b="1" dirty="0">
                <a:latin typeface="Cambria Math" panose="02040503050406030204" pitchFamily="18" charset="0"/>
                <a:ea typeface="Cambria Math" panose="02040503050406030204" pitchFamily="18" charset="0"/>
              </a:rPr>
              <a:t>= c</a:t>
            </a:r>
            <a:r>
              <a:rPr lang="en-IN" sz="1800" b="1" baseline="-25000" dirty="0">
                <a:latin typeface="Cambria Math" panose="02040503050406030204" pitchFamily="18" charset="0"/>
                <a:ea typeface="Cambria Math" panose="02040503050406030204" pitchFamily="18" charset="0"/>
              </a:rPr>
              <a:t>1</a:t>
            </a:r>
            <a:r>
              <a:rPr lang="en-IN" sz="1800" b="1" dirty="0">
                <a:latin typeface="Cambria Math" panose="02040503050406030204" pitchFamily="18" charset="0"/>
                <a:ea typeface="Cambria Math" panose="02040503050406030204" pitchFamily="18" charset="0"/>
              </a:rPr>
              <a:t>8</a:t>
            </a:r>
            <a:r>
              <a:rPr lang="en-IN" sz="1800" b="1" baseline="30000" dirty="0">
                <a:latin typeface="Cambria Math" panose="02040503050406030204" pitchFamily="18" charset="0"/>
                <a:ea typeface="Cambria Math" panose="02040503050406030204" pitchFamily="18" charset="0"/>
              </a:rPr>
              <a:t>n</a:t>
            </a:r>
          </a:p>
        </p:txBody>
      </p:sp>
      <p:sp>
        <p:nvSpPr>
          <p:cNvPr id="4" name="Slide Number Placeholder 3">
            <a:extLst>
              <a:ext uri="{FF2B5EF4-FFF2-40B4-BE49-F238E27FC236}">
                <a16:creationId xmlns:a16="http://schemas.microsoft.com/office/drawing/2014/main" id="{F2D5344F-A216-4C47-8E58-2B7C016A610E}"/>
              </a:ext>
            </a:extLst>
          </p:cNvPr>
          <p:cNvSpPr>
            <a:spLocks noGrp="1"/>
          </p:cNvSpPr>
          <p:nvPr>
            <p:ph type="sldNum" sz="quarter" idx="12"/>
          </p:nvPr>
        </p:nvSpPr>
        <p:spPr/>
        <p:txBody>
          <a:bodyPr/>
          <a:lstStyle/>
          <a:p>
            <a:fld id="{5EA8BEFB-AE5B-48F9-BBAD-B489CDE48C80}" type="slidenum">
              <a:rPr lang="en-US" smtClean="0"/>
              <a:pPr/>
              <a:t>27</a:t>
            </a:fld>
            <a:endParaRPr lang="en-US" dirty="0"/>
          </a:p>
        </p:txBody>
      </p:sp>
      <p:sp>
        <p:nvSpPr>
          <p:cNvPr id="5" name="Content Placeholder 2">
            <a:extLst>
              <a:ext uri="{FF2B5EF4-FFF2-40B4-BE49-F238E27FC236}">
                <a16:creationId xmlns:a16="http://schemas.microsoft.com/office/drawing/2014/main" id="{32D62000-15C3-4396-8CA2-5EAF54BDC24B}"/>
              </a:ext>
            </a:extLst>
          </p:cNvPr>
          <p:cNvSpPr txBox="1">
            <a:spLocks/>
          </p:cNvSpPr>
          <p:nvPr/>
        </p:nvSpPr>
        <p:spPr>
          <a:xfrm>
            <a:off x="7286627" y="892176"/>
            <a:ext cx="4622800" cy="3886199"/>
          </a:xfrm>
          <a:prstGeom prst="rect">
            <a:avLst/>
          </a:prstGeom>
        </p:spPr>
        <p:txBody>
          <a:bodyPr vert="horz" lIns="91440" tIns="45720" rIns="91440" bIns="45720" rtlCol="0">
            <a:noAutofit/>
          </a:bodyPr>
          <a:lstStyle>
            <a:lvl1pPr marL="342900" indent="-342900" algn="just"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just"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1800" dirty="0">
                <a:latin typeface="Cambria Math" panose="02040503050406030204" pitchFamily="18" charset="0"/>
                <a:ea typeface="Cambria Math" panose="02040503050406030204" pitchFamily="18" charset="0"/>
              </a:rPr>
              <a:t>2.   Particular solution(T(n)</a:t>
            </a:r>
            <a:r>
              <a:rPr lang="en-IN" sz="1800" baseline="30000" dirty="0">
                <a:latin typeface="Cambria Math" panose="02040503050406030204" pitchFamily="18" charset="0"/>
                <a:ea typeface="Cambria Math" panose="02040503050406030204" pitchFamily="18" charset="0"/>
              </a:rPr>
              <a:t>p</a:t>
            </a:r>
            <a:r>
              <a:rPr lang="en-IN" sz="1800" dirty="0">
                <a:latin typeface="Cambria Math" panose="02040503050406030204" pitchFamily="18" charset="0"/>
                <a:ea typeface="Cambria Math" panose="02040503050406030204" pitchFamily="18" charset="0"/>
              </a:rPr>
              <a:t>)</a:t>
            </a:r>
          </a:p>
          <a:p>
            <a:r>
              <a:rPr lang="en-IN" sz="1800" b="1" dirty="0">
                <a:latin typeface="Cambria Math" panose="02040503050406030204" pitchFamily="18" charset="0"/>
                <a:ea typeface="Cambria Math" panose="02040503050406030204" pitchFamily="18" charset="0"/>
              </a:rPr>
              <a:t>=&gt; </a:t>
            </a:r>
            <a:r>
              <a:rPr lang="en-IN" sz="1800" dirty="0">
                <a:latin typeface="Cambria Math" panose="02040503050406030204" pitchFamily="18" charset="0"/>
                <a:ea typeface="Cambria Math" panose="02040503050406030204" pitchFamily="18" charset="0"/>
              </a:rPr>
              <a:t>put T(n)= 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a:t>
            </a:r>
          </a:p>
          <a:p>
            <a:r>
              <a:rPr lang="en-IN" sz="1800" dirty="0">
                <a:latin typeface="Cambria Math" panose="02040503050406030204" pitchFamily="18" charset="0"/>
                <a:ea typeface="Cambria Math" panose="02040503050406030204" pitchFamily="18" charset="0"/>
              </a:rPr>
              <a:t>=&gt; 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 – 8(d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(n-1))=14n+5</a:t>
            </a:r>
          </a:p>
          <a:p>
            <a:r>
              <a:rPr lang="en-IN" sz="1800" dirty="0">
                <a:latin typeface="Cambria Math" panose="02040503050406030204" pitchFamily="18" charset="0"/>
                <a:ea typeface="Cambria Math" panose="02040503050406030204" pitchFamily="18" charset="0"/>
              </a:rPr>
              <a:t>=&gt; -7d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 – 7d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n+8d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=5 + 14n</a:t>
            </a:r>
          </a:p>
          <a:p>
            <a:r>
              <a:rPr lang="en-IN" sz="1800" dirty="0">
                <a:solidFill>
                  <a:srgbClr val="C00000"/>
                </a:solidFill>
                <a:latin typeface="Cambria Math" panose="02040503050406030204" pitchFamily="18" charset="0"/>
                <a:ea typeface="Cambria Math" panose="02040503050406030204" pitchFamily="18" charset="0"/>
              </a:rPr>
              <a:t>=&gt; By comparing the coefficient of n</a:t>
            </a:r>
            <a:r>
              <a:rPr lang="en-IN" sz="1800" baseline="30000" dirty="0">
                <a:solidFill>
                  <a:srgbClr val="C00000"/>
                </a:solidFill>
                <a:latin typeface="Cambria Math" panose="02040503050406030204" pitchFamily="18" charset="0"/>
                <a:ea typeface="Cambria Math" panose="02040503050406030204" pitchFamily="18" charset="0"/>
              </a:rPr>
              <a:t>0</a:t>
            </a:r>
            <a:r>
              <a:rPr lang="en-IN" sz="1800" dirty="0">
                <a:solidFill>
                  <a:srgbClr val="C00000"/>
                </a:solidFill>
                <a:latin typeface="Cambria Math" panose="02040503050406030204" pitchFamily="18" charset="0"/>
                <a:ea typeface="Cambria Math" panose="02040503050406030204" pitchFamily="18" charset="0"/>
              </a:rPr>
              <a:t>, n</a:t>
            </a:r>
            <a:r>
              <a:rPr lang="en-IN" sz="1800" baseline="30000" dirty="0">
                <a:solidFill>
                  <a:srgbClr val="C00000"/>
                </a:solidFill>
                <a:latin typeface="Cambria Math" panose="02040503050406030204" pitchFamily="18" charset="0"/>
                <a:ea typeface="Cambria Math" panose="02040503050406030204" pitchFamily="18" charset="0"/>
              </a:rPr>
              <a:t>1</a:t>
            </a:r>
            <a:r>
              <a:rPr lang="en-IN" sz="1800" dirty="0">
                <a:solidFill>
                  <a:srgbClr val="C00000"/>
                </a:solidFill>
                <a:latin typeface="Cambria Math" panose="02040503050406030204" pitchFamily="18" charset="0"/>
                <a:ea typeface="Cambria Math" panose="02040503050406030204" pitchFamily="18" charset="0"/>
              </a:rPr>
              <a:t> term</a:t>
            </a:r>
          </a:p>
          <a:p>
            <a:r>
              <a:rPr lang="en-IN" sz="1800" dirty="0">
                <a:latin typeface="Cambria Math" panose="02040503050406030204" pitchFamily="18" charset="0"/>
                <a:ea typeface="Cambria Math" panose="02040503050406030204" pitchFamily="18" charset="0"/>
              </a:rPr>
              <a:t>=&gt; -7d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=14  =&gt; 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=-2</a:t>
            </a:r>
          </a:p>
          <a:p>
            <a:r>
              <a:rPr lang="en-IN" sz="1800" dirty="0">
                <a:latin typeface="Cambria Math" panose="02040503050406030204" pitchFamily="18" charset="0"/>
                <a:ea typeface="Cambria Math" panose="02040503050406030204" pitchFamily="18" charset="0"/>
              </a:rPr>
              <a:t>=&gt; -7d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+8d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=5 =&gt;d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 -3</a:t>
            </a:r>
          </a:p>
          <a:p>
            <a:r>
              <a:rPr lang="en-IN" sz="1800" dirty="0">
                <a:latin typeface="Cambria Math" panose="02040503050406030204" pitchFamily="18" charset="0"/>
                <a:ea typeface="Cambria Math" panose="02040503050406030204" pitchFamily="18" charset="0"/>
              </a:rPr>
              <a:t>   Now put the value of 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 and 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 to get the solution</a:t>
            </a:r>
          </a:p>
          <a:p>
            <a:r>
              <a:rPr lang="en-IN" sz="1800" b="1" dirty="0">
                <a:latin typeface="Cambria Math" panose="02040503050406030204" pitchFamily="18" charset="0"/>
                <a:ea typeface="Cambria Math" panose="02040503050406030204" pitchFamily="18" charset="0"/>
              </a:rPr>
              <a:t>   </a:t>
            </a:r>
            <a:r>
              <a:rPr lang="en-IN" sz="1800" dirty="0">
                <a:latin typeface="Cambria Math" panose="02040503050406030204" pitchFamily="18" charset="0"/>
                <a:ea typeface="Cambria Math" panose="02040503050406030204" pitchFamily="18" charset="0"/>
              </a:rPr>
              <a:t>T(n)</a:t>
            </a:r>
            <a:r>
              <a:rPr lang="en-IN" sz="1800" baseline="30000" dirty="0">
                <a:latin typeface="Cambria Math" panose="02040503050406030204" pitchFamily="18" charset="0"/>
                <a:ea typeface="Cambria Math" panose="02040503050406030204" pitchFamily="18" charset="0"/>
              </a:rPr>
              <a:t>p</a:t>
            </a:r>
            <a:r>
              <a:rPr lang="en-IN" sz="1800" b="1" dirty="0">
                <a:latin typeface="Cambria Math" panose="02040503050406030204" pitchFamily="18" charset="0"/>
                <a:ea typeface="Cambria Math" panose="02040503050406030204" pitchFamily="18" charset="0"/>
              </a:rPr>
              <a:t>=</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0</a:t>
            </a:r>
            <a:r>
              <a:rPr lang="en-IN" sz="1800" dirty="0">
                <a:latin typeface="Cambria Math" panose="02040503050406030204" pitchFamily="18" charset="0"/>
                <a:ea typeface="Cambria Math" panose="02040503050406030204" pitchFamily="18" charset="0"/>
              </a:rPr>
              <a:t>+d</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a:t>
            </a:r>
          </a:p>
          <a:p>
            <a:r>
              <a:rPr lang="en-IN" sz="1800" dirty="0">
                <a:latin typeface="Cambria Math" panose="02040503050406030204" pitchFamily="18" charset="0"/>
                <a:ea typeface="Cambria Math" panose="02040503050406030204" pitchFamily="18" charset="0"/>
              </a:rPr>
              <a:t>   </a:t>
            </a:r>
            <a:r>
              <a:rPr lang="en-IN" sz="1800" b="1" dirty="0">
                <a:latin typeface="Cambria Math" panose="02040503050406030204" pitchFamily="18" charset="0"/>
                <a:ea typeface="Cambria Math" panose="02040503050406030204" pitchFamily="18" charset="0"/>
              </a:rPr>
              <a:t>T(n)</a:t>
            </a:r>
            <a:r>
              <a:rPr lang="en-IN" sz="1800" b="1" baseline="30000" dirty="0">
                <a:latin typeface="Cambria Math" panose="02040503050406030204" pitchFamily="18" charset="0"/>
                <a:ea typeface="Cambria Math" panose="02040503050406030204" pitchFamily="18" charset="0"/>
              </a:rPr>
              <a:t>p</a:t>
            </a:r>
            <a:r>
              <a:rPr lang="en-IN" sz="1800" b="1" dirty="0">
                <a:latin typeface="Cambria Math" panose="02040503050406030204" pitchFamily="18" charset="0"/>
                <a:ea typeface="Cambria Math" panose="02040503050406030204" pitchFamily="18" charset="0"/>
              </a:rPr>
              <a:t>= -3 + (-2)n</a:t>
            </a:r>
          </a:p>
        </p:txBody>
      </p:sp>
      <p:sp>
        <p:nvSpPr>
          <p:cNvPr id="6" name="Content Placeholder 2">
            <a:extLst>
              <a:ext uri="{FF2B5EF4-FFF2-40B4-BE49-F238E27FC236}">
                <a16:creationId xmlns:a16="http://schemas.microsoft.com/office/drawing/2014/main" id="{BD72F85B-6849-45E7-B42F-4DA573EF5644}"/>
              </a:ext>
            </a:extLst>
          </p:cNvPr>
          <p:cNvSpPr txBox="1">
            <a:spLocks/>
          </p:cNvSpPr>
          <p:nvPr/>
        </p:nvSpPr>
        <p:spPr>
          <a:xfrm>
            <a:off x="2971800" y="5502274"/>
            <a:ext cx="6426200" cy="1173164"/>
          </a:xfrm>
          <a:prstGeom prst="rect">
            <a:avLst/>
          </a:prstGeom>
        </p:spPr>
        <p:txBody>
          <a:bodyPr vert="horz" lIns="91440" tIns="45720" rIns="91440" bIns="45720" rtlCol="0">
            <a:normAutofit/>
          </a:bodyPr>
          <a:lstStyle>
            <a:lvl1pPr marL="342900" indent="-342900" algn="just" defTabSz="914400" rtl="0" eaLnBrk="1" latinLnBrk="0" hangingPunct="1">
              <a:lnSpc>
                <a:spcPct val="114000"/>
              </a:lnSpc>
              <a:spcBef>
                <a:spcPct val="20000"/>
              </a:spcBef>
              <a:buClrTx/>
              <a:buFont typeface="Wingdings" panose="05000000000000000000" pitchFamily="2" charset="2"/>
              <a:buChar char="§"/>
              <a:defRPr sz="2400" kern="1200">
                <a:solidFill>
                  <a:schemeClr val="tx1"/>
                </a:solidFill>
                <a:latin typeface="+mj-lt"/>
                <a:ea typeface="Times New Roman" panose="02020603050405020304" pitchFamily="18" charset="0"/>
                <a:cs typeface="Times New Roman" panose="02020603050405020304" pitchFamily="18" charset="0"/>
              </a:defRPr>
            </a:lvl1pPr>
            <a:lvl2pPr marL="742950" indent="-285750" algn="just" defTabSz="914400" rtl="0" eaLnBrk="1" latinLnBrk="0" hangingPunct="1">
              <a:lnSpc>
                <a:spcPct val="114000"/>
              </a:lnSpc>
              <a:spcBef>
                <a:spcPct val="20000"/>
              </a:spcBef>
              <a:buClrTx/>
              <a:buFont typeface="Arial" panose="020B0604020202020204" pitchFamily="34" charset="0"/>
              <a:buChar char="•"/>
              <a:defRPr sz="2000" kern="1200">
                <a:solidFill>
                  <a:schemeClr val="tx1"/>
                </a:solidFill>
                <a:latin typeface="+mj-lt"/>
                <a:ea typeface="Times New Roman" panose="02020603050405020304" pitchFamily="18" charset="0"/>
                <a:cs typeface="Times New Roman" panose="02020603050405020304" pitchFamily="18" charset="0"/>
              </a:defRPr>
            </a:lvl2pPr>
            <a:lvl3pPr marL="1143000" indent="-228600" algn="just" defTabSz="914400" rtl="0" eaLnBrk="1" latinLnBrk="0" hangingPunct="1">
              <a:lnSpc>
                <a:spcPct val="114000"/>
              </a:lnSpc>
              <a:spcBef>
                <a:spcPct val="20000"/>
              </a:spcBef>
              <a:buClrTx/>
              <a:buFont typeface="Arial" pitchFamily="34" charset="0"/>
              <a:buChar char="•"/>
              <a:defRPr sz="1800" kern="1200">
                <a:solidFill>
                  <a:schemeClr val="tx1"/>
                </a:solidFill>
                <a:latin typeface="+mj-lt"/>
                <a:ea typeface="Times New Roman" panose="02020603050405020304" pitchFamily="18" charset="0"/>
                <a:cs typeface="Times New Roman" panose="02020603050405020304" pitchFamily="18" charset="0"/>
              </a:defRPr>
            </a:lvl3pPr>
            <a:lvl4pPr marL="16002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4pPr>
            <a:lvl5pPr marL="2057400" indent="-228600" algn="just" defTabSz="914400" rtl="0" eaLnBrk="1" latinLnBrk="0" hangingPunct="1">
              <a:lnSpc>
                <a:spcPct val="114000"/>
              </a:lnSpc>
              <a:spcBef>
                <a:spcPct val="20000"/>
              </a:spcBef>
              <a:buClrTx/>
              <a:buFont typeface="Arial" pitchFamily="34" charset="0"/>
              <a:buChar char="»"/>
              <a:defRPr sz="1600" kern="1200">
                <a:solidFill>
                  <a:schemeClr val="tx1"/>
                </a:solidFill>
                <a:latin typeface="+mj-lt"/>
                <a:ea typeface="Times New Roman" panose="02020603050405020304" pitchFamily="18" charset="0"/>
                <a:cs typeface="Times New Roman" panose="02020603050405020304"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IN" sz="2000" dirty="0">
                <a:latin typeface="Cambria Math" panose="02040503050406030204" pitchFamily="18" charset="0"/>
                <a:ea typeface="Cambria Math" panose="02040503050406030204" pitchFamily="18" charset="0"/>
              </a:rPr>
              <a:t>Total solution(T(n))=(T(n)</a:t>
            </a:r>
            <a:r>
              <a:rPr lang="en-IN" sz="2000" baseline="30000" dirty="0">
                <a:latin typeface="Cambria Math" panose="02040503050406030204" pitchFamily="18" charset="0"/>
                <a:ea typeface="Cambria Math" panose="02040503050406030204" pitchFamily="18" charset="0"/>
              </a:rPr>
              <a:t>h</a:t>
            </a:r>
            <a:r>
              <a:rPr lang="en-IN" sz="2000" dirty="0">
                <a:latin typeface="Cambria Math" panose="02040503050406030204" pitchFamily="18" charset="0"/>
                <a:ea typeface="Cambria Math" panose="02040503050406030204" pitchFamily="18" charset="0"/>
              </a:rPr>
              <a:t>) + (T(n)</a:t>
            </a:r>
            <a:r>
              <a:rPr lang="en-IN" sz="2000" baseline="30000" dirty="0">
                <a:latin typeface="Cambria Math" panose="02040503050406030204" pitchFamily="18" charset="0"/>
                <a:ea typeface="Cambria Math" panose="02040503050406030204" pitchFamily="18" charset="0"/>
              </a:rPr>
              <a:t>h</a:t>
            </a:r>
            <a:r>
              <a:rPr lang="en-IN" sz="2000" dirty="0">
                <a:latin typeface="Cambria Math" panose="02040503050406030204" pitchFamily="18" charset="0"/>
                <a:ea typeface="Cambria Math" panose="02040503050406030204" pitchFamily="18" charset="0"/>
              </a:rPr>
              <a:t>)</a:t>
            </a:r>
          </a:p>
          <a:p>
            <a:pPr marL="0" indent="0">
              <a:buNone/>
            </a:pPr>
            <a:r>
              <a:rPr lang="en-IN" sz="2000" b="1" dirty="0">
                <a:latin typeface="Cambria Math" panose="02040503050406030204" pitchFamily="18" charset="0"/>
                <a:ea typeface="Cambria Math" panose="02040503050406030204" pitchFamily="18" charset="0"/>
              </a:rPr>
              <a:t>      T(n) =</a:t>
            </a:r>
            <a:r>
              <a:rPr lang="en-IN" sz="2000" dirty="0">
                <a:latin typeface="Cambria Math" panose="02040503050406030204" pitchFamily="18" charset="0"/>
                <a:ea typeface="Cambria Math" panose="02040503050406030204" pitchFamily="18" charset="0"/>
              </a:rPr>
              <a:t> c</a:t>
            </a:r>
            <a:r>
              <a:rPr lang="en-IN" sz="2000" baseline="-25000" dirty="0">
                <a:latin typeface="Cambria Math" panose="02040503050406030204" pitchFamily="18" charset="0"/>
                <a:ea typeface="Cambria Math" panose="02040503050406030204" pitchFamily="18" charset="0"/>
              </a:rPr>
              <a:t>1</a:t>
            </a:r>
            <a:r>
              <a:rPr lang="en-IN" sz="2000" dirty="0">
                <a:latin typeface="Cambria Math" panose="02040503050406030204" pitchFamily="18" charset="0"/>
                <a:ea typeface="Cambria Math" panose="02040503050406030204" pitchFamily="18" charset="0"/>
              </a:rPr>
              <a:t>8</a:t>
            </a:r>
            <a:r>
              <a:rPr lang="en-IN" sz="2000" baseline="30000" dirty="0">
                <a:latin typeface="Cambria Math" panose="02040503050406030204" pitchFamily="18" charset="0"/>
                <a:ea typeface="Cambria Math" panose="02040503050406030204" pitchFamily="18" charset="0"/>
              </a:rPr>
              <a:t>n</a:t>
            </a:r>
            <a:r>
              <a:rPr lang="en-IN" sz="2000" b="1" baseline="30000" dirty="0">
                <a:latin typeface="Cambria Math" panose="02040503050406030204" pitchFamily="18" charset="0"/>
                <a:ea typeface="Cambria Math" panose="02040503050406030204" pitchFamily="18" charset="0"/>
              </a:rPr>
              <a:t> </a:t>
            </a:r>
            <a:r>
              <a:rPr lang="en-IN" sz="2000" b="1" dirty="0">
                <a:latin typeface="Cambria Math" panose="02040503050406030204" pitchFamily="18" charset="0"/>
                <a:ea typeface="Cambria Math" panose="02040503050406030204" pitchFamily="18" charset="0"/>
              </a:rPr>
              <a:t>-3 + (-2).n</a:t>
            </a:r>
            <a:endParaRPr lang="en-IN" sz="20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431770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fade">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 Method</a:t>
            </a:r>
            <a:r>
              <a:rPr lang="en-US" sz="2800" dirty="0"/>
              <a:t>(for divide and conquer recurrence)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ln>
                <a:noFill/>
              </a:ln>
            </p:spPr>
            <p:txBody>
              <a:bodyPr>
                <a:normAutofit lnSpcReduction="10000"/>
              </a:bodyPr>
              <a:lstStyle/>
              <a:p>
                <a:r>
                  <a:rPr lang="en-US" sz="2200" dirty="0"/>
                  <a:t>All divide and conquer algorithm divide the problem into sub-problems, each of which is part of the original problem, and then perform  some  additional  work  to  compute  the  final  answer.. </a:t>
                </a:r>
              </a:p>
              <a:p>
                <a:r>
                  <a:rPr lang="en-US" sz="2200" dirty="0"/>
                  <a:t>Suppose you have a recurrence of the form</a:t>
                </a:r>
              </a:p>
              <a:p>
                <a:endParaRPr lang="en-US" sz="2200" dirty="0"/>
              </a:p>
              <a:p>
                <a:pPr marL="0" indent="0" algn="ctr">
                  <a:buNone/>
                </a:pPr>
                <a14:m>
                  <m:oMathPara xmlns:m="http://schemas.openxmlformats.org/officeDocument/2006/math">
                    <m:oMathParaPr>
                      <m:jc m:val="centerGroup"/>
                    </m:oMathParaPr>
                    <m:oMath xmlns:m="http://schemas.openxmlformats.org/officeDocument/2006/math">
                      <m:r>
                        <a:rPr lang="en-US" sz="2600" i="1" dirty="0">
                          <a:latin typeface="Cambria Math" panose="02040503050406030204" pitchFamily="18" charset="0"/>
                        </a:rPr>
                        <m:t>𝑇</m:t>
                      </m:r>
                      <m:r>
                        <a:rPr lang="en-US" sz="2600" i="1" dirty="0">
                          <a:latin typeface="Cambria Math" panose="02040503050406030204" pitchFamily="18" charset="0"/>
                        </a:rPr>
                        <m:t>(</m:t>
                      </m:r>
                      <m:r>
                        <a:rPr lang="en-US" sz="2600" i="1" dirty="0">
                          <a:latin typeface="Cambria Math" panose="02040503050406030204" pitchFamily="18" charset="0"/>
                        </a:rPr>
                        <m:t>𝑛</m:t>
                      </m:r>
                      <m:r>
                        <a:rPr lang="en-US" sz="2600" i="1" dirty="0">
                          <a:latin typeface="Cambria Math" panose="02040503050406030204" pitchFamily="18" charset="0"/>
                        </a:rPr>
                        <m:t>) = </m:t>
                      </m:r>
                      <m:r>
                        <a:rPr lang="en-US" sz="2600" i="1" dirty="0">
                          <a:solidFill>
                            <a:srgbClr val="0066FF"/>
                          </a:solidFill>
                          <a:latin typeface="Cambria Math" panose="02040503050406030204" pitchFamily="18" charset="0"/>
                        </a:rPr>
                        <m:t>𝑎</m:t>
                      </m:r>
                      <m:r>
                        <a:rPr lang="en-US" sz="2600" i="1" dirty="0" err="1">
                          <a:solidFill>
                            <a:srgbClr val="FF0000"/>
                          </a:solidFill>
                          <a:latin typeface="Cambria Math" panose="02040503050406030204" pitchFamily="18" charset="0"/>
                        </a:rPr>
                        <m:t>𝑇</m:t>
                      </m:r>
                      <m:r>
                        <a:rPr lang="en-US" sz="2600" i="1" dirty="0">
                          <a:solidFill>
                            <a:srgbClr val="FF0000"/>
                          </a:solidFill>
                          <a:latin typeface="Cambria Math" panose="02040503050406030204" pitchFamily="18" charset="0"/>
                        </a:rPr>
                        <m:t>(</m:t>
                      </m:r>
                      <m:r>
                        <a:rPr lang="en-US" sz="2600" i="1" dirty="0">
                          <a:solidFill>
                            <a:srgbClr val="FF0000"/>
                          </a:solidFill>
                          <a:latin typeface="Cambria Math" panose="02040503050406030204" pitchFamily="18" charset="0"/>
                        </a:rPr>
                        <m:t>𝑛</m:t>
                      </m:r>
                      <m:r>
                        <a:rPr lang="en-US" sz="2600" i="1" dirty="0">
                          <a:solidFill>
                            <a:srgbClr val="FF0000"/>
                          </a:solidFill>
                          <a:latin typeface="Cambria Math" panose="02040503050406030204" pitchFamily="18" charset="0"/>
                        </a:rPr>
                        <m:t>/</m:t>
                      </m:r>
                      <m:r>
                        <a:rPr lang="en-US" sz="2600" i="1" dirty="0">
                          <a:solidFill>
                            <a:srgbClr val="FF0000"/>
                          </a:solidFill>
                          <a:latin typeface="Cambria Math" panose="02040503050406030204" pitchFamily="18" charset="0"/>
                        </a:rPr>
                        <m:t>𝑏</m:t>
                      </m:r>
                      <m:r>
                        <a:rPr lang="en-US" sz="2600" i="1" dirty="0">
                          <a:solidFill>
                            <a:srgbClr val="FF0000"/>
                          </a:solidFill>
                          <a:latin typeface="Cambria Math" panose="02040503050406030204" pitchFamily="18" charset="0"/>
                        </a:rPr>
                        <m:t>) + </m:t>
                      </m:r>
                      <m:r>
                        <a:rPr lang="en-US" sz="2600" i="1" dirty="0">
                          <a:solidFill>
                            <a:schemeClr val="accent2">
                              <a:lumMod val="75000"/>
                            </a:schemeClr>
                          </a:solidFill>
                          <a:latin typeface="Cambria Math" panose="02040503050406030204" pitchFamily="18" charset="0"/>
                        </a:rPr>
                        <m:t>𝑓</m:t>
                      </m:r>
                      <m:r>
                        <a:rPr lang="en-US" sz="2600" i="1" dirty="0">
                          <a:solidFill>
                            <a:schemeClr val="accent2">
                              <a:lumMod val="75000"/>
                            </a:schemeClr>
                          </a:solidFill>
                          <a:latin typeface="Cambria Math" panose="02040503050406030204" pitchFamily="18" charset="0"/>
                        </a:rPr>
                        <m:t>(</m:t>
                      </m:r>
                      <m:r>
                        <a:rPr lang="en-US" sz="2600" i="1" dirty="0">
                          <a:solidFill>
                            <a:schemeClr val="accent2">
                              <a:lumMod val="75000"/>
                            </a:schemeClr>
                          </a:solidFill>
                          <a:latin typeface="Cambria Math" panose="02040503050406030204" pitchFamily="18" charset="0"/>
                        </a:rPr>
                        <m:t>𝑛</m:t>
                      </m:r>
                      <m:r>
                        <a:rPr lang="en-US" sz="2600" i="1" dirty="0">
                          <a:solidFill>
                            <a:schemeClr val="accent2">
                              <a:lumMod val="75000"/>
                            </a:schemeClr>
                          </a:solidFill>
                          <a:latin typeface="Cambria Math" panose="02040503050406030204" pitchFamily="18" charset="0"/>
                        </a:rPr>
                        <m:t>)</m:t>
                      </m:r>
                    </m:oMath>
                  </m:oMathPara>
                </a14:m>
                <a:endParaRPr lang="en-US" sz="2600" dirty="0">
                  <a:solidFill>
                    <a:schemeClr val="accent2">
                      <a:lumMod val="75000"/>
                    </a:schemeClr>
                  </a:solidFill>
                </a:endParaRPr>
              </a:p>
              <a:p>
                <a:endParaRPr lang="en-US" sz="2600" dirty="0"/>
              </a:p>
              <a:p>
                <a:endParaRPr lang="en-US" dirty="0"/>
              </a:p>
              <a:p>
                <a:endParaRPr lang="en-US" sz="2200" dirty="0"/>
              </a:p>
              <a:p>
                <a:r>
                  <a:rPr lang="en-US" sz="2200" b="1" dirty="0"/>
                  <a:t>This recurrence would arise in the analysis of a recursive algorithm.</a:t>
                </a:r>
              </a:p>
              <a:p>
                <a:r>
                  <a:rPr lang="en-US" sz="2200" dirty="0"/>
                  <a:t>When input size </a:t>
                </a:r>
                <a14:m>
                  <m:oMath xmlns:m="http://schemas.openxmlformats.org/officeDocument/2006/math">
                    <m:r>
                      <a:rPr lang="en-US" sz="2200" i="1" dirty="0">
                        <a:solidFill>
                          <a:srgbClr val="FF0000"/>
                        </a:solidFill>
                        <a:latin typeface="Cambria Math" panose="02040503050406030204" pitchFamily="18" charset="0"/>
                      </a:rPr>
                      <m:t>𝑛</m:t>
                    </m:r>
                  </m:oMath>
                </a14:m>
                <a:r>
                  <a:rPr lang="en-US" sz="2200" dirty="0"/>
                  <a:t> is large, the problem is divided up into </a:t>
                </a:r>
                <a14:m>
                  <m:oMath xmlns:m="http://schemas.openxmlformats.org/officeDocument/2006/math">
                    <m:r>
                      <a:rPr lang="en-US" sz="2200" i="1" dirty="0">
                        <a:solidFill>
                          <a:srgbClr val="FF0000"/>
                        </a:solidFill>
                        <a:latin typeface="Cambria Math" panose="02040503050406030204" pitchFamily="18" charset="0"/>
                      </a:rPr>
                      <m:t>𝑎</m:t>
                    </m:r>
                  </m:oMath>
                </a14:m>
                <a:r>
                  <a:rPr lang="en-US" sz="2200" dirty="0"/>
                  <a:t> sub-problems each of size </a:t>
                </a:r>
                <a14:m>
                  <m:oMath xmlns:m="http://schemas.openxmlformats.org/officeDocument/2006/math">
                    <m:r>
                      <a:rPr lang="en-US" sz="2200" i="1" dirty="0">
                        <a:solidFill>
                          <a:srgbClr val="FF0000"/>
                        </a:solidFill>
                        <a:latin typeface="Cambria Math" panose="02040503050406030204" pitchFamily="18" charset="0"/>
                      </a:rPr>
                      <m:t>𝑛</m:t>
                    </m:r>
                    <m:r>
                      <a:rPr lang="en-US" sz="2200" i="1" dirty="0">
                        <a:solidFill>
                          <a:srgbClr val="FF0000"/>
                        </a:solidFill>
                        <a:latin typeface="Cambria Math" panose="02040503050406030204" pitchFamily="18" charset="0"/>
                      </a:rPr>
                      <m:t>/</m:t>
                    </m:r>
                    <m:r>
                      <a:rPr lang="en-US" sz="2200" i="1" dirty="0">
                        <a:solidFill>
                          <a:srgbClr val="FF0000"/>
                        </a:solidFill>
                        <a:latin typeface="Cambria Math" panose="02040503050406030204" pitchFamily="18" charset="0"/>
                      </a:rPr>
                      <m:t>𝑏</m:t>
                    </m:r>
                  </m:oMath>
                </a14:m>
                <a:r>
                  <a:rPr lang="en-US" sz="2200" dirty="0"/>
                  <a:t>. Sub-problems are solved recursively and results are recombined.</a:t>
                </a:r>
              </a:p>
              <a:p>
                <a:r>
                  <a:rPr lang="en-US" sz="2200" dirty="0"/>
                  <a:t> The work to split the problem into sub-problems and recombine the results is </a:t>
                </a:r>
                <a14:m>
                  <m:oMath xmlns:m="http://schemas.openxmlformats.org/officeDocument/2006/math">
                    <m:r>
                      <a:rPr lang="en-US" sz="2200" i="1" dirty="0">
                        <a:solidFill>
                          <a:schemeClr val="accent2">
                            <a:lumMod val="75000"/>
                          </a:schemeClr>
                        </a:solidFill>
                        <a:latin typeface="Cambria Math" panose="02040503050406030204" pitchFamily="18" charset="0"/>
                      </a:rPr>
                      <m:t>𝑓</m:t>
                    </m:r>
                    <m:r>
                      <a:rPr lang="en-US" sz="2200" i="1" dirty="0">
                        <a:solidFill>
                          <a:schemeClr val="accent2">
                            <a:lumMod val="75000"/>
                          </a:schemeClr>
                        </a:solidFill>
                        <a:latin typeface="Cambria Math" panose="02040503050406030204" pitchFamily="18" charset="0"/>
                      </a:rPr>
                      <m:t>(</m:t>
                    </m:r>
                    <m:r>
                      <a:rPr lang="en-US" sz="2200" i="1" dirty="0">
                        <a:solidFill>
                          <a:schemeClr val="accent2">
                            <a:lumMod val="75000"/>
                          </a:schemeClr>
                        </a:solidFill>
                        <a:latin typeface="Cambria Math" panose="02040503050406030204" pitchFamily="18" charset="0"/>
                      </a:rPr>
                      <m:t>𝑛</m:t>
                    </m:r>
                    <m:r>
                      <a:rPr lang="en-US" sz="2200" i="1" dirty="0">
                        <a:solidFill>
                          <a:schemeClr val="accent2">
                            <a:lumMod val="75000"/>
                          </a:schemeClr>
                        </a:solidFill>
                        <a:latin typeface="Cambria Math" panose="02040503050406030204" pitchFamily="18" charset="0"/>
                      </a:rPr>
                      <m:t>)</m:t>
                    </m:r>
                  </m:oMath>
                </a14:m>
                <a:r>
                  <a:rPr lang="en-US" sz="2200" dirty="0">
                    <a:solidFill>
                      <a:schemeClr val="accent2">
                        <a:lumMod val="75000"/>
                      </a:schemeClr>
                    </a:solidFill>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74" t="-800" r="-678"/>
                </a:stretch>
              </a:blipFill>
              <a:ln>
                <a:noFill/>
              </a:ln>
            </p:spPr>
            <p:txBody>
              <a:bodyPr/>
              <a:lstStyle/>
              <a:p>
                <a:r>
                  <a:rPr lang="en-IN">
                    <a:noFill/>
                  </a:rPr>
                  <a:t> </a:t>
                </a:r>
              </a:p>
            </p:txBody>
          </p:sp>
        </mc:Fallback>
      </mc:AlternateContent>
      <p:sp>
        <p:nvSpPr>
          <p:cNvPr id="4" name="TextBox 3"/>
          <p:cNvSpPr txBox="1"/>
          <p:nvPr/>
        </p:nvSpPr>
        <p:spPr>
          <a:xfrm>
            <a:off x="3524250" y="3505200"/>
            <a:ext cx="1828800" cy="707886"/>
          </a:xfrm>
          <a:prstGeom prst="rect">
            <a:avLst/>
          </a:prstGeom>
          <a:solidFill>
            <a:schemeClr val="accent1">
              <a:lumMod val="20000"/>
              <a:lumOff val="80000"/>
            </a:schemeClr>
          </a:solidFill>
        </p:spPr>
        <p:txBody>
          <a:bodyPr wrap="square" rtlCol="0">
            <a:spAutoFit/>
          </a:bodyPr>
          <a:lstStyle/>
          <a:p>
            <a:r>
              <a:rPr lang="en-US" sz="2000" dirty="0">
                <a:solidFill>
                  <a:srgbClr val="FF0000"/>
                </a:solidFill>
              </a:rPr>
              <a:t>Number of sub-problems</a:t>
            </a:r>
          </a:p>
        </p:txBody>
      </p:sp>
      <p:cxnSp>
        <p:nvCxnSpPr>
          <p:cNvPr id="6" name="Curved Connector 5"/>
          <p:cNvCxnSpPr/>
          <p:nvPr/>
        </p:nvCxnSpPr>
        <p:spPr>
          <a:xfrm rot="10800000" flipV="1">
            <a:off x="4476751" y="2938592"/>
            <a:ext cx="1066803" cy="588694"/>
          </a:xfrm>
          <a:prstGeom prst="curvedConnector3">
            <a:avLst>
              <a:gd name="adj1" fmla="val 107143"/>
            </a:avLst>
          </a:prstGeom>
          <a:ln w="28575">
            <a:solidFill>
              <a:srgbClr val="0066FF"/>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urved Connector 15"/>
          <p:cNvCxnSpPr>
            <a:endCxn id="26" idx="1"/>
          </p:cNvCxnSpPr>
          <p:nvPr/>
        </p:nvCxnSpPr>
        <p:spPr>
          <a:xfrm rot="16200000" flipH="1">
            <a:off x="6108939" y="3122979"/>
            <a:ext cx="964724" cy="685798"/>
          </a:xfrm>
          <a:prstGeom prst="curved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6934200" y="3594297"/>
            <a:ext cx="2362202" cy="707886"/>
          </a:xfrm>
          <a:prstGeom prst="rect">
            <a:avLst/>
          </a:prstGeom>
          <a:solidFill>
            <a:schemeClr val="accent6">
              <a:lumMod val="20000"/>
              <a:lumOff val="80000"/>
            </a:schemeClr>
          </a:solidFill>
        </p:spPr>
        <p:txBody>
          <a:bodyPr wrap="square" rtlCol="0">
            <a:spAutoFit/>
          </a:bodyPr>
          <a:lstStyle/>
          <a:p>
            <a:r>
              <a:rPr lang="en-US" sz="2000" dirty="0">
                <a:solidFill>
                  <a:srgbClr val="FF0000"/>
                </a:solidFill>
              </a:rPr>
              <a:t>Time required to solve a sub-problem</a:t>
            </a:r>
          </a:p>
        </p:txBody>
      </p:sp>
      <p:sp>
        <p:nvSpPr>
          <p:cNvPr id="83" name="TextBox 82"/>
          <p:cNvSpPr txBox="1"/>
          <p:nvPr/>
        </p:nvSpPr>
        <p:spPr>
          <a:xfrm>
            <a:off x="8429626" y="2041582"/>
            <a:ext cx="2095499" cy="707886"/>
          </a:xfrm>
          <a:prstGeom prst="rect">
            <a:avLst/>
          </a:prstGeom>
          <a:solidFill>
            <a:schemeClr val="accent2">
              <a:lumMod val="20000"/>
              <a:lumOff val="80000"/>
            </a:schemeClr>
          </a:solidFill>
        </p:spPr>
        <p:txBody>
          <a:bodyPr wrap="square" rtlCol="0">
            <a:spAutoFit/>
          </a:bodyPr>
          <a:lstStyle/>
          <a:p>
            <a:r>
              <a:rPr lang="en-US" sz="2000" dirty="0">
                <a:solidFill>
                  <a:srgbClr val="FF0000"/>
                </a:solidFill>
              </a:rPr>
              <a:t>Time to divide &amp; recombine</a:t>
            </a:r>
          </a:p>
        </p:txBody>
      </p:sp>
      <p:cxnSp>
        <p:nvCxnSpPr>
          <p:cNvPr id="92" name="Curved Connector 91"/>
          <p:cNvCxnSpPr/>
          <p:nvPr/>
        </p:nvCxnSpPr>
        <p:spPr>
          <a:xfrm flipV="1">
            <a:off x="7620000" y="2383925"/>
            <a:ext cx="800101" cy="228599"/>
          </a:xfrm>
          <a:prstGeom prst="curvedConnector3">
            <a:avLst>
              <a:gd name="adj1" fmla="val -3680"/>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Slide Number Placeholder 22"/>
          <p:cNvSpPr>
            <a:spLocks noGrp="1"/>
          </p:cNvSpPr>
          <p:nvPr>
            <p:ph type="sldNum" sz="quarter" idx="12"/>
          </p:nvPr>
        </p:nvSpPr>
        <p:spPr/>
        <p:txBody>
          <a:bodyPr/>
          <a:lstStyle/>
          <a:p>
            <a:fld id="{5EA8BEFB-AE5B-48F9-BBAD-B489CDE48C80}" type="slidenum">
              <a:rPr lang="en-US" smtClean="0"/>
              <a:pPr/>
              <a:t>28</a:t>
            </a:fld>
            <a:endParaRPr lang="en-US" dirty="0"/>
          </a:p>
        </p:txBody>
      </p:sp>
    </p:spTree>
    <p:extLst>
      <p:ext uri="{BB962C8B-B14F-4D97-AF65-F5344CB8AC3E}">
        <p14:creationId xmlns:p14="http://schemas.microsoft.com/office/powerpoint/2010/main" val="279000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animEffect transition="in" filter="fade">
                                      <p:cBhvr>
                                        <p:cTn id="33" dur="500"/>
                                        <p:tgtEl>
                                          <p:spTgt spid="2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92"/>
                                        </p:tgtEl>
                                        <p:attrNameLst>
                                          <p:attrName>style.visibility</p:attrName>
                                        </p:attrNameLst>
                                      </p:cBhvr>
                                      <p:to>
                                        <p:strVal val="visible"/>
                                      </p:to>
                                    </p:set>
                                    <p:animEffect transition="in" filter="fade">
                                      <p:cBhvr>
                                        <p:cTn id="38" dur="500"/>
                                        <p:tgtEl>
                                          <p:spTgt spid="9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83"/>
                                        </p:tgtEl>
                                        <p:attrNameLst>
                                          <p:attrName>style.visibility</p:attrName>
                                        </p:attrNameLst>
                                      </p:cBhvr>
                                      <p:to>
                                        <p:strVal val="visible"/>
                                      </p:to>
                                    </p:set>
                                    <p:animEffect transition="in" filter="fade">
                                      <p:cBhvr>
                                        <p:cTn id="41" dur="500"/>
                                        <p:tgtEl>
                                          <p:spTgt spid="8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Effect transition="in" filter="fade">
                                      <p:cBhvr>
                                        <p:cTn id="51" dur="500"/>
                                        <p:tgtEl>
                                          <p:spTgt spid="3">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6" grpId="0" animBg="1"/>
      <p:bldP spid="8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434A8-F08D-42EE-9891-6250F20D951C}"/>
              </a:ext>
            </a:extLst>
          </p:cNvPr>
          <p:cNvSpPr>
            <a:spLocks noGrp="1"/>
          </p:cNvSpPr>
          <p:nvPr>
            <p:ph type="title"/>
          </p:nvPr>
        </p:nvSpPr>
        <p:spPr/>
        <p:txBody>
          <a:bodyPr>
            <a:normAutofit/>
          </a:bodyPr>
          <a:lstStyle/>
          <a:p>
            <a:r>
              <a:rPr lang="en-US" dirty="0"/>
              <a:t>Master Method</a:t>
            </a:r>
            <a:r>
              <a:rPr lang="en-US" sz="2800" dirty="0"/>
              <a:t>(for divide and conquer recurrence)</a:t>
            </a:r>
            <a:endParaRPr lang="en-IN" dirty="0"/>
          </a:p>
        </p:txBody>
      </p:sp>
      <p:sp>
        <p:nvSpPr>
          <p:cNvPr id="3" name="Content Placeholder 2">
            <a:extLst>
              <a:ext uri="{FF2B5EF4-FFF2-40B4-BE49-F238E27FC236}">
                <a16:creationId xmlns:a16="http://schemas.microsoft.com/office/drawing/2014/main" id="{ADC09E7F-BCB6-4A58-9C6E-4ED2D9979182}"/>
              </a:ext>
            </a:extLst>
          </p:cNvPr>
          <p:cNvSpPr>
            <a:spLocks noGrp="1"/>
          </p:cNvSpPr>
          <p:nvPr>
            <p:ph idx="1"/>
          </p:nvPr>
        </p:nvSpPr>
        <p:spPr/>
        <p:txBody>
          <a:bodyPr/>
          <a:lstStyle/>
          <a:p>
            <a:pPr marL="0" indent="0">
              <a:buNone/>
            </a:pPr>
            <a:r>
              <a:rPr lang="en-US" dirty="0"/>
              <a:t>As  an  example,  a  merge  sort algorithm operates on two sub-problems, each of which is half the size of the original, and then performs O(n) additional work for merging. This gives the running time equation:</a:t>
            </a:r>
          </a:p>
          <a:p>
            <a:pPr marL="0" indent="0">
              <a:buNone/>
            </a:pPr>
            <a:r>
              <a:rPr lang="pt-BR" dirty="0">
                <a:effectLst/>
                <a:latin typeface="Arial" panose="020B0604020202020204" pitchFamily="34" charset="0"/>
              </a:rPr>
              <a:t>                                                 T(n) = 2T (n/2) + O(n)</a:t>
            </a:r>
          </a:p>
          <a:p>
            <a:pPr marL="0" indent="0">
              <a:buNone/>
            </a:pPr>
            <a:endParaRPr lang="pt-BR" dirty="0">
              <a:latin typeface="Arial" panose="020B0604020202020204" pitchFamily="34" charset="0"/>
            </a:endParaRPr>
          </a:p>
          <a:p>
            <a:pPr marL="0" indent="0">
              <a:buNone/>
            </a:pPr>
            <a:r>
              <a:rPr lang="en-US" dirty="0"/>
              <a:t>The  following  theorem  can  be  used  to  determine  the  running  time  of  divide  and  conquer algorithms. For a given program (algorithm), first we try to find the recurrence relation for the problem. If the recurrence is of the below form, then we can directly give the answer without fully solving it. If the recurrence is of the form</a:t>
            </a:r>
            <a:endParaRPr lang="en-IN" dirty="0"/>
          </a:p>
        </p:txBody>
      </p:sp>
      <p:sp>
        <p:nvSpPr>
          <p:cNvPr id="4" name="Slide Number Placeholder 3">
            <a:extLst>
              <a:ext uri="{FF2B5EF4-FFF2-40B4-BE49-F238E27FC236}">
                <a16:creationId xmlns:a16="http://schemas.microsoft.com/office/drawing/2014/main" id="{FCDE7F99-45F3-4CDA-A2A6-6B0BE488A081}"/>
              </a:ext>
            </a:extLst>
          </p:cNvPr>
          <p:cNvSpPr>
            <a:spLocks noGrp="1"/>
          </p:cNvSpPr>
          <p:nvPr>
            <p:ph type="sldNum" sz="quarter" idx="12"/>
          </p:nvPr>
        </p:nvSpPr>
        <p:spPr/>
        <p:txBody>
          <a:bodyPr/>
          <a:lstStyle/>
          <a:p>
            <a:fld id="{5EA8BEFB-AE5B-48F9-BBAD-B489CDE48C80}" type="slidenum">
              <a:rPr lang="en-US" smtClean="0"/>
              <a:pPr/>
              <a:t>29</a:t>
            </a:fld>
            <a:endParaRPr lang="en-US" dirty="0"/>
          </a:p>
        </p:txBody>
      </p:sp>
      <p:pic>
        <p:nvPicPr>
          <p:cNvPr id="7" name="Picture 6">
            <a:extLst>
              <a:ext uri="{FF2B5EF4-FFF2-40B4-BE49-F238E27FC236}">
                <a16:creationId xmlns:a16="http://schemas.microsoft.com/office/drawing/2014/main" id="{FAAEE44D-AD4F-4431-9D14-DD520AD2CFA1}"/>
              </a:ext>
            </a:extLst>
          </p:cNvPr>
          <p:cNvPicPr>
            <a:picLocks noChangeAspect="1"/>
          </p:cNvPicPr>
          <p:nvPr/>
        </p:nvPicPr>
        <p:blipFill>
          <a:blip r:embed="rId2"/>
          <a:stretch>
            <a:fillRect/>
          </a:stretch>
        </p:blipFill>
        <p:spPr>
          <a:xfrm>
            <a:off x="3102023" y="5410200"/>
            <a:ext cx="5987953" cy="685800"/>
          </a:xfrm>
          <a:prstGeom prst="rect">
            <a:avLst/>
          </a:prstGeom>
        </p:spPr>
      </p:pic>
    </p:spTree>
    <p:extLst>
      <p:ext uri="{BB962C8B-B14F-4D97-AF65-F5344CB8AC3E}">
        <p14:creationId xmlns:p14="http://schemas.microsoft.com/office/powerpoint/2010/main" val="7156928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Master Method</a:t>
            </a:r>
            <a:r>
              <a:rPr lang="en-US" sz="2800" dirty="0"/>
              <a:t>(for divide and conquer recurrence)</a:t>
            </a:r>
            <a:endParaRPr lang="en-US" dirty="0"/>
          </a:p>
        </p:txBody>
      </p:sp>
      <p:sp>
        <p:nvSpPr>
          <p:cNvPr id="3" name="Content Placeholder 2"/>
          <p:cNvSpPr>
            <a:spLocks noGrp="1"/>
          </p:cNvSpPr>
          <p:nvPr>
            <p:ph idx="1"/>
          </p:nvPr>
        </p:nvSpPr>
        <p:spPr>
          <a:xfrm>
            <a:off x="234950" y="990600"/>
            <a:ext cx="11684000" cy="5334000"/>
          </a:xfrm>
        </p:spPr>
        <p:txBody>
          <a:bodyPr>
            <a:normAutofit/>
          </a:bodyPr>
          <a:lstStyle/>
          <a:p>
            <a:pPr marL="0" indent="0">
              <a:buNone/>
            </a:pPr>
            <a:r>
              <a:rPr lang="en-US" dirty="0"/>
              <a:t>                                                                                                                      </a:t>
            </a:r>
          </a:p>
          <a:p>
            <a:pPr marL="0" indent="0">
              <a:buNone/>
            </a:pPr>
            <a:endParaRPr lang="en-US" dirty="0"/>
          </a:p>
          <a:p>
            <a:pPr marL="0" indent="0">
              <a:buNone/>
            </a:pPr>
            <a:r>
              <a:rPr lang="en-US" dirty="0"/>
              <a:t>        where a ≥ 1, b &gt;1, k ≥ 0 and p is a real number, then:</a:t>
            </a:r>
          </a:p>
          <a:p>
            <a:endParaRPr lang="en-US" b="1" dirty="0"/>
          </a:p>
          <a:p>
            <a:pPr lvl="1"/>
            <a:endParaRPr lang="en-US" dirty="0"/>
          </a:p>
          <a:p>
            <a:endParaRPr lang="en-US" dirty="0"/>
          </a:p>
        </p:txBody>
      </p:sp>
      <p:sp>
        <p:nvSpPr>
          <p:cNvPr id="5" name="Slide Number Placeholder 4"/>
          <p:cNvSpPr>
            <a:spLocks noGrp="1"/>
          </p:cNvSpPr>
          <p:nvPr>
            <p:ph type="sldNum" sz="quarter" idx="12"/>
          </p:nvPr>
        </p:nvSpPr>
        <p:spPr/>
        <p:txBody>
          <a:bodyPr/>
          <a:lstStyle/>
          <a:p>
            <a:fld id="{5EA8BEFB-AE5B-48F9-BBAD-B489CDE48C80}" type="slidenum">
              <a:rPr lang="en-US" smtClean="0"/>
              <a:pPr/>
              <a:t>30</a:t>
            </a:fld>
            <a:endParaRPr lang="en-US" dirty="0"/>
          </a:p>
        </p:txBody>
      </p:sp>
      <p:pic>
        <p:nvPicPr>
          <p:cNvPr id="6" name="Picture 5" descr="Text, letter&#10;&#10;Description automatically generated">
            <a:extLst>
              <a:ext uri="{FF2B5EF4-FFF2-40B4-BE49-F238E27FC236}">
                <a16:creationId xmlns:a16="http://schemas.microsoft.com/office/drawing/2014/main" id="{255A5501-7BA2-4E41-B6AA-4B668F9B74E4}"/>
              </a:ext>
            </a:extLst>
          </p:cNvPr>
          <p:cNvPicPr>
            <a:picLocks noChangeAspect="1"/>
          </p:cNvPicPr>
          <p:nvPr/>
        </p:nvPicPr>
        <p:blipFill>
          <a:blip r:embed="rId2"/>
          <a:stretch>
            <a:fillRect/>
          </a:stretch>
        </p:blipFill>
        <p:spPr>
          <a:xfrm>
            <a:off x="1277937" y="2667000"/>
            <a:ext cx="8010525" cy="3467100"/>
          </a:xfrm>
          <a:prstGeom prst="rect">
            <a:avLst/>
          </a:prstGeom>
        </p:spPr>
      </p:pic>
      <p:pic>
        <p:nvPicPr>
          <p:cNvPr id="8" name="Picture 7">
            <a:extLst>
              <a:ext uri="{FF2B5EF4-FFF2-40B4-BE49-F238E27FC236}">
                <a16:creationId xmlns:a16="http://schemas.microsoft.com/office/drawing/2014/main" id="{BB05ECA1-D91D-404F-8813-D0BCF14EE0E5}"/>
              </a:ext>
            </a:extLst>
          </p:cNvPr>
          <p:cNvPicPr>
            <a:picLocks noChangeAspect="1"/>
          </p:cNvPicPr>
          <p:nvPr/>
        </p:nvPicPr>
        <p:blipFill>
          <a:blip r:embed="rId3"/>
          <a:stretch>
            <a:fillRect/>
          </a:stretch>
        </p:blipFill>
        <p:spPr>
          <a:xfrm>
            <a:off x="2594023" y="1032642"/>
            <a:ext cx="5987953" cy="685800"/>
          </a:xfrm>
          <a:prstGeom prst="rect">
            <a:avLst/>
          </a:prstGeom>
        </p:spPr>
      </p:pic>
    </p:spTree>
    <p:extLst>
      <p:ext uri="{BB962C8B-B14F-4D97-AF65-F5344CB8AC3E}">
        <p14:creationId xmlns:p14="http://schemas.microsoft.com/office/powerpoint/2010/main" val="186435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1. </a:t>
            </a:r>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31</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9" name="Picture 8">
            <a:extLst>
              <a:ext uri="{FF2B5EF4-FFF2-40B4-BE49-F238E27FC236}">
                <a16:creationId xmlns:a16="http://schemas.microsoft.com/office/drawing/2014/main" id="{44561545-5948-4FC8-AD36-87CA7F953069}"/>
              </a:ext>
            </a:extLst>
          </p:cNvPr>
          <p:cNvPicPr>
            <a:picLocks noChangeAspect="1"/>
          </p:cNvPicPr>
          <p:nvPr/>
        </p:nvPicPr>
        <p:blipFill>
          <a:blip r:embed="rId3"/>
          <a:stretch>
            <a:fillRect/>
          </a:stretch>
        </p:blipFill>
        <p:spPr>
          <a:xfrm>
            <a:off x="838199" y="2819400"/>
            <a:ext cx="2514601" cy="400878"/>
          </a:xfrm>
          <a:prstGeom prst="rect">
            <a:avLst/>
          </a:prstGeom>
        </p:spPr>
      </p:pic>
    </p:spTree>
    <p:extLst>
      <p:ext uri="{BB962C8B-B14F-4D97-AF65-F5344CB8AC3E}">
        <p14:creationId xmlns:p14="http://schemas.microsoft.com/office/powerpoint/2010/main" val="718169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2. </a:t>
            </a:r>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32</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6" name="Picture 5">
            <a:extLst>
              <a:ext uri="{FF2B5EF4-FFF2-40B4-BE49-F238E27FC236}">
                <a16:creationId xmlns:a16="http://schemas.microsoft.com/office/drawing/2014/main" id="{26D427E0-E9D9-44F5-BA3F-6FCAC88C381F}"/>
              </a:ext>
            </a:extLst>
          </p:cNvPr>
          <p:cNvPicPr>
            <a:picLocks noChangeAspect="1"/>
          </p:cNvPicPr>
          <p:nvPr/>
        </p:nvPicPr>
        <p:blipFill>
          <a:blip r:embed="rId3"/>
          <a:stretch>
            <a:fillRect/>
          </a:stretch>
        </p:blipFill>
        <p:spPr>
          <a:xfrm>
            <a:off x="838200" y="2743200"/>
            <a:ext cx="2133600" cy="408562"/>
          </a:xfrm>
          <a:prstGeom prst="rect">
            <a:avLst/>
          </a:prstGeom>
        </p:spPr>
      </p:pic>
    </p:spTree>
    <p:extLst>
      <p:ext uri="{BB962C8B-B14F-4D97-AF65-F5344CB8AC3E}">
        <p14:creationId xmlns:p14="http://schemas.microsoft.com/office/powerpoint/2010/main" val="4156754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3. </a:t>
            </a:r>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33</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6" name="Picture 5">
            <a:extLst>
              <a:ext uri="{FF2B5EF4-FFF2-40B4-BE49-F238E27FC236}">
                <a16:creationId xmlns:a16="http://schemas.microsoft.com/office/drawing/2014/main" id="{50533B9C-CB17-4C8E-8283-FF91B78BF725}"/>
              </a:ext>
            </a:extLst>
          </p:cNvPr>
          <p:cNvPicPr>
            <a:picLocks noChangeAspect="1"/>
          </p:cNvPicPr>
          <p:nvPr/>
        </p:nvPicPr>
        <p:blipFill>
          <a:blip r:embed="rId3"/>
          <a:stretch>
            <a:fillRect/>
          </a:stretch>
        </p:blipFill>
        <p:spPr>
          <a:xfrm>
            <a:off x="762000" y="2819400"/>
            <a:ext cx="2314575" cy="390525"/>
          </a:xfrm>
          <a:prstGeom prst="rect">
            <a:avLst/>
          </a:prstGeom>
        </p:spPr>
      </p:pic>
    </p:spTree>
    <p:extLst>
      <p:ext uri="{BB962C8B-B14F-4D97-AF65-F5344CB8AC3E}">
        <p14:creationId xmlns:p14="http://schemas.microsoft.com/office/powerpoint/2010/main" val="36675129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4. </a:t>
            </a:r>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34</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6" name="Picture 5">
            <a:extLst>
              <a:ext uri="{FF2B5EF4-FFF2-40B4-BE49-F238E27FC236}">
                <a16:creationId xmlns:a16="http://schemas.microsoft.com/office/drawing/2014/main" id="{784546C9-4CD9-4191-A754-558228509C7A}"/>
              </a:ext>
            </a:extLst>
          </p:cNvPr>
          <p:cNvPicPr>
            <a:picLocks noChangeAspect="1"/>
          </p:cNvPicPr>
          <p:nvPr/>
        </p:nvPicPr>
        <p:blipFill>
          <a:blip r:embed="rId3"/>
          <a:stretch>
            <a:fillRect/>
          </a:stretch>
        </p:blipFill>
        <p:spPr>
          <a:xfrm>
            <a:off x="838200" y="2819400"/>
            <a:ext cx="2686050" cy="342900"/>
          </a:xfrm>
          <a:prstGeom prst="rect">
            <a:avLst/>
          </a:prstGeom>
        </p:spPr>
      </p:pic>
    </p:spTree>
    <p:extLst>
      <p:ext uri="{BB962C8B-B14F-4D97-AF65-F5344CB8AC3E}">
        <p14:creationId xmlns:p14="http://schemas.microsoft.com/office/powerpoint/2010/main" val="38323106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5. </a:t>
            </a:r>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35</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6" name="Picture 5">
            <a:extLst>
              <a:ext uri="{FF2B5EF4-FFF2-40B4-BE49-F238E27FC236}">
                <a16:creationId xmlns:a16="http://schemas.microsoft.com/office/drawing/2014/main" id="{A8F77893-4619-4AE9-91CC-7686879DA763}"/>
              </a:ext>
            </a:extLst>
          </p:cNvPr>
          <p:cNvPicPr>
            <a:picLocks noChangeAspect="1"/>
          </p:cNvPicPr>
          <p:nvPr/>
        </p:nvPicPr>
        <p:blipFill>
          <a:blip r:embed="rId3"/>
          <a:stretch>
            <a:fillRect/>
          </a:stretch>
        </p:blipFill>
        <p:spPr>
          <a:xfrm>
            <a:off x="838200" y="2895600"/>
            <a:ext cx="2790825" cy="333375"/>
          </a:xfrm>
          <a:prstGeom prst="rect">
            <a:avLst/>
          </a:prstGeom>
        </p:spPr>
      </p:pic>
    </p:spTree>
    <p:extLst>
      <p:ext uri="{BB962C8B-B14F-4D97-AF65-F5344CB8AC3E}">
        <p14:creationId xmlns:p14="http://schemas.microsoft.com/office/powerpoint/2010/main" val="42174656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6. </a:t>
            </a:r>
            <a:endParaRPr lang="en-IN" baseline="30000" dirty="0"/>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36</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6" name="Picture 5">
            <a:extLst>
              <a:ext uri="{FF2B5EF4-FFF2-40B4-BE49-F238E27FC236}">
                <a16:creationId xmlns:a16="http://schemas.microsoft.com/office/drawing/2014/main" id="{378C8790-1EF2-465D-A4E7-FB57A263DF6B}"/>
              </a:ext>
            </a:extLst>
          </p:cNvPr>
          <p:cNvPicPr>
            <a:picLocks noChangeAspect="1"/>
          </p:cNvPicPr>
          <p:nvPr/>
        </p:nvPicPr>
        <p:blipFill>
          <a:blip r:embed="rId3"/>
          <a:stretch>
            <a:fillRect/>
          </a:stretch>
        </p:blipFill>
        <p:spPr>
          <a:xfrm>
            <a:off x="762000" y="2819400"/>
            <a:ext cx="2619375" cy="381000"/>
          </a:xfrm>
          <a:prstGeom prst="rect">
            <a:avLst/>
          </a:prstGeom>
        </p:spPr>
      </p:pic>
    </p:spTree>
    <p:extLst>
      <p:ext uri="{BB962C8B-B14F-4D97-AF65-F5344CB8AC3E}">
        <p14:creationId xmlns:p14="http://schemas.microsoft.com/office/powerpoint/2010/main" val="17028467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7. </a:t>
            </a:r>
            <a:endParaRPr lang="en-IN" baseline="30000" dirty="0"/>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37</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7" name="Picture 6">
            <a:extLst>
              <a:ext uri="{FF2B5EF4-FFF2-40B4-BE49-F238E27FC236}">
                <a16:creationId xmlns:a16="http://schemas.microsoft.com/office/drawing/2014/main" id="{97C375BF-5CB6-4139-84BC-6B9F9E322938}"/>
              </a:ext>
            </a:extLst>
          </p:cNvPr>
          <p:cNvPicPr>
            <a:picLocks noChangeAspect="1"/>
          </p:cNvPicPr>
          <p:nvPr/>
        </p:nvPicPr>
        <p:blipFill>
          <a:blip r:embed="rId3"/>
          <a:stretch>
            <a:fillRect/>
          </a:stretch>
        </p:blipFill>
        <p:spPr>
          <a:xfrm>
            <a:off x="914400" y="2819400"/>
            <a:ext cx="2533650" cy="352425"/>
          </a:xfrm>
          <a:prstGeom prst="rect">
            <a:avLst/>
          </a:prstGeom>
        </p:spPr>
      </p:pic>
    </p:spTree>
    <p:extLst>
      <p:ext uri="{BB962C8B-B14F-4D97-AF65-F5344CB8AC3E}">
        <p14:creationId xmlns:p14="http://schemas.microsoft.com/office/powerpoint/2010/main" val="254038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8. </a:t>
            </a:r>
            <a:endParaRPr lang="en-IN" baseline="30000" dirty="0"/>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38</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7" name="Picture 6">
            <a:extLst>
              <a:ext uri="{FF2B5EF4-FFF2-40B4-BE49-F238E27FC236}">
                <a16:creationId xmlns:a16="http://schemas.microsoft.com/office/drawing/2014/main" id="{702A9248-2BFC-40CF-96D5-C7CBF3FED4E3}"/>
              </a:ext>
            </a:extLst>
          </p:cNvPr>
          <p:cNvPicPr>
            <a:picLocks noChangeAspect="1"/>
          </p:cNvPicPr>
          <p:nvPr/>
        </p:nvPicPr>
        <p:blipFill>
          <a:blip r:embed="rId3"/>
          <a:stretch>
            <a:fillRect/>
          </a:stretch>
        </p:blipFill>
        <p:spPr>
          <a:xfrm>
            <a:off x="914400" y="2819400"/>
            <a:ext cx="2886075" cy="371475"/>
          </a:xfrm>
          <a:prstGeom prst="rect">
            <a:avLst/>
          </a:prstGeom>
        </p:spPr>
      </p:pic>
    </p:spTree>
    <p:extLst>
      <p:ext uri="{BB962C8B-B14F-4D97-AF65-F5344CB8AC3E}">
        <p14:creationId xmlns:p14="http://schemas.microsoft.com/office/powerpoint/2010/main" val="504515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9. </a:t>
            </a:r>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39</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6" name="Picture 5">
            <a:extLst>
              <a:ext uri="{FF2B5EF4-FFF2-40B4-BE49-F238E27FC236}">
                <a16:creationId xmlns:a16="http://schemas.microsoft.com/office/drawing/2014/main" id="{D233A352-2145-4512-A9ED-CE372F9ABE12}"/>
              </a:ext>
            </a:extLst>
          </p:cNvPr>
          <p:cNvPicPr>
            <a:picLocks noChangeAspect="1"/>
          </p:cNvPicPr>
          <p:nvPr/>
        </p:nvPicPr>
        <p:blipFill>
          <a:blip r:embed="rId3"/>
          <a:stretch>
            <a:fillRect/>
          </a:stretch>
        </p:blipFill>
        <p:spPr>
          <a:xfrm>
            <a:off x="838200" y="2809875"/>
            <a:ext cx="2524125" cy="390525"/>
          </a:xfrm>
          <a:prstGeom prst="rect">
            <a:avLst/>
          </a:prstGeom>
        </p:spPr>
      </p:pic>
    </p:spTree>
    <p:extLst>
      <p:ext uri="{BB962C8B-B14F-4D97-AF65-F5344CB8AC3E}">
        <p14:creationId xmlns:p14="http://schemas.microsoft.com/office/powerpoint/2010/main" val="11751011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A23847-193C-494F-BD81-F70EB7DE672C}"/>
              </a:ext>
            </a:extLst>
          </p:cNvPr>
          <p:cNvSpPr>
            <a:spLocks noGrp="1"/>
          </p:cNvSpPr>
          <p:nvPr>
            <p:ph idx="1"/>
          </p:nvPr>
        </p:nvSpPr>
        <p:spPr>
          <a:xfrm>
            <a:off x="254000" y="2743200"/>
            <a:ext cx="11684000" cy="3581400"/>
          </a:xfrm>
        </p:spPr>
        <p:txBody>
          <a:bodyPr/>
          <a:lstStyle/>
          <a:p>
            <a:pPr marL="0" indent="0">
              <a:buNone/>
            </a:pPr>
            <a:r>
              <a:rPr lang="en-IN" dirty="0"/>
              <a:t>10. </a:t>
            </a:r>
            <a:endParaRPr lang="en-IN" baseline="30000" dirty="0"/>
          </a:p>
        </p:txBody>
      </p:sp>
      <p:sp>
        <p:nvSpPr>
          <p:cNvPr id="4" name="Slide Number Placeholder 3">
            <a:extLst>
              <a:ext uri="{FF2B5EF4-FFF2-40B4-BE49-F238E27FC236}">
                <a16:creationId xmlns:a16="http://schemas.microsoft.com/office/drawing/2014/main" id="{A0C121E6-5349-48BC-B79A-635E62816BEE}"/>
              </a:ext>
            </a:extLst>
          </p:cNvPr>
          <p:cNvSpPr>
            <a:spLocks noGrp="1"/>
          </p:cNvSpPr>
          <p:nvPr>
            <p:ph type="sldNum" sz="quarter" idx="12"/>
          </p:nvPr>
        </p:nvSpPr>
        <p:spPr/>
        <p:txBody>
          <a:bodyPr/>
          <a:lstStyle/>
          <a:p>
            <a:fld id="{5EA8BEFB-AE5B-48F9-BBAD-B489CDE48C80}" type="slidenum">
              <a:rPr lang="en-US" smtClean="0"/>
              <a:pPr/>
              <a:t>40</a:t>
            </a:fld>
            <a:endParaRPr lang="en-US" dirty="0"/>
          </a:p>
        </p:txBody>
      </p:sp>
      <p:pic>
        <p:nvPicPr>
          <p:cNvPr id="5" name="Picture 4" descr="Text, letter&#10;&#10;Description automatically generated">
            <a:extLst>
              <a:ext uri="{FF2B5EF4-FFF2-40B4-BE49-F238E27FC236}">
                <a16:creationId xmlns:a16="http://schemas.microsoft.com/office/drawing/2014/main" id="{6E697C14-A716-42BF-8C7B-F2F41B45C6B7}"/>
              </a:ext>
            </a:extLst>
          </p:cNvPr>
          <p:cNvPicPr>
            <a:picLocks noChangeAspect="1"/>
          </p:cNvPicPr>
          <p:nvPr/>
        </p:nvPicPr>
        <p:blipFill>
          <a:blip r:embed="rId2"/>
          <a:stretch>
            <a:fillRect/>
          </a:stretch>
        </p:blipFill>
        <p:spPr>
          <a:xfrm>
            <a:off x="3191668" y="50998"/>
            <a:ext cx="5808663" cy="2514094"/>
          </a:xfrm>
          <a:prstGeom prst="rect">
            <a:avLst/>
          </a:prstGeom>
        </p:spPr>
      </p:pic>
      <p:pic>
        <p:nvPicPr>
          <p:cNvPr id="7" name="Picture 6">
            <a:extLst>
              <a:ext uri="{FF2B5EF4-FFF2-40B4-BE49-F238E27FC236}">
                <a16:creationId xmlns:a16="http://schemas.microsoft.com/office/drawing/2014/main" id="{9DE937F5-16DB-4CE4-B037-F6AE5C2FA997}"/>
              </a:ext>
            </a:extLst>
          </p:cNvPr>
          <p:cNvPicPr>
            <a:picLocks noChangeAspect="1"/>
          </p:cNvPicPr>
          <p:nvPr/>
        </p:nvPicPr>
        <p:blipFill>
          <a:blip r:embed="rId3"/>
          <a:stretch>
            <a:fillRect/>
          </a:stretch>
        </p:blipFill>
        <p:spPr>
          <a:xfrm>
            <a:off x="810418" y="2819400"/>
            <a:ext cx="2381250" cy="323850"/>
          </a:xfrm>
          <a:prstGeom prst="rect">
            <a:avLst/>
          </a:prstGeom>
        </p:spPr>
      </p:pic>
      <p:pic>
        <p:nvPicPr>
          <p:cNvPr id="9" name="Picture 8">
            <a:extLst>
              <a:ext uri="{FF2B5EF4-FFF2-40B4-BE49-F238E27FC236}">
                <a16:creationId xmlns:a16="http://schemas.microsoft.com/office/drawing/2014/main" id="{5188E6F8-784C-4AE2-A3BC-1E6FC577CA5D}"/>
              </a:ext>
            </a:extLst>
          </p:cNvPr>
          <p:cNvPicPr>
            <a:picLocks noChangeAspect="1"/>
          </p:cNvPicPr>
          <p:nvPr/>
        </p:nvPicPr>
        <p:blipFill>
          <a:blip r:embed="rId4"/>
          <a:stretch>
            <a:fillRect/>
          </a:stretch>
        </p:blipFill>
        <p:spPr>
          <a:xfrm>
            <a:off x="3886200" y="2819400"/>
            <a:ext cx="2657475" cy="342900"/>
          </a:xfrm>
          <a:prstGeom prst="rect">
            <a:avLst/>
          </a:prstGeom>
        </p:spPr>
      </p:pic>
      <p:pic>
        <p:nvPicPr>
          <p:cNvPr id="11" name="Picture 10">
            <a:extLst>
              <a:ext uri="{FF2B5EF4-FFF2-40B4-BE49-F238E27FC236}">
                <a16:creationId xmlns:a16="http://schemas.microsoft.com/office/drawing/2014/main" id="{97AF030D-485B-4433-B4DC-8230C5A90FD1}"/>
              </a:ext>
            </a:extLst>
          </p:cNvPr>
          <p:cNvPicPr>
            <a:picLocks noChangeAspect="1"/>
          </p:cNvPicPr>
          <p:nvPr/>
        </p:nvPicPr>
        <p:blipFill>
          <a:blip r:embed="rId5"/>
          <a:stretch>
            <a:fillRect/>
          </a:stretch>
        </p:blipFill>
        <p:spPr>
          <a:xfrm>
            <a:off x="6823868" y="2819400"/>
            <a:ext cx="2886075" cy="352425"/>
          </a:xfrm>
          <a:prstGeom prst="rect">
            <a:avLst/>
          </a:prstGeom>
        </p:spPr>
      </p:pic>
      <p:sp>
        <p:nvSpPr>
          <p:cNvPr id="6" name="TextBox 5">
            <a:extLst>
              <a:ext uri="{FF2B5EF4-FFF2-40B4-BE49-F238E27FC236}">
                <a16:creationId xmlns:a16="http://schemas.microsoft.com/office/drawing/2014/main" id="{CFE423A3-79C2-4D24-8B18-3698AB83E8EC}"/>
              </a:ext>
            </a:extLst>
          </p:cNvPr>
          <p:cNvSpPr txBox="1"/>
          <p:nvPr/>
        </p:nvSpPr>
        <p:spPr>
          <a:xfrm>
            <a:off x="3352800" y="4038600"/>
            <a:ext cx="4580741" cy="369332"/>
          </a:xfrm>
          <a:prstGeom prst="rect">
            <a:avLst/>
          </a:prstGeom>
          <a:noFill/>
        </p:spPr>
        <p:txBody>
          <a:bodyPr wrap="none" rtlCol="0">
            <a:spAutoFit/>
          </a:bodyPr>
          <a:lstStyle/>
          <a:p>
            <a:r>
              <a:rPr lang="en-IN" dirty="0">
                <a:solidFill>
                  <a:srgbClr val="C00000"/>
                </a:solidFill>
              </a:rPr>
              <a:t>We can not apply master method in such cases</a:t>
            </a:r>
          </a:p>
        </p:txBody>
      </p:sp>
    </p:spTree>
    <p:extLst>
      <p:ext uri="{BB962C8B-B14F-4D97-AF65-F5344CB8AC3E}">
        <p14:creationId xmlns:p14="http://schemas.microsoft.com/office/powerpoint/2010/main" val="27562869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Master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Example 4: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)=4</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/2) + </m:t>
                    </m:r>
                    <m:r>
                      <a:rPr lang="en-US" i="1" dirty="0">
                        <a:latin typeface="Cambria Math" panose="02040503050406030204" pitchFamily="18" charset="0"/>
                        <a:ea typeface="Cambria Math" panose="02040503050406030204" pitchFamily="18" charset="0"/>
                      </a:rPr>
                      <m:t>𝑛</m:t>
                    </m:r>
                    <m:r>
                      <a:rPr lang="en-US" i="1" baseline="30000" dirty="0">
                        <a:latin typeface="Cambria Math" panose="02040503050406030204" pitchFamily="18" charset="0"/>
                        <a:ea typeface="Cambria Math" panose="02040503050406030204" pitchFamily="18" charset="0"/>
                      </a:rPr>
                      <m:t>2</m:t>
                    </m:r>
                  </m:oMath>
                </a14:m>
                <a:endParaRPr lang="en-US" dirty="0"/>
              </a:p>
              <a:p>
                <a:r>
                  <a:rPr lang="en-US" dirty="0"/>
                  <a:t>Example 5: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)=4</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/2) + </m:t>
                    </m:r>
                    <m:r>
                      <a:rPr lang="en-US" i="1" dirty="0">
                        <a:latin typeface="Cambria Math" panose="02040503050406030204" pitchFamily="18" charset="0"/>
                      </a:rPr>
                      <m:t>𝑛</m:t>
                    </m:r>
                    <m:r>
                      <a:rPr lang="en-US" i="1" baseline="30000" dirty="0">
                        <a:latin typeface="Cambria Math" panose="02040503050406030204" pitchFamily="18" charset="0"/>
                      </a:rPr>
                      <m:t>3</m:t>
                    </m:r>
                  </m:oMath>
                </a14:m>
                <a:endParaRPr lang="en-US" dirty="0"/>
              </a:p>
              <a:p>
                <a:r>
                  <a:rPr lang="en-US" dirty="0"/>
                  <a:t>Example 6: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)=9</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/3) + </m:t>
                    </m:r>
                    <m:r>
                      <a:rPr lang="en-US" i="1" dirty="0" smtClean="0">
                        <a:latin typeface="Cambria Math" panose="02040503050406030204" pitchFamily="18" charset="0"/>
                      </a:rPr>
                      <m:t>𝑛</m:t>
                    </m:r>
                    <m:r>
                      <a:rPr lang="en-US" i="1" dirty="0" smtClean="0">
                        <a:latin typeface="Cambria Math" panose="02040503050406030204" pitchFamily="18" charset="0"/>
                      </a:rPr>
                      <m:t>  </m:t>
                    </m:r>
                  </m:oMath>
                </a14:m>
                <a:r>
                  <a:rPr lang="en-US" dirty="0"/>
                  <a:t> </a:t>
                </a:r>
              </a:p>
              <a:p>
                <a:r>
                  <a:rPr lang="en-US" dirty="0"/>
                  <a:t>Example 7: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𝑇</m:t>
                    </m:r>
                    <m:r>
                      <a:rPr lang="en-US" i="1" dirty="0" smtClean="0">
                        <a:latin typeface="Cambria Math" panose="02040503050406030204" pitchFamily="18" charset="0"/>
                      </a:rPr>
                      <m:t>(2</m:t>
                    </m:r>
                    <m:r>
                      <a:rPr lang="en-US" i="1" dirty="0" smtClean="0">
                        <a:latin typeface="Cambria Math" panose="02040503050406030204" pitchFamily="18" charset="0"/>
                      </a:rPr>
                      <m:t>𝑛</m:t>
                    </m:r>
                    <m:r>
                      <a:rPr lang="en-US" i="1" dirty="0" smtClean="0">
                        <a:latin typeface="Cambria Math" panose="02040503050406030204" pitchFamily="18" charset="0"/>
                      </a:rPr>
                      <m:t>/3) + 1   </m:t>
                    </m:r>
                  </m:oMath>
                </a14:m>
                <a:r>
                  <a:rPr lang="en-US" dirty="0"/>
                  <a:t> </a:t>
                </a:r>
              </a:p>
              <a:p>
                <a:r>
                  <a:rPr lang="en-US" dirty="0"/>
                  <a:t>Example 8: </a:t>
                </a:r>
                <a14:m>
                  <m:oMath xmlns:m="http://schemas.openxmlformats.org/officeDocument/2006/math">
                    <m:r>
                      <a:rPr lang="en-US" i="1" dirty="0">
                        <a:latin typeface="Cambria Math" panose="02040503050406030204" pitchFamily="18" charset="0"/>
                      </a:rPr>
                      <m:t>𝑇</m:t>
                    </m:r>
                    <m:d>
                      <m:dPr>
                        <m:ctrlPr>
                          <a:rPr lang="en-US" i="1" dirty="0">
                            <a:latin typeface="Cambria Math" panose="02040503050406030204" pitchFamily="18" charset="0"/>
                          </a:rPr>
                        </m:ctrlPr>
                      </m:dPr>
                      <m:e>
                        <m:r>
                          <a:rPr lang="en-US" i="1" dirty="0">
                            <a:latin typeface="Cambria Math" panose="02040503050406030204" pitchFamily="18" charset="0"/>
                          </a:rPr>
                          <m:t>𝑛</m:t>
                        </m:r>
                      </m:e>
                    </m:d>
                    <m:r>
                      <a:rPr lang="en-US" i="1" dirty="0">
                        <a:latin typeface="Cambria Math" panose="02040503050406030204" pitchFamily="18" charset="0"/>
                      </a:rPr>
                      <m:t>=</m:t>
                    </m:r>
                    <m:r>
                      <a:rPr lang="en-US" b="0" i="1" dirty="0" smtClean="0">
                        <a:latin typeface="Cambria Math" panose="02040503050406030204" pitchFamily="18" charset="0"/>
                      </a:rPr>
                      <m:t>7</m:t>
                    </m:r>
                    <m:r>
                      <a:rPr lang="en-US" i="1" dirty="0">
                        <a:latin typeface="Cambria Math" panose="02040503050406030204" pitchFamily="18" charset="0"/>
                      </a:rPr>
                      <m:t>𝑇</m:t>
                    </m:r>
                    <m:d>
                      <m:dPr>
                        <m:ctrlPr>
                          <a:rPr lang="en-US" i="1" dirty="0">
                            <a:latin typeface="Cambria Math" panose="02040503050406030204" pitchFamily="18" charset="0"/>
                          </a:rPr>
                        </m:ctrlPr>
                      </m:dPr>
                      <m:e>
                        <m:f>
                          <m:fPr>
                            <m:type m:val="lin"/>
                            <m:ctrlPr>
                              <a:rPr lang="en-US" i="1" dirty="0" smtClean="0">
                                <a:latin typeface="Cambria Math" panose="02040503050406030204" pitchFamily="18" charset="0"/>
                              </a:rPr>
                            </m:ctrlPr>
                          </m:fPr>
                          <m:num>
                            <m:r>
                              <a:rPr lang="en-US" b="0" i="1" dirty="0" smtClean="0">
                                <a:latin typeface="Cambria Math" panose="02040503050406030204" pitchFamily="18" charset="0"/>
                              </a:rPr>
                              <m:t>𝑛</m:t>
                            </m:r>
                          </m:num>
                          <m:den>
                            <m:r>
                              <a:rPr lang="en-US" b="0" i="1" dirty="0" smtClean="0">
                                <a:latin typeface="Cambria Math" panose="02040503050406030204" pitchFamily="18" charset="0"/>
                              </a:rPr>
                              <m:t>2</m:t>
                            </m:r>
                          </m:den>
                        </m:f>
                      </m:e>
                    </m:d>
                    <m:r>
                      <a:rPr lang="en-US" i="1" dirty="0">
                        <a:latin typeface="Cambria Math" panose="02040503050406030204" pitchFamily="18" charset="0"/>
                      </a:rPr>
                      <m:t>+</m:t>
                    </m:r>
                    <m:r>
                      <a:rPr lang="en-US" i="1" dirty="0">
                        <a:latin typeface="Cambria Math" panose="02040503050406030204" pitchFamily="18" charset="0"/>
                      </a:rPr>
                      <m:t>𝑛</m:t>
                    </m:r>
                    <m:r>
                      <a:rPr lang="en-US" i="1" baseline="30000" dirty="0">
                        <a:latin typeface="Cambria Math" panose="02040503050406030204" pitchFamily="18" charset="0"/>
                      </a:rPr>
                      <m:t>3</m:t>
                    </m:r>
                  </m:oMath>
                </a14:m>
                <a:r>
                  <a:rPr lang="en-US" dirty="0"/>
                  <a:t> </a:t>
                </a:r>
              </a:p>
              <a:p>
                <a:r>
                  <a:rPr lang="en-US" dirty="0"/>
                  <a:t>Example 9: </a:t>
                </a:r>
                <a14:m>
                  <m:oMath xmlns:m="http://schemas.openxmlformats.org/officeDocument/2006/math">
                    <m:r>
                      <a:rPr lang="en-US" i="1" dirty="0">
                        <a:latin typeface="Cambria Math" panose="02040503050406030204" pitchFamily="18" charset="0"/>
                      </a:rPr>
                      <m:t>𝑇</m:t>
                    </m:r>
                    <m:r>
                      <a:rPr lang="en-US" i="1" dirty="0">
                        <a:latin typeface="Cambria Math" panose="02040503050406030204" pitchFamily="18" charset="0"/>
                      </a:rPr>
                      <m:t>(</m:t>
                    </m:r>
                    <m:r>
                      <a:rPr lang="en-US" i="1" dirty="0">
                        <a:latin typeface="Cambria Math" panose="02040503050406030204" pitchFamily="18" charset="0"/>
                      </a:rPr>
                      <m:t>𝑛</m:t>
                    </m:r>
                    <m:r>
                      <a:rPr lang="en-US" i="1" dirty="0">
                        <a:latin typeface="Cambria Math" panose="02040503050406030204" pitchFamily="18" charset="0"/>
                      </a:rPr>
                      <m:t>)=27</m:t>
                    </m:r>
                    <m:r>
                      <a:rPr lang="en-US" i="1" dirty="0">
                        <a:latin typeface="Cambria Math" panose="02040503050406030204" pitchFamily="18" charset="0"/>
                      </a:rPr>
                      <m:t>𝑇</m:t>
                    </m:r>
                    <m:r>
                      <a:rPr lang="en-US" i="1" dirty="0">
                        <a:latin typeface="Cambria Math" panose="02040503050406030204" pitchFamily="18" charset="0"/>
                      </a:rPr>
                      <m:t>(</m:t>
                    </m:r>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𝑛</m:t>
                        </m:r>
                      </m:e>
                      <m:sup>
                        <m:r>
                          <a:rPr lang="en-US" b="0" i="1" dirty="0" smtClean="0">
                            <a:latin typeface="Cambria Math" panose="02040503050406030204" pitchFamily="18" charset="0"/>
                          </a:rPr>
                          <m:t>2</m:t>
                        </m:r>
                      </m:sup>
                    </m:sSup>
                    <m:r>
                      <a:rPr lang="en-US" i="1" dirty="0">
                        <a:latin typeface="Cambria Math" panose="02040503050406030204" pitchFamily="18" charset="0"/>
                      </a:rPr>
                      <m:t>) +</m:t>
                    </m:r>
                    <m:r>
                      <a:rPr lang="en-US" b="0" i="1" dirty="0" smtClean="0">
                        <a:latin typeface="Cambria Math" panose="02040503050406030204" pitchFamily="18" charset="0"/>
                      </a:rPr>
                      <m:t>16</m:t>
                    </m:r>
                    <m:r>
                      <a:rPr lang="en-US" i="1" dirty="0">
                        <a:latin typeface="Cambria Math" panose="02040503050406030204" pitchFamily="18" charset="0"/>
                      </a:rPr>
                      <m:t>𝑛</m:t>
                    </m:r>
                  </m:oMath>
                </a14:m>
                <a:endParaRPr lang="en-US" dirty="0"/>
              </a:p>
              <a:p>
                <a:endParaRPr lang="en-US" dirty="0"/>
              </a:p>
              <a:p>
                <a:pPr marL="0" indent="0">
                  <a:buNone/>
                </a:pPr>
                <a14:m>
                  <m:oMathPara xmlns:m="http://schemas.openxmlformats.org/officeDocument/2006/math">
                    <m:oMathParaPr>
                      <m:jc m:val="centerGroup"/>
                    </m:oMathParaPr>
                    <m:oMath xmlns:m="http://schemas.openxmlformats.org/officeDocument/2006/math">
                      <m:rad>
                        <m:radPr>
                          <m:degHide m:val="on"/>
                          <m:ctrlPr>
                            <a:rPr lang="en-US" i="1" smtClean="0">
                              <a:latin typeface="Cambria Math" panose="02040503050406030204" pitchFamily="18" charset="0"/>
                            </a:rPr>
                          </m:ctrlPr>
                        </m:radPr>
                        <m:deg/>
                        <m:e>
                          <m:r>
                            <a:rPr lang="en-IN" b="0" i="1" smtClean="0">
                              <a:latin typeface="Cambria Math" panose="02040503050406030204" pitchFamily="18" charset="0"/>
                            </a:rPr>
                            <m:t>2</m:t>
                          </m:r>
                        </m:e>
                      </m:rad>
                    </m:oMath>
                  </m:oMathPara>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457"/>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41</a:t>
            </a:fld>
            <a:endParaRPr lang="en-US" dirty="0"/>
          </a:p>
        </p:txBody>
      </p:sp>
    </p:spTree>
    <p:extLst>
      <p:ext uri="{BB962C8B-B14F-4D97-AF65-F5344CB8AC3E}">
        <p14:creationId xmlns:p14="http://schemas.microsoft.com/office/powerpoint/2010/main" val="2471553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Master Theorem for Subtract and Conquer Recurrences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latin typeface="Cambria Math" panose="02040503050406030204" pitchFamily="18" charset="0"/>
                    <a:ea typeface="Cambria Math" panose="02040503050406030204" pitchFamily="18" charset="0"/>
                  </a:rPr>
                  <a:t>Let T(n) be a function defined on positive n, and having the property</a:t>
                </a:r>
              </a:p>
              <a:p>
                <a:pPr marL="0" indent="0">
                  <a:buNone/>
                </a:pPr>
                <a:r>
                  <a:rPr lang="en-US" i="1" dirty="0">
                    <a:latin typeface="Cambria Math" panose="02040503050406030204" pitchFamily="18" charset="0"/>
                    <a:ea typeface="Cambria Math" panose="02040503050406030204" pitchFamily="18" charset="0"/>
                  </a:rPr>
                  <a:t>                           T(n)</a:t>
                </a:r>
                <a14:m>
                  <m:oMath xmlns:m="http://schemas.openxmlformats.org/officeDocument/2006/math">
                    <m:r>
                      <a:rPr lang="en-US" i="1">
                        <a:latin typeface="Cambria Math" panose="02040503050406030204" pitchFamily="18" charset="0"/>
                        <a:ea typeface="Cambria Math" panose="02040503050406030204" pitchFamily="18" charset="0"/>
                      </a:rPr>
                      <m:t>=</m:t>
                    </m:r>
                    <m:d>
                      <m:dPr>
                        <m:begChr m:val="{"/>
                        <m:endChr m:val=""/>
                        <m:ctrlPr>
                          <a:rPr lang="en-US" i="1">
                            <a:latin typeface="Cambria Math" panose="02040503050406030204" pitchFamily="18" charset="0"/>
                            <a:ea typeface="Cambria Math" panose="02040503050406030204" pitchFamily="18" charset="0"/>
                          </a:rPr>
                        </m:ctrlPr>
                      </m:dPr>
                      <m:e>
                        <m:eqArr>
                          <m:eqArrPr>
                            <m:ctrlPr>
                              <a:rPr lang="en-US" i="1">
                                <a:latin typeface="Cambria Math" panose="02040503050406030204" pitchFamily="18" charset="0"/>
                                <a:ea typeface="Cambria Math" panose="02040503050406030204" pitchFamily="18" charset="0"/>
                              </a:rPr>
                            </m:ctrlPr>
                          </m:eqArrPr>
                          <m:e>
                            <m:r>
                              <a:rPr lang="en-US" b="0" i="1" smtClean="0">
                                <a:latin typeface="Cambria Math" panose="02040503050406030204" pitchFamily="18" charset="0"/>
                                <a:ea typeface="Cambria Math" panose="02040503050406030204" pitchFamily="18" charset="0"/>
                              </a:rPr>
                              <m:t>𝑐</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≤1</m:t>
                            </m:r>
                          </m:e>
                          <m:e>
                            <m:r>
                              <a:rPr lang="en-US" b="0" i="1" smtClean="0">
                                <a:latin typeface="Cambria Math" panose="02040503050406030204" pitchFamily="18" charset="0"/>
                                <a:ea typeface="Cambria Math" panose="02040503050406030204" pitchFamily="18" charset="0"/>
                              </a:rPr>
                              <m:t>𝑎</m:t>
                            </m:r>
                            <m:r>
                              <a:rPr lang="en-US" i="1">
                                <a:latin typeface="Cambria Math" panose="02040503050406030204" pitchFamily="18" charset="0"/>
                                <a:ea typeface="Cambria Math" panose="02040503050406030204" pitchFamily="18" charset="0"/>
                              </a:rPr>
                              <m:t>𝑇</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𝑏</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𝑛</m:t>
                                </m:r>
                              </m:e>
                            </m:d>
                            <m:r>
                              <a:rPr lang="en-US" b="0" i="1" smtClean="0">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&gt;1</m:t>
                            </m:r>
                          </m:e>
                        </m:eqArr>
                      </m:e>
                    </m:d>
                  </m:oMath>
                </a14:m>
                <a:endParaRPr lang="en-US" i="1" dirty="0">
                  <a:latin typeface="Cambria Math" panose="02040503050406030204" pitchFamily="18" charset="0"/>
                  <a:ea typeface="Cambria Math" panose="02040503050406030204" pitchFamily="18" charset="0"/>
                </a:endParaRPr>
              </a:p>
              <a:p>
                <a:pPr marL="0" indent="0">
                  <a:buNone/>
                </a:pPr>
                <a:r>
                  <a:rPr lang="en-US" dirty="0">
                    <a:latin typeface="Cambria Math" panose="02040503050406030204" pitchFamily="18" charset="0"/>
                    <a:ea typeface="Cambria Math" panose="02040503050406030204" pitchFamily="18" charset="0"/>
                  </a:rPr>
                  <a:t>for some constants </a:t>
                </a:r>
                <a:r>
                  <a:rPr lang="en-US" dirty="0" err="1">
                    <a:latin typeface="Cambria Math" panose="02040503050406030204" pitchFamily="18" charset="0"/>
                    <a:ea typeface="Cambria Math" panose="02040503050406030204" pitchFamily="18" charset="0"/>
                  </a:rPr>
                  <a:t>c,a</a:t>
                </a:r>
                <a:r>
                  <a:rPr lang="en-US" dirty="0">
                    <a:latin typeface="Cambria Math" panose="02040503050406030204" pitchFamily="18" charset="0"/>
                    <a:ea typeface="Cambria Math" panose="02040503050406030204" pitchFamily="18" charset="0"/>
                  </a:rPr>
                  <a:t> &gt; 0,b ≥ 0,k ≥ 0, and function f(n). If f(n) is in O(</a:t>
                </a:r>
                <a:r>
                  <a:rPr lang="en-US" dirty="0" err="1">
                    <a:latin typeface="Cambria Math" panose="02040503050406030204" pitchFamily="18" charset="0"/>
                    <a:ea typeface="Cambria Math" panose="02040503050406030204" pitchFamily="18" charset="0"/>
                  </a:rPr>
                  <a:t>n</a:t>
                </a:r>
                <a:r>
                  <a:rPr lang="en-US" baseline="30000" dirty="0" err="1">
                    <a:latin typeface="Cambria Math" panose="02040503050406030204" pitchFamily="18" charset="0"/>
                    <a:ea typeface="Cambria Math" panose="02040503050406030204" pitchFamily="18" charset="0"/>
                  </a:rPr>
                  <a:t>k</a:t>
                </a:r>
                <a:r>
                  <a:rPr lang="en-US" dirty="0">
                    <a:latin typeface="Cambria Math" panose="02040503050406030204" pitchFamily="18" charset="0"/>
                    <a:ea typeface="Cambria Math" panose="02040503050406030204" pitchFamily="18" charset="0"/>
                  </a:rPr>
                  <a:t> ), then</a:t>
                </a:r>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835" t="-686"/>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42</a:t>
            </a:fld>
            <a:endParaRPr lang="en-US" dirty="0"/>
          </a:p>
        </p:txBody>
      </p:sp>
      <p:pic>
        <p:nvPicPr>
          <p:cNvPr id="5" name="Picture 4"/>
          <p:cNvPicPr>
            <a:picLocks noChangeAspect="1"/>
          </p:cNvPicPr>
          <p:nvPr/>
        </p:nvPicPr>
        <p:blipFill>
          <a:blip r:embed="rId3"/>
          <a:stretch>
            <a:fillRect/>
          </a:stretch>
        </p:blipFill>
        <p:spPr>
          <a:xfrm>
            <a:off x="2133600" y="3657600"/>
            <a:ext cx="4067175" cy="1181100"/>
          </a:xfrm>
          <a:prstGeom prst="rect">
            <a:avLst/>
          </a:prstGeom>
        </p:spPr>
      </p:pic>
    </p:spTree>
    <p:extLst>
      <p:ext uri="{BB962C8B-B14F-4D97-AF65-F5344CB8AC3E}">
        <p14:creationId xmlns:p14="http://schemas.microsoft.com/office/powerpoint/2010/main" val="23910023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p:sp>
        <p:nvSpPr>
          <p:cNvPr id="3" name="Content Placeholder 2"/>
          <p:cNvSpPr>
            <a:spLocks noGrp="1"/>
          </p:cNvSpPr>
          <p:nvPr>
            <p:ph idx="1"/>
          </p:nvPr>
        </p:nvSpPr>
        <p:spPr>
          <a:xfrm>
            <a:off x="254000" y="990600"/>
            <a:ext cx="11684000" cy="5502276"/>
          </a:xfrm>
        </p:spPr>
        <p:txBody>
          <a:bodyPr>
            <a:normAutofit/>
          </a:bodyPr>
          <a:lstStyle/>
          <a:p>
            <a:pPr marL="0" indent="0">
              <a:buNone/>
            </a:pPr>
            <a:r>
              <a:rPr lang="en-US" sz="2800" b="1" dirty="0"/>
              <a:t>Steps to solve recurrence relations using recursion tree method:</a:t>
            </a:r>
          </a:p>
          <a:p>
            <a:pPr marL="0" indent="0" fontAlgn="base">
              <a:buNone/>
            </a:pPr>
            <a:endParaRPr lang="en-US" b="1" u="sng" dirty="0"/>
          </a:p>
          <a:p>
            <a:pPr marL="0" indent="0" fontAlgn="base">
              <a:buNone/>
            </a:pPr>
            <a:r>
              <a:rPr lang="en-US" b="1" dirty="0"/>
              <a:t>Step-01: </a:t>
            </a:r>
            <a:r>
              <a:rPr lang="en-US" dirty="0"/>
              <a:t>Draw a recursion tree based on the given recurrence relation.</a:t>
            </a:r>
          </a:p>
          <a:p>
            <a:pPr marL="0" indent="0" fontAlgn="base">
              <a:buNone/>
            </a:pPr>
            <a:endParaRPr lang="en-US" b="1" dirty="0"/>
          </a:p>
          <a:p>
            <a:pPr marL="0" indent="0" fontAlgn="base">
              <a:buNone/>
            </a:pPr>
            <a:r>
              <a:rPr lang="en-US" b="1" dirty="0"/>
              <a:t>Step-02: </a:t>
            </a:r>
            <a:r>
              <a:rPr lang="en-US" dirty="0"/>
              <a:t>Determine-</a:t>
            </a:r>
          </a:p>
          <a:p>
            <a:pPr lvl="2" fontAlgn="base">
              <a:buFont typeface="Courier New" panose="02070309020205020404" pitchFamily="49" charset="0"/>
              <a:buChar char="o"/>
            </a:pPr>
            <a:r>
              <a:rPr lang="en-US" b="1" dirty="0">
                <a:solidFill>
                  <a:srgbClr val="00B050"/>
                </a:solidFill>
              </a:rPr>
              <a:t>Cost of each level</a:t>
            </a:r>
          </a:p>
          <a:p>
            <a:pPr lvl="2" fontAlgn="base">
              <a:buFont typeface="Courier New" panose="02070309020205020404" pitchFamily="49" charset="0"/>
              <a:buChar char="o"/>
            </a:pPr>
            <a:r>
              <a:rPr lang="en-US" dirty="0"/>
              <a:t>Total number of levels in the recursion tree</a:t>
            </a:r>
          </a:p>
          <a:p>
            <a:pPr lvl="2" fontAlgn="base">
              <a:buFont typeface="Courier New" panose="02070309020205020404" pitchFamily="49" charset="0"/>
              <a:buChar char="o"/>
            </a:pPr>
            <a:r>
              <a:rPr lang="en-US" dirty="0"/>
              <a:t>Number of nodes in the last level</a:t>
            </a:r>
          </a:p>
          <a:p>
            <a:pPr lvl="2" fontAlgn="base">
              <a:buFont typeface="Courier New" panose="02070309020205020404" pitchFamily="49" charset="0"/>
              <a:buChar char="o"/>
            </a:pPr>
            <a:r>
              <a:rPr lang="en-US" b="1" dirty="0">
                <a:solidFill>
                  <a:srgbClr val="FF0000"/>
                </a:solidFill>
              </a:rPr>
              <a:t>Cost of the last level</a:t>
            </a:r>
          </a:p>
          <a:p>
            <a:pPr marL="0" indent="0" fontAlgn="base">
              <a:buNone/>
            </a:pPr>
            <a:r>
              <a:rPr lang="en-US" b="1" dirty="0"/>
              <a:t>Step-03: </a:t>
            </a:r>
            <a:r>
              <a:rPr lang="en-US" sz="2000" b="1" dirty="0"/>
              <a:t>total cost </a:t>
            </a:r>
            <a:r>
              <a:rPr lang="en-US" sz="2000" b="1" dirty="0">
                <a:solidFill>
                  <a:srgbClr val="FF0000"/>
                </a:solidFill>
              </a:rPr>
              <a:t>= cost of leaf node + </a:t>
            </a:r>
            <a:r>
              <a:rPr lang="en-US" sz="2000" b="1" dirty="0">
                <a:solidFill>
                  <a:srgbClr val="00B050"/>
                </a:solidFill>
              </a:rPr>
              <a:t>cost of internal node</a:t>
            </a:r>
          </a:p>
          <a:p>
            <a:pPr marL="0" indent="0" fontAlgn="base">
              <a:buNone/>
            </a:pPr>
            <a:r>
              <a:rPr lang="en-US" sz="2000" b="1" dirty="0"/>
              <a:t>                   total cost </a:t>
            </a:r>
            <a:r>
              <a:rPr lang="en-US" sz="2000" b="1" dirty="0">
                <a:solidFill>
                  <a:srgbClr val="FF0000"/>
                </a:solidFill>
              </a:rPr>
              <a:t>= (cost of 1 leaf node* total leaf node) + </a:t>
            </a:r>
            <a:r>
              <a:rPr lang="en-US" sz="2000" b="1" dirty="0">
                <a:solidFill>
                  <a:srgbClr val="00B050"/>
                </a:solidFill>
              </a:rPr>
              <a:t>sum of cost at each level of internal node</a:t>
            </a:r>
          </a:p>
          <a:p>
            <a:pPr marL="0" indent="0" algn="l" fontAlgn="base">
              <a:buNone/>
            </a:pPr>
            <a:r>
              <a:rPr lang="en-US" sz="2000" b="1" dirty="0">
                <a:solidFill>
                  <a:srgbClr val="00B050"/>
                </a:solidFill>
              </a:rPr>
              <a:t>                   total cost = L</a:t>
            </a:r>
            <a:r>
              <a:rPr lang="en-US" sz="2000" b="1" baseline="-25000" dirty="0">
                <a:solidFill>
                  <a:srgbClr val="00B050"/>
                </a:solidFill>
              </a:rPr>
              <a:t>c</a:t>
            </a:r>
            <a:r>
              <a:rPr lang="en-US" sz="2000" b="1" dirty="0">
                <a:solidFill>
                  <a:srgbClr val="00B050"/>
                </a:solidFill>
              </a:rPr>
              <a:t> + </a:t>
            </a:r>
            <a:r>
              <a:rPr lang="en-US" sz="2000" b="1" dirty="0" err="1">
                <a:solidFill>
                  <a:srgbClr val="00B050"/>
                </a:solidFill>
              </a:rPr>
              <a:t>I</a:t>
            </a:r>
            <a:r>
              <a:rPr lang="en-US" sz="2000" b="1" baseline="-25000" dirty="0" err="1">
                <a:solidFill>
                  <a:srgbClr val="00B050"/>
                </a:solidFill>
              </a:rPr>
              <a:t>c</a:t>
            </a:r>
            <a:endParaRPr lang="en-US" sz="2000" baseline="-25000" dirty="0">
              <a:solidFill>
                <a:srgbClr val="00B050"/>
              </a:solidFill>
            </a:endParaRPr>
          </a:p>
          <a:p>
            <a:pPr marL="0" indent="0">
              <a:buNone/>
            </a:pPr>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43</a:t>
            </a:fld>
            <a:endParaRPr lang="en-US" dirty="0"/>
          </a:p>
        </p:txBody>
      </p:sp>
    </p:spTree>
    <p:extLst>
      <p:ext uri="{BB962C8B-B14F-4D97-AF65-F5344CB8AC3E}">
        <p14:creationId xmlns:p14="http://schemas.microsoft.com/office/powerpoint/2010/main" val="2164922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7" end="7"/>
                                            </p:txEl>
                                          </p:spTgt>
                                        </p:tgtEl>
                                        <p:attrNameLst>
                                          <p:attrName>style.visibility</p:attrName>
                                        </p:attrNameLst>
                                      </p:cBhvr>
                                      <p:to>
                                        <p:strVal val="visible"/>
                                      </p:to>
                                    </p:set>
                                    <p:animEffect transition="in" filter="fade">
                                      <p:cBhvr>
                                        <p:cTn id="26" dur="500"/>
                                        <p:tgtEl>
                                          <p:spTgt spid="3">
                                            <p:txEl>
                                              <p:pRg st="7" end="7"/>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animEffect transition="in" filter="fade">
                                      <p:cBhvr>
                                        <p:cTn id="29" dur="500"/>
                                        <p:tgtEl>
                                          <p:spTgt spid="3">
                                            <p:txEl>
                                              <p:pRg st="8" end="8"/>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9" end="9"/>
                                            </p:txEl>
                                          </p:spTgt>
                                        </p:tgtEl>
                                        <p:attrNameLst>
                                          <p:attrName>style.visibility</p:attrName>
                                        </p:attrNameLst>
                                      </p:cBhvr>
                                      <p:to>
                                        <p:strVal val="visible"/>
                                      </p:to>
                                    </p:set>
                                    <p:animEffect transition="in" filter="fade">
                                      <p:cBhvr>
                                        <p:cTn id="34" dur="500"/>
                                        <p:tgtEl>
                                          <p:spTgt spid="3">
                                            <p:txEl>
                                              <p:pRg st="9" end="9"/>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11" end="11"/>
                                            </p:txEl>
                                          </p:spTgt>
                                        </p:tgtEl>
                                        <p:attrNameLst>
                                          <p:attrName>style.visibility</p:attrName>
                                        </p:attrNameLst>
                                      </p:cBhvr>
                                      <p:to>
                                        <p:strVal val="visible"/>
                                      </p:to>
                                    </p:set>
                                    <p:animEffect transition="in" filter="fade">
                                      <p:cBhvr>
                                        <p:cTn id="44"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16F38-5F54-4B7B-9EFC-CAA47E88E9F8}"/>
              </a:ext>
            </a:extLst>
          </p:cNvPr>
          <p:cNvSpPr>
            <a:spLocks noGrp="1"/>
          </p:cNvSpPr>
          <p:nvPr>
            <p:ph type="title"/>
          </p:nvPr>
        </p:nvSpPr>
        <p:spPr/>
        <p:txBody>
          <a:bodyPr/>
          <a:lstStyle/>
          <a:p>
            <a:r>
              <a:rPr lang="en-IN" dirty="0"/>
              <a:t>Important formula</a:t>
            </a:r>
          </a:p>
        </p:txBody>
      </p:sp>
      <p:sp>
        <p:nvSpPr>
          <p:cNvPr id="4" name="Slide Number Placeholder 3">
            <a:extLst>
              <a:ext uri="{FF2B5EF4-FFF2-40B4-BE49-F238E27FC236}">
                <a16:creationId xmlns:a16="http://schemas.microsoft.com/office/drawing/2014/main" id="{4F112959-4A19-4CC9-AAA8-79D7B09E2686}"/>
              </a:ext>
            </a:extLst>
          </p:cNvPr>
          <p:cNvSpPr>
            <a:spLocks noGrp="1"/>
          </p:cNvSpPr>
          <p:nvPr>
            <p:ph type="sldNum" sz="quarter" idx="12"/>
          </p:nvPr>
        </p:nvSpPr>
        <p:spPr/>
        <p:txBody>
          <a:bodyPr/>
          <a:lstStyle/>
          <a:p>
            <a:fld id="{5EA8BEFB-AE5B-48F9-BBAD-B489CDE48C80}" type="slidenum">
              <a:rPr lang="en-US" smtClean="0"/>
              <a:pPr/>
              <a:t>44</a:t>
            </a:fld>
            <a:endParaRPr lang="en-US" dirty="0"/>
          </a:p>
        </p:txBody>
      </p:sp>
      <p:pic>
        <p:nvPicPr>
          <p:cNvPr id="14" name="Picture 13">
            <a:extLst>
              <a:ext uri="{FF2B5EF4-FFF2-40B4-BE49-F238E27FC236}">
                <a16:creationId xmlns:a16="http://schemas.microsoft.com/office/drawing/2014/main" id="{60D870DB-617E-4233-A006-9E70705E075F}"/>
              </a:ext>
            </a:extLst>
          </p:cNvPr>
          <p:cNvPicPr>
            <a:picLocks noChangeAspect="1"/>
          </p:cNvPicPr>
          <p:nvPr/>
        </p:nvPicPr>
        <p:blipFill>
          <a:blip r:embed="rId2"/>
          <a:stretch>
            <a:fillRect/>
          </a:stretch>
        </p:blipFill>
        <p:spPr>
          <a:xfrm>
            <a:off x="1600200" y="1371600"/>
            <a:ext cx="7467600" cy="3973585"/>
          </a:xfrm>
          <a:prstGeom prst="rect">
            <a:avLst/>
          </a:prstGeom>
        </p:spPr>
      </p:pic>
    </p:spTree>
    <p:extLst>
      <p:ext uri="{BB962C8B-B14F-4D97-AF65-F5344CB8AC3E}">
        <p14:creationId xmlns:p14="http://schemas.microsoft.com/office/powerpoint/2010/main" val="15271638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Here while solving recurrences, we </a:t>
                </a:r>
                <a:r>
                  <a:rPr lang="en-US" b="1" dirty="0"/>
                  <a:t>divide the problem </a:t>
                </a:r>
                <a:r>
                  <a:rPr lang="en-US" dirty="0"/>
                  <a:t>into sub-problems of  equal size.</a:t>
                </a:r>
              </a:p>
              <a:p>
                <a:r>
                  <a:rPr lang="en-US" altLang="en-US" dirty="0"/>
                  <a:t>E.g., </a:t>
                </a:r>
                <a14:m>
                  <m:oMath xmlns:m="http://schemas.openxmlformats.org/officeDocument/2006/math">
                    <m:r>
                      <a:rPr lang="en-US" altLang="en-US" i="1" dirty="0" smtClean="0">
                        <a:solidFill>
                          <a:srgbClr val="0066FF"/>
                        </a:solidFill>
                        <a:latin typeface="Cambria Math" panose="02040503050406030204" pitchFamily="18" charset="0"/>
                      </a:rPr>
                      <m:t>𝑇</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𝑛</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𝑎</m:t>
                    </m:r>
                    <m:r>
                      <a:rPr lang="en-US" altLang="en-US" i="1" dirty="0" smtClean="0">
                        <a:solidFill>
                          <a:srgbClr val="0066FF"/>
                        </a:solidFill>
                        <a:latin typeface="Cambria Math" panose="02040503050406030204" pitchFamily="18" charset="0"/>
                      </a:rPr>
                      <m:t> </m:t>
                    </m:r>
                    <m:r>
                      <a:rPr lang="en-US" altLang="en-US" i="1" dirty="0" smtClean="0">
                        <a:solidFill>
                          <a:srgbClr val="0066FF"/>
                        </a:solidFill>
                        <a:latin typeface="Cambria Math" panose="02040503050406030204" pitchFamily="18" charset="0"/>
                      </a:rPr>
                      <m:t>𝑇</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𝑛</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𝑏</m:t>
                    </m:r>
                    <m:r>
                      <a:rPr lang="en-US" altLang="en-US" i="1" dirty="0" smtClean="0">
                        <a:solidFill>
                          <a:srgbClr val="0066FF"/>
                        </a:solidFill>
                        <a:latin typeface="Cambria Math" panose="02040503050406030204" pitchFamily="18" charset="0"/>
                      </a:rPr>
                      <m:t>) + </m:t>
                    </m:r>
                    <m:r>
                      <a:rPr lang="en-US" altLang="en-US" i="1" dirty="0" smtClean="0">
                        <a:solidFill>
                          <a:srgbClr val="0066FF"/>
                        </a:solidFill>
                        <a:latin typeface="Cambria Math" panose="02040503050406030204" pitchFamily="18" charset="0"/>
                      </a:rPr>
                      <m:t>𝑓</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𝑛</m:t>
                    </m:r>
                    <m:r>
                      <a:rPr lang="en-US" altLang="en-US" i="1" dirty="0" smtClean="0">
                        <a:solidFill>
                          <a:srgbClr val="0066FF"/>
                        </a:solidFill>
                        <a:latin typeface="Cambria Math" panose="02040503050406030204" pitchFamily="18" charset="0"/>
                      </a:rPr>
                      <m:t>) </m:t>
                    </m:r>
                  </m:oMath>
                </a14:m>
                <a:r>
                  <a:rPr lang="en-US" altLang="en-US" dirty="0"/>
                  <a:t>where </a:t>
                </a:r>
                <a14:m>
                  <m:oMath xmlns:m="http://schemas.openxmlformats.org/officeDocument/2006/math">
                    <m:r>
                      <a:rPr lang="en-US" altLang="en-US" i="1" dirty="0" smtClean="0">
                        <a:latin typeface="Cambria Math" panose="02040503050406030204" pitchFamily="18" charset="0"/>
                      </a:rPr>
                      <m:t>𝑎</m:t>
                    </m:r>
                    <m:r>
                      <a:rPr lang="en-US" altLang="en-US" i="1" dirty="0">
                        <a:latin typeface="Cambria Math" panose="02040503050406030204" pitchFamily="18" charset="0"/>
                      </a:rPr>
                      <m:t>&gt;1 ,</m:t>
                    </m:r>
                    <m:r>
                      <a:rPr lang="en-US" altLang="en-US" i="1" dirty="0">
                        <a:latin typeface="Cambria Math" panose="02040503050406030204" pitchFamily="18" charset="0"/>
                      </a:rPr>
                      <m:t>𝑏</m:t>
                    </m:r>
                    <m:r>
                      <a:rPr lang="en-US" altLang="en-US" i="1" dirty="0">
                        <a:latin typeface="Cambria Math" panose="02040503050406030204" pitchFamily="18" charset="0"/>
                      </a:rPr>
                      <m:t>&gt;1 </m:t>
                    </m:r>
                  </m:oMath>
                </a14:m>
                <a:r>
                  <a:rPr lang="en-US" altLang="en-US" dirty="0"/>
                  <a:t>and </a:t>
                </a:r>
                <a14:m>
                  <m:oMath xmlns:m="http://schemas.openxmlformats.org/officeDocument/2006/math">
                    <m:r>
                      <a:rPr lang="en-US" altLang="en-US" i="1" dirty="0" smtClean="0">
                        <a:latin typeface="Cambria Math" panose="02040503050406030204" pitchFamily="18" charset="0"/>
                      </a:rPr>
                      <m:t>𝑓</m:t>
                    </m:r>
                    <m:r>
                      <a:rPr lang="en-US" altLang="en-US" i="1" dirty="0" smtClean="0">
                        <a:latin typeface="Cambria Math" panose="02040503050406030204" pitchFamily="18" charset="0"/>
                      </a:rPr>
                      <m:t>(</m:t>
                    </m:r>
                    <m:r>
                      <a:rPr lang="en-US" altLang="en-US" i="1" dirty="0" smtClean="0">
                        <a:latin typeface="Cambria Math" panose="02040503050406030204" pitchFamily="18" charset="0"/>
                      </a:rPr>
                      <m:t>𝑛</m:t>
                    </m:r>
                    <m:r>
                      <a:rPr lang="en-US" altLang="en-US" i="1" dirty="0" smtClean="0">
                        <a:latin typeface="Cambria Math" panose="02040503050406030204" pitchFamily="18" charset="0"/>
                      </a:rPr>
                      <m:t>)</m:t>
                    </m:r>
                  </m:oMath>
                </a14:m>
                <a:r>
                  <a:rPr lang="en-US" altLang="en-US" dirty="0"/>
                  <a:t> is a given function.</a:t>
                </a:r>
              </a:p>
              <a:p>
                <a14:m>
                  <m:oMath xmlns:m="http://schemas.openxmlformats.org/officeDocument/2006/math">
                    <m:r>
                      <a:rPr lang="en-US" altLang="en-US" i="1" dirty="0" smtClean="0">
                        <a:latin typeface="Cambria Math" panose="02040503050406030204" pitchFamily="18" charset="0"/>
                      </a:rPr>
                      <m:t>𝐹</m:t>
                    </m:r>
                    <m:r>
                      <a:rPr lang="en-US" altLang="en-US" i="1" dirty="0" smtClean="0">
                        <a:latin typeface="Cambria Math" panose="02040503050406030204" pitchFamily="18" charset="0"/>
                      </a:rPr>
                      <m:t>(</m:t>
                    </m:r>
                    <m:r>
                      <a:rPr lang="en-US" altLang="en-US" i="1" dirty="0" smtClean="0">
                        <a:latin typeface="Cambria Math" panose="02040503050406030204" pitchFamily="18" charset="0"/>
                      </a:rPr>
                      <m:t>𝑛</m:t>
                    </m:r>
                    <m:r>
                      <a:rPr lang="en-US" altLang="en-US" i="1" dirty="0">
                        <a:latin typeface="Cambria Math" panose="02040503050406030204" pitchFamily="18" charset="0"/>
                      </a:rPr>
                      <m:t>)</m:t>
                    </m:r>
                  </m:oMath>
                </a14:m>
                <a:r>
                  <a:rPr lang="en-US" altLang="en-US" dirty="0"/>
                  <a:t> is the cost of </a:t>
                </a:r>
                <a:r>
                  <a:rPr lang="en-US" altLang="en-US" b="1" dirty="0"/>
                  <a:t>splitting or combining </a:t>
                </a:r>
                <a:r>
                  <a:rPr lang="en-US" altLang="en-US" dirty="0"/>
                  <a:t>the sub problems.</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04" t="-457" r="-1043"/>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45</a:t>
            </a:fld>
            <a:endParaRPr lang="en-US" dirty="0"/>
          </a:p>
        </p:txBody>
      </p:sp>
      <mc:AlternateContent xmlns:mc="http://schemas.openxmlformats.org/markup-compatibility/2006" xmlns:a14="http://schemas.microsoft.com/office/drawing/2010/main">
        <mc:Choice Requires="a14">
          <p:sp>
            <p:nvSpPr>
              <p:cNvPr id="6" name="Oval 5"/>
              <p:cNvSpPr/>
              <p:nvPr/>
            </p:nvSpPr>
            <p:spPr>
              <a:xfrm>
                <a:off x="5410200" y="3581400"/>
                <a:ext cx="640080" cy="6400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𝑛</m:t>
                      </m:r>
                    </m:oMath>
                  </m:oMathPara>
                </a14:m>
                <a:endParaRPr lang="en-US" sz="2400" dirty="0">
                  <a:solidFill>
                    <a:srgbClr val="C00000"/>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5410200" y="3581400"/>
                <a:ext cx="640080" cy="640080"/>
              </a:xfrm>
              <a:prstGeom prst="ellipse">
                <a:avLst/>
              </a:prstGeom>
              <a:blipFill>
                <a:blip r:embed="rId3"/>
                <a:stretch>
                  <a:fillRect/>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4495800" y="4915308"/>
                <a:ext cx="640080" cy="6400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𝑏</m:t>
                          </m:r>
                        </m:den>
                      </m:f>
                    </m:oMath>
                  </m:oMathPara>
                </a14:m>
                <a:endParaRPr lang="en-US" sz="2400" dirty="0">
                  <a:solidFill>
                    <a:srgbClr val="C00000"/>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4495800" y="4915308"/>
                <a:ext cx="640080" cy="640080"/>
              </a:xfrm>
              <a:prstGeom prst="ellipse">
                <a:avLst/>
              </a:prstGeom>
              <a:blipFill>
                <a:blip r:embed="rId4"/>
                <a:stretch>
                  <a:fillRect l="-50459" t="-71560" r="-55963" b="-118349"/>
                </a:stretch>
              </a:blipFill>
              <a:ln>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Oval 8"/>
              <p:cNvSpPr/>
              <p:nvPr/>
            </p:nvSpPr>
            <p:spPr>
              <a:xfrm>
                <a:off x="6385560" y="4915308"/>
                <a:ext cx="640080" cy="6400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𝑏</m:t>
                          </m:r>
                        </m:den>
                      </m:f>
                    </m:oMath>
                  </m:oMathPara>
                </a14:m>
                <a:endParaRPr lang="en-US" sz="2400" dirty="0">
                  <a:solidFill>
                    <a:srgbClr val="C00000"/>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6385560" y="4915308"/>
                <a:ext cx="640080" cy="640080"/>
              </a:xfrm>
              <a:prstGeom prst="ellipse">
                <a:avLst/>
              </a:prstGeom>
              <a:blipFill>
                <a:blip r:embed="rId4"/>
                <a:stretch>
                  <a:fillRect l="-50459" t="-71560" r="-55963" b="-118349"/>
                </a:stretch>
              </a:blipFill>
              <a:ln>
                <a:solidFill>
                  <a:schemeClr val="tx1"/>
                </a:solidFill>
              </a:ln>
            </p:spPr>
            <p:txBody>
              <a:bodyPr/>
              <a:lstStyle/>
              <a:p>
                <a:r>
                  <a:rPr lang="en-IN">
                    <a:noFill/>
                  </a:rPr>
                  <a:t> </a:t>
                </a:r>
              </a:p>
            </p:txBody>
          </p:sp>
        </mc:Fallback>
      </mc:AlternateContent>
      <p:cxnSp>
        <p:nvCxnSpPr>
          <p:cNvPr id="10" name="Straight Connector 9"/>
          <p:cNvCxnSpPr>
            <a:stCxn id="6" idx="3"/>
            <a:endCxn id="8" idx="0"/>
          </p:cNvCxnSpPr>
          <p:nvPr/>
        </p:nvCxnSpPr>
        <p:spPr>
          <a:xfrm flipH="1">
            <a:off x="4815840" y="4127742"/>
            <a:ext cx="688098" cy="78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6" idx="5"/>
            <a:endCxn id="9" idx="0"/>
          </p:cNvCxnSpPr>
          <p:nvPr/>
        </p:nvCxnSpPr>
        <p:spPr>
          <a:xfrm>
            <a:off x="5956542" y="4127742"/>
            <a:ext cx="749058" cy="78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1708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par>
                          <p:cTn id="23" fill="hold">
                            <p:stCondLst>
                              <p:cond delay="500"/>
                            </p:stCondLst>
                            <p:childTnLst>
                              <p:par>
                                <p:cTn id="24" presetID="22" presetClass="entr" presetSubtype="1" fill="hold"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up)">
                                      <p:cBhvr>
                                        <p:cTn id="26" dur="500"/>
                                        <p:tgtEl>
                                          <p:spTgt spid="10"/>
                                        </p:tgtEl>
                                      </p:cBhvr>
                                    </p:animEffect>
                                  </p:childTnLst>
                                </p:cTn>
                              </p:par>
                              <p:par>
                                <p:cTn id="27" presetID="22" presetClass="entr" presetSubtype="1"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up)">
                                      <p:cBhvr>
                                        <p:cTn id="29" dur="500"/>
                                        <p:tgtEl>
                                          <p:spTgt spid="12"/>
                                        </p:tgtEl>
                                      </p:cBhvr>
                                    </p:animEffect>
                                  </p:childTnLst>
                                </p:cTn>
                              </p:par>
                            </p:childTnLst>
                          </p:cTn>
                        </p:par>
                        <p:par>
                          <p:cTn id="30" fill="hold">
                            <p:stCondLst>
                              <p:cond delay="1000"/>
                            </p:stCondLst>
                            <p:childTnLst>
                              <p:par>
                                <p:cTn id="31" presetID="10"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8"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solidFill>
                      <a:srgbClr val="0066FF"/>
                    </a:solidFill>
                  </a:rPr>
                  <a:t>Example 1: </a:t>
                </a:r>
                <a14:m>
                  <m:oMath xmlns:m="http://schemas.openxmlformats.org/officeDocument/2006/math">
                    <m:r>
                      <a:rPr lang="en-US" altLang="en-US" i="1" dirty="0" smtClean="0">
                        <a:solidFill>
                          <a:srgbClr val="0066FF"/>
                        </a:solidFill>
                        <a:latin typeface="Cambria Math" panose="02040503050406030204" pitchFamily="18" charset="0"/>
                      </a:rPr>
                      <m:t>𝑇</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𝑛</m:t>
                    </m:r>
                    <m:r>
                      <a:rPr lang="en-US" altLang="en-US" i="1" dirty="0" smtClean="0">
                        <a:solidFill>
                          <a:srgbClr val="0066FF"/>
                        </a:solidFill>
                        <a:latin typeface="Cambria Math" panose="02040503050406030204" pitchFamily="18" charset="0"/>
                      </a:rPr>
                      <m:t>)=2</m:t>
                    </m:r>
                    <m:r>
                      <a:rPr lang="en-US" altLang="en-US" i="1" dirty="0" smtClean="0">
                        <a:solidFill>
                          <a:srgbClr val="0066FF"/>
                        </a:solidFill>
                        <a:latin typeface="Cambria Math" panose="02040503050406030204" pitchFamily="18" charset="0"/>
                      </a:rPr>
                      <m:t>𝑇</m:t>
                    </m:r>
                    <m:r>
                      <a:rPr lang="en-US" altLang="en-US" i="1" dirty="0" smtClean="0">
                        <a:solidFill>
                          <a:srgbClr val="0066FF"/>
                        </a:solidFill>
                        <a:latin typeface="Cambria Math" panose="02040503050406030204" pitchFamily="18" charset="0"/>
                      </a:rPr>
                      <m:t>(</m:t>
                    </m:r>
                    <m:r>
                      <a:rPr lang="en-US" altLang="en-US" i="1" dirty="0" smtClean="0">
                        <a:solidFill>
                          <a:srgbClr val="0066FF"/>
                        </a:solidFill>
                        <a:latin typeface="Cambria Math" panose="02040503050406030204" pitchFamily="18" charset="0"/>
                      </a:rPr>
                      <m:t>𝑛</m:t>
                    </m:r>
                    <m:r>
                      <a:rPr lang="en-US" altLang="en-US" i="1" dirty="0" smtClean="0">
                        <a:solidFill>
                          <a:srgbClr val="0066FF"/>
                        </a:solidFill>
                        <a:latin typeface="Cambria Math" panose="02040503050406030204" pitchFamily="18" charset="0"/>
                      </a:rPr>
                      <m:t>/2)+</m:t>
                    </m:r>
                    <m:r>
                      <a:rPr lang="en-US" altLang="en-US" i="1" dirty="0" smtClean="0">
                        <a:solidFill>
                          <a:srgbClr val="0066FF"/>
                        </a:solidFill>
                        <a:latin typeface="Cambria Math" panose="02040503050406030204" pitchFamily="18" charset="0"/>
                      </a:rPr>
                      <m:t>𝑛</m:t>
                    </m:r>
                  </m:oMath>
                </a14:m>
                <a:endParaRPr lang="en-US" altLang="en-US" dirty="0">
                  <a:solidFill>
                    <a:srgbClr val="0066FF"/>
                  </a:solidFill>
                </a:endParaRPr>
              </a:p>
              <a:p>
                <a:r>
                  <a:rPr lang="en-US" dirty="0"/>
                  <a:t>The recursion tree for this recurrence is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590800" y="3733801"/>
                <a:ext cx="91440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cs typeface="Times New Roman" panose="02020603050405020304" pitchFamily="18" charset="0"/>
                        </a:rPr>
                        <m:t>log</m:t>
                      </m:r>
                      <m:r>
                        <a:rPr lang="en-US" altLang="en-US" sz="2400" i="1" baseline="-25000" dirty="0">
                          <a:latin typeface="Cambria Math" panose="02040503050406030204" pitchFamily="18" charset="0"/>
                          <a:cs typeface="Times New Roman" panose="02020603050405020304" pitchFamily="18" charset="0"/>
                        </a:rPr>
                        <m:t>2 </m:t>
                      </m:r>
                      <m:r>
                        <a:rPr lang="en-US" altLang="en-US" sz="2400" i="1" dirty="0">
                          <a:latin typeface="Cambria Math" panose="02040503050406030204" pitchFamily="18" charset="0"/>
                          <a:cs typeface="Times New Roman" panose="02020603050405020304" pitchFamily="18" charset="0"/>
                        </a:rPr>
                        <m:t>𝑛</m:t>
                      </m:r>
                    </m:oMath>
                  </m:oMathPara>
                </a14:m>
                <a:endParaRPr lang="en-US" altLang="en-US" sz="2400" dirty="0">
                  <a:latin typeface="+mj-lt"/>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2590800" y="3733801"/>
                <a:ext cx="914400" cy="461665"/>
              </a:xfrm>
              <a:prstGeom prst="rect">
                <a:avLst/>
              </a:prstGeom>
              <a:blipFill>
                <a:blip r:embed="rId3"/>
                <a:stretch>
                  <a:fillRect l="-5333" b="-17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9325968" y="4523097"/>
                <a:ext cx="3780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i="1" dirty="0">
                          <a:latin typeface="Cambria Math" panose="02040503050406030204" pitchFamily="18" charset="0"/>
                          <a:cs typeface="Times New Roman" panose="02020603050405020304" pitchFamily="18" charset="0"/>
                        </a:rPr>
                        <m:t>𝑛</m:t>
                      </m:r>
                    </m:oMath>
                  </m:oMathPara>
                </a14:m>
                <a:endParaRPr lang="en-US" sz="2400" dirty="0">
                  <a:latin typeface="+mj-lt"/>
                </a:endParaRPr>
              </a:p>
            </p:txBody>
          </p:sp>
        </mc:Choice>
        <mc:Fallback xmlns="">
          <p:sp>
            <p:nvSpPr>
              <p:cNvPr id="6" name="Rectangle 5"/>
              <p:cNvSpPr>
                <a:spLocks noRot="1" noChangeAspect="1" noMove="1" noResize="1" noEditPoints="1" noAdjustHandles="1" noChangeArrowheads="1" noChangeShapeType="1" noTextEdit="1"/>
              </p:cNvSpPr>
              <p:nvPr/>
            </p:nvSpPr>
            <p:spPr>
              <a:xfrm>
                <a:off x="9325968" y="4523097"/>
                <a:ext cx="378076"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9296400" y="3352801"/>
                <a:ext cx="3780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i="1" dirty="0">
                          <a:latin typeface="Cambria Math" panose="02040503050406030204" pitchFamily="18" charset="0"/>
                          <a:cs typeface="Times New Roman" panose="02020603050405020304" pitchFamily="18" charset="0"/>
                        </a:rPr>
                        <m:t>𝑛</m:t>
                      </m:r>
                    </m:oMath>
                  </m:oMathPara>
                </a14:m>
                <a:endParaRPr lang="en-US" sz="2400" dirty="0">
                  <a:latin typeface="+mj-lt"/>
                </a:endParaRPr>
              </a:p>
            </p:txBody>
          </p:sp>
        </mc:Choice>
        <mc:Fallback xmlns="">
          <p:sp>
            <p:nvSpPr>
              <p:cNvPr id="7" name="Rectangle 6"/>
              <p:cNvSpPr>
                <a:spLocks noRot="1" noChangeAspect="1" noMove="1" noResize="1" noEditPoints="1" noAdjustHandles="1" noChangeArrowheads="1" noChangeShapeType="1" noTextEdit="1"/>
              </p:cNvSpPr>
              <p:nvPr/>
            </p:nvSpPr>
            <p:spPr>
              <a:xfrm>
                <a:off x="9296400" y="3352801"/>
                <a:ext cx="378076" cy="461665"/>
              </a:xfrm>
              <a:prstGeom prst="rect">
                <a:avLst/>
              </a:prstGeom>
              <a:blipFill>
                <a:blip r:embed="rId5"/>
                <a:stretch>
                  <a:fillRect/>
                </a:stretch>
              </a:blipFill>
            </p:spPr>
            <p:txBody>
              <a:bodyPr/>
              <a:lstStyle/>
              <a:p>
                <a:r>
                  <a:rPr lang="en-IN">
                    <a:noFill/>
                  </a:rPr>
                  <a:t> </a:t>
                </a:r>
              </a:p>
            </p:txBody>
          </p:sp>
        </mc:Fallback>
      </mc:AlternateContent>
      <p:sp>
        <p:nvSpPr>
          <p:cNvPr id="8" name="Slide Number Placeholder 7"/>
          <p:cNvSpPr>
            <a:spLocks noGrp="1"/>
          </p:cNvSpPr>
          <p:nvPr>
            <p:ph type="sldNum" sz="quarter" idx="12"/>
          </p:nvPr>
        </p:nvSpPr>
        <p:spPr/>
        <p:txBody>
          <a:bodyPr/>
          <a:lstStyle/>
          <a:p>
            <a:fld id="{5EA8BEFB-AE5B-48F9-BBAD-B489CDE48C80}" type="slidenum">
              <a:rPr lang="en-US" smtClean="0"/>
              <a:pPr/>
              <a:t>46</a:t>
            </a:fld>
            <a:endParaRPr lang="en-US" dirty="0"/>
          </a:p>
        </p:txBody>
      </p:sp>
      <mc:AlternateContent xmlns:mc="http://schemas.openxmlformats.org/markup-compatibility/2006" xmlns:a14="http://schemas.microsoft.com/office/drawing/2010/main">
        <mc:Choice Requires="a14">
          <p:sp>
            <p:nvSpPr>
              <p:cNvPr id="9" name="Oval 8"/>
              <p:cNvSpPr/>
              <p:nvPr/>
            </p:nvSpPr>
            <p:spPr>
              <a:xfrm>
                <a:off x="5699760" y="2209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𝑛</m:t>
                      </m:r>
                    </m:oMath>
                  </m:oMathPara>
                </a14:m>
                <a:endParaRPr lang="en-US" sz="2400" dirty="0">
                  <a:solidFill>
                    <a:srgbClr val="C00000"/>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5699760" y="2209800"/>
                <a:ext cx="777240" cy="731520"/>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785360" y="32766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2</m:t>
                          </m:r>
                        </m:den>
                      </m:f>
                    </m:oMath>
                  </m:oMathPara>
                </a14:m>
                <a:endParaRPr lang="en-US" sz="2400" dirty="0">
                  <a:solidFill>
                    <a:srgbClr val="C00000"/>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785360" y="3276600"/>
                <a:ext cx="777240" cy="731520"/>
              </a:xfrm>
              <a:prstGeom prst="ellipse">
                <a:avLst/>
              </a:prstGeom>
              <a:blipFill>
                <a:blip r:embed="rId7"/>
                <a:stretch>
                  <a:fillRect l="-33846" t="-59016" r="-51538" b="-10000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6675120" y="32766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2</m:t>
                          </m:r>
                        </m:den>
                      </m:f>
                    </m:oMath>
                  </m:oMathPara>
                </a14:m>
                <a:endParaRPr lang="en-US" sz="2400" dirty="0">
                  <a:solidFill>
                    <a:srgbClr val="C00000"/>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6675120" y="3276600"/>
                <a:ext cx="777240" cy="731520"/>
              </a:xfrm>
              <a:prstGeom prst="ellipse">
                <a:avLst/>
              </a:prstGeom>
              <a:blipFill>
                <a:blip r:embed="rId7"/>
                <a:stretch>
                  <a:fillRect l="-33846" t="-59016" r="-51538" b="-100000"/>
                </a:stretch>
              </a:blipFill>
              <a:ln w="12700">
                <a:solidFill>
                  <a:schemeClr val="tx1"/>
                </a:solidFill>
              </a:ln>
            </p:spPr>
            <p:txBody>
              <a:bodyPr/>
              <a:lstStyle/>
              <a:p>
                <a:r>
                  <a:rPr lang="en-IN">
                    <a:noFill/>
                  </a:rPr>
                  <a:t> </a:t>
                </a:r>
              </a:p>
            </p:txBody>
          </p:sp>
        </mc:Fallback>
      </mc:AlternateContent>
      <p:cxnSp>
        <p:nvCxnSpPr>
          <p:cNvPr id="12" name="Straight Connector 11"/>
          <p:cNvCxnSpPr>
            <a:stCxn id="9" idx="3"/>
            <a:endCxn id="10" idx="0"/>
          </p:cNvCxnSpPr>
          <p:nvPr/>
        </p:nvCxnSpPr>
        <p:spPr>
          <a:xfrm flipH="1">
            <a:off x="5173980" y="2834192"/>
            <a:ext cx="639604" cy="442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a:endCxn id="11" idx="0"/>
          </p:cNvCxnSpPr>
          <p:nvPr/>
        </p:nvCxnSpPr>
        <p:spPr>
          <a:xfrm>
            <a:off x="6363176" y="2834192"/>
            <a:ext cx="700564" cy="442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p:cNvSpPr/>
              <p:nvPr/>
            </p:nvSpPr>
            <p:spPr>
              <a:xfrm>
                <a:off x="4235104" y="4495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sSup>
                            <m:sSupPr>
                              <m:ctrlPr>
                                <a:rPr lang="en-US" sz="2400" i="1" dirty="0">
                                  <a:solidFill>
                                    <a:srgbClr val="C00000"/>
                                  </a:solidFill>
                                  <a:latin typeface="Cambria Math" panose="02040503050406030204" pitchFamily="18" charset="0"/>
                                </a:rPr>
                              </m:ctrlPr>
                            </m:sSupPr>
                            <m:e>
                              <m:r>
                                <a:rPr lang="en-US" sz="2400" i="1" dirty="0">
                                  <a:solidFill>
                                    <a:srgbClr val="C00000"/>
                                  </a:solidFill>
                                  <a:latin typeface="Cambria Math" panose="02040503050406030204" pitchFamily="18" charset="0"/>
                                </a:rPr>
                                <m:t>2</m:t>
                              </m:r>
                            </m:e>
                            <m:sup>
                              <m:r>
                                <a:rPr lang="en-US" sz="2400" i="1" dirty="0">
                                  <a:solidFill>
                                    <a:srgbClr val="C00000"/>
                                  </a:solidFill>
                                  <a:latin typeface="Cambria Math" panose="02040503050406030204" pitchFamily="18" charset="0"/>
                                </a:rPr>
                                <m:t>2</m:t>
                              </m:r>
                            </m:sup>
                          </m:sSup>
                        </m:den>
                      </m:f>
                    </m:oMath>
                  </m:oMathPara>
                </a14:m>
                <a:endParaRPr lang="en-US" sz="2400" dirty="0">
                  <a:solidFill>
                    <a:srgbClr val="C00000"/>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4235104" y="4495800"/>
                <a:ext cx="777240" cy="731520"/>
              </a:xfrm>
              <a:prstGeom prst="ellipse">
                <a:avLst/>
              </a:prstGeom>
              <a:blipFill>
                <a:blip r:embed="rId8"/>
                <a:stretch>
                  <a:fillRect l="-43411" t="-59016" r="-43411" b="-10000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5252737" y="4495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sSup>
                            <m:sSupPr>
                              <m:ctrlPr>
                                <a:rPr lang="en-US" sz="2400" i="1" dirty="0">
                                  <a:solidFill>
                                    <a:srgbClr val="C00000"/>
                                  </a:solidFill>
                                  <a:latin typeface="Cambria Math" panose="02040503050406030204" pitchFamily="18" charset="0"/>
                                </a:rPr>
                              </m:ctrlPr>
                            </m:sSupPr>
                            <m:e>
                              <m:r>
                                <a:rPr lang="en-US" sz="2400" i="1" dirty="0">
                                  <a:solidFill>
                                    <a:srgbClr val="C00000"/>
                                  </a:solidFill>
                                  <a:latin typeface="Cambria Math" panose="02040503050406030204" pitchFamily="18" charset="0"/>
                                </a:rPr>
                                <m:t>2</m:t>
                              </m:r>
                            </m:e>
                            <m:sup>
                              <m:r>
                                <a:rPr lang="en-US" sz="2400" i="1" dirty="0">
                                  <a:solidFill>
                                    <a:srgbClr val="C00000"/>
                                  </a:solidFill>
                                  <a:latin typeface="Cambria Math" panose="02040503050406030204" pitchFamily="18" charset="0"/>
                                </a:rPr>
                                <m:t>2</m:t>
                              </m:r>
                            </m:sup>
                          </m:sSup>
                        </m:den>
                      </m:f>
                    </m:oMath>
                  </m:oMathPara>
                </a14:m>
                <a:endParaRPr lang="en-US" sz="2400" dirty="0">
                  <a:solidFill>
                    <a:srgbClr val="C00000"/>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5252737" y="4495800"/>
                <a:ext cx="777240" cy="731520"/>
              </a:xfrm>
              <a:prstGeom prst="ellipse">
                <a:avLst/>
              </a:prstGeom>
              <a:blipFill>
                <a:blip r:embed="rId9"/>
                <a:stretch>
                  <a:fillRect l="-43411" t="-59016" r="-43411" b="-100000"/>
                </a:stretch>
              </a:blipFill>
              <a:ln w="12700">
                <a:solidFill>
                  <a:schemeClr val="tx1"/>
                </a:solidFill>
              </a:ln>
            </p:spPr>
            <p:txBody>
              <a:bodyPr/>
              <a:lstStyle/>
              <a:p>
                <a:r>
                  <a:rPr lang="en-IN">
                    <a:noFill/>
                  </a:rPr>
                  <a:t> </a:t>
                </a:r>
              </a:p>
            </p:txBody>
          </p:sp>
        </mc:Fallback>
      </mc:AlternateContent>
      <p:cxnSp>
        <p:nvCxnSpPr>
          <p:cNvPr id="16" name="Straight Connector 15"/>
          <p:cNvCxnSpPr>
            <a:stCxn id="10" idx="3"/>
            <a:endCxn id="14" idx="0"/>
          </p:cNvCxnSpPr>
          <p:nvPr/>
        </p:nvCxnSpPr>
        <p:spPr>
          <a:xfrm flipH="1">
            <a:off x="4623724" y="3900992"/>
            <a:ext cx="275460"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5"/>
            <a:endCxn id="15" idx="0"/>
          </p:cNvCxnSpPr>
          <p:nvPr/>
        </p:nvCxnSpPr>
        <p:spPr>
          <a:xfrm>
            <a:off x="5448777" y="3900992"/>
            <a:ext cx="192581"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Oval 17"/>
              <p:cNvSpPr/>
              <p:nvPr/>
            </p:nvSpPr>
            <p:spPr>
              <a:xfrm>
                <a:off x="6184563" y="4495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sSup>
                            <m:sSupPr>
                              <m:ctrlPr>
                                <a:rPr lang="en-US" sz="2400" i="1" dirty="0">
                                  <a:solidFill>
                                    <a:srgbClr val="C00000"/>
                                  </a:solidFill>
                                  <a:latin typeface="Cambria Math" panose="02040503050406030204" pitchFamily="18" charset="0"/>
                                </a:rPr>
                              </m:ctrlPr>
                            </m:sSupPr>
                            <m:e>
                              <m:r>
                                <a:rPr lang="en-US" sz="2400" i="1" dirty="0">
                                  <a:solidFill>
                                    <a:srgbClr val="C00000"/>
                                  </a:solidFill>
                                  <a:latin typeface="Cambria Math" panose="02040503050406030204" pitchFamily="18" charset="0"/>
                                </a:rPr>
                                <m:t>2</m:t>
                              </m:r>
                            </m:e>
                            <m:sup>
                              <m:r>
                                <a:rPr lang="en-US" sz="2400" i="1" dirty="0">
                                  <a:solidFill>
                                    <a:srgbClr val="C00000"/>
                                  </a:solidFill>
                                  <a:latin typeface="Cambria Math" panose="02040503050406030204" pitchFamily="18" charset="0"/>
                                </a:rPr>
                                <m:t>2</m:t>
                              </m:r>
                            </m:sup>
                          </m:sSup>
                        </m:den>
                      </m:f>
                    </m:oMath>
                  </m:oMathPara>
                </a14:m>
                <a:endParaRPr lang="en-US" sz="2400" dirty="0">
                  <a:solidFill>
                    <a:srgbClr val="C00000"/>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6184563" y="4495800"/>
                <a:ext cx="777240" cy="731520"/>
              </a:xfrm>
              <a:prstGeom prst="ellipse">
                <a:avLst/>
              </a:prstGeom>
              <a:blipFill>
                <a:blip r:embed="rId10"/>
                <a:stretch>
                  <a:fillRect l="-43411" t="-59016" r="-43411" b="-100000"/>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Oval 18"/>
              <p:cNvSpPr/>
              <p:nvPr/>
            </p:nvSpPr>
            <p:spPr>
              <a:xfrm>
                <a:off x="7267138" y="4495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sSup>
                            <m:sSupPr>
                              <m:ctrlPr>
                                <a:rPr lang="en-US" sz="2400" i="1" dirty="0">
                                  <a:solidFill>
                                    <a:srgbClr val="C00000"/>
                                  </a:solidFill>
                                  <a:latin typeface="Cambria Math" panose="02040503050406030204" pitchFamily="18" charset="0"/>
                                </a:rPr>
                              </m:ctrlPr>
                            </m:sSupPr>
                            <m:e>
                              <m:r>
                                <a:rPr lang="en-US" sz="2400" i="1" dirty="0">
                                  <a:solidFill>
                                    <a:srgbClr val="C00000"/>
                                  </a:solidFill>
                                  <a:latin typeface="Cambria Math" panose="02040503050406030204" pitchFamily="18" charset="0"/>
                                </a:rPr>
                                <m:t>2</m:t>
                              </m:r>
                            </m:e>
                            <m:sup>
                              <m:r>
                                <a:rPr lang="en-US" sz="2400" i="1" dirty="0">
                                  <a:solidFill>
                                    <a:srgbClr val="C00000"/>
                                  </a:solidFill>
                                  <a:latin typeface="Cambria Math" panose="02040503050406030204" pitchFamily="18" charset="0"/>
                                </a:rPr>
                                <m:t>2</m:t>
                              </m:r>
                            </m:sup>
                          </m:sSup>
                        </m:den>
                      </m:f>
                    </m:oMath>
                  </m:oMathPara>
                </a14:m>
                <a:endParaRPr lang="en-US" sz="2400" dirty="0">
                  <a:solidFill>
                    <a:srgbClr val="C00000"/>
                  </a:solidFill>
                </a:endParaRPr>
              </a:p>
            </p:txBody>
          </p:sp>
        </mc:Choice>
        <mc:Fallback xmlns="">
          <p:sp>
            <p:nvSpPr>
              <p:cNvPr id="19" name="Oval 18"/>
              <p:cNvSpPr>
                <a:spLocks noRot="1" noChangeAspect="1" noMove="1" noResize="1" noEditPoints="1" noAdjustHandles="1" noChangeArrowheads="1" noChangeShapeType="1" noTextEdit="1"/>
              </p:cNvSpPr>
              <p:nvPr/>
            </p:nvSpPr>
            <p:spPr>
              <a:xfrm>
                <a:off x="7267138" y="4495800"/>
                <a:ext cx="777240" cy="731520"/>
              </a:xfrm>
              <a:prstGeom prst="ellipse">
                <a:avLst/>
              </a:prstGeom>
              <a:blipFill>
                <a:blip r:embed="rId11"/>
                <a:stretch>
                  <a:fillRect l="-42308" t="-59016" r="-43077" b="-100000"/>
                </a:stretch>
              </a:blipFill>
              <a:ln w="12700">
                <a:solidFill>
                  <a:schemeClr val="tx1"/>
                </a:solidFill>
              </a:ln>
            </p:spPr>
            <p:txBody>
              <a:bodyPr/>
              <a:lstStyle/>
              <a:p>
                <a:r>
                  <a:rPr lang="en-IN">
                    <a:noFill/>
                  </a:rPr>
                  <a:t> </a:t>
                </a:r>
              </a:p>
            </p:txBody>
          </p:sp>
        </mc:Fallback>
      </mc:AlternateContent>
      <p:cxnSp>
        <p:nvCxnSpPr>
          <p:cNvPr id="20" name="Straight Connector 19"/>
          <p:cNvCxnSpPr>
            <a:stCxn id="11" idx="3"/>
            <a:endCxn id="18" idx="0"/>
          </p:cNvCxnSpPr>
          <p:nvPr/>
        </p:nvCxnSpPr>
        <p:spPr>
          <a:xfrm flipH="1">
            <a:off x="6573184" y="3900992"/>
            <a:ext cx="215761"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5"/>
            <a:endCxn id="19" idx="0"/>
          </p:cNvCxnSpPr>
          <p:nvPr/>
        </p:nvCxnSpPr>
        <p:spPr>
          <a:xfrm>
            <a:off x="7338536" y="3900992"/>
            <a:ext cx="317222"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829094" y="3616656"/>
            <a:ext cx="1464383"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8458200" y="4800600"/>
            <a:ext cx="835276"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4" idx="3"/>
          </p:cNvCxnSpPr>
          <p:nvPr/>
        </p:nvCxnSpPr>
        <p:spPr>
          <a:xfrm flipH="1">
            <a:off x="4149298" y="5120192"/>
            <a:ext cx="199631"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4" idx="5"/>
          </p:cNvCxnSpPr>
          <p:nvPr/>
        </p:nvCxnSpPr>
        <p:spPr>
          <a:xfrm>
            <a:off x="4898520" y="5120192"/>
            <a:ext cx="16175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15" idx="3"/>
          </p:cNvCxnSpPr>
          <p:nvPr/>
        </p:nvCxnSpPr>
        <p:spPr>
          <a:xfrm flipH="1">
            <a:off x="5208849" y="5120192"/>
            <a:ext cx="157713"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15" idx="5"/>
          </p:cNvCxnSpPr>
          <p:nvPr/>
        </p:nvCxnSpPr>
        <p:spPr>
          <a:xfrm>
            <a:off x="5916153" y="5120192"/>
            <a:ext cx="133836"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8" idx="3"/>
          </p:cNvCxnSpPr>
          <p:nvPr/>
        </p:nvCxnSpPr>
        <p:spPr>
          <a:xfrm flipH="1">
            <a:off x="6184563" y="51201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8" idx="5"/>
          </p:cNvCxnSpPr>
          <p:nvPr/>
        </p:nvCxnSpPr>
        <p:spPr>
          <a:xfrm>
            <a:off x="6847979" y="51201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9" idx="3"/>
          </p:cNvCxnSpPr>
          <p:nvPr/>
        </p:nvCxnSpPr>
        <p:spPr>
          <a:xfrm flipH="1">
            <a:off x="7267138" y="51201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19" idx="5"/>
          </p:cNvCxnSpPr>
          <p:nvPr/>
        </p:nvCxnSpPr>
        <p:spPr>
          <a:xfrm>
            <a:off x="7930554" y="51201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0" name="Oval 59"/>
              <p:cNvSpPr/>
              <p:nvPr/>
            </p:nvSpPr>
            <p:spPr>
              <a:xfrm>
                <a:off x="3505200" y="574548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1</m:t>
                      </m:r>
                    </m:oMath>
                  </m:oMathPara>
                </a14:m>
                <a:endParaRPr lang="en-US" sz="2400" dirty="0">
                  <a:solidFill>
                    <a:srgbClr val="C00000"/>
                  </a:solidFill>
                </a:endParaRPr>
              </a:p>
            </p:txBody>
          </p:sp>
        </mc:Choice>
        <mc:Fallback xmlns="">
          <p:sp>
            <p:nvSpPr>
              <p:cNvPr id="60" name="Oval 59"/>
              <p:cNvSpPr>
                <a:spLocks noRot="1" noChangeAspect="1" noMove="1" noResize="1" noEditPoints="1" noAdjustHandles="1" noChangeArrowheads="1" noChangeShapeType="1" noTextEdit="1"/>
              </p:cNvSpPr>
              <p:nvPr/>
            </p:nvSpPr>
            <p:spPr>
              <a:xfrm>
                <a:off x="3505200" y="5745480"/>
                <a:ext cx="777240" cy="731520"/>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1" name="Oval 60"/>
              <p:cNvSpPr/>
              <p:nvPr/>
            </p:nvSpPr>
            <p:spPr>
              <a:xfrm>
                <a:off x="4617720" y="574548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1</m:t>
                      </m:r>
                    </m:oMath>
                  </m:oMathPara>
                </a14:m>
                <a:endParaRPr lang="en-US" sz="2400" dirty="0">
                  <a:solidFill>
                    <a:srgbClr val="C00000"/>
                  </a:solidFill>
                </a:endParaRPr>
              </a:p>
            </p:txBody>
          </p:sp>
        </mc:Choice>
        <mc:Fallback xmlns="">
          <p:sp>
            <p:nvSpPr>
              <p:cNvPr id="61" name="Oval 60"/>
              <p:cNvSpPr>
                <a:spLocks noRot="1" noChangeAspect="1" noMove="1" noResize="1" noEditPoints="1" noAdjustHandles="1" noChangeArrowheads="1" noChangeShapeType="1" noTextEdit="1"/>
              </p:cNvSpPr>
              <p:nvPr/>
            </p:nvSpPr>
            <p:spPr>
              <a:xfrm>
                <a:off x="4617720" y="5745480"/>
                <a:ext cx="777240" cy="731520"/>
              </a:xfrm>
              <a:prstGeom prst="ellipse">
                <a:avLst/>
              </a:prstGeom>
              <a:blipFill>
                <a:blip r:embed="rId1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2" name="Oval 61"/>
              <p:cNvSpPr/>
              <p:nvPr/>
            </p:nvSpPr>
            <p:spPr>
              <a:xfrm>
                <a:off x="5730240" y="574548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1</m:t>
                      </m:r>
                    </m:oMath>
                  </m:oMathPara>
                </a14:m>
                <a:endParaRPr lang="en-US" sz="2400" dirty="0">
                  <a:solidFill>
                    <a:srgbClr val="C00000"/>
                  </a:solidFill>
                </a:endParaRPr>
              </a:p>
            </p:txBody>
          </p:sp>
        </mc:Choice>
        <mc:Fallback xmlns="">
          <p:sp>
            <p:nvSpPr>
              <p:cNvPr id="62" name="Oval 61"/>
              <p:cNvSpPr>
                <a:spLocks noRot="1" noChangeAspect="1" noMove="1" noResize="1" noEditPoints="1" noAdjustHandles="1" noChangeArrowheads="1" noChangeShapeType="1" noTextEdit="1"/>
              </p:cNvSpPr>
              <p:nvPr/>
            </p:nvSpPr>
            <p:spPr>
              <a:xfrm>
                <a:off x="5730240" y="5745480"/>
                <a:ext cx="777240" cy="731520"/>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3" name="Oval 62"/>
              <p:cNvSpPr/>
              <p:nvPr/>
            </p:nvSpPr>
            <p:spPr>
              <a:xfrm>
                <a:off x="6842760" y="574548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1</m:t>
                      </m:r>
                    </m:oMath>
                  </m:oMathPara>
                </a14:m>
                <a:endParaRPr lang="en-US" sz="2400" dirty="0">
                  <a:solidFill>
                    <a:srgbClr val="C00000"/>
                  </a:solidFill>
                </a:endParaRPr>
              </a:p>
            </p:txBody>
          </p:sp>
        </mc:Choice>
        <mc:Fallback xmlns="">
          <p:sp>
            <p:nvSpPr>
              <p:cNvPr id="63" name="Oval 62"/>
              <p:cNvSpPr>
                <a:spLocks noRot="1" noChangeAspect="1" noMove="1" noResize="1" noEditPoints="1" noAdjustHandles="1" noChangeArrowheads="1" noChangeShapeType="1" noTextEdit="1"/>
              </p:cNvSpPr>
              <p:nvPr/>
            </p:nvSpPr>
            <p:spPr>
              <a:xfrm>
                <a:off x="6842760" y="5745480"/>
                <a:ext cx="777240" cy="731520"/>
              </a:xfrm>
              <a:prstGeom prst="ellipse">
                <a:avLst/>
              </a:prstGeom>
              <a:blipFill>
                <a:blip r:embed="rId13"/>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4" name="Oval 63"/>
              <p:cNvSpPr/>
              <p:nvPr/>
            </p:nvSpPr>
            <p:spPr>
              <a:xfrm>
                <a:off x="8442960" y="574548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1</m:t>
                      </m:r>
                    </m:oMath>
                  </m:oMathPara>
                </a14:m>
                <a:endParaRPr lang="en-US" sz="2400" dirty="0">
                  <a:solidFill>
                    <a:srgbClr val="C00000"/>
                  </a:solidFill>
                </a:endParaRPr>
              </a:p>
            </p:txBody>
          </p:sp>
        </mc:Choice>
        <mc:Fallback xmlns="">
          <p:sp>
            <p:nvSpPr>
              <p:cNvPr id="64" name="Oval 63"/>
              <p:cNvSpPr>
                <a:spLocks noRot="1" noChangeAspect="1" noMove="1" noResize="1" noEditPoints="1" noAdjustHandles="1" noChangeArrowheads="1" noChangeShapeType="1" noTextEdit="1"/>
              </p:cNvSpPr>
              <p:nvPr/>
            </p:nvSpPr>
            <p:spPr>
              <a:xfrm>
                <a:off x="8442960" y="5745480"/>
                <a:ext cx="777240" cy="731520"/>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p:cxnSp>
        <p:nvCxnSpPr>
          <p:cNvPr id="66" name="Straight Connector 65"/>
          <p:cNvCxnSpPr/>
          <p:nvPr/>
        </p:nvCxnSpPr>
        <p:spPr>
          <a:xfrm>
            <a:off x="7747198" y="6096000"/>
            <a:ext cx="558602" cy="0"/>
          </a:xfrm>
          <a:prstGeom prst="line">
            <a:avLst/>
          </a:prstGeom>
          <a:ln>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a:stCxn id="5" idx="0"/>
          </p:cNvCxnSpPr>
          <p:nvPr/>
        </p:nvCxnSpPr>
        <p:spPr>
          <a:xfrm flipV="1">
            <a:off x="3048000" y="2303474"/>
            <a:ext cx="0" cy="1430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5" idx="2"/>
          </p:cNvCxnSpPr>
          <p:nvPr/>
        </p:nvCxnSpPr>
        <p:spPr>
          <a:xfrm>
            <a:off x="3048000" y="4195466"/>
            <a:ext cx="0" cy="19157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273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500"/>
                                        <p:tgtEl>
                                          <p:spTgt spid="12"/>
                                        </p:tgtEl>
                                      </p:cBhvr>
                                    </p:animEffect>
                                  </p:childTnLst>
                                </p:cTn>
                              </p:par>
                              <p:par>
                                <p:cTn id="23" presetID="22" presetClass="entr" presetSubtype="1"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up)">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up)">
                                      <p:cBhvr>
                                        <p:cTn id="38" dur="500"/>
                                        <p:tgtEl>
                                          <p:spTgt spid="16"/>
                                        </p:tgtEl>
                                      </p:cBhvr>
                                    </p:animEffect>
                                  </p:childTnLst>
                                </p:cTn>
                              </p:par>
                              <p:par>
                                <p:cTn id="39" presetID="22" presetClass="entr" presetSubtype="1" fill="hold"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wipe(up)">
                                      <p:cBhvr>
                                        <p:cTn id="41" dur="500"/>
                                        <p:tgtEl>
                                          <p:spTgt spid="17"/>
                                        </p:tgtEl>
                                      </p:cBhvr>
                                    </p:animEffect>
                                  </p:childTnLst>
                                </p:cTn>
                              </p:par>
                              <p:par>
                                <p:cTn id="42" presetID="22" presetClass="entr" presetSubtype="1" fill="hold"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wipe(up)">
                                      <p:cBhvr>
                                        <p:cTn id="44" dur="500"/>
                                        <p:tgtEl>
                                          <p:spTgt spid="20"/>
                                        </p:tgtEl>
                                      </p:cBhvr>
                                    </p:animEffect>
                                  </p:childTnLst>
                                </p:cTn>
                              </p:par>
                              <p:par>
                                <p:cTn id="45" presetID="22" presetClass="entr" presetSubtype="1" fill="hold"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wipe(up)">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500"/>
                                        <p:tgtEl>
                                          <p:spTgt spid="1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500"/>
                                        <p:tgtEl>
                                          <p:spTgt spid="1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00"/>
                                        <p:tgtEl>
                                          <p:spTgt spid="1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nodeType="clickEffect">
                                  <p:stCondLst>
                                    <p:cond delay="0"/>
                                  </p:stCondLst>
                                  <p:childTnLst>
                                    <p:set>
                                      <p:cBhvr>
                                        <p:cTn id="65" dur="1" fill="hold">
                                          <p:stCondLst>
                                            <p:cond delay="0"/>
                                          </p:stCondLst>
                                        </p:cTn>
                                        <p:tgtEl>
                                          <p:spTgt spid="38"/>
                                        </p:tgtEl>
                                        <p:attrNameLst>
                                          <p:attrName>style.visibility</p:attrName>
                                        </p:attrNameLst>
                                      </p:cBhvr>
                                      <p:to>
                                        <p:strVal val="visible"/>
                                      </p:to>
                                    </p:set>
                                    <p:animEffect transition="in" filter="wipe(up)">
                                      <p:cBhvr>
                                        <p:cTn id="66" dur="500"/>
                                        <p:tgtEl>
                                          <p:spTgt spid="38"/>
                                        </p:tgtEl>
                                      </p:cBhvr>
                                    </p:animEffect>
                                  </p:childTnLst>
                                </p:cTn>
                              </p:par>
                              <p:par>
                                <p:cTn id="67" presetID="22" presetClass="entr" presetSubtype="1" fill="hold"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wipe(up)">
                                      <p:cBhvr>
                                        <p:cTn id="69" dur="500"/>
                                        <p:tgtEl>
                                          <p:spTgt spid="40"/>
                                        </p:tgtEl>
                                      </p:cBhvr>
                                    </p:animEffect>
                                  </p:childTnLst>
                                </p:cTn>
                              </p:par>
                              <p:par>
                                <p:cTn id="70" presetID="22" presetClass="entr" presetSubtype="1" fill="hold" nodeType="withEffect">
                                  <p:stCondLst>
                                    <p:cond delay="0"/>
                                  </p:stCondLst>
                                  <p:childTnLst>
                                    <p:set>
                                      <p:cBhvr>
                                        <p:cTn id="71" dur="1" fill="hold">
                                          <p:stCondLst>
                                            <p:cond delay="0"/>
                                          </p:stCondLst>
                                        </p:cTn>
                                        <p:tgtEl>
                                          <p:spTgt spid="42"/>
                                        </p:tgtEl>
                                        <p:attrNameLst>
                                          <p:attrName>style.visibility</p:attrName>
                                        </p:attrNameLst>
                                      </p:cBhvr>
                                      <p:to>
                                        <p:strVal val="visible"/>
                                      </p:to>
                                    </p:set>
                                    <p:animEffect transition="in" filter="wipe(up)">
                                      <p:cBhvr>
                                        <p:cTn id="72" dur="500"/>
                                        <p:tgtEl>
                                          <p:spTgt spid="42"/>
                                        </p:tgtEl>
                                      </p:cBhvr>
                                    </p:animEffect>
                                  </p:childTnLst>
                                </p:cTn>
                              </p:par>
                              <p:par>
                                <p:cTn id="73" presetID="22" presetClass="entr" presetSubtype="1" fill="hold" nodeType="withEffect">
                                  <p:stCondLst>
                                    <p:cond delay="0"/>
                                  </p:stCondLst>
                                  <p:childTnLst>
                                    <p:set>
                                      <p:cBhvr>
                                        <p:cTn id="74" dur="1" fill="hold">
                                          <p:stCondLst>
                                            <p:cond delay="0"/>
                                          </p:stCondLst>
                                        </p:cTn>
                                        <p:tgtEl>
                                          <p:spTgt spid="49"/>
                                        </p:tgtEl>
                                        <p:attrNameLst>
                                          <p:attrName>style.visibility</p:attrName>
                                        </p:attrNameLst>
                                      </p:cBhvr>
                                      <p:to>
                                        <p:strVal val="visible"/>
                                      </p:to>
                                    </p:set>
                                    <p:animEffect transition="in" filter="wipe(up)">
                                      <p:cBhvr>
                                        <p:cTn id="75" dur="500"/>
                                        <p:tgtEl>
                                          <p:spTgt spid="49"/>
                                        </p:tgtEl>
                                      </p:cBhvr>
                                    </p:animEffect>
                                  </p:childTnLst>
                                </p:cTn>
                              </p:par>
                              <p:par>
                                <p:cTn id="76" presetID="22" presetClass="entr" presetSubtype="1" fill="hold" nodeType="withEffect">
                                  <p:stCondLst>
                                    <p:cond delay="0"/>
                                  </p:stCondLst>
                                  <p:childTnLst>
                                    <p:set>
                                      <p:cBhvr>
                                        <p:cTn id="77" dur="1" fill="hold">
                                          <p:stCondLst>
                                            <p:cond delay="0"/>
                                          </p:stCondLst>
                                        </p:cTn>
                                        <p:tgtEl>
                                          <p:spTgt spid="44"/>
                                        </p:tgtEl>
                                        <p:attrNameLst>
                                          <p:attrName>style.visibility</p:attrName>
                                        </p:attrNameLst>
                                      </p:cBhvr>
                                      <p:to>
                                        <p:strVal val="visible"/>
                                      </p:to>
                                    </p:set>
                                    <p:animEffect transition="in" filter="wipe(up)">
                                      <p:cBhvr>
                                        <p:cTn id="78" dur="500"/>
                                        <p:tgtEl>
                                          <p:spTgt spid="44"/>
                                        </p:tgtEl>
                                      </p:cBhvr>
                                    </p:animEffect>
                                  </p:childTnLst>
                                </p:cTn>
                              </p:par>
                              <p:par>
                                <p:cTn id="79" presetID="22" presetClass="entr" presetSubtype="1" fill="hold" nodeType="withEffect">
                                  <p:stCondLst>
                                    <p:cond delay="0"/>
                                  </p:stCondLst>
                                  <p:childTnLst>
                                    <p:set>
                                      <p:cBhvr>
                                        <p:cTn id="80" dur="1" fill="hold">
                                          <p:stCondLst>
                                            <p:cond delay="0"/>
                                          </p:stCondLst>
                                        </p:cTn>
                                        <p:tgtEl>
                                          <p:spTgt spid="51"/>
                                        </p:tgtEl>
                                        <p:attrNameLst>
                                          <p:attrName>style.visibility</p:attrName>
                                        </p:attrNameLst>
                                      </p:cBhvr>
                                      <p:to>
                                        <p:strVal val="visible"/>
                                      </p:to>
                                    </p:set>
                                    <p:animEffect transition="in" filter="wipe(up)">
                                      <p:cBhvr>
                                        <p:cTn id="81" dur="500"/>
                                        <p:tgtEl>
                                          <p:spTgt spid="51"/>
                                        </p:tgtEl>
                                      </p:cBhvr>
                                    </p:animEffect>
                                  </p:childTnLst>
                                </p:cTn>
                              </p:par>
                              <p:par>
                                <p:cTn id="82" presetID="22" presetClass="entr" presetSubtype="1" fill="hold" nodeType="withEffect">
                                  <p:stCondLst>
                                    <p:cond delay="0"/>
                                  </p:stCondLst>
                                  <p:childTnLst>
                                    <p:set>
                                      <p:cBhvr>
                                        <p:cTn id="83" dur="1" fill="hold">
                                          <p:stCondLst>
                                            <p:cond delay="0"/>
                                          </p:stCondLst>
                                        </p:cTn>
                                        <p:tgtEl>
                                          <p:spTgt spid="54"/>
                                        </p:tgtEl>
                                        <p:attrNameLst>
                                          <p:attrName>style.visibility</p:attrName>
                                        </p:attrNameLst>
                                      </p:cBhvr>
                                      <p:to>
                                        <p:strVal val="visible"/>
                                      </p:to>
                                    </p:set>
                                    <p:animEffect transition="in" filter="wipe(up)">
                                      <p:cBhvr>
                                        <p:cTn id="84" dur="500"/>
                                        <p:tgtEl>
                                          <p:spTgt spid="54"/>
                                        </p:tgtEl>
                                      </p:cBhvr>
                                    </p:animEffect>
                                  </p:childTnLst>
                                </p:cTn>
                              </p:par>
                              <p:par>
                                <p:cTn id="85" presetID="22" presetClass="entr" presetSubtype="1" fill="hold" nodeType="withEffect">
                                  <p:stCondLst>
                                    <p:cond delay="0"/>
                                  </p:stCondLst>
                                  <p:childTnLst>
                                    <p:set>
                                      <p:cBhvr>
                                        <p:cTn id="86" dur="1" fill="hold">
                                          <p:stCondLst>
                                            <p:cond delay="0"/>
                                          </p:stCondLst>
                                        </p:cTn>
                                        <p:tgtEl>
                                          <p:spTgt spid="56"/>
                                        </p:tgtEl>
                                        <p:attrNameLst>
                                          <p:attrName>style.visibility</p:attrName>
                                        </p:attrNameLst>
                                      </p:cBhvr>
                                      <p:to>
                                        <p:strVal val="visible"/>
                                      </p:to>
                                    </p:set>
                                    <p:animEffect transition="in" filter="wipe(up)">
                                      <p:cBhvr>
                                        <p:cTn id="87" dur="500"/>
                                        <p:tgtEl>
                                          <p:spTgt spid="56"/>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60"/>
                                        </p:tgtEl>
                                        <p:attrNameLst>
                                          <p:attrName>style.visibility</p:attrName>
                                        </p:attrNameLst>
                                      </p:cBhvr>
                                      <p:to>
                                        <p:strVal val="visible"/>
                                      </p:to>
                                    </p:set>
                                    <p:animEffect transition="in" filter="fade">
                                      <p:cBhvr>
                                        <p:cTn id="92" dur="500"/>
                                        <p:tgtEl>
                                          <p:spTgt spid="6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61"/>
                                        </p:tgtEl>
                                        <p:attrNameLst>
                                          <p:attrName>style.visibility</p:attrName>
                                        </p:attrNameLst>
                                      </p:cBhvr>
                                      <p:to>
                                        <p:strVal val="visible"/>
                                      </p:to>
                                    </p:set>
                                    <p:animEffect transition="in" filter="fade">
                                      <p:cBhvr>
                                        <p:cTn id="95" dur="500"/>
                                        <p:tgtEl>
                                          <p:spTgt spid="6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62"/>
                                        </p:tgtEl>
                                        <p:attrNameLst>
                                          <p:attrName>style.visibility</p:attrName>
                                        </p:attrNameLst>
                                      </p:cBhvr>
                                      <p:to>
                                        <p:strVal val="visible"/>
                                      </p:to>
                                    </p:set>
                                    <p:animEffect transition="in" filter="fade">
                                      <p:cBhvr>
                                        <p:cTn id="98" dur="500"/>
                                        <p:tgtEl>
                                          <p:spTgt spid="6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63"/>
                                        </p:tgtEl>
                                        <p:attrNameLst>
                                          <p:attrName>style.visibility</p:attrName>
                                        </p:attrNameLst>
                                      </p:cBhvr>
                                      <p:to>
                                        <p:strVal val="visible"/>
                                      </p:to>
                                    </p:set>
                                    <p:animEffect transition="in" filter="fade">
                                      <p:cBhvr>
                                        <p:cTn id="101" dur="500"/>
                                        <p:tgtEl>
                                          <p:spTgt spid="63"/>
                                        </p:tgtEl>
                                      </p:cBhvr>
                                    </p:animEffect>
                                  </p:childTnLst>
                                </p:cTn>
                              </p:par>
                              <p:par>
                                <p:cTn id="102" presetID="10" presetClass="entr" presetSubtype="0" fill="hold" nodeType="withEffect">
                                  <p:stCondLst>
                                    <p:cond delay="0"/>
                                  </p:stCondLst>
                                  <p:childTnLst>
                                    <p:set>
                                      <p:cBhvr>
                                        <p:cTn id="103" dur="1" fill="hold">
                                          <p:stCondLst>
                                            <p:cond delay="0"/>
                                          </p:stCondLst>
                                        </p:cTn>
                                        <p:tgtEl>
                                          <p:spTgt spid="66"/>
                                        </p:tgtEl>
                                        <p:attrNameLst>
                                          <p:attrName>style.visibility</p:attrName>
                                        </p:attrNameLst>
                                      </p:cBhvr>
                                      <p:to>
                                        <p:strVal val="visible"/>
                                      </p:to>
                                    </p:set>
                                    <p:animEffect transition="in" filter="fade">
                                      <p:cBhvr>
                                        <p:cTn id="104" dur="500"/>
                                        <p:tgtEl>
                                          <p:spTgt spid="6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4"/>
                                        </p:tgtEl>
                                        <p:attrNameLst>
                                          <p:attrName>style.visibility</p:attrName>
                                        </p:attrNameLst>
                                      </p:cBhvr>
                                      <p:to>
                                        <p:strVal val="visible"/>
                                      </p:to>
                                    </p:set>
                                    <p:animEffect transition="in" filter="fade">
                                      <p:cBhvr>
                                        <p:cTn id="107" dur="500"/>
                                        <p:tgtEl>
                                          <p:spTgt spid="64"/>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nodeType="clickEffect">
                                  <p:stCondLst>
                                    <p:cond delay="0"/>
                                  </p:stCondLst>
                                  <p:childTnLst>
                                    <p:set>
                                      <p:cBhvr>
                                        <p:cTn id="111" dur="1" fill="hold">
                                          <p:stCondLst>
                                            <p:cond delay="0"/>
                                          </p:stCondLst>
                                        </p:cTn>
                                        <p:tgtEl>
                                          <p:spTgt spid="31"/>
                                        </p:tgtEl>
                                        <p:attrNameLst>
                                          <p:attrName>style.visibility</p:attrName>
                                        </p:attrNameLst>
                                      </p:cBhvr>
                                      <p:to>
                                        <p:strVal val="visible"/>
                                      </p:to>
                                    </p:set>
                                    <p:animEffect transition="in" filter="wipe(left)">
                                      <p:cBhvr>
                                        <p:cTn id="112" dur="500"/>
                                        <p:tgtEl>
                                          <p:spTgt spid="31"/>
                                        </p:tgtEl>
                                      </p:cBhvr>
                                    </p:animEffect>
                                  </p:childTnLst>
                                </p:cTn>
                              </p:par>
                            </p:childTnLst>
                          </p:cTn>
                        </p:par>
                        <p:par>
                          <p:cTn id="113" fill="hold">
                            <p:stCondLst>
                              <p:cond delay="500"/>
                            </p:stCondLst>
                            <p:childTnLst>
                              <p:par>
                                <p:cTn id="114" presetID="10" presetClass="entr" presetSubtype="0" fill="hold" grpId="0" nodeType="afterEffect">
                                  <p:stCondLst>
                                    <p:cond delay="0"/>
                                  </p:stCondLst>
                                  <p:childTnLst>
                                    <p:set>
                                      <p:cBhvr>
                                        <p:cTn id="115" dur="1" fill="hold">
                                          <p:stCondLst>
                                            <p:cond delay="0"/>
                                          </p:stCondLst>
                                        </p:cTn>
                                        <p:tgtEl>
                                          <p:spTgt spid="7"/>
                                        </p:tgtEl>
                                        <p:attrNameLst>
                                          <p:attrName>style.visibility</p:attrName>
                                        </p:attrNameLst>
                                      </p:cBhvr>
                                      <p:to>
                                        <p:strVal val="visible"/>
                                      </p:to>
                                    </p:set>
                                    <p:animEffect transition="in" filter="fade">
                                      <p:cBhvr>
                                        <p:cTn id="116" dur="500"/>
                                        <p:tgtEl>
                                          <p:spTgt spid="7"/>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nodeType="clickEffect">
                                  <p:stCondLst>
                                    <p:cond delay="0"/>
                                  </p:stCondLst>
                                  <p:childTnLst>
                                    <p:set>
                                      <p:cBhvr>
                                        <p:cTn id="120" dur="1" fill="hold">
                                          <p:stCondLst>
                                            <p:cond delay="0"/>
                                          </p:stCondLst>
                                        </p:cTn>
                                        <p:tgtEl>
                                          <p:spTgt spid="33"/>
                                        </p:tgtEl>
                                        <p:attrNameLst>
                                          <p:attrName>style.visibility</p:attrName>
                                        </p:attrNameLst>
                                      </p:cBhvr>
                                      <p:to>
                                        <p:strVal val="visible"/>
                                      </p:to>
                                    </p:set>
                                    <p:animEffect transition="in" filter="wipe(left)">
                                      <p:cBhvr>
                                        <p:cTn id="121" dur="500"/>
                                        <p:tgtEl>
                                          <p:spTgt spid="33"/>
                                        </p:tgtEl>
                                      </p:cBhvr>
                                    </p:animEffect>
                                  </p:childTnLst>
                                </p:cTn>
                              </p:par>
                            </p:childTnLst>
                          </p:cTn>
                        </p:par>
                        <p:par>
                          <p:cTn id="122" fill="hold">
                            <p:stCondLst>
                              <p:cond delay="500"/>
                            </p:stCondLst>
                            <p:childTnLst>
                              <p:par>
                                <p:cTn id="123" presetID="10" presetClass="entr" presetSubtype="0" fill="hold" grpId="0" nodeType="afterEffect">
                                  <p:stCondLst>
                                    <p:cond delay="0"/>
                                  </p:stCondLst>
                                  <p:childTnLst>
                                    <p:set>
                                      <p:cBhvr>
                                        <p:cTn id="124" dur="1" fill="hold">
                                          <p:stCondLst>
                                            <p:cond delay="0"/>
                                          </p:stCondLst>
                                        </p:cTn>
                                        <p:tgtEl>
                                          <p:spTgt spid="6"/>
                                        </p:tgtEl>
                                        <p:attrNameLst>
                                          <p:attrName>style.visibility</p:attrName>
                                        </p:attrNameLst>
                                      </p:cBhvr>
                                      <p:to>
                                        <p:strVal val="visible"/>
                                      </p:to>
                                    </p:set>
                                    <p:animEffect transition="in" filter="fade">
                                      <p:cBhvr>
                                        <p:cTn id="125" dur="500"/>
                                        <p:tgtEl>
                                          <p:spTgt spid="6"/>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4" fill="hold" nodeType="clickEffect">
                                  <p:stCondLst>
                                    <p:cond delay="0"/>
                                  </p:stCondLst>
                                  <p:childTnLst>
                                    <p:set>
                                      <p:cBhvr>
                                        <p:cTn id="129" dur="1" fill="hold">
                                          <p:stCondLst>
                                            <p:cond delay="0"/>
                                          </p:stCondLst>
                                        </p:cTn>
                                        <p:tgtEl>
                                          <p:spTgt spid="69"/>
                                        </p:tgtEl>
                                        <p:attrNameLst>
                                          <p:attrName>style.visibility</p:attrName>
                                        </p:attrNameLst>
                                      </p:cBhvr>
                                      <p:to>
                                        <p:strVal val="visible"/>
                                      </p:to>
                                    </p:set>
                                    <p:animEffect transition="in" filter="wipe(down)">
                                      <p:cBhvr>
                                        <p:cTn id="130" dur="500"/>
                                        <p:tgtEl>
                                          <p:spTgt spid="69"/>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1" fill="hold" nodeType="clickEffect">
                                  <p:stCondLst>
                                    <p:cond delay="0"/>
                                  </p:stCondLst>
                                  <p:childTnLst>
                                    <p:set>
                                      <p:cBhvr>
                                        <p:cTn id="134" dur="1" fill="hold">
                                          <p:stCondLst>
                                            <p:cond delay="0"/>
                                          </p:stCondLst>
                                        </p:cTn>
                                        <p:tgtEl>
                                          <p:spTgt spid="71"/>
                                        </p:tgtEl>
                                        <p:attrNameLst>
                                          <p:attrName>style.visibility</p:attrName>
                                        </p:attrNameLst>
                                      </p:cBhvr>
                                      <p:to>
                                        <p:strVal val="visible"/>
                                      </p:to>
                                    </p:set>
                                    <p:animEffect transition="in" filter="wipe(up)">
                                      <p:cBhvr>
                                        <p:cTn id="135" dur="500"/>
                                        <p:tgtEl>
                                          <p:spTgt spid="71"/>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
                                        </p:tgtEl>
                                        <p:attrNameLst>
                                          <p:attrName>style.visibility</p:attrName>
                                        </p:attrNameLst>
                                      </p:cBhvr>
                                      <p:to>
                                        <p:strVal val="visible"/>
                                      </p:to>
                                    </p:set>
                                    <p:animEffect transition="in" filter="fade">
                                      <p:cBhvr>
                                        <p:cTn id="13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9" grpId="0" animBg="1"/>
      <p:bldP spid="10" grpId="0" animBg="1"/>
      <p:bldP spid="11" grpId="0" animBg="1"/>
      <p:bldP spid="14" grpId="0" animBg="1"/>
      <p:bldP spid="15" grpId="0" animBg="1"/>
      <p:bldP spid="18" grpId="0" animBg="1"/>
      <p:bldP spid="19" grpId="0" animBg="1"/>
      <p:bldP spid="60" grpId="0" animBg="1"/>
      <p:bldP spid="61" grpId="0" animBg="1"/>
      <p:bldP spid="62" grpId="0" animBg="1"/>
      <p:bldP spid="63" grpId="0" animBg="1"/>
      <p:bldP spid="6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4000" y="228600"/>
            <a:ext cx="11684000" cy="6096000"/>
          </a:xfrm>
        </p:spPr>
        <p:txBody>
          <a:bodyPr/>
          <a:lstStyle/>
          <a:p>
            <a:pPr marL="0" indent="0" fontAlgn="base">
              <a:buNone/>
            </a:pPr>
            <a:endParaRPr lang="en-US" sz="2800" b="1" dirty="0"/>
          </a:p>
          <a:p>
            <a:pPr marL="0" indent="0" fontAlgn="base">
              <a:buNone/>
            </a:pPr>
            <a:r>
              <a:rPr lang="en-US" sz="2800" b="1" dirty="0"/>
              <a:t>Step-01:</a:t>
            </a:r>
            <a:endParaRPr lang="en-US" sz="2800" dirty="0"/>
          </a:p>
          <a:p>
            <a:pPr lvl="1" fontAlgn="base"/>
            <a:r>
              <a:rPr lang="en-US" sz="1600" dirty="0"/>
              <a:t>Draw a recursion tree based on the given recurrence relation.</a:t>
            </a:r>
          </a:p>
          <a:p>
            <a:pPr lvl="1" fontAlgn="base"/>
            <a:r>
              <a:rPr lang="en-US" sz="1600" dirty="0"/>
              <a:t>The given recurrence relation shows-</a:t>
            </a:r>
          </a:p>
          <a:p>
            <a:pPr lvl="1" fontAlgn="base"/>
            <a:r>
              <a:rPr lang="en-US" sz="1600" dirty="0"/>
              <a:t>A problem of size n will get divided into 2 sub-problems of size n/2.</a:t>
            </a:r>
          </a:p>
          <a:p>
            <a:pPr lvl="1" fontAlgn="base"/>
            <a:r>
              <a:rPr lang="en-US" sz="1600" dirty="0"/>
              <a:t>Then, each sub-problem of size n/2 will get divided into 2 sub-problems of size n/4 and so on.</a:t>
            </a:r>
          </a:p>
          <a:p>
            <a:pPr lvl="1" fontAlgn="base"/>
            <a:r>
              <a:rPr lang="en-US" sz="1600" dirty="0"/>
              <a:t>At the bottom most layer, the size of sub-problems will reduce to 1. </a:t>
            </a:r>
          </a:p>
          <a:p>
            <a:pPr marL="457200" lvl="1" indent="0" fontAlgn="base">
              <a:buNone/>
            </a:pPr>
            <a:r>
              <a:rPr lang="en-US" sz="1600" dirty="0"/>
              <a:t>The given recurrence relation shows-</a:t>
            </a:r>
          </a:p>
          <a:p>
            <a:pPr lvl="1" fontAlgn="base"/>
            <a:r>
              <a:rPr lang="en-US" sz="1600" dirty="0"/>
              <a:t>The cost of dividing a problem of size n into its 2 sub-problems and then combining its solution is n.</a:t>
            </a:r>
          </a:p>
          <a:p>
            <a:pPr lvl="1" fontAlgn="base"/>
            <a:r>
              <a:rPr lang="en-US" sz="1600" dirty="0"/>
              <a:t>The cost of dividing a problem of size n/2 into its 2 sub-problems and then combining its solution is n/2 and so on.</a:t>
            </a:r>
          </a:p>
          <a:p>
            <a:pPr marL="0" indent="0" fontAlgn="base">
              <a:buNone/>
            </a:pPr>
            <a:r>
              <a:rPr lang="en-US" sz="2800" b="1" dirty="0"/>
              <a:t>Step-02:</a:t>
            </a:r>
            <a:r>
              <a:rPr lang="en-US" sz="2800" dirty="0"/>
              <a:t> </a:t>
            </a:r>
          </a:p>
          <a:p>
            <a:pPr lvl="1" fontAlgn="base"/>
            <a:r>
              <a:rPr lang="en-US" sz="1600" dirty="0"/>
              <a:t>Determine cost of each level-</a:t>
            </a:r>
          </a:p>
          <a:p>
            <a:pPr lvl="1" fontAlgn="base"/>
            <a:r>
              <a:rPr lang="en-US" sz="1600" dirty="0"/>
              <a:t>Cost of level-0 = n</a:t>
            </a:r>
          </a:p>
          <a:p>
            <a:pPr lvl="1" fontAlgn="base"/>
            <a:r>
              <a:rPr lang="en-US" sz="1600" dirty="0"/>
              <a:t>Cost of level-1 = n/2 + n/2 = n</a:t>
            </a:r>
          </a:p>
          <a:p>
            <a:pPr lvl="1" fontAlgn="base"/>
            <a:r>
              <a:rPr lang="en-US" sz="1600" dirty="0"/>
              <a:t>Cost of level-2 = n/4 + n/4 + n/4 + n/4 = n and so on.</a:t>
            </a:r>
          </a:p>
          <a:p>
            <a:pPr marL="0" indent="0">
              <a:buNone/>
            </a:pPr>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47</a:t>
            </a:fld>
            <a:endParaRPr lang="en-US" dirty="0"/>
          </a:p>
        </p:txBody>
      </p:sp>
    </p:spTree>
    <p:extLst>
      <p:ext uri="{BB962C8B-B14F-4D97-AF65-F5344CB8AC3E}">
        <p14:creationId xmlns:p14="http://schemas.microsoft.com/office/powerpoint/2010/main" val="16084512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5EA8BEFB-AE5B-48F9-BBAD-B489CDE48C80}" type="slidenum">
              <a:rPr lang="en-US" smtClean="0"/>
              <a:pPr/>
              <a:t>48</a:t>
            </a:fld>
            <a:endParaRPr lang="en-US" dirty="0"/>
          </a:p>
        </p:txBody>
      </p:sp>
      <p:sp>
        <p:nvSpPr>
          <p:cNvPr id="5" name="Content Placeholder 2"/>
          <p:cNvSpPr>
            <a:spLocks noGrp="1"/>
          </p:cNvSpPr>
          <p:nvPr>
            <p:ph idx="1"/>
          </p:nvPr>
        </p:nvSpPr>
        <p:spPr>
          <a:xfrm>
            <a:off x="254000" y="0"/>
            <a:ext cx="11684000" cy="6492876"/>
          </a:xfrm>
        </p:spPr>
        <p:txBody>
          <a:bodyPr>
            <a:normAutofit fontScale="92500" lnSpcReduction="10000"/>
          </a:bodyPr>
          <a:lstStyle/>
          <a:p>
            <a:pPr marL="0" indent="0" fontAlgn="base">
              <a:buNone/>
            </a:pPr>
            <a:r>
              <a:rPr lang="en-US" sz="2800" b="1" dirty="0"/>
              <a:t>Step-03:</a:t>
            </a:r>
            <a:endParaRPr lang="en-US" sz="2800" dirty="0"/>
          </a:p>
          <a:p>
            <a:pPr lvl="1" fontAlgn="base"/>
            <a:r>
              <a:rPr lang="en-US" dirty="0"/>
              <a:t>Determine total number of levels in the recursion tree-</a:t>
            </a:r>
          </a:p>
          <a:p>
            <a:pPr lvl="1" fontAlgn="base"/>
            <a:r>
              <a:rPr lang="en-US" dirty="0"/>
              <a:t>Size of sub-problem at level-0 = n/2</a:t>
            </a:r>
            <a:r>
              <a:rPr lang="en-US" baseline="30000" dirty="0"/>
              <a:t>0</a:t>
            </a:r>
          </a:p>
          <a:p>
            <a:pPr lvl="1" fontAlgn="base"/>
            <a:r>
              <a:rPr lang="en-US" dirty="0"/>
              <a:t>Size of sub-problem at level-1 = n/2</a:t>
            </a:r>
            <a:r>
              <a:rPr lang="en-US" baseline="30000" dirty="0"/>
              <a:t>1</a:t>
            </a:r>
          </a:p>
          <a:p>
            <a:pPr lvl="1" fontAlgn="base"/>
            <a:r>
              <a:rPr lang="en-US" dirty="0"/>
              <a:t>Size of sub-problem at level-2 = n/2</a:t>
            </a:r>
            <a:r>
              <a:rPr lang="en-US" baseline="30000" dirty="0"/>
              <a:t>2</a:t>
            </a:r>
          </a:p>
          <a:p>
            <a:pPr lvl="1" fontAlgn="base"/>
            <a:r>
              <a:rPr lang="en-US" dirty="0"/>
              <a:t>Continuing in similar manner, we have- Size of sub-problem at level-</a:t>
            </a:r>
            <a:r>
              <a:rPr lang="en-US" dirty="0" err="1"/>
              <a:t>i</a:t>
            </a:r>
            <a:r>
              <a:rPr lang="en-US" dirty="0"/>
              <a:t> = n/2</a:t>
            </a:r>
            <a:r>
              <a:rPr lang="en-US" baseline="30000" dirty="0"/>
              <a:t>i</a:t>
            </a:r>
          </a:p>
          <a:p>
            <a:pPr lvl="1" fontAlgn="base"/>
            <a:r>
              <a:rPr lang="en-US" dirty="0"/>
              <a:t>Suppose at level-x (last level), size of sub-problem becomes 1. Then- n / 2</a:t>
            </a:r>
            <a:r>
              <a:rPr lang="en-US" baseline="30000" dirty="0"/>
              <a:t>x</a:t>
            </a:r>
            <a:r>
              <a:rPr lang="en-US" dirty="0"/>
              <a:t> = 1</a:t>
            </a:r>
          </a:p>
          <a:p>
            <a:pPr lvl="1" fontAlgn="base"/>
            <a:r>
              <a:rPr lang="en-US" dirty="0"/>
              <a:t>2</a:t>
            </a:r>
            <a:r>
              <a:rPr lang="en-US" baseline="30000" dirty="0"/>
              <a:t>x</a:t>
            </a:r>
            <a:r>
              <a:rPr lang="en-US" dirty="0"/>
              <a:t> = n</a:t>
            </a:r>
          </a:p>
          <a:p>
            <a:pPr lvl="1" fontAlgn="base"/>
            <a:r>
              <a:rPr lang="en-US" dirty="0"/>
              <a:t>Taking log on both sides, we get- xlog</a:t>
            </a:r>
            <a:r>
              <a:rPr lang="en-US" baseline="-25000" dirty="0"/>
              <a:t>2</a:t>
            </a:r>
            <a:r>
              <a:rPr lang="en-US" dirty="0"/>
              <a:t>2 = log</a:t>
            </a:r>
            <a:r>
              <a:rPr lang="en-US" baseline="-25000" dirty="0"/>
              <a:t>2</a:t>
            </a:r>
            <a:r>
              <a:rPr lang="en-US" dirty="0"/>
              <a:t>n</a:t>
            </a:r>
          </a:p>
          <a:p>
            <a:pPr lvl="1" fontAlgn="base"/>
            <a:r>
              <a:rPr lang="en-US" dirty="0"/>
              <a:t>x = log</a:t>
            </a:r>
            <a:r>
              <a:rPr lang="en-US" baseline="-25000" dirty="0"/>
              <a:t>2</a:t>
            </a:r>
            <a:r>
              <a:rPr lang="en-US" dirty="0"/>
              <a:t>n</a:t>
            </a:r>
          </a:p>
          <a:p>
            <a:pPr lvl="1" fontAlgn="base"/>
            <a:r>
              <a:rPr lang="en-US" dirty="0"/>
              <a:t>∴ Total number of levels in the recursion tree = log</a:t>
            </a:r>
            <a:r>
              <a:rPr lang="en-US" baseline="-25000" dirty="0"/>
              <a:t>2</a:t>
            </a:r>
            <a:r>
              <a:rPr lang="en-US" dirty="0"/>
              <a:t>n + 1</a:t>
            </a:r>
          </a:p>
          <a:p>
            <a:pPr marL="0" indent="0" fontAlgn="base">
              <a:buNone/>
            </a:pPr>
            <a:r>
              <a:rPr lang="en-US" sz="2600" b="1" dirty="0"/>
              <a:t>Step-04:</a:t>
            </a:r>
            <a:r>
              <a:rPr lang="en-US" sz="2600" dirty="0"/>
              <a:t> </a:t>
            </a:r>
          </a:p>
          <a:p>
            <a:pPr lvl="1" fontAlgn="base"/>
            <a:r>
              <a:rPr lang="en-US" dirty="0"/>
              <a:t>Determine number of nodes in the last level-</a:t>
            </a:r>
          </a:p>
          <a:p>
            <a:pPr lvl="2" fontAlgn="base"/>
            <a:r>
              <a:rPr lang="en-US" dirty="0"/>
              <a:t>Level-0 has 2</a:t>
            </a:r>
            <a:r>
              <a:rPr lang="en-US" baseline="30000" dirty="0"/>
              <a:t>0</a:t>
            </a:r>
            <a:r>
              <a:rPr lang="en-US" dirty="0"/>
              <a:t> nodes i.e. 1 node</a:t>
            </a:r>
          </a:p>
          <a:p>
            <a:pPr lvl="2" fontAlgn="base"/>
            <a:r>
              <a:rPr lang="en-US" dirty="0"/>
              <a:t>Level-1 has 2</a:t>
            </a:r>
            <a:r>
              <a:rPr lang="en-US" baseline="30000" dirty="0"/>
              <a:t>1</a:t>
            </a:r>
            <a:r>
              <a:rPr lang="en-US" dirty="0"/>
              <a:t> nodes i.e. 2 nodes</a:t>
            </a:r>
          </a:p>
          <a:p>
            <a:pPr lvl="2" fontAlgn="base"/>
            <a:r>
              <a:rPr lang="en-US" dirty="0"/>
              <a:t>Level-2 has 2</a:t>
            </a:r>
            <a:r>
              <a:rPr lang="en-US" baseline="30000" dirty="0"/>
              <a:t>2</a:t>
            </a:r>
            <a:r>
              <a:rPr lang="en-US" dirty="0"/>
              <a:t> nodes i.e. 4 nodes</a:t>
            </a:r>
          </a:p>
          <a:p>
            <a:pPr lvl="1" fontAlgn="base"/>
            <a:r>
              <a:rPr lang="en-US" dirty="0"/>
              <a:t>Continuing in similar manner, we have- Level-log</a:t>
            </a:r>
            <a:r>
              <a:rPr lang="en-US" baseline="-25000" dirty="0"/>
              <a:t>2</a:t>
            </a:r>
            <a:r>
              <a:rPr lang="en-US" dirty="0"/>
              <a:t>n, has </a:t>
            </a:r>
            <a:r>
              <a:rPr lang="en-US" b="1" dirty="0"/>
              <a:t>2</a:t>
            </a:r>
            <a:r>
              <a:rPr lang="en-US" b="1" baseline="30000" dirty="0"/>
              <a:t>log</a:t>
            </a:r>
            <a:r>
              <a:rPr lang="en-US" b="1" baseline="-25000" dirty="0"/>
              <a:t>2</a:t>
            </a:r>
            <a:r>
              <a:rPr lang="en-US" b="1" baseline="30000" dirty="0"/>
              <a:t>n</a:t>
            </a:r>
            <a:r>
              <a:rPr lang="en-US" dirty="0"/>
              <a:t> nodes i.e. </a:t>
            </a:r>
            <a:r>
              <a:rPr lang="en-US" b="1" dirty="0"/>
              <a:t>n</a:t>
            </a:r>
            <a:r>
              <a:rPr lang="en-US" dirty="0"/>
              <a:t> nodes</a:t>
            </a:r>
            <a:endParaRPr lang="en-US" sz="2800" dirty="0"/>
          </a:p>
        </p:txBody>
      </p:sp>
    </p:spTree>
    <p:extLst>
      <p:ext uri="{BB962C8B-B14F-4D97-AF65-F5344CB8AC3E}">
        <p14:creationId xmlns:p14="http://schemas.microsoft.com/office/powerpoint/2010/main" val="28565101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fontAlgn="base">
              <a:buNone/>
            </a:pPr>
            <a:r>
              <a:rPr lang="en-US" b="1" u="sng" dirty="0"/>
              <a:t>Step-05:</a:t>
            </a:r>
            <a:r>
              <a:rPr lang="en-US" dirty="0"/>
              <a:t> </a:t>
            </a:r>
            <a:r>
              <a:rPr lang="en-US" sz="2000" dirty="0"/>
              <a:t>Determine cost of last level-</a:t>
            </a:r>
          </a:p>
          <a:p>
            <a:pPr marL="0" indent="0" fontAlgn="base">
              <a:buNone/>
            </a:pPr>
            <a:r>
              <a:rPr lang="en-US" sz="2000" dirty="0"/>
              <a:t>   Cost of last level = n x T(1) = θ(n)</a:t>
            </a:r>
          </a:p>
          <a:p>
            <a:pPr marL="0" indent="0" fontAlgn="base">
              <a:buNone/>
            </a:pPr>
            <a:r>
              <a:rPr lang="en-US" b="1" u="sng" dirty="0"/>
              <a:t>Step-06:</a:t>
            </a:r>
            <a:r>
              <a:rPr lang="en-US" dirty="0"/>
              <a:t> </a:t>
            </a:r>
          </a:p>
          <a:p>
            <a:pPr marL="0" indent="0" fontAlgn="base">
              <a:buNone/>
            </a:pPr>
            <a:r>
              <a:rPr lang="en-US" dirty="0"/>
              <a:t>   </a:t>
            </a:r>
            <a:r>
              <a:rPr lang="en-US" sz="2000" dirty="0"/>
              <a:t>Add costs of all the levels of the recursion tree and simplify the expression so obtained in  terms of asymptotic notation-</a:t>
            </a:r>
            <a:endParaRPr lang="en-US" sz="1800" dirty="0"/>
          </a:p>
          <a:p>
            <a:pPr marL="0" indent="0" fontAlgn="base">
              <a:buNone/>
            </a:pPr>
            <a:endParaRPr lang="pt-BR" dirty="0"/>
          </a:p>
          <a:p>
            <a:pPr marL="0" indent="0" fontAlgn="base">
              <a:buNone/>
            </a:pPr>
            <a:endParaRPr lang="pt-BR" dirty="0"/>
          </a:p>
          <a:p>
            <a:pPr marL="0" indent="0" fontAlgn="base">
              <a:buNone/>
            </a:pPr>
            <a:endParaRPr lang="pt-BR" dirty="0"/>
          </a:p>
          <a:p>
            <a:pPr marL="0" indent="0" fontAlgn="base">
              <a:buNone/>
            </a:pPr>
            <a:endParaRPr lang="pt-BR" dirty="0"/>
          </a:p>
          <a:p>
            <a:pPr marL="0" indent="0" fontAlgn="base">
              <a:buNone/>
            </a:pPr>
            <a:r>
              <a:rPr lang="pt-BR" dirty="0"/>
              <a:t>= n x log</a:t>
            </a:r>
            <a:r>
              <a:rPr lang="pt-BR" baseline="-25000" dirty="0"/>
              <a:t>2</a:t>
            </a:r>
            <a:r>
              <a:rPr lang="pt-BR" dirty="0"/>
              <a:t>n + θ (n)</a:t>
            </a:r>
          </a:p>
          <a:p>
            <a:pPr marL="0" indent="0" fontAlgn="base">
              <a:buNone/>
            </a:pPr>
            <a:r>
              <a:rPr lang="pt-BR" dirty="0"/>
              <a:t>= nlog</a:t>
            </a:r>
            <a:r>
              <a:rPr lang="pt-BR" baseline="-25000" dirty="0"/>
              <a:t>2</a:t>
            </a:r>
            <a:r>
              <a:rPr lang="pt-BR" dirty="0"/>
              <a:t>n + θ (n)</a:t>
            </a:r>
          </a:p>
          <a:p>
            <a:pPr marL="0" indent="0" fontAlgn="base">
              <a:buNone/>
            </a:pPr>
            <a:r>
              <a:rPr lang="pt-BR" dirty="0"/>
              <a:t>= </a:t>
            </a:r>
            <a:r>
              <a:rPr lang="pt-BR" b="1" dirty="0"/>
              <a:t>θ (nlog</a:t>
            </a:r>
            <a:r>
              <a:rPr lang="pt-BR" b="1" baseline="-25000" dirty="0"/>
              <a:t>2</a:t>
            </a:r>
            <a:r>
              <a:rPr lang="pt-BR" b="1" dirty="0"/>
              <a:t>n)</a:t>
            </a:r>
            <a:endParaRPr lang="pt-BR" dirty="0"/>
          </a:p>
          <a:p>
            <a:pPr marL="0" indent="0" fontAlgn="base">
              <a:buNone/>
            </a:pPr>
            <a:endParaRPr lang="pt-BR" dirty="0"/>
          </a:p>
          <a:p>
            <a:pPr marL="0" indent="0">
              <a:buNone/>
            </a:pPr>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49</a:t>
            </a:fld>
            <a:endParaRPr lang="en-US" dirty="0"/>
          </a:p>
        </p:txBody>
      </p:sp>
      <p:pic>
        <p:nvPicPr>
          <p:cNvPr id="5" name="Picture 4"/>
          <p:cNvPicPr>
            <a:picLocks noChangeAspect="1"/>
          </p:cNvPicPr>
          <p:nvPr/>
        </p:nvPicPr>
        <p:blipFill>
          <a:blip r:embed="rId2"/>
          <a:stretch>
            <a:fillRect/>
          </a:stretch>
        </p:blipFill>
        <p:spPr>
          <a:xfrm>
            <a:off x="4040798" y="3276600"/>
            <a:ext cx="4110404" cy="1047750"/>
          </a:xfrm>
          <a:prstGeom prst="rect">
            <a:avLst/>
          </a:prstGeom>
        </p:spPr>
      </p:pic>
    </p:spTree>
    <p:extLst>
      <p:ext uri="{BB962C8B-B14F-4D97-AF65-F5344CB8AC3E}">
        <p14:creationId xmlns:p14="http://schemas.microsoft.com/office/powerpoint/2010/main" val="21658358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When we add the values across the levels of the recursion tree, we get a value of </a:t>
                </a:r>
                <a14:m>
                  <m:oMath xmlns:m="http://schemas.openxmlformats.org/officeDocument/2006/math">
                    <m:r>
                      <a:rPr lang="en-US" i="1" dirty="0" smtClean="0">
                        <a:latin typeface="Cambria Math" panose="02040503050406030204" pitchFamily="18" charset="0"/>
                      </a:rPr>
                      <m:t>𝑛</m:t>
                    </m:r>
                  </m:oMath>
                </a14:m>
                <a:r>
                  <a:rPr lang="en-US" dirty="0"/>
                  <a:t> for every level. </a:t>
                </a:r>
              </a:p>
              <a:p>
                <a:r>
                  <a:rPr lang="en-US" dirty="0"/>
                  <a:t>The bottom level has </a:t>
                </a:r>
                <a14:m>
                  <m:oMath xmlns:m="http://schemas.openxmlformats.org/officeDocument/2006/math">
                    <m:sSup>
                      <m:sSupPr>
                        <m:ctrlPr>
                          <a:rPr lang="en-US" i="1" dirty="0">
                            <a:latin typeface="Cambria Math" panose="02040503050406030204" pitchFamily="18" charset="0"/>
                          </a:rPr>
                        </m:ctrlPr>
                      </m:sSupPr>
                      <m:e>
                        <m:r>
                          <a:rPr lang="en-US" b="0" i="1" dirty="0" smtClean="0">
                            <a:latin typeface="Cambria Math" panose="02040503050406030204" pitchFamily="18" charset="0"/>
                          </a:rPr>
                          <m:t>2</m:t>
                        </m:r>
                      </m:e>
                      <m:sup>
                        <m:func>
                          <m:funcPr>
                            <m:ctrlPr>
                              <a:rPr lang="en-US" i="1" dirty="0">
                                <a:latin typeface="Cambria Math" panose="02040503050406030204" pitchFamily="18" charset="0"/>
                              </a:rPr>
                            </m:ctrlPr>
                          </m:funcPr>
                          <m:fName>
                            <m:r>
                              <m:rPr>
                                <m:sty m:val="p"/>
                              </m:rPr>
                              <a:rPr lang="en-US" dirty="0">
                                <a:latin typeface="Cambria Math" panose="02040503050406030204" pitchFamily="18" charset="0"/>
                              </a:rPr>
                              <m:t>log</m:t>
                            </m:r>
                          </m:fName>
                          <m:e>
                            <m:r>
                              <a:rPr lang="en-US" b="0" i="1" dirty="0" smtClean="0">
                                <a:latin typeface="Cambria Math" panose="02040503050406030204" pitchFamily="18" charset="0"/>
                              </a:rPr>
                              <m:t>𝑛</m:t>
                            </m:r>
                          </m:e>
                        </m:func>
                      </m:sup>
                    </m:sSup>
                  </m:oMath>
                </a14:m>
                <a:r>
                  <a:rPr lang="en-US" dirty="0"/>
                  <a:t> nodes, each contributing the cost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(1).</m:t>
                    </m:r>
                  </m:oMath>
                </a14:m>
                <a:endParaRPr lang="en-US" dirty="0"/>
              </a:p>
              <a:p>
                <a:pPr algn="l"/>
                <a:r>
                  <a:rPr lang="en-US" dirty="0"/>
                  <a:t>We have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rPr>
                      <m:t> + </m:t>
                    </m:r>
                    <m:r>
                      <a:rPr lang="en-US" i="1" dirty="0" smtClean="0">
                        <a:latin typeface="Cambria Math" panose="02040503050406030204" pitchFamily="18" charset="0"/>
                      </a:rPr>
                      <m:t>𝑛</m:t>
                    </m:r>
                    <m:r>
                      <a:rPr lang="en-US" i="1" dirty="0" smtClean="0">
                        <a:latin typeface="Cambria Math" panose="02040503050406030204" pitchFamily="18" charset="0"/>
                      </a:rPr>
                      <m:t> + </m:t>
                    </m:r>
                    <m:r>
                      <a:rPr lang="en-US" i="1" dirty="0" smtClean="0">
                        <a:latin typeface="Cambria Math" panose="02040503050406030204" pitchFamily="18" charset="0"/>
                      </a:rPr>
                      <m:t>𝑛</m:t>
                    </m:r>
                    <m:r>
                      <a:rPr lang="en-US" i="1" dirty="0" smtClean="0">
                        <a:latin typeface="Cambria Math" panose="02040503050406030204" pitchFamily="18" charset="0"/>
                      </a:rPr>
                      <m:t> + ……       </m:t>
                    </m:r>
                    <m:r>
                      <m:rPr>
                        <m:sty m:val="p"/>
                      </m:rPr>
                      <a:rPr lang="en-US" i="1" dirty="0" smtClean="0">
                        <a:latin typeface="Cambria Math" panose="02040503050406030204" pitchFamily="18" charset="0"/>
                      </a:rPr>
                      <m:t>log</m:t>
                    </m:r>
                    <m:r>
                      <a:rPr lang="en-US" i="1" dirty="0" smtClean="0">
                        <a:latin typeface="Cambria Math" panose="02040503050406030204" pitchFamily="18" charset="0"/>
                      </a:rPr>
                      <m:t>⁡</m:t>
                    </m:r>
                    <m:r>
                      <a:rPr lang="en-US" i="1" dirty="0" smtClean="0">
                        <a:latin typeface="Cambria Math" panose="02040503050406030204" pitchFamily="18" charset="0"/>
                      </a:rPr>
                      <m:t>𝑛</m:t>
                    </m:r>
                  </m:oMath>
                </a14:m>
                <a:r>
                  <a:rPr lang="en-US" dirty="0"/>
                  <a:t> </a:t>
                </a:r>
                <a14:m>
                  <m:oMath xmlns:m="http://schemas.openxmlformats.org/officeDocument/2006/math">
                    <m:r>
                      <a:rPr lang="en-US" i="1" dirty="0" smtClean="0">
                        <a:latin typeface="Cambria Math" panose="02040503050406030204" pitchFamily="18" charset="0"/>
                      </a:rPr>
                      <m:t>𝑡𝑖𝑚𝑒𝑠</m:t>
                    </m:r>
                  </m:oMath>
                </a14:m>
                <a:endParaRPr lang="en-US" dirty="0"/>
              </a:p>
              <a:p>
                <a:pPr marL="0" indent="0" algn="l">
                  <a:buNone/>
                </a:pPr>
                <a:r>
                  <a:rPr lang="en-US" dirty="0"/>
                  <a:t>		    </a:t>
                </a:r>
                <a14:m>
                  <m:oMath xmlns:m="http://schemas.openxmlformats.org/officeDocument/2006/math">
                    <m:r>
                      <a:rPr lang="en-US" i="1" dirty="0" smtClean="0">
                        <a:latin typeface="Cambria Math" panose="02040503050406030204" pitchFamily="18" charset="0"/>
                      </a:rPr>
                      <m:t> </m:t>
                    </m:r>
                    <m:r>
                      <a:rPr lang="en-US" b="0" i="1" dirty="0" smtClean="0">
                        <a:latin typeface="Cambria Math" panose="02040503050406030204" pitchFamily="18" charset="0"/>
                      </a:rPr>
                      <m:t>𝑇</m:t>
                    </m:r>
                    <m:r>
                      <a:rPr lang="en-US" b="0" i="1" dirty="0" smtClean="0">
                        <a:latin typeface="Cambria Math" panose="02040503050406030204" pitchFamily="18" charset="0"/>
                      </a:rPr>
                      <m:t>(</m:t>
                    </m:r>
                    <m:r>
                      <a:rPr lang="en-US" b="0" i="1" dirty="0" smtClean="0">
                        <a:latin typeface="Cambria Math" panose="02040503050406030204" pitchFamily="18" charset="0"/>
                      </a:rPr>
                      <m:t>𝑛</m:t>
                    </m:r>
                    <m:r>
                      <a:rPr lang="en-US" b="0" i="1" dirty="0" smtClean="0">
                        <a:latin typeface="Cambria Math" panose="02040503050406030204" pitchFamily="18" charset="0"/>
                      </a:rPr>
                      <m:t>)= </m:t>
                    </m:r>
                    <m:nary>
                      <m:naryPr>
                        <m:chr m:val="∑"/>
                        <m:ctrlPr>
                          <a:rPr lang="en-US" b="0" i="1" dirty="0" smtClean="0">
                            <a:latin typeface="Cambria Math" panose="02040503050406030204" pitchFamily="18" charset="0"/>
                          </a:rPr>
                        </m:ctrlPr>
                      </m:naryPr>
                      <m:sub>
                        <m:r>
                          <m:rPr>
                            <m:brk m:alnAt="23"/>
                          </m:rPr>
                          <a:rPr lang="en-US" b="0" i="1" dirty="0" smtClean="0">
                            <a:latin typeface="Cambria Math" panose="02040503050406030204" pitchFamily="18" charset="0"/>
                          </a:rPr>
                          <m:t>𝑖</m:t>
                        </m:r>
                        <m:r>
                          <a:rPr lang="en-US" b="0" i="1" dirty="0" smtClean="0">
                            <a:latin typeface="Cambria Math" panose="02040503050406030204" pitchFamily="18" charset="0"/>
                          </a:rPr>
                          <m:t>=0</m:t>
                        </m:r>
                      </m:sub>
                      <m:sup>
                        <m:func>
                          <m:funcPr>
                            <m:ctrlPr>
                              <a:rPr lang="en-US" b="0" i="1" dirty="0" smtClean="0">
                                <a:latin typeface="Cambria Math" panose="02040503050406030204" pitchFamily="18" charset="0"/>
                              </a:rPr>
                            </m:ctrlPr>
                          </m:funcPr>
                          <m:fName>
                            <m:sSub>
                              <m:sSubPr>
                                <m:ctrlPr>
                                  <a:rPr lang="en-US" b="0" i="1" dirty="0" smtClean="0">
                                    <a:latin typeface="Cambria Math" panose="02040503050406030204" pitchFamily="18" charset="0"/>
                                  </a:rPr>
                                </m:ctrlPr>
                              </m:sSubPr>
                              <m:e>
                                <m:r>
                                  <m:rPr>
                                    <m:sty m:val="p"/>
                                  </m:rPr>
                                  <a:rPr lang="en-US" b="0" i="0" dirty="0" smtClean="0">
                                    <a:latin typeface="Cambria Math" panose="02040503050406030204" pitchFamily="18" charset="0"/>
                                  </a:rPr>
                                  <m:t>log</m:t>
                                </m:r>
                              </m:e>
                              <m:sub>
                                <m:r>
                                  <a:rPr lang="en-US" b="0" i="1" dirty="0" smtClean="0">
                                    <a:latin typeface="Cambria Math" panose="02040503050406030204" pitchFamily="18" charset="0"/>
                                  </a:rPr>
                                  <m:t>2</m:t>
                                </m:r>
                              </m:sub>
                            </m:sSub>
                          </m:fName>
                          <m:e>
                            <m:r>
                              <a:rPr lang="en-US" b="0" i="1" dirty="0" smtClean="0">
                                <a:latin typeface="Cambria Math" panose="02040503050406030204" pitchFamily="18" charset="0"/>
                              </a:rPr>
                              <m:t>𝑛</m:t>
                            </m:r>
                          </m:e>
                        </m:func>
                        <m:r>
                          <a:rPr lang="en-US" b="0" i="1" dirty="0" smtClean="0">
                            <a:latin typeface="Cambria Math" panose="02040503050406030204" pitchFamily="18" charset="0"/>
                          </a:rPr>
                          <m:t>−1</m:t>
                        </m:r>
                      </m:sup>
                      <m:e>
                        <m:r>
                          <a:rPr lang="en-US" b="0" i="1" dirty="0" smtClean="0">
                            <a:latin typeface="Cambria Math" panose="02040503050406030204" pitchFamily="18" charset="0"/>
                          </a:rPr>
                          <m:t>𝑛</m:t>
                        </m:r>
                        <m:r>
                          <a:rPr lang="en-US" b="0" i="1" dirty="0" smtClean="0">
                            <a:latin typeface="Cambria Math" panose="02040503050406030204" pitchFamily="18" charset="0"/>
                          </a:rPr>
                          <m:t>+</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2</m:t>
                            </m:r>
                          </m:e>
                          <m:sup>
                            <m:func>
                              <m:funcPr>
                                <m:ctrlPr>
                                  <a:rPr lang="en-US" b="0" i="1" dirty="0" smtClean="0">
                                    <a:latin typeface="Cambria Math" panose="02040503050406030204" pitchFamily="18" charset="0"/>
                                  </a:rPr>
                                </m:ctrlPr>
                              </m:funcPr>
                              <m:fName>
                                <m:r>
                                  <m:rPr>
                                    <m:sty m:val="p"/>
                                  </m:rPr>
                                  <a:rPr lang="en-US" b="0" i="0" dirty="0" smtClean="0">
                                    <a:latin typeface="Cambria Math" panose="02040503050406030204" pitchFamily="18" charset="0"/>
                                  </a:rPr>
                                  <m:t>log</m:t>
                                </m:r>
                              </m:fName>
                              <m:e>
                                <m:r>
                                  <a:rPr lang="en-US" b="0" i="1" dirty="0" smtClean="0">
                                    <a:latin typeface="Cambria Math" panose="02040503050406030204" pitchFamily="18" charset="0"/>
                                  </a:rPr>
                                  <m:t>𝑛</m:t>
                                </m:r>
                              </m:e>
                            </m:func>
                          </m:sup>
                        </m:sSup>
                        <m:r>
                          <a:rPr lang="en-US" b="0" i="1" dirty="0" smtClean="0">
                            <a:latin typeface="Cambria Math" panose="02040503050406030204" pitchFamily="18" charset="0"/>
                          </a:rPr>
                          <m:t>𝑇</m:t>
                        </m:r>
                        <m:r>
                          <a:rPr lang="en-US" b="0" i="1" dirty="0" smtClean="0">
                            <a:latin typeface="Cambria Math" panose="02040503050406030204" pitchFamily="18" charset="0"/>
                          </a:rPr>
                          <m:t>(1)</m:t>
                        </m:r>
                      </m:e>
                    </m:nary>
                  </m:oMath>
                </a14:m>
                <a:endParaRPr lang="en-US" dirty="0"/>
              </a:p>
              <a:p>
                <a:pPr marL="0" indent="0" algn="l">
                  <a:buNone/>
                </a:pPr>
                <a:r>
                  <a:rPr lang="en-US" dirty="0"/>
                  <a:t>		</a:t>
                </a:r>
                <a:r>
                  <a:rPr lang="en-US" b="1" dirty="0"/>
                  <a:t>     </a:t>
                </a:r>
                <a14:m>
                  <m:oMath xmlns:m="http://schemas.openxmlformats.org/officeDocument/2006/math">
                    <m:r>
                      <a:rPr lang="en-US" i="1">
                        <a:latin typeface="Cambria Math" panose="02040503050406030204" pitchFamily="18" charset="0"/>
                      </a:rPr>
                      <m:t>𝑇</m:t>
                    </m:r>
                    <m:d>
                      <m:dPr>
                        <m:ctrlPr>
                          <a:rPr lang="en-US" i="1">
                            <a:latin typeface="Cambria Math" panose="02040503050406030204" pitchFamily="18" charset="0"/>
                          </a:rPr>
                        </m:ctrlPr>
                      </m:dPr>
                      <m:e>
                        <m:r>
                          <a:rPr lang="en-US" i="1">
                            <a:latin typeface="Cambria Math" panose="02040503050406030204" pitchFamily="18" charset="0"/>
                          </a:rPr>
                          <m:t>𝑛</m:t>
                        </m:r>
                      </m:e>
                    </m:d>
                    <m:r>
                      <a:rPr lang="en-US" i="1">
                        <a:latin typeface="Cambria Math" panose="02040503050406030204" pitchFamily="18" charset="0"/>
                      </a:rPr>
                      <m:t>=</m:t>
                    </m:r>
                    <m:r>
                      <a:rPr lang="en-US" i="1">
                        <a:latin typeface="Cambria Math" panose="02040503050406030204" pitchFamily="18" charset="0"/>
                      </a:rPr>
                      <m:t>𝑛</m:t>
                    </m:r>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𝑛</m:t>
                        </m:r>
                      </m:e>
                    </m:func>
                    <m:r>
                      <a:rPr lang="en-US" i="1">
                        <a:latin typeface="Cambria Math" panose="02040503050406030204" pitchFamily="18" charset="0"/>
                      </a:rPr>
                      <m:t>+</m:t>
                    </m:r>
                    <m:r>
                      <a:rPr lang="en-US" i="1">
                        <a:latin typeface="Cambria Math" panose="02040503050406030204" pitchFamily="18" charset="0"/>
                      </a:rPr>
                      <m:t>𝑛</m:t>
                    </m:r>
                  </m:oMath>
                </a14:m>
                <a:endParaRPr lang="en-US" i="1" dirty="0">
                  <a:latin typeface="Cambria Math" panose="02040503050406030204" pitchFamily="18" charset="0"/>
                </a:endParaRPr>
              </a:p>
              <a:p>
                <a:pPr marL="0" indent="0" algn="l">
                  <a:buNone/>
                </a:pPr>
                <a14:m>
                  <m:oMathPara xmlns:m="http://schemas.openxmlformats.org/officeDocument/2006/math">
                    <m:oMathParaPr>
                      <m:jc m:val="centerGroup"/>
                    </m:oMathParaPr>
                    <m:oMath xmlns:m="http://schemas.openxmlformats.org/officeDocument/2006/math">
                      <m:r>
                        <a:rPr lang="en-US" sz="2800" b="1" i="1">
                          <a:latin typeface="Cambria Math" panose="02040503050406030204" pitchFamily="18" charset="0"/>
                        </a:rPr>
                        <m:t>𝑻</m:t>
                      </m:r>
                      <m:d>
                        <m:dPr>
                          <m:ctrlPr>
                            <a:rPr lang="en-US" sz="2800" b="1" i="1">
                              <a:latin typeface="Cambria Math" panose="02040503050406030204" pitchFamily="18" charset="0"/>
                            </a:rPr>
                          </m:ctrlPr>
                        </m:dPr>
                        <m:e>
                          <m:r>
                            <a:rPr lang="en-US" sz="2800" b="1" i="1">
                              <a:latin typeface="Cambria Math" panose="02040503050406030204" pitchFamily="18" charset="0"/>
                            </a:rPr>
                            <m:t>𝒏</m:t>
                          </m:r>
                        </m:e>
                      </m:d>
                      <m:r>
                        <a:rPr lang="en-US" sz="2800" b="1" i="1">
                          <a:latin typeface="Cambria Math" panose="02040503050406030204" pitchFamily="18" charset="0"/>
                        </a:rPr>
                        <m:t>=</m:t>
                      </m:r>
                      <m:r>
                        <a:rPr lang="en-US" sz="2800" b="1" i="1">
                          <a:latin typeface="Cambria Math" panose="02040503050406030204" pitchFamily="18" charset="0"/>
                        </a:rPr>
                        <m:t>𝑶</m:t>
                      </m:r>
                      <m:r>
                        <a:rPr lang="en-US" sz="2800" b="1" i="1">
                          <a:latin typeface="Cambria Math" panose="02040503050406030204" pitchFamily="18" charset="0"/>
                        </a:rPr>
                        <m:t>(</m:t>
                      </m:r>
                      <m:r>
                        <a:rPr lang="en-US" sz="2800" b="1" i="1">
                          <a:latin typeface="Cambria Math" panose="02040503050406030204" pitchFamily="18" charset="0"/>
                        </a:rPr>
                        <m:t>𝒏</m:t>
                      </m:r>
                      <m:func>
                        <m:funcPr>
                          <m:ctrlPr>
                            <a:rPr lang="en-US" sz="2800" b="1" i="1">
                              <a:latin typeface="Cambria Math" panose="02040503050406030204" pitchFamily="18" charset="0"/>
                            </a:rPr>
                          </m:ctrlPr>
                        </m:funcPr>
                        <m:fName>
                          <m:r>
                            <m:rPr>
                              <m:sty m:val="p"/>
                            </m:rPr>
                            <a:rPr lang="en-US" sz="2800">
                              <a:latin typeface="Cambria Math" panose="02040503050406030204" pitchFamily="18" charset="0"/>
                            </a:rPr>
                            <m:t>log</m:t>
                          </m:r>
                        </m:fName>
                        <m:e>
                          <m:r>
                            <a:rPr lang="en-US" sz="2800" b="1" i="1">
                              <a:latin typeface="Cambria Math" panose="02040503050406030204" pitchFamily="18" charset="0"/>
                            </a:rPr>
                            <m:t>𝒏</m:t>
                          </m:r>
                          <m:r>
                            <a:rPr lang="en-US" sz="2800" b="1" i="1">
                              <a:latin typeface="Cambria Math" panose="02040503050406030204" pitchFamily="18" charset="0"/>
                            </a:rPr>
                            <m:t>)</m:t>
                          </m:r>
                        </m:e>
                      </m:func>
                    </m:oMath>
                  </m:oMathPara>
                </a14:m>
                <a:endParaRPr lang="en-US" sz="2800" b="1" i="1" dirty="0">
                  <a:latin typeface="Cambria Math" panose="02040503050406030204" pitchFamily="18" charset="0"/>
                </a:endParaRPr>
              </a:p>
              <a:p>
                <a:pPr algn="l"/>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04" t="-457" r="-1043"/>
                </a:stretch>
              </a:blipFill>
            </p:spPr>
            <p:txBody>
              <a:bodyPr/>
              <a:lstStyle/>
              <a:p>
                <a:r>
                  <a:rPr lang="en-US">
                    <a:noFill/>
                  </a:rPr>
                  <a:t> </a:t>
                </a:r>
              </a:p>
            </p:txBody>
          </p:sp>
        </mc:Fallback>
      </mc:AlternateContent>
      <p:sp>
        <p:nvSpPr>
          <p:cNvPr id="5" name="Slide Number Placeholder 4"/>
          <p:cNvSpPr>
            <a:spLocks noGrp="1"/>
          </p:cNvSpPr>
          <p:nvPr>
            <p:ph type="sldNum" sz="quarter" idx="12"/>
          </p:nvPr>
        </p:nvSpPr>
        <p:spPr/>
        <p:txBody>
          <a:bodyPr/>
          <a:lstStyle/>
          <a:p>
            <a:fld id="{5EA8BEFB-AE5B-48F9-BBAD-B489CDE48C80}" type="slidenum">
              <a:rPr lang="en-US" smtClean="0"/>
              <a:pPr/>
              <a:t>50</a:t>
            </a:fld>
            <a:endParaRPr lang="en-US" dirty="0"/>
          </a:p>
        </p:txBody>
      </p:sp>
      <p:sp>
        <p:nvSpPr>
          <p:cNvPr id="6" name="Rounded Rectangle 5"/>
          <p:cNvSpPr/>
          <p:nvPr/>
        </p:nvSpPr>
        <p:spPr>
          <a:xfrm>
            <a:off x="4586256" y="4038600"/>
            <a:ext cx="2926080" cy="45720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800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solidFill>
                      <a:srgbClr val="0066FF"/>
                    </a:solidFill>
                  </a:rPr>
                  <a:t>Example 2: </a:t>
                </a:r>
                <a14:m>
                  <m:oMath xmlns:m="http://schemas.openxmlformats.org/officeDocument/2006/math">
                    <m:r>
                      <a:rPr lang="en-US" i="1" dirty="0" smtClean="0">
                        <a:solidFill>
                          <a:srgbClr val="0066FF"/>
                        </a:solidFill>
                        <a:latin typeface="Cambria Math" panose="02040503050406030204" pitchFamily="18" charset="0"/>
                      </a:rPr>
                      <m:t>𝑇</m:t>
                    </m:r>
                    <m:r>
                      <a:rPr lang="en-US" i="1" dirty="0" smtClean="0">
                        <a:solidFill>
                          <a:srgbClr val="0066FF"/>
                        </a:solidFill>
                        <a:latin typeface="Cambria Math" panose="02040503050406030204" pitchFamily="18" charset="0"/>
                      </a:rPr>
                      <m:t>(</m:t>
                    </m:r>
                    <m:r>
                      <a:rPr lang="en-US" i="1" dirty="0" smtClean="0">
                        <a:solidFill>
                          <a:srgbClr val="0066FF"/>
                        </a:solidFill>
                        <a:latin typeface="Cambria Math" panose="02040503050406030204" pitchFamily="18" charset="0"/>
                      </a:rPr>
                      <m:t>𝑛</m:t>
                    </m:r>
                    <m:r>
                      <a:rPr lang="en-US" i="1" dirty="0" smtClean="0">
                        <a:solidFill>
                          <a:srgbClr val="0066FF"/>
                        </a:solidFill>
                        <a:latin typeface="Cambria Math" panose="02040503050406030204" pitchFamily="18" charset="0"/>
                      </a:rPr>
                      <m:t>)=</m:t>
                    </m:r>
                    <m:r>
                      <a:rPr lang="en-US" i="1" dirty="0" smtClean="0">
                        <a:solidFill>
                          <a:srgbClr val="0066FF"/>
                        </a:solidFill>
                        <a:latin typeface="Cambria Math" panose="02040503050406030204" pitchFamily="18" charset="0"/>
                      </a:rPr>
                      <m:t>𝑇</m:t>
                    </m:r>
                    <m:r>
                      <a:rPr lang="en-US" i="1" dirty="0" smtClean="0">
                        <a:solidFill>
                          <a:srgbClr val="0066FF"/>
                        </a:solidFill>
                        <a:latin typeface="Cambria Math" panose="02040503050406030204" pitchFamily="18" charset="0"/>
                      </a:rPr>
                      <m:t>(</m:t>
                    </m:r>
                    <m:r>
                      <a:rPr lang="en-US" i="1" dirty="0" smtClean="0">
                        <a:solidFill>
                          <a:srgbClr val="0066FF"/>
                        </a:solidFill>
                        <a:latin typeface="Cambria Math" panose="02040503050406030204" pitchFamily="18" charset="0"/>
                      </a:rPr>
                      <m:t>𝑛</m:t>
                    </m:r>
                    <m:r>
                      <a:rPr lang="en-US" i="1" dirty="0" smtClean="0">
                        <a:solidFill>
                          <a:srgbClr val="0066FF"/>
                        </a:solidFill>
                        <a:latin typeface="Cambria Math" panose="02040503050406030204" pitchFamily="18" charset="0"/>
                      </a:rPr>
                      <m:t>/3)+</m:t>
                    </m:r>
                    <m:r>
                      <a:rPr lang="en-US" i="1" dirty="0" smtClean="0">
                        <a:solidFill>
                          <a:srgbClr val="0066FF"/>
                        </a:solidFill>
                        <a:latin typeface="Cambria Math" panose="02040503050406030204" pitchFamily="18" charset="0"/>
                      </a:rPr>
                      <m:t>𝑇</m:t>
                    </m:r>
                    <m:r>
                      <a:rPr lang="en-US" i="1" dirty="0" smtClean="0">
                        <a:solidFill>
                          <a:srgbClr val="0066FF"/>
                        </a:solidFill>
                        <a:latin typeface="Cambria Math" panose="02040503050406030204" pitchFamily="18" charset="0"/>
                      </a:rPr>
                      <m:t>(2</m:t>
                    </m:r>
                    <m:r>
                      <a:rPr lang="en-US" i="1" dirty="0" smtClean="0">
                        <a:solidFill>
                          <a:srgbClr val="0066FF"/>
                        </a:solidFill>
                        <a:latin typeface="Cambria Math" panose="02040503050406030204" pitchFamily="18" charset="0"/>
                      </a:rPr>
                      <m:t>𝑛</m:t>
                    </m:r>
                    <m:r>
                      <a:rPr lang="en-US" i="1" dirty="0" smtClean="0">
                        <a:solidFill>
                          <a:srgbClr val="0066FF"/>
                        </a:solidFill>
                        <a:latin typeface="Cambria Math" panose="02040503050406030204" pitchFamily="18" charset="0"/>
                      </a:rPr>
                      <m:t>/3) + </m:t>
                    </m:r>
                    <m:r>
                      <a:rPr lang="en-US" i="1" dirty="0" smtClean="0">
                        <a:solidFill>
                          <a:srgbClr val="0066FF"/>
                        </a:solidFill>
                        <a:latin typeface="Cambria Math" panose="02040503050406030204" pitchFamily="18" charset="0"/>
                      </a:rPr>
                      <m:t>𝑛</m:t>
                    </m:r>
                  </m:oMath>
                </a14:m>
                <a:endParaRPr lang="en-US" dirty="0">
                  <a:solidFill>
                    <a:srgbClr val="0066FF"/>
                  </a:solidFill>
                </a:endParaRPr>
              </a:p>
              <a:p>
                <a:r>
                  <a:rPr lang="en-US" dirty="0"/>
                  <a:t>The recursion tree for this recurrence is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904" t="-4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2411756" y="3729336"/>
                <a:ext cx="91440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cs typeface="Times New Roman" panose="02020603050405020304" pitchFamily="18" charset="0"/>
                        </a:rPr>
                        <m:t>log</m:t>
                      </m:r>
                      <m:r>
                        <a:rPr lang="en-US" altLang="en-US" sz="2400" i="1" baseline="-25000" dirty="0">
                          <a:latin typeface="Cambria Math" panose="02040503050406030204" pitchFamily="18" charset="0"/>
                          <a:cs typeface="Times New Roman" panose="02020603050405020304" pitchFamily="18" charset="0"/>
                        </a:rPr>
                        <m:t>3 </m:t>
                      </m:r>
                      <m:r>
                        <a:rPr lang="en-US" altLang="en-US" sz="2400" i="1" dirty="0">
                          <a:latin typeface="Cambria Math" panose="02040503050406030204" pitchFamily="18" charset="0"/>
                          <a:cs typeface="Times New Roman" panose="02020603050405020304" pitchFamily="18" charset="0"/>
                        </a:rPr>
                        <m:t>𝑛</m:t>
                      </m:r>
                    </m:oMath>
                  </m:oMathPara>
                </a14:m>
                <a:endParaRPr lang="en-US" altLang="en-US" sz="2400" dirty="0">
                  <a:latin typeface="+mj-lt"/>
                  <a:cs typeface="Times New Roman" panose="02020603050405020304" pitchFamily="18" charset="0"/>
                </a:endParaRPr>
              </a:p>
            </p:txBody>
          </p:sp>
        </mc:Choice>
        <mc:Fallback xmlns="">
          <p:sp>
            <p:nvSpPr>
              <p:cNvPr id="5" name="Rectangle 4"/>
              <p:cNvSpPr>
                <a:spLocks noRot="1" noChangeAspect="1" noMove="1" noResize="1" noEditPoints="1" noAdjustHandles="1" noChangeArrowheads="1" noChangeShapeType="1" noTextEdit="1"/>
              </p:cNvSpPr>
              <p:nvPr/>
            </p:nvSpPr>
            <p:spPr>
              <a:xfrm>
                <a:off x="2411756" y="3729336"/>
                <a:ext cx="914400" cy="461665"/>
              </a:xfrm>
              <a:prstGeom prst="rect">
                <a:avLst/>
              </a:prstGeom>
              <a:blipFill>
                <a:blip r:embed="rId3"/>
                <a:stretch>
                  <a:fillRect l="-6000" b="-1710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8713444" y="4599297"/>
                <a:ext cx="3780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i="1" dirty="0">
                          <a:latin typeface="Cambria Math" panose="02040503050406030204" pitchFamily="18" charset="0"/>
                          <a:cs typeface="Times New Roman" panose="02020603050405020304" pitchFamily="18" charset="0"/>
                        </a:rPr>
                        <m:t>𝑛</m:t>
                      </m:r>
                    </m:oMath>
                  </m:oMathPara>
                </a14:m>
                <a:endParaRPr lang="en-US" sz="2400" dirty="0">
                  <a:latin typeface="+mj-lt"/>
                </a:endParaRPr>
              </a:p>
            </p:txBody>
          </p:sp>
        </mc:Choice>
        <mc:Fallback xmlns="">
          <p:sp>
            <p:nvSpPr>
              <p:cNvPr id="6" name="Rectangle 5"/>
              <p:cNvSpPr>
                <a:spLocks noRot="1" noChangeAspect="1" noMove="1" noResize="1" noEditPoints="1" noAdjustHandles="1" noChangeArrowheads="1" noChangeShapeType="1" noTextEdit="1"/>
              </p:cNvSpPr>
              <p:nvPr/>
            </p:nvSpPr>
            <p:spPr>
              <a:xfrm>
                <a:off x="8713444" y="4599297"/>
                <a:ext cx="378076" cy="461665"/>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Rectangle 6"/>
              <p:cNvSpPr/>
              <p:nvPr/>
            </p:nvSpPr>
            <p:spPr>
              <a:xfrm>
                <a:off x="8765924" y="3429001"/>
                <a:ext cx="3780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i="1" dirty="0">
                          <a:latin typeface="Cambria Math" panose="02040503050406030204" pitchFamily="18" charset="0"/>
                          <a:cs typeface="Times New Roman" panose="02020603050405020304" pitchFamily="18" charset="0"/>
                        </a:rPr>
                        <m:t>𝑛</m:t>
                      </m:r>
                    </m:oMath>
                  </m:oMathPara>
                </a14:m>
                <a:endParaRPr lang="en-US" sz="2400" dirty="0">
                  <a:latin typeface="+mj-lt"/>
                </a:endParaRPr>
              </a:p>
            </p:txBody>
          </p:sp>
        </mc:Choice>
        <mc:Fallback xmlns="">
          <p:sp>
            <p:nvSpPr>
              <p:cNvPr id="7" name="Rectangle 6"/>
              <p:cNvSpPr>
                <a:spLocks noRot="1" noChangeAspect="1" noMove="1" noResize="1" noEditPoints="1" noAdjustHandles="1" noChangeArrowheads="1" noChangeShapeType="1" noTextEdit="1"/>
              </p:cNvSpPr>
              <p:nvPr/>
            </p:nvSpPr>
            <p:spPr>
              <a:xfrm>
                <a:off x="8765924" y="3429001"/>
                <a:ext cx="378076" cy="461665"/>
              </a:xfrm>
              <a:prstGeom prst="rect">
                <a:avLst/>
              </a:prstGeom>
              <a:blipFill>
                <a:blip r:embed="rId5"/>
                <a:stretch>
                  <a:fillRect/>
                </a:stretch>
              </a:blipFill>
            </p:spPr>
            <p:txBody>
              <a:bodyPr/>
              <a:lstStyle/>
              <a:p>
                <a:r>
                  <a:rPr lang="en-IN">
                    <a:noFill/>
                  </a:rPr>
                  <a:t> </a:t>
                </a:r>
              </a:p>
            </p:txBody>
          </p:sp>
        </mc:Fallback>
      </mc:AlternateContent>
      <p:sp>
        <p:nvSpPr>
          <p:cNvPr id="8" name="Slide Number Placeholder 7"/>
          <p:cNvSpPr>
            <a:spLocks noGrp="1"/>
          </p:cNvSpPr>
          <p:nvPr>
            <p:ph type="sldNum" sz="quarter" idx="12"/>
          </p:nvPr>
        </p:nvSpPr>
        <p:spPr>
          <a:xfrm>
            <a:off x="5562600" y="6492876"/>
            <a:ext cx="457200" cy="365125"/>
          </a:xfrm>
        </p:spPr>
        <p:txBody>
          <a:bodyPr/>
          <a:lstStyle/>
          <a:p>
            <a:fld id="{5EA8BEFB-AE5B-48F9-BBAD-B489CDE48C80}" type="slidenum">
              <a:rPr lang="en-US" smtClean="0"/>
              <a:pPr/>
              <a:t>51</a:t>
            </a:fld>
            <a:endParaRPr lang="en-US" dirty="0"/>
          </a:p>
        </p:txBody>
      </p:sp>
      <mc:AlternateContent xmlns:mc="http://schemas.openxmlformats.org/markup-compatibility/2006" xmlns:a14="http://schemas.microsoft.com/office/drawing/2010/main">
        <mc:Choice Requires="a14">
          <p:sp>
            <p:nvSpPr>
              <p:cNvPr id="9" name="Oval 8"/>
              <p:cNvSpPr/>
              <p:nvPr/>
            </p:nvSpPr>
            <p:spPr>
              <a:xfrm>
                <a:off x="5208063" y="22860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sz="2400" i="1" dirty="0">
                          <a:solidFill>
                            <a:srgbClr val="C00000"/>
                          </a:solidFill>
                          <a:latin typeface="Cambria Math" panose="02040503050406030204" pitchFamily="18" charset="0"/>
                        </a:rPr>
                        <m:t>𝑛</m:t>
                      </m:r>
                    </m:oMath>
                  </m:oMathPara>
                </a14:m>
                <a:endParaRPr lang="en-US" sz="2400" dirty="0">
                  <a:solidFill>
                    <a:srgbClr val="C00000"/>
                  </a:solidFill>
                </a:endParaRPr>
              </a:p>
            </p:txBody>
          </p:sp>
        </mc:Choice>
        <mc:Fallback xmlns="">
          <p:sp>
            <p:nvSpPr>
              <p:cNvPr id="9" name="Oval 8"/>
              <p:cNvSpPr>
                <a:spLocks noRot="1" noChangeAspect="1" noMove="1" noResize="1" noEditPoints="1" noAdjustHandles="1" noChangeArrowheads="1" noChangeShapeType="1" noTextEdit="1"/>
              </p:cNvSpPr>
              <p:nvPr/>
            </p:nvSpPr>
            <p:spPr>
              <a:xfrm>
                <a:off x="5208063" y="2286000"/>
                <a:ext cx="777240" cy="731520"/>
              </a:xfrm>
              <a:prstGeom prst="ellipse">
                <a:avLst/>
              </a:prstGeom>
              <a:blipFill>
                <a:blip r:embed="rId6"/>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Oval 9"/>
              <p:cNvSpPr/>
              <p:nvPr/>
            </p:nvSpPr>
            <p:spPr>
              <a:xfrm>
                <a:off x="4293663" y="3352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000" i="1" dirty="0">
                              <a:solidFill>
                                <a:srgbClr val="C00000"/>
                              </a:solidFill>
                              <a:latin typeface="Cambria Math" panose="02040503050406030204" pitchFamily="18" charset="0"/>
                            </a:rPr>
                          </m:ctrlPr>
                        </m:fPr>
                        <m:num>
                          <m:r>
                            <a:rPr lang="en-US" sz="2000" i="1" dirty="0">
                              <a:solidFill>
                                <a:srgbClr val="C00000"/>
                              </a:solidFill>
                              <a:latin typeface="Cambria Math" panose="02040503050406030204" pitchFamily="18" charset="0"/>
                            </a:rPr>
                            <m:t>𝑛</m:t>
                          </m:r>
                        </m:num>
                        <m:den>
                          <m:r>
                            <a:rPr lang="en-US" sz="2000" i="1" dirty="0">
                              <a:solidFill>
                                <a:srgbClr val="C00000"/>
                              </a:solidFill>
                              <a:latin typeface="Cambria Math" panose="02040503050406030204" pitchFamily="18" charset="0"/>
                            </a:rPr>
                            <m:t>3</m:t>
                          </m:r>
                        </m:den>
                      </m:f>
                    </m:oMath>
                  </m:oMathPara>
                </a14:m>
                <a:endParaRPr lang="en-US" sz="2000" dirty="0">
                  <a:solidFill>
                    <a:srgbClr val="C00000"/>
                  </a:solidFill>
                </a:endParaRPr>
              </a:p>
            </p:txBody>
          </p:sp>
        </mc:Choice>
        <mc:Fallback xmlns="">
          <p:sp>
            <p:nvSpPr>
              <p:cNvPr id="10" name="Oval 9"/>
              <p:cNvSpPr>
                <a:spLocks noRot="1" noChangeAspect="1" noMove="1" noResize="1" noEditPoints="1" noAdjustHandles="1" noChangeArrowheads="1" noChangeShapeType="1" noTextEdit="1"/>
              </p:cNvSpPr>
              <p:nvPr/>
            </p:nvSpPr>
            <p:spPr>
              <a:xfrm>
                <a:off x="4293663" y="3352800"/>
                <a:ext cx="777240" cy="731520"/>
              </a:xfrm>
              <a:prstGeom prst="ellipse">
                <a:avLst/>
              </a:prstGeom>
              <a:blipFill>
                <a:blip r:embed="rId7"/>
                <a:stretch>
                  <a:fillRect l="-19231" t="-39344" r="-41538" b="-72951"/>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Oval 10"/>
              <p:cNvSpPr/>
              <p:nvPr/>
            </p:nvSpPr>
            <p:spPr>
              <a:xfrm>
                <a:off x="6183423" y="33528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type m:val="lin"/>
                          <m:ctrlPr>
                            <a:rPr lang="en-US" sz="2000" i="1" dirty="0">
                              <a:solidFill>
                                <a:srgbClr val="C00000"/>
                              </a:solidFill>
                              <a:latin typeface="Cambria Math" panose="02040503050406030204" pitchFamily="18" charset="0"/>
                            </a:rPr>
                          </m:ctrlPr>
                        </m:fPr>
                        <m:num>
                          <m:r>
                            <a:rPr lang="en-US" sz="2000" i="1" dirty="0">
                              <a:solidFill>
                                <a:srgbClr val="C00000"/>
                              </a:solidFill>
                              <a:latin typeface="Cambria Math" panose="02040503050406030204" pitchFamily="18" charset="0"/>
                            </a:rPr>
                            <m:t>2</m:t>
                          </m:r>
                          <m:r>
                            <a:rPr lang="en-US" sz="2000" i="1" dirty="0">
                              <a:solidFill>
                                <a:srgbClr val="C00000"/>
                              </a:solidFill>
                              <a:latin typeface="Cambria Math" panose="02040503050406030204" pitchFamily="18" charset="0"/>
                            </a:rPr>
                            <m:t>𝑛</m:t>
                          </m:r>
                        </m:num>
                        <m:den>
                          <m:r>
                            <a:rPr lang="en-US" sz="2000" i="1" dirty="0">
                              <a:solidFill>
                                <a:srgbClr val="C00000"/>
                              </a:solidFill>
                              <a:latin typeface="Cambria Math" panose="02040503050406030204" pitchFamily="18" charset="0"/>
                            </a:rPr>
                            <m:t>3</m:t>
                          </m:r>
                        </m:den>
                      </m:f>
                    </m:oMath>
                  </m:oMathPara>
                </a14:m>
                <a:endParaRPr lang="en-US" sz="2000" dirty="0">
                  <a:solidFill>
                    <a:srgbClr val="C00000"/>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6183423" y="3352800"/>
                <a:ext cx="777240" cy="731520"/>
              </a:xfrm>
              <a:prstGeom prst="ellipse">
                <a:avLst/>
              </a:prstGeom>
              <a:blipFill>
                <a:blip r:embed="rId8"/>
                <a:stretch>
                  <a:fillRect l="-10000" t="-39344" r="-50769" b="-72951"/>
                </a:stretch>
              </a:blipFill>
              <a:ln w="12700">
                <a:solidFill>
                  <a:schemeClr val="tx1"/>
                </a:solidFill>
              </a:ln>
            </p:spPr>
            <p:txBody>
              <a:bodyPr/>
              <a:lstStyle/>
              <a:p>
                <a:r>
                  <a:rPr lang="en-IN">
                    <a:noFill/>
                  </a:rPr>
                  <a:t> </a:t>
                </a:r>
              </a:p>
            </p:txBody>
          </p:sp>
        </mc:Fallback>
      </mc:AlternateContent>
      <p:cxnSp>
        <p:nvCxnSpPr>
          <p:cNvPr id="12" name="Straight Connector 11"/>
          <p:cNvCxnSpPr>
            <a:stCxn id="9" idx="3"/>
            <a:endCxn id="10" idx="0"/>
          </p:cNvCxnSpPr>
          <p:nvPr/>
        </p:nvCxnSpPr>
        <p:spPr>
          <a:xfrm flipH="1">
            <a:off x="4682283" y="2910392"/>
            <a:ext cx="639604" cy="442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a:endCxn id="11" idx="0"/>
          </p:cNvCxnSpPr>
          <p:nvPr/>
        </p:nvCxnSpPr>
        <p:spPr>
          <a:xfrm>
            <a:off x="5871479" y="2910392"/>
            <a:ext cx="700564" cy="442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Oval 13"/>
              <p:cNvSpPr/>
              <p:nvPr/>
            </p:nvSpPr>
            <p:spPr>
              <a:xfrm>
                <a:off x="3743407" y="45720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ctrlPr>
                            <a:rPr lang="en-US" sz="2000" i="1" dirty="0">
                              <a:solidFill>
                                <a:srgbClr val="C00000"/>
                              </a:solidFill>
                              <a:latin typeface="Cambria Math" panose="02040503050406030204" pitchFamily="18" charset="0"/>
                            </a:rPr>
                          </m:ctrlPr>
                        </m:fPr>
                        <m:num>
                          <m:r>
                            <a:rPr lang="en-US" sz="2000" i="1" dirty="0">
                              <a:solidFill>
                                <a:srgbClr val="C00000"/>
                              </a:solidFill>
                              <a:latin typeface="Cambria Math" panose="02040503050406030204" pitchFamily="18" charset="0"/>
                            </a:rPr>
                            <m:t>1</m:t>
                          </m:r>
                        </m:num>
                        <m:den>
                          <m:r>
                            <a:rPr lang="en-US" sz="2000" i="1" dirty="0">
                              <a:solidFill>
                                <a:srgbClr val="C00000"/>
                              </a:solidFill>
                              <a:latin typeface="Cambria Math" panose="02040503050406030204" pitchFamily="18" charset="0"/>
                            </a:rPr>
                            <m:t>3</m:t>
                          </m:r>
                        </m:den>
                      </m:f>
                      <m:f>
                        <m:fPr>
                          <m:ctrlPr>
                            <a:rPr lang="en-US" sz="2000" i="1" dirty="0">
                              <a:solidFill>
                                <a:srgbClr val="C00000"/>
                              </a:solidFill>
                              <a:latin typeface="Cambria Math" panose="02040503050406030204" pitchFamily="18" charset="0"/>
                            </a:rPr>
                          </m:ctrlPr>
                        </m:fPr>
                        <m:num>
                          <m:r>
                            <a:rPr lang="en-US" sz="2000" i="1" dirty="0">
                              <a:solidFill>
                                <a:srgbClr val="C00000"/>
                              </a:solidFill>
                              <a:latin typeface="Cambria Math" panose="02040503050406030204" pitchFamily="18" charset="0"/>
                            </a:rPr>
                            <m:t>𝑛</m:t>
                          </m:r>
                        </m:num>
                        <m:den>
                          <m:r>
                            <a:rPr lang="en-US" sz="2000" i="1" dirty="0">
                              <a:solidFill>
                                <a:srgbClr val="C00000"/>
                              </a:solidFill>
                              <a:latin typeface="Cambria Math" panose="02040503050406030204" pitchFamily="18" charset="0"/>
                            </a:rPr>
                            <m:t>3</m:t>
                          </m:r>
                        </m:den>
                      </m:f>
                    </m:oMath>
                  </m:oMathPara>
                </a14:m>
                <a:endParaRPr lang="en-US" sz="2000" dirty="0">
                  <a:solidFill>
                    <a:srgbClr val="C00000"/>
                  </a:solidFill>
                </a:endParaRPr>
              </a:p>
            </p:txBody>
          </p:sp>
        </mc:Choice>
        <mc:Fallback xmlns="">
          <p:sp>
            <p:nvSpPr>
              <p:cNvPr id="14" name="Oval 13"/>
              <p:cNvSpPr>
                <a:spLocks noRot="1" noChangeAspect="1" noMove="1" noResize="1" noEditPoints="1" noAdjustHandles="1" noChangeArrowheads="1" noChangeShapeType="1" noTextEdit="1"/>
              </p:cNvSpPr>
              <p:nvPr/>
            </p:nvSpPr>
            <p:spPr>
              <a:xfrm>
                <a:off x="3743407" y="4572000"/>
                <a:ext cx="777240" cy="731520"/>
              </a:xfrm>
              <a:prstGeom prst="ellipse">
                <a:avLst/>
              </a:prstGeom>
              <a:blipFill>
                <a:blip r:embed="rId9"/>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Oval 14"/>
              <p:cNvSpPr/>
              <p:nvPr/>
            </p:nvSpPr>
            <p:spPr>
              <a:xfrm>
                <a:off x="4761040" y="45720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2</m:t>
                          </m:r>
                        </m:num>
                        <m:den>
                          <m:r>
                            <a:rPr lang="en-US" sz="2000" i="1">
                              <a:solidFill>
                                <a:srgbClr val="C00000"/>
                              </a:solidFill>
                              <a:latin typeface="Cambria Math" panose="02040503050406030204" pitchFamily="18" charset="0"/>
                            </a:rPr>
                            <m:t>3</m:t>
                          </m:r>
                        </m:den>
                      </m:f>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𝑛</m:t>
                          </m:r>
                        </m:num>
                        <m:den>
                          <m:r>
                            <a:rPr lang="en-US" sz="2000" i="1">
                              <a:solidFill>
                                <a:srgbClr val="C00000"/>
                              </a:solidFill>
                              <a:latin typeface="Cambria Math" panose="02040503050406030204" pitchFamily="18" charset="0"/>
                            </a:rPr>
                            <m:t>3</m:t>
                          </m:r>
                        </m:den>
                      </m:f>
                    </m:oMath>
                  </m:oMathPara>
                </a14:m>
                <a:endParaRPr lang="en-US" sz="2000" dirty="0">
                  <a:solidFill>
                    <a:srgbClr val="C00000"/>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4761040" y="4572000"/>
                <a:ext cx="777240" cy="731520"/>
              </a:xfrm>
              <a:prstGeom prst="ellipse">
                <a:avLst/>
              </a:prstGeom>
              <a:blipFill>
                <a:blip r:embed="rId10"/>
                <a:stretch>
                  <a:fillRect/>
                </a:stretch>
              </a:blipFill>
              <a:ln w="12700">
                <a:solidFill>
                  <a:schemeClr val="tx1"/>
                </a:solidFill>
              </a:ln>
            </p:spPr>
            <p:txBody>
              <a:bodyPr/>
              <a:lstStyle/>
              <a:p>
                <a:r>
                  <a:rPr lang="en-IN">
                    <a:noFill/>
                  </a:rPr>
                  <a:t> </a:t>
                </a:r>
              </a:p>
            </p:txBody>
          </p:sp>
        </mc:Fallback>
      </mc:AlternateContent>
      <p:cxnSp>
        <p:nvCxnSpPr>
          <p:cNvPr id="16" name="Straight Connector 15"/>
          <p:cNvCxnSpPr>
            <a:stCxn id="10" idx="3"/>
            <a:endCxn id="14" idx="0"/>
          </p:cNvCxnSpPr>
          <p:nvPr/>
        </p:nvCxnSpPr>
        <p:spPr>
          <a:xfrm flipH="1">
            <a:off x="4132027" y="3977192"/>
            <a:ext cx="275460"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5"/>
            <a:endCxn id="15" idx="0"/>
          </p:cNvCxnSpPr>
          <p:nvPr/>
        </p:nvCxnSpPr>
        <p:spPr>
          <a:xfrm>
            <a:off x="4957080" y="3977192"/>
            <a:ext cx="192581"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Oval 17"/>
              <p:cNvSpPr/>
              <p:nvPr/>
            </p:nvSpPr>
            <p:spPr>
              <a:xfrm>
                <a:off x="5692866" y="45720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1</m:t>
                          </m:r>
                        </m:num>
                        <m:den>
                          <m:r>
                            <a:rPr lang="en-US" sz="2000" i="1">
                              <a:solidFill>
                                <a:srgbClr val="C00000"/>
                              </a:solidFill>
                              <a:latin typeface="Cambria Math" panose="02040503050406030204" pitchFamily="18" charset="0"/>
                            </a:rPr>
                            <m:t>3</m:t>
                          </m:r>
                        </m:den>
                      </m:f>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2</m:t>
                          </m:r>
                          <m:r>
                            <a:rPr lang="en-US" sz="2000" i="1">
                              <a:solidFill>
                                <a:srgbClr val="C00000"/>
                              </a:solidFill>
                              <a:latin typeface="Cambria Math" panose="02040503050406030204" pitchFamily="18" charset="0"/>
                            </a:rPr>
                            <m:t>𝑛</m:t>
                          </m:r>
                        </m:num>
                        <m:den>
                          <m:r>
                            <a:rPr lang="en-US" sz="2000" i="1">
                              <a:solidFill>
                                <a:srgbClr val="C00000"/>
                              </a:solidFill>
                              <a:latin typeface="Cambria Math" panose="02040503050406030204" pitchFamily="18" charset="0"/>
                            </a:rPr>
                            <m:t>3</m:t>
                          </m:r>
                        </m:den>
                      </m:f>
                    </m:oMath>
                  </m:oMathPara>
                </a14:m>
                <a:endParaRPr lang="en-US" sz="2000" dirty="0">
                  <a:solidFill>
                    <a:srgbClr val="C00000"/>
                  </a:solidFill>
                </a:endParaRPr>
              </a:p>
            </p:txBody>
          </p:sp>
        </mc:Choice>
        <mc:Fallback xmlns="">
          <p:sp>
            <p:nvSpPr>
              <p:cNvPr id="18" name="Oval 17"/>
              <p:cNvSpPr>
                <a:spLocks noRot="1" noChangeAspect="1" noMove="1" noResize="1" noEditPoints="1" noAdjustHandles="1" noChangeArrowheads="1" noChangeShapeType="1" noTextEdit="1"/>
              </p:cNvSpPr>
              <p:nvPr/>
            </p:nvSpPr>
            <p:spPr>
              <a:xfrm>
                <a:off x="5692866" y="4572000"/>
                <a:ext cx="777240" cy="731520"/>
              </a:xfrm>
              <a:prstGeom prst="ellipse">
                <a:avLst/>
              </a:prstGeom>
              <a:blipFill>
                <a:blip r:embed="rId11"/>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9" name="Oval 18"/>
              <p:cNvSpPr/>
              <p:nvPr/>
            </p:nvSpPr>
            <p:spPr>
              <a:xfrm>
                <a:off x="6775441" y="4572000"/>
                <a:ext cx="777240" cy="73152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2</m:t>
                          </m:r>
                        </m:num>
                        <m:den>
                          <m:r>
                            <a:rPr lang="en-US" sz="2000" i="1">
                              <a:solidFill>
                                <a:srgbClr val="C00000"/>
                              </a:solidFill>
                              <a:latin typeface="Cambria Math" panose="02040503050406030204" pitchFamily="18" charset="0"/>
                            </a:rPr>
                            <m:t>3</m:t>
                          </m:r>
                        </m:den>
                      </m:f>
                      <m:f>
                        <m:fPr>
                          <m:ctrlPr>
                            <a:rPr lang="en-US" sz="2000" i="1">
                              <a:solidFill>
                                <a:srgbClr val="C00000"/>
                              </a:solidFill>
                              <a:latin typeface="Cambria Math" panose="02040503050406030204" pitchFamily="18" charset="0"/>
                            </a:rPr>
                          </m:ctrlPr>
                        </m:fPr>
                        <m:num>
                          <m:r>
                            <a:rPr lang="en-US" sz="2000" i="1">
                              <a:solidFill>
                                <a:srgbClr val="C00000"/>
                              </a:solidFill>
                              <a:latin typeface="Cambria Math" panose="02040503050406030204" pitchFamily="18" charset="0"/>
                            </a:rPr>
                            <m:t>2</m:t>
                          </m:r>
                          <m:r>
                            <a:rPr lang="en-US" sz="2000" i="1">
                              <a:solidFill>
                                <a:srgbClr val="C00000"/>
                              </a:solidFill>
                              <a:latin typeface="Cambria Math" panose="02040503050406030204" pitchFamily="18" charset="0"/>
                            </a:rPr>
                            <m:t>𝑛</m:t>
                          </m:r>
                        </m:num>
                        <m:den>
                          <m:r>
                            <a:rPr lang="en-US" sz="2000" i="1">
                              <a:solidFill>
                                <a:srgbClr val="C00000"/>
                              </a:solidFill>
                              <a:latin typeface="Cambria Math" panose="02040503050406030204" pitchFamily="18" charset="0"/>
                            </a:rPr>
                            <m:t>3</m:t>
                          </m:r>
                        </m:den>
                      </m:f>
                    </m:oMath>
                  </m:oMathPara>
                </a14:m>
                <a:endParaRPr lang="en-US" sz="2000" dirty="0">
                  <a:solidFill>
                    <a:srgbClr val="C00000"/>
                  </a:solidFill>
                </a:endParaRPr>
              </a:p>
            </p:txBody>
          </p:sp>
        </mc:Choice>
        <mc:Fallback xmlns="">
          <p:sp>
            <p:nvSpPr>
              <p:cNvPr id="19" name="Oval 18"/>
              <p:cNvSpPr>
                <a:spLocks noRot="1" noChangeAspect="1" noMove="1" noResize="1" noEditPoints="1" noAdjustHandles="1" noChangeArrowheads="1" noChangeShapeType="1" noTextEdit="1"/>
              </p:cNvSpPr>
              <p:nvPr/>
            </p:nvSpPr>
            <p:spPr>
              <a:xfrm>
                <a:off x="6775441" y="4572000"/>
                <a:ext cx="777240" cy="731520"/>
              </a:xfrm>
              <a:prstGeom prst="ellipse">
                <a:avLst/>
              </a:prstGeom>
              <a:blipFill>
                <a:blip r:embed="rId12"/>
                <a:stretch>
                  <a:fillRect/>
                </a:stretch>
              </a:blipFill>
              <a:ln w="12700">
                <a:solidFill>
                  <a:schemeClr val="tx1"/>
                </a:solidFill>
              </a:ln>
            </p:spPr>
            <p:txBody>
              <a:bodyPr/>
              <a:lstStyle/>
              <a:p>
                <a:r>
                  <a:rPr lang="en-IN">
                    <a:noFill/>
                  </a:rPr>
                  <a:t> </a:t>
                </a:r>
              </a:p>
            </p:txBody>
          </p:sp>
        </mc:Fallback>
      </mc:AlternateContent>
      <p:cxnSp>
        <p:nvCxnSpPr>
          <p:cNvPr id="20" name="Straight Connector 19"/>
          <p:cNvCxnSpPr>
            <a:stCxn id="11" idx="3"/>
            <a:endCxn id="18" idx="0"/>
          </p:cNvCxnSpPr>
          <p:nvPr/>
        </p:nvCxnSpPr>
        <p:spPr>
          <a:xfrm flipH="1">
            <a:off x="6081487" y="3977192"/>
            <a:ext cx="215761"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5"/>
            <a:endCxn id="19" idx="0"/>
          </p:cNvCxnSpPr>
          <p:nvPr/>
        </p:nvCxnSpPr>
        <p:spPr>
          <a:xfrm>
            <a:off x="6846839" y="3977192"/>
            <a:ext cx="317222" cy="5948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7337397" y="3692856"/>
            <a:ext cx="1464383"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a:off x="7966504" y="4876800"/>
            <a:ext cx="746941"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4" idx="3"/>
          </p:cNvCxnSpPr>
          <p:nvPr/>
        </p:nvCxnSpPr>
        <p:spPr>
          <a:xfrm flipH="1">
            <a:off x="3657601" y="5196392"/>
            <a:ext cx="199631"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4" idx="5"/>
          </p:cNvCxnSpPr>
          <p:nvPr/>
        </p:nvCxnSpPr>
        <p:spPr>
          <a:xfrm>
            <a:off x="4406823" y="5196392"/>
            <a:ext cx="16175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15" idx="3"/>
          </p:cNvCxnSpPr>
          <p:nvPr/>
        </p:nvCxnSpPr>
        <p:spPr>
          <a:xfrm flipH="1">
            <a:off x="4717152" y="5196392"/>
            <a:ext cx="157713"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15" idx="5"/>
          </p:cNvCxnSpPr>
          <p:nvPr/>
        </p:nvCxnSpPr>
        <p:spPr>
          <a:xfrm>
            <a:off x="5424456" y="5196392"/>
            <a:ext cx="133836"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8" idx="3"/>
          </p:cNvCxnSpPr>
          <p:nvPr/>
        </p:nvCxnSpPr>
        <p:spPr>
          <a:xfrm flipH="1">
            <a:off x="5692866" y="51963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18" idx="5"/>
          </p:cNvCxnSpPr>
          <p:nvPr/>
        </p:nvCxnSpPr>
        <p:spPr>
          <a:xfrm>
            <a:off x="6356282" y="51963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19" idx="3"/>
          </p:cNvCxnSpPr>
          <p:nvPr/>
        </p:nvCxnSpPr>
        <p:spPr>
          <a:xfrm flipH="1">
            <a:off x="6775441" y="51963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19" idx="5"/>
          </p:cNvCxnSpPr>
          <p:nvPr/>
        </p:nvCxnSpPr>
        <p:spPr>
          <a:xfrm>
            <a:off x="7438857" y="5196392"/>
            <a:ext cx="113824" cy="36620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69" name="Straight Arrow Connector 68"/>
          <p:cNvCxnSpPr/>
          <p:nvPr/>
        </p:nvCxnSpPr>
        <p:spPr>
          <a:xfrm flipV="1">
            <a:off x="2868956" y="2303474"/>
            <a:ext cx="0" cy="1430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2868956" y="4251960"/>
            <a:ext cx="0" cy="19202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4572001" y="1524000"/>
            <a:ext cx="841141"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840152" y="1524000"/>
            <a:ext cx="117875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p:cNvSpPr/>
              <p:nvPr/>
            </p:nvSpPr>
            <p:spPr>
              <a:xfrm>
                <a:off x="9299324" y="3635663"/>
                <a:ext cx="11400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en-US" sz="2400" i="1" dirty="0">
                          <a:latin typeface="Cambria Math" panose="02040503050406030204" pitchFamily="18" charset="0"/>
                          <a:cs typeface="Times New Roman" panose="02020603050405020304" pitchFamily="18" charset="0"/>
                        </a:rPr>
                        <m:t>log</m:t>
                      </m:r>
                      <m:r>
                        <a:rPr lang="en-US" altLang="en-US" sz="2400" i="1" baseline="-25000" dirty="0">
                          <a:latin typeface="Cambria Math" panose="02040503050406030204" pitchFamily="18" charset="0"/>
                          <a:cs typeface="Times New Roman" panose="02020603050405020304" pitchFamily="18" charset="0"/>
                        </a:rPr>
                        <m:t>3/2 </m:t>
                      </m:r>
                      <m:r>
                        <a:rPr lang="en-US" altLang="en-US" sz="2400" i="1" dirty="0">
                          <a:latin typeface="Cambria Math" panose="02040503050406030204" pitchFamily="18" charset="0"/>
                          <a:cs typeface="Times New Roman" panose="02020603050405020304" pitchFamily="18" charset="0"/>
                        </a:rPr>
                        <m:t>𝑛</m:t>
                      </m:r>
                    </m:oMath>
                  </m:oMathPara>
                </a14:m>
                <a:endParaRPr lang="en-US" altLang="en-US" sz="2400" dirty="0">
                  <a:latin typeface="+mj-lt"/>
                  <a:cs typeface="Times New Roman" panose="02020603050405020304" pitchFamily="18" charset="0"/>
                </a:endParaRPr>
              </a:p>
            </p:txBody>
          </p:sp>
        </mc:Choice>
        <mc:Fallback xmlns="">
          <p:sp>
            <p:nvSpPr>
              <p:cNvPr id="35" name="Rectangle 34"/>
              <p:cNvSpPr>
                <a:spLocks noRot="1" noChangeAspect="1" noMove="1" noResize="1" noEditPoints="1" noAdjustHandles="1" noChangeArrowheads="1" noChangeShapeType="1" noTextEdit="1"/>
              </p:cNvSpPr>
              <p:nvPr/>
            </p:nvSpPr>
            <p:spPr>
              <a:xfrm>
                <a:off x="9299324" y="3635663"/>
                <a:ext cx="1140076" cy="461665"/>
              </a:xfrm>
              <a:prstGeom prst="rect">
                <a:avLst/>
              </a:prstGeom>
              <a:blipFill>
                <a:blip r:embed="rId13"/>
                <a:stretch>
                  <a:fillRect l="-3723" b="-32895"/>
                </a:stretch>
              </a:blipFill>
            </p:spPr>
            <p:txBody>
              <a:bodyPr/>
              <a:lstStyle/>
              <a:p>
                <a:r>
                  <a:rPr lang="en-IN">
                    <a:noFill/>
                  </a:rPr>
                  <a:t> </a:t>
                </a:r>
              </a:p>
            </p:txBody>
          </p:sp>
        </mc:Fallback>
      </mc:AlternateContent>
      <p:cxnSp>
        <p:nvCxnSpPr>
          <p:cNvPr id="36" name="Straight Arrow Connector 35"/>
          <p:cNvCxnSpPr/>
          <p:nvPr/>
        </p:nvCxnSpPr>
        <p:spPr>
          <a:xfrm flipV="1">
            <a:off x="9982200" y="2209801"/>
            <a:ext cx="0" cy="14303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9982200" y="4158287"/>
            <a:ext cx="0" cy="19202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352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up)">
                                      <p:cBhvr>
                                        <p:cTn id="22" dur="500"/>
                                        <p:tgtEl>
                                          <p:spTgt spid="12"/>
                                        </p:tgtEl>
                                      </p:cBhvr>
                                    </p:animEffect>
                                  </p:childTnLst>
                                </p:cTn>
                              </p:par>
                              <p:par>
                                <p:cTn id="23" presetID="22" presetClass="entr" presetSubtype="1"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up)">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00"/>
                                        <p:tgtEl>
                                          <p:spTgt spid="22"/>
                                        </p:tgtEl>
                                      </p:cBhvr>
                                    </p:animEffect>
                                  </p:childTnLst>
                                </p:cTn>
                              </p:par>
                            </p:childTnLst>
                          </p:cTn>
                        </p:par>
                        <p:par>
                          <p:cTn id="31" fill="hold">
                            <p:stCondLst>
                              <p:cond delay="50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wipe(left)">
                                      <p:cBhvr>
                                        <p:cTn id="39" dur="500"/>
                                        <p:tgtEl>
                                          <p:spTgt spid="24"/>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nodeType="click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up)">
                                      <p:cBhvr>
                                        <p:cTn id="48" dur="500"/>
                                        <p:tgtEl>
                                          <p:spTgt spid="16"/>
                                        </p:tgtEl>
                                      </p:cBhvr>
                                    </p:animEffect>
                                  </p:childTnLst>
                                </p:cTn>
                              </p:par>
                              <p:par>
                                <p:cTn id="49" presetID="22" presetClass="entr" presetSubtype="1" fill="hold"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wipe(up)">
                                      <p:cBhvr>
                                        <p:cTn id="51" dur="500"/>
                                        <p:tgtEl>
                                          <p:spTgt spid="17"/>
                                        </p:tgtEl>
                                      </p:cBhvr>
                                    </p:animEffect>
                                  </p:childTnLst>
                                </p:cTn>
                              </p:par>
                              <p:par>
                                <p:cTn id="52" presetID="22" presetClass="entr" presetSubtype="1"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up)">
                                      <p:cBhvr>
                                        <p:cTn id="54" dur="500"/>
                                        <p:tgtEl>
                                          <p:spTgt spid="20"/>
                                        </p:tgtEl>
                                      </p:cBhvr>
                                    </p:animEffect>
                                  </p:childTnLst>
                                </p:cTn>
                              </p:par>
                              <p:par>
                                <p:cTn id="55" presetID="22" presetClass="entr" presetSubtype="1"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wipe(up)">
                                      <p:cBhvr>
                                        <p:cTn id="57" dur="500"/>
                                        <p:tgtEl>
                                          <p:spTgt spid="2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500"/>
                                        <p:tgtEl>
                                          <p:spTgt spid="15"/>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500"/>
                                        <p:tgtEl>
                                          <p:spTgt spid="18"/>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9"/>
                                        </p:tgtEl>
                                        <p:attrNameLst>
                                          <p:attrName>style.visibility</p:attrName>
                                        </p:attrNameLst>
                                      </p:cBhvr>
                                      <p:to>
                                        <p:strVal val="visible"/>
                                      </p:to>
                                    </p:set>
                                    <p:animEffect transition="in" filter="fade">
                                      <p:cBhvr>
                                        <p:cTn id="73" dur="5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nodeType="click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up)">
                                      <p:cBhvr>
                                        <p:cTn id="78" dur="500"/>
                                        <p:tgtEl>
                                          <p:spTgt spid="38"/>
                                        </p:tgtEl>
                                      </p:cBhvr>
                                    </p:animEffect>
                                  </p:childTnLst>
                                </p:cTn>
                              </p:par>
                              <p:par>
                                <p:cTn id="79" presetID="22" presetClass="entr" presetSubtype="1"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500"/>
                                        <p:tgtEl>
                                          <p:spTgt spid="40"/>
                                        </p:tgtEl>
                                      </p:cBhvr>
                                    </p:animEffect>
                                  </p:childTnLst>
                                </p:cTn>
                              </p:par>
                              <p:par>
                                <p:cTn id="82" presetID="22" presetClass="entr" presetSubtype="1" fill="hold" nodeType="withEffect">
                                  <p:stCondLst>
                                    <p:cond delay="0"/>
                                  </p:stCondLst>
                                  <p:childTnLst>
                                    <p:set>
                                      <p:cBhvr>
                                        <p:cTn id="83" dur="1" fill="hold">
                                          <p:stCondLst>
                                            <p:cond delay="0"/>
                                          </p:stCondLst>
                                        </p:cTn>
                                        <p:tgtEl>
                                          <p:spTgt spid="42"/>
                                        </p:tgtEl>
                                        <p:attrNameLst>
                                          <p:attrName>style.visibility</p:attrName>
                                        </p:attrNameLst>
                                      </p:cBhvr>
                                      <p:to>
                                        <p:strVal val="visible"/>
                                      </p:to>
                                    </p:set>
                                    <p:animEffect transition="in" filter="wipe(up)">
                                      <p:cBhvr>
                                        <p:cTn id="84" dur="500"/>
                                        <p:tgtEl>
                                          <p:spTgt spid="42"/>
                                        </p:tgtEl>
                                      </p:cBhvr>
                                    </p:animEffect>
                                  </p:childTnLst>
                                </p:cTn>
                              </p:par>
                              <p:par>
                                <p:cTn id="85" presetID="22" presetClass="entr" presetSubtype="1" fill="hold" nodeType="withEffect">
                                  <p:stCondLst>
                                    <p:cond delay="0"/>
                                  </p:stCondLst>
                                  <p:childTnLst>
                                    <p:set>
                                      <p:cBhvr>
                                        <p:cTn id="86" dur="1" fill="hold">
                                          <p:stCondLst>
                                            <p:cond delay="0"/>
                                          </p:stCondLst>
                                        </p:cTn>
                                        <p:tgtEl>
                                          <p:spTgt spid="44"/>
                                        </p:tgtEl>
                                        <p:attrNameLst>
                                          <p:attrName>style.visibility</p:attrName>
                                        </p:attrNameLst>
                                      </p:cBhvr>
                                      <p:to>
                                        <p:strVal val="visible"/>
                                      </p:to>
                                    </p:set>
                                    <p:animEffect transition="in" filter="wipe(up)">
                                      <p:cBhvr>
                                        <p:cTn id="87" dur="500"/>
                                        <p:tgtEl>
                                          <p:spTgt spid="44"/>
                                        </p:tgtEl>
                                      </p:cBhvr>
                                    </p:animEffect>
                                  </p:childTnLst>
                                </p:cTn>
                              </p:par>
                              <p:par>
                                <p:cTn id="88" presetID="22" presetClass="entr" presetSubtype="1" fill="hold" nodeType="withEffect">
                                  <p:stCondLst>
                                    <p:cond delay="0"/>
                                  </p:stCondLst>
                                  <p:childTnLst>
                                    <p:set>
                                      <p:cBhvr>
                                        <p:cTn id="89" dur="1" fill="hold">
                                          <p:stCondLst>
                                            <p:cond delay="0"/>
                                          </p:stCondLst>
                                        </p:cTn>
                                        <p:tgtEl>
                                          <p:spTgt spid="49"/>
                                        </p:tgtEl>
                                        <p:attrNameLst>
                                          <p:attrName>style.visibility</p:attrName>
                                        </p:attrNameLst>
                                      </p:cBhvr>
                                      <p:to>
                                        <p:strVal val="visible"/>
                                      </p:to>
                                    </p:set>
                                    <p:animEffect transition="in" filter="wipe(up)">
                                      <p:cBhvr>
                                        <p:cTn id="90" dur="500"/>
                                        <p:tgtEl>
                                          <p:spTgt spid="49"/>
                                        </p:tgtEl>
                                      </p:cBhvr>
                                    </p:animEffect>
                                  </p:childTnLst>
                                </p:cTn>
                              </p:par>
                              <p:par>
                                <p:cTn id="91" presetID="22" presetClass="entr" presetSubtype="1" fill="hold" nodeType="with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wipe(up)">
                                      <p:cBhvr>
                                        <p:cTn id="93" dur="500"/>
                                        <p:tgtEl>
                                          <p:spTgt spid="51"/>
                                        </p:tgtEl>
                                      </p:cBhvr>
                                    </p:animEffect>
                                  </p:childTnLst>
                                </p:cTn>
                              </p:par>
                              <p:par>
                                <p:cTn id="94" presetID="22" presetClass="entr" presetSubtype="1" fill="hold" nodeType="withEffect">
                                  <p:stCondLst>
                                    <p:cond delay="0"/>
                                  </p:stCondLst>
                                  <p:childTnLst>
                                    <p:set>
                                      <p:cBhvr>
                                        <p:cTn id="95" dur="1" fill="hold">
                                          <p:stCondLst>
                                            <p:cond delay="0"/>
                                          </p:stCondLst>
                                        </p:cTn>
                                        <p:tgtEl>
                                          <p:spTgt spid="54"/>
                                        </p:tgtEl>
                                        <p:attrNameLst>
                                          <p:attrName>style.visibility</p:attrName>
                                        </p:attrNameLst>
                                      </p:cBhvr>
                                      <p:to>
                                        <p:strVal val="visible"/>
                                      </p:to>
                                    </p:set>
                                    <p:animEffect transition="in" filter="wipe(up)">
                                      <p:cBhvr>
                                        <p:cTn id="96" dur="500"/>
                                        <p:tgtEl>
                                          <p:spTgt spid="54"/>
                                        </p:tgtEl>
                                      </p:cBhvr>
                                    </p:animEffect>
                                  </p:childTnLst>
                                </p:cTn>
                              </p:par>
                              <p:par>
                                <p:cTn id="97" presetID="22" presetClass="entr" presetSubtype="1" fill="hold" nodeType="withEffect">
                                  <p:stCondLst>
                                    <p:cond delay="0"/>
                                  </p:stCondLst>
                                  <p:childTnLst>
                                    <p:set>
                                      <p:cBhvr>
                                        <p:cTn id="98" dur="1" fill="hold">
                                          <p:stCondLst>
                                            <p:cond delay="0"/>
                                          </p:stCondLst>
                                        </p:cTn>
                                        <p:tgtEl>
                                          <p:spTgt spid="56"/>
                                        </p:tgtEl>
                                        <p:attrNameLst>
                                          <p:attrName>style.visibility</p:attrName>
                                        </p:attrNameLst>
                                      </p:cBhvr>
                                      <p:to>
                                        <p:strVal val="visible"/>
                                      </p:to>
                                    </p:set>
                                    <p:animEffect transition="in" filter="wipe(up)">
                                      <p:cBhvr>
                                        <p:cTn id="99" dur="500"/>
                                        <p:tgtEl>
                                          <p:spTgt spid="56"/>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wipe(left)">
                                      <p:cBhvr>
                                        <p:cTn id="104" dur="500"/>
                                        <p:tgtEl>
                                          <p:spTgt spid="31"/>
                                        </p:tgtEl>
                                      </p:cBhvr>
                                    </p:animEffect>
                                  </p:childTnLst>
                                </p:cTn>
                              </p:par>
                            </p:childTnLst>
                          </p:cTn>
                        </p:par>
                        <p:par>
                          <p:cTn id="105" fill="hold">
                            <p:stCondLst>
                              <p:cond delay="500"/>
                            </p:stCondLst>
                            <p:childTnLst>
                              <p:par>
                                <p:cTn id="106" presetID="10" presetClass="entr" presetSubtype="0" fill="hold" grpId="0" nodeType="afterEffect">
                                  <p:stCondLst>
                                    <p:cond delay="0"/>
                                  </p:stCondLst>
                                  <p:childTnLst>
                                    <p:set>
                                      <p:cBhvr>
                                        <p:cTn id="107" dur="1" fill="hold">
                                          <p:stCondLst>
                                            <p:cond delay="0"/>
                                          </p:stCondLst>
                                        </p:cTn>
                                        <p:tgtEl>
                                          <p:spTgt spid="7"/>
                                        </p:tgtEl>
                                        <p:attrNameLst>
                                          <p:attrName>style.visibility</p:attrName>
                                        </p:attrNameLst>
                                      </p:cBhvr>
                                      <p:to>
                                        <p:strVal val="visible"/>
                                      </p:to>
                                    </p:set>
                                    <p:animEffect transition="in" filter="fade">
                                      <p:cBhvr>
                                        <p:cTn id="108" dur="500"/>
                                        <p:tgtEl>
                                          <p:spTgt spid="7"/>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nodeType="clickEffect">
                                  <p:stCondLst>
                                    <p:cond delay="0"/>
                                  </p:stCondLst>
                                  <p:childTnLst>
                                    <p:set>
                                      <p:cBhvr>
                                        <p:cTn id="112" dur="1" fill="hold">
                                          <p:stCondLst>
                                            <p:cond delay="0"/>
                                          </p:stCondLst>
                                        </p:cTn>
                                        <p:tgtEl>
                                          <p:spTgt spid="33"/>
                                        </p:tgtEl>
                                        <p:attrNameLst>
                                          <p:attrName>style.visibility</p:attrName>
                                        </p:attrNameLst>
                                      </p:cBhvr>
                                      <p:to>
                                        <p:strVal val="visible"/>
                                      </p:to>
                                    </p:set>
                                    <p:animEffect transition="in" filter="wipe(left)">
                                      <p:cBhvr>
                                        <p:cTn id="113" dur="500"/>
                                        <p:tgtEl>
                                          <p:spTgt spid="33"/>
                                        </p:tgtEl>
                                      </p:cBhvr>
                                    </p:animEffect>
                                  </p:childTnLst>
                                </p:cTn>
                              </p:par>
                            </p:childTnLst>
                          </p:cTn>
                        </p:par>
                        <p:par>
                          <p:cTn id="114" fill="hold">
                            <p:stCondLst>
                              <p:cond delay="500"/>
                            </p:stCondLst>
                            <p:childTnLst>
                              <p:par>
                                <p:cTn id="115" presetID="10" presetClass="entr" presetSubtype="0" fill="hold" grpId="0" nodeType="afterEffect">
                                  <p:stCondLst>
                                    <p:cond delay="0"/>
                                  </p:stCondLst>
                                  <p:childTnLst>
                                    <p:set>
                                      <p:cBhvr>
                                        <p:cTn id="116" dur="1" fill="hold">
                                          <p:stCondLst>
                                            <p:cond delay="0"/>
                                          </p:stCondLst>
                                        </p:cTn>
                                        <p:tgtEl>
                                          <p:spTgt spid="6"/>
                                        </p:tgtEl>
                                        <p:attrNameLst>
                                          <p:attrName>style.visibility</p:attrName>
                                        </p:attrNameLst>
                                      </p:cBhvr>
                                      <p:to>
                                        <p:strVal val="visible"/>
                                      </p:to>
                                    </p:set>
                                    <p:animEffect transition="in" filter="fade">
                                      <p:cBhvr>
                                        <p:cTn id="117" dur="500"/>
                                        <p:tgtEl>
                                          <p:spTgt spid="6"/>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4" fill="hold" nodeType="clickEffect">
                                  <p:stCondLst>
                                    <p:cond delay="0"/>
                                  </p:stCondLst>
                                  <p:childTnLst>
                                    <p:set>
                                      <p:cBhvr>
                                        <p:cTn id="121" dur="1" fill="hold">
                                          <p:stCondLst>
                                            <p:cond delay="0"/>
                                          </p:stCondLst>
                                        </p:cTn>
                                        <p:tgtEl>
                                          <p:spTgt spid="69"/>
                                        </p:tgtEl>
                                        <p:attrNameLst>
                                          <p:attrName>style.visibility</p:attrName>
                                        </p:attrNameLst>
                                      </p:cBhvr>
                                      <p:to>
                                        <p:strVal val="visible"/>
                                      </p:to>
                                    </p:set>
                                    <p:animEffect transition="in" filter="wipe(down)">
                                      <p:cBhvr>
                                        <p:cTn id="122" dur="500"/>
                                        <p:tgtEl>
                                          <p:spTgt spid="69"/>
                                        </p:tgtEl>
                                      </p:cBhvr>
                                    </p:animEffect>
                                  </p:childTnLst>
                                </p:cTn>
                              </p:par>
                            </p:childTnLst>
                          </p:cTn>
                        </p:par>
                        <p:par>
                          <p:cTn id="123" fill="hold">
                            <p:stCondLst>
                              <p:cond delay="500"/>
                            </p:stCondLst>
                            <p:childTnLst>
                              <p:par>
                                <p:cTn id="124" presetID="22" presetClass="entr" presetSubtype="1" fill="hold" nodeType="afterEffect">
                                  <p:stCondLst>
                                    <p:cond delay="0"/>
                                  </p:stCondLst>
                                  <p:childTnLst>
                                    <p:set>
                                      <p:cBhvr>
                                        <p:cTn id="125" dur="1" fill="hold">
                                          <p:stCondLst>
                                            <p:cond delay="0"/>
                                          </p:stCondLst>
                                        </p:cTn>
                                        <p:tgtEl>
                                          <p:spTgt spid="71"/>
                                        </p:tgtEl>
                                        <p:attrNameLst>
                                          <p:attrName>style.visibility</p:attrName>
                                        </p:attrNameLst>
                                      </p:cBhvr>
                                      <p:to>
                                        <p:strVal val="visible"/>
                                      </p:to>
                                    </p:set>
                                    <p:animEffect transition="in" filter="wipe(up)">
                                      <p:cBhvr>
                                        <p:cTn id="126" dur="500"/>
                                        <p:tgtEl>
                                          <p:spTgt spid="71"/>
                                        </p:tgtEl>
                                      </p:cBhvr>
                                    </p:animEffect>
                                  </p:childTnLst>
                                </p:cTn>
                              </p:par>
                            </p:childTnLst>
                          </p:cTn>
                        </p:par>
                        <p:par>
                          <p:cTn id="127" fill="hold">
                            <p:stCondLst>
                              <p:cond delay="1000"/>
                            </p:stCondLst>
                            <p:childTnLst>
                              <p:par>
                                <p:cTn id="128" presetID="10" presetClass="entr" presetSubtype="0" fill="hold" grpId="0" nodeType="afterEffect">
                                  <p:stCondLst>
                                    <p:cond delay="0"/>
                                  </p:stCondLst>
                                  <p:childTnLst>
                                    <p:set>
                                      <p:cBhvr>
                                        <p:cTn id="129" dur="1" fill="hold">
                                          <p:stCondLst>
                                            <p:cond delay="0"/>
                                          </p:stCondLst>
                                        </p:cTn>
                                        <p:tgtEl>
                                          <p:spTgt spid="5"/>
                                        </p:tgtEl>
                                        <p:attrNameLst>
                                          <p:attrName>style.visibility</p:attrName>
                                        </p:attrNameLst>
                                      </p:cBhvr>
                                      <p:to>
                                        <p:strVal val="visible"/>
                                      </p:to>
                                    </p:set>
                                    <p:animEffect transition="in" filter="fade">
                                      <p:cBhvr>
                                        <p:cTn id="130" dur="500"/>
                                        <p:tgtEl>
                                          <p:spTgt spid="5"/>
                                        </p:tgtEl>
                                      </p:cBhvr>
                                    </p:animEffect>
                                  </p:childTnLst>
                                </p:cTn>
                              </p:par>
                            </p:childTnLst>
                          </p:cTn>
                        </p:par>
                      </p:childTnLst>
                    </p:cTn>
                  </p:par>
                  <p:par>
                    <p:cTn id="131" fill="hold">
                      <p:stCondLst>
                        <p:cond delay="indefinite"/>
                      </p:stCondLst>
                      <p:childTnLst>
                        <p:par>
                          <p:cTn id="132" fill="hold">
                            <p:stCondLst>
                              <p:cond delay="0"/>
                            </p:stCondLst>
                            <p:childTnLst>
                              <p:par>
                                <p:cTn id="133" presetID="22" presetClass="entr" presetSubtype="4" fill="hold" nodeType="clickEffect">
                                  <p:stCondLst>
                                    <p:cond delay="0"/>
                                  </p:stCondLst>
                                  <p:childTnLst>
                                    <p:set>
                                      <p:cBhvr>
                                        <p:cTn id="134" dur="1" fill="hold">
                                          <p:stCondLst>
                                            <p:cond delay="0"/>
                                          </p:stCondLst>
                                        </p:cTn>
                                        <p:tgtEl>
                                          <p:spTgt spid="36"/>
                                        </p:tgtEl>
                                        <p:attrNameLst>
                                          <p:attrName>style.visibility</p:attrName>
                                        </p:attrNameLst>
                                      </p:cBhvr>
                                      <p:to>
                                        <p:strVal val="visible"/>
                                      </p:to>
                                    </p:set>
                                    <p:animEffect transition="in" filter="wipe(down)">
                                      <p:cBhvr>
                                        <p:cTn id="135" dur="500"/>
                                        <p:tgtEl>
                                          <p:spTgt spid="36"/>
                                        </p:tgtEl>
                                      </p:cBhvr>
                                    </p:animEffect>
                                  </p:childTnLst>
                                </p:cTn>
                              </p:par>
                            </p:childTnLst>
                          </p:cTn>
                        </p:par>
                        <p:par>
                          <p:cTn id="136" fill="hold">
                            <p:stCondLst>
                              <p:cond delay="500"/>
                            </p:stCondLst>
                            <p:childTnLst>
                              <p:par>
                                <p:cTn id="137" presetID="22" presetClass="entr" presetSubtype="1" fill="hold" nodeType="afterEffect">
                                  <p:stCondLst>
                                    <p:cond delay="0"/>
                                  </p:stCondLst>
                                  <p:childTnLst>
                                    <p:set>
                                      <p:cBhvr>
                                        <p:cTn id="138" dur="1" fill="hold">
                                          <p:stCondLst>
                                            <p:cond delay="0"/>
                                          </p:stCondLst>
                                        </p:cTn>
                                        <p:tgtEl>
                                          <p:spTgt spid="37"/>
                                        </p:tgtEl>
                                        <p:attrNameLst>
                                          <p:attrName>style.visibility</p:attrName>
                                        </p:attrNameLst>
                                      </p:cBhvr>
                                      <p:to>
                                        <p:strVal val="visible"/>
                                      </p:to>
                                    </p:set>
                                    <p:animEffect transition="in" filter="wipe(up)">
                                      <p:cBhvr>
                                        <p:cTn id="139" dur="500"/>
                                        <p:tgtEl>
                                          <p:spTgt spid="37"/>
                                        </p:tgtEl>
                                      </p:cBhvr>
                                    </p:animEffect>
                                  </p:childTnLst>
                                </p:cTn>
                              </p:par>
                            </p:childTnLst>
                          </p:cTn>
                        </p:par>
                        <p:par>
                          <p:cTn id="140" fill="hold">
                            <p:stCondLst>
                              <p:cond delay="1000"/>
                            </p:stCondLst>
                            <p:childTnLst>
                              <p:par>
                                <p:cTn id="141" presetID="10" presetClass="entr" presetSubtype="0" fill="hold" grpId="0" nodeType="afterEffect">
                                  <p:stCondLst>
                                    <p:cond delay="0"/>
                                  </p:stCondLst>
                                  <p:childTnLst>
                                    <p:set>
                                      <p:cBhvr>
                                        <p:cTn id="142" dur="1" fill="hold">
                                          <p:stCondLst>
                                            <p:cond delay="0"/>
                                          </p:stCondLst>
                                        </p:cTn>
                                        <p:tgtEl>
                                          <p:spTgt spid="35"/>
                                        </p:tgtEl>
                                        <p:attrNameLst>
                                          <p:attrName>style.visibility</p:attrName>
                                        </p:attrNameLst>
                                      </p:cBhvr>
                                      <p:to>
                                        <p:strVal val="visible"/>
                                      </p:to>
                                    </p:set>
                                    <p:animEffect transition="in" filter="fade">
                                      <p:cBhvr>
                                        <p:cTn id="14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p:bldP spid="6" grpId="0"/>
      <p:bldP spid="7" grpId="0"/>
      <p:bldP spid="9" grpId="0" animBg="1"/>
      <p:bldP spid="10" grpId="0" animBg="1"/>
      <p:bldP spid="11" grpId="0" animBg="1"/>
      <p:bldP spid="14" grpId="0" animBg="1"/>
      <p:bldP spid="15" grpId="0" animBg="1"/>
      <p:bldP spid="18" grpId="0" animBg="1"/>
      <p:bldP spid="19"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lgn="l">
                  <a:buNone/>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m:t>
                      </m:r>
                      <m:nary>
                        <m:naryPr>
                          <m:chr m:val="∑"/>
                          <m:ctrlPr>
                            <a:rPr lang="en-US" i="1" dirty="0">
                              <a:latin typeface="Cambria Math" panose="02040503050406030204" pitchFamily="18" charset="0"/>
                            </a:rPr>
                          </m:ctrlPr>
                        </m:naryPr>
                        <m:sub>
                          <m:r>
                            <m:rPr>
                              <m:brk m:alnAt="23"/>
                            </m:rPr>
                            <a:rPr lang="en-US" i="1" dirty="0">
                              <a:latin typeface="Cambria Math" panose="02040503050406030204" pitchFamily="18" charset="0"/>
                            </a:rPr>
                            <m:t>𝑖</m:t>
                          </m:r>
                          <m:r>
                            <a:rPr lang="en-US" i="1" dirty="0">
                              <a:latin typeface="Cambria Math" panose="02040503050406030204" pitchFamily="18" charset="0"/>
                            </a:rPr>
                            <m:t>=0</m:t>
                          </m:r>
                        </m:sub>
                        <m:sup>
                          <m:func>
                            <m:funcPr>
                              <m:ctrlPr>
                                <a:rPr lang="en-US" i="1" dirty="0">
                                  <a:latin typeface="Cambria Math" panose="02040503050406030204" pitchFamily="18" charset="0"/>
                                </a:rPr>
                              </m:ctrlPr>
                            </m:funcPr>
                            <m:fName>
                              <m:sSub>
                                <m:sSubPr>
                                  <m:ctrlPr>
                                    <a:rPr lang="en-US" i="1" dirty="0">
                                      <a:latin typeface="Cambria Math" panose="02040503050406030204" pitchFamily="18" charset="0"/>
                                    </a:rPr>
                                  </m:ctrlPr>
                                </m:sSubPr>
                                <m:e>
                                  <m:r>
                                    <m:rPr>
                                      <m:sty m:val="p"/>
                                    </m:rPr>
                                    <a:rPr lang="en-US" dirty="0">
                                      <a:latin typeface="Cambria Math" panose="02040503050406030204" pitchFamily="18" charset="0"/>
                                    </a:rPr>
                                    <m:t>log</m:t>
                                  </m:r>
                                </m:e>
                                <m:sub>
                                  <m:r>
                                    <a:rPr lang="en-US" b="0" i="1" dirty="0" smtClean="0">
                                      <a:latin typeface="Cambria Math" panose="02040503050406030204" pitchFamily="18" charset="0"/>
                                    </a:rPr>
                                    <m:t>3/2</m:t>
                                  </m:r>
                                </m:sub>
                              </m:sSub>
                            </m:fName>
                            <m:e>
                              <m:r>
                                <a:rPr lang="en-US" i="1" dirty="0">
                                  <a:latin typeface="Cambria Math" panose="02040503050406030204" pitchFamily="18" charset="0"/>
                                </a:rPr>
                                <m:t>𝑛</m:t>
                              </m:r>
                            </m:e>
                          </m:func>
                          <m:r>
                            <a:rPr lang="en-US" i="1" dirty="0">
                              <a:latin typeface="Cambria Math" panose="02040503050406030204" pitchFamily="18" charset="0"/>
                            </a:rPr>
                            <m:t>−1</m:t>
                          </m:r>
                        </m:sup>
                        <m:e>
                          <m:r>
                            <a:rPr lang="en-US" i="1" dirty="0">
                              <a:latin typeface="Cambria Math" panose="02040503050406030204" pitchFamily="18" charset="0"/>
                            </a:rPr>
                            <m:t>𝑛</m:t>
                          </m:r>
                          <m:r>
                            <a:rPr lang="en-US" i="1" dirty="0">
                              <a:latin typeface="Cambria Math" panose="02040503050406030204" pitchFamily="18" charset="0"/>
                            </a:rPr>
                            <m:t>+</m:t>
                          </m:r>
                          <m:sSup>
                            <m:sSupPr>
                              <m:ctrlPr>
                                <a:rPr lang="en-US" i="1" dirty="0">
                                  <a:latin typeface="Cambria Math" panose="02040503050406030204" pitchFamily="18" charset="0"/>
                                </a:rPr>
                              </m:ctrlPr>
                            </m:sSupPr>
                            <m:e>
                              <m:r>
                                <a:rPr lang="en-US" i="1" dirty="0">
                                  <a:latin typeface="Cambria Math" panose="02040503050406030204" pitchFamily="18" charset="0"/>
                                </a:rPr>
                                <m:t>𝑛</m:t>
                              </m:r>
                            </m:e>
                            <m:sup>
                              <m:func>
                                <m:funcPr>
                                  <m:ctrlPr>
                                    <a:rPr lang="en-US" i="1" dirty="0" smtClean="0">
                                      <a:latin typeface="Cambria Math" panose="02040503050406030204" pitchFamily="18" charset="0"/>
                                    </a:rPr>
                                  </m:ctrlPr>
                                </m:funcPr>
                                <m:fName>
                                  <m:sSub>
                                    <m:sSubPr>
                                      <m:ctrlPr>
                                        <a:rPr lang="en-US" i="1" dirty="0" smtClean="0">
                                          <a:latin typeface="Cambria Math" panose="02040503050406030204" pitchFamily="18" charset="0"/>
                                        </a:rPr>
                                      </m:ctrlPr>
                                    </m:sSubPr>
                                    <m:e>
                                      <m:r>
                                        <m:rPr>
                                          <m:sty m:val="p"/>
                                        </m:rPr>
                                        <a:rPr lang="en-US" i="0" dirty="0" smtClean="0">
                                          <a:latin typeface="Cambria Math" panose="02040503050406030204" pitchFamily="18" charset="0"/>
                                        </a:rPr>
                                        <m:t>log</m:t>
                                      </m:r>
                                    </m:e>
                                    <m:sub>
                                      <m:r>
                                        <a:rPr lang="en-US" b="0" i="1" dirty="0" smtClean="0">
                                          <a:latin typeface="Cambria Math" panose="02040503050406030204" pitchFamily="18" charset="0"/>
                                        </a:rPr>
                                        <m:t>3/2</m:t>
                                      </m:r>
                                    </m:sub>
                                  </m:sSub>
                                </m:fName>
                                <m:e>
                                  <m:r>
                                    <a:rPr lang="en-US" b="0" i="1" dirty="0" smtClean="0">
                                      <a:latin typeface="Cambria Math" panose="02040503050406030204" pitchFamily="18" charset="0"/>
                                    </a:rPr>
                                    <m:t>2</m:t>
                                  </m:r>
                                </m:e>
                              </m:func>
                            </m:sup>
                          </m:sSup>
                          <m:r>
                            <a:rPr lang="en-US" i="1" dirty="0">
                              <a:latin typeface="Cambria Math" panose="02040503050406030204" pitchFamily="18" charset="0"/>
                            </a:rPr>
                            <m:t>𝑇</m:t>
                          </m:r>
                          <m:r>
                            <a:rPr lang="en-US" i="1" dirty="0">
                              <a:latin typeface="Cambria Math" panose="02040503050406030204" pitchFamily="18" charset="0"/>
                            </a:rPr>
                            <m:t>(1)</m:t>
                          </m:r>
                        </m:e>
                      </m:nary>
                    </m:oMath>
                  </m:oMathPara>
                </a14:m>
                <a:endParaRPr lang="en-US" dirty="0"/>
              </a:p>
              <a:p>
                <a:pPr marL="0" indent="0" algn="l">
                  <a:buNone/>
                </a:pPr>
                <a:r>
                  <a:rPr lang="en-US" dirty="0"/>
                  <a:t>		</a:t>
                </a:r>
                <a14:m>
                  <m:oMath xmlns:m="http://schemas.openxmlformats.org/officeDocument/2006/math">
                    <m:r>
                      <a:rPr lang="en-US" sz="2800" b="1" i="1" dirty="0">
                        <a:latin typeface="Cambria Math" panose="02040503050406030204" pitchFamily="18" charset="0"/>
                      </a:rPr>
                      <m:t>       </m:t>
                    </m:r>
                    <m:r>
                      <a:rPr lang="en-US" sz="2800" b="1" i="1" dirty="0">
                        <a:latin typeface="Cambria Math" panose="02040503050406030204" pitchFamily="18" charset="0"/>
                      </a:rPr>
                      <m:t>𝑻</m:t>
                    </m:r>
                    <m:r>
                      <a:rPr lang="en-US" sz="2800" b="1" i="1" dirty="0">
                        <a:latin typeface="Cambria Math" panose="02040503050406030204" pitchFamily="18" charset="0"/>
                      </a:rPr>
                      <m:t>(</m:t>
                    </m:r>
                    <m:r>
                      <a:rPr lang="en-US" sz="2800" b="1" i="1" dirty="0">
                        <a:latin typeface="Cambria Math" panose="02040503050406030204" pitchFamily="18" charset="0"/>
                      </a:rPr>
                      <m:t>𝒏</m:t>
                    </m:r>
                    <m:r>
                      <a:rPr lang="en-US" sz="2800" b="1" i="1" dirty="0">
                        <a:latin typeface="Cambria Math" panose="02040503050406030204" pitchFamily="18" charset="0"/>
                      </a:rPr>
                      <m:t>)∈</m:t>
                    </m:r>
                    <m:r>
                      <a:rPr lang="en-US" sz="2800" b="1" i="1" dirty="0">
                        <a:latin typeface="Cambria Math" panose="02040503050406030204" pitchFamily="18" charset="0"/>
                      </a:rPr>
                      <m:t>𝒏</m:t>
                    </m:r>
                    <m:r>
                      <a:rPr lang="en-US" sz="2800" b="1" i="1" dirty="0">
                        <a:latin typeface="Cambria Math" panose="02040503050406030204" pitchFamily="18" charset="0"/>
                      </a:rPr>
                      <m:t> </m:t>
                    </m:r>
                    <m:func>
                      <m:funcPr>
                        <m:ctrlPr>
                          <a:rPr lang="en-US" sz="2800" b="1" i="1" dirty="0">
                            <a:latin typeface="Cambria Math" panose="02040503050406030204" pitchFamily="18" charset="0"/>
                          </a:rPr>
                        </m:ctrlPr>
                      </m:funcPr>
                      <m:fName>
                        <m:sSub>
                          <m:sSubPr>
                            <m:ctrlPr>
                              <a:rPr lang="en-US" sz="2800" b="1" i="1" dirty="0">
                                <a:latin typeface="Cambria Math" panose="02040503050406030204" pitchFamily="18" charset="0"/>
                              </a:rPr>
                            </m:ctrlPr>
                          </m:sSubPr>
                          <m:e>
                            <m:r>
                              <m:rPr>
                                <m:sty m:val="p"/>
                              </m:rPr>
                              <a:rPr lang="en-US" sz="2800" dirty="0">
                                <a:latin typeface="Cambria Math" panose="02040503050406030204" pitchFamily="18" charset="0"/>
                              </a:rPr>
                              <m:t>log</m:t>
                            </m:r>
                          </m:e>
                          <m:sub>
                            <m:r>
                              <a:rPr lang="en-US" sz="2800" b="1" i="1" dirty="0">
                                <a:latin typeface="Cambria Math" panose="02040503050406030204" pitchFamily="18" charset="0"/>
                              </a:rPr>
                              <m:t>𝟑</m:t>
                            </m:r>
                            <m:r>
                              <a:rPr lang="en-US" sz="2800" b="1" i="1" dirty="0">
                                <a:latin typeface="Cambria Math" panose="02040503050406030204" pitchFamily="18" charset="0"/>
                              </a:rPr>
                              <m:t>/</m:t>
                            </m:r>
                            <m:r>
                              <a:rPr lang="en-US" sz="2800" b="1" i="1" dirty="0">
                                <a:latin typeface="Cambria Math" panose="02040503050406030204" pitchFamily="18" charset="0"/>
                              </a:rPr>
                              <m:t>𝟐</m:t>
                            </m:r>
                          </m:sub>
                        </m:sSub>
                      </m:fName>
                      <m:e>
                        <m:r>
                          <a:rPr lang="en-US" sz="2800" b="1" i="1" dirty="0">
                            <a:latin typeface="Cambria Math" panose="02040503050406030204" pitchFamily="18" charset="0"/>
                          </a:rPr>
                          <m:t>𝒏</m:t>
                        </m:r>
                      </m:e>
                    </m:func>
                  </m:oMath>
                </a14:m>
                <a:endParaRPr lang="en-US" sz="2600"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52</a:t>
            </a:fld>
            <a:endParaRPr lang="en-US" dirty="0"/>
          </a:p>
        </p:txBody>
      </p:sp>
      <p:sp>
        <p:nvSpPr>
          <p:cNvPr id="6" name="Rounded Rectangle 5"/>
          <p:cNvSpPr/>
          <p:nvPr/>
        </p:nvSpPr>
        <p:spPr>
          <a:xfrm>
            <a:off x="2590800" y="2362200"/>
            <a:ext cx="3124200" cy="54864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486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solidFill>
                      <a:srgbClr val="0066FF"/>
                    </a:solidFill>
                  </a:rPr>
                  <a:t>Example 2: </a:t>
                </a:r>
                <a14:m>
                  <m:oMath xmlns:m="http://schemas.openxmlformats.org/officeDocument/2006/math">
                    <m:r>
                      <a:rPr lang="en-US" i="1" dirty="0">
                        <a:solidFill>
                          <a:srgbClr val="0066FF"/>
                        </a:solidFill>
                        <a:latin typeface="Cambria Math" panose="02040503050406030204" pitchFamily="18" charset="0"/>
                      </a:rPr>
                      <m:t>𝑇</m:t>
                    </m:r>
                    <m:r>
                      <a:rPr lang="en-US" i="1" dirty="0">
                        <a:solidFill>
                          <a:srgbClr val="0066FF"/>
                        </a:solidFill>
                        <a:latin typeface="Cambria Math" panose="02040503050406030204" pitchFamily="18" charset="0"/>
                      </a:rPr>
                      <m:t>(</m:t>
                    </m:r>
                    <m:r>
                      <a:rPr lang="en-US" i="1" dirty="0">
                        <a:solidFill>
                          <a:srgbClr val="0066FF"/>
                        </a:solidFill>
                        <a:latin typeface="Cambria Math" panose="02040503050406030204" pitchFamily="18" charset="0"/>
                      </a:rPr>
                      <m:t>𝑛</m:t>
                    </m:r>
                    <m:r>
                      <a:rPr lang="en-US" i="1" dirty="0">
                        <a:solidFill>
                          <a:srgbClr val="0066FF"/>
                        </a:solidFill>
                        <a:latin typeface="Cambria Math" panose="02040503050406030204" pitchFamily="18" charset="0"/>
                      </a:rPr>
                      <m:t>)=2</m:t>
                    </m:r>
                    <m:r>
                      <a:rPr lang="en-US" i="1" dirty="0" smtClean="0">
                        <a:solidFill>
                          <a:srgbClr val="0066FF"/>
                        </a:solidFill>
                        <a:latin typeface="Cambria Math" panose="02040503050406030204" pitchFamily="18" charset="0"/>
                      </a:rPr>
                      <m:t>𝑇</m:t>
                    </m:r>
                    <m:r>
                      <a:rPr lang="en-US" i="1" dirty="0" smtClean="0">
                        <a:solidFill>
                          <a:srgbClr val="0066FF"/>
                        </a:solidFill>
                        <a:latin typeface="Cambria Math" panose="02040503050406030204" pitchFamily="18" charset="0"/>
                      </a:rPr>
                      <m:t>(</m:t>
                    </m:r>
                    <m:r>
                      <a:rPr lang="en-US" i="1" dirty="0" smtClean="0">
                        <a:solidFill>
                          <a:srgbClr val="0066FF"/>
                        </a:solidFill>
                        <a:latin typeface="Cambria Math" panose="02040503050406030204" pitchFamily="18" charset="0"/>
                      </a:rPr>
                      <m:t>𝑛</m:t>
                    </m:r>
                    <m:r>
                      <a:rPr lang="en-US" i="1" dirty="0" smtClean="0">
                        <a:solidFill>
                          <a:srgbClr val="0066FF"/>
                        </a:solidFill>
                        <a:latin typeface="Cambria Math" panose="02040503050406030204" pitchFamily="18" charset="0"/>
                      </a:rPr>
                      <m:t>/2)+</m:t>
                    </m:r>
                    <m:r>
                      <a:rPr lang="en-US" i="1" dirty="0" smtClean="0">
                        <a:solidFill>
                          <a:srgbClr val="0066FF"/>
                        </a:solidFill>
                        <a:latin typeface="Cambria Math" panose="02040503050406030204" pitchFamily="18" charset="0"/>
                      </a:rPr>
                      <m:t>𝑐</m:t>
                    </m:r>
                    <m:r>
                      <a:rPr lang="en-US" i="1" dirty="0" smtClean="0">
                        <a:solidFill>
                          <a:srgbClr val="0066FF"/>
                        </a:solidFill>
                        <a:latin typeface="Cambria Math" panose="02040503050406030204" pitchFamily="18" charset="0"/>
                      </a:rPr>
                      <m:t>.</m:t>
                    </m:r>
                    <m:r>
                      <a:rPr lang="en-US" i="1" dirty="0" smtClean="0">
                        <a:solidFill>
                          <a:srgbClr val="0066FF"/>
                        </a:solidFill>
                        <a:latin typeface="Cambria Math" panose="02040503050406030204" pitchFamily="18" charset="0"/>
                      </a:rPr>
                      <m:t>𝑛</m:t>
                    </m:r>
                    <m:r>
                      <a:rPr lang="en-US" i="1" baseline="30000" dirty="0">
                        <a:solidFill>
                          <a:srgbClr val="0066FF"/>
                        </a:solidFill>
                        <a:latin typeface="Cambria Math" panose="02040503050406030204" pitchFamily="18" charset="0"/>
                      </a:rPr>
                      <m:t>2</m:t>
                    </m:r>
                  </m:oMath>
                </a14:m>
                <a:endParaRPr lang="en-US" baseline="30000" dirty="0">
                  <a:solidFill>
                    <a:srgbClr val="0066FF"/>
                  </a:solidFill>
                </a:endParaRPr>
              </a:p>
              <a:p>
                <a:r>
                  <a:rPr lang="en-US" dirty="0"/>
                  <a:t>The recursion tree for this recurrence is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3"/>
                <a:stretch>
                  <a:fillRect l="-904" t="-457"/>
                </a:stretch>
              </a:blipFill>
            </p:spPr>
            <p:txBody>
              <a:bodyPr/>
              <a:lstStyle/>
              <a:p>
                <a:r>
                  <a:rPr lang="en-US">
                    <a:noFill/>
                  </a:rPr>
                  <a:t> </a:t>
                </a:r>
              </a:p>
            </p:txBody>
          </p:sp>
        </mc:Fallback>
      </mc:AlternateContent>
      <p:sp>
        <p:nvSpPr>
          <p:cNvPr id="5" name="Slide Number Placeholder 7"/>
          <p:cNvSpPr txBox="1">
            <a:spLocks/>
          </p:cNvSpPr>
          <p:nvPr/>
        </p:nvSpPr>
        <p:spPr>
          <a:xfrm>
            <a:off x="5562600" y="6492876"/>
            <a:ext cx="457200" cy="365125"/>
          </a:xfrm>
          <a:prstGeom prst="rect">
            <a:avLst/>
          </a:prstGeom>
        </p:spPr>
        <p:txBody>
          <a:bodyPr vert="horz" lIns="91440" tIns="45720" rIns="91440" bIns="4572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8BEFB-AE5B-48F9-BBAD-B489CDE48C80}" type="slidenum">
              <a:rPr lang="en-US"/>
              <a:pPr/>
              <a:t>53</a:t>
            </a:fld>
            <a:endParaRPr lang="en-US" dirty="0"/>
          </a:p>
        </p:txBody>
      </p:sp>
      <mc:AlternateContent xmlns:mc="http://schemas.openxmlformats.org/markup-compatibility/2006" xmlns:a14="http://schemas.microsoft.com/office/drawing/2010/main">
        <mc:Choice Requires="a14">
          <p:sp>
            <p:nvSpPr>
              <p:cNvPr id="6" name="Oval 5"/>
              <p:cNvSpPr/>
              <p:nvPr/>
            </p:nvSpPr>
            <p:spPr>
              <a:xfrm>
                <a:off x="5699760" y="22098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200" i="1" dirty="0">
                              <a:solidFill>
                                <a:srgbClr val="C00000"/>
                              </a:solidFill>
                              <a:latin typeface="Cambria Math" panose="02040503050406030204" pitchFamily="18" charset="0"/>
                            </a:rPr>
                          </m:ctrlPr>
                        </m:sSupPr>
                        <m:e>
                          <m:r>
                            <a:rPr lang="en-US" sz="2200" i="1" dirty="0">
                              <a:solidFill>
                                <a:srgbClr val="C00000"/>
                              </a:solidFill>
                              <a:latin typeface="Cambria Math" panose="02040503050406030204" pitchFamily="18" charset="0"/>
                            </a:rPr>
                            <m:t>𝑛</m:t>
                          </m:r>
                        </m:e>
                        <m:sup>
                          <m:r>
                            <a:rPr lang="en-US" sz="2200" i="1" dirty="0">
                              <a:solidFill>
                                <a:srgbClr val="C00000"/>
                              </a:solidFill>
                              <a:latin typeface="Cambria Math" panose="02040503050406030204" pitchFamily="18" charset="0"/>
                            </a:rPr>
                            <m:t>2</m:t>
                          </m:r>
                        </m:sup>
                      </m:sSup>
                    </m:oMath>
                  </m:oMathPara>
                </a14:m>
                <a:endParaRPr lang="en-US" sz="2200" dirty="0">
                  <a:solidFill>
                    <a:srgbClr val="C00000"/>
                  </a:solidFill>
                </a:endParaRPr>
              </a:p>
            </p:txBody>
          </p:sp>
        </mc:Choice>
        <mc:Fallback xmlns="">
          <p:sp>
            <p:nvSpPr>
              <p:cNvPr id="6" name="Oval 5"/>
              <p:cNvSpPr>
                <a:spLocks noRot="1" noChangeAspect="1" noMove="1" noResize="1" noEditPoints="1" noAdjustHandles="1" noChangeArrowheads="1" noChangeShapeType="1" noTextEdit="1"/>
              </p:cNvSpPr>
              <p:nvPr/>
            </p:nvSpPr>
            <p:spPr>
              <a:xfrm>
                <a:off x="5699760" y="2209800"/>
                <a:ext cx="914400" cy="914400"/>
              </a:xfrm>
              <a:prstGeom prst="ellipse">
                <a:avLst/>
              </a:prstGeom>
              <a:blipFill>
                <a:blip r:embed="rId4"/>
                <a:stretch>
                  <a:fillRect/>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Oval 6"/>
              <p:cNvSpPr/>
              <p:nvPr/>
            </p:nvSpPr>
            <p:spPr>
              <a:xfrm>
                <a:off x="4785360" y="32766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200" i="1" dirty="0">
                              <a:solidFill>
                                <a:srgbClr val="C00000"/>
                              </a:solidFill>
                              <a:latin typeface="Cambria Math" panose="02040503050406030204" pitchFamily="18" charset="0"/>
                            </a:rPr>
                          </m:ctrlPr>
                        </m:sSupPr>
                        <m:e>
                          <m:d>
                            <m:dPr>
                              <m:ctrlPr>
                                <a:rPr lang="en-US" sz="2200" i="1" dirty="0">
                                  <a:solidFill>
                                    <a:srgbClr val="C00000"/>
                                  </a:solidFill>
                                  <a:latin typeface="Cambria Math" panose="02040503050406030204" pitchFamily="18" charset="0"/>
                                </a:rPr>
                              </m:ctrlPr>
                            </m:dPr>
                            <m:e>
                              <m:f>
                                <m:fPr>
                                  <m:type m:val="lin"/>
                                  <m:ctrlPr>
                                    <a:rPr lang="en-US" sz="2200" i="1" dirty="0">
                                      <a:solidFill>
                                        <a:srgbClr val="C00000"/>
                                      </a:solidFill>
                                      <a:latin typeface="Cambria Math" panose="02040503050406030204" pitchFamily="18" charset="0"/>
                                    </a:rPr>
                                  </m:ctrlPr>
                                </m:fPr>
                                <m:num>
                                  <m:r>
                                    <a:rPr lang="en-US" sz="2200" i="1" dirty="0">
                                      <a:solidFill>
                                        <a:srgbClr val="C00000"/>
                                      </a:solidFill>
                                      <a:latin typeface="Cambria Math" panose="02040503050406030204" pitchFamily="18" charset="0"/>
                                    </a:rPr>
                                    <m:t>𝑛</m:t>
                                  </m:r>
                                </m:num>
                                <m:den>
                                  <m:r>
                                    <a:rPr lang="en-US" sz="2200" i="1" dirty="0">
                                      <a:solidFill>
                                        <a:srgbClr val="C00000"/>
                                      </a:solidFill>
                                      <a:latin typeface="Cambria Math" panose="02040503050406030204" pitchFamily="18" charset="0"/>
                                    </a:rPr>
                                    <m:t>2</m:t>
                                  </m:r>
                                </m:den>
                              </m:f>
                            </m:e>
                          </m:d>
                        </m:e>
                        <m:sup>
                          <m:r>
                            <a:rPr lang="en-US" sz="2200" i="1" dirty="0">
                              <a:solidFill>
                                <a:srgbClr val="C00000"/>
                              </a:solidFill>
                              <a:latin typeface="Cambria Math" panose="02040503050406030204" pitchFamily="18" charset="0"/>
                            </a:rPr>
                            <m:t>2</m:t>
                          </m:r>
                        </m:sup>
                      </m:sSup>
                    </m:oMath>
                  </m:oMathPara>
                </a14:m>
                <a:endParaRPr lang="en-US" sz="2200" dirty="0">
                  <a:solidFill>
                    <a:srgbClr val="C00000"/>
                  </a:solidFill>
                </a:endParaRPr>
              </a:p>
            </p:txBody>
          </p:sp>
        </mc:Choice>
        <mc:Fallback xmlns="">
          <p:sp>
            <p:nvSpPr>
              <p:cNvPr id="7" name="Oval 6"/>
              <p:cNvSpPr>
                <a:spLocks noRot="1" noChangeAspect="1" noMove="1" noResize="1" noEditPoints="1" noAdjustHandles="1" noChangeArrowheads="1" noChangeShapeType="1" noTextEdit="1"/>
              </p:cNvSpPr>
              <p:nvPr/>
            </p:nvSpPr>
            <p:spPr>
              <a:xfrm>
                <a:off x="4785360" y="3276600"/>
                <a:ext cx="914400" cy="914400"/>
              </a:xfrm>
              <a:prstGeom prst="ellipse">
                <a:avLst/>
              </a:prstGeom>
              <a:blipFill>
                <a:blip r:embed="rId5"/>
                <a:stretch>
                  <a:fillRect l="-22368" t="-29605" r="-36184" b="-59211"/>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Oval 7"/>
              <p:cNvSpPr/>
              <p:nvPr/>
            </p:nvSpPr>
            <p:spPr>
              <a:xfrm>
                <a:off x="6675120" y="32766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400" i="1" dirty="0">
                              <a:solidFill>
                                <a:srgbClr val="C00000"/>
                              </a:solidFill>
                              <a:latin typeface="Cambria Math" panose="02040503050406030204" pitchFamily="18" charset="0"/>
                            </a:rPr>
                          </m:ctrlPr>
                        </m:sSupPr>
                        <m:e>
                          <m:d>
                            <m:dPr>
                              <m:ctrlPr>
                                <a:rPr lang="en-US" sz="2400" i="1" dirty="0">
                                  <a:solidFill>
                                    <a:srgbClr val="C00000"/>
                                  </a:solidFill>
                                  <a:latin typeface="Cambria Math" panose="02040503050406030204" pitchFamily="18" charset="0"/>
                                </a:rPr>
                              </m:ctrlPr>
                            </m:dPr>
                            <m:e>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2</m:t>
                                  </m:r>
                                </m:den>
                              </m:f>
                            </m:e>
                          </m:d>
                        </m:e>
                        <m:sup>
                          <m:r>
                            <a:rPr lang="en-US" sz="2400" i="1" dirty="0">
                              <a:solidFill>
                                <a:srgbClr val="C00000"/>
                              </a:solidFill>
                              <a:latin typeface="Cambria Math" panose="02040503050406030204" pitchFamily="18" charset="0"/>
                            </a:rPr>
                            <m:t>2</m:t>
                          </m:r>
                        </m:sup>
                      </m:sSup>
                    </m:oMath>
                  </m:oMathPara>
                </a14:m>
                <a:endParaRPr lang="en-US" sz="2400" dirty="0">
                  <a:solidFill>
                    <a:srgbClr val="C00000"/>
                  </a:solidFill>
                </a:endParaRPr>
              </a:p>
            </p:txBody>
          </p:sp>
        </mc:Choice>
        <mc:Fallback xmlns="">
          <p:sp>
            <p:nvSpPr>
              <p:cNvPr id="8" name="Oval 7"/>
              <p:cNvSpPr>
                <a:spLocks noRot="1" noChangeAspect="1" noMove="1" noResize="1" noEditPoints="1" noAdjustHandles="1" noChangeArrowheads="1" noChangeShapeType="1" noTextEdit="1"/>
              </p:cNvSpPr>
              <p:nvPr/>
            </p:nvSpPr>
            <p:spPr>
              <a:xfrm>
                <a:off x="6675120" y="3276600"/>
                <a:ext cx="914400" cy="914400"/>
              </a:xfrm>
              <a:prstGeom prst="ellipse">
                <a:avLst/>
              </a:prstGeom>
              <a:blipFill>
                <a:blip r:embed="rId6"/>
                <a:stretch>
                  <a:fillRect l="-28947" t="-37500" r="-40132" b="-70395"/>
                </a:stretch>
              </a:blipFill>
              <a:ln w="12700">
                <a:solidFill>
                  <a:schemeClr val="tx1"/>
                </a:solidFill>
              </a:ln>
            </p:spPr>
            <p:txBody>
              <a:bodyPr/>
              <a:lstStyle/>
              <a:p>
                <a:r>
                  <a:rPr lang="en-IN">
                    <a:noFill/>
                  </a:rPr>
                  <a:t> </a:t>
                </a:r>
              </a:p>
            </p:txBody>
          </p:sp>
        </mc:Fallback>
      </mc:AlternateContent>
      <p:cxnSp>
        <p:nvCxnSpPr>
          <p:cNvPr id="9" name="Straight Connector 8"/>
          <p:cNvCxnSpPr>
            <a:stCxn id="6" idx="3"/>
            <a:endCxn id="7" idx="0"/>
          </p:cNvCxnSpPr>
          <p:nvPr/>
        </p:nvCxnSpPr>
        <p:spPr>
          <a:xfrm flipH="1">
            <a:off x="5242561" y="2990290"/>
            <a:ext cx="591111" cy="2863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a:stCxn id="6" idx="5"/>
            <a:endCxn id="8" idx="0"/>
          </p:cNvCxnSpPr>
          <p:nvPr/>
        </p:nvCxnSpPr>
        <p:spPr>
          <a:xfrm>
            <a:off x="6480250" y="2990290"/>
            <a:ext cx="652071" cy="2863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Oval 10"/>
              <p:cNvSpPr/>
              <p:nvPr/>
            </p:nvSpPr>
            <p:spPr>
              <a:xfrm>
                <a:off x="4235104" y="44958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400" i="1" dirty="0">
                              <a:solidFill>
                                <a:srgbClr val="C00000"/>
                              </a:solidFill>
                              <a:latin typeface="Cambria Math" panose="02040503050406030204" pitchFamily="18" charset="0"/>
                            </a:rPr>
                          </m:ctrlPr>
                        </m:sSupPr>
                        <m:e>
                          <m:d>
                            <m:dPr>
                              <m:ctrlPr>
                                <a:rPr lang="en-US" sz="2400" i="1" dirty="0">
                                  <a:solidFill>
                                    <a:srgbClr val="C00000"/>
                                  </a:solidFill>
                                  <a:latin typeface="Cambria Math" panose="02040503050406030204" pitchFamily="18" charset="0"/>
                                </a:rPr>
                              </m:ctrlPr>
                            </m:dPr>
                            <m:e>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4</m:t>
                                  </m:r>
                                </m:den>
                              </m:f>
                            </m:e>
                          </m:d>
                        </m:e>
                        <m:sup>
                          <m:r>
                            <a:rPr lang="en-US" sz="2400" i="1" dirty="0">
                              <a:solidFill>
                                <a:srgbClr val="C00000"/>
                              </a:solidFill>
                              <a:latin typeface="Cambria Math" panose="02040503050406030204" pitchFamily="18" charset="0"/>
                            </a:rPr>
                            <m:t>2</m:t>
                          </m:r>
                        </m:sup>
                      </m:sSup>
                    </m:oMath>
                  </m:oMathPara>
                </a14:m>
                <a:endParaRPr lang="en-US" sz="2400" dirty="0">
                  <a:solidFill>
                    <a:srgbClr val="C00000"/>
                  </a:solidFill>
                </a:endParaRPr>
              </a:p>
            </p:txBody>
          </p:sp>
        </mc:Choice>
        <mc:Fallback xmlns="">
          <p:sp>
            <p:nvSpPr>
              <p:cNvPr id="11" name="Oval 10"/>
              <p:cNvSpPr>
                <a:spLocks noRot="1" noChangeAspect="1" noMove="1" noResize="1" noEditPoints="1" noAdjustHandles="1" noChangeArrowheads="1" noChangeShapeType="1" noTextEdit="1"/>
              </p:cNvSpPr>
              <p:nvPr/>
            </p:nvSpPr>
            <p:spPr>
              <a:xfrm>
                <a:off x="4235104" y="4495800"/>
                <a:ext cx="914400" cy="914400"/>
              </a:xfrm>
              <a:prstGeom prst="ellipse">
                <a:avLst/>
              </a:prstGeom>
              <a:blipFill>
                <a:blip r:embed="rId7"/>
                <a:stretch>
                  <a:fillRect l="-28947" t="-37500" r="-40132" b="-7039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Oval 11"/>
              <p:cNvSpPr/>
              <p:nvPr/>
            </p:nvSpPr>
            <p:spPr>
              <a:xfrm>
                <a:off x="5252737" y="44958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400" i="1" dirty="0">
                              <a:solidFill>
                                <a:srgbClr val="C00000"/>
                              </a:solidFill>
                              <a:latin typeface="Cambria Math" panose="02040503050406030204" pitchFamily="18" charset="0"/>
                            </a:rPr>
                          </m:ctrlPr>
                        </m:sSupPr>
                        <m:e>
                          <m:d>
                            <m:dPr>
                              <m:ctrlPr>
                                <a:rPr lang="en-US" sz="2400" i="1" dirty="0">
                                  <a:solidFill>
                                    <a:srgbClr val="C00000"/>
                                  </a:solidFill>
                                  <a:latin typeface="Cambria Math" panose="02040503050406030204" pitchFamily="18" charset="0"/>
                                </a:rPr>
                              </m:ctrlPr>
                            </m:dPr>
                            <m:e>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4</m:t>
                                  </m:r>
                                </m:den>
                              </m:f>
                            </m:e>
                          </m:d>
                        </m:e>
                        <m:sup>
                          <m:r>
                            <a:rPr lang="en-US" sz="2400" i="1" dirty="0">
                              <a:solidFill>
                                <a:srgbClr val="C00000"/>
                              </a:solidFill>
                              <a:latin typeface="Cambria Math" panose="02040503050406030204" pitchFamily="18" charset="0"/>
                            </a:rPr>
                            <m:t>2</m:t>
                          </m:r>
                        </m:sup>
                      </m:sSup>
                    </m:oMath>
                  </m:oMathPara>
                </a14:m>
                <a:endParaRPr lang="en-US" sz="2400" dirty="0">
                  <a:solidFill>
                    <a:srgbClr val="C00000"/>
                  </a:solidFill>
                </a:endParaRPr>
              </a:p>
            </p:txBody>
          </p:sp>
        </mc:Choice>
        <mc:Fallback xmlns="">
          <p:sp>
            <p:nvSpPr>
              <p:cNvPr id="12" name="Oval 11"/>
              <p:cNvSpPr>
                <a:spLocks noRot="1" noChangeAspect="1" noMove="1" noResize="1" noEditPoints="1" noAdjustHandles="1" noChangeArrowheads="1" noChangeShapeType="1" noTextEdit="1"/>
              </p:cNvSpPr>
              <p:nvPr/>
            </p:nvSpPr>
            <p:spPr>
              <a:xfrm>
                <a:off x="5252737" y="4495800"/>
                <a:ext cx="914400" cy="914400"/>
              </a:xfrm>
              <a:prstGeom prst="ellipse">
                <a:avLst/>
              </a:prstGeom>
              <a:blipFill>
                <a:blip r:embed="rId8"/>
                <a:stretch>
                  <a:fillRect l="-28947" t="-37500" r="-40132" b="-70395"/>
                </a:stretch>
              </a:blipFill>
              <a:ln w="12700">
                <a:solidFill>
                  <a:schemeClr val="tx1"/>
                </a:solidFill>
              </a:ln>
            </p:spPr>
            <p:txBody>
              <a:bodyPr/>
              <a:lstStyle/>
              <a:p>
                <a:r>
                  <a:rPr lang="en-IN">
                    <a:noFill/>
                  </a:rPr>
                  <a:t> </a:t>
                </a:r>
              </a:p>
            </p:txBody>
          </p:sp>
        </mc:Fallback>
      </mc:AlternateContent>
      <p:cxnSp>
        <p:nvCxnSpPr>
          <p:cNvPr id="13" name="Straight Connector 12"/>
          <p:cNvCxnSpPr>
            <a:stCxn id="7" idx="3"/>
            <a:endCxn id="11" idx="0"/>
          </p:cNvCxnSpPr>
          <p:nvPr/>
        </p:nvCxnSpPr>
        <p:spPr>
          <a:xfrm flipH="1">
            <a:off x="4692305" y="4057090"/>
            <a:ext cx="226967" cy="438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7" idx="5"/>
            <a:endCxn id="12" idx="0"/>
          </p:cNvCxnSpPr>
          <p:nvPr/>
        </p:nvCxnSpPr>
        <p:spPr>
          <a:xfrm>
            <a:off x="5565849" y="4057090"/>
            <a:ext cx="144088" cy="438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Oval 14"/>
              <p:cNvSpPr/>
              <p:nvPr/>
            </p:nvSpPr>
            <p:spPr>
              <a:xfrm>
                <a:off x="6184563" y="44958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400" i="1" dirty="0">
                              <a:solidFill>
                                <a:srgbClr val="C00000"/>
                              </a:solidFill>
                              <a:latin typeface="Cambria Math" panose="02040503050406030204" pitchFamily="18" charset="0"/>
                            </a:rPr>
                          </m:ctrlPr>
                        </m:sSupPr>
                        <m:e>
                          <m:d>
                            <m:dPr>
                              <m:ctrlPr>
                                <a:rPr lang="en-US" sz="2400" i="1" dirty="0">
                                  <a:solidFill>
                                    <a:srgbClr val="C00000"/>
                                  </a:solidFill>
                                  <a:latin typeface="Cambria Math" panose="02040503050406030204" pitchFamily="18" charset="0"/>
                                </a:rPr>
                              </m:ctrlPr>
                            </m:dPr>
                            <m:e>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4</m:t>
                                  </m:r>
                                </m:den>
                              </m:f>
                            </m:e>
                          </m:d>
                        </m:e>
                        <m:sup>
                          <m:r>
                            <a:rPr lang="en-US" sz="2400" i="1" dirty="0">
                              <a:solidFill>
                                <a:srgbClr val="C00000"/>
                              </a:solidFill>
                              <a:latin typeface="Cambria Math" panose="02040503050406030204" pitchFamily="18" charset="0"/>
                            </a:rPr>
                            <m:t>2</m:t>
                          </m:r>
                        </m:sup>
                      </m:sSup>
                    </m:oMath>
                  </m:oMathPara>
                </a14:m>
                <a:endParaRPr lang="en-US" sz="2400" dirty="0">
                  <a:solidFill>
                    <a:srgbClr val="C00000"/>
                  </a:solidFill>
                </a:endParaRPr>
              </a:p>
            </p:txBody>
          </p:sp>
        </mc:Choice>
        <mc:Fallback xmlns="">
          <p:sp>
            <p:nvSpPr>
              <p:cNvPr id="15" name="Oval 14"/>
              <p:cNvSpPr>
                <a:spLocks noRot="1" noChangeAspect="1" noMove="1" noResize="1" noEditPoints="1" noAdjustHandles="1" noChangeArrowheads="1" noChangeShapeType="1" noTextEdit="1"/>
              </p:cNvSpPr>
              <p:nvPr/>
            </p:nvSpPr>
            <p:spPr>
              <a:xfrm>
                <a:off x="6184563" y="4495800"/>
                <a:ext cx="914400" cy="914400"/>
              </a:xfrm>
              <a:prstGeom prst="ellipse">
                <a:avLst/>
              </a:prstGeom>
              <a:blipFill>
                <a:blip r:embed="rId9"/>
                <a:stretch>
                  <a:fillRect l="-28947" t="-37500" r="-40132" b="-70395"/>
                </a:stretch>
              </a:blipFill>
              <a:ln w="12700">
                <a:solidFill>
                  <a:schemeClr val="tx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Oval 15"/>
              <p:cNvSpPr/>
              <p:nvPr/>
            </p:nvSpPr>
            <p:spPr>
              <a:xfrm>
                <a:off x="7267138" y="4495800"/>
                <a:ext cx="914400" cy="914400"/>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sSup>
                        <m:sSupPr>
                          <m:ctrlPr>
                            <a:rPr lang="en-US" sz="2400" i="1" dirty="0">
                              <a:solidFill>
                                <a:srgbClr val="C00000"/>
                              </a:solidFill>
                              <a:latin typeface="Cambria Math" panose="02040503050406030204" pitchFamily="18" charset="0"/>
                            </a:rPr>
                          </m:ctrlPr>
                        </m:sSupPr>
                        <m:e>
                          <m:d>
                            <m:dPr>
                              <m:ctrlPr>
                                <a:rPr lang="en-US" sz="2400" i="1" dirty="0">
                                  <a:solidFill>
                                    <a:srgbClr val="C00000"/>
                                  </a:solidFill>
                                  <a:latin typeface="Cambria Math" panose="02040503050406030204" pitchFamily="18" charset="0"/>
                                </a:rPr>
                              </m:ctrlPr>
                            </m:dPr>
                            <m:e>
                              <m:f>
                                <m:fPr>
                                  <m:type m:val="lin"/>
                                  <m:ctrlPr>
                                    <a:rPr lang="en-US" sz="2400" i="1" dirty="0">
                                      <a:solidFill>
                                        <a:srgbClr val="C00000"/>
                                      </a:solidFill>
                                      <a:latin typeface="Cambria Math" panose="02040503050406030204" pitchFamily="18" charset="0"/>
                                    </a:rPr>
                                  </m:ctrlPr>
                                </m:fPr>
                                <m:num>
                                  <m:r>
                                    <a:rPr lang="en-US" sz="2400" i="1" dirty="0">
                                      <a:solidFill>
                                        <a:srgbClr val="C00000"/>
                                      </a:solidFill>
                                      <a:latin typeface="Cambria Math" panose="02040503050406030204" pitchFamily="18" charset="0"/>
                                    </a:rPr>
                                    <m:t>𝑛</m:t>
                                  </m:r>
                                </m:num>
                                <m:den>
                                  <m:r>
                                    <a:rPr lang="en-US" sz="2400" i="1" dirty="0">
                                      <a:solidFill>
                                        <a:srgbClr val="C00000"/>
                                      </a:solidFill>
                                      <a:latin typeface="Cambria Math" panose="02040503050406030204" pitchFamily="18" charset="0"/>
                                    </a:rPr>
                                    <m:t>4</m:t>
                                  </m:r>
                                </m:den>
                              </m:f>
                            </m:e>
                          </m:d>
                        </m:e>
                        <m:sup>
                          <m:r>
                            <a:rPr lang="en-US" sz="2400" i="1" dirty="0">
                              <a:solidFill>
                                <a:srgbClr val="C00000"/>
                              </a:solidFill>
                              <a:latin typeface="Cambria Math" panose="02040503050406030204" pitchFamily="18" charset="0"/>
                            </a:rPr>
                            <m:t>2</m:t>
                          </m:r>
                        </m:sup>
                      </m:sSup>
                    </m:oMath>
                  </m:oMathPara>
                </a14:m>
                <a:endParaRPr lang="en-US" sz="2400" dirty="0">
                  <a:solidFill>
                    <a:srgbClr val="C00000"/>
                  </a:solidFill>
                </a:endParaRPr>
              </a:p>
            </p:txBody>
          </p:sp>
        </mc:Choice>
        <mc:Fallback xmlns="">
          <p:sp>
            <p:nvSpPr>
              <p:cNvPr id="16" name="Oval 15"/>
              <p:cNvSpPr>
                <a:spLocks noRot="1" noChangeAspect="1" noMove="1" noResize="1" noEditPoints="1" noAdjustHandles="1" noChangeArrowheads="1" noChangeShapeType="1" noTextEdit="1"/>
              </p:cNvSpPr>
              <p:nvPr/>
            </p:nvSpPr>
            <p:spPr>
              <a:xfrm>
                <a:off x="7267138" y="4495800"/>
                <a:ext cx="914400" cy="914400"/>
              </a:xfrm>
              <a:prstGeom prst="ellipse">
                <a:avLst/>
              </a:prstGeom>
              <a:blipFill>
                <a:blip r:embed="rId10"/>
                <a:stretch>
                  <a:fillRect l="-28947" t="-37500" r="-40132" b="-70395"/>
                </a:stretch>
              </a:blipFill>
              <a:ln w="12700">
                <a:solidFill>
                  <a:schemeClr val="tx1"/>
                </a:solidFill>
              </a:ln>
            </p:spPr>
            <p:txBody>
              <a:bodyPr/>
              <a:lstStyle/>
              <a:p>
                <a:r>
                  <a:rPr lang="en-IN">
                    <a:noFill/>
                  </a:rPr>
                  <a:t> </a:t>
                </a:r>
              </a:p>
            </p:txBody>
          </p:sp>
        </mc:Fallback>
      </mc:AlternateContent>
      <p:cxnSp>
        <p:nvCxnSpPr>
          <p:cNvPr id="17" name="Straight Connector 16"/>
          <p:cNvCxnSpPr>
            <a:stCxn id="8" idx="3"/>
            <a:endCxn id="15" idx="0"/>
          </p:cNvCxnSpPr>
          <p:nvPr/>
        </p:nvCxnSpPr>
        <p:spPr>
          <a:xfrm flipH="1">
            <a:off x="6641763" y="4057090"/>
            <a:ext cx="167268" cy="438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8" idx="5"/>
            <a:endCxn id="16" idx="0"/>
          </p:cNvCxnSpPr>
          <p:nvPr/>
        </p:nvCxnSpPr>
        <p:spPr>
          <a:xfrm>
            <a:off x="7455610" y="4057090"/>
            <a:ext cx="268729" cy="4387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7829094" y="3616656"/>
            <a:ext cx="1464383"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8458200" y="4876800"/>
            <a:ext cx="835276" cy="0"/>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3"/>
          </p:cNvCxnSpPr>
          <p:nvPr/>
        </p:nvCxnSpPr>
        <p:spPr>
          <a:xfrm flipH="1">
            <a:off x="4217679" y="5276290"/>
            <a:ext cx="151337"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1" idx="5"/>
          </p:cNvCxnSpPr>
          <p:nvPr/>
        </p:nvCxnSpPr>
        <p:spPr>
          <a:xfrm>
            <a:off x="5015593" y="5276290"/>
            <a:ext cx="100554"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2" idx="3"/>
          </p:cNvCxnSpPr>
          <p:nvPr/>
        </p:nvCxnSpPr>
        <p:spPr>
          <a:xfrm flipH="1">
            <a:off x="5284322" y="5276290"/>
            <a:ext cx="102326"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2" idx="5"/>
          </p:cNvCxnSpPr>
          <p:nvPr/>
        </p:nvCxnSpPr>
        <p:spPr>
          <a:xfrm>
            <a:off x="6033226" y="5276290"/>
            <a:ext cx="117980"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5" idx="3"/>
          </p:cNvCxnSpPr>
          <p:nvPr/>
        </p:nvCxnSpPr>
        <p:spPr>
          <a:xfrm flipH="1">
            <a:off x="6200494" y="5276290"/>
            <a:ext cx="117980"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5" idx="5"/>
          </p:cNvCxnSpPr>
          <p:nvPr/>
        </p:nvCxnSpPr>
        <p:spPr>
          <a:xfrm>
            <a:off x="6965052" y="5276290"/>
            <a:ext cx="167268"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16" idx="3"/>
          </p:cNvCxnSpPr>
          <p:nvPr/>
        </p:nvCxnSpPr>
        <p:spPr>
          <a:xfrm flipH="1">
            <a:off x="7300495" y="5276290"/>
            <a:ext cx="100554"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16" idx="5"/>
          </p:cNvCxnSpPr>
          <p:nvPr/>
        </p:nvCxnSpPr>
        <p:spPr>
          <a:xfrm>
            <a:off x="8047628" y="5276290"/>
            <a:ext cx="133911" cy="438711"/>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ctangle 37"/>
              <p:cNvSpPr/>
              <p:nvPr/>
            </p:nvSpPr>
            <p:spPr>
              <a:xfrm>
                <a:off x="9375524" y="4643736"/>
                <a:ext cx="9114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en-US" sz="2400" i="1" dirty="0" smtClean="0">
                              <a:latin typeface="Cambria Math" panose="02040503050406030204" pitchFamily="18" charset="0"/>
                              <a:cs typeface="Times New Roman" panose="02020603050405020304" pitchFamily="18" charset="0"/>
                            </a:rPr>
                          </m:ctrlPr>
                        </m:sSupPr>
                        <m:e>
                          <m:f>
                            <m:fPr>
                              <m:type m:val="lin"/>
                              <m:ctrlPr>
                                <a:rPr lang="en-US" altLang="en-US" sz="2400" i="1" dirty="0">
                                  <a:latin typeface="Cambria Math" panose="02040503050406030204" pitchFamily="18" charset="0"/>
                                  <a:cs typeface="Times New Roman" panose="02020603050405020304" pitchFamily="18" charset="0"/>
                                </a:rPr>
                              </m:ctrlPr>
                            </m:fPr>
                            <m:num>
                              <m:r>
                                <a:rPr lang="en-IN" altLang="en-US" sz="2400" b="0" i="1" dirty="0" smtClean="0">
                                  <a:latin typeface="Cambria Math" panose="02040503050406030204" pitchFamily="18" charset="0"/>
                                  <a:cs typeface="Times New Roman" panose="02020603050405020304" pitchFamily="18" charset="0"/>
                                </a:rPr>
                                <m:t>𝑐</m:t>
                              </m:r>
                              <m:r>
                                <a:rPr lang="en-IN" altLang="en-US" sz="2400" b="0" i="1" dirty="0" smtClean="0">
                                  <a:latin typeface="Cambria Math" panose="02040503050406030204" pitchFamily="18" charset="0"/>
                                  <a:cs typeface="Times New Roman" panose="02020603050405020304" pitchFamily="18" charset="0"/>
                                </a:rPr>
                                <m:t>.1</m:t>
                              </m:r>
                            </m:num>
                            <m:den>
                              <m:r>
                                <a:rPr lang="en-US" altLang="en-US" sz="2400" i="1" dirty="0">
                                  <a:latin typeface="Cambria Math" panose="02040503050406030204" pitchFamily="18" charset="0"/>
                                  <a:cs typeface="Times New Roman" panose="02020603050405020304" pitchFamily="18" charset="0"/>
                                </a:rPr>
                                <m:t>2</m:t>
                              </m:r>
                            </m:den>
                          </m:f>
                          <m:r>
                            <a:rPr lang="en-US" altLang="en-US" sz="2400" i="1" dirty="0">
                              <a:latin typeface="Cambria Math" panose="02040503050406030204" pitchFamily="18" charset="0"/>
                              <a:cs typeface="Times New Roman" panose="02020603050405020304" pitchFamily="18" charset="0"/>
                            </a:rPr>
                            <m:t>𝑛</m:t>
                          </m:r>
                        </m:e>
                        <m:sup>
                          <m:r>
                            <a:rPr lang="en-US" altLang="en-US" sz="2400" i="1" dirty="0">
                              <a:latin typeface="Cambria Math" panose="02040503050406030204" pitchFamily="18" charset="0"/>
                              <a:cs typeface="Times New Roman" panose="02020603050405020304" pitchFamily="18" charset="0"/>
                            </a:rPr>
                            <m:t>2</m:t>
                          </m:r>
                        </m:sup>
                      </m:sSup>
                    </m:oMath>
                  </m:oMathPara>
                </a14:m>
                <a:endParaRPr lang="en-US" sz="2400" dirty="0"/>
              </a:p>
            </p:txBody>
          </p:sp>
        </mc:Choice>
        <mc:Fallback xmlns="">
          <p:sp>
            <p:nvSpPr>
              <p:cNvPr id="38" name="Rectangle 37"/>
              <p:cNvSpPr>
                <a:spLocks noRot="1" noChangeAspect="1" noMove="1" noResize="1" noEditPoints="1" noAdjustHandles="1" noChangeArrowheads="1" noChangeShapeType="1" noTextEdit="1"/>
              </p:cNvSpPr>
              <p:nvPr/>
            </p:nvSpPr>
            <p:spPr>
              <a:xfrm>
                <a:off x="9375524" y="4643736"/>
                <a:ext cx="911476" cy="461665"/>
              </a:xfrm>
              <a:prstGeom prst="rect">
                <a:avLst/>
              </a:prstGeom>
              <a:blipFill>
                <a:blip r:embed="rId11"/>
                <a:stretch>
                  <a:fillRect l="-3333" t="-125000" r="-81333" b="-190789"/>
                </a:stretch>
              </a:blipFill>
            </p:spPr>
            <p:txBody>
              <a:bodyPr/>
              <a:lstStyle/>
              <a:p>
                <a:r>
                  <a:rPr lang="en-IN">
                    <a:noFill/>
                  </a:rPr>
                  <a:t> </a:t>
                </a:r>
              </a:p>
            </p:txBody>
          </p:sp>
        </mc:Fallback>
      </mc:AlternateContent>
      <p:cxnSp>
        <p:nvCxnSpPr>
          <p:cNvPr id="52" name="Straight Connector 51"/>
          <p:cNvCxnSpPr/>
          <p:nvPr/>
        </p:nvCxnSpPr>
        <p:spPr>
          <a:xfrm>
            <a:off x="9753600" y="5276290"/>
            <a:ext cx="0" cy="591111"/>
          </a:xfrm>
          <a:prstGeom prst="line">
            <a:avLst/>
          </a:prstGeom>
          <a:ln w="381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52"/>
              <p:cNvSpPr/>
              <p:nvPr/>
            </p:nvSpPr>
            <p:spPr>
              <a:xfrm>
                <a:off x="9296400" y="5943601"/>
                <a:ext cx="9114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𝑂</m:t>
                      </m:r>
                      <m:d>
                        <m:dPr>
                          <m:ctrlPr>
                            <a:rPr lang="en-US" sz="2400" i="1">
                              <a:latin typeface="Cambria Math" panose="02040503050406030204" pitchFamily="18" charset="0"/>
                              <a:ea typeface="Cambria Math" panose="02040503050406030204" pitchFamily="18" charset="0"/>
                            </a:rPr>
                          </m:ctrlPr>
                        </m:dPr>
                        <m:e>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𝑛</m:t>
                              </m:r>
                            </m:e>
                            <m:sup>
                              <m:r>
                                <a:rPr lang="en-US" sz="2400" i="1">
                                  <a:latin typeface="Cambria Math" panose="02040503050406030204" pitchFamily="18" charset="0"/>
                                  <a:ea typeface="Cambria Math" panose="02040503050406030204" pitchFamily="18" charset="0"/>
                                </a:rPr>
                                <m:t>2</m:t>
                              </m:r>
                            </m:sup>
                          </m:sSup>
                        </m:e>
                      </m:d>
                    </m:oMath>
                  </m:oMathPara>
                </a14:m>
                <a:endParaRPr lang="en-US" sz="2400" dirty="0">
                  <a:latin typeface="+mj-lt"/>
                </a:endParaRPr>
              </a:p>
            </p:txBody>
          </p:sp>
        </mc:Choice>
        <mc:Fallback xmlns="">
          <p:sp>
            <p:nvSpPr>
              <p:cNvPr id="53" name="Rectangle 52"/>
              <p:cNvSpPr>
                <a:spLocks noRot="1" noChangeAspect="1" noMove="1" noResize="1" noEditPoints="1" noAdjustHandles="1" noChangeArrowheads="1" noChangeShapeType="1" noTextEdit="1"/>
              </p:cNvSpPr>
              <p:nvPr/>
            </p:nvSpPr>
            <p:spPr>
              <a:xfrm>
                <a:off x="9296400" y="5943601"/>
                <a:ext cx="911476" cy="461665"/>
              </a:xfrm>
              <a:prstGeom prst="rect">
                <a:avLst/>
              </a:prstGeom>
              <a:blipFill>
                <a:blip r:embed="rId12"/>
                <a:stretch>
                  <a:fillRect l="-1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Rectangle 32"/>
              <p:cNvSpPr/>
              <p:nvPr/>
            </p:nvSpPr>
            <p:spPr>
              <a:xfrm>
                <a:off x="9448800" y="3352801"/>
                <a:ext cx="91147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en-US" sz="2400" i="1" dirty="0" smtClean="0">
                              <a:latin typeface="Cambria Math" panose="02040503050406030204" pitchFamily="18" charset="0"/>
                              <a:cs typeface="Times New Roman" panose="02020603050405020304" pitchFamily="18" charset="0"/>
                            </a:rPr>
                          </m:ctrlPr>
                        </m:sSupPr>
                        <m:e>
                          <m:r>
                            <a:rPr lang="en-IN" altLang="en-US" sz="2400" b="0" i="1" dirty="0" smtClean="0">
                              <a:latin typeface="Cambria Math" panose="02040503050406030204" pitchFamily="18" charset="0"/>
                              <a:cs typeface="Times New Roman" panose="02020603050405020304" pitchFamily="18" charset="0"/>
                            </a:rPr>
                            <m:t>𝑐</m:t>
                          </m:r>
                          <m:r>
                            <a:rPr lang="en-IN" altLang="en-US" sz="2400" b="0" i="1" dirty="0" smtClean="0">
                              <a:latin typeface="Cambria Math" panose="02040503050406030204" pitchFamily="18" charset="0"/>
                              <a:cs typeface="Times New Roman" panose="02020603050405020304" pitchFamily="18" charset="0"/>
                            </a:rPr>
                            <m:t>.</m:t>
                          </m:r>
                          <m:r>
                            <a:rPr lang="en-US" altLang="en-US" sz="2400" i="1" dirty="0">
                              <a:latin typeface="Cambria Math" panose="02040503050406030204" pitchFamily="18" charset="0"/>
                              <a:cs typeface="Times New Roman" panose="02020603050405020304" pitchFamily="18" charset="0"/>
                            </a:rPr>
                            <m:t>𝑛</m:t>
                          </m:r>
                        </m:e>
                        <m:sup>
                          <m:r>
                            <a:rPr lang="en-US" altLang="en-US" sz="2400" i="1" dirty="0">
                              <a:latin typeface="Cambria Math" panose="02040503050406030204" pitchFamily="18" charset="0"/>
                              <a:cs typeface="Times New Roman" panose="02020603050405020304" pitchFamily="18" charset="0"/>
                            </a:rPr>
                            <m:t>2</m:t>
                          </m:r>
                        </m:sup>
                      </m:sSup>
                    </m:oMath>
                  </m:oMathPara>
                </a14:m>
                <a:endParaRPr lang="en-US" sz="2400" dirty="0"/>
              </a:p>
            </p:txBody>
          </p:sp>
        </mc:Choice>
        <mc:Fallback xmlns="">
          <p:sp>
            <p:nvSpPr>
              <p:cNvPr id="33" name="Rectangle 32"/>
              <p:cNvSpPr>
                <a:spLocks noRot="1" noChangeAspect="1" noMove="1" noResize="1" noEditPoints="1" noAdjustHandles="1" noChangeArrowheads="1" noChangeShapeType="1" noTextEdit="1"/>
              </p:cNvSpPr>
              <p:nvPr/>
            </p:nvSpPr>
            <p:spPr>
              <a:xfrm>
                <a:off x="9448800" y="3352801"/>
                <a:ext cx="911476" cy="461665"/>
              </a:xfrm>
              <a:prstGeom prst="rect">
                <a:avLst/>
              </a:prstGeom>
              <a:blipFill>
                <a:blip r:embed="rId1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020260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up)">
                                      <p:cBhvr>
                                        <p:cTn id="12" dur="500"/>
                                        <p:tgtEl>
                                          <p:spTgt spid="9"/>
                                        </p:tgtEl>
                                      </p:cBhvr>
                                    </p:animEffect>
                                  </p:childTnLst>
                                </p:cTn>
                              </p:par>
                              <p:par>
                                <p:cTn id="13" presetID="22" presetClass="entr" presetSubtype="1"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up)">
                                      <p:cBhvr>
                                        <p:cTn id="15" dur="500"/>
                                        <p:tgtEl>
                                          <p:spTgt spid="1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up)">
                                      <p:cBhvr>
                                        <p:cTn id="28" dur="500"/>
                                        <p:tgtEl>
                                          <p:spTgt spid="13"/>
                                        </p:tgtEl>
                                      </p:cBhvr>
                                    </p:animEffect>
                                  </p:childTnLst>
                                </p:cTn>
                              </p:par>
                              <p:par>
                                <p:cTn id="29" presetID="22" presetClass="entr" presetSubtype="1"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up)">
                                      <p:cBhvr>
                                        <p:cTn id="31" dur="500"/>
                                        <p:tgtEl>
                                          <p:spTgt spid="14"/>
                                        </p:tgtEl>
                                      </p:cBhvr>
                                    </p:animEffect>
                                  </p:childTnLst>
                                </p:cTn>
                              </p:par>
                              <p:par>
                                <p:cTn id="32" presetID="22" presetClass="entr" presetSubtype="1" fill="hold"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wipe(up)">
                                      <p:cBhvr>
                                        <p:cTn id="34" dur="500"/>
                                        <p:tgtEl>
                                          <p:spTgt spid="17"/>
                                        </p:tgtEl>
                                      </p:cBhvr>
                                    </p:animEffect>
                                  </p:childTnLst>
                                </p:cTn>
                              </p:par>
                              <p:par>
                                <p:cTn id="35" presetID="22" presetClass="entr" presetSubtype="1"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up)">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500"/>
                                        <p:tgtEl>
                                          <p:spTgt spid="1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up)">
                                      <p:cBhvr>
                                        <p:cTn id="56" dur="500"/>
                                        <p:tgtEl>
                                          <p:spTgt spid="21"/>
                                        </p:tgtEl>
                                      </p:cBhvr>
                                    </p:animEffect>
                                  </p:childTnLst>
                                </p:cTn>
                              </p:par>
                              <p:par>
                                <p:cTn id="57" presetID="22" presetClass="entr" presetSubtype="1" fill="hold"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wipe(up)">
                                      <p:cBhvr>
                                        <p:cTn id="59" dur="500"/>
                                        <p:tgtEl>
                                          <p:spTgt spid="22"/>
                                        </p:tgtEl>
                                      </p:cBhvr>
                                    </p:animEffect>
                                  </p:childTnLst>
                                </p:cTn>
                              </p:par>
                              <p:par>
                                <p:cTn id="60" presetID="22" presetClass="entr" presetSubtype="1" fill="hold"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wipe(up)">
                                      <p:cBhvr>
                                        <p:cTn id="62" dur="500"/>
                                        <p:tgtEl>
                                          <p:spTgt spid="23"/>
                                        </p:tgtEl>
                                      </p:cBhvr>
                                    </p:animEffect>
                                  </p:childTnLst>
                                </p:cTn>
                              </p:par>
                              <p:par>
                                <p:cTn id="63" presetID="22" presetClass="entr" presetSubtype="1" fill="hold" nodeType="withEffect">
                                  <p:stCondLst>
                                    <p:cond delay="0"/>
                                  </p:stCondLst>
                                  <p:childTnLst>
                                    <p:set>
                                      <p:cBhvr>
                                        <p:cTn id="64" dur="1" fill="hold">
                                          <p:stCondLst>
                                            <p:cond delay="0"/>
                                          </p:stCondLst>
                                        </p:cTn>
                                        <p:tgtEl>
                                          <p:spTgt spid="25"/>
                                        </p:tgtEl>
                                        <p:attrNameLst>
                                          <p:attrName>style.visibility</p:attrName>
                                        </p:attrNameLst>
                                      </p:cBhvr>
                                      <p:to>
                                        <p:strVal val="visible"/>
                                      </p:to>
                                    </p:set>
                                    <p:animEffect transition="in" filter="wipe(up)">
                                      <p:cBhvr>
                                        <p:cTn id="65" dur="500"/>
                                        <p:tgtEl>
                                          <p:spTgt spid="25"/>
                                        </p:tgtEl>
                                      </p:cBhvr>
                                    </p:animEffect>
                                  </p:childTnLst>
                                </p:cTn>
                              </p:par>
                              <p:par>
                                <p:cTn id="66" presetID="22" presetClass="entr" presetSubtype="1" fill="hold" nodeType="with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up)">
                                      <p:cBhvr>
                                        <p:cTn id="68" dur="500"/>
                                        <p:tgtEl>
                                          <p:spTgt spid="24"/>
                                        </p:tgtEl>
                                      </p:cBhvr>
                                    </p:animEffect>
                                  </p:childTnLst>
                                </p:cTn>
                              </p:par>
                              <p:par>
                                <p:cTn id="69" presetID="22" presetClass="entr" presetSubtype="1"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up)">
                                      <p:cBhvr>
                                        <p:cTn id="71" dur="500"/>
                                        <p:tgtEl>
                                          <p:spTgt spid="26"/>
                                        </p:tgtEl>
                                      </p:cBhvr>
                                    </p:animEffect>
                                  </p:childTnLst>
                                </p:cTn>
                              </p:par>
                              <p:par>
                                <p:cTn id="72" presetID="22" presetClass="entr" presetSubtype="1" fill="hold"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wipe(up)">
                                      <p:cBhvr>
                                        <p:cTn id="74" dur="500"/>
                                        <p:tgtEl>
                                          <p:spTgt spid="27"/>
                                        </p:tgtEl>
                                      </p:cBhvr>
                                    </p:animEffect>
                                  </p:childTnLst>
                                </p:cTn>
                              </p:par>
                              <p:par>
                                <p:cTn id="75" presetID="22" presetClass="entr" presetSubtype="1" fill="hold"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wipe(up)">
                                      <p:cBhvr>
                                        <p:cTn id="77" dur="500"/>
                                        <p:tgtEl>
                                          <p:spTgt spid="28"/>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left)">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500"/>
                                        <p:tgtEl>
                                          <p:spTgt spid="20"/>
                                        </p:tgtEl>
                                      </p:cBhvr>
                                    </p:animEffect>
                                  </p:childTnLst>
                                </p:cTn>
                              </p:par>
                            </p:childTnLst>
                          </p:cTn>
                        </p:par>
                        <p:par>
                          <p:cTn id="88" fill="hold">
                            <p:stCondLst>
                              <p:cond delay="500"/>
                            </p:stCondLst>
                            <p:childTnLst>
                              <p:par>
                                <p:cTn id="89" presetID="10" presetClass="entr" presetSubtype="0" fill="hold" grpId="0" nodeType="after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500"/>
                                        <p:tgtEl>
                                          <p:spTgt spid="38"/>
                                        </p:tgtEl>
                                      </p:cBhvr>
                                    </p:animEffect>
                                  </p:childTnLst>
                                </p:cTn>
                              </p:par>
                            </p:childTnLst>
                          </p:cTn>
                        </p:par>
                        <p:par>
                          <p:cTn id="92" fill="hold">
                            <p:stCondLst>
                              <p:cond delay="1000"/>
                            </p:stCondLst>
                            <p:childTnLst>
                              <p:par>
                                <p:cTn id="93" presetID="22" presetClass="entr" presetSubtype="1" fill="hold" nodeType="after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wipe(up)">
                                      <p:cBhvr>
                                        <p:cTn id="95" dur="500"/>
                                        <p:tgtEl>
                                          <p:spTgt spid="52"/>
                                        </p:tgtEl>
                                      </p:cBhvr>
                                    </p:animEffect>
                                  </p:childTnLst>
                                </p:cTn>
                              </p:par>
                            </p:childTnLst>
                          </p:cTn>
                        </p:par>
                        <p:par>
                          <p:cTn id="96" fill="hold">
                            <p:stCondLst>
                              <p:cond delay="1500"/>
                            </p:stCondLst>
                            <p:childTnLst>
                              <p:par>
                                <p:cTn id="97" presetID="10" presetClass="entr" presetSubtype="0" fill="hold" grpId="0" nodeType="afterEffect">
                                  <p:stCondLst>
                                    <p:cond delay="0"/>
                                  </p:stCondLst>
                                  <p:childTnLst>
                                    <p:set>
                                      <p:cBhvr>
                                        <p:cTn id="98" dur="1" fill="hold">
                                          <p:stCondLst>
                                            <p:cond delay="0"/>
                                          </p:stCondLst>
                                        </p:cTn>
                                        <p:tgtEl>
                                          <p:spTgt spid="53"/>
                                        </p:tgtEl>
                                        <p:attrNameLst>
                                          <p:attrName>style.visibility</p:attrName>
                                        </p:attrNameLst>
                                      </p:cBhvr>
                                      <p:to>
                                        <p:strVal val="visible"/>
                                      </p:to>
                                    </p:set>
                                    <p:animEffect transition="in" filter="fade">
                                      <p:cBhvr>
                                        <p:cTn id="99" dur="500"/>
                                        <p:tgtEl>
                                          <p:spTgt spid="53"/>
                                        </p:tgtEl>
                                      </p:cBhvr>
                                    </p:animEffect>
                                  </p:childTnLst>
                                </p:cTn>
                              </p:par>
                            </p:childTnLst>
                          </p:cTn>
                        </p:par>
                        <p:par>
                          <p:cTn id="100" fill="hold">
                            <p:stCondLst>
                              <p:cond delay="2000"/>
                            </p:stCondLst>
                            <p:childTnLst>
                              <p:par>
                                <p:cTn id="101" presetID="10" presetClass="entr" presetSubtype="0" fill="hold" grpId="0" nodeType="after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1" grpId="0" animBg="1"/>
      <p:bldP spid="12" grpId="0" animBg="1"/>
      <p:bldP spid="15" grpId="0" animBg="1"/>
      <p:bldP spid="16" grpId="0" animBg="1"/>
      <p:bldP spid="38" grpId="0"/>
      <p:bldP spid="53" grpId="0"/>
      <p:bldP spid="3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85000" lnSpcReduction="10000"/>
              </a:bodyPr>
              <a:lstStyle/>
              <a:p>
                <a:r>
                  <a:rPr lang="en-US" dirty="0"/>
                  <a:t>Sub-problem size at level</a:t>
                </a:r>
                <a14:m>
                  <m:oMath xmlns:m="http://schemas.openxmlformats.org/officeDocument/2006/math">
                    <m:r>
                      <a:rPr lang="en-US" i="1" dirty="0" smtClean="0">
                        <a:latin typeface="Cambria Math" panose="02040503050406030204" pitchFamily="18" charset="0"/>
                      </a:rPr>
                      <m:t> </m:t>
                    </m:r>
                    <m:r>
                      <a:rPr lang="en-US" i="1" dirty="0" err="1" smtClean="0">
                        <a:latin typeface="Cambria Math" panose="02040503050406030204" pitchFamily="18" charset="0"/>
                      </a:rPr>
                      <m:t>𝑖</m:t>
                    </m:r>
                    <m:r>
                      <a:rPr lang="en-US" i="1" dirty="0" smtClean="0">
                        <a:latin typeface="Cambria Math" panose="02040503050406030204" pitchFamily="18" charset="0"/>
                      </a:rPr>
                      <m:t> </m:t>
                    </m:r>
                  </m:oMath>
                </a14:m>
                <a:r>
                  <a:rPr lang="en-US" dirty="0"/>
                  <a:t>is </a:t>
                </a:r>
                <a14:m>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sup>
                        </m:sSup>
                      </m:den>
                    </m:f>
                  </m:oMath>
                </a14:m>
                <a:endParaRPr lang="en-US" dirty="0"/>
              </a:p>
              <a:p>
                <a:r>
                  <a:rPr lang="en-US" dirty="0"/>
                  <a:t>Cost of problem at level </a:t>
                </a:r>
                <a14:m>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 </m:t>
                    </m:r>
                  </m:oMath>
                </a14:m>
                <a:r>
                  <a:rPr lang="en-US" dirty="0"/>
                  <a:t>Is </a:t>
                </a:r>
                <a14:m>
                  <m:oMath xmlns:m="http://schemas.openxmlformats.org/officeDocument/2006/math">
                    <m:sSup>
                      <m:sSupPr>
                        <m:ctrlPr>
                          <a:rPr lang="en-US" i="1" smtClean="0">
                            <a:latin typeface="Cambria Math" panose="02040503050406030204" pitchFamily="18" charset="0"/>
                          </a:rPr>
                        </m:ctrlPr>
                      </m:sSupPr>
                      <m:e>
                        <m:d>
                          <m:dPr>
                            <m:ctrlPr>
                              <a:rPr lang="en-US" i="1" smtClean="0">
                                <a:latin typeface="Cambria Math" panose="02040503050406030204" pitchFamily="18" charset="0"/>
                              </a:rPr>
                            </m:ctrlPr>
                          </m:dPr>
                          <m:e>
                            <m:f>
                              <m:fPr>
                                <m:type m:val="skw"/>
                                <m:ctrlPr>
                                  <a:rPr lang="en-US"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sup>
                                </m:sSup>
                              </m:den>
                            </m:f>
                          </m:e>
                        </m:d>
                      </m:e>
                      <m:sup>
                        <m:r>
                          <a:rPr lang="en-US" b="0" i="1" smtClean="0">
                            <a:latin typeface="Cambria Math" panose="02040503050406030204" pitchFamily="18" charset="0"/>
                          </a:rPr>
                          <m:t>2</m:t>
                        </m:r>
                      </m:sup>
                    </m:sSup>
                  </m:oMath>
                </a14:m>
                <a:endParaRPr lang="en-US" dirty="0"/>
              </a:p>
              <a:p>
                <a:r>
                  <a:rPr lang="en-US" dirty="0"/>
                  <a:t>Total cost,</a:t>
                </a:r>
              </a:p>
              <a:p>
                <a:pPr marL="0" indent="0">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fName>
                            <m:e>
                              <m:r>
                                <a:rPr lang="en-US" b="0" i="1" smtClean="0">
                                  <a:latin typeface="Cambria Math" panose="02040503050406030204" pitchFamily="18" charset="0"/>
                                </a:rPr>
                                <m:t>𝑛</m:t>
                              </m:r>
                              <m:r>
                                <a:rPr lang="en-US" b="0" i="1" smtClean="0">
                                  <a:latin typeface="Cambria Math" panose="02040503050406030204" pitchFamily="18" charset="0"/>
                                </a:rPr>
                                <m:t>−1</m:t>
                              </m:r>
                            </m:e>
                          </m:func>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e>
                              </m:d>
                            </m:e>
                            <m:sup>
                              <m:r>
                                <a:rPr lang="en-US" b="0" i="1" smtClean="0">
                                  <a:latin typeface="Cambria Math" panose="02040503050406030204" pitchFamily="18" charset="0"/>
                                </a:rPr>
                                <m:t>𝑖</m:t>
                              </m:r>
                            </m:sup>
                          </m:sSup>
                        </m:e>
                      </m:nary>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m:oMathPara>
                </a14:m>
                <a:endParaRPr lang="en-US" b="0" dirty="0"/>
              </a:p>
              <a:p>
                <a:pPr marL="0" indent="0">
                  <a:buNone/>
                </a:pPr>
                <a:endParaRPr lang="en-US" dirty="0"/>
              </a:p>
              <a:p>
                <a:pPr marL="0" indent="0">
                  <a:buNone/>
                </a:pPr>
                <a14:m>
                  <m:oMathPara xmlns:m="http://schemas.openxmlformats.org/officeDocument/2006/math">
                    <m:oMathParaPr>
                      <m:jc m:val="center"/>
                    </m:oMathParaPr>
                    <m:oMath xmlns:m="http://schemas.openxmlformats.org/officeDocument/2006/math">
                      <m:d>
                        <m:dPr>
                          <m:begChr m:val="{"/>
                          <m:endChr m:val="}"/>
                          <m:ctrlPr>
                            <a:rPr lang="en-US" i="1" dirty="0" smtClean="0">
                              <a:latin typeface="Cambria Math" panose="02040503050406030204" pitchFamily="18" charset="0"/>
                            </a:rPr>
                          </m:ctrlPr>
                        </m:dPr>
                        <m:e>
                          <m:r>
                            <m:rPr>
                              <m:nor/>
                            </m:rPr>
                            <a:rPr lang="en-IN" b="0" i="0" dirty="0" smtClean="0">
                              <a:latin typeface="Cambria Math" panose="02040503050406030204" pitchFamily="18" charset="0"/>
                            </a:rPr>
                            <m:t>n</m:t>
                          </m:r>
                          <m:r>
                            <m:rPr>
                              <m:nor/>
                            </m:rPr>
                            <a:rPr lang="en-IN" b="0" i="0" baseline="30000" dirty="0" smtClean="0">
                              <a:latin typeface="Cambria Math" panose="02040503050406030204" pitchFamily="18" charset="0"/>
                            </a:rPr>
                            <m:t>2</m:t>
                          </m:r>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e>
                                <m:sup>
                                  <m:r>
                                    <a:rPr lang="en-IN" i="1">
                                      <a:latin typeface="Cambria Math" panose="02040503050406030204" pitchFamily="18" charset="0"/>
                                    </a:rPr>
                                    <m:t>0</m:t>
                                  </m:r>
                                </m:sup>
                              </m:sSup>
                              <m:sSup>
                                <m:sSupPr>
                                  <m:ctrlPr>
                                    <a:rPr lang="en-US" i="1">
                                      <a:latin typeface="Cambria Math" panose="02040503050406030204" pitchFamily="18" charset="0"/>
                                    </a:rPr>
                                  </m:ctrlPr>
                                </m:sSupPr>
                                <m:e>
                                  <m:r>
                                    <a:rPr lang="en-IN" i="1">
                                      <a:latin typeface="Cambria Math" panose="02040503050406030204" pitchFamily="18" charset="0"/>
                                    </a:rPr>
                                    <m:t>+</m:t>
                                  </m:r>
                                  <m:f>
                                    <m:fPr>
                                      <m:ctrlPr>
                                        <a:rPr lang="en-US"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e>
                                <m:sup>
                                  <m:r>
                                    <a:rPr lang="en-IN" i="1">
                                      <a:latin typeface="Cambria Math" panose="02040503050406030204" pitchFamily="18" charset="0"/>
                                    </a:rPr>
                                    <m:t>1</m:t>
                                  </m:r>
                                </m:sup>
                              </m:sSup>
                              <m:r>
                                <a:rPr lang="en-IN" i="1">
                                  <a:latin typeface="Cambria Math" panose="02040503050406030204" pitchFamily="18" charset="0"/>
                                </a:rPr>
                                <m:t>+</m:t>
                              </m:r>
                              <m:r>
                                <m:rPr>
                                  <m:nor/>
                                </m:rPr>
                                <a:rPr lang="en-US" dirty="0"/>
                                <m:t> </m:t>
                              </m:r>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e>
                                <m:sup>
                                  <m:r>
                                    <a:rPr lang="en-IN" i="1">
                                      <a:latin typeface="Cambria Math" panose="02040503050406030204" pitchFamily="18" charset="0"/>
                                    </a:rPr>
                                    <m:t>2</m:t>
                                  </m:r>
                                </m:sup>
                              </m:sSup>
                              <m:r>
                                <a:rPr lang="en-IN" i="1">
                                  <a:latin typeface="Cambria Math" panose="02040503050406030204" pitchFamily="18" charset="0"/>
                                </a:rPr>
                                <m:t>+</m:t>
                              </m:r>
                              <m:r>
                                <m:rPr>
                                  <m:nor/>
                                </m:rPr>
                                <a:rPr lang="en-US" dirty="0"/>
                                <m:t> </m:t>
                              </m:r>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e>
                                <m:sup>
                                  <m:r>
                                    <a:rPr lang="en-IN" i="1">
                                      <a:latin typeface="Cambria Math" panose="02040503050406030204" pitchFamily="18" charset="0"/>
                                    </a:rPr>
                                    <m:t>3</m:t>
                                  </m:r>
                                </m:sup>
                              </m:sSup>
                              <m:r>
                                <a:rPr lang="en-IN" i="1">
                                  <a:latin typeface="Cambria Math" panose="02040503050406030204" pitchFamily="18" charset="0"/>
                                </a:rPr>
                                <m:t>……..</m:t>
                              </m:r>
                              <m:r>
                                <m:rPr>
                                  <m:nor/>
                                </m:rPr>
                                <a:rPr lang="en-US" dirty="0"/>
                                <m:t> </m:t>
                              </m:r>
                              <m:sSup>
                                <m:sSupPr>
                                  <m:ctrlPr>
                                    <a:rPr lang="en-US" i="1">
                                      <a:latin typeface="Cambria Math" panose="02040503050406030204" pitchFamily="18" charset="0"/>
                                    </a:rPr>
                                  </m:ctrlPr>
                                </m:sSupPr>
                                <m:e>
                                  <m:f>
                                    <m:fPr>
                                      <m:ctrlPr>
                                        <a:rPr lang="en-US"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2</m:t>
                                      </m:r>
                                    </m:den>
                                  </m:f>
                                </m:e>
                                <m:sup>
                                  <m:r>
                                    <a:rPr lang="en-IN" i="1">
                                      <a:latin typeface="Cambria Math" panose="02040503050406030204" pitchFamily="18" charset="0"/>
                                    </a:rPr>
                                    <m:t>𝑛</m:t>
                                  </m:r>
                                  <m:r>
                                    <a:rPr lang="en-IN" i="1">
                                      <a:latin typeface="Cambria Math" panose="02040503050406030204" pitchFamily="18" charset="0"/>
                                    </a:rPr>
                                    <m:t>−1</m:t>
                                  </m:r>
                                </m:sup>
                              </m:sSup>
                            </m:e>
                          </m:d>
                          <m:r>
                            <a:rPr lang="en-IN" b="0" i="1" smtClean="0">
                              <a:latin typeface="Cambria Math" panose="02040503050406030204" pitchFamily="18" charset="0"/>
                            </a:rPr>
                            <m:t>⇒</m:t>
                          </m:r>
                          <m:r>
                            <a:rPr lang="en-IN" i="1" dirty="0">
                              <a:latin typeface="Cambria Math" panose="02040503050406030204" pitchFamily="18" charset="0"/>
                            </a:rPr>
                            <m:t>𝑛</m:t>
                          </m:r>
                          <m:r>
                            <a:rPr lang="en-IN" i="1" baseline="30000" dirty="0">
                              <a:latin typeface="Cambria Math" panose="02040503050406030204" pitchFamily="18" charset="0"/>
                            </a:rPr>
                            <m:t>2</m:t>
                          </m:r>
                          <m:d>
                            <m:dPr>
                              <m:begChr m:val="["/>
                              <m:endChr m:val="]"/>
                              <m:ctrlPr>
                                <a:rPr lang="en-IN" i="1" dirty="0">
                                  <a:latin typeface="Cambria Math" panose="02040503050406030204" pitchFamily="18" charset="0"/>
                                </a:rPr>
                              </m:ctrlPr>
                            </m:dPr>
                            <m:e>
                              <m:f>
                                <m:fPr>
                                  <m:ctrlPr>
                                    <a:rPr lang="en-IN" i="1" dirty="0">
                                      <a:latin typeface="Cambria Math" panose="02040503050406030204" pitchFamily="18" charset="0"/>
                                    </a:rPr>
                                  </m:ctrlPr>
                                </m:fPr>
                                <m:num>
                                  <m:r>
                                    <a:rPr lang="en-IN" i="1" dirty="0">
                                      <a:latin typeface="Cambria Math" panose="02040503050406030204" pitchFamily="18" charset="0"/>
                                    </a:rPr>
                                    <m:t>1</m:t>
                                  </m:r>
                                </m:num>
                                <m:den>
                                  <m:r>
                                    <a:rPr lang="en-IN" i="1" dirty="0">
                                      <a:latin typeface="Cambria Math" panose="02040503050406030204" pitchFamily="18" charset="0"/>
                                    </a:rPr>
                                    <m:t>1−</m:t>
                                  </m:r>
                                  <m:f>
                                    <m:fPr>
                                      <m:ctrlPr>
                                        <a:rPr lang="en-IN" i="1" dirty="0">
                                          <a:latin typeface="Cambria Math" panose="02040503050406030204" pitchFamily="18" charset="0"/>
                                        </a:rPr>
                                      </m:ctrlPr>
                                    </m:fPr>
                                    <m:num>
                                      <m:r>
                                        <a:rPr lang="en-IN" i="1" dirty="0">
                                          <a:latin typeface="Cambria Math" panose="02040503050406030204" pitchFamily="18" charset="0"/>
                                        </a:rPr>
                                        <m:t>1</m:t>
                                      </m:r>
                                    </m:num>
                                    <m:den>
                                      <m:r>
                                        <a:rPr lang="en-IN" i="1" dirty="0">
                                          <a:latin typeface="Cambria Math" panose="02040503050406030204" pitchFamily="18" charset="0"/>
                                        </a:rPr>
                                        <m:t>2</m:t>
                                      </m:r>
                                    </m:den>
                                  </m:f>
                                </m:den>
                              </m:f>
                            </m:e>
                          </m:d>
                          <m:r>
                            <a:rPr lang="en-IN" b="0" i="1" dirty="0" smtClean="0">
                              <a:latin typeface="Cambria Math" panose="02040503050406030204" pitchFamily="18" charset="0"/>
                            </a:rPr>
                            <m:t>….</m:t>
                          </m:r>
                          <m:r>
                            <a:rPr lang="en-IN" b="0" i="1" dirty="0" smtClean="0">
                              <a:latin typeface="Cambria Math" panose="02040503050406030204" pitchFamily="18" charset="0"/>
                            </a:rPr>
                            <m:t>𝑎𝑐𝑐𝑜𝑟𝑑𝑖𝑛𝑔</m:t>
                          </m:r>
                          <m:r>
                            <a:rPr lang="en-IN" b="0" i="1" dirty="0" smtClean="0">
                              <a:latin typeface="Cambria Math" panose="02040503050406030204" pitchFamily="18" charset="0"/>
                            </a:rPr>
                            <m:t> </m:t>
                          </m:r>
                          <m:r>
                            <a:rPr lang="en-IN" b="0" i="1" dirty="0" smtClean="0">
                              <a:latin typeface="Cambria Math" panose="02040503050406030204" pitchFamily="18" charset="0"/>
                            </a:rPr>
                            <m:t>𝑡𝑜</m:t>
                          </m:r>
                          <m:r>
                            <a:rPr lang="en-IN" b="0" i="1" dirty="0" smtClean="0">
                              <a:latin typeface="Cambria Math" panose="02040503050406030204" pitchFamily="18" charset="0"/>
                            </a:rPr>
                            <m:t> </m:t>
                          </m:r>
                          <m:r>
                            <a:rPr lang="en-IN" b="0" i="1" dirty="0" smtClean="0">
                              <a:latin typeface="Cambria Math" panose="02040503050406030204" pitchFamily="18" charset="0"/>
                            </a:rPr>
                            <m:t>𝑡h𝑒</m:t>
                          </m:r>
                          <m:r>
                            <a:rPr lang="en-IN" b="0" i="1" dirty="0" smtClean="0">
                              <a:latin typeface="Cambria Math" panose="02040503050406030204" pitchFamily="18" charset="0"/>
                            </a:rPr>
                            <m:t> </m:t>
                          </m:r>
                          <m:r>
                            <a:rPr lang="en-IN" b="0" i="1" dirty="0" smtClean="0">
                              <a:latin typeface="Cambria Math" panose="02040503050406030204" pitchFamily="18" charset="0"/>
                            </a:rPr>
                            <m:t>𝑓𝑜𝑟𝑚𝑢𝑙𝑎</m:t>
                          </m:r>
                        </m:e>
                      </m:d>
                    </m:oMath>
                  </m:oMathPara>
                </a14:m>
                <a:endParaRPr lang="en-US" b="0" dirty="0"/>
              </a:p>
              <a:p>
                <a:pPr marL="0" indent="0">
                  <a:buNone/>
                </a:pPr>
                <a:endParaRPr lang="en-US" b="0" dirty="0"/>
              </a:p>
              <a:p>
                <a:pPr marL="0" indent="0" algn="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m:oMathPara>
                </a14:m>
                <a:endParaRPr lang="en-US" b="0" dirty="0"/>
              </a:p>
              <a:p>
                <a:pPr marL="0" indent="0" algn="r">
                  <a:buNone/>
                </a:pPr>
                <a:endParaRPr lang="en-US" b="0" i="1" dirty="0">
                  <a:latin typeface="Cambria Math" panose="02040503050406030204" pitchFamily="18" charset="0"/>
                </a:endParaRPr>
              </a:p>
              <a:p>
                <a:pPr marL="0" indent="0" algn="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m:oMathPara>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0" t="-7886"/>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54</a:t>
            </a:fld>
            <a:endParaRPr lang="en-US" dirty="0"/>
          </a:p>
        </p:txBody>
      </p:sp>
      <p:sp>
        <p:nvSpPr>
          <p:cNvPr id="5" name="Rounded Rectangle 4"/>
          <p:cNvSpPr/>
          <p:nvPr/>
        </p:nvSpPr>
        <p:spPr>
          <a:xfrm>
            <a:off x="4978400" y="5791200"/>
            <a:ext cx="2108200" cy="457200"/>
          </a:xfrm>
          <a:prstGeom prst="roundRect">
            <a:avLst/>
          </a:prstGeom>
          <a:solidFill>
            <a:srgbClr val="FF0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597A678-EEF0-4484-81BC-23183BFF143D}"/>
              </a:ext>
            </a:extLst>
          </p:cNvPr>
          <p:cNvSpPr/>
          <p:nvPr/>
        </p:nvSpPr>
        <p:spPr>
          <a:xfrm>
            <a:off x="5257800" y="2209800"/>
            <a:ext cx="1752600" cy="12192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Connector: Curved 7">
            <a:extLst>
              <a:ext uri="{FF2B5EF4-FFF2-40B4-BE49-F238E27FC236}">
                <a16:creationId xmlns:a16="http://schemas.microsoft.com/office/drawing/2014/main" id="{E3B4D8E2-0C20-4A0A-8CBD-C8725070AFB8}"/>
              </a:ext>
            </a:extLst>
          </p:cNvPr>
          <p:cNvCxnSpPr>
            <a:cxnSpLocks/>
          </p:cNvCxnSpPr>
          <p:nvPr/>
        </p:nvCxnSpPr>
        <p:spPr>
          <a:xfrm rot="10800000" flipV="1">
            <a:off x="1905000" y="3429000"/>
            <a:ext cx="4191000" cy="457200"/>
          </a:xfrm>
          <a:prstGeom prst="curvedConnector3">
            <a:avLst>
              <a:gd name="adj1" fmla="val 100658"/>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664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Tree Method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Example 3: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 </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/4)+</m:t>
                    </m:r>
                    <m:r>
                      <a:rPr lang="en-US" i="1" dirty="0" smtClean="0">
                        <a:latin typeface="Cambria Math" panose="02040503050406030204" pitchFamily="18" charset="0"/>
                      </a:rPr>
                      <m:t>𝑇</m:t>
                    </m:r>
                    <m:r>
                      <a:rPr lang="en-US" i="1" dirty="0" smtClean="0">
                        <a:latin typeface="Cambria Math" panose="02040503050406030204" pitchFamily="18" charset="0"/>
                      </a:rPr>
                      <m:t>(3</m:t>
                    </m:r>
                    <m:r>
                      <a:rPr lang="en-US" i="1" dirty="0" smtClean="0">
                        <a:latin typeface="Cambria Math" panose="02040503050406030204" pitchFamily="18" charset="0"/>
                      </a:rPr>
                      <m:t>𝑛</m:t>
                    </m:r>
                    <m:r>
                      <a:rPr lang="en-US" i="1" dirty="0" smtClean="0">
                        <a:latin typeface="Cambria Math" panose="02040503050406030204" pitchFamily="18" charset="0"/>
                      </a:rPr>
                      <m:t>/4)+</m:t>
                    </m:r>
                    <m:r>
                      <a:rPr lang="en-US" i="1" dirty="0" err="1" smtClean="0">
                        <a:latin typeface="Cambria Math" panose="02040503050406030204" pitchFamily="18" charset="0"/>
                      </a:rPr>
                      <m:t>𝑐</m:t>
                    </m:r>
                    <m:r>
                      <a:rPr lang="en-US" i="1" dirty="0" err="1" smtClean="0">
                        <a:latin typeface="Cambria Math" panose="02040503050406030204" pitchFamily="18" charset="0"/>
                      </a:rPr>
                      <m:t>.</m:t>
                    </m:r>
                    <m:r>
                      <a:rPr lang="en-US" i="1" dirty="0" err="1" smtClean="0">
                        <a:latin typeface="Cambria Math" panose="02040503050406030204" pitchFamily="18" charset="0"/>
                      </a:rPr>
                      <m:t>𝑛</m:t>
                    </m:r>
                  </m:oMath>
                </a14:m>
                <a:endParaRPr lang="en-US" dirty="0"/>
              </a:p>
              <a:p>
                <a:r>
                  <a:rPr lang="en-US" dirty="0"/>
                  <a:t>Example 4: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)=3</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/4)+</m:t>
                    </m:r>
                    <m:r>
                      <a:rPr lang="en-US" i="1" dirty="0" smtClean="0">
                        <a:latin typeface="Cambria Math" panose="02040503050406030204" pitchFamily="18" charset="0"/>
                      </a:rPr>
                      <m:t>𝑐</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baseline="30000" dirty="0" smtClean="0">
                        <a:latin typeface="Cambria Math" panose="02040503050406030204" pitchFamily="18" charset="0"/>
                      </a:rPr>
                      <m:t>2</m:t>
                    </m:r>
                  </m:oMath>
                </a14:m>
                <a:endParaRPr lang="en-US" baseline="30000" dirty="0"/>
              </a:p>
              <a:p>
                <a:r>
                  <a:rPr lang="en-US" dirty="0"/>
                  <a:t>Example 5: </a:t>
                </a:r>
                <a14:m>
                  <m:oMath xmlns:m="http://schemas.openxmlformats.org/officeDocument/2006/math">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/4)+</m:t>
                    </m:r>
                    <m:r>
                      <a:rPr lang="en-US" i="1" dirty="0" smtClean="0">
                        <a:latin typeface="Cambria Math" panose="02040503050406030204" pitchFamily="18" charset="0"/>
                      </a:rPr>
                      <m:t>𝑇</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/2)+</m:t>
                    </m:r>
                    <m:r>
                      <a:rPr lang="en-US" i="1" dirty="0" smtClean="0">
                        <a:latin typeface="Cambria Math" panose="02040503050406030204" pitchFamily="18" charset="0"/>
                      </a:rPr>
                      <m:t>𝑛</m:t>
                    </m:r>
                    <m:r>
                      <a:rPr lang="en-US" i="1" baseline="30000" dirty="0">
                        <a:latin typeface="Cambria Math" panose="02040503050406030204" pitchFamily="18" charset="0"/>
                      </a:rPr>
                      <m:t>2</m:t>
                    </m:r>
                  </m:oMath>
                </a14:m>
                <a:endParaRPr lang="en-US" baseline="30000" dirty="0"/>
              </a:p>
              <a:p>
                <a14:m>
                  <m:oMath xmlns:m="http://schemas.openxmlformats.org/officeDocument/2006/math">
                    <m:r>
                      <m:rPr>
                        <m:nor/>
                      </m:rPr>
                      <a:rPr lang="en-US" dirty="0" smtClean="0"/>
                      <m:t>Example</m:t>
                    </m:r>
                    <m:r>
                      <m:rPr>
                        <m:nor/>
                      </m:rPr>
                      <a:rPr lang="en-US" dirty="0" smtClean="0"/>
                      <m:t> 6:</m:t>
                    </m:r>
                    <m:r>
                      <a:rPr lang="en-US" b="0" i="1" dirty="0" smtClean="0">
                        <a:latin typeface="Cambria Math" panose="02040503050406030204" pitchFamily="18" charset="0"/>
                      </a:rPr>
                      <m:t> </m:t>
                    </m:r>
                    <m:r>
                      <a:rPr lang="en-US" i="1" dirty="0" smtClean="0">
                        <a:solidFill>
                          <a:schemeClr val="tx1"/>
                        </a:solidFill>
                        <a:latin typeface="Cambria Math" panose="02040503050406030204" pitchFamily="18" charset="0"/>
                      </a:rPr>
                      <m:t>𝑇</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𝑛</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𝑇</m:t>
                    </m:r>
                    <m:r>
                      <a:rPr lang="en-US" i="1" dirty="0" smtClean="0">
                        <a:solidFill>
                          <a:schemeClr val="tx1"/>
                        </a:solidFill>
                        <a:latin typeface="Cambria Math" panose="02040503050406030204" pitchFamily="18" charset="0"/>
                      </a:rPr>
                      <m:t>(</m:t>
                    </m:r>
                    <m:r>
                      <a:rPr lang="en-US" i="1" dirty="0" smtClean="0">
                        <a:solidFill>
                          <a:schemeClr val="tx1"/>
                        </a:solidFill>
                        <a:latin typeface="Cambria Math" panose="02040503050406030204" pitchFamily="18" charset="0"/>
                      </a:rPr>
                      <m:t>𝑛</m:t>
                    </m:r>
                    <m:r>
                      <a:rPr lang="en-US" i="1" dirty="0" smtClean="0">
                        <a:solidFill>
                          <a:schemeClr val="tx1"/>
                        </a:solidFill>
                        <a:latin typeface="Cambria Math" panose="02040503050406030204" pitchFamily="18" charset="0"/>
                      </a:rPr>
                      <m:t>/3)+</m:t>
                    </m:r>
                    <m:r>
                      <a:rPr lang="en-US" i="1" dirty="0" smtClean="0">
                        <a:solidFill>
                          <a:schemeClr val="tx1"/>
                        </a:solidFill>
                        <a:latin typeface="Cambria Math" panose="02040503050406030204" pitchFamily="18" charset="0"/>
                      </a:rPr>
                      <m:t>𝑇</m:t>
                    </m:r>
                    <m:r>
                      <a:rPr lang="en-US" i="1" dirty="0" smtClean="0">
                        <a:solidFill>
                          <a:schemeClr val="tx1"/>
                        </a:solidFill>
                        <a:latin typeface="Cambria Math" panose="02040503050406030204" pitchFamily="18" charset="0"/>
                      </a:rPr>
                      <m:t>(2</m:t>
                    </m:r>
                    <m:r>
                      <a:rPr lang="en-US" i="1" dirty="0" smtClean="0">
                        <a:solidFill>
                          <a:schemeClr val="tx1"/>
                        </a:solidFill>
                        <a:latin typeface="Cambria Math" panose="02040503050406030204" pitchFamily="18" charset="0"/>
                      </a:rPr>
                      <m:t>𝑛</m:t>
                    </m:r>
                    <m:r>
                      <a:rPr lang="en-US" i="1" dirty="0" smtClean="0">
                        <a:solidFill>
                          <a:schemeClr val="tx1"/>
                        </a:solidFill>
                        <a:latin typeface="Cambria Math" panose="02040503050406030204" pitchFamily="18" charset="0"/>
                      </a:rPr>
                      <m:t>/3) + </m:t>
                    </m:r>
                    <m:r>
                      <a:rPr lang="en-US" i="1" dirty="0" smtClean="0">
                        <a:solidFill>
                          <a:schemeClr val="tx1"/>
                        </a:solidFill>
                        <a:latin typeface="Cambria Math" panose="02040503050406030204" pitchFamily="18" charset="0"/>
                      </a:rPr>
                      <m:t>𝑛</m:t>
                    </m:r>
                  </m:oMath>
                </a14:m>
                <a:endParaRPr lang="en-US" dirty="0">
                  <a:solidFill>
                    <a:schemeClr val="tx1"/>
                  </a:solidFill>
                </a:endParaRPr>
              </a:p>
              <a:p>
                <a:endParaRPr lang="en-US" baseline="30000" dirty="0"/>
              </a:p>
              <a:p>
                <a:pPr marL="0" indent="0">
                  <a:buNone/>
                </a:pPr>
                <a:endParaRPr lang="en-US" dirty="0"/>
              </a:p>
              <a:p>
                <a:endParaRPr lang="en-US" dirty="0"/>
              </a:p>
              <a:p>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04" t="-45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55</a:t>
            </a:fld>
            <a:endParaRPr lang="en-US" dirty="0"/>
          </a:p>
        </p:txBody>
      </p:sp>
    </p:spTree>
    <p:extLst>
      <p:ext uri="{BB962C8B-B14F-4D97-AF65-F5344CB8AC3E}">
        <p14:creationId xmlns:p14="http://schemas.microsoft.com/office/powerpoint/2010/main" val="1831930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 of Guessing and Confirming</a:t>
            </a:r>
          </a:p>
        </p:txBody>
      </p:sp>
      <p:sp>
        <p:nvSpPr>
          <p:cNvPr id="3" name="Content Placeholder 2"/>
          <p:cNvSpPr>
            <a:spLocks noGrp="1"/>
          </p:cNvSpPr>
          <p:nvPr>
            <p:ph idx="1"/>
          </p:nvPr>
        </p:nvSpPr>
        <p:spPr/>
        <p:txBody>
          <a:bodyPr/>
          <a:lstStyle/>
          <a:p>
            <a:pPr marL="0" indent="0">
              <a:buNone/>
            </a:pPr>
            <a:endParaRPr lang="en-US" b="1" dirty="0"/>
          </a:p>
          <a:p>
            <a:pPr marL="0" indent="0">
              <a:buNone/>
            </a:pPr>
            <a:r>
              <a:rPr lang="en-US" b="1" dirty="0"/>
              <a:t>“guess the answer; and then prove it correct by induction”</a:t>
            </a:r>
          </a:p>
          <a:p>
            <a:pPr marL="0" indent="0">
              <a:buNone/>
            </a:pPr>
            <a:endParaRPr lang="en-US" dirty="0"/>
          </a:p>
          <a:p>
            <a:pPr marL="0" indent="0">
              <a:buNone/>
            </a:pPr>
            <a:r>
              <a:rPr lang="en-US" dirty="0"/>
              <a:t>What if the given recurrence doesn’t seem to match with any of these (master theorem) methods? If we guess a solution and then try to verify our guess inductively, usually either the proof will succeed (in which case we are done), or the proof will fail (in which case the failure will help us refine our guess).</a:t>
            </a:r>
          </a:p>
        </p:txBody>
      </p:sp>
      <p:sp>
        <p:nvSpPr>
          <p:cNvPr id="4" name="Slide Number Placeholder 3"/>
          <p:cNvSpPr>
            <a:spLocks noGrp="1"/>
          </p:cNvSpPr>
          <p:nvPr>
            <p:ph type="sldNum" sz="quarter" idx="12"/>
          </p:nvPr>
        </p:nvSpPr>
        <p:spPr/>
        <p:txBody>
          <a:bodyPr/>
          <a:lstStyle/>
          <a:p>
            <a:fld id="{5EA8BEFB-AE5B-48F9-BBAD-B489CDE48C80}" type="slidenum">
              <a:rPr lang="en-US" smtClean="0"/>
              <a:pPr/>
              <a:t>56</a:t>
            </a:fld>
            <a:endParaRPr lang="en-US" dirty="0"/>
          </a:p>
        </p:txBody>
      </p:sp>
    </p:spTree>
    <p:extLst>
      <p:ext uri="{BB962C8B-B14F-4D97-AF65-F5344CB8AC3E}">
        <p14:creationId xmlns:p14="http://schemas.microsoft.com/office/powerpoint/2010/main" val="154816208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5" name="Content Placeholder 4"/>
          <p:cNvPicPr>
            <a:picLocks noGrp="1" noChangeAspect="1"/>
          </p:cNvPicPr>
          <p:nvPr>
            <p:ph idx="1"/>
          </p:nvPr>
        </p:nvPicPr>
        <p:blipFill>
          <a:blip r:embed="rId2"/>
          <a:stretch>
            <a:fillRect/>
          </a:stretch>
        </p:blipFill>
        <p:spPr>
          <a:xfrm>
            <a:off x="697630" y="1066800"/>
            <a:ext cx="10275170" cy="1601040"/>
          </a:xfrm>
          <a:prstGeom prst="rect">
            <a:avLst/>
          </a:prstGeom>
        </p:spPr>
      </p:pic>
      <p:sp>
        <p:nvSpPr>
          <p:cNvPr id="4" name="Slide Number Placeholder 3"/>
          <p:cNvSpPr>
            <a:spLocks noGrp="1"/>
          </p:cNvSpPr>
          <p:nvPr>
            <p:ph type="sldNum" sz="quarter" idx="12"/>
          </p:nvPr>
        </p:nvSpPr>
        <p:spPr/>
        <p:txBody>
          <a:bodyPr/>
          <a:lstStyle/>
          <a:p>
            <a:fld id="{5EA8BEFB-AE5B-48F9-BBAD-B489CDE48C80}" type="slidenum">
              <a:rPr lang="en-US" smtClean="0"/>
              <a:pPr/>
              <a:t>57</a:t>
            </a:fld>
            <a:endParaRPr lang="en-US" dirty="0"/>
          </a:p>
        </p:txBody>
      </p:sp>
      <p:sp>
        <p:nvSpPr>
          <p:cNvPr id="6" name="Rectangle 5"/>
          <p:cNvSpPr/>
          <p:nvPr/>
        </p:nvSpPr>
        <p:spPr>
          <a:xfrm>
            <a:off x="697630" y="2895600"/>
            <a:ext cx="10960970" cy="3477875"/>
          </a:xfrm>
          <a:prstGeom prst="rect">
            <a:avLst/>
          </a:prstGeom>
        </p:spPr>
        <p:txBody>
          <a:bodyPr wrap="square">
            <a:spAutoFit/>
          </a:bodyPr>
          <a:lstStyle/>
          <a:p>
            <a:r>
              <a:rPr lang="en-US" sz="2000" dirty="0"/>
              <a:t>Let’s start by trying to prove an upper bound T(n) &lt; </a:t>
            </a:r>
            <a:r>
              <a:rPr lang="en-US" sz="2000" dirty="0" err="1"/>
              <a:t>c.nlogn</a:t>
            </a:r>
            <a:r>
              <a:rPr lang="en-US" sz="2000" dirty="0"/>
              <a:t>:</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The last inequality assumes only that 1 ≤ </a:t>
            </a:r>
            <a:r>
              <a:rPr lang="en-US" sz="2000" dirty="0" err="1"/>
              <a:t>c.logn</a:t>
            </a:r>
            <a:r>
              <a:rPr lang="en-US" sz="2000" dirty="0"/>
              <a:t>. This is correct if n is sufficiently large and for any constant c, no matter how small. From the above proof, we can see that our guess is correct for the upper bound.</a:t>
            </a:r>
          </a:p>
        </p:txBody>
      </p:sp>
      <p:pic>
        <p:nvPicPr>
          <p:cNvPr id="7" name="Picture 6"/>
          <p:cNvPicPr>
            <a:picLocks noChangeAspect="1"/>
          </p:cNvPicPr>
          <p:nvPr/>
        </p:nvPicPr>
        <p:blipFill>
          <a:blip r:embed="rId3"/>
          <a:stretch>
            <a:fillRect/>
          </a:stretch>
        </p:blipFill>
        <p:spPr>
          <a:xfrm>
            <a:off x="3363912" y="3419475"/>
            <a:ext cx="3838575" cy="1914525"/>
          </a:xfrm>
          <a:prstGeom prst="rect">
            <a:avLst/>
          </a:prstGeom>
        </p:spPr>
      </p:pic>
    </p:spTree>
    <p:extLst>
      <p:ext uri="{BB962C8B-B14F-4D97-AF65-F5344CB8AC3E}">
        <p14:creationId xmlns:p14="http://schemas.microsoft.com/office/powerpoint/2010/main" val="12460381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Change of variable-Method</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IN" dirty="0">
                <a:latin typeface="Cambria" panose="02040503050406030204" pitchFamily="18" charset="0"/>
              </a:rPr>
              <a:t>There are many ways to solve a recurrence relation runtime. One way to do this is a method called “change of variable”. </a:t>
            </a:r>
          </a:p>
          <a:p>
            <a:pPr>
              <a:buFont typeface="Wingdings" panose="05000000000000000000" pitchFamily="2" charset="2"/>
              <a:buChar char="Ø"/>
            </a:pPr>
            <a:r>
              <a:rPr lang="en-IN" dirty="0">
                <a:latin typeface="Cambria" panose="02040503050406030204" pitchFamily="18" charset="0"/>
              </a:rPr>
              <a:t>Domain transformations can sometimes be used to substitute a function for the argument of the relation and make it easier to solve. </a:t>
            </a:r>
          </a:p>
          <a:p>
            <a:pPr>
              <a:buFont typeface="Wingdings" panose="05000000000000000000" pitchFamily="2" charset="2"/>
              <a:buChar char="Ø"/>
            </a:pPr>
            <a:r>
              <a:rPr lang="en-IN" dirty="0">
                <a:latin typeface="Cambria" panose="02040503050406030204" pitchFamily="18" charset="0"/>
              </a:rPr>
              <a:t>The idea is to select a function for S(m), when given T(n).</a:t>
            </a:r>
          </a:p>
        </p:txBody>
      </p:sp>
      <p:sp>
        <p:nvSpPr>
          <p:cNvPr id="4" name="Slide Number Placeholder 3"/>
          <p:cNvSpPr>
            <a:spLocks noGrp="1"/>
          </p:cNvSpPr>
          <p:nvPr>
            <p:ph type="sldNum" sz="quarter" idx="12"/>
          </p:nvPr>
        </p:nvSpPr>
        <p:spPr/>
        <p:txBody>
          <a:bodyPr/>
          <a:lstStyle/>
          <a:p>
            <a:fld id="{5EA8BEFB-AE5B-48F9-BBAD-B489CDE48C80}" type="slidenum">
              <a:rPr lang="en-US" smtClean="0"/>
              <a:pPr/>
              <a:t>58</a:t>
            </a:fld>
            <a:endParaRPr lang="en-US" dirty="0"/>
          </a:p>
        </p:txBody>
      </p:sp>
    </p:spTree>
    <p:extLst>
      <p:ext uri="{BB962C8B-B14F-4D97-AF65-F5344CB8AC3E}">
        <p14:creationId xmlns:p14="http://schemas.microsoft.com/office/powerpoint/2010/main" val="25934048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0" indent="0">
                  <a:buNone/>
                </a:pPr>
                <a:r>
                  <a:rPr lang="en-US" sz="2000" b="1" dirty="0">
                    <a:latin typeface="Cambria Math" panose="02040503050406030204" pitchFamily="18" charset="0"/>
                    <a:ea typeface="Cambria Math" panose="02040503050406030204" pitchFamily="18" charset="0"/>
                  </a:rPr>
                  <a:t>T(n)=2T</a:t>
                </a:r>
                <a14:m>
                  <m:oMath xmlns:m="http://schemas.openxmlformats.org/officeDocument/2006/math">
                    <m:rad>
                      <m:radPr>
                        <m:degHide m:val="on"/>
                        <m:ctrlPr>
                          <a:rPr lang="en-US" sz="2000" b="1" i="1">
                            <a:latin typeface="Cambria Math" panose="02040503050406030204" pitchFamily="18" charset="0"/>
                            <a:ea typeface="Cambria Math" panose="02040503050406030204" pitchFamily="18" charset="0"/>
                          </a:rPr>
                        </m:ctrlPr>
                      </m:radPr>
                      <m:deg/>
                      <m:e>
                        <m:r>
                          <a:rPr lang="en-IN" sz="2000" b="1" i="0">
                            <a:latin typeface="Cambria Math" panose="02040503050406030204" pitchFamily="18" charset="0"/>
                            <a:ea typeface="Cambria Math" panose="02040503050406030204" pitchFamily="18" charset="0"/>
                          </a:rPr>
                          <m:t>𝐧</m:t>
                        </m:r>
                      </m:e>
                    </m:rad>
                  </m:oMath>
                </a14:m>
                <a:r>
                  <a:rPr lang="en-IN" sz="2000" b="1" dirty="0">
                    <a:latin typeface="Cambria Math" panose="02040503050406030204" pitchFamily="18" charset="0"/>
                    <a:ea typeface="Cambria Math" panose="02040503050406030204" pitchFamily="18" charset="0"/>
                  </a:rPr>
                  <a:t> +logn</a:t>
                </a:r>
              </a:p>
              <a:p>
                <a:pPr marL="0" indent="0">
                  <a:buNone/>
                </a:pPr>
                <a:r>
                  <a:rPr lang="en-IN" sz="2000" dirty="0">
                    <a:latin typeface="Cambria Math" panose="02040503050406030204" pitchFamily="18" charset="0"/>
                    <a:ea typeface="Cambria Math" panose="02040503050406030204" pitchFamily="18" charset="0"/>
                  </a:rPr>
                  <a:t>Let’s rewrite the equation by substituting </a:t>
                </a:r>
                <a:r>
                  <a:rPr lang="en-IN" sz="2000" dirty="0">
                    <a:solidFill>
                      <a:srgbClr val="C00000"/>
                    </a:solidFill>
                    <a:latin typeface="Cambria Math" panose="02040503050406030204" pitchFamily="18" charset="0"/>
                    <a:ea typeface="Cambria Math" panose="02040503050406030204" pitchFamily="18" charset="0"/>
                  </a:rPr>
                  <a:t>m=log n</a:t>
                </a:r>
                <a:r>
                  <a:rPr lang="en-IN" sz="2000" dirty="0">
                    <a:latin typeface="Cambria Math" panose="02040503050406030204" pitchFamily="18" charset="0"/>
                    <a:ea typeface="Cambria Math" panose="02040503050406030204" pitchFamily="18" charset="0"/>
                  </a:rPr>
                  <a:t>, and then plug it back in to the recurrence to get the following:</a:t>
                </a:r>
              </a:p>
              <a:p>
                <a:pPr marL="0" indent="0">
                  <a:buNone/>
                </a:pPr>
                <a:r>
                  <a:rPr lang="en-IN" sz="2000" dirty="0">
                    <a:latin typeface="Cambria Math" panose="02040503050406030204" pitchFamily="18" charset="0"/>
                    <a:ea typeface="Cambria Math" panose="02040503050406030204" pitchFamily="18" charset="0"/>
                  </a:rPr>
                  <a:t>		T(2</a:t>
                </a:r>
                <a:r>
                  <a:rPr lang="en-IN" sz="2000" baseline="30000" dirty="0">
                    <a:latin typeface="Cambria Math" panose="02040503050406030204" pitchFamily="18" charset="0"/>
                    <a:ea typeface="Cambria Math" panose="02040503050406030204" pitchFamily="18" charset="0"/>
                  </a:rPr>
                  <a:t>m</a:t>
                </a:r>
                <a:r>
                  <a:rPr lang="en-IN" sz="2000" dirty="0">
                    <a:latin typeface="Cambria Math" panose="02040503050406030204" pitchFamily="18" charset="0"/>
                    <a:ea typeface="Cambria Math" panose="02040503050406030204" pitchFamily="18" charset="0"/>
                  </a:rPr>
                  <a:t>)=2T(2</a:t>
                </a:r>
                <a:r>
                  <a:rPr lang="en-IN" sz="2000" baseline="30000" dirty="0">
                    <a:latin typeface="Cambria Math" panose="02040503050406030204" pitchFamily="18" charset="0"/>
                    <a:ea typeface="Cambria Math" panose="02040503050406030204" pitchFamily="18" charset="0"/>
                  </a:rPr>
                  <a:t>m/2</a:t>
                </a:r>
                <a:r>
                  <a:rPr lang="en-IN" sz="2000" dirty="0">
                    <a:latin typeface="Cambria Math" panose="02040503050406030204" pitchFamily="18" charset="0"/>
                    <a:ea typeface="Cambria Math" panose="02040503050406030204" pitchFamily="18" charset="0"/>
                  </a:rPr>
                  <a:t>)+m</a:t>
                </a:r>
              </a:p>
              <a:p>
                <a:pPr marL="0" indent="0">
                  <a:buNone/>
                </a:pPr>
                <a:r>
                  <a:rPr lang="en-IN" sz="2000" dirty="0">
                    <a:latin typeface="Cambria Math" panose="02040503050406030204" pitchFamily="18" charset="0"/>
                    <a:ea typeface="Cambria Math" panose="02040503050406030204" pitchFamily="18" charset="0"/>
                  </a:rPr>
                  <a:t>Now we will create a new function called ‘S’ that takes in a parameter ‘m’ such that </a:t>
                </a:r>
                <a:r>
                  <a:rPr lang="en-IN" sz="2000" dirty="0">
                    <a:solidFill>
                      <a:srgbClr val="C00000"/>
                    </a:solidFill>
                    <a:latin typeface="Cambria Math" panose="02040503050406030204" pitchFamily="18" charset="0"/>
                    <a:ea typeface="Cambria Math" panose="02040503050406030204" pitchFamily="18" charset="0"/>
                  </a:rPr>
                  <a:t>S(m) = T(2</a:t>
                </a:r>
                <a:r>
                  <a:rPr lang="en-IN" sz="2000" baseline="30000" dirty="0">
                    <a:solidFill>
                      <a:srgbClr val="C00000"/>
                    </a:solidFill>
                    <a:latin typeface="Cambria Math" panose="02040503050406030204" pitchFamily="18" charset="0"/>
                    <a:ea typeface="Cambria Math" panose="02040503050406030204" pitchFamily="18" charset="0"/>
                  </a:rPr>
                  <a:t>m</a:t>
                </a:r>
                <a:r>
                  <a:rPr lang="en-IN" sz="2000" dirty="0">
                    <a:solidFill>
                      <a:srgbClr val="C00000"/>
                    </a:solidFill>
                    <a:latin typeface="Cambria Math" panose="02040503050406030204" pitchFamily="18" charset="0"/>
                    <a:ea typeface="Cambria Math" panose="02040503050406030204" pitchFamily="18" charset="0"/>
                  </a:rPr>
                  <a:t>).</a:t>
                </a:r>
              </a:p>
              <a:p>
                <a:pPr marL="0" indent="0">
                  <a:buNone/>
                </a:pPr>
                <a:r>
                  <a:rPr lang="en-IN" sz="2000" dirty="0">
                    <a:latin typeface="Cambria Math" panose="02040503050406030204" pitchFamily="18" charset="0"/>
                    <a:ea typeface="Cambria Math" panose="02040503050406030204" pitchFamily="18" charset="0"/>
                  </a:rPr>
                  <a:t>Which means : S(m) = 2T(2</a:t>
                </a:r>
                <a:r>
                  <a:rPr lang="en-IN" sz="2000" baseline="30000" dirty="0">
                    <a:latin typeface="Cambria Math" panose="02040503050406030204" pitchFamily="18" charset="0"/>
                    <a:ea typeface="Cambria Math" panose="02040503050406030204" pitchFamily="18" charset="0"/>
                  </a:rPr>
                  <a:t>m/2</a:t>
                </a:r>
                <a:r>
                  <a:rPr lang="en-IN" sz="2000" dirty="0">
                    <a:latin typeface="Cambria Math" panose="02040503050406030204" pitchFamily="18" charset="0"/>
                    <a:ea typeface="Cambria Math" panose="02040503050406030204" pitchFamily="18" charset="0"/>
                  </a:rPr>
                  <a:t>)+m.</a:t>
                </a:r>
              </a:p>
              <a:p>
                <a:pPr marL="0" indent="0">
                  <a:buNone/>
                </a:pPr>
                <a:r>
                  <a:rPr lang="en-IN" sz="2000" dirty="0">
                    <a:latin typeface="Cambria Math" panose="02040503050406030204" pitchFamily="18" charset="0"/>
                    <a:ea typeface="Cambria Math" panose="02040503050406030204" pitchFamily="18" charset="0"/>
                  </a:rPr>
                  <a:t>If S(m) = T(2</a:t>
                </a:r>
                <a:r>
                  <a:rPr lang="en-IN" sz="2000" baseline="30000" dirty="0">
                    <a:latin typeface="Cambria Math" panose="02040503050406030204" pitchFamily="18" charset="0"/>
                    <a:ea typeface="Cambria Math" panose="02040503050406030204" pitchFamily="18" charset="0"/>
                  </a:rPr>
                  <a:t>m</a:t>
                </a:r>
                <a:r>
                  <a:rPr lang="en-IN" sz="2000" dirty="0">
                    <a:latin typeface="Cambria Math" panose="02040503050406030204" pitchFamily="18" charset="0"/>
                    <a:ea typeface="Cambria Math" panose="02040503050406030204" pitchFamily="18" charset="0"/>
                  </a:rPr>
                  <a:t>) then S(m-1) = T(2</a:t>
                </a:r>
                <a:r>
                  <a:rPr lang="en-IN" sz="2000" baseline="30000" dirty="0">
                    <a:latin typeface="Cambria Math" panose="02040503050406030204" pitchFamily="18" charset="0"/>
                    <a:ea typeface="Cambria Math" panose="02040503050406030204" pitchFamily="18" charset="0"/>
                  </a:rPr>
                  <a:t>(m-1</a:t>
                </a:r>
                <a:r>
                  <a:rPr lang="en-IN" sz="2000" dirty="0">
                    <a:latin typeface="Cambria Math" panose="02040503050406030204" pitchFamily="18" charset="0"/>
                    <a:ea typeface="Cambria Math" panose="02040503050406030204" pitchFamily="18" charset="0"/>
                  </a:rPr>
                  <a:t>)) and S(m/2) = T(2</a:t>
                </a:r>
                <a:r>
                  <a:rPr lang="en-IN" sz="2000" baseline="30000" dirty="0">
                    <a:latin typeface="Cambria Math" panose="02040503050406030204" pitchFamily="18" charset="0"/>
                    <a:ea typeface="Cambria Math" panose="02040503050406030204" pitchFamily="18" charset="0"/>
                  </a:rPr>
                  <a:t>(m/2)</a:t>
                </a:r>
                <a:r>
                  <a:rPr lang="en-IN" sz="2000" dirty="0">
                    <a:latin typeface="Cambria Math" panose="02040503050406030204" pitchFamily="18" charset="0"/>
                    <a:ea typeface="Cambria Math" panose="02040503050406030204" pitchFamily="18" charset="0"/>
                  </a:rPr>
                  <a:t>), </a:t>
                </a:r>
              </a:p>
              <a:p>
                <a:pPr marL="0" indent="0">
                  <a:buNone/>
                </a:pPr>
                <a:r>
                  <a:rPr lang="en-IN" sz="2000" dirty="0">
                    <a:latin typeface="Cambria Math" panose="02040503050406030204" pitchFamily="18" charset="0"/>
                    <a:ea typeface="Cambria Math" panose="02040503050406030204" pitchFamily="18" charset="0"/>
                  </a:rPr>
                  <a:t>so we can rewrite our function to get the following:</a:t>
                </a:r>
              </a:p>
              <a:p>
                <a:pPr marL="0" indent="0">
                  <a:buNone/>
                </a:pPr>
                <a:r>
                  <a:rPr lang="en-IN" sz="2000" dirty="0">
                    <a:latin typeface="Cambria Math" panose="02040503050406030204" pitchFamily="18" charset="0"/>
                    <a:ea typeface="Cambria Math" panose="02040503050406030204" pitchFamily="18" charset="0"/>
                  </a:rPr>
                  <a:t>		S(m)=2S(m/2)+m</a:t>
                </a:r>
              </a:p>
              <a:p>
                <a:pPr marL="0" indent="0">
                  <a:buNone/>
                </a:pPr>
                <a:r>
                  <a:rPr lang="en-IN" sz="2000" dirty="0">
                    <a:latin typeface="Cambria Math" panose="02040503050406030204" pitchFamily="18" charset="0"/>
                    <a:ea typeface="Cambria Math" panose="02040503050406030204" pitchFamily="18" charset="0"/>
                  </a:rPr>
                  <a:t>Using master theorem we can write the solution of recurrence ‘S’: O(</a:t>
                </a:r>
                <a:r>
                  <a:rPr lang="en-IN" sz="2000" dirty="0" err="1">
                    <a:latin typeface="Cambria Math" panose="02040503050406030204" pitchFamily="18" charset="0"/>
                    <a:ea typeface="Cambria Math" panose="02040503050406030204" pitchFamily="18" charset="0"/>
                  </a:rPr>
                  <a:t>mlogm</a:t>
                </a:r>
                <a:r>
                  <a:rPr lang="en-IN" sz="2000" dirty="0">
                    <a:latin typeface="Cambria Math" panose="02040503050406030204" pitchFamily="18" charset="0"/>
                    <a:ea typeface="Cambria Math" panose="02040503050406030204" pitchFamily="18" charset="0"/>
                  </a:rPr>
                  <a:t>). </a:t>
                </a:r>
              </a:p>
              <a:p>
                <a:pPr marL="0" indent="0">
                  <a:buNone/>
                </a:pPr>
                <a:r>
                  <a:rPr lang="en-IN" sz="2000" dirty="0">
                    <a:latin typeface="Cambria Math" panose="02040503050406030204" pitchFamily="18" charset="0"/>
                    <a:ea typeface="Cambria Math" panose="02040503050406030204" pitchFamily="18" charset="0"/>
                  </a:rPr>
                  <a:t>This means that our original function ‘T’ belongs to O(log n * log ( log n) ), since we can simply replace ‘m’ with ‘log n’ because m=log n</a:t>
                </a:r>
              </a:p>
              <a:p>
                <a:pPr marL="0" indent="0">
                  <a:buNone/>
                </a:pPr>
                <a:endParaRPr lang="en-IN" sz="2000" dirty="0">
                  <a:latin typeface="Cambria Math" panose="02040503050406030204" pitchFamily="18" charset="0"/>
                  <a:ea typeface="Cambria Math" panose="020405030504060302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574" t="-343" r="-522"/>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59</a:t>
            </a:fld>
            <a:endParaRPr lang="en-US" dirty="0"/>
          </a:p>
        </p:txBody>
      </p:sp>
      <p:sp>
        <p:nvSpPr>
          <p:cNvPr id="6" name="TextBox 5"/>
          <p:cNvSpPr txBox="1"/>
          <p:nvPr/>
        </p:nvSpPr>
        <p:spPr>
          <a:xfrm>
            <a:off x="9753600" y="0"/>
            <a:ext cx="1752600" cy="1200329"/>
          </a:xfrm>
          <a:prstGeom prst="rect">
            <a:avLst/>
          </a:prstGeom>
          <a:noFill/>
        </p:spPr>
        <p:txBody>
          <a:bodyPr wrap="square" rtlCol="0">
            <a:spAutoFit/>
          </a:bodyPr>
          <a:lstStyle/>
          <a:p>
            <a:r>
              <a:rPr lang="en-IN" dirty="0">
                <a:solidFill>
                  <a:srgbClr val="C00000"/>
                </a:solidFill>
                <a:latin typeface="Cambria" panose="02040503050406030204" pitchFamily="18" charset="0"/>
              </a:rPr>
              <a:t>m=</a:t>
            </a:r>
            <a:r>
              <a:rPr lang="en-IN" dirty="0" err="1">
                <a:solidFill>
                  <a:srgbClr val="C00000"/>
                </a:solidFill>
                <a:latin typeface="Cambria" panose="02040503050406030204" pitchFamily="18" charset="0"/>
              </a:rPr>
              <a:t>logn</a:t>
            </a:r>
            <a:endParaRPr lang="en-IN" dirty="0">
              <a:solidFill>
                <a:srgbClr val="C00000"/>
              </a:solidFill>
              <a:latin typeface="Cambria" panose="02040503050406030204" pitchFamily="18" charset="0"/>
            </a:endParaRPr>
          </a:p>
          <a:p>
            <a:r>
              <a:rPr lang="en-IN"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m</a:t>
            </a:r>
            <a:r>
              <a:rPr lang="en-IN"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log</a:t>
            </a:r>
            <a:r>
              <a:rPr lang="en-IN" baseline="-4000"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n</a:t>
            </a:r>
            <a:endParaRPr lang="en-IN" dirty="0">
              <a:solidFill>
                <a:srgbClr val="C00000"/>
              </a:solidFill>
              <a:latin typeface="Cambria" panose="02040503050406030204" pitchFamily="18" charset="0"/>
            </a:endParaRPr>
          </a:p>
          <a:p>
            <a:r>
              <a:rPr lang="en-IN"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m/2</a:t>
            </a:r>
            <a:r>
              <a:rPr lang="en-IN"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(log</a:t>
            </a:r>
            <a:r>
              <a:rPr lang="en-IN" baseline="-4000"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n/2)</a:t>
            </a:r>
          </a:p>
          <a:p>
            <a:r>
              <a:rPr lang="en-IN" dirty="0">
                <a:solidFill>
                  <a:srgbClr val="C00000"/>
                </a:solidFill>
                <a:latin typeface="Cambria" panose="02040503050406030204" pitchFamily="18" charset="0"/>
              </a:rPr>
              <a:t>2</a:t>
            </a:r>
            <a:r>
              <a:rPr lang="en-IN" baseline="30000" dirty="0">
                <a:solidFill>
                  <a:srgbClr val="C00000"/>
                </a:solidFill>
                <a:latin typeface="Cambria" panose="02040503050406030204" pitchFamily="18" charset="0"/>
              </a:rPr>
              <a:t>m/2</a:t>
            </a:r>
            <a:r>
              <a:rPr lang="en-IN" dirty="0">
                <a:solidFill>
                  <a:srgbClr val="C00000"/>
                </a:solidFill>
                <a:latin typeface="Cambria" panose="02040503050406030204" pitchFamily="18" charset="0"/>
              </a:rPr>
              <a:t>=n</a:t>
            </a:r>
            <a:r>
              <a:rPr lang="en-IN" baseline="30000" dirty="0">
                <a:solidFill>
                  <a:srgbClr val="C00000"/>
                </a:solidFill>
                <a:latin typeface="Cambria" panose="02040503050406030204" pitchFamily="18" charset="0"/>
              </a:rPr>
              <a:t>1/2</a:t>
            </a:r>
          </a:p>
        </p:txBody>
      </p:sp>
      <p:sp>
        <p:nvSpPr>
          <p:cNvPr id="7" name="TextBox 6"/>
          <p:cNvSpPr txBox="1"/>
          <p:nvPr/>
        </p:nvSpPr>
        <p:spPr>
          <a:xfrm>
            <a:off x="3124200" y="152452"/>
            <a:ext cx="6477000" cy="1107996"/>
          </a:xfrm>
          <a:prstGeom prst="rect">
            <a:avLst/>
          </a:prstGeom>
          <a:noFill/>
        </p:spPr>
        <p:txBody>
          <a:bodyPr wrap="square" rtlCol="0">
            <a:spAutoFit/>
          </a:bodyPr>
          <a:lstStyle/>
          <a:p>
            <a:r>
              <a:rPr lang="en-IN" b="1" dirty="0">
                <a:solidFill>
                  <a:srgbClr val="FF0000"/>
                </a:solidFill>
                <a:latin typeface="Cambria" panose="02040503050406030204" pitchFamily="18" charset="0"/>
              </a:rPr>
              <a:t>n=2</a:t>
            </a:r>
            <a:r>
              <a:rPr lang="en-IN" b="1" baseline="30000" dirty="0">
                <a:solidFill>
                  <a:srgbClr val="FF0000"/>
                </a:solidFill>
                <a:latin typeface="Cambria" panose="02040503050406030204" pitchFamily="18" charset="0"/>
              </a:rPr>
              <a:t>m</a:t>
            </a:r>
            <a:r>
              <a:rPr lang="en-IN" b="1" dirty="0">
                <a:solidFill>
                  <a:srgbClr val="FF0000"/>
                </a:solidFill>
                <a:latin typeface="Cambria" panose="02040503050406030204" pitchFamily="18" charset="0"/>
              </a:rPr>
              <a:t> , </a:t>
            </a:r>
            <a:r>
              <a:rPr lang="en-IN" sz="1600" b="1" dirty="0">
                <a:solidFill>
                  <a:srgbClr val="FF0000"/>
                </a:solidFill>
                <a:latin typeface="Cambria" panose="02040503050406030204" pitchFamily="18" charset="0"/>
              </a:rPr>
              <a:t>The reason to put n=2</a:t>
            </a:r>
            <a:r>
              <a:rPr lang="en-IN" sz="1600" b="1" baseline="30000" dirty="0">
                <a:solidFill>
                  <a:srgbClr val="FF0000"/>
                </a:solidFill>
                <a:latin typeface="Cambria" panose="02040503050406030204" pitchFamily="18" charset="0"/>
              </a:rPr>
              <a:t>m</a:t>
            </a:r>
            <a:r>
              <a:rPr lang="en-IN" sz="1600" b="1" dirty="0">
                <a:solidFill>
                  <a:srgbClr val="FF0000"/>
                </a:solidFill>
                <a:latin typeface="Cambria" panose="02040503050406030204" pitchFamily="18" charset="0"/>
              </a:rPr>
              <a:t> is as the original function consists of √𝐧 , i.e. the problem of size n is decreasing with factor n</a:t>
            </a:r>
            <a:r>
              <a:rPr lang="en-IN" sz="1600" b="1" baseline="30000" dirty="0">
                <a:solidFill>
                  <a:srgbClr val="FF0000"/>
                </a:solidFill>
                <a:latin typeface="Cambria" panose="02040503050406030204" pitchFamily="18" charset="0"/>
              </a:rPr>
              <a:t>1/2</a:t>
            </a:r>
          </a:p>
          <a:p>
            <a:r>
              <a:rPr lang="en-IN" sz="1600" b="1" dirty="0">
                <a:solidFill>
                  <a:srgbClr val="FF0000"/>
                </a:solidFill>
                <a:latin typeface="Cambria" panose="02040503050406030204" pitchFamily="18" charset="0"/>
              </a:rPr>
              <a:t>T(2</a:t>
            </a:r>
            <a:r>
              <a:rPr lang="en-IN" sz="1600" b="1" baseline="30000" dirty="0">
                <a:solidFill>
                  <a:srgbClr val="FF0000"/>
                </a:solidFill>
                <a:latin typeface="Cambria" panose="02040503050406030204" pitchFamily="18" charset="0"/>
              </a:rPr>
              <a:t>m</a:t>
            </a:r>
            <a:r>
              <a:rPr lang="en-IN" sz="1600" b="1" dirty="0">
                <a:solidFill>
                  <a:srgbClr val="FF0000"/>
                </a:solidFill>
                <a:latin typeface="Cambria" panose="02040503050406030204" pitchFamily="18" charset="0"/>
              </a:rPr>
              <a:t>)= S(m) meaning the rate of growth for different value of m is same for T and S</a:t>
            </a:r>
          </a:p>
        </p:txBody>
      </p:sp>
      <p:sp>
        <p:nvSpPr>
          <p:cNvPr id="8" name="TextBox 7">
            <a:extLst>
              <a:ext uri="{FF2B5EF4-FFF2-40B4-BE49-F238E27FC236}">
                <a16:creationId xmlns:a16="http://schemas.microsoft.com/office/drawing/2014/main" id="{6FAA063A-A2E3-40B9-BAC5-D0E36CEBC553}"/>
              </a:ext>
            </a:extLst>
          </p:cNvPr>
          <p:cNvSpPr txBox="1"/>
          <p:nvPr/>
        </p:nvSpPr>
        <p:spPr>
          <a:xfrm>
            <a:off x="8610600" y="3062407"/>
            <a:ext cx="2133600" cy="1661993"/>
          </a:xfrm>
          <a:prstGeom prst="rect">
            <a:avLst/>
          </a:prstGeom>
          <a:noFill/>
        </p:spPr>
        <p:txBody>
          <a:bodyPr wrap="square" rtlCol="0">
            <a:spAutoFit/>
          </a:bodyPr>
          <a:lstStyle/>
          <a:p>
            <a:r>
              <a:rPr lang="en-IN" sz="1800" dirty="0">
                <a:solidFill>
                  <a:srgbClr val="C00000"/>
                </a:solidFill>
                <a:latin typeface="Cambria Math" panose="02040503050406030204" pitchFamily="18" charset="0"/>
                <a:ea typeface="Cambria Math" panose="02040503050406030204" pitchFamily="18" charset="0"/>
              </a:rPr>
              <a:t>Let S(m) = T(2</a:t>
            </a:r>
            <a:r>
              <a:rPr lang="en-IN" sz="1800" baseline="30000" dirty="0">
                <a:solidFill>
                  <a:srgbClr val="C00000"/>
                </a:solidFill>
                <a:latin typeface="Cambria Math" panose="02040503050406030204" pitchFamily="18" charset="0"/>
                <a:ea typeface="Cambria Math" panose="02040503050406030204" pitchFamily="18" charset="0"/>
              </a:rPr>
              <a:t>m</a:t>
            </a:r>
            <a:r>
              <a:rPr lang="en-IN" sz="1800" dirty="0">
                <a:solidFill>
                  <a:srgbClr val="C00000"/>
                </a:solidFill>
                <a:latin typeface="Cambria Math" panose="02040503050406030204" pitchFamily="18" charset="0"/>
                <a:ea typeface="Cambria Math" panose="02040503050406030204" pitchFamily="18" charset="0"/>
              </a:rPr>
              <a:t>) </a:t>
            </a:r>
          </a:p>
          <a:p>
            <a:r>
              <a:rPr lang="en-IN" sz="1800" dirty="0">
                <a:solidFill>
                  <a:srgbClr val="C00000"/>
                </a:solidFill>
                <a:latin typeface="Cambria Math" panose="02040503050406030204" pitchFamily="18" charset="0"/>
                <a:ea typeface="Cambria Math" panose="02040503050406030204" pitchFamily="18" charset="0"/>
              </a:rPr>
              <a:t>S(1) = T(2</a:t>
            </a:r>
            <a:r>
              <a:rPr lang="en-IN" sz="1800" baseline="30000" dirty="0">
                <a:solidFill>
                  <a:srgbClr val="C00000"/>
                </a:solidFill>
                <a:latin typeface="Cambria Math" panose="02040503050406030204" pitchFamily="18" charset="0"/>
                <a:ea typeface="Cambria Math" panose="02040503050406030204" pitchFamily="18" charset="0"/>
              </a:rPr>
              <a:t>1</a:t>
            </a:r>
            <a:r>
              <a:rPr lang="en-IN" sz="1800" dirty="0">
                <a:solidFill>
                  <a:srgbClr val="C00000"/>
                </a:solidFill>
                <a:latin typeface="Cambria Math" panose="02040503050406030204" pitchFamily="18" charset="0"/>
                <a:ea typeface="Cambria Math" panose="02040503050406030204" pitchFamily="18" charset="0"/>
              </a:rPr>
              <a:t>) </a:t>
            </a:r>
          </a:p>
          <a:p>
            <a:r>
              <a:rPr lang="en-IN" sz="1800" dirty="0">
                <a:solidFill>
                  <a:srgbClr val="C00000"/>
                </a:solidFill>
                <a:latin typeface="Cambria Math" panose="02040503050406030204" pitchFamily="18" charset="0"/>
                <a:ea typeface="Cambria Math" panose="02040503050406030204" pitchFamily="18" charset="0"/>
              </a:rPr>
              <a:t>S(2) = T(2</a:t>
            </a:r>
            <a:r>
              <a:rPr lang="en-IN" sz="1800" baseline="30000" dirty="0">
                <a:solidFill>
                  <a:srgbClr val="C00000"/>
                </a:solidFill>
                <a:latin typeface="Cambria Math" panose="02040503050406030204" pitchFamily="18" charset="0"/>
                <a:ea typeface="Cambria Math" panose="02040503050406030204" pitchFamily="18" charset="0"/>
              </a:rPr>
              <a:t>2</a:t>
            </a:r>
            <a:r>
              <a:rPr lang="en-IN" sz="1800" dirty="0">
                <a:solidFill>
                  <a:srgbClr val="C00000"/>
                </a:solidFill>
                <a:latin typeface="Cambria Math" panose="02040503050406030204" pitchFamily="18" charset="0"/>
                <a:ea typeface="Cambria Math" panose="02040503050406030204" pitchFamily="18" charset="0"/>
              </a:rPr>
              <a:t>) </a:t>
            </a:r>
          </a:p>
          <a:p>
            <a:r>
              <a:rPr lang="en-IN" sz="1800" dirty="0">
                <a:solidFill>
                  <a:srgbClr val="C00000"/>
                </a:solidFill>
                <a:latin typeface="Cambria Math" panose="02040503050406030204" pitchFamily="18" charset="0"/>
                <a:ea typeface="Cambria Math" panose="02040503050406030204" pitchFamily="18" charset="0"/>
              </a:rPr>
              <a:t>S(m-1) = T(2</a:t>
            </a:r>
            <a:r>
              <a:rPr lang="en-IN" sz="1800" baseline="30000" dirty="0">
                <a:solidFill>
                  <a:srgbClr val="C00000"/>
                </a:solidFill>
                <a:latin typeface="Cambria Math" panose="02040503050406030204" pitchFamily="18" charset="0"/>
                <a:ea typeface="Cambria Math" panose="02040503050406030204" pitchFamily="18" charset="0"/>
              </a:rPr>
              <a:t>m-1</a:t>
            </a:r>
            <a:r>
              <a:rPr lang="en-IN" sz="1800" dirty="0">
                <a:solidFill>
                  <a:srgbClr val="C00000"/>
                </a:solidFill>
                <a:latin typeface="Cambria Math" panose="02040503050406030204" pitchFamily="18" charset="0"/>
                <a:ea typeface="Cambria Math" panose="02040503050406030204" pitchFamily="18" charset="0"/>
              </a:rPr>
              <a:t>) S(m/2) = T(2</a:t>
            </a:r>
            <a:r>
              <a:rPr lang="en-IN" sz="1800" baseline="30000" dirty="0">
                <a:solidFill>
                  <a:srgbClr val="C00000"/>
                </a:solidFill>
                <a:latin typeface="Cambria Math" panose="02040503050406030204" pitchFamily="18" charset="0"/>
                <a:ea typeface="Cambria Math" panose="02040503050406030204" pitchFamily="18" charset="0"/>
              </a:rPr>
              <a:t>m/2</a:t>
            </a:r>
            <a:r>
              <a:rPr lang="en-IN" sz="1800" dirty="0">
                <a:solidFill>
                  <a:srgbClr val="C00000"/>
                </a:solidFill>
                <a:latin typeface="Cambria Math" panose="02040503050406030204" pitchFamily="18" charset="0"/>
                <a:ea typeface="Cambria Math" panose="02040503050406030204" pitchFamily="18" charset="0"/>
              </a:rPr>
              <a:t>)</a:t>
            </a:r>
          </a:p>
          <a:p>
            <a:endParaRPr lang="en-IN" baseline="30000" dirty="0">
              <a:solidFill>
                <a:srgbClr val="C00000"/>
              </a:solidFill>
              <a:latin typeface="Cambria" panose="02040503050406030204" pitchFamily="18" charset="0"/>
            </a:endParaRPr>
          </a:p>
        </p:txBody>
      </p:sp>
    </p:spTree>
    <p:extLst>
      <p:ext uri="{BB962C8B-B14F-4D97-AF65-F5344CB8AC3E}">
        <p14:creationId xmlns:p14="http://schemas.microsoft.com/office/powerpoint/2010/main" val="2522817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a:t>
            </a:r>
          </a:p>
        </p:txBody>
      </p:sp>
      <p:sp>
        <p:nvSpPr>
          <p:cNvPr id="4" name="Slide Number Placeholder 3"/>
          <p:cNvSpPr>
            <a:spLocks noGrp="1"/>
          </p:cNvSpPr>
          <p:nvPr>
            <p:ph type="sldNum" sz="quarter" idx="12"/>
          </p:nvPr>
        </p:nvSpPr>
        <p:spPr/>
        <p:txBody>
          <a:bodyPr/>
          <a:lstStyle/>
          <a:p>
            <a:fld id="{5EA8BEFB-AE5B-48F9-BBAD-B489CDE48C80}" type="slidenum">
              <a:rPr lang="en-US" smtClean="0"/>
              <a:pPr/>
              <a:t>60</a:t>
            </a:fld>
            <a:endParaRPr lang="en-US" dirty="0"/>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p:txBody>
              <a:bodyPr>
                <a:normAutofit fontScale="70000" lnSpcReduction="20000"/>
              </a:bodyPr>
              <a:lstStyle/>
              <a:p>
                <a:pPr marL="0" indent="0">
                  <a:buNone/>
                </a:pPr>
                <a:r>
                  <a:rPr lang="en-US" sz="2600" b="1" dirty="0">
                    <a:latin typeface="Cambria Math" panose="02040503050406030204" pitchFamily="18" charset="0"/>
                    <a:ea typeface="Cambria Math" panose="02040503050406030204" pitchFamily="18" charset="0"/>
                  </a:rPr>
                  <a:t>	T(n)=</a:t>
                </a:r>
                <a14:m>
                  <m:oMath xmlns:m="http://schemas.openxmlformats.org/officeDocument/2006/math">
                    <m:rad>
                      <m:radPr>
                        <m:degHide m:val="on"/>
                        <m:ctrlPr>
                          <a:rPr lang="en-US" sz="2600" b="1" i="1">
                            <a:latin typeface="Cambria Math" panose="02040503050406030204" pitchFamily="18" charset="0"/>
                            <a:ea typeface="Cambria Math" panose="02040503050406030204" pitchFamily="18" charset="0"/>
                          </a:rPr>
                        </m:ctrlPr>
                      </m:radPr>
                      <m:deg/>
                      <m:e>
                        <m:r>
                          <a:rPr lang="en-IN" sz="2600" b="1">
                            <a:latin typeface="Cambria Math" panose="02040503050406030204" pitchFamily="18" charset="0"/>
                            <a:ea typeface="Cambria Math" panose="02040503050406030204" pitchFamily="18" charset="0"/>
                          </a:rPr>
                          <m:t>𝐧</m:t>
                        </m:r>
                      </m:e>
                    </m:rad>
                  </m:oMath>
                </a14:m>
                <a:r>
                  <a:rPr lang="en-US" sz="2600" b="1" dirty="0">
                    <a:latin typeface="Cambria Math" panose="02040503050406030204" pitchFamily="18" charset="0"/>
                    <a:ea typeface="Cambria Math" panose="02040503050406030204" pitchFamily="18" charset="0"/>
                  </a:rPr>
                  <a:t>T(</a:t>
                </a:r>
                <a14:m>
                  <m:oMath xmlns:m="http://schemas.openxmlformats.org/officeDocument/2006/math">
                    <m:rad>
                      <m:radPr>
                        <m:degHide m:val="on"/>
                        <m:ctrlPr>
                          <a:rPr lang="en-US" sz="2600" b="1" i="1">
                            <a:latin typeface="Cambria Math" panose="02040503050406030204" pitchFamily="18" charset="0"/>
                            <a:ea typeface="Cambria Math" panose="02040503050406030204" pitchFamily="18" charset="0"/>
                          </a:rPr>
                        </m:ctrlPr>
                      </m:radPr>
                      <m:deg/>
                      <m:e>
                        <m:r>
                          <a:rPr lang="en-IN" sz="2600" b="1">
                            <a:latin typeface="Cambria Math" panose="02040503050406030204" pitchFamily="18" charset="0"/>
                            <a:ea typeface="Cambria Math" panose="02040503050406030204" pitchFamily="18" charset="0"/>
                          </a:rPr>
                          <m:t>𝐧</m:t>
                        </m:r>
                      </m:e>
                    </m:rad>
                  </m:oMath>
                </a14:m>
                <a:r>
                  <a:rPr lang="en-IN" sz="2600" b="1" dirty="0">
                    <a:latin typeface="Cambria Math" panose="02040503050406030204" pitchFamily="18" charset="0"/>
                    <a:ea typeface="Cambria Math" panose="02040503050406030204" pitchFamily="18" charset="0"/>
                  </a:rPr>
                  <a:t>) +n</a:t>
                </a:r>
              </a:p>
              <a:p>
                <a:pPr marL="0" indent="0">
                  <a:buNone/>
                </a:pPr>
                <a:r>
                  <a:rPr lang="en-IN" sz="2600" dirty="0">
                    <a:latin typeface="Cambria Math" panose="02040503050406030204" pitchFamily="18" charset="0"/>
                    <a:ea typeface="Cambria Math" panose="02040503050406030204" pitchFamily="18" charset="0"/>
                  </a:rPr>
                  <a:t>=&gt;First substitute </a:t>
                </a:r>
                <a:r>
                  <a:rPr lang="en-IN" sz="2600" dirty="0">
                    <a:solidFill>
                      <a:srgbClr val="C00000"/>
                    </a:solidFill>
                    <a:latin typeface="Cambria Math" panose="02040503050406030204" pitchFamily="18" charset="0"/>
                    <a:ea typeface="Cambria Math" panose="02040503050406030204" pitchFamily="18" charset="0"/>
                  </a:rPr>
                  <a:t>n = 2</a:t>
                </a:r>
                <a:r>
                  <a:rPr lang="en-IN" sz="2600" baseline="30000" dirty="0">
                    <a:solidFill>
                      <a:srgbClr val="C00000"/>
                    </a:solidFill>
                    <a:latin typeface="Cambria Math" panose="02040503050406030204" pitchFamily="18" charset="0"/>
                    <a:ea typeface="Cambria Math" panose="02040503050406030204" pitchFamily="18" charset="0"/>
                  </a:rPr>
                  <a:t>m</a:t>
                </a:r>
                <a:r>
                  <a:rPr lang="en-IN" sz="2600" dirty="0">
                    <a:solidFill>
                      <a:srgbClr val="C00000"/>
                    </a:solidFill>
                    <a:latin typeface="Cambria Math" panose="02040503050406030204" pitchFamily="18" charset="0"/>
                    <a:ea typeface="Cambria Math" panose="02040503050406030204" pitchFamily="18" charset="0"/>
                  </a:rPr>
                  <a:t> </a:t>
                </a:r>
              </a:p>
              <a:p>
                <a:pPr marL="0" indent="0">
                  <a:buNone/>
                </a:pPr>
                <a:r>
                  <a:rPr lang="en-IN" sz="2600" dirty="0">
                    <a:latin typeface="Cambria Math" panose="02040503050406030204" pitchFamily="18" charset="0"/>
                    <a:ea typeface="Cambria Math" panose="02040503050406030204" pitchFamily="18" charset="0"/>
                  </a:rPr>
                  <a:t>	T(2</a:t>
                </a:r>
                <a:r>
                  <a:rPr lang="en-IN" sz="2600" baseline="30000" dirty="0">
                    <a:latin typeface="Cambria Math" panose="02040503050406030204" pitchFamily="18" charset="0"/>
                    <a:ea typeface="Cambria Math" panose="02040503050406030204" pitchFamily="18" charset="0"/>
                  </a:rPr>
                  <a:t>m</a:t>
                </a:r>
                <a:r>
                  <a:rPr lang="en-IN" sz="2600" dirty="0">
                    <a:latin typeface="Cambria Math" panose="02040503050406030204" pitchFamily="18" charset="0"/>
                    <a:ea typeface="Cambria Math" panose="02040503050406030204" pitchFamily="18" charset="0"/>
                  </a:rPr>
                  <a:t>)=2</a:t>
                </a:r>
                <a:r>
                  <a:rPr lang="en-IN" sz="2600" baseline="30000" dirty="0">
                    <a:latin typeface="Cambria Math" panose="02040503050406030204" pitchFamily="18" charset="0"/>
                    <a:ea typeface="Cambria Math" panose="02040503050406030204" pitchFamily="18" charset="0"/>
                  </a:rPr>
                  <a:t>m/2</a:t>
                </a:r>
                <a:r>
                  <a:rPr lang="en-IN" sz="2600" dirty="0">
                    <a:latin typeface="Cambria Math" panose="02040503050406030204" pitchFamily="18" charset="0"/>
                    <a:ea typeface="Cambria Math" panose="02040503050406030204" pitchFamily="18" charset="0"/>
                  </a:rPr>
                  <a:t>T(2</a:t>
                </a:r>
                <a:r>
                  <a:rPr lang="en-IN" sz="2600" baseline="30000" dirty="0">
                    <a:latin typeface="Cambria Math" panose="02040503050406030204" pitchFamily="18" charset="0"/>
                    <a:ea typeface="Cambria Math" panose="02040503050406030204" pitchFamily="18" charset="0"/>
                  </a:rPr>
                  <a:t>m/2</a:t>
                </a:r>
                <a:r>
                  <a:rPr lang="en-IN" sz="2600" dirty="0">
                    <a:latin typeface="Cambria Math" panose="02040503050406030204" pitchFamily="18" charset="0"/>
                    <a:ea typeface="Cambria Math" panose="02040503050406030204" pitchFamily="18" charset="0"/>
                  </a:rPr>
                  <a:t>)+2</a:t>
                </a:r>
                <a:r>
                  <a:rPr lang="en-IN" sz="2600" baseline="30000" dirty="0">
                    <a:latin typeface="Cambria Math" panose="02040503050406030204" pitchFamily="18" charset="0"/>
                    <a:ea typeface="Cambria Math" panose="02040503050406030204" pitchFamily="18" charset="0"/>
                  </a:rPr>
                  <a:t>m       </a:t>
                </a:r>
              </a:p>
              <a:p>
                <a:pPr marL="0" indent="0">
                  <a:buNone/>
                </a:pPr>
                <a:r>
                  <a:rPr lang="en-IN" sz="2600" dirty="0">
                    <a:latin typeface="Cambria Math" panose="02040503050406030204" pitchFamily="18" charset="0"/>
                    <a:ea typeface="Cambria Math" panose="02040503050406030204" pitchFamily="18" charset="0"/>
                  </a:rPr>
                  <a:t>	Now divide both side by 2</a:t>
                </a:r>
                <a:r>
                  <a:rPr lang="en-IN" sz="2600" baseline="30000" dirty="0">
                    <a:latin typeface="Cambria Math" panose="02040503050406030204" pitchFamily="18" charset="0"/>
                    <a:ea typeface="Cambria Math" panose="02040503050406030204" pitchFamily="18" charset="0"/>
                  </a:rPr>
                  <a:t>m </a:t>
                </a:r>
              </a:p>
              <a:p>
                <a:pPr marL="0" indent="0">
                  <a:buNone/>
                </a:pPr>
                <a:r>
                  <a:rPr lang="en-IN" sz="2600" dirty="0">
                    <a:ea typeface="Cambria Math" panose="02040503050406030204" pitchFamily="18" charset="0"/>
                  </a:rPr>
                  <a:t>	</a:t>
                </a:r>
                <a14:m>
                  <m:oMath xmlns:m="http://schemas.openxmlformats.org/officeDocument/2006/math">
                    <m:box>
                      <m:boxPr>
                        <m:ctrlPr>
                          <a:rPr lang="en-IN" sz="2600" i="1" dirty="0" smtClean="0">
                            <a:latin typeface="Cambria Math" panose="02040503050406030204" pitchFamily="18" charset="0"/>
                            <a:ea typeface="Cambria Math" panose="02040503050406030204" pitchFamily="18" charset="0"/>
                          </a:rPr>
                        </m:ctrlPr>
                      </m:boxPr>
                      <m:e>
                        <m:argPr>
                          <m:argSz m:val="-1"/>
                        </m:argPr>
                        <m:f>
                          <m:fPr>
                            <m:ctrlPr>
                              <a:rPr lang="en-IN" sz="2600" i="1" dirty="0">
                                <a:latin typeface="Cambria Math" panose="02040503050406030204" pitchFamily="18" charset="0"/>
                                <a:ea typeface="Cambria Math" panose="02040503050406030204" pitchFamily="18" charset="0"/>
                              </a:rPr>
                            </m:ctrlPr>
                          </m:fPr>
                          <m:num>
                            <m:r>
                              <m:rPr>
                                <m:nor/>
                              </m:rPr>
                              <a:rPr lang="en-IN" sz="2600" b="0" i="0" dirty="0" smtClean="0">
                                <a:latin typeface="Cambria Math" panose="02040503050406030204" pitchFamily="18" charset="0"/>
                                <a:ea typeface="Cambria Math" panose="02040503050406030204" pitchFamily="18" charset="0"/>
                              </a:rPr>
                              <m:t>T</m:t>
                            </m:r>
                            <m:r>
                              <m:rPr>
                                <m:nor/>
                              </m:rPr>
                              <a:rPr lang="en-IN" sz="2600" b="0" i="0" dirty="0" smtClean="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0" i="0" dirty="0" smtClean="0">
                                <a:latin typeface="Cambria Math" panose="02040503050406030204" pitchFamily="18" charset="0"/>
                                <a:ea typeface="Cambria Math" panose="02040503050406030204" pitchFamily="18" charset="0"/>
                              </a:rPr>
                              <m:t>)</m:t>
                            </m:r>
                            <m:r>
                              <a:rPr lang="en-IN" sz="2600" i="1" dirty="0" smtClean="0">
                                <a:latin typeface="Cambria Math" panose="02040503050406030204" pitchFamily="18" charset="0"/>
                                <a:ea typeface="Cambria Math" panose="02040503050406030204" pitchFamily="18" charset="0"/>
                              </a:rPr>
                              <m:t> </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e>
                    </m:box>
                  </m:oMath>
                </a14:m>
                <a:r>
                  <a:rPr lang="en-IN" sz="2600" baseline="30000" dirty="0">
                    <a:latin typeface="Cambria Math" panose="02040503050406030204" pitchFamily="18" charset="0"/>
                    <a:ea typeface="Cambria Math" panose="02040503050406030204" pitchFamily="18" charset="0"/>
                  </a:rPr>
                  <a:t> </a:t>
                </a:r>
                <a:r>
                  <a:rPr lang="en-IN" sz="2600" dirty="0">
                    <a:latin typeface="Cambria Math" panose="02040503050406030204" pitchFamily="18" charset="0"/>
                    <a:ea typeface="Cambria Math" panose="02040503050406030204" pitchFamily="18" charset="0"/>
                  </a:rPr>
                  <a:t>=</a:t>
                </a:r>
                <a14:m>
                  <m:oMath xmlns:m="http://schemas.openxmlformats.org/officeDocument/2006/math">
                    <m:box>
                      <m:boxPr>
                        <m:ctrlPr>
                          <a:rPr lang="en-IN" sz="2600" i="1" dirty="0" smtClean="0">
                            <a:latin typeface="Cambria Math" panose="02040503050406030204" pitchFamily="18" charset="0"/>
                            <a:ea typeface="Cambria Math" panose="02040503050406030204" pitchFamily="18" charset="0"/>
                          </a:rPr>
                        </m:ctrlPr>
                      </m:boxPr>
                      <m:e>
                        <m:argPr>
                          <m:argSz m:val="-1"/>
                        </m:argPr>
                        <m:f>
                          <m:fPr>
                            <m:ctrlPr>
                              <a:rPr lang="en-IN" sz="2600" i="1" dirty="0" smtClean="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aseline="30000" dirty="0">
                                <a:latin typeface="Cambria Math" panose="02040503050406030204" pitchFamily="18" charset="0"/>
                                <a:ea typeface="Cambria Math" panose="02040503050406030204" pitchFamily="18" charset="0"/>
                              </a:rPr>
                              <m:t>/2</m:t>
                            </m:r>
                            <m:r>
                              <m:rPr>
                                <m:nor/>
                              </m:rPr>
                              <a:rPr lang="en-IN" sz="2600" dirty="0">
                                <a:latin typeface="Cambria Math" panose="02040503050406030204" pitchFamily="18" charset="0"/>
                                <a:ea typeface="Cambria Math" panose="02040503050406030204" pitchFamily="18" charset="0"/>
                              </a:rPr>
                              <m:t>T</m:t>
                            </m:r>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aseline="30000" dirty="0">
                                <a:latin typeface="Cambria Math" panose="02040503050406030204" pitchFamily="18" charset="0"/>
                                <a:ea typeface="Cambria Math" panose="02040503050406030204" pitchFamily="18" charset="0"/>
                              </a:rPr>
                              <m:t>/2)</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e>
                    </m:box>
                  </m:oMath>
                </a14:m>
                <a:r>
                  <a:rPr lang="en-IN" sz="2600" dirty="0">
                    <a:latin typeface="Cambria Math" panose="02040503050406030204" pitchFamily="18" charset="0"/>
                    <a:ea typeface="Cambria Math" panose="02040503050406030204" pitchFamily="18" charset="0"/>
                  </a:rPr>
                  <a:t>+</a:t>
                </a:r>
                <a14:m>
                  <m:oMath xmlns:m="http://schemas.openxmlformats.org/officeDocument/2006/math">
                    <m:box>
                      <m:boxPr>
                        <m:ctrlPr>
                          <a:rPr lang="en-IN" sz="2600" i="1" dirty="0" smtClean="0">
                            <a:latin typeface="Cambria Math" panose="02040503050406030204" pitchFamily="18" charset="0"/>
                            <a:ea typeface="Cambria Math" panose="02040503050406030204" pitchFamily="18" charset="0"/>
                          </a:rPr>
                        </m:ctrlPr>
                      </m:boxPr>
                      <m:e>
                        <m:argPr>
                          <m:argSz m:val="-1"/>
                        </m:argPr>
                        <m:f>
                          <m:fPr>
                            <m:ctrlPr>
                              <a:rPr lang="en-IN" sz="2600" i="1" dirty="0" smtClean="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e>
                    </m:box>
                  </m:oMath>
                </a14:m>
                <a:r>
                  <a:rPr lang="en-IN" sz="2600" baseline="30000" dirty="0">
                    <a:latin typeface="Cambria Math" panose="02040503050406030204" pitchFamily="18" charset="0"/>
                    <a:ea typeface="Cambria Math" panose="02040503050406030204" pitchFamily="18" charset="0"/>
                  </a:rPr>
                  <a:t> </a:t>
                </a:r>
              </a:p>
              <a:p>
                <a:pPr marL="0" indent="0">
                  <a:buNone/>
                </a:pPr>
                <a:endParaRPr lang="en-IN" sz="2600" baseline="30000" dirty="0">
                  <a:latin typeface="Cambria Math" panose="02040503050406030204" pitchFamily="18" charset="0"/>
                  <a:ea typeface="Cambria Math" panose="02040503050406030204" pitchFamily="18" charset="0"/>
                </a:endParaRPr>
              </a:p>
              <a:p>
                <a:pPr marL="0" indent="0">
                  <a:buNone/>
                </a:pPr>
                <a:r>
                  <a:rPr lang="en-IN" sz="2600" dirty="0">
                    <a:ea typeface="Cambria Math" panose="02040503050406030204" pitchFamily="18" charset="0"/>
                  </a:rPr>
                  <a:t>	</a:t>
                </a:r>
                <a14:m>
                  <m:oMath xmlns:m="http://schemas.openxmlformats.org/officeDocument/2006/math">
                    <m:box>
                      <m:boxPr>
                        <m:ctrlPr>
                          <a:rPr lang="en-IN" sz="2600" i="1" dirty="0">
                            <a:latin typeface="Cambria Math" panose="02040503050406030204" pitchFamily="18" charset="0"/>
                            <a:ea typeface="Cambria Math" panose="02040503050406030204" pitchFamily="18" charset="0"/>
                          </a:rPr>
                        </m:ctrlPr>
                      </m:boxPr>
                      <m:e>
                        <m:argPr>
                          <m:argSz m:val="-1"/>
                        </m:argPr>
                        <m:f>
                          <m:fPr>
                            <m:ctrlPr>
                              <a:rPr lang="en-IN" sz="2600" i="1" dirty="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T</m:t>
                            </m:r>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dirty="0">
                                <a:latin typeface="Cambria Math" panose="02040503050406030204" pitchFamily="18" charset="0"/>
                                <a:ea typeface="Cambria Math" panose="02040503050406030204" pitchFamily="18" charset="0"/>
                              </a:rPr>
                              <m:t>)</m:t>
                            </m:r>
                            <m:r>
                              <a:rPr lang="en-IN" sz="2600" i="1" dirty="0">
                                <a:latin typeface="Cambria Math" panose="02040503050406030204" pitchFamily="18" charset="0"/>
                                <a:ea typeface="Cambria Math" panose="02040503050406030204" pitchFamily="18" charset="0"/>
                              </a:rPr>
                              <m:t> </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e>
                    </m:box>
                  </m:oMath>
                </a14:m>
                <a:r>
                  <a:rPr lang="en-IN" sz="2600" baseline="30000" dirty="0">
                    <a:latin typeface="Cambria Math" panose="02040503050406030204" pitchFamily="18" charset="0"/>
                    <a:ea typeface="Cambria Math" panose="02040503050406030204" pitchFamily="18" charset="0"/>
                  </a:rPr>
                  <a:t> </a:t>
                </a:r>
                <a:r>
                  <a:rPr lang="en-IN" sz="2600" dirty="0">
                    <a:latin typeface="Cambria Math" panose="02040503050406030204" pitchFamily="18" charset="0"/>
                    <a:ea typeface="Cambria Math" panose="02040503050406030204" pitchFamily="18" charset="0"/>
                  </a:rPr>
                  <a:t>=</a:t>
                </a:r>
                <a14:m>
                  <m:oMath xmlns:m="http://schemas.openxmlformats.org/officeDocument/2006/math">
                    <m:box>
                      <m:boxPr>
                        <m:ctrlPr>
                          <a:rPr lang="en-IN" sz="2600" i="1" dirty="0">
                            <a:latin typeface="Cambria Math" panose="02040503050406030204" pitchFamily="18" charset="0"/>
                            <a:ea typeface="Cambria Math" panose="02040503050406030204" pitchFamily="18" charset="0"/>
                          </a:rPr>
                        </m:ctrlPr>
                      </m:boxPr>
                      <m:e>
                        <m:argPr>
                          <m:argSz m:val="-1"/>
                        </m:argPr>
                        <m:f>
                          <m:fPr>
                            <m:ctrlPr>
                              <a:rPr lang="en-IN" sz="2600" i="1" dirty="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aseline="30000" dirty="0">
                                <a:latin typeface="Cambria Math" panose="02040503050406030204" pitchFamily="18" charset="0"/>
                                <a:ea typeface="Cambria Math" panose="02040503050406030204" pitchFamily="18" charset="0"/>
                              </a:rPr>
                              <m:t>/2</m:t>
                            </m:r>
                            <m:r>
                              <m:rPr>
                                <m:nor/>
                              </m:rPr>
                              <a:rPr lang="en-IN" sz="2600" dirty="0">
                                <a:latin typeface="Cambria Math" panose="02040503050406030204" pitchFamily="18" charset="0"/>
                                <a:ea typeface="Cambria Math" panose="02040503050406030204" pitchFamily="18" charset="0"/>
                              </a:rPr>
                              <m:t>T</m:t>
                            </m:r>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aseline="30000" dirty="0">
                                <a:latin typeface="Cambria Math" panose="02040503050406030204" pitchFamily="18" charset="0"/>
                                <a:ea typeface="Cambria Math" panose="02040503050406030204" pitchFamily="18" charset="0"/>
                              </a:rPr>
                              <m:t>/2)</m:t>
                            </m:r>
                            <m:r>
                              <a:rPr lang="en-IN" sz="2600" i="1" dirty="0" smtClean="0">
                                <a:latin typeface="Cambria Math" panose="02040503050406030204" pitchFamily="18" charset="0"/>
                                <a:ea typeface="Cambria Math" panose="02040503050406030204" pitchFamily="18" charset="0"/>
                              </a:rPr>
                              <m:t> </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e>
                    </m:box>
                  </m:oMath>
                </a14:m>
                <a:r>
                  <a:rPr lang="en-IN" sz="2600" dirty="0">
                    <a:latin typeface="Cambria Math" panose="02040503050406030204" pitchFamily="18" charset="0"/>
                    <a:ea typeface="Cambria Math" panose="02040503050406030204" pitchFamily="18" charset="0"/>
                  </a:rPr>
                  <a:t>+</a:t>
                </a:r>
                <a14:m>
                  <m:oMath xmlns:m="http://schemas.openxmlformats.org/officeDocument/2006/math">
                    <m:r>
                      <a:rPr lang="en-IN" sz="2600" b="0" i="1" dirty="0" smtClean="0">
                        <a:latin typeface="Cambria Math" panose="02040503050406030204" pitchFamily="18" charset="0"/>
                        <a:ea typeface="Cambria Math" panose="02040503050406030204" pitchFamily="18" charset="0"/>
                      </a:rPr>
                      <m:t>1</m:t>
                    </m:r>
                  </m:oMath>
                </a14:m>
                <a:r>
                  <a:rPr lang="en-IN" sz="2600" b="0" dirty="0">
                    <a:latin typeface="Cambria Math" panose="02040503050406030204" pitchFamily="18" charset="0"/>
                    <a:ea typeface="Cambria Math" panose="02040503050406030204" pitchFamily="18" charset="0"/>
                  </a:rPr>
                  <a:t>                     {</a:t>
                </a:r>
                <a14:m>
                  <m:oMath xmlns:m="http://schemas.openxmlformats.org/officeDocument/2006/math">
                    <m:box>
                      <m:boxPr>
                        <m:ctrlPr>
                          <a:rPr lang="en-IN" sz="2600" i="1" dirty="0">
                            <a:latin typeface="Cambria Math" panose="02040503050406030204" pitchFamily="18" charset="0"/>
                            <a:ea typeface="Cambria Math" panose="02040503050406030204" pitchFamily="18" charset="0"/>
                          </a:rPr>
                        </m:ctrlPr>
                      </m:boxPr>
                      <m:e>
                        <m:argPr>
                          <m:argSz m:val="-1"/>
                        </m:argPr>
                        <m:f>
                          <m:fPr>
                            <m:ctrlPr>
                              <a:rPr lang="en-IN" sz="2600" i="1" dirty="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T</m:t>
                            </m:r>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dirty="0">
                                <a:latin typeface="Cambria Math" panose="02040503050406030204" pitchFamily="18" charset="0"/>
                                <a:ea typeface="Cambria Math" panose="02040503050406030204" pitchFamily="18" charset="0"/>
                              </a:rPr>
                              <m:t>)</m:t>
                            </m:r>
                            <m:r>
                              <a:rPr lang="en-IN" sz="2600" i="1" dirty="0">
                                <a:latin typeface="Cambria Math" panose="02040503050406030204" pitchFamily="18" charset="0"/>
                                <a:ea typeface="Cambria Math" panose="02040503050406030204" pitchFamily="18" charset="0"/>
                              </a:rPr>
                              <m:t> </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e>
                    </m:box>
                  </m:oMath>
                </a14:m>
                <a:r>
                  <a:rPr lang="en-IN" sz="2600" baseline="30000" dirty="0">
                    <a:latin typeface="Cambria Math" panose="02040503050406030204" pitchFamily="18" charset="0"/>
                    <a:ea typeface="Cambria Math" panose="02040503050406030204" pitchFamily="18" charset="0"/>
                  </a:rPr>
                  <a:t> </a:t>
                </a:r>
                <a:r>
                  <a:rPr lang="en-IN" sz="2600" dirty="0">
                    <a:latin typeface="Cambria Math" panose="02040503050406030204" pitchFamily="18" charset="0"/>
                    <a:ea typeface="Cambria Math" panose="02040503050406030204" pitchFamily="18" charset="0"/>
                  </a:rPr>
                  <a:t>=</a:t>
                </a:r>
                <a14:m>
                  <m:oMath xmlns:m="http://schemas.openxmlformats.org/officeDocument/2006/math">
                    <m:box>
                      <m:boxPr>
                        <m:ctrlPr>
                          <a:rPr lang="en-IN" sz="2600" i="1" dirty="0">
                            <a:latin typeface="Cambria Math" panose="02040503050406030204" pitchFamily="18" charset="0"/>
                            <a:ea typeface="Cambria Math" panose="02040503050406030204" pitchFamily="18" charset="0"/>
                          </a:rPr>
                        </m:ctrlPr>
                      </m:boxPr>
                      <m:e>
                        <m:argPr>
                          <m:argSz m:val="-1"/>
                        </m:argPr>
                        <m:f>
                          <m:fPr>
                            <m:ctrlPr>
                              <a:rPr lang="en-IN" sz="2600" i="1" dirty="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T</m:t>
                            </m:r>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aseline="30000" dirty="0">
                                <a:latin typeface="Cambria Math" panose="02040503050406030204" pitchFamily="18" charset="0"/>
                                <a:ea typeface="Cambria Math" panose="02040503050406030204" pitchFamily="18" charset="0"/>
                              </a:rPr>
                              <m:t>/2)</m:t>
                            </m:r>
                            <m:r>
                              <a:rPr lang="en-IN" sz="2600" i="1" dirty="0">
                                <a:latin typeface="Cambria Math" panose="02040503050406030204" pitchFamily="18" charset="0"/>
                                <a:ea typeface="Cambria Math" panose="02040503050406030204" pitchFamily="18" charset="0"/>
                              </a:rPr>
                              <m:t> </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baseline="30000" dirty="0">
                                <a:latin typeface="Cambria Math" panose="02040503050406030204" pitchFamily="18" charset="0"/>
                                <a:ea typeface="Cambria Math" panose="02040503050406030204" pitchFamily="18" charset="0"/>
                              </a:rPr>
                              <m:t>/2</m:t>
                            </m:r>
                          </m:den>
                        </m:f>
                      </m:e>
                    </m:box>
                  </m:oMath>
                </a14:m>
                <a:r>
                  <a:rPr lang="en-IN" sz="2600" dirty="0">
                    <a:latin typeface="Cambria Math" panose="02040503050406030204" pitchFamily="18" charset="0"/>
                    <a:ea typeface="Cambria Math" panose="02040503050406030204" pitchFamily="18" charset="0"/>
                  </a:rPr>
                  <a:t>+</a:t>
                </a:r>
                <a14:m>
                  <m:oMath xmlns:m="http://schemas.openxmlformats.org/officeDocument/2006/math">
                    <m:r>
                      <a:rPr lang="en-IN" sz="2600" i="1" dirty="0">
                        <a:latin typeface="Cambria Math" panose="02040503050406030204" pitchFamily="18" charset="0"/>
                        <a:ea typeface="Cambria Math" panose="02040503050406030204" pitchFamily="18" charset="0"/>
                      </a:rPr>
                      <m:t>1</m:t>
                    </m:r>
                  </m:oMath>
                </a14:m>
                <a:r>
                  <a:rPr lang="en-IN" sz="2600" b="0" dirty="0">
                    <a:latin typeface="Cambria Math" panose="02040503050406030204" pitchFamily="18" charset="0"/>
                    <a:ea typeface="Cambria Math" panose="02040503050406030204" pitchFamily="18" charset="0"/>
                  </a:rPr>
                  <a:t>}</a:t>
                </a:r>
              </a:p>
              <a:p>
                <a:pPr marL="0" indent="0">
                  <a:buNone/>
                </a:pPr>
                <a:endParaRPr lang="en-IN" sz="2600" baseline="30000" dirty="0">
                  <a:latin typeface="Cambria Math" panose="02040503050406030204" pitchFamily="18" charset="0"/>
                  <a:ea typeface="Cambria Math" panose="02040503050406030204" pitchFamily="18" charset="0"/>
                </a:endParaRPr>
              </a:p>
              <a:p>
                <a:pPr marL="0" indent="0">
                  <a:buNone/>
                </a:pPr>
                <a:r>
                  <a:rPr lang="en-IN" sz="2600" dirty="0">
                    <a:latin typeface="Cambria Math" panose="02040503050406030204" pitchFamily="18" charset="0"/>
                    <a:ea typeface="Cambria Math" panose="02040503050406030204" pitchFamily="18" charset="0"/>
                  </a:rPr>
                  <a:t>=&gt;second substitution </a:t>
                </a:r>
                <a:r>
                  <a:rPr lang="en-IN" sz="2600" dirty="0">
                    <a:solidFill>
                      <a:srgbClr val="C00000"/>
                    </a:solidFill>
                    <a:latin typeface="Cambria Math" panose="02040503050406030204" pitchFamily="18" charset="0"/>
                    <a:ea typeface="Cambria Math" panose="02040503050406030204" pitchFamily="18" charset="0"/>
                  </a:rPr>
                  <a:t>S(m)=</a:t>
                </a:r>
                <a14:m>
                  <m:oMath xmlns:m="http://schemas.openxmlformats.org/officeDocument/2006/math">
                    <m:f>
                      <m:fPr>
                        <m:ctrlPr>
                          <a:rPr lang="en-IN" sz="2600" i="1" dirty="0" smtClean="0">
                            <a:solidFill>
                              <a:srgbClr val="C00000"/>
                            </a:solidFill>
                            <a:latin typeface="Cambria Math" panose="02040503050406030204" pitchFamily="18" charset="0"/>
                            <a:ea typeface="Cambria Math" panose="02040503050406030204" pitchFamily="18" charset="0"/>
                          </a:rPr>
                        </m:ctrlPr>
                      </m:fPr>
                      <m:num>
                        <m:r>
                          <m:rPr>
                            <m:nor/>
                          </m:rPr>
                          <a:rPr lang="en-IN" sz="2600" dirty="0">
                            <a:solidFill>
                              <a:srgbClr val="C00000"/>
                            </a:solidFill>
                            <a:latin typeface="Cambria Math" panose="02040503050406030204" pitchFamily="18" charset="0"/>
                            <a:ea typeface="Cambria Math" panose="02040503050406030204" pitchFamily="18" charset="0"/>
                          </a:rPr>
                          <m:t>T</m:t>
                        </m:r>
                        <m:r>
                          <m:rPr>
                            <m:nor/>
                          </m:rPr>
                          <a:rPr lang="en-IN" sz="2600" dirty="0">
                            <a:solidFill>
                              <a:srgbClr val="C00000"/>
                            </a:solidFill>
                            <a:latin typeface="Cambria Math" panose="02040503050406030204" pitchFamily="18" charset="0"/>
                            <a:ea typeface="Cambria Math" panose="02040503050406030204" pitchFamily="18" charset="0"/>
                          </a:rPr>
                          <m:t>(2</m:t>
                        </m:r>
                        <m:r>
                          <m:rPr>
                            <m:nor/>
                          </m:rPr>
                          <a:rPr lang="en-IN" sz="2600" baseline="30000" dirty="0">
                            <a:solidFill>
                              <a:srgbClr val="C00000"/>
                            </a:solidFill>
                            <a:latin typeface="Cambria Math" panose="02040503050406030204" pitchFamily="18" charset="0"/>
                            <a:ea typeface="Cambria Math" panose="02040503050406030204" pitchFamily="18" charset="0"/>
                          </a:rPr>
                          <m:t>m</m:t>
                        </m:r>
                        <m:r>
                          <m:rPr>
                            <m:nor/>
                          </m:rPr>
                          <a:rPr lang="en-IN" sz="2600" dirty="0">
                            <a:solidFill>
                              <a:srgbClr val="C00000"/>
                            </a:solidFill>
                            <a:latin typeface="Cambria Math" panose="02040503050406030204" pitchFamily="18" charset="0"/>
                            <a:ea typeface="Cambria Math" panose="02040503050406030204" pitchFamily="18" charset="0"/>
                          </a:rPr>
                          <m:t>)</m:t>
                        </m:r>
                        <m:r>
                          <a:rPr lang="en-IN" sz="2600" i="1" dirty="0">
                            <a:solidFill>
                              <a:srgbClr val="C00000"/>
                            </a:solidFill>
                            <a:latin typeface="Cambria Math" panose="02040503050406030204" pitchFamily="18" charset="0"/>
                            <a:ea typeface="Cambria Math" panose="02040503050406030204" pitchFamily="18" charset="0"/>
                          </a:rPr>
                          <m:t> </m:t>
                        </m:r>
                      </m:num>
                      <m:den>
                        <m:r>
                          <m:rPr>
                            <m:nor/>
                          </m:rPr>
                          <a:rPr lang="en-IN" sz="2600" dirty="0">
                            <a:solidFill>
                              <a:srgbClr val="C00000"/>
                            </a:solidFill>
                            <a:latin typeface="Cambria Math" panose="02040503050406030204" pitchFamily="18" charset="0"/>
                            <a:ea typeface="Cambria Math" panose="02040503050406030204" pitchFamily="18" charset="0"/>
                          </a:rPr>
                          <m:t>2</m:t>
                        </m:r>
                        <m:r>
                          <m:rPr>
                            <m:nor/>
                          </m:rPr>
                          <a:rPr lang="en-IN" sz="2600" baseline="30000" dirty="0">
                            <a:solidFill>
                              <a:srgbClr val="C00000"/>
                            </a:solidFill>
                            <a:latin typeface="Cambria Math" panose="02040503050406030204" pitchFamily="18" charset="0"/>
                            <a:ea typeface="Cambria Math" panose="02040503050406030204" pitchFamily="18" charset="0"/>
                          </a:rPr>
                          <m:t>m</m:t>
                        </m:r>
                      </m:den>
                    </m:f>
                  </m:oMath>
                </a14:m>
                <a:endParaRPr lang="en-IN" sz="2600" baseline="30000" dirty="0">
                  <a:latin typeface="Cambria Math" panose="02040503050406030204" pitchFamily="18" charset="0"/>
                  <a:ea typeface="Cambria Math" panose="02040503050406030204" pitchFamily="18" charset="0"/>
                </a:endParaRPr>
              </a:p>
              <a:p>
                <a:pPr marL="0" indent="0">
                  <a:buNone/>
                </a:pPr>
                <a:r>
                  <a:rPr lang="en-IN" sz="2600" dirty="0">
                    <a:latin typeface="Cambria Math" panose="02040503050406030204" pitchFamily="18" charset="0"/>
                    <a:ea typeface="Cambria Math" panose="02040503050406030204" pitchFamily="18" charset="0"/>
                  </a:rPr>
                  <a:t>	S(m)=S(m/2)+1</a:t>
                </a:r>
              </a:p>
              <a:p>
                <a:pPr marL="0" indent="0">
                  <a:buNone/>
                </a:pPr>
                <a:r>
                  <a:rPr lang="en-IN" sz="2600" dirty="0">
                    <a:latin typeface="Cambria Math" panose="02040503050406030204" pitchFamily="18" charset="0"/>
                    <a:ea typeface="Cambria Math" panose="02040503050406030204" pitchFamily="18" charset="0"/>
                  </a:rPr>
                  <a:t>	By applying masters method we get : S(m)= log m	</a:t>
                </a:r>
              </a:p>
              <a:p>
                <a:pPr marL="0" indent="0">
                  <a:buNone/>
                </a:pPr>
                <a:r>
                  <a:rPr lang="en-IN" sz="2600" dirty="0">
                    <a:latin typeface="Cambria Math" panose="02040503050406030204" pitchFamily="18" charset="0"/>
                    <a:ea typeface="Cambria Math" panose="02040503050406030204" pitchFamily="18" charset="0"/>
                  </a:rPr>
                  <a:t>	Now back substitution =&gt; </a:t>
                </a:r>
                <a14:m>
                  <m:oMath xmlns:m="http://schemas.openxmlformats.org/officeDocument/2006/math">
                    <m:f>
                      <m:fPr>
                        <m:ctrlPr>
                          <a:rPr lang="en-IN" sz="2600" i="1" dirty="0">
                            <a:latin typeface="Cambria Math" panose="02040503050406030204" pitchFamily="18" charset="0"/>
                            <a:ea typeface="Cambria Math" panose="02040503050406030204" pitchFamily="18" charset="0"/>
                          </a:rPr>
                        </m:ctrlPr>
                      </m:fPr>
                      <m:num>
                        <m:r>
                          <m:rPr>
                            <m:nor/>
                          </m:rPr>
                          <a:rPr lang="en-IN" sz="2600" dirty="0">
                            <a:latin typeface="Cambria Math" panose="02040503050406030204" pitchFamily="18" charset="0"/>
                            <a:ea typeface="Cambria Math" panose="02040503050406030204" pitchFamily="18" charset="0"/>
                          </a:rPr>
                          <m:t>T</m:t>
                        </m:r>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r>
                          <m:rPr>
                            <m:nor/>
                          </m:rPr>
                          <a:rPr lang="en-IN" sz="2600" dirty="0">
                            <a:latin typeface="Cambria Math" panose="02040503050406030204" pitchFamily="18" charset="0"/>
                            <a:ea typeface="Cambria Math" panose="02040503050406030204" pitchFamily="18" charset="0"/>
                          </a:rPr>
                          <m:t>)</m:t>
                        </m:r>
                        <m:r>
                          <a:rPr lang="en-IN" sz="2600" i="1" dirty="0">
                            <a:latin typeface="Cambria Math" panose="02040503050406030204" pitchFamily="18" charset="0"/>
                            <a:ea typeface="Cambria Math" panose="02040503050406030204" pitchFamily="18" charset="0"/>
                          </a:rPr>
                          <m:t> </m:t>
                        </m:r>
                      </m:num>
                      <m:den>
                        <m:r>
                          <m:rPr>
                            <m:nor/>
                          </m:rPr>
                          <a:rPr lang="en-IN" sz="2600" dirty="0">
                            <a:latin typeface="Cambria Math" panose="02040503050406030204" pitchFamily="18" charset="0"/>
                            <a:ea typeface="Cambria Math" panose="02040503050406030204" pitchFamily="18" charset="0"/>
                          </a:rPr>
                          <m:t>2</m:t>
                        </m:r>
                        <m:r>
                          <m:rPr>
                            <m:nor/>
                          </m:rPr>
                          <a:rPr lang="en-IN" sz="2600" baseline="30000" dirty="0">
                            <a:latin typeface="Cambria Math" panose="02040503050406030204" pitchFamily="18" charset="0"/>
                            <a:ea typeface="Cambria Math" panose="02040503050406030204" pitchFamily="18" charset="0"/>
                          </a:rPr>
                          <m:t>m</m:t>
                        </m:r>
                      </m:den>
                    </m:f>
                  </m:oMath>
                </a14:m>
                <a:r>
                  <a:rPr lang="en-IN" sz="2600" dirty="0">
                    <a:latin typeface="Cambria Math" panose="02040503050406030204" pitchFamily="18" charset="0"/>
                    <a:ea typeface="Cambria Math" panose="02040503050406030204" pitchFamily="18" charset="0"/>
                  </a:rPr>
                  <a:t>=log m</a:t>
                </a:r>
              </a:p>
              <a:p>
                <a:pPr marL="0" indent="0">
                  <a:buNone/>
                </a:pPr>
                <a:r>
                  <a:rPr lang="en-IN" sz="2600" dirty="0">
                    <a:latin typeface="Cambria Math" panose="02040503050406030204" pitchFamily="18" charset="0"/>
                    <a:ea typeface="Cambria Math" panose="02040503050406030204" pitchFamily="18" charset="0"/>
                  </a:rPr>
                  <a:t>	T(2</a:t>
                </a:r>
                <a:r>
                  <a:rPr lang="en-IN" sz="2600" baseline="30000" dirty="0">
                    <a:latin typeface="Cambria Math" panose="02040503050406030204" pitchFamily="18" charset="0"/>
                    <a:ea typeface="Cambria Math" panose="02040503050406030204" pitchFamily="18" charset="0"/>
                  </a:rPr>
                  <a:t>m</a:t>
                </a:r>
                <a:r>
                  <a:rPr lang="en-IN" sz="2600" dirty="0">
                    <a:latin typeface="Cambria Math" panose="02040503050406030204" pitchFamily="18" charset="0"/>
                    <a:ea typeface="Cambria Math" panose="02040503050406030204" pitchFamily="18" charset="0"/>
                  </a:rPr>
                  <a:t>)=2</a:t>
                </a:r>
                <a:r>
                  <a:rPr lang="en-IN" sz="2600" baseline="30000" dirty="0">
                    <a:latin typeface="Cambria Math" panose="02040503050406030204" pitchFamily="18" charset="0"/>
                    <a:ea typeface="Cambria Math" panose="02040503050406030204" pitchFamily="18" charset="0"/>
                  </a:rPr>
                  <a:t>m</a:t>
                </a:r>
                <a:r>
                  <a:rPr lang="en-IN" sz="2600" dirty="0">
                    <a:latin typeface="Cambria Math" panose="02040503050406030204" pitchFamily="18" charset="0"/>
                    <a:ea typeface="Cambria Math" panose="02040503050406030204" pitchFamily="18" charset="0"/>
                  </a:rPr>
                  <a:t> log m</a:t>
                </a:r>
              </a:p>
              <a:p>
                <a:pPr marL="0" indent="0">
                  <a:buNone/>
                </a:pPr>
                <a:r>
                  <a:rPr lang="en-IN" sz="2600" dirty="0">
                    <a:latin typeface="Cambria Math" panose="02040503050406030204" pitchFamily="18" charset="0"/>
                    <a:ea typeface="Cambria Math" panose="02040503050406030204" pitchFamily="18" charset="0"/>
                  </a:rPr>
                  <a:t>	Again back-substitute: T(n)=n log </a:t>
                </a:r>
                <a:r>
                  <a:rPr lang="en-IN" sz="2600" dirty="0" err="1">
                    <a:latin typeface="Cambria Math" panose="02040503050406030204" pitchFamily="18" charset="0"/>
                    <a:ea typeface="Cambria Math" panose="02040503050406030204" pitchFamily="18" charset="0"/>
                  </a:rPr>
                  <a:t>log</a:t>
                </a:r>
                <a:r>
                  <a:rPr lang="en-IN" sz="2600" dirty="0">
                    <a:latin typeface="Cambria Math" panose="02040503050406030204" pitchFamily="18" charset="0"/>
                    <a:ea typeface="Cambria Math" panose="02040503050406030204" pitchFamily="18" charset="0"/>
                  </a:rPr>
                  <a:t> n</a:t>
                </a:r>
              </a:p>
              <a:p>
                <a:pPr marL="0" indent="0">
                  <a:buNone/>
                </a:pPr>
                <a:endParaRPr lang="en-IN" dirty="0">
                  <a:latin typeface="Cambria Math" panose="02040503050406030204" pitchFamily="18" charset="0"/>
                  <a:ea typeface="Cambria Math" panose="02040503050406030204" pitchFamily="18"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blipFill rotWithShape="0">
                <a:blip r:embed="rId2"/>
                <a:stretch>
                  <a:fillRect l="-470" t="-914"/>
                </a:stretch>
              </a:blipFill>
            </p:spPr>
            <p:txBody>
              <a:bodyPr/>
              <a:lstStyle/>
              <a:p>
                <a:r>
                  <a:rPr lang="en-IN">
                    <a:noFill/>
                  </a:rPr>
                  <a:t> </a:t>
                </a:r>
              </a:p>
            </p:txBody>
          </p:sp>
        </mc:Fallback>
      </mc:AlternateContent>
    </p:spTree>
    <p:extLst>
      <p:ext uri="{BB962C8B-B14F-4D97-AF65-F5344CB8AC3E}">
        <p14:creationId xmlns:p14="http://schemas.microsoft.com/office/powerpoint/2010/main" val="4220681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fad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fad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fade">
                                      <p:cBhvr>
                                        <p:cTn id="32" dur="500"/>
                                        <p:tgtEl>
                                          <p:spTgt spid="5">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
                                            <p:txEl>
                                              <p:pRg st="9" end="9"/>
                                            </p:txEl>
                                          </p:spTgt>
                                        </p:tgtEl>
                                        <p:attrNameLst>
                                          <p:attrName>style.visibility</p:attrName>
                                        </p:attrNameLst>
                                      </p:cBhvr>
                                      <p:to>
                                        <p:strVal val="visible"/>
                                      </p:to>
                                    </p:set>
                                    <p:animEffect transition="in" filter="fade">
                                      <p:cBhvr>
                                        <p:cTn id="42" dur="500"/>
                                        <p:tgtEl>
                                          <p:spTgt spid="5">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5">
                                            <p:txEl>
                                              <p:pRg st="10" end="10"/>
                                            </p:txEl>
                                          </p:spTgt>
                                        </p:tgtEl>
                                        <p:attrNameLst>
                                          <p:attrName>style.visibility</p:attrName>
                                        </p:attrNameLst>
                                      </p:cBhvr>
                                      <p:to>
                                        <p:strVal val="visible"/>
                                      </p:to>
                                    </p:set>
                                    <p:animEffect transition="in" filter="fade">
                                      <p:cBhvr>
                                        <p:cTn id="47" dur="500"/>
                                        <p:tgtEl>
                                          <p:spTgt spid="5">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5">
                                            <p:txEl>
                                              <p:pRg st="11" end="11"/>
                                            </p:txEl>
                                          </p:spTgt>
                                        </p:tgtEl>
                                        <p:attrNameLst>
                                          <p:attrName>style.visibility</p:attrName>
                                        </p:attrNameLst>
                                      </p:cBhvr>
                                      <p:to>
                                        <p:strVal val="visible"/>
                                      </p:to>
                                    </p:set>
                                    <p:animEffect transition="in" filter="fade">
                                      <p:cBhvr>
                                        <p:cTn id="52" dur="500"/>
                                        <p:tgtEl>
                                          <p:spTgt spid="5">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5">
                                            <p:txEl>
                                              <p:pRg st="12" end="12"/>
                                            </p:txEl>
                                          </p:spTgt>
                                        </p:tgtEl>
                                        <p:attrNameLst>
                                          <p:attrName>style.visibility</p:attrName>
                                        </p:attrNameLst>
                                      </p:cBhvr>
                                      <p:to>
                                        <p:strVal val="visible"/>
                                      </p:to>
                                    </p:set>
                                    <p:animEffect transition="in" filter="fade">
                                      <p:cBhvr>
                                        <p:cTn id="57" dur="500"/>
                                        <p:tgtEl>
                                          <p:spTgt spid="5">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5">
                                            <p:txEl>
                                              <p:pRg st="13" end="13"/>
                                            </p:txEl>
                                          </p:spTgt>
                                        </p:tgtEl>
                                        <p:attrNameLst>
                                          <p:attrName>style.visibility</p:attrName>
                                        </p:attrNameLst>
                                      </p:cBhvr>
                                      <p:to>
                                        <p:strVal val="visible"/>
                                      </p:to>
                                    </p:set>
                                    <p:animEffect transition="in" filter="fade">
                                      <p:cBhvr>
                                        <p:cTn id="62" dur="500"/>
                                        <p:tgtEl>
                                          <p:spTgt spid="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US" b="1" dirty="0">
                <a:latin typeface="Cambria Math" panose="02040503050406030204" pitchFamily="18" charset="0"/>
                <a:ea typeface="Cambria Math" panose="02040503050406030204" pitchFamily="18" charset="0"/>
              </a:rPr>
              <a:t>T(n)=3T(n/2)</a:t>
            </a:r>
            <a:r>
              <a:rPr lang="en-IN" b="1" dirty="0">
                <a:latin typeface="Cambria Math" panose="02040503050406030204" pitchFamily="18" charset="0"/>
                <a:ea typeface="Cambria Math" panose="02040503050406030204" pitchFamily="18" charset="0"/>
              </a:rPr>
              <a:t> +n</a:t>
            </a:r>
            <a:endParaRPr lang="en-IN" b="1" baseline="30000" dirty="0">
              <a:latin typeface="Cambria Math" panose="02040503050406030204" pitchFamily="18" charset="0"/>
              <a:ea typeface="Cambria Math" panose="02040503050406030204" pitchFamily="18" charset="0"/>
            </a:endParaRPr>
          </a:p>
          <a:p>
            <a:pPr marL="0" indent="0">
              <a:buNone/>
            </a:pPr>
            <a:r>
              <a:rPr lang="en-IN" sz="1800" dirty="0">
                <a:latin typeface="Cambria Math" panose="02040503050406030204" pitchFamily="18" charset="0"/>
                <a:ea typeface="Cambria Math" panose="02040503050406030204" pitchFamily="18" charset="0"/>
              </a:rPr>
              <a:t>Substitute n=2</a:t>
            </a:r>
            <a:r>
              <a:rPr lang="en-IN" sz="1800" baseline="30000" dirty="0">
                <a:latin typeface="Cambria Math" panose="02040503050406030204" pitchFamily="18" charset="0"/>
                <a:ea typeface="Cambria Math" panose="02040503050406030204" pitchFamily="18" charset="0"/>
              </a:rPr>
              <a:t>m</a:t>
            </a:r>
          </a:p>
          <a:p>
            <a:pPr marL="0" indent="0">
              <a:buNone/>
            </a:pPr>
            <a:r>
              <a:rPr lang="en-IN" sz="1800" dirty="0">
                <a:latin typeface="Cambria Math" panose="02040503050406030204" pitchFamily="18" charset="0"/>
                <a:ea typeface="Cambria Math" panose="02040503050406030204" pitchFamily="18" charset="0"/>
              </a:rPr>
              <a:t>              T(2</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)=3T(2</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/2)+2</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 </a:t>
            </a:r>
          </a:p>
          <a:p>
            <a:pPr marL="0" indent="0">
              <a:buNone/>
            </a:pPr>
            <a:r>
              <a:rPr lang="en-IN" sz="1800" dirty="0">
                <a:latin typeface="Cambria Math" panose="02040503050406030204" pitchFamily="18" charset="0"/>
                <a:ea typeface="Cambria Math" panose="02040503050406030204" pitchFamily="18" charset="0"/>
              </a:rPr>
              <a:t>              T(2</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)=3T(2</a:t>
            </a:r>
            <a:r>
              <a:rPr lang="en-IN" sz="1800" baseline="30000" dirty="0">
                <a:latin typeface="Cambria Math" panose="02040503050406030204" pitchFamily="18" charset="0"/>
                <a:ea typeface="Cambria Math" panose="02040503050406030204" pitchFamily="18" charset="0"/>
              </a:rPr>
              <a:t>m-1</a:t>
            </a:r>
            <a:r>
              <a:rPr lang="en-IN" sz="1800" dirty="0">
                <a:latin typeface="Cambria Math" panose="02040503050406030204" pitchFamily="18" charset="0"/>
                <a:ea typeface="Cambria Math" panose="02040503050406030204" pitchFamily="18" charset="0"/>
              </a:rPr>
              <a:t>)+2</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  </a:t>
            </a:r>
            <a:endParaRPr lang="en-IN" sz="1800" baseline="30000" dirty="0">
              <a:latin typeface="Cambria Math" panose="02040503050406030204" pitchFamily="18" charset="0"/>
              <a:ea typeface="Cambria Math" panose="02040503050406030204" pitchFamily="18" charset="0"/>
            </a:endParaRPr>
          </a:p>
          <a:p>
            <a:pPr marL="0" indent="0">
              <a:buNone/>
            </a:pPr>
            <a:r>
              <a:rPr lang="en-IN" sz="1800" dirty="0">
                <a:latin typeface="Cambria Math" panose="02040503050406030204" pitchFamily="18" charset="0"/>
                <a:ea typeface="Cambria Math" panose="02040503050406030204" pitchFamily="18" charset="0"/>
              </a:rPr>
              <a:t>Substitute S(m)=T(2</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a:t>
            </a:r>
          </a:p>
          <a:p>
            <a:pPr marL="0" indent="0">
              <a:buNone/>
            </a:pPr>
            <a:r>
              <a:rPr lang="en-IN" sz="1800" dirty="0">
                <a:latin typeface="Cambria Math" panose="02040503050406030204" pitchFamily="18" charset="0"/>
                <a:ea typeface="Cambria Math" panose="02040503050406030204" pitchFamily="18" charset="0"/>
              </a:rPr>
              <a:t>              S(m)=3S(m-1)+2</a:t>
            </a:r>
            <a:r>
              <a:rPr lang="en-IN" sz="1800" baseline="30000" dirty="0">
                <a:latin typeface="Cambria Math" panose="02040503050406030204" pitchFamily="18" charset="0"/>
                <a:ea typeface="Cambria Math" panose="02040503050406030204" pitchFamily="18" charset="0"/>
              </a:rPr>
              <a:t>m</a:t>
            </a:r>
          </a:p>
          <a:p>
            <a:pPr marL="0" indent="0">
              <a:buNone/>
            </a:pPr>
            <a:r>
              <a:rPr lang="en-IN" sz="1800" dirty="0">
                <a:latin typeface="Cambria Math" panose="02040503050406030204" pitchFamily="18" charset="0"/>
                <a:ea typeface="Cambria Math" panose="02040503050406030204" pitchFamily="18" charset="0"/>
              </a:rPr>
              <a:t>              S(m)-3S(m-1)=2</a:t>
            </a:r>
            <a:r>
              <a:rPr lang="en-IN" sz="1800" baseline="30000" dirty="0">
                <a:latin typeface="Cambria Math" panose="02040503050406030204" pitchFamily="18" charset="0"/>
                <a:ea typeface="Cambria Math" panose="02040503050406030204" pitchFamily="18" charset="0"/>
              </a:rPr>
              <a:t>m </a:t>
            </a:r>
          </a:p>
          <a:p>
            <a:pPr marL="0" indent="0">
              <a:buNone/>
            </a:pPr>
            <a:r>
              <a:rPr lang="en-IN" sz="1800" dirty="0">
                <a:latin typeface="Cambria Math" panose="02040503050406030204" pitchFamily="18" charset="0"/>
                <a:ea typeface="Cambria Math" panose="02040503050406030204" pitchFamily="18" charset="0"/>
              </a:rPr>
              <a:t>By characteristic equation</a:t>
            </a:r>
          </a:p>
          <a:p>
            <a:pPr marL="0" indent="0">
              <a:buNone/>
            </a:pPr>
            <a:r>
              <a:rPr lang="en-IN" sz="1800" dirty="0">
                <a:latin typeface="Cambria Math" panose="02040503050406030204" pitchFamily="18" charset="0"/>
                <a:ea typeface="Cambria Math" panose="02040503050406030204" pitchFamily="18" charset="0"/>
              </a:rPr>
              <a:t>             x-3=0, x=3</a:t>
            </a:r>
          </a:p>
          <a:p>
            <a:pPr marL="0" indent="0">
              <a:buNone/>
            </a:pPr>
            <a:r>
              <a:rPr lang="en-IN" sz="1800" dirty="0">
                <a:latin typeface="Cambria Math" panose="02040503050406030204" pitchFamily="18" charset="0"/>
                <a:ea typeface="Cambria Math" panose="02040503050406030204" pitchFamily="18" charset="0"/>
              </a:rPr>
              <a:t>T(m)</a:t>
            </a:r>
            <a:r>
              <a:rPr lang="en-IN" sz="1800" baseline="30000" dirty="0">
                <a:latin typeface="Cambria Math" panose="02040503050406030204" pitchFamily="18" charset="0"/>
                <a:ea typeface="Cambria Math" panose="02040503050406030204" pitchFamily="18" charset="0"/>
              </a:rPr>
              <a:t>h</a:t>
            </a:r>
            <a:r>
              <a:rPr lang="en-IN" sz="1800" dirty="0">
                <a:latin typeface="Cambria Math" panose="02040503050406030204" pitchFamily="18" charset="0"/>
                <a:ea typeface="Cambria Math" panose="02040503050406030204" pitchFamily="18" charset="0"/>
              </a:rPr>
              <a:t>=c</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3</a:t>
            </a:r>
            <a:r>
              <a:rPr lang="en-IN" sz="1800" baseline="30000" dirty="0">
                <a:latin typeface="Cambria Math" panose="02040503050406030204" pitchFamily="18" charset="0"/>
                <a:ea typeface="Cambria Math" panose="02040503050406030204" pitchFamily="18" charset="0"/>
              </a:rPr>
              <a:t>m</a:t>
            </a:r>
            <a:endParaRPr lang="en-IN" sz="1800" dirty="0">
              <a:latin typeface="Cambria Math" panose="02040503050406030204" pitchFamily="18" charset="0"/>
              <a:ea typeface="Cambria Math" panose="02040503050406030204" pitchFamily="18" charset="0"/>
            </a:endParaRPr>
          </a:p>
          <a:p>
            <a:pPr marL="0" indent="0">
              <a:buNone/>
            </a:pPr>
            <a:r>
              <a:rPr lang="en-IN" sz="1800" dirty="0">
                <a:latin typeface="Cambria Math" panose="02040503050406030204" pitchFamily="18" charset="0"/>
                <a:ea typeface="Cambria Math" panose="02040503050406030204" pitchFamily="18" charset="0"/>
              </a:rPr>
              <a:t>T(m)</a:t>
            </a:r>
            <a:r>
              <a:rPr lang="en-IN" sz="1800" baseline="30000" dirty="0">
                <a:latin typeface="Cambria Math" panose="02040503050406030204" pitchFamily="18" charset="0"/>
                <a:ea typeface="Cambria Math" panose="02040503050406030204" pitchFamily="18" charset="0"/>
              </a:rPr>
              <a:t>p</a:t>
            </a:r>
            <a:r>
              <a:rPr lang="en-IN" sz="1800" dirty="0">
                <a:latin typeface="Cambria Math" panose="02040503050406030204" pitchFamily="18" charset="0"/>
                <a:ea typeface="Cambria Math" panose="02040503050406030204" pitchFamily="18" charset="0"/>
              </a:rPr>
              <a:t>=(-3/2)2</a:t>
            </a:r>
            <a:r>
              <a:rPr lang="en-IN" sz="1800" baseline="30000" dirty="0">
                <a:latin typeface="Cambria Math" panose="02040503050406030204" pitchFamily="18" charset="0"/>
                <a:ea typeface="Cambria Math" panose="02040503050406030204" pitchFamily="18" charset="0"/>
              </a:rPr>
              <a:t>m</a:t>
            </a:r>
          </a:p>
          <a:p>
            <a:pPr marL="0" indent="0">
              <a:buNone/>
            </a:pPr>
            <a:r>
              <a:rPr lang="en-IN" sz="1800" dirty="0">
                <a:latin typeface="Cambria Math" panose="02040503050406030204" pitchFamily="18" charset="0"/>
                <a:ea typeface="Cambria Math" panose="02040503050406030204" pitchFamily="18" charset="0"/>
              </a:rPr>
              <a:t>Total Solution of S(m)=c</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3</a:t>
            </a:r>
            <a:r>
              <a:rPr lang="en-IN" sz="1800" baseline="30000" dirty="0">
                <a:latin typeface="Cambria Math" panose="02040503050406030204" pitchFamily="18" charset="0"/>
                <a:ea typeface="Cambria Math" panose="02040503050406030204" pitchFamily="18" charset="0"/>
              </a:rPr>
              <a:t>m</a:t>
            </a:r>
            <a:r>
              <a:rPr lang="en-IN" sz="1800" dirty="0">
                <a:latin typeface="Cambria Math" panose="02040503050406030204" pitchFamily="18" charset="0"/>
                <a:ea typeface="Cambria Math" panose="02040503050406030204" pitchFamily="18" charset="0"/>
              </a:rPr>
              <a:t>-(3/2)2</a:t>
            </a:r>
            <a:r>
              <a:rPr lang="en-IN" sz="1800" baseline="30000" dirty="0">
                <a:latin typeface="Cambria Math" panose="02040503050406030204" pitchFamily="18" charset="0"/>
                <a:ea typeface="Cambria Math" panose="02040503050406030204" pitchFamily="18" charset="0"/>
              </a:rPr>
              <a:t>m</a:t>
            </a:r>
          </a:p>
          <a:p>
            <a:pPr marL="0" indent="0">
              <a:buNone/>
            </a:pPr>
            <a:r>
              <a:rPr lang="en-IN" sz="1800" dirty="0">
                <a:latin typeface="Cambria Math" panose="02040503050406030204" pitchFamily="18" charset="0"/>
                <a:ea typeface="Cambria Math" panose="02040503050406030204" pitchFamily="18" charset="0"/>
              </a:rPr>
              <a:t>By back substitution </a:t>
            </a:r>
          </a:p>
          <a:p>
            <a:pPr marL="0" indent="0">
              <a:buNone/>
            </a:pPr>
            <a:r>
              <a:rPr lang="en-IN" sz="1800" dirty="0">
                <a:latin typeface="Cambria Math" panose="02040503050406030204" pitchFamily="18" charset="0"/>
                <a:ea typeface="Cambria Math" panose="02040503050406030204" pitchFamily="18" charset="0"/>
              </a:rPr>
              <a:t>             T(n)=c</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3</a:t>
            </a:r>
            <a:r>
              <a:rPr lang="en-IN" sz="1800" baseline="30000" dirty="0">
                <a:latin typeface="Cambria Math" panose="02040503050406030204" pitchFamily="18" charset="0"/>
                <a:ea typeface="Cambria Math" panose="02040503050406030204" pitchFamily="18" charset="0"/>
              </a:rPr>
              <a:t>logn</a:t>
            </a:r>
            <a:r>
              <a:rPr lang="en-IN" sz="1800" dirty="0">
                <a:latin typeface="Cambria Math" panose="02040503050406030204" pitchFamily="18" charset="0"/>
                <a:ea typeface="Cambria Math" panose="02040503050406030204" pitchFamily="18" charset="0"/>
              </a:rPr>
              <a:t>-(3/2)2</a:t>
            </a:r>
            <a:r>
              <a:rPr lang="en-IN" sz="1800" baseline="30000" dirty="0">
                <a:latin typeface="Cambria Math" panose="02040503050406030204" pitchFamily="18" charset="0"/>
                <a:ea typeface="Cambria Math" panose="02040503050406030204" pitchFamily="18" charset="0"/>
              </a:rPr>
              <a:t>logn</a:t>
            </a:r>
          </a:p>
          <a:p>
            <a:pPr marL="0" indent="0">
              <a:buNone/>
            </a:pPr>
            <a:r>
              <a:rPr lang="en-IN" sz="1800" dirty="0">
                <a:latin typeface="Cambria Math" panose="02040503050406030204" pitchFamily="18" charset="0"/>
                <a:ea typeface="Cambria Math" panose="02040503050406030204" pitchFamily="18" charset="0"/>
              </a:rPr>
              <a:t>                      =c</a:t>
            </a:r>
            <a:r>
              <a:rPr lang="en-IN" sz="1800" baseline="-25000" dirty="0">
                <a:latin typeface="Cambria Math" panose="02040503050406030204" pitchFamily="18" charset="0"/>
                <a:ea typeface="Cambria Math" panose="02040503050406030204" pitchFamily="18" charset="0"/>
              </a:rPr>
              <a:t>1</a:t>
            </a:r>
            <a:r>
              <a:rPr lang="en-IN" sz="1800" dirty="0">
                <a:latin typeface="Cambria Math" panose="02040503050406030204" pitchFamily="18" charset="0"/>
                <a:ea typeface="Cambria Math" panose="02040503050406030204" pitchFamily="18" charset="0"/>
              </a:rPr>
              <a:t>n</a:t>
            </a:r>
            <a:r>
              <a:rPr lang="en-IN" sz="1800" baseline="30000" dirty="0">
                <a:latin typeface="Cambria Math" panose="02040503050406030204" pitchFamily="18" charset="0"/>
                <a:ea typeface="Cambria Math" panose="02040503050406030204" pitchFamily="18" charset="0"/>
              </a:rPr>
              <a:t>log3</a:t>
            </a:r>
            <a:r>
              <a:rPr lang="en-IN" sz="1800" dirty="0">
                <a:latin typeface="Cambria Math" panose="02040503050406030204" pitchFamily="18" charset="0"/>
                <a:ea typeface="Cambria Math" panose="02040503050406030204" pitchFamily="18" charset="0"/>
              </a:rPr>
              <a:t>-(3/2)</a:t>
            </a:r>
            <a:r>
              <a:rPr lang="en-IN" sz="1800" baseline="-25000" dirty="0">
                <a:latin typeface="Cambria Math" panose="02040503050406030204" pitchFamily="18" charset="0"/>
                <a:ea typeface="Cambria Math" panose="02040503050406030204" pitchFamily="18" charset="0"/>
              </a:rPr>
              <a:t>2</a:t>
            </a:r>
            <a:r>
              <a:rPr lang="en-IN" sz="1800" dirty="0">
                <a:latin typeface="Cambria Math" panose="02040503050406030204" pitchFamily="18" charset="0"/>
                <a:ea typeface="Cambria Math" panose="02040503050406030204" pitchFamily="18" charset="0"/>
              </a:rPr>
              <a:t>n</a:t>
            </a:r>
            <a:r>
              <a:rPr lang="en-IN" sz="1800" baseline="30000" dirty="0">
                <a:latin typeface="Cambria Math" panose="02040503050406030204" pitchFamily="18" charset="0"/>
                <a:ea typeface="Cambria Math" panose="02040503050406030204" pitchFamily="18" charset="0"/>
              </a:rPr>
              <a:t>log2</a:t>
            </a:r>
            <a:endParaRPr lang="en-IN" sz="1800" dirty="0">
              <a:latin typeface="Cambria Math" panose="02040503050406030204" pitchFamily="18" charset="0"/>
              <a:ea typeface="Cambria Math" panose="02040503050406030204" pitchFamily="18" charset="0"/>
            </a:endParaRPr>
          </a:p>
          <a:p>
            <a:pPr marL="0" indent="0">
              <a:buNone/>
            </a:pPr>
            <a:endParaRPr lang="en-IN" baseline="30000" dirty="0"/>
          </a:p>
          <a:p>
            <a:pPr marL="0" indent="0">
              <a:buNone/>
            </a:pPr>
            <a:endParaRPr lang="en-IN" baseline="30000"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61</a:t>
            </a:fld>
            <a:endParaRPr lang="en-US" dirty="0"/>
          </a:p>
        </p:txBody>
      </p:sp>
    </p:spTree>
    <p:extLst>
      <p:ext uri="{BB962C8B-B14F-4D97-AF65-F5344CB8AC3E}">
        <p14:creationId xmlns:p14="http://schemas.microsoft.com/office/powerpoint/2010/main" val="23063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5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5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Range transformation</a:t>
            </a:r>
          </a:p>
        </p:txBody>
      </p:sp>
      <p:sp>
        <p:nvSpPr>
          <p:cNvPr id="3" name="Content Placeholder 2"/>
          <p:cNvSpPr>
            <a:spLocks noGrp="1"/>
          </p:cNvSpPr>
          <p:nvPr>
            <p:ph idx="1"/>
          </p:nvPr>
        </p:nvSpPr>
        <p:spPr/>
        <p:txBody>
          <a:bodyPr>
            <a:normAutofit lnSpcReduction="10000"/>
          </a:bodyPr>
          <a:lstStyle/>
          <a:p>
            <a:r>
              <a:rPr lang="en-IN" dirty="0"/>
              <a:t>When we make a change of variable, we transform the domain of the recurrence.</a:t>
            </a:r>
          </a:p>
          <a:p>
            <a:r>
              <a:rPr lang="en-IN" dirty="0"/>
              <a:t>Instead, it may be useful to transform the range to obtain a recurrence in a form that we know how to solve. Both transformations can sometimes be used together.</a:t>
            </a:r>
          </a:p>
          <a:p>
            <a:endParaRPr lang="en-IN" dirty="0"/>
          </a:p>
          <a:p>
            <a:pPr marL="0" indent="0">
              <a:buNone/>
            </a:pPr>
            <a:r>
              <a:rPr lang="en-US" b="1" dirty="0">
                <a:latin typeface="Cambria Math" panose="02040503050406030204" pitchFamily="18" charset="0"/>
                <a:ea typeface="Cambria Math" panose="02040503050406030204" pitchFamily="18" charset="0"/>
              </a:rPr>
              <a:t>Consider the following </a:t>
            </a:r>
            <a:r>
              <a:rPr lang="en-IN" b="1" dirty="0">
                <a:latin typeface="Cambria Math" panose="02040503050406030204" pitchFamily="18" charset="0"/>
                <a:ea typeface="Cambria Math" panose="02040503050406030204" pitchFamily="18" charset="0"/>
              </a:rPr>
              <a:t>recurrence, which defines T(n) when n is a power of 2.</a:t>
            </a:r>
            <a:endParaRPr lang="en-US" b="1" dirty="0">
              <a:latin typeface="Cambria Math" panose="02040503050406030204" pitchFamily="18" charset="0"/>
              <a:ea typeface="Cambria Math" panose="02040503050406030204" pitchFamily="18" charset="0"/>
            </a:endParaRPr>
          </a:p>
          <a:p>
            <a:pPr marL="0" indent="0">
              <a:buNone/>
            </a:pPr>
            <a:r>
              <a:rPr lang="en-US" b="1" dirty="0">
                <a:latin typeface="Cambria Math" panose="02040503050406030204" pitchFamily="18" charset="0"/>
                <a:ea typeface="Cambria Math" panose="02040503050406030204" pitchFamily="18" charset="0"/>
              </a:rPr>
              <a:t>             T(n)=nT</a:t>
            </a:r>
            <a:r>
              <a:rPr lang="en-US" b="1" baseline="30000" dirty="0">
                <a:latin typeface="Cambria Math" panose="02040503050406030204" pitchFamily="18" charset="0"/>
                <a:ea typeface="Cambria Math" panose="02040503050406030204" pitchFamily="18" charset="0"/>
              </a:rPr>
              <a:t>2</a:t>
            </a:r>
            <a:r>
              <a:rPr lang="en-US" b="1" dirty="0">
                <a:latin typeface="Cambria Math" panose="02040503050406030204" pitchFamily="18" charset="0"/>
                <a:ea typeface="Cambria Math" panose="02040503050406030204" pitchFamily="18" charset="0"/>
              </a:rPr>
              <a:t>(n/2)</a:t>
            </a:r>
          </a:p>
          <a:p>
            <a:pPr marL="0" indent="0">
              <a:buNone/>
            </a:pPr>
            <a:r>
              <a:rPr lang="en-IN" dirty="0"/>
              <a:t>The first step is a change of variable: n=2</a:t>
            </a:r>
            <a:r>
              <a:rPr lang="en-IN" baseline="30000" dirty="0"/>
              <a:t>m</a:t>
            </a:r>
            <a:r>
              <a:rPr lang="en-IN" dirty="0"/>
              <a:t>, S(m)=T(2</a:t>
            </a:r>
            <a:r>
              <a:rPr lang="en-IN" baseline="30000" dirty="0"/>
              <a:t>m</a:t>
            </a:r>
            <a:r>
              <a:rPr lang="en-IN" dirty="0"/>
              <a:t>) </a:t>
            </a:r>
          </a:p>
          <a:p>
            <a:pPr marL="0" indent="0">
              <a:buNone/>
            </a:pPr>
            <a:r>
              <a:rPr lang="en-IN" dirty="0"/>
              <a:t>            T(2</a:t>
            </a:r>
            <a:r>
              <a:rPr lang="en-IN" baseline="30000" dirty="0"/>
              <a:t>m</a:t>
            </a:r>
            <a:r>
              <a:rPr lang="en-IN" dirty="0"/>
              <a:t>)= 2</a:t>
            </a:r>
            <a:r>
              <a:rPr lang="en-IN" baseline="30000" dirty="0"/>
              <a:t>m </a:t>
            </a:r>
            <a:r>
              <a:rPr lang="en-IN" dirty="0"/>
              <a:t>T</a:t>
            </a:r>
            <a:r>
              <a:rPr lang="en-IN" baseline="30000" dirty="0"/>
              <a:t>2</a:t>
            </a:r>
            <a:r>
              <a:rPr lang="en-IN" dirty="0"/>
              <a:t>(2</a:t>
            </a:r>
            <a:r>
              <a:rPr lang="en-IN" baseline="30000" dirty="0"/>
              <a:t>m</a:t>
            </a:r>
            <a:r>
              <a:rPr lang="en-IN" dirty="0"/>
              <a:t>/2)=&gt; T</a:t>
            </a:r>
            <a:r>
              <a:rPr lang="en-IN" baseline="30000" dirty="0"/>
              <a:t>2</a:t>
            </a:r>
            <a:r>
              <a:rPr lang="en-IN" dirty="0"/>
              <a:t>(2</a:t>
            </a:r>
            <a:r>
              <a:rPr lang="en-IN" baseline="30000" dirty="0"/>
              <a:t>m-1</a:t>
            </a:r>
            <a:r>
              <a:rPr lang="en-IN" dirty="0"/>
              <a:t>)</a:t>
            </a:r>
          </a:p>
          <a:p>
            <a:pPr marL="0" indent="0">
              <a:buNone/>
            </a:pPr>
            <a:r>
              <a:rPr lang="en-IN" dirty="0"/>
              <a:t>            S(m)=2</a:t>
            </a:r>
            <a:r>
              <a:rPr lang="en-IN" baseline="30000" dirty="0"/>
              <a:t>m</a:t>
            </a:r>
            <a:r>
              <a:rPr lang="en-IN" dirty="0"/>
              <a:t> S</a:t>
            </a:r>
            <a:r>
              <a:rPr lang="en-IN" baseline="30000" dirty="0"/>
              <a:t>2</a:t>
            </a:r>
            <a:r>
              <a:rPr lang="en-IN" dirty="0"/>
              <a:t>(m-1)</a:t>
            </a:r>
          </a:p>
          <a:p>
            <a:r>
              <a:rPr lang="en-IN" dirty="0"/>
              <a:t>At first glance, none of the techniques we have seen applies to this recurrence since it is not linear; To transform the range, we create yet another recurrence by using U(m) to denote log S(m).</a:t>
            </a:r>
          </a:p>
        </p:txBody>
      </p:sp>
      <p:sp>
        <p:nvSpPr>
          <p:cNvPr id="4" name="Slide Number Placeholder 3"/>
          <p:cNvSpPr>
            <a:spLocks noGrp="1"/>
          </p:cNvSpPr>
          <p:nvPr>
            <p:ph type="sldNum" sz="quarter" idx="12"/>
          </p:nvPr>
        </p:nvSpPr>
        <p:spPr/>
        <p:txBody>
          <a:bodyPr/>
          <a:lstStyle/>
          <a:p>
            <a:fld id="{5EA8BEFB-AE5B-48F9-BBAD-B489CDE48C80}" type="slidenum">
              <a:rPr lang="en-US" smtClean="0"/>
              <a:pPr/>
              <a:t>62</a:t>
            </a:fld>
            <a:endParaRPr lang="en-US" dirty="0"/>
          </a:p>
        </p:txBody>
      </p:sp>
    </p:spTree>
    <p:extLst>
      <p:ext uri="{BB962C8B-B14F-4D97-AF65-F5344CB8AC3E}">
        <p14:creationId xmlns:p14="http://schemas.microsoft.com/office/powerpoint/2010/main" val="28005331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IN" dirty="0">
                <a:latin typeface="Cambria Math" panose="02040503050406030204" pitchFamily="18" charset="0"/>
                <a:ea typeface="Cambria Math" panose="02040503050406030204" pitchFamily="18" charset="0"/>
              </a:rPr>
              <a:t>S(m)=2</a:t>
            </a:r>
            <a:r>
              <a:rPr lang="en-IN" baseline="30000" dirty="0">
                <a:latin typeface="Cambria Math" panose="02040503050406030204" pitchFamily="18" charset="0"/>
                <a:ea typeface="Cambria Math" panose="02040503050406030204" pitchFamily="18" charset="0"/>
              </a:rPr>
              <a:t>m</a:t>
            </a:r>
            <a:r>
              <a:rPr lang="en-IN" dirty="0">
                <a:latin typeface="Cambria Math" panose="02040503050406030204" pitchFamily="18" charset="0"/>
                <a:ea typeface="Cambria Math" panose="02040503050406030204" pitchFamily="18" charset="0"/>
              </a:rPr>
              <a:t> S</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(m-1)</a:t>
            </a:r>
          </a:p>
          <a:p>
            <a:pPr marL="0" indent="0">
              <a:buNone/>
            </a:pPr>
            <a:r>
              <a:rPr lang="en-IN" dirty="0">
                <a:latin typeface="Cambria Math" panose="02040503050406030204" pitchFamily="18" charset="0"/>
                <a:ea typeface="Cambria Math" panose="02040503050406030204" pitchFamily="18" charset="0"/>
              </a:rPr>
              <a:t>Substitute U(m)=log(S(m))</a:t>
            </a:r>
          </a:p>
          <a:p>
            <a:pPr marL="0" indent="0">
              <a:buNone/>
            </a:pPr>
            <a:r>
              <a:rPr lang="en-IN" dirty="0">
                <a:latin typeface="Cambria Math" panose="02040503050406030204" pitchFamily="18" charset="0"/>
                <a:ea typeface="Cambria Math" panose="02040503050406030204" pitchFamily="18" charset="0"/>
              </a:rPr>
              <a:t>         =log(2</a:t>
            </a:r>
            <a:r>
              <a:rPr lang="en-IN" baseline="30000" dirty="0">
                <a:latin typeface="Cambria Math" panose="02040503050406030204" pitchFamily="18" charset="0"/>
                <a:ea typeface="Cambria Math" panose="02040503050406030204" pitchFamily="18" charset="0"/>
              </a:rPr>
              <a:t>m</a:t>
            </a:r>
            <a:r>
              <a:rPr lang="en-IN" dirty="0">
                <a:latin typeface="Cambria Math" panose="02040503050406030204" pitchFamily="18" charset="0"/>
                <a:ea typeface="Cambria Math" panose="02040503050406030204" pitchFamily="18" charset="0"/>
              </a:rPr>
              <a:t> S</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(m-1))</a:t>
            </a:r>
          </a:p>
          <a:p>
            <a:pPr marL="0" indent="0">
              <a:buNone/>
            </a:pPr>
            <a:r>
              <a:rPr lang="en-IN" dirty="0">
                <a:latin typeface="Cambria Math" panose="02040503050406030204" pitchFamily="18" charset="0"/>
                <a:ea typeface="Cambria Math" panose="02040503050406030204" pitchFamily="18" charset="0"/>
              </a:rPr>
              <a:t>         =log2</a:t>
            </a:r>
            <a:r>
              <a:rPr lang="en-IN" baseline="30000" dirty="0">
                <a:latin typeface="Cambria Math" panose="02040503050406030204" pitchFamily="18" charset="0"/>
                <a:ea typeface="Cambria Math" panose="02040503050406030204" pitchFamily="18" charset="0"/>
              </a:rPr>
              <a:t>m </a:t>
            </a:r>
            <a:r>
              <a:rPr lang="en-IN" dirty="0">
                <a:latin typeface="Cambria Math" panose="02040503050406030204" pitchFamily="18" charset="0"/>
                <a:ea typeface="Cambria Math" panose="02040503050406030204" pitchFamily="18" charset="0"/>
              </a:rPr>
              <a:t>+ log S</a:t>
            </a:r>
            <a:r>
              <a:rPr lang="en-IN" baseline="30000" dirty="0">
                <a:latin typeface="Cambria Math" panose="02040503050406030204" pitchFamily="18" charset="0"/>
                <a:ea typeface="Cambria Math" panose="02040503050406030204" pitchFamily="18" charset="0"/>
              </a:rPr>
              <a:t>2</a:t>
            </a:r>
            <a:r>
              <a:rPr lang="en-IN" dirty="0">
                <a:latin typeface="Cambria Math" panose="02040503050406030204" pitchFamily="18" charset="0"/>
                <a:ea typeface="Cambria Math" panose="02040503050406030204" pitchFamily="18" charset="0"/>
              </a:rPr>
              <a:t>(m-1)</a:t>
            </a:r>
          </a:p>
          <a:p>
            <a:pPr marL="0" indent="0">
              <a:buNone/>
            </a:pPr>
            <a:r>
              <a:rPr lang="en-IN" dirty="0">
                <a:latin typeface="Cambria Math" panose="02040503050406030204" pitchFamily="18" charset="0"/>
                <a:ea typeface="Cambria Math" panose="02040503050406030204" pitchFamily="18" charset="0"/>
              </a:rPr>
              <a:t>         =m+2log S(m-1)</a:t>
            </a:r>
          </a:p>
          <a:p>
            <a:pPr marL="0" indent="0">
              <a:buNone/>
            </a:pPr>
            <a:r>
              <a:rPr lang="en-IN" dirty="0">
                <a:latin typeface="Cambria Math" panose="02040503050406030204" pitchFamily="18" charset="0"/>
                <a:ea typeface="Cambria Math" panose="02040503050406030204" pitchFamily="18" charset="0"/>
              </a:rPr>
              <a:t>         =m+2U(m-1)</a:t>
            </a:r>
          </a:p>
          <a:p>
            <a:pPr marL="0" indent="0">
              <a:buNone/>
            </a:pPr>
            <a:r>
              <a:rPr lang="en-IN" dirty="0">
                <a:latin typeface="Cambria Math" panose="02040503050406030204" pitchFamily="18" charset="0"/>
                <a:ea typeface="Cambria Math" panose="02040503050406030204" pitchFamily="18" charset="0"/>
              </a:rPr>
              <a:t>U(m)= m+2U(m-1)</a:t>
            </a:r>
          </a:p>
          <a:p>
            <a:pPr marL="0" indent="0">
              <a:buNone/>
            </a:pPr>
            <a:r>
              <a:rPr lang="en-IN" dirty="0">
                <a:latin typeface="Cambria Math" panose="02040503050406030204" pitchFamily="18" charset="0"/>
                <a:ea typeface="Cambria Math" panose="02040503050406030204" pitchFamily="18" charset="0"/>
              </a:rPr>
              <a:t>U(m)-2U(m-1)=m</a:t>
            </a:r>
          </a:p>
          <a:p>
            <a:pPr marL="0" indent="0">
              <a:buNone/>
            </a:pPr>
            <a:r>
              <a:rPr lang="en-IN" dirty="0">
                <a:latin typeface="Cambria Math" panose="02040503050406030204" pitchFamily="18" charset="0"/>
                <a:ea typeface="Cambria Math" panose="02040503050406030204" pitchFamily="18" charset="0"/>
              </a:rPr>
              <a:t>Solve this by applying Characteristic equation:</a:t>
            </a:r>
          </a:p>
          <a:p>
            <a:pPr marL="0" indent="0">
              <a:buNone/>
            </a:pPr>
            <a:endParaRPr lang="en-IN"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63</a:t>
            </a:fld>
            <a:endParaRPr lang="en-US" dirty="0"/>
          </a:p>
        </p:txBody>
      </p:sp>
    </p:spTree>
    <p:extLst>
      <p:ext uri="{BB962C8B-B14F-4D97-AF65-F5344CB8AC3E}">
        <p14:creationId xmlns:p14="http://schemas.microsoft.com/office/powerpoint/2010/main" val="3423342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Divide &amp; Conquer (D&amp;C) Technique</a:t>
            </a:r>
          </a:p>
        </p:txBody>
      </p:sp>
      <p:sp>
        <p:nvSpPr>
          <p:cNvPr id="3" name="Content Placeholder 2"/>
          <p:cNvSpPr>
            <a:spLocks noGrp="1"/>
          </p:cNvSpPr>
          <p:nvPr>
            <p:ph idx="1"/>
          </p:nvPr>
        </p:nvSpPr>
        <p:spPr/>
        <p:txBody>
          <a:bodyPr>
            <a:normAutofit/>
          </a:bodyPr>
          <a:lstStyle/>
          <a:p>
            <a:r>
              <a:rPr lang="en-US" dirty="0"/>
              <a:t>Many useful algorithms are </a:t>
            </a:r>
            <a:r>
              <a:rPr lang="en-US" b="1" dirty="0"/>
              <a:t>recursive</a:t>
            </a:r>
            <a:r>
              <a:rPr lang="en-US" dirty="0"/>
              <a:t> in structure: to solve a given problem, they call themselves recursively one or more times.</a:t>
            </a:r>
          </a:p>
          <a:p>
            <a:r>
              <a:rPr lang="en-US" dirty="0"/>
              <a:t>These algorithms typically follow a </a:t>
            </a:r>
            <a:r>
              <a:rPr lang="en-US" b="1" dirty="0"/>
              <a:t>divide-and-conquer</a:t>
            </a:r>
            <a:r>
              <a:rPr lang="en-US" dirty="0"/>
              <a:t> approach:</a:t>
            </a:r>
          </a:p>
          <a:p>
            <a:r>
              <a:rPr lang="en-US" dirty="0"/>
              <a:t>The divide-and-conquer approach involves </a:t>
            </a:r>
            <a:r>
              <a:rPr lang="en-US" b="1" dirty="0"/>
              <a:t>three steps </a:t>
            </a:r>
            <a:r>
              <a:rPr lang="en-US" dirty="0"/>
              <a:t>at each level of the recursion:</a:t>
            </a:r>
          </a:p>
          <a:p>
            <a:pPr marL="857250" lvl="1" indent="-457200">
              <a:buFont typeface="+mj-lt"/>
              <a:buAutoNum type="arabicPeriod"/>
            </a:pPr>
            <a:r>
              <a:rPr lang="en-US" sz="2200" b="1" dirty="0"/>
              <a:t>Divide: </a:t>
            </a:r>
            <a:r>
              <a:rPr lang="en-US" sz="2200" dirty="0"/>
              <a:t>Break the problem into several sub problems that are similar to the original problem but smaller in size. </a:t>
            </a:r>
          </a:p>
          <a:p>
            <a:pPr marL="857250" lvl="1" indent="-457200">
              <a:buFont typeface="+mj-lt"/>
              <a:buAutoNum type="arabicPeriod"/>
            </a:pPr>
            <a:r>
              <a:rPr lang="en-US" sz="2200" b="1" dirty="0"/>
              <a:t>Conquer: </a:t>
            </a:r>
            <a:r>
              <a:rPr lang="en-US" sz="2200" dirty="0"/>
              <a:t>Solve the sub problems recursively. If the sub problem sizes are small enough, just solve the sub problems in a straightforward manner.</a:t>
            </a:r>
          </a:p>
          <a:p>
            <a:pPr marL="857250" lvl="1" indent="-457200">
              <a:buFont typeface="+mj-lt"/>
              <a:buAutoNum type="arabicPeriod"/>
            </a:pPr>
            <a:r>
              <a:rPr lang="en-US" sz="2200" b="1" dirty="0"/>
              <a:t>Combine: </a:t>
            </a:r>
            <a:r>
              <a:rPr lang="en-US" sz="2200" dirty="0"/>
              <a:t>Combine these solutions to create a solution to the original problem.</a:t>
            </a:r>
          </a:p>
          <a:p>
            <a:endParaRPr lang="en-US" dirty="0"/>
          </a:p>
        </p:txBody>
      </p:sp>
      <p:sp>
        <p:nvSpPr>
          <p:cNvPr id="4" name="Slide Number Placeholder 3"/>
          <p:cNvSpPr>
            <a:spLocks noGrp="1"/>
          </p:cNvSpPr>
          <p:nvPr>
            <p:ph type="sldNum" sz="quarter" idx="12"/>
          </p:nvPr>
        </p:nvSpPr>
        <p:spPr/>
        <p:txBody>
          <a:bodyPr/>
          <a:lstStyle/>
          <a:p>
            <a:fld id="{5EA8BEFB-AE5B-48F9-BBAD-B489CDE48C80}" type="slidenum">
              <a:rPr lang="en-US" smtClean="0"/>
              <a:pPr/>
              <a:t>64</a:t>
            </a:fld>
            <a:endParaRPr lang="en-US" dirty="0"/>
          </a:p>
        </p:txBody>
      </p:sp>
    </p:spTree>
    <p:extLst>
      <p:ext uri="{BB962C8B-B14F-4D97-AF65-F5344CB8AC3E}">
        <p14:creationId xmlns:p14="http://schemas.microsoft.com/office/powerpoint/2010/main" val="2478654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D&amp;C: Running Time Analysis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a:t>
                </a:r>
                <a:r>
                  <a:rPr lang="en-US" b="1" dirty="0"/>
                  <a:t>running-time analysis </a:t>
                </a:r>
                <a:r>
                  <a:rPr lang="en-US" dirty="0"/>
                  <a:t>of such divide-and-conquer (D&amp;C) algorithms is almost automatic. </a:t>
                </a:r>
              </a:p>
              <a:p>
                <a:r>
                  <a:rPr lang="en-US" dirty="0"/>
                  <a:t>Let </a:t>
                </a:r>
                <a14:m>
                  <m:oMath xmlns:m="http://schemas.openxmlformats.org/officeDocument/2006/math">
                    <m:r>
                      <a:rPr lang="en-US" i="1" dirty="0" smtClean="0">
                        <a:latin typeface="Cambria Math" panose="02040503050406030204" pitchFamily="18" charset="0"/>
                      </a:rPr>
                      <m:t>𝑔</m:t>
                    </m:r>
                    <m:r>
                      <a:rPr lang="en-US" i="1" dirty="0" smtClean="0">
                        <a:latin typeface="Cambria Math" panose="02040503050406030204" pitchFamily="18" charset="0"/>
                      </a:rPr>
                      <m:t>(</m:t>
                    </m:r>
                    <m:r>
                      <a:rPr lang="en-US" i="1" dirty="0" smtClean="0">
                        <a:latin typeface="Cambria Math" panose="02040503050406030204" pitchFamily="18" charset="0"/>
                      </a:rPr>
                      <m:t>𝑛</m:t>
                    </m:r>
                    <m:r>
                      <a:rPr lang="en-US" i="1" dirty="0" smtClean="0">
                        <a:latin typeface="Cambria Math" panose="02040503050406030204" pitchFamily="18" charset="0"/>
                      </a:rPr>
                      <m:t>)</m:t>
                    </m:r>
                  </m:oMath>
                </a14:m>
                <a:r>
                  <a:rPr lang="en-US" dirty="0"/>
                  <a:t> be the </a:t>
                </a:r>
                <a:r>
                  <a:rPr lang="en-US" b="1" dirty="0"/>
                  <a:t>time required by D&amp;C </a:t>
                </a:r>
                <a:r>
                  <a:rPr lang="en-US" dirty="0"/>
                  <a:t>on instances of size </a:t>
                </a:r>
                <a14:m>
                  <m:oMath xmlns:m="http://schemas.openxmlformats.org/officeDocument/2006/math">
                    <m:r>
                      <a:rPr lang="en-US" i="1" dirty="0" smtClean="0">
                        <a:latin typeface="Cambria Math" panose="02040503050406030204" pitchFamily="18" charset="0"/>
                      </a:rPr>
                      <m:t>𝑛</m:t>
                    </m:r>
                  </m:oMath>
                </a14:m>
                <a:r>
                  <a:rPr lang="en-US" dirty="0"/>
                  <a:t>.</a:t>
                </a:r>
              </a:p>
              <a:p>
                <a:r>
                  <a:rPr lang="en-US" dirty="0"/>
                  <a:t>The </a:t>
                </a:r>
                <a:r>
                  <a:rPr lang="en-US" b="1" dirty="0"/>
                  <a:t>total time </a:t>
                </a:r>
                <a14:m>
                  <m:oMath xmlns:m="http://schemas.openxmlformats.org/officeDocument/2006/math">
                    <m:r>
                      <a:rPr lang="en-US" b="1" i="1" dirty="0" smtClean="0">
                        <a:latin typeface="Cambria Math" panose="02040503050406030204" pitchFamily="18" charset="0"/>
                      </a:rPr>
                      <m:t>𝒕</m:t>
                    </m:r>
                    <m:r>
                      <a:rPr lang="en-US" b="1" i="1" dirty="0" smtClean="0">
                        <a:latin typeface="Cambria Math" panose="02040503050406030204" pitchFamily="18" charset="0"/>
                      </a:rPr>
                      <m:t>(</m:t>
                    </m:r>
                    <m:r>
                      <a:rPr lang="en-US" b="1" i="1" dirty="0" smtClean="0">
                        <a:latin typeface="Cambria Math" panose="02040503050406030204" pitchFamily="18" charset="0"/>
                      </a:rPr>
                      <m:t>𝒏</m:t>
                    </m:r>
                    <m:r>
                      <a:rPr lang="en-US" b="1" i="1" dirty="0" smtClean="0">
                        <a:latin typeface="Cambria Math" panose="02040503050406030204" pitchFamily="18" charset="0"/>
                      </a:rPr>
                      <m:t>)</m:t>
                    </m:r>
                  </m:oMath>
                </a14:m>
                <a:r>
                  <a:rPr lang="en-US" b="1" dirty="0"/>
                  <a:t> </a:t>
                </a:r>
                <a:r>
                  <a:rPr lang="en-US" dirty="0"/>
                  <a:t>taken by this divide-and-conquer algorithm is given by recurrence equation,</a:t>
                </a:r>
              </a:p>
              <a:p>
                <a:pPr marL="0" indent="0">
                  <a:buNone/>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𝑡</m:t>
                      </m:r>
                      <m:d>
                        <m:dPr>
                          <m:ctrlPr>
                            <a:rPr lang="en-US" sz="2800" i="1">
                              <a:latin typeface="Cambria Math" panose="02040503050406030204" pitchFamily="18" charset="0"/>
                            </a:rPr>
                          </m:ctrlPr>
                        </m:dPr>
                        <m:e>
                          <m:r>
                            <a:rPr lang="en-US" sz="2800" i="1">
                              <a:latin typeface="Cambria Math" panose="02040503050406030204" pitchFamily="18" charset="0"/>
                            </a:rPr>
                            <m:t>𝑛</m:t>
                          </m:r>
                        </m:e>
                      </m:d>
                      <m:r>
                        <a:rPr lang="en-US" sz="2800" i="1">
                          <a:latin typeface="Cambria Math" panose="02040503050406030204" pitchFamily="18" charset="0"/>
                        </a:rPr>
                        <m:t>=</m:t>
                      </m:r>
                      <m:r>
                        <a:rPr lang="en-IN" sz="2800" b="0" i="1" smtClean="0">
                          <a:latin typeface="Cambria Math" panose="02040503050406030204" pitchFamily="18" charset="0"/>
                        </a:rPr>
                        <m:t>𝑎</m:t>
                      </m:r>
                      <m:r>
                        <a:rPr lang="en-IN" sz="2800" b="0" i="1" smtClean="0">
                          <a:latin typeface="Cambria Math" panose="02040503050406030204" pitchFamily="18" charset="0"/>
                        </a:rPr>
                        <m:t>∗</m:t>
                      </m:r>
                      <m:r>
                        <a:rPr lang="en-US" sz="2800" i="1">
                          <a:latin typeface="Cambria Math" panose="02040503050406030204" pitchFamily="18" charset="0"/>
                        </a:rPr>
                        <m:t>𝑡</m:t>
                      </m:r>
                      <m:d>
                        <m:dPr>
                          <m:ctrlPr>
                            <a:rPr lang="en-US" sz="2800" i="1">
                              <a:latin typeface="Cambria Math" panose="02040503050406030204" pitchFamily="18" charset="0"/>
                            </a:rPr>
                          </m:ctrlPr>
                        </m:dPr>
                        <m:e>
                          <m:r>
                            <a:rPr lang="en-US" sz="2800" i="1">
                              <a:latin typeface="Cambria Math" panose="02040503050406030204" pitchFamily="18" charset="0"/>
                            </a:rPr>
                            <m:t>𝑛</m:t>
                          </m:r>
                          <m:r>
                            <a:rPr lang="en-US" sz="2800" i="1">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𝑏</m:t>
                          </m:r>
                        </m:e>
                      </m:d>
                      <m:r>
                        <a:rPr lang="en-US" sz="2800" i="1">
                          <a:latin typeface="Cambria Math" panose="02040503050406030204" pitchFamily="18" charset="0"/>
                        </a:rPr>
                        <m:t>+</m:t>
                      </m:r>
                      <m:r>
                        <m:rPr>
                          <m:sty m:val="p"/>
                        </m:rPr>
                        <a:rPr lang="en-US" sz="2800">
                          <a:latin typeface="Cambria Math" panose="02040503050406030204" pitchFamily="18" charset="0"/>
                        </a:rPr>
                        <m:t>g</m:t>
                      </m:r>
                      <m:d>
                        <m:dPr>
                          <m:ctrlPr>
                            <a:rPr lang="en-US" sz="2800" i="1">
                              <a:latin typeface="Cambria Math" panose="02040503050406030204" pitchFamily="18" charset="0"/>
                            </a:rPr>
                          </m:ctrlPr>
                        </m:dPr>
                        <m:e>
                          <m:r>
                            <a:rPr lang="en-US" sz="2800" i="1">
                              <a:latin typeface="Cambria Math" panose="02040503050406030204" pitchFamily="18" charset="0"/>
                            </a:rPr>
                            <m:t>𝑛</m:t>
                          </m:r>
                        </m:e>
                      </m:d>
                    </m:oMath>
                  </m:oMathPara>
                </a14:m>
                <a:endParaRPr lang="en-US" sz="2800" dirty="0"/>
              </a:p>
              <a:p>
                <a:r>
                  <a:rPr lang="en-US" dirty="0"/>
                  <a:t>The solution of equation is given as,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𝑡</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i="1" smtClean="0">
                          <a:latin typeface="Cambria Math" panose="02040503050406030204" pitchFamily="18" charset="0"/>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r>
                                <a:rPr lang="en-US" i="1" smtClean="0">
                                  <a:latin typeface="Cambria Math" panose="02040503050406030204" pitchFamily="18" charset="0"/>
                                  <a:ea typeface="Cambria Math" panose="02040503050406030204" pitchFamily="18" charset="0"/>
                                </a:rPr>
                                <m:t>𝜃</m:t>
                              </m:r>
                              <m:d>
                                <m:dPr>
                                  <m:ctrlPr>
                                    <a:rPr lang="en-US" i="1" smtClean="0">
                                      <a:latin typeface="Cambria Math" panose="02040503050406030204" pitchFamily="18" charset="0"/>
                                      <a:ea typeface="Cambria Math" panose="02040503050406030204" pitchFamily="18" charset="0"/>
                                    </a:rPr>
                                  </m:ctrlPr>
                                </m:dPr>
                                <m:e>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𝑘</m:t>
                                      </m:r>
                                    </m:sup>
                                  </m:sSup>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&lt;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𝑏</m:t>
                                  </m:r>
                                </m:e>
                                <m:sup>
                                  <m:r>
                                    <a:rPr lang="en-US" b="0" i="1" smtClean="0">
                                      <a:latin typeface="Cambria Math" panose="02040503050406030204" pitchFamily="18" charset="0"/>
                                      <a:ea typeface="Cambria Math" panose="02040503050406030204" pitchFamily="18" charset="0"/>
                                    </a:rPr>
                                    <m:t>𝑘</m:t>
                                  </m:r>
                                </m:sup>
                              </m:sSup>
                            </m:e>
                            <m:e>
                              <m:r>
                                <a:rPr lang="en-US" i="1" smtClean="0">
                                  <a:latin typeface="Cambria Math" panose="02040503050406030204" pitchFamily="18" charset="0"/>
                                  <a:ea typeface="Cambria Math" panose="02040503050406030204" pitchFamily="18" charset="0"/>
                                </a:rPr>
                                <m:t>𝜃</m:t>
                              </m:r>
                              <m:d>
                                <m:dPr>
                                  <m:ctrlPr>
                                    <a:rPr lang="en-US" i="1" smtClean="0">
                                      <a:latin typeface="Cambria Math" panose="02040503050406030204" pitchFamily="18" charset="0"/>
                                      <a:ea typeface="Cambria Math" panose="02040503050406030204" pitchFamily="18" charset="0"/>
                                    </a:rPr>
                                  </m:ctrlPr>
                                </m:dPr>
                                <m:e>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r>
                                        <a:rPr lang="en-US" b="0" i="1" smtClean="0">
                                          <a:latin typeface="Cambria Math" panose="02040503050406030204" pitchFamily="18" charset="0"/>
                                          <a:ea typeface="Cambria Math" panose="02040503050406030204" pitchFamily="18" charset="0"/>
                                        </a:rPr>
                                        <m:t>𝑘</m:t>
                                      </m:r>
                                    </m:sup>
                                  </m:sSup>
                                  <m:r>
                                    <a:rPr lang="en-US" b="0" i="1" smtClean="0">
                                      <a:latin typeface="Cambria Math" panose="02040503050406030204" pitchFamily="18" charset="0"/>
                                      <a:ea typeface="Cambria Math" panose="02040503050406030204" pitchFamily="18" charset="0"/>
                                    </a:rPr>
                                    <m:t>𝑙𝑜𝑔𝑛</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𝑏</m:t>
                                  </m:r>
                                </m:e>
                                <m:sup>
                                  <m:r>
                                    <a:rPr lang="en-US" b="0" i="1" smtClean="0">
                                      <a:latin typeface="Cambria Math" panose="02040503050406030204" pitchFamily="18" charset="0"/>
                                      <a:ea typeface="Cambria Math" panose="02040503050406030204" pitchFamily="18" charset="0"/>
                                    </a:rPr>
                                    <m:t>𝑘</m:t>
                                  </m:r>
                                </m:sup>
                              </m:sSup>
                            </m:e>
                            <m:e>
                              <m:r>
                                <a:rPr lang="en-US" i="1" smtClean="0">
                                  <a:latin typeface="Cambria Math" panose="02040503050406030204" pitchFamily="18" charset="0"/>
                                  <a:ea typeface="Cambria Math" panose="02040503050406030204" pitchFamily="18" charset="0"/>
                                </a:rPr>
                                <m:t>𝜃</m:t>
                              </m:r>
                              <m:d>
                                <m:dPr>
                                  <m:ctrlPr>
                                    <a:rPr lang="en-US" i="1" smtClean="0">
                                      <a:latin typeface="Cambria Math" panose="02040503050406030204" pitchFamily="18" charset="0"/>
                                      <a:ea typeface="Cambria Math" panose="02040503050406030204" pitchFamily="18" charset="0"/>
                                    </a:rPr>
                                  </m:ctrlPr>
                                </m:dPr>
                                <m:e>
                                  <m:sSup>
                                    <m:sSupPr>
                                      <m:ctrlPr>
                                        <a:rPr lang="en-US"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𝑛</m:t>
                                      </m:r>
                                    </m:e>
                                    <m:sup>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𝑙𝑜𝑔</m:t>
                                          </m:r>
                                        </m:e>
                                        <m:sub>
                                          <m:r>
                                            <a:rPr lang="en-US" b="0" i="1" smtClean="0">
                                              <a:latin typeface="Cambria Math" panose="02040503050406030204" pitchFamily="18" charset="0"/>
                                              <a:ea typeface="Cambria Math" panose="02040503050406030204" pitchFamily="18" charset="0"/>
                                            </a:rPr>
                                            <m:t>𝑏</m:t>
                                          </m:r>
                                        </m:sub>
                                      </m:sSub>
                                      <m:r>
                                        <a:rPr lang="en-IN" b="0" i="1" smtClean="0">
                                          <a:latin typeface="Cambria Math" panose="02040503050406030204" pitchFamily="18" charset="0"/>
                                          <a:ea typeface="Cambria Math" panose="02040503050406030204" pitchFamily="18" charset="0"/>
                                        </a:rPr>
                                        <m:t>𝑎</m:t>
                                      </m:r>
                                    </m:sup>
                                  </m:sSup>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𝑖𝑓</m:t>
                              </m:r>
                              <m:r>
                                <a:rPr lang="en-US" b="0" i="1" smtClean="0">
                                  <a:latin typeface="Cambria Math" panose="02040503050406030204" pitchFamily="18" charset="0"/>
                                  <a:ea typeface="Cambria Math" panose="02040503050406030204" pitchFamily="18" charset="0"/>
                                </a:rPr>
                                <m:t> </m:t>
                              </m:r>
                              <m:r>
                                <a:rPr lang="en-IN"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&gt;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𝑏</m:t>
                                  </m:r>
                                </m:e>
                                <m:sup>
                                  <m:r>
                                    <a:rPr lang="en-US" b="0" i="1" smtClean="0">
                                      <a:latin typeface="Cambria Math" panose="02040503050406030204" pitchFamily="18" charset="0"/>
                                      <a:ea typeface="Cambria Math" panose="02040503050406030204" pitchFamily="18" charset="0"/>
                                    </a:rPr>
                                    <m:t>𝑘</m:t>
                                  </m:r>
                                </m:sup>
                              </m:sSup>
                            </m:e>
                          </m:eqArr>
                        </m:e>
                      </m:d>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731" t="-457" r="-783"/>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5EA8BEFB-AE5B-48F9-BBAD-B489CDE48C80}" type="slidenum">
              <a:rPr lang="en-US" smtClean="0"/>
              <a:pPr/>
              <a:t>65</a:t>
            </a:fld>
            <a:endParaRPr lang="en-US" dirty="0"/>
          </a:p>
        </p:txBody>
      </p:sp>
      <mc:AlternateContent xmlns:mc="http://schemas.openxmlformats.org/markup-compatibility/2006" xmlns:a14="http://schemas.microsoft.com/office/drawing/2010/main">
        <mc:Choice Requires="a14">
          <p:sp>
            <p:nvSpPr>
              <p:cNvPr id="5" name="Rounded Rectangle 4"/>
              <p:cNvSpPr/>
              <p:nvPr/>
            </p:nvSpPr>
            <p:spPr>
              <a:xfrm>
                <a:off x="7010400" y="3810000"/>
                <a:ext cx="310896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lgn="ctr"/>
                <a:endParaRPr lang="en-US" sz="2400" dirty="0">
                  <a:solidFill>
                    <a:schemeClr val="bg1"/>
                  </a:solidFill>
                </a:endParaRPr>
              </a:p>
              <a:p>
                <a:pPr marL="0" lvl="1" algn="ctr"/>
                <a14:m>
                  <m:oMathPara xmlns:m="http://schemas.openxmlformats.org/officeDocument/2006/math">
                    <m:oMathParaPr>
                      <m:jc m:val="centerGroup"/>
                    </m:oMathParaPr>
                    <m:oMath xmlns:m="http://schemas.openxmlformats.org/officeDocument/2006/math">
                      <m:r>
                        <a:rPr lang="en-US" sz="2000" i="1" dirty="0">
                          <a:solidFill>
                            <a:schemeClr val="bg1"/>
                          </a:solidFill>
                          <a:latin typeface="Cambria Math" panose="02040503050406030204" pitchFamily="18" charset="0"/>
                        </a:rPr>
                        <m:t>𝑇</m:t>
                      </m:r>
                      <m:r>
                        <a:rPr lang="en-US" sz="2000" i="1" dirty="0">
                          <a:solidFill>
                            <a:schemeClr val="bg1"/>
                          </a:solidFill>
                          <a:latin typeface="Cambria Math" panose="02040503050406030204" pitchFamily="18" charset="0"/>
                        </a:rPr>
                        <m:t>(</m:t>
                      </m:r>
                      <m:r>
                        <a:rPr lang="en-US" sz="2000" i="1" dirty="0">
                          <a:solidFill>
                            <a:schemeClr val="bg1"/>
                          </a:solidFill>
                          <a:latin typeface="Cambria Math" panose="02040503050406030204" pitchFamily="18" charset="0"/>
                        </a:rPr>
                        <m:t>𝑛</m:t>
                      </m:r>
                      <m:r>
                        <a:rPr lang="en-US" sz="2000" i="1" dirty="0">
                          <a:solidFill>
                            <a:schemeClr val="bg1"/>
                          </a:solidFill>
                          <a:latin typeface="Cambria Math" panose="02040503050406030204" pitchFamily="18" charset="0"/>
                        </a:rPr>
                        <m:t>) = </m:t>
                      </m:r>
                      <m:r>
                        <a:rPr lang="en-US" sz="2000" i="1" dirty="0" err="1">
                          <a:solidFill>
                            <a:schemeClr val="bg1"/>
                          </a:solidFill>
                          <a:latin typeface="Cambria Math" panose="02040503050406030204" pitchFamily="18" charset="0"/>
                        </a:rPr>
                        <m:t>𝑎𝑇</m:t>
                      </m:r>
                      <m:r>
                        <a:rPr lang="en-US" sz="2000" i="1" dirty="0">
                          <a:solidFill>
                            <a:schemeClr val="bg1"/>
                          </a:solidFill>
                          <a:latin typeface="Cambria Math" panose="02040503050406030204" pitchFamily="18" charset="0"/>
                        </a:rPr>
                        <m:t>(</m:t>
                      </m:r>
                      <m:r>
                        <a:rPr lang="en-US" sz="2000" i="1" dirty="0">
                          <a:solidFill>
                            <a:schemeClr val="bg1"/>
                          </a:solidFill>
                          <a:latin typeface="Cambria Math" panose="02040503050406030204" pitchFamily="18" charset="0"/>
                        </a:rPr>
                        <m:t>𝑛</m:t>
                      </m:r>
                      <m:r>
                        <a:rPr lang="en-US" sz="2000" i="1" dirty="0">
                          <a:solidFill>
                            <a:schemeClr val="bg1"/>
                          </a:solidFill>
                          <a:latin typeface="Cambria Math" panose="02040503050406030204" pitchFamily="18" charset="0"/>
                        </a:rPr>
                        <m:t>/</m:t>
                      </m:r>
                      <m:r>
                        <a:rPr lang="en-US" sz="2000" i="1" dirty="0">
                          <a:solidFill>
                            <a:schemeClr val="bg1"/>
                          </a:solidFill>
                          <a:latin typeface="Cambria Math" panose="02040503050406030204" pitchFamily="18" charset="0"/>
                        </a:rPr>
                        <m:t>𝑏</m:t>
                      </m:r>
                      <m:r>
                        <a:rPr lang="en-US" sz="2000" i="1" dirty="0">
                          <a:solidFill>
                            <a:schemeClr val="bg1"/>
                          </a:solidFill>
                          <a:latin typeface="Cambria Math" panose="02040503050406030204" pitchFamily="18" charset="0"/>
                        </a:rPr>
                        <m:t>) + </m:t>
                      </m:r>
                      <m:r>
                        <a:rPr lang="en-US" sz="2000" i="1" dirty="0">
                          <a:solidFill>
                            <a:schemeClr val="bg1"/>
                          </a:solidFill>
                          <a:latin typeface="Cambria Math" panose="02040503050406030204" pitchFamily="18" charset="0"/>
                        </a:rPr>
                        <m:t>𝑓</m:t>
                      </m:r>
                      <m:r>
                        <a:rPr lang="en-US" sz="2000" i="1" dirty="0">
                          <a:solidFill>
                            <a:schemeClr val="bg1"/>
                          </a:solidFill>
                          <a:latin typeface="Cambria Math" panose="02040503050406030204" pitchFamily="18" charset="0"/>
                        </a:rPr>
                        <m:t>(</m:t>
                      </m:r>
                      <m:r>
                        <a:rPr lang="en-US" sz="2000" i="1" dirty="0">
                          <a:solidFill>
                            <a:schemeClr val="bg1"/>
                          </a:solidFill>
                          <a:latin typeface="Cambria Math" panose="02040503050406030204" pitchFamily="18" charset="0"/>
                        </a:rPr>
                        <m:t>𝑛</m:t>
                      </m:r>
                      <m:r>
                        <a:rPr lang="en-US" sz="2000" i="1" dirty="0">
                          <a:solidFill>
                            <a:schemeClr val="bg1"/>
                          </a:solidFill>
                          <a:latin typeface="Cambria Math" panose="02040503050406030204" pitchFamily="18" charset="0"/>
                        </a:rPr>
                        <m:t>)</m:t>
                      </m:r>
                    </m:oMath>
                  </m:oMathPara>
                </a14:m>
                <a:endParaRPr lang="en-US" sz="2000" dirty="0">
                  <a:solidFill>
                    <a:schemeClr val="bg1"/>
                  </a:solidFill>
                </a:endParaRPr>
              </a:p>
              <a:p>
                <a:pPr algn="ctr"/>
                <a:endParaRPr lang="en-US" dirty="0">
                  <a:solidFill>
                    <a:schemeClr val="bg1"/>
                  </a:solidFill>
                </a:endParaRPr>
              </a:p>
            </p:txBody>
          </p:sp>
        </mc:Choice>
        <mc:Fallback xmlns="">
          <p:sp>
            <p:nvSpPr>
              <p:cNvPr id="5" name="Rounded Rectangle 4"/>
              <p:cNvSpPr>
                <a:spLocks noRot="1" noChangeAspect="1" noMove="1" noResize="1" noEditPoints="1" noAdjustHandles="1" noChangeArrowheads="1" noChangeShapeType="1" noTextEdit="1"/>
              </p:cNvSpPr>
              <p:nvPr/>
            </p:nvSpPr>
            <p:spPr>
              <a:xfrm>
                <a:off x="7010400" y="3810000"/>
                <a:ext cx="3108960" cy="457200"/>
              </a:xfrm>
              <a:prstGeom prst="roundRect">
                <a:avLst/>
              </a:prstGeom>
              <a:blipFill>
                <a:blip r:embed="rId3"/>
                <a:stretch>
                  <a:fillRect b="-13924"/>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2209800" y="5947073"/>
                <a:ext cx="3810000" cy="461665"/>
              </a:xfrm>
              <a:prstGeom prst="rect">
                <a:avLst/>
              </a:prstGeom>
              <a:noFill/>
            </p:spPr>
            <p:txBody>
              <a:bodyPr wrap="square" rtlCol="0">
                <a:spAutoFit/>
              </a:bodyPr>
              <a:lstStyle/>
              <a:p>
                <a14:m>
                  <m:oMath xmlns:m="http://schemas.openxmlformats.org/officeDocument/2006/math">
                    <m:r>
                      <a:rPr lang="en-US" sz="2400" i="1" dirty="0">
                        <a:latin typeface="Cambria Math" panose="02040503050406030204" pitchFamily="18" charset="0"/>
                      </a:rPr>
                      <m:t>𝑘</m:t>
                    </m:r>
                  </m:oMath>
                </a14:m>
                <a:r>
                  <a:rPr lang="en-US" sz="2400" dirty="0"/>
                  <a:t> is the power of </a:t>
                </a:r>
                <a14:m>
                  <m:oMath xmlns:m="http://schemas.openxmlformats.org/officeDocument/2006/math">
                    <m:r>
                      <a:rPr lang="en-US" sz="2400" i="1" dirty="0">
                        <a:latin typeface="Cambria Math" panose="02040503050406030204" pitchFamily="18" charset="0"/>
                      </a:rPr>
                      <m:t>𝑛</m:t>
                    </m:r>
                  </m:oMath>
                </a14:m>
                <a:r>
                  <a:rPr lang="en-US" sz="2400" dirty="0"/>
                  <a:t> in </a:t>
                </a:r>
                <a14:m>
                  <m:oMath xmlns:m="http://schemas.openxmlformats.org/officeDocument/2006/math">
                    <m:r>
                      <a:rPr lang="en-US" sz="2400" i="1" dirty="0">
                        <a:latin typeface="Cambria Math" panose="02040503050406030204" pitchFamily="18" charset="0"/>
                      </a:rPr>
                      <m:t>𝑔</m:t>
                    </m:r>
                    <m:r>
                      <a:rPr lang="en-US" sz="2400" i="1" dirty="0">
                        <a:latin typeface="Cambria Math" panose="02040503050406030204" pitchFamily="18" charset="0"/>
                      </a:rPr>
                      <m:t>(</m:t>
                    </m:r>
                    <m:r>
                      <a:rPr lang="en-US" sz="2400" i="1" dirty="0">
                        <a:latin typeface="Cambria Math" panose="02040503050406030204" pitchFamily="18" charset="0"/>
                      </a:rPr>
                      <m:t>𝑛</m:t>
                    </m:r>
                    <m:r>
                      <a:rPr lang="en-US" sz="2400" i="1" dirty="0">
                        <a:latin typeface="Cambria Math" panose="02040503050406030204" pitchFamily="18" charset="0"/>
                      </a:rPr>
                      <m:t>)</m:t>
                    </m:r>
                  </m:oMath>
                </a14:m>
                <a:endParaRPr lang="en-US" sz="2400" dirty="0"/>
              </a:p>
            </p:txBody>
          </p:sp>
        </mc:Choice>
        <mc:Fallback xmlns="">
          <p:sp>
            <p:nvSpPr>
              <p:cNvPr id="6" name="TextBox 5"/>
              <p:cNvSpPr txBox="1">
                <a:spLocks noRot="1" noChangeAspect="1" noMove="1" noResize="1" noEditPoints="1" noAdjustHandles="1" noChangeArrowheads="1" noChangeShapeType="1" noTextEdit="1"/>
              </p:cNvSpPr>
              <p:nvPr/>
            </p:nvSpPr>
            <p:spPr>
              <a:xfrm>
                <a:off x="2209800" y="5947073"/>
                <a:ext cx="3810000" cy="461665"/>
              </a:xfrm>
              <a:prstGeom prst="rect">
                <a:avLst/>
              </a:prstGeom>
              <a:blipFill>
                <a:blip r:embed="rId4"/>
                <a:stretch>
                  <a:fillRect l="-480" t="-10667" b="-30667"/>
                </a:stretch>
              </a:blipFill>
            </p:spPr>
            <p:txBody>
              <a:bodyPr/>
              <a:lstStyle/>
              <a:p>
                <a:r>
                  <a:rPr lang="en-IN">
                    <a:noFill/>
                  </a:rPr>
                  <a:t> </a:t>
                </a:r>
              </a:p>
            </p:txBody>
          </p:sp>
        </mc:Fallback>
      </mc:AlternateContent>
    </p:spTree>
    <p:extLst>
      <p:ext uri="{BB962C8B-B14F-4D97-AF65-F5344CB8AC3E}">
        <p14:creationId xmlns:p14="http://schemas.microsoft.com/office/powerpoint/2010/main" val="2617840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xit" presetSubtype="0" fill="hold" grpId="1" nodeType="clickEffect">
                                  <p:stCondLst>
                                    <p:cond delay="0"/>
                                  </p:stCondLst>
                                  <p:childTnLst>
                                    <p:set>
                                      <p:cBhvr>
                                        <p:cTn id="41" dur="1" fill="hold">
                                          <p:stCondLst>
                                            <p:cond delay="0"/>
                                          </p:stCondLst>
                                        </p:cTn>
                                        <p:tgtEl>
                                          <p:spTgt spid="5"/>
                                        </p:tgtEl>
                                        <p:attrNameLst>
                                          <p:attrName>style.visibility</p:attrName>
                                        </p:attrNameLst>
                                      </p:cBhvr>
                                      <p:to>
                                        <p:strVal val="hidden"/>
                                      </p:to>
                                    </p:se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P spid="5" grpId="1" animBg="1"/>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41517</TotalTime>
  <Words>5278</Words>
  <Application>Microsoft Office PowerPoint</Application>
  <PresentationFormat>Widescreen</PresentationFormat>
  <Paragraphs>629</Paragraphs>
  <Slides>65</Slides>
  <Notes>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65</vt:i4>
      </vt:variant>
    </vt:vector>
  </HeadingPairs>
  <TitlesOfParts>
    <vt:vector size="78" baseType="lpstr">
      <vt:lpstr>Arial</vt:lpstr>
      <vt:lpstr>Book Antiqua</vt:lpstr>
      <vt:lpstr>Calibri</vt:lpstr>
      <vt:lpstr>Cambria</vt:lpstr>
      <vt:lpstr>Cambria Math</vt:lpstr>
      <vt:lpstr>Consolas</vt:lpstr>
      <vt:lpstr>Courier New</vt:lpstr>
      <vt:lpstr>Open Sans Extrabold</vt:lpstr>
      <vt:lpstr>Open Sans Semibold</vt:lpstr>
      <vt:lpstr>Roboto Condensed</vt:lpstr>
      <vt:lpstr>Swis721 Cn BT</vt:lpstr>
      <vt:lpstr>Wingdings</vt:lpstr>
      <vt:lpstr>Office Theme</vt:lpstr>
      <vt:lpstr>2CS503 Design &amp; Analysis of Algorithm  Recurrence Relation</vt:lpstr>
      <vt:lpstr>Topics to be covered</vt:lpstr>
      <vt:lpstr>Introduction </vt:lpstr>
      <vt:lpstr>Methods to Solve Recurrence</vt:lpstr>
      <vt:lpstr>Substitution Method</vt:lpstr>
      <vt:lpstr>Substitution Method</vt:lpstr>
      <vt:lpstr>Exercise 1</vt:lpstr>
      <vt:lpstr>Exercise 2 </vt:lpstr>
      <vt:lpstr>PowerPoint Presentation</vt:lpstr>
      <vt:lpstr>Homogeneous Recurrence </vt:lpstr>
      <vt:lpstr>Homogeneous Recurrence </vt:lpstr>
      <vt:lpstr>Example</vt:lpstr>
      <vt:lpstr>Analysis: Fibonacci series</vt:lpstr>
      <vt:lpstr>Analysis: Fibonacci series</vt:lpstr>
      <vt:lpstr>Analysis: Fibonacci series</vt:lpstr>
      <vt:lpstr>Analysis: Fibonacci series</vt:lpstr>
      <vt:lpstr>Analysis: Tower of Hanoi</vt:lpstr>
      <vt:lpstr>Analysis: Tower of Hanoi</vt:lpstr>
      <vt:lpstr>Analysis: Tower of Hanoi</vt:lpstr>
      <vt:lpstr>Analysis: Tower of Hanoi</vt:lpstr>
      <vt:lpstr>Non-homogeneous recurrence</vt:lpstr>
      <vt:lpstr>PowerPoint Presentation</vt:lpstr>
      <vt:lpstr>PowerPoint Presentation</vt:lpstr>
      <vt:lpstr>PowerPoint Presentation</vt:lpstr>
      <vt:lpstr>PowerPoint Presentation</vt:lpstr>
      <vt:lpstr>PowerPoint Presentation</vt:lpstr>
      <vt:lpstr>Find the total solution:  T(n)-8T(n-1) =14n+5</vt:lpstr>
      <vt:lpstr>Master Method(for divide and conquer recurrence)</vt:lpstr>
      <vt:lpstr>Master Method(for divide and conquer recurrence)</vt:lpstr>
      <vt:lpstr>Master Method(for divide and conquer recurrence)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Master Method</vt:lpstr>
      <vt:lpstr>Master Theorem for Subtract and Conquer Recurrences</vt:lpstr>
      <vt:lpstr>Recurrence Tree Method</vt:lpstr>
      <vt:lpstr>Important formula</vt:lpstr>
      <vt:lpstr>Recurrence Tree Method</vt:lpstr>
      <vt:lpstr>Recurrence Tree Method</vt:lpstr>
      <vt:lpstr>PowerPoint Presentation</vt:lpstr>
      <vt:lpstr>PowerPoint Presentation</vt:lpstr>
      <vt:lpstr>PowerPoint Presentation</vt:lpstr>
      <vt:lpstr>Recurrence Tree Method</vt:lpstr>
      <vt:lpstr>Recurrence Tree Method</vt:lpstr>
      <vt:lpstr>Recurrence Tree Method</vt:lpstr>
      <vt:lpstr>Recurrence Tree Method</vt:lpstr>
      <vt:lpstr>Recurrence Tree Method</vt:lpstr>
      <vt:lpstr>Recurrence Tree Method</vt:lpstr>
      <vt:lpstr>Method of Guessing and Confirming</vt:lpstr>
      <vt:lpstr>Example</vt:lpstr>
      <vt:lpstr>Change of variable-Method</vt:lpstr>
      <vt:lpstr>Example</vt:lpstr>
      <vt:lpstr>Example</vt:lpstr>
      <vt:lpstr>PowerPoint Presentation</vt:lpstr>
      <vt:lpstr>Range transformation</vt:lpstr>
      <vt:lpstr>PowerPoint Presentation</vt:lpstr>
      <vt:lpstr>Divide &amp; Conquer (D&amp;C) Technique</vt:lpstr>
      <vt:lpstr>D&amp;C: Running Time Analysis</vt:lpstr>
    </vt:vector>
  </TitlesOfParts>
  <Company>Darshan Institute of Engg. &amp; 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W5 of Computer Engineering (Why, What, When, Where, How)</dc:title>
  <dc:creator>Darshan Institute of Engg. &amp; Tech.</dc:creator>
  <cp:lastModifiedBy>MCA-10</cp:lastModifiedBy>
  <cp:revision>1545</cp:revision>
  <dcterms:created xsi:type="dcterms:W3CDTF">2013-05-17T03:00:03Z</dcterms:created>
  <dcterms:modified xsi:type="dcterms:W3CDTF">2023-08-24T08:37:05Z</dcterms:modified>
</cp:coreProperties>
</file>