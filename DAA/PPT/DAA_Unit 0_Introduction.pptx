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Roboto Condensed"/>
      <p:regular r:id="rId30"/>
      <p:bold r:id="rId31"/>
      <p:italic r:id="rId32"/>
      <p:boldItalic r:id="rId33"/>
    </p:embeddedFont>
    <p:embeddedFont>
      <p:font typeface="Roboto Condensed Light"/>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ga/WQ1o9PEChirqxFqtjOFOjjq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CC79A7-D1A0-44D4-AC38-6A8B6100B3F6}">
  <a:tblStyle styleId="{62CC79A7-D1A0-44D4-AC38-6A8B6100B3F6}" styleName="Table_0">
    <a:wholeTbl>
      <a:tcTxStyle b="off" i="off">
        <a:font>
          <a:latin typeface="Arial"/>
          <a:ea typeface="Arial"/>
          <a:cs typeface="Arial"/>
        </a:font>
        <a:schemeClr val="dk1"/>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chemeClr val="accent5"/>
              </a:solidFill>
              <a:prstDash val="solid"/>
              <a:round/>
              <a:headEnd len="sm" w="sm" type="none"/>
              <a:tailEnd len="sm" w="sm" type="none"/>
            </a:ln>
          </a:insideH>
          <a:insideV>
            <a:ln cap="flat" cmpd="sng" w="9525">
              <a:solidFill>
                <a:schemeClr val="accent5"/>
              </a:solidFill>
              <a:prstDash val="solid"/>
              <a:round/>
              <a:headEnd len="sm" w="sm" type="none"/>
              <a:tailEnd len="sm" w="sm" type="none"/>
            </a:ln>
          </a:insideV>
        </a:tcBdr>
        <a:fill>
          <a:solidFill>
            <a:srgbClr val="FFFFFF">
              <a:alpha val="0"/>
            </a:srgbClr>
          </a:solidFill>
        </a:fill>
      </a:tcStyle>
    </a:wholeTbl>
    <a:band1H>
      <a:tcTxStyle/>
      <a:tcStyle>
        <a:fill>
          <a:solidFill>
            <a:schemeClr val="accent5">
              <a:alpha val="40000"/>
            </a:schemeClr>
          </a:solidFill>
        </a:fill>
      </a:tcStyle>
    </a:band1H>
    <a:band2H>
      <a:tcTxStyle/>
    </a:band2H>
    <a:band1V>
      <a:tcTxStyle/>
      <a:tcStyle>
        <a:tcBdr>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tcBdr>
        <a:fill>
          <a:solidFill>
            <a:schemeClr val="accent5">
              <a:alpha val="40000"/>
            </a:schemeClr>
          </a:solidFill>
        </a:fill>
      </a:tcStyle>
    </a:band1V>
    <a:band2V>
      <a:tcTxStyle/>
    </a:band2V>
    <a:lastCol>
      <a:tcTxStyle b="on" i="off"/>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chemeClr val="accent5"/>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chemeClr val="accent5"/>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accent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a:seCell>
    <a:swCell>
      <a:tcTxStyle/>
    </a:swCell>
    <a:firstRow>
      <a:tcTxStyle b="on" i="off">
        <a:font>
          <a:latin typeface="Arial"/>
          <a:ea typeface="Arial"/>
          <a:cs typeface="Arial"/>
        </a:font>
        <a:schemeClr val="lt1"/>
      </a:tcTxStyle>
      <a:tcStyle>
        <a:tcBdr>
          <a:left>
            <a:ln cap="flat" cmpd="sng" w="9525">
              <a:solidFill>
                <a:schemeClr val="accent5"/>
              </a:solidFill>
              <a:prstDash val="solid"/>
              <a:round/>
              <a:headEnd len="sm" w="sm" type="none"/>
              <a:tailEnd len="sm" w="sm" type="none"/>
            </a:ln>
          </a:left>
          <a:right>
            <a:ln cap="flat" cmpd="sng" w="9525">
              <a:solidFill>
                <a:schemeClr val="accent5"/>
              </a:solidFill>
              <a:prstDash val="solid"/>
              <a:round/>
              <a:headEnd len="sm" w="sm" type="none"/>
              <a:tailEnd len="sm" w="sm" type="none"/>
            </a:ln>
          </a:right>
          <a:top>
            <a:ln cap="flat" cmpd="sng" w="9525">
              <a:solidFill>
                <a:schemeClr val="accent5"/>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5"/>
          </a:solidFill>
        </a:fill>
      </a:tcStyle>
    </a:firstRow>
    <a:neCell>
      <a:tcTxStyle/>
    </a:neCell>
    <a:nwCell>
      <a:tcTxStyle/>
    </a:nwCell>
  </a:tblStyle>
  <a:tblStyle styleId="{A63F83B9-0FA5-4EF9-B39E-BF36895A6C35}"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3F7"/>
          </a:solidFill>
        </a:fill>
      </a:tcStyle>
    </a:wholeTbl>
    <a:band1H>
      <a:tcTxStyle/>
      <a:tcStyle>
        <a:fill>
          <a:solidFill>
            <a:srgbClr val="CAE7EF"/>
          </a:solidFill>
        </a:fill>
      </a:tcStyle>
    </a:band1H>
    <a:band2H>
      <a:tcTxStyle/>
    </a:band2H>
    <a:band1V>
      <a:tcTxStyle/>
      <a:tcStyle>
        <a:fill>
          <a:solidFill>
            <a:srgbClr val="CAE7EF"/>
          </a:solidFill>
        </a:fill>
      </a:tcStyle>
    </a:band1V>
    <a:band2V>
      <a:tcTxStyle/>
    </a:band2V>
    <a:lastCol>
      <a:tcTxStyle b="on" i="off">
        <a:font>
          <a:latin typeface="Arial"/>
          <a:ea typeface="Arial"/>
          <a:cs typeface="Arial"/>
        </a:font>
        <a:schemeClr val="lt1"/>
      </a:tcTxStyle>
      <a:tcStyle>
        <a:fill>
          <a:solidFill>
            <a:schemeClr val="accent2"/>
          </a:solidFill>
        </a:fill>
      </a:tcStyle>
    </a:lastCol>
    <a:firstCol>
      <a:tcTxStyle b="on" i="off">
        <a:font>
          <a:latin typeface="Arial"/>
          <a:ea typeface="Arial"/>
          <a:cs typeface="Arial"/>
        </a:font>
        <a:schemeClr val="lt1"/>
      </a:tcTxStyle>
      <a:tcStyle>
        <a:fill>
          <a:solidFill>
            <a:schemeClr val="accent2"/>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2"/>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2"/>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Condensed-bold.fntdata"/><Relationship Id="rId30" Type="http://schemas.openxmlformats.org/officeDocument/2006/relationships/font" Target="fonts/RobotoCondensed-regular.fntdata"/><Relationship Id="rId11" Type="http://schemas.openxmlformats.org/officeDocument/2006/relationships/slide" Target="slides/slide6.xml"/><Relationship Id="rId33" Type="http://schemas.openxmlformats.org/officeDocument/2006/relationships/font" Target="fonts/RobotoCondensed-boldItalic.fntdata"/><Relationship Id="rId10" Type="http://schemas.openxmlformats.org/officeDocument/2006/relationships/slide" Target="slides/slide5.xml"/><Relationship Id="rId32" Type="http://schemas.openxmlformats.org/officeDocument/2006/relationships/font" Target="fonts/RobotoCondensed-italic.fntdata"/><Relationship Id="rId13" Type="http://schemas.openxmlformats.org/officeDocument/2006/relationships/slide" Target="slides/slide8.xml"/><Relationship Id="rId35" Type="http://schemas.openxmlformats.org/officeDocument/2006/relationships/font" Target="fonts/RobotoCondensedLight-bold.fntdata"/><Relationship Id="rId12" Type="http://schemas.openxmlformats.org/officeDocument/2006/relationships/slide" Target="slides/slide7.xml"/><Relationship Id="rId34" Type="http://schemas.openxmlformats.org/officeDocument/2006/relationships/font" Target="fonts/RobotoCondensedLight-regular.fntdata"/><Relationship Id="rId15" Type="http://schemas.openxmlformats.org/officeDocument/2006/relationships/slide" Target="slides/slide10.xml"/><Relationship Id="rId37" Type="http://schemas.openxmlformats.org/officeDocument/2006/relationships/font" Target="fonts/RobotoCondensedLight-boldItalic.fntdata"/><Relationship Id="rId14" Type="http://schemas.openxmlformats.org/officeDocument/2006/relationships/slide" Target="slides/slide9.xml"/><Relationship Id="rId36" Type="http://schemas.openxmlformats.org/officeDocument/2006/relationships/font" Target="fonts/RobotoCondensedLight-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 name="Google Shape;4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 name="Google Shape;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 name="Google Shape;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 name="Google Shape;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Pink">
  <p:cSld name="Title Slide - Pink">
    <p:spTree>
      <p:nvGrpSpPr>
        <p:cNvPr id="15" name="Shape 15"/>
        <p:cNvGrpSpPr/>
        <p:nvPr/>
      </p:nvGrpSpPr>
      <p:grpSpPr>
        <a:xfrm>
          <a:off x="0" y="0"/>
          <a:ext cx="0" cy="0"/>
          <a:chOff x="0" y="0"/>
          <a:chExt cx="0" cy="0"/>
        </a:xfrm>
      </p:grpSpPr>
      <p:sp>
        <p:nvSpPr>
          <p:cNvPr id="16" name="Google Shape;16;p26"/>
          <p:cNvSpPr txBox="1"/>
          <p:nvPr>
            <p:ph type="ctrTitle"/>
          </p:nvPr>
        </p:nvSpPr>
        <p:spPr>
          <a:xfrm>
            <a:off x="559490" y="1122364"/>
            <a:ext cx="7035300" cy="2578780"/>
          </a:xfrm>
          <a:prstGeom prst="rect">
            <a:avLst/>
          </a:prstGeom>
          <a:noFill/>
          <a:ln>
            <a:noFill/>
          </a:ln>
        </p:spPr>
        <p:txBody>
          <a:bodyPr anchorCtr="0" anchor="t" bIns="45700" lIns="91425" spcFirstLastPara="1" rIns="91425" wrap="square" tIns="45700">
            <a:noAutofit/>
          </a:bodyPr>
          <a:lstStyle>
            <a:lvl1pPr lvl="0" algn="l">
              <a:lnSpc>
                <a:spcPct val="90000"/>
              </a:lnSpc>
              <a:spcBef>
                <a:spcPts val="0"/>
              </a:spcBef>
              <a:spcAft>
                <a:spcPts val="0"/>
              </a:spcAft>
              <a:buClr>
                <a:srgbClr val="363636"/>
              </a:buClr>
              <a:buSzPts val="6600"/>
              <a:buFont typeface="Roboto Condensed"/>
              <a:buNone/>
              <a:defRPr b="1" sz="6600">
                <a:solidFill>
                  <a:srgbClr val="363636"/>
                </a:solidFill>
                <a:latin typeface="Roboto Condensed"/>
                <a:ea typeface="Roboto Condensed"/>
                <a:cs typeface="Roboto Condensed"/>
                <a:sym typeface="Roboto Condense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7" name="Google Shape;17;p26"/>
          <p:cNvPicPr preferRelativeResize="0"/>
          <p:nvPr/>
        </p:nvPicPr>
        <p:blipFill rotWithShape="1">
          <a:blip r:embed="rId2">
            <a:alphaModFix/>
          </a:blip>
          <a:srcRect b="0" l="0" r="0" t="0"/>
          <a:stretch/>
        </p:blipFill>
        <p:spPr>
          <a:xfrm>
            <a:off x="8565204" y="2657799"/>
            <a:ext cx="2103120" cy="208668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2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890E4F"/>
              </a:buClr>
              <a:buSzPts val="6000"/>
              <a:buFont typeface="Roboto Condensed"/>
              <a:buNone/>
              <a:defRPr b="1" sz="6000">
                <a:solidFill>
                  <a:srgbClr val="890E4F"/>
                </a:solidFill>
                <a:latin typeface="Roboto Condensed"/>
                <a:ea typeface="Roboto Condensed"/>
                <a:cs typeface="Roboto Condensed"/>
                <a:sym typeface="Roboto Condense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A8A8A"/>
              </a:buClr>
              <a:buSzPts val="2000"/>
              <a:buNone/>
              <a:defRPr sz="2000">
                <a:solidFill>
                  <a:srgbClr val="8A8A8A"/>
                </a:solidFill>
              </a:defRPr>
            </a:lvl2pPr>
            <a:lvl3pPr indent="-228600" lvl="2" marL="1371600" algn="l">
              <a:lnSpc>
                <a:spcPct val="90000"/>
              </a:lnSpc>
              <a:spcBef>
                <a:spcPts val="500"/>
              </a:spcBef>
              <a:spcAft>
                <a:spcPts val="0"/>
              </a:spcAft>
              <a:buClr>
                <a:srgbClr val="8A8A8A"/>
              </a:buClr>
              <a:buSzPts val="1800"/>
              <a:buNone/>
              <a:defRPr sz="1800">
                <a:solidFill>
                  <a:srgbClr val="8A8A8A"/>
                </a:solidFill>
              </a:defRPr>
            </a:lvl3pPr>
            <a:lvl4pPr indent="-228600" lvl="3" marL="1828800" algn="l">
              <a:lnSpc>
                <a:spcPct val="90000"/>
              </a:lnSpc>
              <a:spcBef>
                <a:spcPts val="500"/>
              </a:spcBef>
              <a:spcAft>
                <a:spcPts val="0"/>
              </a:spcAft>
              <a:buClr>
                <a:srgbClr val="8A8A8A"/>
              </a:buClr>
              <a:buSzPts val="1600"/>
              <a:buNone/>
              <a:defRPr sz="1600">
                <a:solidFill>
                  <a:srgbClr val="8A8A8A"/>
                </a:solidFill>
              </a:defRPr>
            </a:lvl4pPr>
            <a:lvl5pPr indent="-228600" lvl="4" marL="2286000" algn="l">
              <a:lnSpc>
                <a:spcPct val="90000"/>
              </a:lnSpc>
              <a:spcBef>
                <a:spcPts val="500"/>
              </a:spcBef>
              <a:spcAft>
                <a:spcPts val="0"/>
              </a:spcAft>
              <a:buClr>
                <a:srgbClr val="8A8A8A"/>
              </a:buClr>
              <a:buSzPts val="1600"/>
              <a:buNone/>
              <a:defRPr sz="1600">
                <a:solidFill>
                  <a:srgbClr val="8A8A8A"/>
                </a:solidFill>
              </a:defRPr>
            </a:lvl5pPr>
            <a:lvl6pPr indent="-228600" lvl="5" marL="2743200" algn="l">
              <a:lnSpc>
                <a:spcPct val="90000"/>
              </a:lnSpc>
              <a:spcBef>
                <a:spcPts val="500"/>
              </a:spcBef>
              <a:spcAft>
                <a:spcPts val="0"/>
              </a:spcAft>
              <a:buClr>
                <a:srgbClr val="8A8A8A"/>
              </a:buClr>
              <a:buSzPts val="1600"/>
              <a:buNone/>
              <a:defRPr sz="1600">
                <a:solidFill>
                  <a:srgbClr val="8A8A8A"/>
                </a:solidFill>
              </a:defRPr>
            </a:lvl6pPr>
            <a:lvl7pPr indent="-228600" lvl="6" marL="3200400" algn="l">
              <a:lnSpc>
                <a:spcPct val="90000"/>
              </a:lnSpc>
              <a:spcBef>
                <a:spcPts val="500"/>
              </a:spcBef>
              <a:spcAft>
                <a:spcPts val="0"/>
              </a:spcAft>
              <a:buClr>
                <a:srgbClr val="8A8A8A"/>
              </a:buClr>
              <a:buSzPts val="1600"/>
              <a:buNone/>
              <a:defRPr sz="1600">
                <a:solidFill>
                  <a:srgbClr val="8A8A8A"/>
                </a:solidFill>
              </a:defRPr>
            </a:lvl7pPr>
            <a:lvl8pPr indent="-228600" lvl="7" marL="3657600" algn="l">
              <a:lnSpc>
                <a:spcPct val="90000"/>
              </a:lnSpc>
              <a:spcBef>
                <a:spcPts val="500"/>
              </a:spcBef>
              <a:spcAft>
                <a:spcPts val="0"/>
              </a:spcAft>
              <a:buClr>
                <a:srgbClr val="8A8A8A"/>
              </a:buClr>
              <a:buSzPts val="1600"/>
              <a:buNone/>
              <a:defRPr sz="1600">
                <a:solidFill>
                  <a:srgbClr val="8A8A8A"/>
                </a:solidFill>
              </a:defRPr>
            </a:lvl8pPr>
            <a:lvl9pPr indent="-228600" lvl="8" marL="4114800" algn="l">
              <a:lnSpc>
                <a:spcPct val="90000"/>
              </a:lnSpc>
              <a:spcBef>
                <a:spcPts val="500"/>
              </a:spcBef>
              <a:spcAft>
                <a:spcPts val="0"/>
              </a:spcAft>
              <a:buClr>
                <a:srgbClr val="8A8A8A"/>
              </a:buClr>
              <a:buSzPts val="1600"/>
              <a:buNone/>
              <a:defRPr sz="1600">
                <a:solidFill>
                  <a:srgbClr val="8A8A8A"/>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Logo on BR">
  <p:cSld name="Title and Content - Logo on BR">
    <p:spTree>
      <p:nvGrpSpPr>
        <p:cNvPr id="21" name="Shape 21"/>
        <p:cNvGrpSpPr/>
        <p:nvPr/>
      </p:nvGrpSpPr>
      <p:grpSpPr>
        <a:xfrm>
          <a:off x="0" y="0"/>
          <a:ext cx="0" cy="0"/>
          <a:chOff x="0" y="0"/>
          <a:chExt cx="0" cy="0"/>
        </a:xfrm>
      </p:grpSpPr>
      <p:sp>
        <p:nvSpPr>
          <p:cNvPr id="22" name="Google Shape;22;p28"/>
          <p:cNvSpPr/>
          <p:nvPr/>
        </p:nvSpPr>
        <p:spPr>
          <a:xfrm>
            <a:off x="0" y="6604000"/>
            <a:ext cx="12191998" cy="254000"/>
          </a:xfrm>
          <a:prstGeom prst="roundRect">
            <a:avLst>
              <a:gd fmla="val 0" name="adj"/>
            </a:avLst>
          </a:prstGeom>
          <a:solidFill>
            <a:srgbClr val="DFDF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boto Condensed"/>
              <a:ea typeface="Roboto Condensed"/>
              <a:cs typeface="Roboto Condensed"/>
              <a:sym typeface="Roboto Condensed"/>
            </a:endParaRPr>
          </a:p>
        </p:txBody>
      </p:sp>
      <p:sp>
        <p:nvSpPr>
          <p:cNvPr id="23" name="Google Shape;23;p28"/>
          <p:cNvSpPr txBox="1"/>
          <p:nvPr/>
        </p:nvSpPr>
        <p:spPr>
          <a:xfrm>
            <a:off x="4038600" y="6604000"/>
            <a:ext cx="4283765" cy="25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363636"/>
                </a:solidFill>
                <a:latin typeface="Roboto Condensed Light"/>
                <a:ea typeface="Roboto Condensed Light"/>
                <a:cs typeface="Roboto Condensed Light"/>
                <a:sym typeface="Roboto Condensed Light"/>
              </a:rPr>
              <a:t>Design &amp; Analysis of Algorithm</a:t>
            </a:r>
            <a:endParaRPr b="0" i="0" sz="1400" u="none" cap="none" strike="noStrike">
              <a:solidFill>
                <a:srgbClr val="000000"/>
              </a:solidFill>
              <a:latin typeface="Arial"/>
              <a:ea typeface="Arial"/>
              <a:cs typeface="Arial"/>
              <a:sym typeface="Arial"/>
            </a:endParaRPr>
          </a:p>
        </p:txBody>
      </p:sp>
      <p:sp>
        <p:nvSpPr>
          <p:cNvPr id="24" name="Google Shape;24;p28"/>
          <p:cNvSpPr txBox="1"/>
          <p:nvPr/>
        </p:nvSpPr>
        <p:spPr>
          <a:xfrm>
            <a:off x="8610600" y="6604000"/>
            <a:ext cx="2743200" cy="25512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363636"/>
                </a:solidFill>
                <a:latin typeface="Roboto Condensed"/>
                <a:ea typeface="Roboto Condensed"/>
                <a:cs typeface="Roboto Condensed"/>
                <a:sym typeface="Roboto Condensed"/>
              </a:rPr>
              <a:t>‹#›</a:t>
            </a:fld>
            <a:endParaRPr b="1" i="0" sz="1200" u="none" cap="none" strike="noStrike">
              <a:solidFill>
                <a:srgbClr val="363636"/>
              </a:solidFill>
              <a:latin typeface="Roboto Condensed"/>
              <a:ea typeface="Roboto Condensed"/>
              <a:cs typeface="Roboto Condensed"/>
              <a:sym typeface="Roboto Condensed"/>
            </a:endParaRPr>
          </a:p>
        </p:txBody>
      </p:sp>
      <p:sp>
        <p:nvSpPr>
          <p:cNvPr id="25" name="Google Shape;25;p28"/>
          <p:cNvSpPr txBox="1"/>
          <p:nvPr>
            <p:ph type="title"/>
          </p:nvPr>
        </p:nvSpPr>
        <p:spPr>
          <a:xfrm>
            <a:off x="0" y="65253"/>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lvl1pPr lvl="0" algn="l">
              <a:lnSpc>
                <a:spcPct val="90000"/>
              </a:lnSpc>
              <a:spcBef>
                <a:spcPts val="0"/>
              </a:spcBef>
              <a:spcAft>
                <a:spcPts val="0"/>
              </a:spcAft>
              <a:buClr>
                <a:srgbClr val="363636"/>
              </a:buClr>
              <a:buSzPts val="3400"/>
              <a:buFont typeface="Roboto Condensed"/>
              <a:buNone/>
              <a:defRPr b="1" sz="3400">
                <a:solidFill>
                  <a:srgbClr val="36363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8"/>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lvl1pPr indent="-381000" lvl="0" marL="457200" algn="just">
              <a:lnSpc>
                <a:spcPct val="90000"/>
              </a:lnSpc>
              <a:spcBef>
                <a:spcPts val="1000"/>
              </a:spcBef>
              <a:spcAft>
                <a:spcPts val="0"/>
              </a:spcAft>
              <a:buClr>
                <a:schemeClr val="accent6"/>
              </a:buClr>
              <a:buSzPts val="2400"/>
              <a:buFont typeface="Noto Sans Symbols"/>
              <a:buChar char="🞂"/>
              <a:defRPr sz="2400">
                <a:solidFill>
                  <a:schemeClr val="dk1"/>
                </a:solidFill>
              </a:defRPr>
            </a:lvl1pPr>
            <a:lvl2pPr indent="-355600" lvl="1" marL="914400" algn="just">
              <a:lnSpc>
                <a:spcPct val="90000"/>
              </a:lnSpc>
              <a:spcBef>
                <a:spcPts val="500"/>
              </a:spcBef>
              <a:spcAft>
                <a:spcPts val="0"/>
              </a:spcAft>
              <a:buClr>
                <a:schemeClr val="accent6"/>
              </a:buClr>
              <a:buSzPts val="2000"/>
              <a:buFont typeface="Noto Sans Symbols"/>
              <a:buChar char="⮩"/>
              <a:defRPr sz="2000">
                <a:solidFill>
                  <a:schemeClr val="dk1"/>
                </a:solidFill>
              </a:defRPr>
            </a:lvl2pPr>
            <a:lvl3pPr indent="-342900" lvl="2" marL="1371600" algn="just">
              <a:lnSpc>
                <a:spcPct val="90000"/>
              </a:lnSpc>
              <a:spcBef>
                <a:spcPts val="500"/>
              </a:spcBef>
              <a:spcAft>
                <a:spcPts val="0"/>
              </a:spcAft>
              <a:buClr>
                <a:schemeClr val="accent6"/>
              </a:buClr>
              <a:buSzPts val="1800"/>
              <a:buFont typeface="Noto Sans Symbols"/>
              <a:buChar char="▪"/>
              <a:defRPr sz="1800">
                <a:solidFill>
                  <a:schemeClr val="dk1"/>
                </a:solidFill>
              </a:defRPr>
            </a:lvl3pPr>
            <a:lvl4pPr indent="-330200" lvl="3" marL="1828800" algn="just">
              <a:lnSpc>
                <a:spcPct val="90000"/>
              </a:lnSpc>
              <a:spcBef>
                <a:spcPts val="500"/>
              </a:spcBef>
              <a:spcAft>
                <a:spcPts val="0"/>
              </a:spcAft>
              <a:buClr>
                <a:schemeClr val="accent6"/>
              </a:buClr>
              <a:buSzPts val="1600"/>
              <a:buChar char="•"/>
              <a:defRPr sz="1600">
                <a:solidFill>
                  <a:schemeClr val="dk1"/>
                </a:solidFill>
              </a:defRPr>
            </a:lvl4pPr>
            <a:lvl5pPr indent="-330200" lvl="4" marL="2286000" algn="just">
              <a:lnSpc>
                <a:spcPct val="90000"/>
              </a:lnSpc>
              <a:spcBef>
                <a:spcPts val="500"/>
              </a:spcBef>
              <a:spcAft>
                <a:spcPts val="0"/>
              </a:spcAft>
              <a:buClr>
                <a:schemeClr val="accent6"/>
              </a:buClr>
              <a:buSzPts val="1600"/>
              <a:buChar char="•"/>
              <a:defRPr sz="16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7" name="Google Shape;27;p28"/>
          <p:cNvCxnSpPr/>
          <p:nvPr/>
        </p:nvCxnSpPr>
        <p:spPr>
          <a:xfrm>
            <a:off x="0" y="711201"/>
            <a:ext cx="12192000" cy="0"/>
          </a:xfrm>
          <a:prstGeom prst="straightConnector1">
            <a:avLst/>
          </a:prstGeom>
          <a:solidFill>
            <a:srgbClr val="DFDFDF">
              <a:alpha val="49411"/>
            </a:srgbClr>
          </a:solidFill>
          <a:ln>
            <a:noFill/>
          </a:ln>
        </p:spPr>
      </p:cxnSp>
      <p:cxnSp>
        <p:nvCxnSpPr>
          <p:cNvPr id="28" name="Google Shape;28;p28"/>
          <p:cNvCxnSpPr/>
          <p:nvPr/>
        </p:nvCxnSpPr>
        <p:spPr>
          <a:xfrm>
            <a:off x="0" y="6606251"/>
            <a:ext cx="12192000" cy="0"/>
          </a:xfrm>
          <a:prstGeom prst="straightConnector1">
            <a:avLst/>
          </a:prstGeom>
          <a:noFill/>
          <a:ln cap="flat" cmpd="sng" w="12700">
            <a:solidFill>
              <a:srgbClr val="BFBFBF">
                <a:alpha val="69411"/>
              </a:srgbClr>
            </a:solidFill>
            <a:prstDash val="solid"/>
            <a:miter lim="800000"/>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Logo on TR">
  <p:cSld name="Title and Content - Logo on TR">
    <p:spTree>
      <p:nvGrpSpPr>
        <p:cNvPr id="29" name="Shape 29"/>
        <p:cNvGrpSpPr/>
        <p:nvPr/>
      </p:nvGrpSpPr>
      <p:grpSpPr>
        <a:xfrm>
          <a:off x="0" y="0"/>
          <a:ext cx="0" cy="0"/>
          <a:chOff x="0" y="0"/>
          <a:chExt cx="0" cy="0"/>
        </a:xfrm>
      </p:grpSpPr>
      <p:sp>
        <p:nvSpPr>
          <p:cNvPr id="30" name="Google Shape;30;p29"/>
          <p:cNvSpPr/>
          <p:nvPr/>
        </p:nvSpPr>
        <p:spPr>
          <a:xfrm>
            <a:off x="0" y="6604000"/>
            <a:ext cx="12191998" cy="254000"/>
          </a:xfrm>
          <a:prstGeom prst="roundRect">
            <a:avLst>
              <a:gd fmla="val 0" name="adj"/>
            </a:avLst>
          </a:prstGeom>
          <a:solidFill>
            <a:srgbClr val="DFDF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boto Condensed"/>
              <a:ea typeface="Roboto Condensed"/>
              <a:cs typeface="Roboto Condensed"/>
              <a:sym typeface="Roboto Condensed"/>
            </a:endParaRPr>
          </a:p>
        </p:txBody>
      </p:sp>
      <p:sp>
        <p:nvSpPr>
          <p:cNvPr id="31" name="Google Shape;31;p29"/>
          <p:cNvSpPr txBox="1"/>
          <p:nvPr/>
        </p:nvSpPr>
        <p:spPr>
          <a:xfrm>
            <a:off x="4038599" y="6604000"/>
            <a:ext cx="4270513" cy="25512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363636"/>
                </a:solidFill>
                <a:latin typeface="Roboto Condensed Light"/>
                <a:ea typeface="Roboto Condensed Light"/>
                <a:cs typeface="Roboto Condensed Light"/>
                <a:sym typeface="Roboto Condensed Light"/>
              </a:rPr>
              <a:t>Design &amp; Analysis of Algorithm</a:t>
            </a:r>
            <a:endParaRPr b="0" i="0" sz="1400" u="none" cap="none" strike="noStrike">
              <a:solidFill>
                <a:srgbClr val="000000"/>
              </a:solidFill>
              <a:latin typeface="Arial"/>
              <a:ea typeface="Arial"/>
              <a:cs typeface="Arial"/>
              <a:sym typeface="Arial"/>
            </a:endParaRPr>
          </a:p>
        </p:txBody>
      </p:sp>
      <p:sp>
        <p:nvSpPr>
          <p:cNvPr id="32" name="Google Shape;32;p29"/>
          <p:cNvSpPr txBox="1"/>
          <p:nvPr/>
        </p:nvSpPr>
        <p:spPr>
          <a:xfrm>
            <a:off x="8610600" y="6604000"/>
            <a:ext cx="2743200" cy="25512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363636"/>
                </a:solidFill>
                <a:latin typeface="Roboto Condensed"/>
                <a:ea typeface="Roboto Condensed"/>
                <a:cs typeface="Roboto Condensed"/>
                <a:sym typeface="Roboto Condensed"/>
              </a:rPr>
              <a:t>‹#›</a:t>
            </a:fld>
            <a:endParaRPr b="1" i="0" sz="1200" u="none" cap="none" strike="noStrike">
              <a:solidFill>
                <a:srgbClr val="363636"/>
              </a:solidFill>
              <a:latin typeface="Roboto Condensed"/>
              <a:ea typeface="Roboto Condensed"/>
              <a:cs typeface="Roboto Condensed"/>
              <a:sym typeface="Roboto Condensed"/>
            </a:endParaRPr>
          </a:p>
        </p:txBody>
      </p:sp>
      <p:sp>
        <p:nvSpPr>
          <p:cNvPr id="33" name="Google Shape;33;p29"/>
          <p:cNvSpPr txBox="1"/>
          <p:nvPr>
            <p:ph type="title"/>
          </p:nvPr>
        </p:nvSpPr>
        <p:spPr>
          <a:xfrm>
            <a:off x="-2" y="66309"/>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lvl1pPr lvl="0" algn="l">
              <a:lnSpc>
                <a:spcPct val="90000"/>
              </a:lnSpc>
              <a:spcBef>
                <a:spcPts val="0"/>
              </a:spcBef>
              <a:spcAft>
                <a:spcPts val="0"/>
              </a:spcAft>
              <a:buClr>
                <a:srgbClr val="363636"/>
              </a:buClr>
              <a:buSzPts val="3400"/>
              <a:buFont typeface="Roboto Condensed"/>
              <a:buNone/>
              <a:defRPr b="1" sz="3400">
                <a:solidFill>
                  <a:srgbClr val="36363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9"/>
          <p:cNvSpPr txBox="1"/>
          <p:nvPr>
            <p:ph idx="1" type="body"/>
          </p:nvPr>
        </p:nvSpPr>
        <p:spPr>
          <a:xfrm>
            <a:off x="131178" y="861193"/>
            <a:ext cx="11929641" cy="5590565"/>
          </a:xfrm>
          <a:prstGeom prst="rect">
            <a:avLst/>
          </a:prstGeom>
          <a:noFill/>
          <a:ln>
            <a:noFill/>
          </a:ln>
        </p:spPr>
        <p:txBody>
          <a:bodyPr anchorCtr="0" anchor="t" bIns="45700" lIns="91425" spcFirstLastPara="1" rIns="91425" wrap="square" tIns="45700">
            <a:noAutofit/>
          </a:bodyPr>
          <a:lstStyle>
            <a:lvl1pPr indent="-381000" lvl="0" marL="457200" algn="just">
              <a:lnSpc>
                <a:spcPct val="90000"/>
              </a:lnSpc>
              <a:spcBef>
                <a:spcPts val="1000"/>
              </a:spcBef>
              <a:spcAft>
                <a:spcPts val="0"/>
              </a:spcAft>
              <a:buClr>
                <a:schemeClr val="accent6"/>
              </a:buClr>
              <a:buSzPts val="2400"/>
              <a:buFont typeface="Noto Sans Symbols"/>
              <a:buChar char="🞂"/>
              <a:defRPr sz="2400">
                <a:solidFill>
                  <a:schemeClr val="dk1"/>
                </a:solidFill>
              </a:defRPr>
            </a:lvl1pPr>
            <a:lvl2pPr indent="-355600" lvl="1" marL="914400" algn="just">
              <a:lnSpc>
                <a:spcPct val="90000"/>
              </a:lnSpc>
              <a:spcBef>
                <a:spcPts val="500"/>
              </a:spcBef>
              <a:spcAft>
                <a:spcPts val="0"/>
              </a:spcAft>
              <a:buClr>
                <a:schemeClr val="accent6"/>
              </a:buClr>
              <a:buSzPts val="2000"/>
              <a:buFont typeface="Noto Sans Symbols"/>
              <a:buChar char="⮩"/>
              <a:defRPr sz="2000">
                <a:solidFill>
                  <a:schemeClr val="dk1"/>
                </a:solidFill>
              </a:defRPr>
            </a:lvl2pPr>
            <a:lvl3pPr indent="-342900" lvl="2" marL="1371600" algn="just">
              <a:lnSpc>
                <a:spcPct val="90000"/>
              </a:lnSpc>
              <a:spcBef>
                <a:spcPts val="500"/>
              </a:spcBef>
              <a:spcAft>
                <a:spcPts val="0"/>
              </a:spcAft>
              <a:buClr>
                <a:schemeClr val="accent6"/>
              </a:buClr>
              <a:buSzPts val="1800"/>
              <a:buFont typeface="Noto Sans Symbols"/>
              <a:buChar char="▪"/>
              <a:defRPr sz="1800">
                <a:solidFill>
                  <a:schemeClr val="dk1"/>
                </a:solidFill>
              </a:defRPr>
            </a:lvl3pPr>
            <a:lvl4pPr indent="-330200" lvl="3" marL="1828800" algn="just">
              <a:lnSpc>
                <a:spcPct val="90000"/>
              </a:lnSpc>
              <a:spcBef>
                <a:spcPts val="500"/>
              </a:spcBef>
              <a:spcAft>
                <a:spcPts val="0"/>
              </a:spcAft>
              <a:buClr>
                <a:schemeClr val="accent6"/>
              </a:buClr>
              <a:buSzPts val="1600"/>
              <a:buChar char="•"/>
              <a:defRPr sz="1600">
                <a:solidFill>
                  <a:schemeClr val="dk1"/>
                </a:solidFill>
              </a:defRPr>
            </a:lvl4pPr>
            <a:lvl5pPr indent="-330200" lvl="4" marL="2286000" algn="just">
              <a:lnSpc>
                <a:spcPct val="90000"/>
              </a:lnSpc>
              <a:spcBef>
                <a:spcPts val="500"/>
              </a:spcBef>
              <a:spcAft>
                <a:spcPts val="0"/>
              </a:spcAft>
              <a:buClr>
                <a:schemeClr val="accent6"/>
              </a:buClr>
              <a:buSzPts val="1600"/>
              <a:buChar char="•"/>
              <a:defRPr sz="16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5" name="Google Shape;35;p29"/>
          <p:cNvCxnSpPr/>
          <p:nvPr/>
        </p:nvCxnSpPr>
        <p:spPr>
          <a:xfrm>
            <a:off x="0" y="777509"/>
            <a:ext cx="12192000" cy="0"/>
          </a:xfrm>
          <a:prstGeom prst="straightConnector1">
            <a:avLst/>
          </a:prstGeom>
          <a:noFill/>
          <a:ln cap="flat" cmpd="sng" w="12700">
            <a:solidFill>
              <a:srgbClr val="D8D8D8"/>
            </a:solidFill>
            <a:prstDash val="solid"/>
            <a:miter lim="800000"/>
            <a:headEnd len="sm" w="sm" type="none"/>
            <a:tailEnd len="sm" w="sm" type="none"/>
          </a:ln>
        </p:spPr>
      </p:cxnSp>
      <p:cxnSp>
        <p:nvCxnSpPr>
          <p:cNvPr id="36" name="Google Shape;36;p29"/>
          <p:cNvCxnSpPr/>
          <p:nvPr/>
        </p:nvCxnSpPr>
        <p:spPr>
          <a:xfrm>
            <a:off x="0" y="6606251"/>
            <a:ext cx="12192000" cy="0"/>
          </a:xfrm>
          <a:prstGeom prst="straightConnector1">
            <a:avLst/>
          </a:prstGeom>
          <a:noFill/>
          <a:ln cap="flat" cmpd="sng" w="12700">
            <a:solidFill>
              <a:srgbClr val="BFBFBF">
                <a:alpha val="69411"/>
              </a:srgbClr>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 Logo on BL">
  <p:cSld name="Title and Content - Logo on BL">
    <p:spTree>
      <p:nvGrpSpPr>
        <p:cNvPr id="37" name="Shape 37"/>
        <p:cNvGrpSpPr/>
        <p:nvPr/>
      </p:nvGrpSpPr>
      <p:grpSpPr>
        <a:xfrm>
          <a:off x="0" y="0"/>
          <a:ext cx="0" cy="0"/>
          <a:chOff x="0" y="0"/>
          <a:chExt cx="0" cy="0"/>
        </a:xfrm>
      </p:grpSpPr>
      <p:sp>
        <p:nvSpPr>
          <p:cNvPr id="38" name="Google Shape;38;p30"/>
          <p:cNvSpPr/>
          <p:nvPr/>
        </p:nvSpPr>
        <p:spPr>
          <a:xfrm>
            <a:off x="0" y="6604000"/>
            <a:ext cx="12191998" cy="254000"/>
          </a:xfrm>
          <a:prstGeom prst="roundRect">
            <a:avLst>
              <a:gd fmla="val 0" name="adj"/>
            </a:avLst>
          </a:prstGeom>
          <a:solidFill>
            <a:srgbClr val="DFDFD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boto Condensed"/>
              <a:ea typeface="Roboto Condensed"/>
              <a:cs typeface="Roboto Condensed"/>
              <a:sym typeface="Roboto Condensed"/>
            </a:endParaRPr>
          </a:p>
        </p:txBody>
      </p:sp>
      <p:sp>
        <p:nvSpPr>
          <p:cNvPr id="39" name="Google Shape;39;p30"/>
          <p:cNvSpPr txBox="1"/>
          <p:nvPr/>
        </p:nvSpPr>
        <p:spPr>
          <a:xfrm>
            <a:off x="4038600" y="6604000"/>
            <a:ext cx="4297018" cy="25512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363636"/>
                </a:solidFill>
                <a:latin typeface="Roboto Condensed Light"/>
                <a:ea typeface="Roboto Condensed Light"/>
                <a:cs typeface="Roboto Condensed Light"/>
                <a:sym typeface="Roboto Condensed Light"/>
              </a:rPr>
              <a:t>Design &amp; Analysis of Algorithm</a:t>
            </a:r>
            <a:endParaRPr b="0" i="0" sz="1400" u="none" cap="none" strike="noStrike">
              <a:solidFill>
                <a:srgbClr val="000000"/>
              </a:solidFill>
              <a:latin typeface="Arial"/>
              <a:ea typeface="Arial"/>
              <a:cs typeface="Arial"/>
              <a:sym typeface="Arial"/>
            </a:endParaRPr>
          </a:p>
        </p:txBody>
      </p:sp>
      <p:sp>
        <p:nvSpPr>
          <p:cNvPr id="40" name="Google Shape;40;p30"/>
          <p:cNvSpPr txBox="1"/>
          <p:nvPr/>
        </p:nvSpPr>
        <p:spPr>
          <a:xfrm>
            <a:off x="8610600" y="6604000"/>
            <a:ext cx="2743200" cy="25512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363636"/>
                </a:solidFill>
                <a:latin typeface="Roboto Condensed"/>
                <a:ea typeface="Roboto Condensed"/>
                <a:cs typeface="Roboto Condensed"/>
                <a:sym typeface="Roboto Condensed"/>
              </a:rPr>
              <a:t>‹#›</a:t>
            </a:fld>
            <a:endParaRPr b="1" i="0" sz="1200" u="none" cap="none" strike="noStrike">
              <a:solidFill>
                <a:srgbClr val="363636"/>
              </a:solidFill>
              <a:latin typeface="Roboto Condensed"/>
              <a:ea typeface="Roboto Condensed"/>
              <a:cs typeface="Roboto Condensed"/>
              <a:sym typeface="Roboto Condensed"/>
            </a:endParaRPr>
          </a:p>
        </p:txBody>
      </p:sp>
      <p:sp>
        <p:nvSpPr>
          <p:cNvPr id="41" name="Google Shape;41;p30"/>
          <p:cNvSpPr txBox="1"/>
          <p:nvPr>
            <p:ph type="title"/>
          </p:nvPr>
        </p:nvSpPr>
        <p:spPr>
          <a:xfrm>
            <a:off x="-2" y="73872"/>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lvl1pPr lvl="0" algn="l">
              <a:lnSpc>
                <a:spcPct val="90000"/>
              </a:lnSpc>
              <a:spcBef>
                <a:spcPts val="0"/>
              </a:spcBef>
              <a:spcAft>
                <a:spcPts val="0"/>
              </a:spcAft>
              <a:buClr>
                <a:srgbClr val="363636"/>
              </a:buClr>
              <a:buSzPts val="3400"/>
              <a:buFont typeface="Roboto Condensed"/>
              <a:buNone/>
              <a:defRPr b="1" sz="3400">
                <a:solidFill>
                  <a:srgbClr val="363636"/>
                </a:solidFill>
                <a:latin typeface="Roboto Condensed"/>
                <a:ea typeface="Roboto Condensed"/>
                <a:cs typeface="Roboto Condensed"/>
                <a:sym typeface="Roboto Condense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0"/>
          <p:cNvSpPr txBox="1"/>
          <p:nvPr>
            <p:ph idx="1" type="body"/>
          </p:nvPr>
        </p:nvSpPr>
        <p:spPr>
          <a:xfrm>
            <a:off x="131178" y="861193"/>
            <a:ext cx="11929641" cy="5590565"/>
          </a:xfrm>
          <a:prstGeom prst="rect">
            <a:avLst/>
          </a:prstGeom>
          <a:noFill/>
          <a:ln>
            <a:noFill/>
          </a:ln>
        </p:spPr>
        <p:txBody>
          <a:bodyPr anchorCtr="0" anchor="t" bIns="45700" lIns="91425" spcFirstLastPara="1" rIns="91425" wrap="square" tIns="45700">
            <a:noAutofit/>
          </a:bodyPr>
          <a:lstStyle>
            <a:lvl1pPr indent="-381000" lvl="0" marL="457200" algn="just">
              <a:lnSpc>
                <a:spcPct val="90000"/>
              </a:lnSpc>
              <a:spcBef>
                <a:spcPts val="1000"/>
              </a:spcBef>
              <a:spcAft>
                <a:spcPts val="0"/>
              </a:spcAft>
              <a:buClr>
                <a:schemeClr val="accent6"/>
              </a:buClr>
              <a:buSzPts val="2400"/>
              <a:buFont typeface="Noto Sans Symbols"/>
              <a:buChar char="🞂"/>
              <a:defRPr sz="2400">
                <a:solidFill>
                  <a:schemeClr val="dk1"/>
                </a:solidFill>
              </a:defRPr>
            </a:lvl1pPr>
            <a:lvl2pPr indent="-355600" lvl="1" marL="914400" algn="just">
              <a:lnSpc>
                <a:spcPct val="90000"/>
              </a:lnSpc>
              <a:spcBef>
                <a:spcPts val="500"/>
              </a:spcBef>
              <a:spcAft>
                <a:spcPts val="0"/>
              </a:spcAft>
              <a:buClr>
                <a:schemeClr val="accent6"/>
              </a:buClr>
              <a:buSzPts val="2000"/>
              <a:buFont typeface="Noto Sans Symbols"/>
              <a:buChar char="⮩"/>
              <a:defRPr sz="2000">
                <a:solidFill>
                  <a:schemeClr val="dk1"/>
                </a:solidFill>
              </a:defRPr>
            </a:lvl2pPr>
            <a:lvl3pPr indent="-342900" lvl="2" marL="1371600" algn="just">
              <a:lnSpc>
                <a:spcPct val="90000"/>
              </a:lnSpc>
              <a:spcBef>
                <a:spcPts val="500"/>
              </a:spcBef>
              <a:spcAft>
                <a:spcPts val="0"/>
              </a:spcAft>
              <a:buClr>
                <a:schemeClr val="accent6"/>
              </a:buClr>
              <a:buSzPts val="1800"/>
              <a:buFont typeface="Noto Sans Symbols"/>
              <a:buChar char="▪"/>
              <a:defRPr sz="1800">
                <a:solidFill>
                  <a:schemeClr val="dk1"/>
                </a:solidFill>
              </a:defRPr>
            </a:lvl3pPr>
            <a:lvl4pPr indent="-330200" lvl="3" marL="1828800" algn="just">
              <a:lnSpc>
                <a:spcPct val="90000"/>
              </a:lnSpc>
              <a:spcBef>
                <a:spcPts val="500"/>
              </a:spcBef>
              <a:spcAft>
                <a:spcPts val="0"/>
              </a:spcAft>
              <a:buClr>
                <a:schemeClr val="accent6"/>
              </a:buClr>
              <a:buSzPts val="1600"/>
              <a:buChar char="•"/>
              <a:defRPr sz="1600">
                <a:solidFill>
                  <a:schemeClr val="dk1"/>
                </a:solidFill>
              </a:defRPr>
            </a:lvl4pPr>
            <a:lvl5pPr indent="-330200" lvl="4" marL="2286000" algn="just">
              <a:lnSpc>
                <a:spcPct val="90000"/>
              </a:lnSpc>
              <a:spcBef>
                <a:spcPts val="500"/>
              </a:spcBef>
              <a:spcAft>
                <a:spcPts val="0"/>
              </a:spcAft>
              <a:buClr>
                <a:schemeClr val="accent6"/>
              </a:buClr>
              <a:buSzPts val="1600"/>
              <a:buChar char="•"/>
              <a:defRPr sz="1600">
                <a:solidFill>
                  <a:schemeClr val="dk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3" name="Google Shape;43;p30"/>
          <p:cNvCxnSpPr/>
          <p:nvPr/>
        </p:nvCxnSpPr>
        <p:spPr>
          <a:xfrm>
            <a:off x="0" y="861193"/>
            <a:ext cx="12192000" cy="0"/>
          </a:xfrm>
          <a:prstGeom prst="straightConnector1">
            <a:avLst/>
          </a:prstGeom>
          <a:noFill/>
          <a:ln cap="flat" cmpd="sng" w="12700">
            <a:solidFill>
              <a:srgbClr val="D8D8D8"/>
            </a:solidFill>
            <a:prstDash val="solid"/>
            <a:miter lim="800000"/>
            <a:headEnd len="sm" w="sm" type="none"/>
            <a:tailEnd len="sm" w="sm" type="none"/>
          </a:ln>
        </p:spPr>
      </p:cxnSp>
      <p:cxnSp>
        <p:nvCxnSpPr>
          <p:cNvPr id="44" name="Google Shape;44;p30"/>
          <p:cNvCxnSpPr/>
          <p:nvPr/>
        </p:nvCxnSpPr>
        <p:spPr>
          <a:xfrm>
            <a:off x="0" y="6606251"/>
            <a:ext cx="12192000" cy="0"/>
          </a:xfrm>
          <a:prstGeom prst="straightConnector1">
            <a:avLst/>
          </a:prstGeom>
          <a:noFill/>
          <a:ln cap="flat" cmpd="sng" w="12700">
            <a:solidFill>
              <a:srgbClr val="BFBFBF">
                <a:alpha val="69411"/>
              </a:srgbClr>
            </a:solidFill>
            <a:prstDash val="solid"/>
            <a:miter lim="800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Roboto Condensed"/>
              <a:buNone/>
              <a:defRPr b="0" i="0" sz="4400" u="none" cap="none" strike="noStrike">
                <a:solidFill>
                  <a:schemeClr val="dk1"/>
                </a:solidFill>
                <a:latin typeface="Roboto Condensed"/>
                <a:ea typeface="Roboto Condensed"/>
                <a:cs typeface="Roboto Condensed"/>
                <a:sym typeface="Roboto Condense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Condensed"/>
                <a:ea typeface="Roboto Condensed"/>
                <a:cs typeface="Roboto Condensed"/>
                <a:sym typeface="Roboto Condensed"/>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Condensed"/>
                <a:ea typeface="Roboto Condensed"/>
                <a:cs typeface="Roboto Condensed"/>
                <a:sym typeface="Roboto Condensed"/>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Condensed"/>
                <a:ea typeface="Roboto Condensed"/>
                <a:cs typeface="Roboto Condensed"/>
                <a:sym typeface="Roboto Condensed"/>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Condensed"/>
                <a:ea typeface="Roboto Condensed"/>
                <a:cs typeface="Roboto Condensed"/>
                <a:sym typeface="Roboto Condensed"/>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Condensed"/>
                <a:ea typeface="Roboto Condensed"/>
                <a:cs typeface="Roboto Condensed"/>
                <a:sym typeface="Roboto Condensed"/>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Condensed"/>
                <a:ea typeface="Roboto Condensed"/>
                <a:cs typeface="Roboto Condensed"/>
                <a:sym typeface="Roboto Condensed"/>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Condensed"/>
                <a:ea typeface="Roboto Condensed"/>
                <a:cs typeface="Roboto Condensed"/>
                <a:sym typeface="Roboto Condensed"/>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Condensed"/>
                <a:ea typeface="Roboto Condensed"/>
                <a:cs typeface="Roboto Condensed"/>
                <a:sym typeface="Roboto Condensed"/>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Condensed"/>
                <a:ea typeface="Roboto Condensed"/>
                <a:cs typeface="Roboto Condensed"/>
                <a:sym typeface="Roboto Condensed"/>
              </a:defRPr>
            </a:lvl9pPr>
          </a:lstStyle>
          <a:p/>
        </p:txBody>
      </p:sp>
      <p:sp>
        <p:nvSpPr>
          <p:cNvPr id="12" name="Google Shape;1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A8A8A"/>
                </a:solidFill>
                <a:latin typeface="Roboto Condensed"/>
                <a:ea typeface="Roboto Condensed"/>
                <a:cs typeface="Roboto Condensed"/>
                <a:sym typeface="Roboto Condense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9pPr>
          </a:lstStyle>
          <a:p/>
        </p:txBody>
      </p:sp>
      <p:sp>
        <p:nvSpPr>
          <p:cNvPr id="13" name="Google Shape;1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A8A8A"/>
                </a:solidFill>
                <a:latin typeface="Roboto Condensed"/>
                <a:ea typeface="Roboto Condensed"/>
                <a:cs typeface="Roboto Condensed"/>
                <a:sym typeface="Roboto Condense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boto Condensed"/>
                <a:ea typeface="Roboto Condensed"/>
                <a:cs typeface="Roboto Condensed"/>
                <a:sym typeface="Roboto Condensed"/>
              </a:defRPr>
            </a:lvl9pPr>
          </a:lstStyle>
          <a:p/>
        </p:txBody>
      </p:sp>
      <p:sp>
        <p:nvSpPr>
          <p:cNvPr id="14" name="Google Shape;1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A8A8A"/>
                </a:solidFill>
                <a:latin typeface="Roboto Condensed"/>
                <a:ea typeface="Roboto Condensed"/>
                <a:cs typeface="Roboto Condensed"/>
                <a:sym typeface="Roboto Condensed"/>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A8A8A"/>
                </a:solidFill>
                <a:latin typeface="Roboto Condensed"/>
                <a:ea typeface="Roboto Condensed"/>
                <a:cs typeface="Roboto Condensed"/>
                <a:sym typeface="Roboto Condensed"/>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A8A8A"/>
                </a:solidFill>
                <a:latin typeface="Roboto Condensed"/>
                <a:ea typeface="Roboto Condensed"/>
                <a:cs typeface="Roboto Condensed"/>
                <a:sym typeface="Roboto Condensed"/>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A8A8A"/>
                </a:solidFill>
                <a:latin typeface="Roboto Condensed"/>
                <a:ea typeface="Roboto Condensed"/>
                <a:cs typeface="Roboto Condensed"/>
                <a:sym typeface="Roboto Condensed"/>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A8A8A"/>
                </a:solidFill>
                <a:latin typeface="Roboto Condensed"/>
                <a:ea typeface="Roboto Condensed"/>
                <a:cs typeface="Roboto Condensed"/>
                <a:sym typeface="Roboto Condensed"/>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A8A8A"/>
                </a:solidFill>
                <a:latin typeface="Roboto Condensed"/>
                <a:ea typeface="Roboto Condensed"/>
                <a:cs typeface="Roboto Condensed"/>
                <a:sym typeface="Roboto Condensed"/>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A8A8A"/>
                </a:solidFill>
                <a:latin typeface="Roboto Condensed"/>
                <a:ea typeface="Roboto Condensed"/>
                <a:cs typeface="Roboto Condensed"/>
                <a:sym typeface="Roboto Condensed"/>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A8A8A"/>
                </a:solidFill>
                <a:latin typeface="Roboto Condensed"/>
                <a:ea typeface="Roboto Condensed"/>
                <a:cs typeface="Roboto Condensed"/>
                <a:sym typeface="Roboto Condensed"/>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A8A8A"/>
                </a:solidFill>
                <a:latin typeface="Roboto Condensed"/>
                <a:ea typeface="Roboto Condensed"/>
                <a:cs typeface="Roboto Condensed"/>
                <a:sym typeface="Roboto Condense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2.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
          <p:cNvSpPr txBox="1"/>
          <p:nvPr>
            <p:ph type="ctrTitle"/>
          </p:nvPr>
        </p:nvSpPr>
        <p:spPr>
          <a:xfrm>
            <a:off x="559489" y="1122363"/>
            <a:ext cx="7803275" cy="374080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363636"/>
              </a:buClr>
              <a:buSzPts val="5400"/>
              <a:buFont typeface="Roboto Condensed"/>
              <a:buNone/>
            </a:pPr>
            <a:r>
              <a:rPr b="0" lang="en-US" sz="5400"/>
              <a:t>3CS501CC24</a:t>
            </a:r>
            <a:r>
              <a:rPr b="0" lang="en-US" sz="5400"/>
              <a:t> Design &amp; Analysis of Algorithm</a:t>
            </a:r>
            <a:br>
              <a:rPr b="0" lang="en-US" sz="5400"/>
            </a:br>
            <a:br>
              <a:rPr b="0" lang="en-US" sz="5400"/>
            </a:br>
            <a:r>
              <a:rPr lang="en-US" sz="5400"/>
              <a:t>Introduction to course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890E4F"/>
              </a:buClr>
              <a:buSzPts val="6000"/>
              <a:buFont typeface="Roboto Condensed"/>
              <a:buNone/>
            </a:pPr>
            <a:r>
              <a:rPr lang="en-US"/>
              <a:t>Introduction to Algorithm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3"/>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References </a:t>
            </a:r>
            <a:endParaRPr/>
          </a:p>
        </p:txBody>
      </p:sp>
      <p:sp>
        <p:nvSpPr>
          <p:cNvPr id="60" name="Google Shape;60;p3"/>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accent6"/>
              </a:buClr>
              <a:buSzPts val="2400"/>
              <a:buFont typeface="Noto Sans Symbols"/>
              <a:buChar char="⮚"/>
            </a:pPr>
            <a:r>
              <a:rPr lang="en-US"/>
              <a:t>1.	</a:t>
            </a:r>
            <a:r>
              <a:rPr i="1" lang="en-US"/>
              <a:t>Charles E. Leiserson, Thomas H. Cormen, Ronald L. Rivest, Clifford Stein </a:t>
            </a:r>
            <a:r>
              <a:rPr lang="en-US"/>
              <a:t>- Introduction to Algorithms, PHI</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2.	</a:t>
            </a:r>
            <a:r>
              <a:rPr i="1" lang="en-US"/>
              <a:t>Ellis Horowitz, SartajSahni, Sanguthevar Rajasekharan,</a:t>
            </a:r>
            <a:r>
              <a:rPr lang="en-US"/>
              <a:t> Fundamentals of Computer Algorithms,Galgotia.</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3.	</a:t>
            </a:r>
            <a:r>
              <a:rPr i="1" lang="en-US"/>
              <a:t>Jean-Paul Tremblay and Paul G. Sorenson</a:t>
            </a:r>
            <a:r>
              <a:rPr lang="en-US"/>
              <a:t>, An Introduction to Data Structures with Applications, Tata McGraw Hill</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4.	</a:t>
            </a:r>
            <a:r>
              <a:rPr i="1" lang="en-US"/>
              <a:t>Karumanchi, Narasimha,</a:t>
            </a:r>
            <a:r>
              <a:rPr lang="en-US"/>
              <a:t> Data Structures and Algorithms Made Easy, CareerMonk Publications.</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4"/>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Syllabus</a:t>
            </a:r>
            <a:endParaRPr/>
          </a:p>
        </p:txBody>
      </p:sp>
      <p:sp>
        <p:nvSpPr>
          <p:cNvPr id="66" name="Google Shape;66;p4"/>
          <p:cNvSpPr txBox="1"/>
          <p:nvPr>
            <p:ph idx="1" type="body"/>
          </p:nvPr>
        </p:nvSpPr>
        <p:spPr>
          <a:xfrm>
            <a:off x="7531962" y="846582"/>
            <a:ext cx="4528857" cy="559056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1000"/>
              </a:spcBef>
              <a:spcAft>
                <a:spcPts val="0"/>
              </a:spcAft>
              <a:buClr>
                <a:schemeClr val="accent6"/>
              </a:buClr>
              <a:buSzPts val="2400"/>
              <a:buFont typeface="Noto Sans Symbols"/>
              <a:buChar char="⮚"/>
            </a:pPr>
            <a:r>
              <a:rPr lang="en-US"/>
              <a:t>LMS Site:</a:t>
            </a:r>
            <a:endParaRPr/>
          </a:p>
          <a:p>
            <a:pPr indent="0" lvl="0" marL="0" rtl="0" algn="just">
              <a:lnSpc>
                <a:spcPct val="90000"/>
              </a:lnSpc>
              <a:spcBef>
                <a:spcPts val="1000"/>
              </a:spcBef>
              <a:spcAft>
                <a:spcPts val="0"/>
              </a:spcAft>
              <a:buSzPts val="1800"/>
              <a:buNone/>
            </a:pPr>
            <a:r>
              <a:rPr lang="en-US" sz="1800"/>
              <a:t>https://lms.nirmauni.ac.in/course/view.php?id=1070</a:t>
            </a:r>
            <a:endParaRPr/>
          </a:p>
          <a:p>
            <a:pPr indent="-190500" lvl="0" marL="3429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All resources will be available on LMS</a:t>
            </a:r>
            <a:endParaRPr/>
          </a:p>
        </p:txBody>
      </p:sp>
      <p:pic>
        <p:nvPicPr>
          <p:cNvPr id="67" name="Google Shape;67;p4"/>
          <p:cNvPicPr preferRelativeResize="0"/>
          <p:nvPr/>
        </p:nvPicPr>
        <p:blipFill rotWithShape="1">
          <a:blip r:embed="rId3">
            <a:alphaModFix/>
          </a:blip>
          <a:srcRect b="0" l="0" r="0" t="0"/>
          <a:stretch/>
        </p:blipFill>
        <p:spPr>
          <a:xfrm>
            <a:off x="392682" y="711200"/>
            <a:ext cx="6420918" cy="58052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5"/>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Teaching &amp; Evaluation Scheme</a:t>
            </a:r>
            <a:endParaRPr/>
          </a:p>
        </p:txBody>
      </p:sp>
      <p:sp>
        <p:nvSpPr>
          <p:cNvPr id="73" name="Google Shape;73;p5"/>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accent6"/>
              </a:buClr>
              <a:buSzPts val="2400"/>
              <a:buFont typeface="Noto Sans Symbols"/>
              <a:buChar char="⮚"/>
            </a:pPr>
            <a:r>
              <a:rPr lang="en-US"/>
              <a:t>Teaching Scheme:</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Evaluation Methodology:</a:t>
            </a:r>
            <a:endParaRPr/>
          </a:p>
          <a:p>
            <a:pPr indent="-190500" lvl="0" marL="342900" rtl="0" algn="just">
              <a:lnSpc>
                <a:spcPct val="90000"/>
              </a:lnSpc>
              <a:spcBef>
                <a:spcPts val="1000"/>
              </a:spcBef>
              <a:spcAft>
                <a:spcPts val="0"/>
              </a:spcAft>
              <a:buClr>
                <a:schemeClr val="accent6"/>
              </a:buClr>
              <a:buSzPts val="2400"/>
              <a:buFont typeface="Noto Sans Symbols"/>
              <a:buNone/>
            </a:pPr>
            <a:r>
              <a:t/>
            </a:r>
            <a:endParaRPr/>
          </a:p>
          <a:p>
            <a:pPr indent="-190500" lvl="0" marL="342900" rtl="0" algn="just">
              <a:lnSpc>
                <a:spcPct val="90000"/>
              </a:lnSpc>
              <a:spcBef>
                <a:spcPts val="1000"/>
              </a:spcBef>
              <a:spcAft>
                <a:spcPts val="0"/>
              </a:spcAft>
              <a:buClr>
                <a:schemeClr val="accent6"/>
              </a:buClr>
              <a:buSzPts val="2400"/>
              <a:buFont typeface="Noto Sans Symbols"/>
              <a:buNone/>
            </a:pPr>
            <a:r>
              <a:t/>
            </a:r>
            <a:endParaRPr/>
          </a:p>
          <a:p>
            <a:pPr indent="-190500" lvl="0" marL="342900" rtl="0" algn="just">
              <a:lnSpc>
                <a:spcPct val="90000"/>
              </a:lnSpc>
              <a:spcBef>
                <a:spcPts val="1000"/>
              </a:spcBef>
              <a:spcAft>
                <a:spcPts val="0"/>
              </a:spcAft>
              <a:buClr>
                <a:schemeClr val="accent6"/>
              </a:buClr>
              <a:buSzPts val="2400"/>
              <a:buFont typeface="Noto Sans Symbols"/>
              <a:buNone/>
            </a:pPr>
            <a:r>
              <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Assignments in CE: LMS</a:t>
            </a:r>
            <a:endParaRPr/>
          </a:p>
        </p:txBody>
      </p:sp>
      <p:graphicFrame>
        <p:nvGraphicFramePr>
          <p:cNvPr id="74" name="Google Shape;74;p5"/>
          <p:cNvGraphicFramePr/>
          <p:nvPr/>
        </p:nvGraphicFramePr>
        <p:xfrm>
          <a:off x="740977" y="3067325"/>
          <a:ext cx="3000000" cy="3000000"/>
        </p:xfrm>
        <a:graphic>
          <a:graphicData uri="http://schemas.openxmlformats.org/drawingml/2006/table">
            <a:tbl>
              <a:tblPr bandRow="1" firstRow="1">
                <a:gradFill>
                  <a:gsLst>
                    <a:gs pos="0">
                      <a:srgbClr val="FFCC7E"/>
                    </a:gs>
                    <a:gs pos="35000">
                      <a:srgbClr val="FFDAA3"/>
                    </a:gs>
                    <a:gs pos="100000">
                      <a:srgbClr val="FFEED9"/>
                    </a:gs>
                  </a:gsLst>
                  <a:lin ang="16200000" scaled="0"/>
                </a:gradFill>
                <a:tableStyleId>{62CC79A7-D1A0-44D4-AC38-6A8B6100B3F6}</a:tableStyleId>
              </a:tblPr>
              <a:tblGrid>
                <a:gridCol w="2714300"/>
                <a:gridCol w="2714300"/>
                <a:gridCol w="2714300"/>
                <a:gridCol w="2714300"/>
              </a:tblGrid>
              <a:tr h="370850">
                <a:tc>
                  <a:txBody>
                    <a:bodyPr/>
                    <a:lstStyle/>
                    <a:p>
                      <a:pPr indent="0" lvl="0" marL="0" marR="0" rtl="0" algn="l">
                        <a:lnSpc>
                          <a:spcPct val="100000"/>
                        </a:lnSpc>
                        <a:spcBef>
                          <a:spcPts val="0"/>
                        </a:spcBef>
                        <a:spcAft>
                          <a:spcPts val="0"/>
                        </a:spcAft>
                        <a:buNone/>
                      </a:pPr>
                      <a:r>
                        <a:t/>
                      </a:r>
                      <a:endParaRPr sz="2000" u="none" cap="none" strike="noStrike">
                        <a:latin typeface="Roboto Condensed"/>
                        <a:ea typeface="Roboto Condensed"/>
                        <a:cs typeface="Roboto Condensed"/>
                        <a:sym typeface="Roboto Condensed"/>
                      </a:endParaRPr>
                    </a:p>
                  </a:txBody>
                  <a:tcPr marT="45725" marB="45725" marR="91450" marL="91450"/>
                </a:tc>
                <a:tc>
                  <a:txBody>
                    <a:bodyPr/>
                    <a:lstStyle/>
                    <a:p>
                      <a:pPr indent="0" lvl="0" marL="0" marR="0" rtl="0" algn="l">
                        <a:lnSpc>
                          <a:spcPct val="100000"/>
                        </a:lnSpc>
                        <a:spcBef>
                          <a:spcPts val="0"/>
                        </a:spcBef>
                        <a:spcAft>
                          <a:spcPts val="0"/>
                        </a:spcAft>
                        <a:buNone/>
                      </a:pPr>
                      <a:r>
                        <a:rPr b="0" lang="en-US" sz="2000" u="none" cap="none" strike="noStrike">
                          <a:latin typeface="Roboto Condensed"/>
                          <a:ea typeface="Roboto Condensed"/>
                          <a:cs typeface="Roboto Condensed"/>
                          <a:sym typeface="Roboto Condensed"/>
                        </a:rPr>
                        <a:t>LPW</a:t>
                      </a:r>
                      <a:endParaRPr/>
                    </a:p>
                  </a:txBody>
                  <a:tcPr marT="45725" marB="45725" marR="91450" marL="91450"/>
                </a:tc>
                <a:tc>
                  <a:txBody>
                    <a:bodyPr/>
                    <a:lstStyle/>
                    <a:p>
                      <a:pPr indent="0" lvl="0" marL="0" marR="0" rtl="0" algn="l">
                        <a:lnSpc>
                          <a:spcPct val="100000"/>
                        </a:lnSpc>
                        <a:spcBef>
                          <a:spcPts val="0"/>
                        </a:spcBef>
                        <a:spcAft>
                          <a:spcPts val="0"/>
                        </a:spcAft>
                        <a:buNone/>
                      </a:pPr>
                      <a:r>
                        <a:rPr b="0" lang="en-US" sz="2000" u="none" cap="none" strike="noStrike">
                          <a:latin typeface="Roboto Condensed"/>
                          <a:ea typeface="Roboto Condensed"/>
                          <a:cs typeface="Roboto Condensed"/>
                          <a:sym typeface="Roboto Condensed"/>
                        </a:rPr>
                        <a:t>SEE</a:t>
                      </a:r>
                      <a:endParaRPr/>
                    </a:p>
                  </a:txBody>
                  <a:tcPr marT="45725" marB="45725" marR="91450" marL="91450"/>
                </a:tc>
                <a:tc>
                  <a:txBody>
                    <a:bodyPr/>
                    <a:lstStyle/>
                    <a:p>
                      <a:pPr indent="0" lvl="0" marL="0" marR="0" rtl="0" algn="l">
                        <a:lnSpc>
                          <a:spcPct val="100000"/>
                        </a:lnSpc>
                        <a:spcBef>
                          <a:spcPts val="0"/>
                        </a:spcBef>
                        <a:spcAft>
                          <a:spcPts val="0"/>
                        </a:spcAft>
                        <a:buNone/>
                      </a:pPr>
                      <a:r>
                        <a:rPr b="0" lang="en-US" sz="2000" u="none" cap="none" strike="noStrike">
                          <a:latin typeface="Roboto Condensed"/>
                          <a:ea typeface="Roboto Condensed"/>
                          <a:cs typeface="Roboto Condensed"/>
                          <a:sym typeface="Roboto Condensed"/>
                        </a:rPr>
                        <a:t>CE</a:t>
                      </a:r>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US" sz="2000" u="none" cap="none" strike="noStrike">
                          <a:latin typeface="Roboto Condensed"/>
                          <a:ea typeface="Roboto Condensed"/>
                          <a:cs typeface="Roboto Condensed"/>
                          <a:sym typeface="Roboto Condensed"/>
                        </a:rPr>
                        <a:t>Exam Duration</a:t>
                      </a:r>
                      <a:endParaRPr/>
                    </a:p>
                  </a:txBody>
                  <a:tcPr marT="45725" marB="45725" marR="91450" marL="91450"/>
                </a:tc>
                <a:tc>
                  <a:txBody>
                    <a:bodyPr/>
                    <a:lstStyle/>
                    <a:p>
                      <a:pPr indent="0" lvl="0" marL="0" marR="0" rtl="0" algn="l">
                        <a:lnSpc>
                          <a:spcPct val="100000"/>
                        </a:lnSpc>
                        <a:spcBef>
                          <a:spcPts val="0"/>
                        </a:spcBef>
                        <a:spcAft>
                          <a:spcPts val="0"/>
                        </a:spcAft>
                        <a:buNone/>
                      </a:pPr>
                      <a:r>
                        <a:rPr lang="en-US" sz="2000" u="none" cap="none" strike="noStrike">
                          <a:solidFill>
                            <a:srgbClr val="FF0000"/>
                          </a:solidFill>
                          <a:latin typeface="Roboto Condensed"/>
                          <a:ea typeface="Roboto Condensed"/>
                          <a:cs typeface="Roboto Condensed"/>
                          <a:sym typeface="Roboto Condensed"/>
                        </a:rPr>
                        <a:t>Continuous Evaluation of lab + </a:t>
                      </a:r>
                      <a:r>
                        <a:rPr lang="en-US" sz="2000">
                          <a:solidFill>
                            <a:srgbClr val="FF0000"/>
                          </a:solidFill>
                          <a:latin typeface="Roboto Condensed"/>
                          <a:ea typeface="Roboto Condensed"/>
                          <a:cs typeface="Roboto Condensed"/>
                          <a:sym typeface="Roboto Condensed"/>
                        </a:rPr>
                        <a:t>LPW Exam</a:t>
                      </a:r>
                      <a:endParaRPr sz="2000" u="none" cap="none" strike="noStrike">
                        <a:solidFill>
                          <a:srgbClr val="FF0000"/>
                        </a:solidFill>
                        <a:latin typeface="Roboto Condensed"/>
                        <a:ea typeface="Roboto Condensed"/>
                        <a:cs typeface="Roboto Condensed"/>
                        <a:sym typeface="Roboto Condensed"/>
                      </a:endParaRPr>
                    </a:p>
                  </a:txBody>
                  <a:tcPr marT="45725" marB="45725" marR="91450" marL="91450"/>
                </a:tc>
                <a:tc>
                  <a:txBody>
                    <a:bodyPr/>
                    <a:lstStyle/>
                    <a:p>
                      <a:pPr indent="0" lvl="0" marL="0" marR="0" rtl="0" algn="l">
                        <a:lnSpc>
                          <a:spcPct val="100000"/>
                        </a:lnSpc>
                        <a:spcBef>
                          <a:spcPts val="0"/>
                        </a:spcBef>
                        <a:spcAft>
                          <a:spcPts val="0"/>
                        </a:spcAft>
                        <a:buNone/>
                      </a:pPr>
                      <a:r>
                        <a:rPr lang="en-US" sz="2000" u="none" cap="none" strike="noStrike">
                          <a:solidFill>
                            <a:srgbClr val="FF0000"/>
                          </a:solidFill>
                          <a:latin typeface="Roboto Condensed"/>
                          <a:ea typeface="Roboto Condensed"/>
                          <a:cs typeface="Roboto Condensed"/>
                          <a:sym typeface="Roboto Condensed"/>
                        </a:rPr>
                        <a:t>3.0 Hrs</a:t>
                      </a:r>
                      <a:endParaRPr/>
                    </a:p>
                  </a:txBody>
                  <a:tcPr marT="45725" marB="45725" marR="91450" marL="91450"/>
                </a:tc>
                <a:tc>
                  <a:txBody>
                    <a:bodyPr/>
                    <a:lstStyle/>
                    <a:p>
                      <a:pPr indent="0" lvl="0" marL="0" marR="0" rtl="0" algn="l">
                        <a:lnSpc>
                          <a:spcPct val="100000"/>
                        </a:lnSpc>
                        <a:spcBef>
                          <a:spcPts val="0"/>
                        </a:spcBef>
                        <a:spcAft>
                          <a:spcPts val="0"/>
                        </a:spcAft>
                        <a:buNone/>
                      </a:pPr>
                      <a:r>
                        <a:rPr lang="en-US" sz="2000" u="none" cap="none" strike="noStrike">
                          <a:solidFill>
                            <a:srgbClr val="FF0000"/>
                          </a:solidFill>
                          <a:latin typeface="Roboto Condensed"/>
                          <a:ea typeface="Roboto Condensed"/>
                          <a:cs typeface="Roboto Condensed"/>
                          <a:sym typeface="Roboto Condensed"/>
                        </a:rPr>
                        <a:t>Continuous Evaluation</a:t>
                      </a:r>
                      <a:endParaRPr sz="2000" u="none" cap="none" strike="noStrike">
                        <a:solidFill>
                          <a:srgbClr val="FF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t/>
                      </a:r>
                      <a:endParaRPr sz="2000">
                        <a:solidFill>
                          <a:srgbClr val="FF0000"/>
                        </a:solidFill>
                        <a:latin typeface="Roboto Condensed"/>
                        <a:ea typeface="Roboto Condensed"/>
                        <a:cs typeface="Roboto Condensed"/>
                        <a:sym typeface="Roboto Condensed"/>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US" sz="2000" u="none" cap="none" strike="noStrike">
                          <a:latin typeface="Roboto Condensed"/>
                          <a:ea typeface="Roboto Condensed"/>
                          <a:cs typeface="Roboto Condensed"/>
                          <a:sym typeface="Roboto Condensed"/>
                        </a:rPr>
                        <a:t>Component Weightage</a:t>
                      </a:r>
                      <a:endParaRPr/>
                    </a:p>
                  </a:txBody>
                  <a:tcPr marT="45725" marB="45725" marR="91450" marL="91450"/>
                </a:tc>
                <a:tc>
                  <a:txBody>
                    <a:bodyPr/>
                    <a:lstStyle/>
                    <a:p>
                      <a:pPr indent="0" lvl="0" marL="0" marR="0" rtl="0" algn="l">
                        <a:lnSpc>
                          <a:spcPct val="100000"/>
                        </a:lnSpc>
                        <a:spcBef>
                          <a:spcPts val="0"/>
                        </a:spcBef>
                        <a:spcAft>
                          <a:spcPts val="0"/>
                        </a:spcAft>
                        <a:buNone/>
                      </a:pPr>
                      <a:r>
                        <a:rPr lang="en-US" sz="2000">
                          <a:solidFill>
                            <a:srgbClr val="FF0000"/>
                          </a:solidFill>
                          <a:latin typeface="Roboto Condensed"/>
                          <a:ea typeface="Roboto Condensed"/>
                          <a:cs typeface="Roboto Condensed"/>
                          <a:sym typeface="Roboto Condensed"/>
                        </a:rPr>
                        <a:t>3</a:t>
                      </a:r>
                      <a:r>
                        <a:rPr lang="en-US" sz="2000" u="none" cap="none" strike="noStrike">
                          <a:solidFill>
                            <a:srgbClr val="FF0000"/>
                          </a:solidFill>
                          <a:latin typeface="Roboto Condensed"/>
                          <a:ea typeface="Roboto Condensed"/>
                          <a:cs typeface="Roboto Condensed"/>
                          <a:sym typeface="Roboto Condensed"/>
                        </a:rPr>
                        <a:t>0%(</a:t>
                      </a:r>
                      <a:r>
                        <a:rPr lang="en-US" sz="2000">
                          <a:solidFill>
                            <a:srgbClr val="FF0000"/>
                          </a:solidFill>
                          <a:latin typeface="Roboto Condensed"/>
                          <a:ea typeface="Roboto Condensed"/>
                          <a:cs typeface="Roboto Condensed"/>
                          <a:sym typeface="Roboto Condensed"/>
                        </a:rPr>
                        <a:t>60</a:t>
                      </a:r>
                      <a:r>
                        <a:rPr lang="en-US" sz="2000" u="none" cap="none" strike="noStrike">
                          <a:solidFill>
                            <a:srgbClr val="FF0000"/>
                          </a:solidFill>
                          <a:latin typeface="Roboto Condensed"/>
                          <a:ea typeface="Roboto Condensed"/>
                          <a:cs typeface="Roboto Condensed"/>
                          <a:sym typeface="Roboto Condensed"/>
                        </a:rPr>
                        <a:t>+</a:t>
                      </a:r>
                      <a:r>
                        <a:rPr lang="en-US" sz="2000">
                          <a:solidFill>
                            <a:srgbClr val="FF0000"/>
                          </a:solidFill>
                          <a:latin typeface="Roboto Condensed"/>
                          <a:ea typeface="Roboto Condensed"/>
                          <a:cs typeface="Roboto Condensed"/>
                          <a:sym typeface="Roboto Condensed"/>
                        </a:rPr>
                        <a:t>40</a:t>
                      </a:r>
                      <a:r>
                        <a:rPr lang="en-US" sz="2000" u="none" cap="none" strike="noStrike">
                          <a:solidFill>
                            <a:srgbClr val="FF0000"/>
                          </a:solidFill>
                          <a:latin typeface="Roboto Condensed"/>
                          <a:ea typeface="Roboto Condensed"/>
                          <a:cs typeface="Roboto Condensed"/>
                          <a:sym typeface="Roboto Condensed"/>
                        </a:rPr>
                        <a:t>)</a:t>
                      </a:r>
                      <a:endParaRPr/>
                    </a:p>
                  </a:txBody>
                  <a:tcPr marT="45725" marB="45725" marR="91450" marL="91450"/>
                </a:tc>
                <a:tc>
                  <a:txBody>
                    <a:bodyPr/>
                    <a:lstStyle/>
                    <a:p>
                      <a:pPr indent="0" lvl="0" marL="0" marR="0" rtl="0" algn="l">
                        <a:lnSpc>
                          <a:spcPct val="100000"/>
                        </a:lnSpc>
                        <a:spcBef>
                          <a:spcPts val="0"/>
                        </a:spcBef>
                        <a:spcAft>
                          <a:spcPts val="0"/>
                        </a:spcAft>
                        <a:buNone/>
                      </a:pPr>
                      <a:r>
                        <a:rPr lang="en-US" sz="2000" u="none" cap="none" strike="noStrike">
                          <a:solidFill>
                            <a:srgbClr val="FF0000"/>
                          </a:solidFill>
                          <a:latin typeface="Roboto Condensed"/>
                          <a:ea typeface="Roboto Condensed"/>
                          <a:cs typeface="Roboto Condensed"/>
                          <a:sym typeface="Roboto Condensed"/>
                        </a:rPr>
                        <a:t>40%</a:t>
                      </a:r>
                      <a:endParaRPr/>
                    </a:p>
                  </a:txBody>
                  <a:tcPr marT="45725" marB="45725" marR="91450" marL="91450"/>
                </a:tc>
                <a:tc>
                  <a:txBody>
                    <a:bodyPr/>
                    <a:lstStyle/>
                    <a:p>
                      <a:pPr indent="0" lvl="0" marL="0" marR="0" rtl="0" algn="l">
                        <a:lnSpc>
                          <a:spcPct val="100000"/>
                        </a:lnSpc>
                        <a:spcBef>
                          <a:spcPts val="0"/>
                        </a:spcBef>
                        <a:spcAft>
                          <a:spcPts val="0"/>
                        </a:spcAft>
                        <a:buNone/>
                      </a:pPr>
                      <a:r>
                        <a:rPr lang="en-US" sz="2000">
                          <a:solidFill>
                            <a:srgbClr val="FF0000"/>
                          </a:solidFill>
                          <a:latin typeface="Roboto Condensed"/>
                          <a:ea typeface="Roboto Condensed"/>
                          <a:cs typeface="Roboto Condensed"/>
                          <a:sym typeface="Roboto Condensed"/>
                        </a:rPr>
                        <a:t>3</a:t>
                      </a:r>
                      <a:r>
                        <a:rPr lang="en-US" sz="2000" u="none" cap="none" strike="noStrike">
                          <a:solidFill>
                            <a:srgbClr val="FF0000"/>
                          </a:solidFill>
                          <a:latin typeface="Roboto Condensed"/>
                          <a:ea typeface="Roboto Condensed"/>
                          <a:cs typeface="Roboto Condensed"/>
                          <a:sym typeface="Roboto Condensed"/>
                        </a:rPr>
                        <a:t>0%</a:t>
                      </a:r>
                      <a:endParaRPr/>
                    </a:p>
                    <a:p>
                      <a:pPr indent="0" lvl="0" marL="0" marR="0" rtl="0" algn="l">
                        <a:lnSpc>
                          <a:spcPct val="100000"/>
                        </a:lnSpc>
                        <a:spcBef>
                          <a:spcPts val="0"/>
                        </a:spcBef>
                        <a:spcAft>
                          <a:spcPts val="0"/>
                        </a:spcAft>
                        <a:buNone/>
                      </a:pPr>
                      <a:r>
                        <a:rPr lang="en-US" sz="2000" u="none" cap="none" strike="noStrike">
                          <a:solidFill>
                            <a:srgbClr val="FF0000"/>
                          </a:solidFill>
                          <a:latin typeface="Roboto Condensed"/>
                          <a:ea typeface="Roboto Condensed"/>
                          <a:cs typeface="Roboto Condensed"/>
                          <a:sym typeface="Roboto Condensed"/>
                        </a:rPr>
                        <a:t>(CT-</a:t>
                      </a:r>
                      <a:r>
                        <a:rPr lang="en-US" sz="2000">
                          <a:solidFill>
                            <a:srgbClr val="FF0000"/>
                          </a:solidFill>
                          <a:latin typeface="Roboto Condensed"/>
                          <a:ea typeface="Roboto Condensed"/>
                          <a:cs typeface="Roboto Condensed"/>
                          <a:sym typeface="Roboto Condensed"/>
                        </a:rPr>
                        <a:t>20</a:t>
                      </a:r>
                      <a:r>
                        <a:rPr lang="en-US" sz="2000" u="none" cap="none" strike="noStrike">
                          <a:solidFill>
                            <a:srgbClr val="FF0000"/>
                          </a:solidFill>
                          <a:latin typeface="Roboto Condensed"/>
                          <a:ea typeface="Roboto Condensed"/>
                          <a:cs typeface="Roboto Condensed"/>
                          <a:sym typeface="Roboto Condensed"/>
                        </a:rPr>
                        <a:t> +Sessional-3</a:t>
                      </a:r>
                      <a:r>
                        <a:rPr lang="en-US" sz="2000">
                          <a:solidFill>
                            <a:srgbClr val="FF0000"/>
                          </a:solidFill>
                          <a:latin typeface="Roboto Condensed"/>
                          <a:ea typeface="Roboto Condensed"/>
                          <a:cs typeface="Roboto Condensed"/>
                          <a:sym typeface="Roboto Condensed"/>
                        </a:rPr>
                        <a:t>0</a:t>
                      </a:r>
                      <a:r>
                        <a:rPr lang="en-US" sz="2000" u="none" cap="none" strike="noStrike">
                          <a:solidFill>
                            <a:srgbClr val="FF0000"/>
                          </a:solidFill>
                          <a:latin typeface="Roboto Condensed"/>
                          <a:ea typeface="Roboto Condensed"/>
                          <a:cs typeface="Roboto Condensed"/>
                          <a:sym typeface="Roboto Condensed"/>
                        </a:rPr>
                        <a:t> + </a:t>
                      </a:r>
                      <a:r>
                        <a:rPr lang="en-US" sz="2000">
                          <a:solidFill>
                            <a:srgbClr val="FF0000"/>
                          </a:solidFill>
                          <a:latin typeface="Roboto Condensed"/>
                          <a:ea typeface="Roboto Condensed"/>
                          <a:cs typeface="Roboto Condensed"/>
                          <a:sym typeface="Roboto Condensed"/>
                        </a:rPr>
                        <a:t>Innovative Assignment 5</a:t>
                      </a:r>
                      <a:r>
                        <a:rPr lang="en-US" sz="2000" u="none" cap="none" strike="noStrike">
                          <a:solidFill>
                            <a:srgbClr val="FF0000"/>
                          </a:solidFill>
                          <a:latin typeface="Roboto Condensed"/>
                          <a:ea typeface="Roboto Condensed"/>
                          <a:cs typeface="Roboto Condensed"/>
                          <a:sym typeface="Roboto Condensed"/>
                        </a:rPr>
                        <a:t>0)</a:t>
                      </a:r>
                      <a:endParaRPr/>
                    </a:p>
                  </a:txBody>
                  <a:tcPr marT="45725" marB="45725" marR="91450" marL="91450"/>
                </a:tc>
              </a:tr>
            </a:tbl>
          </a:graphicData>
        </a:graphic>
      </p:graphicFrame>
      <p:graphicFrame>
        <p:nvGraphicFramePr>
          <p:cNvPr id="75" name="Google Shape;75;p5"/>
          <p:cNvGraphicFramePr/>
          <p:nvPr/>
        </p:nvGraphicFramePr>
        <p:xfrm>
          <a:off x="1842814" y="1382755"/>
          <a:ext cx="3000000" cy="3000000"/>
        </p:xfrm>
        <a:graphic>
          <a:graphicData uri="http://schemas.openxmlformats.org/drawingml/2006/table">
            <a:tbl>
              <a:tblPr bandRow="1" firstRow="1">
                <a:noFill/>
                <a:tableStyleId>{A63F83B9-0FA5-4EF9-B39E-BF36895A6C35}</a:tableStyleId>
              </a:tblPr>
              <a:tblGrid>
                <a:gridCol w="2032000"/>
                <a:gridCol w="2032000"/>
                <a:gridCol w="2032000"/>
                <a:gridCol w="2032000"/>
              </a:tblGrid>
              <a:tr h="370850">
                <a:tc>
                  <a:txBody>
                    <a:bodyPr/>
                    <a:lstStyle/>
                    <a:p>
                      <a:pPr indent="0" lvl="0" marL="0" marR="0" rtl="0" algn="l">
                        <a:lnSpc>
                          <a:spcPct val="100000"/>
                        </a:lnSpc>
                        <a:spcBef>
                          <a:spcPts val="0"/>
                        </a:spcBef>
                        <a:spcAft>
                          <a:spcPts val="0"/>
                        </a:spcAft>
                        <a:buNone/>
                      </a:pPr>
                      <a:r>
                        <a:rPr lang="en-US" sz="1800" u="none" cap="none" strike="noStrike"/>
                        <a:t>Theory</a:t>
                      </a:r>
                      <a:endParaRPr/>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Tutorial</a:t>
                      </a:r>
                      <a:endParaRPr/>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Practical</a:t>
                      </a:r>
                      <a:endParaRPr/>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Credit</a:t>
                      </a:r>
                      <a:endParaRPr/>
                    </a:p>
                  </a:txBody>
                  <a:tcPr marT="45725" marB="45725" marR="91450" marL="91450"/>
                </a:tc>
              </a:tr>
              <a:tr h="370850">
                <a:tc>
                  <a:txBody>
                    <a:bodyPr/>
                    <a:lstStyle/>
                    <a:p>
                      <a:pPr indent="0" lvl="0" marL="0" marR="0" rtl="0" algn="l">
                        <a:lnSpc>
                          <a:spcPct val="100000"/>
                        </a:lnSpc>
                        <a:spcBef>
                          <a:spcPts val="0"/>
                        </a:spcBef>
                        <a:spcAft>
                          <a:spcPts val="0"/>
                        </a:spcAft>
                        <a:buNone/>
                      </a:pPr>
                      <a:r>
                        <a:rPr lang="en-US" sz="1800" u="none" cap="none" strike="noStrike"/>
                        <a:t>3</a:t>
                      </a:r>
                      <a:endParaRPr/>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0</a:t>
                      </a:r>
                      <a:endParaRPr/>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2</a:t>
                      </a:r>
                      <a:endParaRPr/>
                    </a:p>
                  </a:txBody>
                  <a:tcPr marT="45725" marB="45725" marR="91450" marL="91450"/>
                </a:tc>
                <a:tc>
                  <a:txBody>
                    <a:bodyPr/>
                    <a:lstStyle/>
                    <a:p>
                      <a:pPr indent="0" lvl="0" marL="0" marR="0" rtl="0" algn="l">
                        <a:lnSpc>
                          <a:spcPct val="100000"/>
                        </a:lnSpc>
                        <a:spcBef>
                          <a:spcPts val="0"/>
                        </a:spcBef>
                        <a:spcAft>
                          <a:spcPts val="0"/>
                        </a:spcAft>
                        <a:buNone/>
                      </a:pPr>
                      <a:r>
                        <a:rPr lang="en-US" sz="1800" u="none" cap="none" strike="noStrike"/>
                        <a:t>4</a:t>
                      </a:r>
                      <a:endParaRPr/>
                    </a:p>
                  </a:txBody>
                  <a:tcPr marT="45725" marB="4572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6"/>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What is an Algorithm?</a:t>
            </a:r>
            <a:endParaRPr/>
          </a:p>
        </p:txBody>
      </p:sp>
      <p:sp>
        <p:nvSpPr>
          <p:cNvPr id="81" name="Google Shape;81;p6"/>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accent6"/>
              </a:buClr>
              <a:buSzPts val="2400"/>
              <a:buFont typeface="Noto Sans Symbols"/>
              <a:buChar char="⮚"/>
            </a:pPr>
            <a:r>
              <a:rPr lang="en-US"/>
              <a:t>A step-by-step procedure, to solve the different kinds of problems.</a:t>
            </a:r>
            <a:r>
              <a:rPr b="1" lang="en-US"/>
              <a:t>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Suppose, we want to make a Chocolate Cake.</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b="1"/>
          </a:p>
          <a:p>
            <a:pPr indent="-190500" lvl="0" marL="495300" rtl="0" algn="just">
              <a:lnSpc>
                <a:spcPct val="90000"/>
              </a:lnSpc>
              <a:spcBef>
                <a:spcPts val="1000"/>
              </a:spcBef>
              <a:spcAft>
                <a:spcPts val="0"/>
              </a:spcAft>
              <a:buClr>
                <a:schemeClr val="accent6"/>
              </a:buClr>
              <a:buSzPts val="2400"/>
              <a:buFont typeface="Noto Sans Symbols"/>
              <a:buNone/>
            </a:pPr>
            <a:r>
              <a:t/>
            </a:r>
            <a:endParaRPr b="1"/>
          </a:p>
          <a:p>
            <a:pPr indent="-190500" lvl="0" marL="495300" rtl="0" algn="just">
              <a:lnSpc>
                <a:spcPct val="90000"/>
              </a:lnSpc>
              <a:spcBef>
                <a:spcPts val="1000"/>
              </a:spcBef>
              <a:spcAft>
                <a:spcPts val="0"/>
              </a:spcAft>
              <a:buClr>
                <a:schemeClr val="accent6"/>
              </a:buClr>
              <a:buSzPts val="2400"/>
              <a:buFont typeface="Noto Sans Symbols"/>
              <a:buNone/>
            </a:pPr>
            <a:r>
              <a:t/>
            </a:r>
            <a:endParaRPr b="1"/>
          </a:p>
          <a:p>
            <a:pPr indent="-190500" lvl="0" marL="495300" rtl="0" algn="just">
              <a:lnSpc>
                <a:spcPct val="90000"/>
              </a:lnSpc>
              <a:spcBef>
                <a:spcPts val="1000"/>
              </a:spcBef>
              <a:spcAft>
                <a:spcPts val="0"/>
              </a:spcAft>
              <a:buClr>
                <a:schemeClr val="accent6"/>
              </a:buClr>
              <a:buSzPts val="2400"/>
              <a:buFont typeface="Noto Sans Symbols"/>
              <a:buNone/>
            </a:pPr>
            <a:r>
              <a:t/>
            </a:r>
            <a:endParaRPr b="1"/>
          </a:p>
          <a:p>
            <a:pPr indent="-190500" lvl="0" marL="495300" rtl="0" algn="just">
              <a:lnSpc>
                <a:spcPct val="90000"/>
              </a:lnSpc>
              <a:spcBef>
                <a:spcPts val="1000"/>
              </a:spcBef>
              <a:spcAft>
                <a:spcPts val="0"/>
              </a:spcAft>
              <a:buClr>
                <a:schemeClr val="accent6"/>
              </a:buClr>
              <a:buSzPts val="2400"/>
              <a:buFont typeface="Noto Sans Symbols"/>
              <a:buNone/>
            </a:pPr>
            <a:r>
              <a:t/>
            </a:r>
            <a:endParaRPr b="1"/>
          </a:p>
          <a:p>
            <a:pPr indent="-190500" lvl="0" marL="495300" rtl="0" algn="just">
              <a:lnSpc>
                <a:spcPct val="90000"/>
              </a:lnSpc>
              <a:spcBef>
                <a:spcPts val="1000"/>
              </a:spcBef>
              <a:spcAft>
                <a:spcPts val="0"/>
              </a:spcAft>
              <a:buClr>
                <a:schemeClr val="accent6"/>
              </a:buClr>
              <a:buSzPts val="2400"/>
              <a:buFont typeface="Noto Sans Symbols"/>
              <a:buNone/>
            </a:pPr>
            <a:r>
              <a:t/>
            </a:r>
            <a:endParaRPr b="1"/>
          </a:p>
          <a:p>
            <a:pPr indent="-190500" lvl="0" marL="495300" rtl="0" algn="just">
              <a:lnSpc>
                <a:spcPct val="90000"/>
              </a:lnSpc>
              <a:spcBef>
                <a:spcPts val="1000"/>
              </a:spcBef>
              <a:spcAft>
                <a:spcPts val="0"/>
              </a:spcAft>
              <a:buClr>
                <a:schemeClr val="accent6"/>
              </a:buClr>
              <a:buSzPts val="2400"/>
              <a:buFont typeface="Noto Sans Symbols"/>
              <a:buNone/>
            </a:pPr>
            <a:r>
              <a:t/>
            </a:r>
            <a:endParaRPr b="1"/>
          </a:p>
          <a:p>
            <a:pPr indent="-190500" lvl="0" marL="495300" rtl="0" algn="just">
              <a:lnSpc>
                <a:spcPct val="90000"/>
              </a:lnSpc>
              <a:spcBef>
                <a:spcPts val="1000"/>
              </a:spcBef>
              <a:spcAft>
                <a:spcPts val="0"/>
              </a:spcAft>
              <a:buClr>
                <a:schemeClr val="accent6"/>
              </a:buClr>
              <a:buSzPts val="2400"/>
              <a:buFont typeface="Noto Sans Symbols"/>
              <a:buNone/>
            </a:pPr>
            <a:r>
              <a:t/>
            </a:r>
            <a:endParaRPr b="1"/>
          </a:p>
          <a:p>
            <a:pPr indent="-342900" lvl="0" marL="342900" rtl="0" algn="just">
              <a:lnSpc>
                <a:spcPct val="90000"/>
              </a:lnSpc>
              <a:spcBef>
                <a:spcPts val="1000"/>
              </a:spcBef>
              <a:spcAft>
                <a:spcPts val="0"/>
              </a:spcAft>
              <a:buClr>
                <a:schemeClr val="accent6"/>
              </a:buClr>
              <a:buSzPts val="2400"/>
              <a:buFont typeface="Noto Sans Symbols"/>
              <a:buChar char="⮚"/>
            </a:pPr>
            <a:r>
              <a:rPr lang="en-US"/>
              <a:t>An unambiguous sequence of computational steps that transform the input into the output.</a:t>
            </a:r>
            <a:endParaRPr/>
          </a:p>
          <a:p>
            <a:pPr indent="-212725" lvl="1" marL="809625" rtl="0" algn="just">
              <a:lnSpc>
                <a:spcPct val="90000"/>
              </a:lnSpc>
              <a:spcBef>
                <a:spcPts val="500"/>
              </a:spcBef>
              <a:spcAft>
                <a:spcPts val="0"/>
              </a:spcAft>
              <a:buSzPts val="2200"/>
              <a:buNone/>
            </a:pPr>
            <a:r>
              <a:t/>
            </a:r>
            <a:endParaRPr b="1" i="1" sz="2200"/>
          </a:p>
          <a:p>
            <a:pPr indent="-127000" lvl="4" marL="2057400" rtl="0" algn="just">
              <a:lnSpc>
                <a:spcPct val="90000"/>
              </a:lnSpc>
              <a:spcBef>
                <a:spcPts val="500"/>
              </a:spcBef>
              <a:spcAft>
                <a:spcPts val="0"/>
              </a:spcAft>
              <a:buSzPts val="1600"/>
              <a:buNone/>
            </a:pPr>
            <a:r>
              <a:t/>
            </a:r>
            <a:endParaRPr b="1" i="1"/>
          </a:p>
          <a:p>
            <a:pPr indent="-225425" lvl="1" marL="809625" rtl="0" algn="just">
              <a:lnSpc>
                <a:spcPct val="90000"/>
              </a:lnSpc>
              <a:spcBef>
                <a:spcPts val="500"/>
              </a:spcBef>
              <a:spcAft>
                <a:spcPts val="0"/>
              </a:spcAft>
              <a:buSzPts val="2000"/>
              <a:buNone/>
            </a:pPr>
            <a:r>
              <a:t/>
            </a:r>
            <a:endParaRPr b="1" i="1"/>
          </a:p>
          <a:p>
            <a:pPr indent="-225425" lvl="1" marL="809625" rtl="0" algn="just">
              <a:lnSpc>
                <a:spcPct val="90000"/>
              </a:lnSpc>
              <a:spcBef>
                <a:spcPts val="500"/>
              </a:spcBef>
              <a:spcAft>
                <a:spcPts val="0"/>
              </a:spcAft>
              <a:buSzPts val="2000"/>
              <a:buNone/>
            </a:pPr>
            <a:r>
              <a:t/>
            </a:r>
            <a:endParaRPr b="1" i="1"/>
          </a:p>
          <a:p>
            <a:pPr indent="0" lvl="1" marL="457200" rtl="0" algn="just">
              <a:lnSpc>
                <a:spcPct val="90000"/>
              </a:lnSpc>
              <a:spcBef>
                <a:spcPts val="500"/>
              </a:spcBef>
              <a:spcAft>
                <a:spcPts val="0"/>
              </a:spcAft>
              <a:buSzPts val="2000"/>
              <a:buNone/>
            </a:pPr>
            <a:r>
              <a:t/>
            </a:r>
            <a:endParaRPr b="1" i="1"/>
          </a:p>
          <a:p>
            <a:pPr indent="-225425" lvl="1" marL="809625" rtl="0" algn="just">
              <a:lnSpc>
                <a:spcPct val="90000"/>
              </a:lnSpc>
              <a:spcBef>
                <a:spcPts val="500"/>
              </a:spcBef>
              <a:spcAft>
                <a:spcPts val="0"/>
              </a:spcAft>
              <a:buSzPts val="2000"/>
              <a:buNone/>
            </a:pPr>
            <a:r>
              <a:t/>
            </a:r>
            <a:endParaRPr/>
          </a:p>
          <a:p>
            <a:pPr indent="-225425" lvl="1" marL="809625" rtl="0" algn="just">
              <a:lnSpc>
                <a:spcPct val="90000"/>
              </a:lnSpc>
              <a:spcBef>
                <a:spcPts val="500"/>
              </a:spcBef>
              <a:spcAft>
                <a:spcPts val="0"/>
              </a:spcAft>
              <a:buSzPts val="2000"/>
              <a:buNone/>
            </a:pPr>
            <a:r>
              <a:t/>
            </a:r>
            <a:endParaRPr/>
          </a:p>
          <a:p>
            <a:pPr indent="-225425" lvl="1" marL="809625" rtl="0" algn="just">
              <a:lnSpc>
                <a:spcPct val="90000"/>
              </a:lnSpc>
              <a:spcBef>
                <a:spcPts val="500"/>
              </a:spcBef>
              <a:spcAft>
                <a:spcPts val="0"/>
              </a:spcAft>
              <a:buSzPts val="2000"/>
              <a:buNone/>
            </a:pPr>
            <a:r>
              <a:t/>
            </a:r>
            <a:endParaRPr/>
          </a:p>
          <a:p>
            <a:pPr indent="0" lvl="1" marL="457200" rtl="0" algn="just">
              <a:lnSpc>
                <a:spcPct val="90000"/>
              </a:lnSpc>
              <a:spcBef>
                <a:spcPts val="500"/>
              </a:spcBef>
              <a:spcAft>
                <a:spcPts val="0"/>
              </a:spcAft>
              <a:buSzPts val="2000"/>
              <a:buNone/>
            </a:pPr>
            <a:r>
              <a:t/>
            </a:r>
            <a:endParaRPr/>
          </a:p>
        </p:txBody>
      </p:sp>
      <p:sp>
        <p:nvSpPr>
          <p:cNvPr id="82" name="Google Shape;82;p6"/>
          <p:cNvSpPr/>
          <p:nvPr/>
        </p:nvSpPr>
        <p:spPr>
          <a:xfrm>
            <a:off x="3548057" y="2484667"/>
            <a:ext cx="1125415" cy="689317"/>
          </a:xfrm>
          <a:prstGeom prst="rightArrow">
            <a:avLst>
              <a:gd fmla="val 50000" name="adj1"/>
              <a:gd fmla="val 74490" name="adj2"/>
            </a:avLst>
          </a:prstGeom>
          <a:solidFill>
            <a:srgbClr val="8F8F8F"/>
          </a:solidFill>
          <a:ln cap="flat" cmpd="sng" w="12700">
            <a:solidFill>
              <a:srgbClr val="69696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boto Condensed"/>
              <a:ea typeface="Roboto Condensed"/>
              <a:cs typeface="Roboto Condensed"/>
              <a:sym typeface="Roboto Condensed"/>
            </a:endParaRPr>
          </a:p>
        </p:txBody>
      </p:sp>
      <p:sp>
        <p:nvSpPr>
          <p:cNvPr id="83" name="Google Shape;83;p6"/>
          <p:cNvSpPr/>
          <p:nvPr/>
        </p:nvSpPr>
        <p:spPr>
          <a:xfrm>
            <a:off x="7535105" y="2479331"/>
            <a:ext cx="1125415" cy="689317"/>
          </a:xfrm>
          <a:prstGeom prst="rightArrow">
            <a:avLst>
              <a:gd fmla="val 50000" name="adj1"/>
              <a:gd fmla="val 74490" name="adj2"/>
            </a:avLst>
          </a:prstGeom>
          <a:solidFill>
            <a:srgbClr val="8F8F8F"/>
          </a:solidFill>
          <a:ln cap="flat" cmpd="sng" w="12700">
            <a:solidFill>
              <a:srgbClr val="69696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boto Condensed"/>
              <a:ea typeface="Roboto Condensed"/>
              <a:cs typeface="Roboto Condensed"/>
              <a:sym typeface="Roboto Condensed"/>
            </a:endParaRPr>
          </a:p>
        </p:txBody>
      </p:sp>
      <p:sp>
        <p:nvSpPr>
          <p:cNvPr id="84" name="Google Shape;84;p6"/>
          <p:cNvSpPr txBox="1"/>
          <p:nvPr/>
        </p:nvSpPr>
        <p:spPr>
          <a:xfrm>
            <a:off x="9703764" y="4362286"/>
            <a:ext cx="120597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A3115D"/>
                </a:solidFill>
                <a:latin typeface="Roboto Condensed"/>
                <a:ea typeface="Roboto Condensed"/>
                <a:cs typeface="Roboto Condensed"/>
                <a:sym typeface="Roboto Condensed"/>
              </a:rPr>
              <a:t>Output</a:t>
            </a:r>
            <a:endParaRPr b="1" i="0" sz="1800" u="none" cap="none" strike="noStrike">
              <a:solidFill>
                <a:srgbClr val="A3115D"/>
              </a:solidFill>
              <a:latin typeface="Roboto Condensed"/>
              <a:ea typeface="Roboto Condensed"/>
              <a:cs typeface="Roboto Condensed"/>
              <a:sym typeface="Roboto Condensed"/>
            </a:endParaRPr>
          </a:p>
        </p:txBody>
      </p:sp>
      <p:pic>
        <p:nvPicPr>
          <p:cNvPr id="85" name="Google Shape;85;p6"/>
          <p:cNvPicPr preferRelativeResize="0"/>
          <p:nvPr/>
        </p:nvPicPr>
        <p:blipFill rotWithShape="1">
          <a:blip r:embed="rId3">
            <a:alphaModFix/>
          </a:blip>
          <a:srcRect b="0" l="0" r="0" t="0"/>
          <a:stretch/>
        </p:blipFill>
        <p:spPr>
          <a:xfrm>
            <a:off x="1504843" y="1966924"/>
            <a:ext cx="1371600" cy="1992413"/>
          </a:xfrm>
          <a:prstGeom prst="rect">
            <a:avLst/>
          </a:prstGeom>
          <a:noFill/>
          <a:ln>
            <a:noFill/>
          </a:ln>
        </p:spPr>
      </p:pic>
      <p:pic>
        <p:nvPicPr>
          <p:cNvPr id="86" name="Google Shape;86;p6"/>
          <p:cNvPicPr preferRelativeResize="0"/>
          <p:nvPr/>
        </p:nvPicPr>
        <p:blipFill rotWithShape="1">
          <a:blip r:embed="rId4">
            <a:alphaModFix/>
          </a:blip>
          <a:srcRect b="0" l="0" r="0" t="0"/>
          <a:stretch/>
        </p:blipFill>
        <p:spPr>
          <a:xfrm>
            <a:off x="5345087" y="1971378"/>
            <a:ext cx="1518404" cy="2091563"/>
          </a:xfrm>
          <a:prstGeom prst="rect">
            <a:avLst/>
          </a:prstGeom>
          <a:noFill/>
          <a:ln>
            <a:noFill/>
          </a:ln>
        </p:spPr>
      </p:pic>
      <p:pic>
        <p:nvPicPr>
          <p:cNvPr id="87" name="Google Shape;87;p6"/>
          <p:cNvPicPr preferRelativeResize="0"/>
          <p:nvPr/>
        </p:nvPicPr>
        <p:blipFill rotWithShape="1">
          <a:blip r:embed="rId5">
            <a:alphaModFix/>
          </a:blip>
          <a:srcRect b="0" l="0" r="0" t="0"/>
          <a:stretch/>
        </p:blipFill>
        <p:spPr>
          <a:xfrm>
            <a:off x="9332135" y="2033303"/>
            <a:ext cx="1920240" cy="1581374"/>
          </a:xfrm>
          <a:prstGeom prst="rect">
            <a:avLst/>
          </a:prstGeom>
          <a:noFill/>
          <a:ln>
            <a:noFill/>
          </a:ln>
        </p:spPr>
      </p:pic>
      <p:sp>
        <p:nvSpPr>
          <p:cNvPr id="88" name="Google Shape;88;p6"/>
          <p:cNvSpPr txBox="1"/>
          <p:nvPr/>
        </p:nvSpPr>
        <p:spPr>
          <a:xfrm>
            <a:off x="1838773" y="4362287"/>
            <a:ext cx="87075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AD1457"/>
                </a:solidFill>
                <a:latin typeface="Roboto Condensed"/>
                <a:ea typeface="Roboto Condensed"/>
                <a:cs typeface="Roboto Condensed"/>
                <a:sym typeface="Roboto Condensed"/>
              </a:rPr>
              <a:t>Input </a:t>
            </a:r>
            <a:endParaRPr b="1" i="0" sz="1800" u="none" cap="none" strike="noStrike">
              <a:solidFill>
                <a:srgbClr val="AD1457"/>
              </a:solidFill>
              <a:latin typeface="Roboto Condensed"/>
              <a:ea typeface="Roboto Condensed"/>
              <a:cs typeface="Roboto Condensed"/>
              <a:sym typeface="Roboto Condensed"/>
            </a:endParaRPr>
          </a:p>
        </p:txBody>
      </p:sp>
      <p:sp>
        <p:nvSpPr>
          <p:cNvPr id="89" name="Google Shape;89;p6"/>
          <p:cNvSpPr txBox="1"/>
          <p:nvPr/>
        </p:nvSpPr>
        <p:spPr>
          <a:xfrm>
            <a:off x="5521303" y="4362287"/>
            <a:ext cx="1217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AD1457"/>
                </a:solidFill>
                <a:latin typeface="Roboto Condensed"/>
                <a:ea typeface="Roboto Condensed"/>
                <a:cs typeface="Roboto Condensed"/>
                <a:sym typeface="Roboto Condensed"/>
              </a:rPr>
              <a:t>Process </a:t>
            </a:r>
            <a:endParaRPr b="1" i="0" sz="1800" u="none" cap="none" strike="noStrike">
              <a:solidFill>
                <a:srgbClr val="AD1457"/>
              </a:solidFill>
              <a:latin typeface="Roboto Condensed"/>
              <a:ea typeface="Roboto Condensed"/>
              <a:cs typeface="Roboto Condensed"/>
              <a:sym typeface="Roboto Condensed"/>
            </a:endParaRPr>
          </a:p>
        </p:txBody>
      </p:sp>
      <p:sp>
        <p:nvSpPr>
          <p:cNvPr id="90" name="Google Shape;90;p6"/>
          <p:cNvSpPr txBox="1"/>
          <p:nvPr/>
        </p:nvSpPr>
        <p:spPr>
          <a:xfrm>
            <a:off x="1504843" y="4823951"/>
            <a:ext cx="170861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424242"/>
                </a:solidFill>
                <a:latin typeface="Roboto Condensed"/>
                <a:ea typeface="Roboto Condensed"/>
                <a:cs typeface="Roboto Condensed"/>
                <a:sym typeface="Roboto Condensed"/>
              </a:rPr>
              <a:t>Ingredients </a:t>
            </a:r>
            <a:r>
              <a:rPr b="1" i="0" lang="en-US" sz="2400" u="none" cap="none" strike="noStrike">
                <a:solidFill>
                  <a:schemeClr val="dk1"/>
                </a:solidFill>
                <a:latin typeface="Roboto Condensed"/>
                <a:ea typeface="Roboto Condensed"/>
                <a:cs typeface="Roboto Condensed"/>
                <a:sym typeface="Roboto Condensed"/>
              </a:rPr>
              <a:t> </a:t>
            </a:r>
            <a:endParaRPr b="1" i="0" sz="1800" u="none" cap="none" strike="noStrike">
              <a:solidFill>
                <a:schemeClr val="dk1"/>
              </a:solidFill>
              <a:latin typeface="Roboto Condensed"/>
              <a:ea typeface="Roboto Condensed"/>
              <a:cs typeface="Roboto Condensed"/>
              <a:sym typeface="Roboto Condensed"/>
            </a:endParaRPr>
          </a:p>
        </p:txBody>
      </p:sp>
      <p:sp>
        <p:nvSpPr>
          <p:cNvPr id="91" name="Google Shape;91;p6"/>
          <p:cNvSpPr txBox="1"/>
          <p:nvPr/>
        </p:nvSpPr>
        <p:spPr>
          <a:xfrm>
            <a:off x="5606399" y="4823951"/>
            <a:ext cx="104680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424242"/>
                </a:solidFill>
                <a:latin typeface="Roboto Condensed"/>
                <a:ea typeface="Roboto Condensed"/>
                <a:cs typeface="Roboto Condensed"/>
                <a:sym typeface="Roboto Condensed"/>
              </a:rPr>
              <a:t>Recipe </a:t>
            </a:r>
            <a:endParaRPr b="1" i="0" sz="1800" u="none" cap="none" strike="noStrike">
              <a:solidFill>
                <a:srgbClr val="424242"/>
              </a:solidFill>
              <a:latin typeface="Roboto Condensed"/>
              <a:ea typeface="Roboto Condensed"/>
              <a:cs typeface="Roboto Condensed"/>
              <a:sym typeface="Roboto Condensed"/>
            </a:endParaRPr>
          </a:p>
        </p:txBody>
      </p:sp>
      <p:sp>
        <p:nvSpPr>
          <p:cNvPr id="92" name="Google Shape;92;p6"/>
          <p:cNvSpPr txBox="1"/>
          <p:nvPr/>
        </p:nvSpPr>
        <p:spPr>
          <a:xfrm>
            <a:off x="9787429" y="4745361"/>
            <a:ext cx="83486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424242"/>
                </a:solidFill>
                <a:latin typeface="Roboto Condensed"/>
                <a:ea typeface="Roboto Condensed"/>
                <a:cs typeface="Roboto Condensed"/>
                <a:sym typeface="Roboto Condensed"/>
              </a:rPr>
              <a:t>Cake</a:t>
            </a:r>
            <a:r>
              <a:rPr b="1" i="0" lang="en-US" sz="2400" u="none" cap="none" strike="noStrike">
                <a:solidFill>
                  <a:srgbClr val="002060"/>
                </a:solidFill>
                <a:latin typeface="Roboto Condensed"/>
                <a:ea typeface="Roboto Condensed"/>
                <a:cs typeface="Roboto Condensed"/>
                <a:sym typeface="Roboto Condensed"/>
              </a:rPr>
              <a:t> </a:t>
            </a:r>
            <a:r>
              <a:rPr b="1" i="0" lang="en-US" sz="2400" u="none" cap="none" strike="noStrike">
                <a:solidFill>
                  <a:schemeClr val="dk1"/>
                </a:solidFill>
                <a:latin typeface="Roboto Condensed"/>
                <a:ea typeface="Roboto Condensed"/>
                <a:cs typeface="Roboto Condensed"/>
                <a:sym typeface="Roboto Condensed"/>
              </a:rPr>
              <a:t> </a:t>
            </a:r>
            <a:endParaRPr b="1" i="0" sz="1800" u="none" cap="none" strike="noStrike">
              <a:solidFill>
                <a:schemeClr val="dk1"/>
              </a:solidFill>
              <a:latin typeface="Roboto Condensed"/>
              <a:ea typeface="Roboto Condensed"/>
              <a:cs typeface="Roboto Condensed"/>
              <a:sym typeface="Roboto Condensed"/>
            </a:endParaRPr>
          </a:p>
        </p:txBody>
      </p:sp>
      <p:sp>
        <p:nvSpPr>
          <p:cNvPr id="93" name="Google Shape;93;p6"/>
          <p:cNvSpPr/>
          <p:nvPr/>
        </p:nvSpPr>
        <p:spPr>
          <a:xfrm>
            <a:off x="4840941" y="1802674"/>
            <a:ext cx="2380130" cy="3482942"/>
          </a:xfrm>
          <a:prstGeom prst="roundRect">
            <a:avLst>
              <a:gd fmla="val 16667" name="adj"/>
            </a:avLst>
          </a:prstGeom>
          <a:noFill/>
          <a:ln cap="flat" cmpd="sng" w="38100">
            <a:solidFill>
              <a:srgbClr val="00B0F0"/>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boto Condensed"/>
              <a:ea typeface="Roboto Condensed"/>
              <a:cs typeface="Roboto Condensed"/>
              <a:sym typeface="Roboto Condense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0" st="0"/>
                                            </p:txEl>
                                          </p:spTgt>
                                        </p:tgtEl>
                                        <p:attrNameLst>
                                          <p:attrName>style.visibility</p:attrName>
                                        </p:attrNameLst>
                                      </p:cBhvr>
                                      <p:to>
                                        <p:strVal val="visible"/>
                                      </p:to>
                                    </p:set>
                                    <p:animEffect filter="fade" transition="in">
                                      <p:cBhvr>
                                        <p:cTn dur="500"/>
                                        <p:tgtEl>
                                          <p:spTgt spid="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1" st="1"/>
                                            </p:txEl>
                                          </p:spTgt>
                                        </p:tgtEl>
                                        <p:attrNameLst>
                                          <p:attrName>style.visibility</p:attrName>
                                        </p:attrNameLst>
                                      </p:cBhvr>
                                      <p:to>
                                        <p:strVal val="visible"/>
                                      </p:to>
                                    </p:set>
                                    <p:animEffect filter="fade" transition="in">
                                      <p:cBhvr>
                                        <p:cTn dur="500"/>
                                        <p:tgtEl>
                                          <p:spTgt spid="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2" st="2"/>
                                            </p:txEl>
                                          </p:spTgt>
                                        </p:tgtEl>
                                        <p:attrNameLst>
                                          <p:attrName>style.visibility</p:attrName>
                                        </p:attrNameLst>
                                      </p:cBhvr>
                                      <p:to>
                                        <p:strVal val="visible"/>
                                      </p:to>
                                    </p:set>
                                    <p:animEffect filter="fade" transition="in">
                                      <p:cBhvr>
                                        <p:cTn dur="500"/>
                                        <p:tgtEl>
                                          <p:spTgt spid="8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3" st="3"/>
                                            </p:txEl>
                                          </p:spTgt>
                                        </p:tgtEl>
                                        <p:attrNameLst>
                                          <p:attrName>style.visibility</p:attrName>
                                        </p:attrNameLst>
                                      </p:cBhvr>
                                      <p:to>
                                        <p:strVal val="visible"/>
                                      </p:to>
                                    </p:set>
                                    <p:animEffect filter="fade" transition="in">
                                      <p:cBhvr>
                                        <p:cTn dur="500"/>
                                        <p:tgtEl>
                                          <p:spTgt spid="8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4" st="4"/>
                                            </p:txEl>
                                          </p:spTgt>
                                        </p:tgtEl>
                                        <p:attrNameLst>
                                          <p:attrName>style.visibility</p:attrName>
                                        </p:attrNameLst>
                                      </p:cBhvr>
                                      <p:to>
                                        <p:strVal val="visible"/>
                                      </p:to>
                                    </p:set>
                                    <p:animEffect filter="fade" transition="in">
                                      <p:cBhvr>
                                        <p:cTn dur="500"/>
                                        <p:tgtEl>
                                          <p:spTgt spid="8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5" st="5"/>
                                            </p:txEl>
                                          </p:spTgt>
                                        </p:tgtEl>
                                        <p:attrNameLst>
                                          <p:attrName>style.visibility</p:attrName>
                                        </p:attrNameLst>
                                      </p:cBhvr>
                                      <p:to>
                                        <p:strVal val="visible"/>
                                      </p:to>
                                    </p:set>
                                    <p:animEffect filter="fade" transition="in">
                                      <p:cBhvr>
                                        <p:cTn dur="500"/>
                                        <p:tgtEl>
                                          <p:spTgt spid="8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6" st="6"/>
                                            </p:txEl>
                                          </p:spTgt>
                                        </p:tgtEl>
                                        <p:attrNameLst>
                                          <p:attrName>style.visibility</p:attrName>
                                        </p:attrNameLst>
                                      </p:cBhvr>
                                      <p:to>
                                        <p:strVal val="visible"/>
                                      </p:to>
                                    </p:set>
                                    <p:animEffect filter="fade" transition="in">
                                      <p:cBhvr>
                                        <p:cTn dur="500"/>
                                        <p:tgtEl>
                                          <p:spTgt spid="8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7" st="7"/>
                                            </p:txEl>
                                          </p:spTgt>
                                        </p:tgtEl>
                                        <p:attrNameLst>
                                          <p:attrName>style.visibility</p:attrName>
                                        </p:attrNameLst>
                                      </p:cBhvr>
                                      <p:to>
                                        <p:strVal val="visible"/>
                                      </p:to>
                                    </p:set>
                                    <p:animEffect filter="fade" transition="in">
                                      <p:cBhvr>
                                        <p:cTn dur="500"/>
                                        <p:tgtEl>
                                          <p:spTgt spid="8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8" st="8"/>
                                            </p:txEl>
                                          </p:spTgt>
                                        </p:tgtEl>
                                        <p:attrNameLst>
                                          <p:attrName>style.visibility</p:attrName>
                                        </p:attrNameLst>
                                      </p:cBhvr>
                                      <p:to>
                                        <p:strVal val="visible"/>
                                      </p:to>
                                    </p:set>
                                    <p:animEffect filter="fade" transition="in">
                                      <p:cBhvr>
                                        <p:cTn dur="500"/>
                                        <p:tgtEl>
                                          <p:spTgt spid="8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9" st="9"/>
                                            </p:txEl>
                                          </p:spTgt>
                                        </p:tgtEl>
                                        <p:attrNameLst>
                                          <p:attrName>style.visibility</p:attrName>
                                        </p:attrNameLst>
                                      </p:cBhvr>
                                      <p:to>
                                        <p:strVal val="visible"/>
                                      </p:to>
                                    </p:set>
                                    <p:animEffect filter="fade" transition="in">
                                      <p:cBhvr>
                                        <p:cTn dur="500"/>
                                        <p:tgtEl>
                                          <p:spTgt spid="8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10" st="10"/>
                                            </p:txEl>
                                          </p:spTgt>
                                        </p:tgtEl>
                                        <p:attrNameLst>
                                          <p:attrName>style.visibility</p:attrName>
                                        </p:attrNameLst>
                                      </p:cBhvr>
                                      <p:to>
                                        <p:strVal val="visible"/>
                                      </p:to>
                                    </p:set>
                                    <p:animEffect filter="fade" transition="in">
                                      <p:cBhvr>
                                        <p:cTn dur="500"/>
                                        <p:tgtEl>
                                          <p:spTgt spid="8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11" st="11"/>
                                            </p:txEl>
                                          </p:spTgt>
                                        </p:tgtEl>
                                        <p:attrNameLst>
                                          <p:attrName>style.visibility</p:attrName>
                                        </p:attrNameLst>
                                      </p:cBhvr>
                                      <p:to>
                                        <p:strVal val="visible"/>
                                      </p:to>
                                    </p:set>
                                    <p:animEffect filter="fade" transition="in">
                                      <p:cBhvr>
                                        <p:cTn dur="500"/>
                                        <p:tgtEl>
                                          <p:spTgt spid="8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12" st="12"/>
                                            </p:txEl>
                                          </p:spTgt>
                                        </p:tgtEl>
                                        <p:attrNameLst>
                                          <p:attrName>style.visibility</p:attrName>
                                        </p:attrNameLst>
                                      </p:cBhvr>
                                      <p:to>
                                        <p:strVal val="visible"/>
                                      </p:to>
                                    </p:set>
                                    <p:animEffect filter="fade" transition="in">
                                      <p:cBhvr>
                                        <p:cTn dur="500"/>
                                        <p:tgtEl>
                                          <p:spTgt spid="8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13" st="13"/>
                                            </p:txEl>
                                          </p:spTgt>
                                        </p:tgtEl>
                                        <p:attrNameLst>
                                          <p:attrName>style.visibility</p:attrName>
                                        </p:attrNameLst>
                                      </p:cBhvr>
                                      <p:to>
                                        <p:strVal val="visible"/>
                                      </p:to>
                                    </p:set>
                                    <p:animEffect filter="fade" transition="in">
                                      <p:cBhvr>
                                        <p:cTn dur="500"/>
                                        <p:tgtEl>
                                          <p:spTgt spid="8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14" st="14"/>
                                            </p:txEl>
                                          </p:spTgt>
                                        </p:tgtEl>
                                        <p:attrNameLst>
                                          <p:attrName>style.visibility</p:attrName>
                                        </p:attrNameLst>
                                      </p:cBhvr>
                                      <p:to>
                                        <p:strVal val="visible"/>
                                      </p:to>
                                    </p:set>
                                    <p:animEffect filter="fade" transition="in">
                                      <p:cBhvr>
                                        <p:cTn dur="500"/>
                                        <p:tgtEl>
                                          <p:spTgt spid="8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15" st="15"/>
                                            </p:txEl>
                                          </p:spTgt>
                                        </p:tgtEl>
                                        <p:attrNameLst>
                                          <p:attrName>style.visibility</p:attrName>
                                        </p:attrNameLst>
                                      </p:cBhvr>
                                      <p:to>
                                        <p:strVal val="visible"/>
                                      </p:to>
                                    </p:set>
                                    <p:animEffect filter="fade" transition="in">
                                      <p:cBhvr>
                                        <p:cTn dur="500"/>
                                        <p:tgtEl>
                                          <p:spTgt spid="81">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16" st="16"/>
                                            </p:txEl>
                                          </p:spTgt>
                                        </p:tgtEl>
                                        <p:attrNameLst>
                                          <p:attrName>style.visibility</p:attrName>
                                        </p:attrNameLst>
                                      </p:cBhvr>
                                      <p:to>
                                        <p:strVal val="visible"/>
                                      </p:to>
                                    </p:set>
                                    <p:animEffect filter="fade" transition="in">
                                      <p:cBhvr>
                                        <p:cTn dur="500"/>
                                        <p:tgtEl>
                                          <p:spTgt spid="81">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17" st="17"/>
                                            </p:txEl>
                                          </p:spTgt>
                                        </p:tgtEl>
                                        <p:attrNameLst>
                                          <p:attrName>style.visibility</p:attrName>
                                        </p:attrNameLst>
                                      </p:cBhvr>
                                      <p:to>
                                        <p:strVal val="visible"/>
                                      </p:to>
                                    </p:set>
                                    <p:animEffect filter="fade" transition="in">
                                      <p:cBhvr>
                                        <p:cTn dur="500"/>
                                        <p:tgtEl>
                                          <p:spTgt spid="81">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18" st="18"/>
                                            </p:txEl>
                                          </p:spTgt>
                                        </p:tgtEl>
                                        <p:attrNameLst>
                                          <p:attrName>style.visibility</p:attrName>
                                        </p:attrNameLst>
                                      </p:cBhvr>
                                      <p:to>
                                        <p:strVal val="visible"/>
                                      </p:to>
                                    </p:set>
                                    <p:animEffect filter="fade" transition="in">
                                      <p:cBhvr>
                                        <p:cTn dur="500"/>
                                        <p:tgtEl>
                                          <p:spTgt spid="81">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xEl>
                                              <p:pRg end="19" st="19"/>
                                            </p:txEl>
                                          </p:spTgt>
                                        </p:tgtEl>
                                        <p:attrNameLst>
                                          <p:attrName>style.visibility</p:attrName>
                                        </p:attrNameLst>
                                      </p:cBhvr>
                                      <p:to>
                                        <p:strVal val="visible"/>
                                      </p:to>
                                    </p:set>
                                    <p:animEffect filter="fade" transition="in">
                                      <p:cBhvr>
                                        <p:cTn dur="500"/>
                                        <p:tgtEl>
                                          <p:spTgt spid="81">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500"/>
                                        <p:tgtEl>
                                          <p:spTgt spid="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500"/>
                                        <p:tgtEl>
                                          <p:spTgt spid="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500"/>
                                        <p:tgtEl>
                                          <p:spTgt spid="8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1500"/>
                                        <p:tgtEl>
                                          <p:spTgt spid="8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500"/>
                                        <p:tgtEl>
                                          <p:spTgt spid="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000"/>
                                        <p:tgtEl>
                                          <p:spTgt spid="8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500"/>
                                        <p:tgtEl>
                                          <p:spTgt spid="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2000"/>
                                        <p:tgtEl>
                                          <p:spTgt spid="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What is an Algorithm?</a:t>
            </a:r>
            <a:endParaRPr/>
          </a:p>
        </p:txBody>
      </p:sp>
      <p:sp>
        <p:nvSpPr>
          <p:cNvPr id="99" name="Google Shape;99;p7"/>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accent6"/>
              </a:buClr>
              <a:buSzPts val="2400"/>
              <a:buFont typeface="Noto Sans Symbols"/>
              <a:buChar char="⮚"/>
            </a:pPr>
            <a:r>
              <a:rPr lang="en-US"/>
              <a:t>A process or a set of rules to be followed to achieve desired output, especially by a computer.</a:t>
            </a:r>
            <a:endParaRPr/>
          </a:p>
          <a:p>
            <a:pPr indent="-184150" lvl="4" marL="2216150" rtl="0" algn="just">
              <a:lnSpc>
                <a:spcPct val="90000"/>
              </a:lnSpc>
              <a:spcBef>
                <a:spcPts val="500"/>
              </a:spcBef>
              <a:spcAft>
                <a:spcPts val="0"/>
              </a:spcAft>
              <a:buSzPts val="1600"/>
              <a:buFont typeface="Noto Sans Symbols"/>
              <a:buNone/>
            </a:pPr>
            <a:r>
              <a:t/>
            </a:r>
            <a:endParaRPr b="1" i="1"/>
          </a:p>
          <a:p>
            <a:pPr indent="-215900" lvl="1" marL="927100" rtl="0" algn="just">
              <a:lnSpc>
                <a:spcPct val="90000"/>
              </a:lnSpc>
              <a:spcBef>
                <a:spcPts val="500"/>
              </a:spcBef>
              <a:spcAft>
                <a:spcPts val="0"/>
              </a:spcAft>
              <a:buSzPts val="2000"/>
              <a:buFont typeface="Noto Sans Symbols"/>
              <a:buNone/>
            </a:pPr>
            <a:r>
              <a:t/>
            </a:r>
            <a:endParaRPr b="1" i="1"/>
          </a:p>
          <a:p>
            <a:pPr indent="-215900" lvl="1" marL="927100" rtl="0" algn="just">
              <a:lnSpc>
                <a:spcPct val="90000"/>
              </a:lnSpc>
              <a:spcBef>
                <a:spcPts val="500"/>
              </a:spcBef>
              <a:spcAft>
                <a:spcPts val="0"/>
              </a:spcAft>
              <a:buSzPts val="2000"/>
              <a:buFont typeface="Noto Sans Symbols"/>
              <a:buNone/>
            </a:pPr>
            <a:r>
              <a:t/>
            </a:r>
            <a:endParaRPr b="1" i="1"/>
          </a:p>
          <a:p>
            <a:pPr indent="-215900" lvl="1" marL="800100" rtl="0" algn="just">
              <a:lnSpc>
                <a:spcPct val="90000"/>
              </a:lnSpc>
              <a:spcBef>
                <a:spcPts val="500"/>
              </a:spcBef>
              <a:spcAft>
                <a:spcPts val="0"/>
              </a:spcAft>
              <a:buSzPts val="2000"/>
              <a:buFont typeface="Noto Sans Symbols"/>
              <a:buNone/>
            </a:pPr>
            <a:r>
              <a:t/>
            </a:r>
            <a:endParaRPr b="1" i="1"/>
          </a:p>
          <a:p>
            <a:pPr indent="-215900" lvl="1" marL="927100" rtl="0" algn="just">
              <a:lnSpc>
                <a:spcPct val="90000"/>
              </a:lnSpc>
              <a:spcBef>
                <a:spcPts val="500"/>
              </a:spcBef>
              <a:spcAft>
                <a:spcPts val="0"/>
              </a:spcAft>
              <a:buSzPts val="2000"/>
              <a:buFont typeface="Noto Sans Symbols"/>
              <a:buNone/>
            </a:pPr>
            <a:r>
              <a:t/>
            </a:r>
            <a:endParaRPr/>
          </a:p>
          <a:p>
            <a:pPr indent="-215900" lvl="1" marL="927100" rtl="0" algn="just">
              <a:lnSpc>
                <a:spcPct val="90000"/>
              </a:lnSpc>
              <a:spcBef>
                <a:spcPts val="500"/>
              </a:spcBef>
              <a:spcAft>
                <a:spcPts val="0"/>
              </a:spcAft>
              <a:buSzPts val="2000"/>
              <a:buFont typeface="Noto Sans Symbols"/>
              <a:buNone/>
            </a:pPr>
            <a:r>
              <a:t/>
            </a:r>
            <a:endParaRPr/>
          </a:p>
          <a:p>
            <a:pPr indent="-215900" lvl="1" marL="927100" rtl="0" algn="just">
              <a:lnSpc>
                <a:spcPct val="90000"/>
              </a:lnSpc>
              <a:spcBef>
                <a:spcPts val="500"/>
              </a:spcBef>
              <a:spcAft>
                <a:spcPts val="0"/>
              </a:spcAft>
              <a:buSzPts val="2000"/>
              <a:buFont typeface="Noto Sans Symbols"/>
              <a:buNone/>
            </a:pPr>
            <a:r>
              <a:t/>
            </a:r>
            <a:endParaRPr/>
          </a:p>
          <a:p>
            <a:pPr indent="-215900" lvl="1" marL="927100" rtl="0" algn="just">
              <a:lnSpc>
                <a:spcPct val="90000"/>
              </a:lnSpc>
              <a:spcBef>
                <a:spcPts val="500"/>
              </a:spcBef>
              <a:spcAft>
                <a:spcPts val="0"/>
              </a:spcAft>
              <a:buSzPts val="2000"/>
              <a:buFont typeface="Noto Sans Symbols"/>
              <a:buNone/>
            </a:pPr>
            <a:r>
              <a:t/>
            </a:r>
            <a:endParaRPr/>
          </a:p>
          <a:p>
            <a:pPr indent="-292100" lvl="0" marL="622300" rtl="0" algn="just">
              <a:lnSpc>
                <a:spcPct val="90000"/>
              </a:lnSpc>
              <a:spcBef>
                <a:spcPts val="1000"/>
              </a:spcBef>
              <a:spcAft>
                <a:spcPts val="0"/>
              </a:spcAft>
              <a:buClr>
                <a:schemeClr val="accent6"/>
              </a:buClr>
              <a:buSzPts val="2600"/>
              <a:buFont typeface="Noto Sans Symbols"/>
              <a:buNone/>
            </a:pPr>
            <a:r>
              <a:t/>
            </a:r>
            <a:endParaRPr sz="2600"/>
          </a:p>
          <a:p>
            <a:pPr indent="-342900" lvl="0" marL="342900" rtl="0" algn="just">
              <a:lnSpc>
                <a:spcPct val="90000"/>
              </a:lnSpc>
              <a:spcBef>
                <a:spcPts val="1000"/>
              </a:spcBef>
              <a:spcAft>
                <a:spcPts val="0"/>
              </a:spcAft>
              <a:buClr>
                <a:schemeClr val="accent6"/>
              </a:buClr>
              <a:buSzPts val="2400"/>
              <a:buFont typeface="Noto Sans Symbols"/>
              <a:buChar char="⮚"/>
            </a:pPr>
            <a:r>
              <a:rPr lang="en-US"/>
              <a:t>An algorithm is </a:t>
            </a:r>
            <a:r>
              <a:rPr b="1" lang="en-US">
                <a:solidFill>
                  <a:srgbClr val="AD1457"/>
                </a:solidFill>
              </a:rPr>
              <a:t>any</a:t>
            </a:r>
            <a:r>
              <a:rPr lang="en-US">
                <a:solidFill>
                  <a:srgbClr val="AD1457"/>
                </a:solidFill>
              </a:rPr>
              <a:t> </a:t>
            </a:r>
            <a:r>
              <a:rPr b="1" lang="en-US">
                <a:solidFill>
                  <a:srgbClr val="AD1457"/>
                </a:solidFill>
              </a:rPr>
              <a:t>well-defined computational procedure </a:t>
            </a:r>
            <a:r>
              <a:rPr lang="en-US"/>
              <a:t>that takes some value, or a set of values as input and produces some value, or a set of values as output.</a:t>
            </a:r>
            <a:endParaRPr/>
          </a:p>
        </p:txBody>
      </p:sp>
      <p:sp>
        <p:nvSpPr>
          <p:cNvPr id="100" name="Google Shape;100;p7"/>
          <p:cNvSpPr/>
          <p:nvPr/>
        </p:nvSpPr>
        <p:spPr>
          <a:xfrm>
            <a:off x="3228395" y="2627137"/>
            <a:ext cx="1125415" cy="689317"/>
          </a:xfrm>
          <a:prstGeom prst="rightArrow">
            <a:avLst>
              <a:gd fmla="val 50000" name="adj1"/>
              <a:gd fmla="val 74490" name="adj2"/>
            </a:avLst>
          </a:prstGeom>
          <a:solidFill>
            <a:srgbClr val="8F8F8F"/>
          </a:solidFill>
          <a:ln cap="flat" cmpd="sng" w="12700">
            <a:solidFill>
              <a:srgbClr val="69696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boto Condensed"/>
              <a:ea typeface="Roboto Condensed"/>
              <a:cs typeface="Roboto Condensed"/>
              <a:sym typeface="Roboto Condensed"/>
            </a:endParaRPr>
          </a:p>
        </p:txBody>
      </p:sp>
      <p:sp>
        <p:nvSpPr>
          <p:cNvPr id="101" name="Google Shape;101;p7"/>
          <p:cNvSpPr/>
          <p:nvPr/>
        </p:nvSpPr>
        <p:spPr>
          <a:xfrm>
            <a:off x="7613301" y="2627137"/>
            <a:ext cx="1125415" cy="689317"/>
          </a:xfrm>
          <a:prstGeom prst="rightArrow">
            <a:avLst>
              <a:gd fmla="val 50000" name="adj1"/>
              <a:gd fmla="val 74490" name="adj2"/>
            </a:avLst>
          </a:prstGeom>
          <a:solidFill>
            <a:srgbClr val="8F8F8F"/>
          </a:solidFill>
          <a:ln cap="flat" cmpd="sng" w="12700">
            <a:solidFill>
              <a:srgbClr val="69696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boto Condensed"/>
              <a:ea typeface="Roboto Condensed"/>
              <a:cs typeface="Roboto Condensed"/>
              <a:sym typeface="Roboto Condensed"/>
            </a:endParaRPr>
          </a:p>
        </p:txBody>
      </p:sp>
      <p:pic>
        <p:nvPicPr>
          <p:cNvPr id="102" name="Google Shape;102;p7"/>
          <p:cNvPicPr preferRelativeResize="0"/>
          <p:nvPr/>
        </p:nvPicPr>
        <p:blipFill rotWithShape="1">
          <a:blip r:embed="rId3">
            <a:alphaModFix/>
          </a:blip>
          <a:srcRect b="0" l="0" r="0" t="0"/>
          <a:stretch/>
        </p:blipFill>
        <p:spPr>
          <a:xfrm>
            <a:off x="1134871" y="2192768"/>
            <a:ext cx="1280160" cy="1763364"/>
          </a:xfrm>
          <a:prstGeom prst="rect">
            <a:avLst/>
          </a:prstGeom>
          <a:noFill/>
          <a:ln>
            <a:noFill/>
          </a:ln>
        </p:spPr>
      </p:pic>
      <p:pic>
        <p:nvPicPr>
          <p:cNvPr id="103" name="Google Shape;103;p7"/>
          <p:cNvPicPr preferRelativeResize="0"/>
          <p:nvPr/>
        </p:nvPicPr>
        <p:blipFill rotWithShape="1">
          <a:blip r:embed="rId4">
            <a:alphaModFix/>
          </a:blip>
          <a:srcRect b="0" l="0" r="0" t="0"/>
          <a:stretch/>
        </p:blipFill>
        <p:spPr>
          <a:xfrm>
            <a:off x="4912293" y="2348276"/>
            <a:ext cx="2011680" cy="1452349"/>
          </a:xfrm>
          <a:prstGeom prst="rect">
            <a:avLst/>
          </a:prstGeom>
          <a:noFill/>
          <a:ln>
            <a:noFill/>
          </a:ln>
        </p:spPr>
      </p:pic>
      <p:pic>
        <p:nvPicPr>
          <p:cNvPr id="104" name="Google Shape;104;p7"/>
          <p:cNvPicPr preferRelativeResize="0"/>
          <p:nvPr/>
        </p:nvPicPr>
        <p:blipFill rotWithShape="1">
          <a:blip r:embed="rId5">
            <a:alphaModFix/>
          </a:blip>
          <a:srcRect b="0" l="0" r="0" t="0"/>
          <a:stretch/>
        </p:blipFill>
        <p:spPr>
          <a:xfrm>
            <a:off x="9428044" y="2385280"/>
            <a:ext cx="1371600" cy="1208947"/>
          </a:xfrm>
          <a:prstGeom prst="rect">
            <a:avLst/>
          </a:prstGeom>
          <a:noFill/>
          <a:ln>
            <a:noFill/>
          </a:ln>
        </p:spPr>
      </p:pic>
      <p:sp>
        <p:nvSpPr>
          <p:cNvPr id="105" name="Google Shape;105;p7"/>
          <p:cNvSpPr txBox="1"/>
          <p:nvPr/>
        </p:nvSpPr>
        <p:spPr>
          <a:xfrm>
            <a:off x="9612745" y="4009009"/>
            <a:ext cx="104474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424242"/>
                </a:solidFill>
                <a:latin typeface="Roboto Condensed"/>
                <a:ea typeface="Roboto Condensed"/>
                <a:cs typeface="Roboto Condensed"/>
                <a:sym typeface="Roboto Condensed"/>
              </a:rPr>
              <a:t>Output</a:t>
            </a:r>
            <a:endParaRPr b="1" i="0" sz="1800" u="none" cap="none" strike="noStrike">
              <a:solidFill>
                <a:srgbClr val="424242"/>
              </a:solidFill>
              <a:latin typeface="Roboto Condensed"/>
              <a:ea typeface="Roboto Condensed"/>
              <a:cs typeface="Roboto Condensed"/>
              <a:sym typeface="Roboto Condensed"/>
            </a:endParaRPr>
          </a:p>
        </p:txBody>
      </p:sp>
      <p:sp>
        <p:nvSpPr>
          <p:cNvPr id="106" name="Google Shape;106;p7"/>
          <p:cNvSpPr txBox="1"/>
          <p:nvPr/>
        </p:nvSpPr>
        <p:spPr>
          <a:xfrm>
            <a:off x="1044465" y="4008986"/>
            <a:ext cx="1438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424242"/>
                </a:solidFill>
                <a:latin typeface="Roboto Condensed"/>
                <a:ea typeface="Roboto Condensed"/>
                <a:cs typeface="Roboto Condensed"/>
                <a:sym typeface="Roboto Condensed"/>
              </a:rPr>
              <a:t>Algorithm </a:t>
            </a:r>
            <a:endParaRPr b="1" i="0" sz="1800" u="none" cap="none" strike="noStrike">
              <a:solidFill>
                <a:srgbClr val="424242"/>
              </a:solidFill>
              <a:latin typeface="Roboto Condensed"/>
              <a:ea typeface="Roboto Condensed"/>
              <a:cs typeface="Roboto Condensed"/>
              <a:sym typeface="Roboto Condensed"/>
            </a:endParaRPr>
          </a:p>
        </p:txBody>
      </p:sp>
      <p:sp>
        <p:nvSpPr>
          <p:cNvPr id="107" name="Google Shape;107;p7"/>
          <p:cNvSpPr txBox="1"/>
          <p:nvPr/>
        </p:nvSpPr>
        <p:spPr>
          <a:xfrm>
            <a:off x="5273565" y="4008985"/>
            <a:ext cx="128913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424242"/>
                </a:solidFill>
                <a:latin typeface="Roboto Condensed"/>
                <a:ea typeface="Roboto Condensed"/>
                <a:cs typeface="Roboto Condensed"/>
                <a:sym typeface="Roboto Condensed"/>
              </a:rPr>
              <a:t>Program </a:t>
            </a:r>
            <a:endParaRPr b="1" i="0" sz="1800" u="none" cap="none" strike="noStrike">
              <a:solidFill>
                <a:srgbClr val="424242"/>
              </a:solidFill>
              <a:latin typeface="Roboto Condensed"/>
              <a:ea typeface="Roboto Condensed"/>
              <a:cs typeface="Roboto Condensed"/>
              <a:sym typeface="Roboto Condensed"/>
            </a:endParaRPr>
          </a:p>
        </p:txBody>
      </p:sp>
      <p:grpSp>
        <p:nvGrpSpPr>
          <p:cNvPr id="108" name="Google Shape;108;p7"/>
          <p:cNvGrpSpPr/>
          <p:nvPr/>
        </p:nvGrpSpPr>
        <p:grpSpPr>
          <a:xfrm>
            <a:off x="5187129" y="1464024"/>
            <a:ext cx="1205437" cy="816293"/>
            <a:chOff x="5187129" y="1464024"/>
            <a:chExt cx="1205437" cy="816293"/>
          </a:xfrm>
        </p:grpSpPr>
        <p:pic>
          <p:nvPicPr>
            <p:cNvPr id="109" name="Google Shape;109;p7"/>
            <p:cNvPicPr preferRelativeResize="0"/>
            <p:nvPr/>
          </p:nvPicPr>
          <p:blipFill rotWithShape="1">
            <a:blip r:embed="rId6">
              <a:alphaModFix/>
            </a:blip>
            <a:srcRect b="0" l="0" r="0" t="0"/>
            <a:stretch/>
          </p:blipFill>
          <p:spPr>
            <a:xfrm>
              <a:off x="5569606" y="1604313"/>
              <a:ext cx="822960" cy="676004"/>
            </a:xfrm>
            <a:prstGeom prst="rect">
              <a:avLst/>
            </a:prstGeom>
            <a:noFill/>
            <a:ln>
              <a:noFill/>
            </a:ln>
          </p:spPr>
        </p:pic>
        <p:sp>
          <p:nvSpPr>
            <p:cNvPr id="110" name="Google Shape;110;p7"/>
            <p:cNvSpPr txBox="1"/>
            <p:nvPr/>
          </p:nvSpPr>
          <p:spPr>
            <a:xfrm>
              <a:off x="5187129" y="1464024"/>
              <a:ext cx="76495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A3115D"/>
                  </a:solidFill>
                  <a:latin typeface="Roboto Condensed"/>
                  <a:ea typeface="Roboto Condensed"/>
                  <a:cs typeface="Roboto Condensed"/>
                  <a:sym typeface="Roboto Condensed"/>
                </a:rPr>
                <a:t>Input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animEffect filter="fade" transition="in">
                                      <p:cBhvr>
                                        <p:cTn dur="500"/>
                                        <p:tgtEl>
                                          <p:spTgt spid="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1" st="1"/>
                                            </p:txEl>
                                          </p:spTgt>
                                        </p:tgtEl>
                                        <p:attrNameLst>
                                          <p:attrName>style.visibility</p:attrName>
                                        </p:attrNameLst>
                                      </p:cBhvr>
                                      <p:to>
                                        <p:strVal val="visible"/>
                                      </p:to>
                                    </p:set>
                                    <p:animEffect filter="fade" transition="in">
                                      <p:cBhvr>
                                        <p:cTn dur="500"/>
                                        <p:tgtEl>
                                          <p:spTgt spid="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2" st="2"/>
                                            </p:txEl>
                                          </p:spTgt>
                                        </p:tgtEl>
                                        <p:attrNameLst>
                                          <p:attrName>style.visibility</p:attrName>
                                        </p:attrNameLst>
                                      </p:cBhvr>
                                      <p:to>
                                        <p:strVal val="visible"/>
                                      </p:to>
                                    </p:set>
                                    <p:animEffect filter="fade" transition="in">
                                      <p:cBhvr>
                                        <p:cTn dur="500"/>
                                        <p:tgtEl>
                                          <p:spTgt spid="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3" st="3"/>
                                            </p:txEl>
                                          </p:spTgt>
                                        </p:tgtEl>
                                        <p:attrNameLst>
                                          <p:attrName>style.visibility</p:attrName>
                                        </p:attrNameLst>
                                      </p:cBhvr>
                                      <p:to>
                                        <p:strVal val="visible"/>
                                      </p:to>
                                    </p:set>
                                    <p:animEffect filter="fade" transition="in">
                                      <p:cBhvr>
                                        <p:cTn dur="500"/>
                                        <p:tgtEl>
                                          <p:spTgt spid="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4" st="4"/>
                                            </p:txEl>
                                          </p:spTgt>
                                        </p:tgtEl>
                                        <p:attrNameLst>
                                          <p:attrName>style.visibility</p:attrName>
                                        </p:attrNameLst>
                                      </p:cBhvr>
                                      <p:to>
                                        <p:strVal val="visible"/>
                                      </p:to>
                                    </p:set>
                                    <p:animEffect filter="fade" transition="in">
                                      <p:cBhvr>
                                        <p:cTn dur="500"/>
                                        <p:tgtEl>
                                          <p:spTgt spid="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5" st="5"/>
                                            </p:txEl>
                                          </p:spTgt>
                                        </p:tgtEl>
                                        <p:attrNameLst>
                                          <p:attrName>style.visibility</p:attrName>
                                        </p:attrNameLst>
                                      </p:cBhvr>
                                      <p:to>
                                        <p:strVal val="visible"/>
                                      </p:to>
                                    </p:set>
                                    <p:animEffect filter="fade" transition="in">
                                      <p:cBhvr>
                                        <p:cTn dur="500"/>
                                        <p:tgtEl>
                                          <p:spTgt spid="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6" st="6"/>
                                            </p:txEl>
                                          </p:spTgt>
                                        </p:tgtEl>
                                        <p:attrNameLst>
                                          <p:attrName>style.visibility</p:attrName>
                                        </p:attrNameLst>
                                      </p:cBhvr>
                                      <p:to>
                                        <p:strVal val="visible"/>
                                      </p:to>
                                    </p:set>
                                    <p:animEffect filter="fade" transition="in">
                                      <p:cBhvr>
                                        <p:cTn dur="500"/>
                                        <p:tgtEl>
                                          <p:spTgt spid="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7" st="7"/>
                                            </p:txEl>
                                          </p:spTgt>
                                        </p:tgtEl>
                                        <p:attrNameLst>
                                          <p:attrName>style.visibility</p:attrName>
                                        </p:attrNameLst>
                                      </p:cBhvr>
                                      <p:to>
                                        <p:strVal val="visible"/>
                                      </p:to>
                                    </p:set>
                                    <p:animEffect filter="fade" transition="in">
                                      <p:cBhvr>
                                        <p:cTn dur="500"/>
                                        <p:tgtEl>
                                          <p:spTgt spid="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8" st="8"/>
                                            </p:txEl>
                                          </p:spTgt>
                                        </p:tgtEl>
                                        <p:attrNameLst>
                                          <p:attrName>style.visibility</p:attrName>
                                        </p:attrNameLst>
                                      </p:cBhvr>
                                      <p:to>
                                        <p:strVal val="visible"/>
                                      </p:to>
                                    </p:set>
                                    <p:animEffect filter="fade" transition="in">
                                      <p:cBhvr>
                                        <p:cTn dur="500"/>
                                        <p:tgtEl>
                                          <p:spTgt spid="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9" st="9"/>
                                            </p:txEl>
                                          </p:spTgt>
                                        </p:tgtEl>
                                        <p:attrNameLst>
                                          <p:attrName>style.visibility</p:attrName>
                                        </p:attrNameLst>
                                      </p:cBhvr>
                                      <p:to>
                                        <p:strVal val="visible"/>
                                      </p:to>
                                    </p:set>
                                    <p:animEffect filter="fade" transition="in">
                                      <p:cBhvr>
                                        <p:cTn dur="500"/>
                                        <p:tgtEl>
                                          <p:spTgt spid="9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10" st="10"/>
                                            </p:txEl>
                                          </p:spTgt>
                                        </p:tgtEl>
                                        <p:attrNameLst>
                                          <p:attrName>style.visibility</p:attrName>
                                        </p:attrNameLst>
                                      </p:cBhvr>
                                      <p:to>
                                        <p:strVal val="visible"/>
                                      </p:to>
                                    </p:set>
                                    <p:animEffect filter="fade" transition="in">
                                      <p:cBhvr>
                                        <p:cTn dur="500"/>
                                        <p:tgtEl>
                                          <p:spTgt spid="9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2000"/>
                                        <p:tgtEl>
                                          <p:spTgt spid="10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8"/>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Characteristics of An Algorithm</a:t>
            </a:r>
            <a:endParaRPr/>
          </a:p>
        </p:txBody>
      </p:sp>
      <p:sp>
        <p:nvSpPr>
          <p:cNvPr id="116" name="Google Shape;116;p8"/>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342900" lvl="1" marL="342900" rtl="0" algn="just">
              <a:lnSpc>
                <a:spcPct val="90000"/>
              </a:lnSpc>
              <a:spcBef>
                <a:spcPts val="0"/>
              </a:spcBef>
              <a:spcAft>
                <a:spcPts val="0"/>
              </a:spcAft>
              <a:buSzPts val="2400"/>
              <a:buFont typeface="Noto Sans Symbols"/>
              <a:buChar char="⮚"/>
            </a:pPr>
            <a:r>
              <a:rPr b="1" lang="en-US" sz="2400"/>
              <a:t>Finiteness</a:t>
            </a:r>
            <a:r>
              <a:rPr lang="en-US" sz="2400"/>
              <a:t>: An algorithm must always terminate after a </a:t>
            </a:r>
            <a:r>
              <a:rPr lang="en-US" sz="2400">
                <a:solidFill>
                  <a:srgbClr val="AD1457"/>
                </a:solidFill>
              </a:rPr>
              <a:t>finite number of steps</a:t>
            </a:r>
            <a:r>
              <a:rPr lang="en-US" sz="2400"/>
              <a:t>.</a:t>
            </a:r>
            <a:endParaRPr/>
          </a:p>
          <a:p>
            <a:pPr indent="-342900" lvl="1" marL="342900" rtl="0" algn="just">
              <a:lnSpc>
                <a:spcPct val="90000"/>
              </a:lnSpc>
              <a:spcBef>
                <a:spcPts val="1000"/>
              </a:spcBef>
              <a:spcAft>
                <a:spcPts val="0"/>
              </a:spcAft>
              <a:buSzPts val="2400"/>
              <a:buFont typeface="Noto Sans Symbols"/>
              <a:buChar char="⮚"/>
            </a:pPr>
            <a:r>
              <a:rPr b="1" lang="en-US" sz="2400"/>
              <a:t>Definiteness</a:t>
            </a:r>
            <a:r>
              <a:rPr lang="en-US" sz="2400"/>
              <a:t>: Each step of an algorithm must be </a:t>
            </a:r>
            <a:r>
              <a:rPr lang="en-US" sz="2400">
                <a:solidFill>
                  <a:srgbClr val="AD1457"/>
                </a:solidFill>
              </a:rPr>
              <a:t>precisely defined.</a:t>
            </a:r>
            <a:endParaRPr/>
          </a:p>
          <a:p>
            <a:pPr indent="-342900" lvl="1" marL="342900" rtl="0" algn="just">
              <a:lnSpc>
                <a:spcPct val="90000"/>
              </a:lnSpc>
              <a:spcBef>
                <a:spcPts val="1000"/>
              </a:spcBef>
              <a:spcAft>
                <a:spcPts val="0"/>
              </a:spcAft>
              <a:buSzPts val="2400"/>
              <a:buFont typeface="Noto Sans Symbols"/>
              <a:buChar char="⮚"/>
            </a:pPr>
            <a:r>
              <a:rPr b="1" lang="en-US" sz="2400"/>
              <a:t>Input</a:t>
            </a:r>
            <a:r>
              <a:rPr lang="en-US" sz="2400"/>
              <a:t>: An algorithm has </a:t>
            </a:r>
            <a:r>
              <a:rPr lang="en-US" sz="2400">
                <a:solidFill>
                  <a:srgbClr val="AD1457"/>
                </a:solidFill>
              </a:rPr>
              <a:t>zero or more </a:t>
            </a:r>
            <a:r>
              <a:rPr lang="en-US" sz="2400"/>
              <a:t>inputs.</a:t>
            </a:r>
            <a:endParaRPr/>
          </a:p>
          <a:p>
            <a:pPr indent="-342900" lvl="1" marL="342900" rtl="0" algn="just">
              <a:lnSpc>
                <a:spcPct val="90000"/>
              </a:lnSpc>
              <a:spcBef>
                <a:spcPts val="1000"/>
              </a:spcBef>
              <a:spcAft>
                <a:spcPts val="0"/>
              </a:spcAft>
              <a:buSzPts val="2400"/>
              <a:buFont typeface="Noto Sans Symbols"/>
              <a:buChar char="⮚"/>
            </a:pPr>
            <a:r>
              <a:rPr b="1" lang="en-US" sz="2400"/>
              <a:t>Output</a:t>
            </a:r>
            <a:r>
              <a:rPr lang="en-US" sz="2400"/>
              <a:t>: An algorithm must have </a:t>
            </a:r>
            <a:r>
              <a:rPr lang="en-US" sz="2400">
                <a:solidFill>
                  <a:srgbClr val="AD1457"/>
                </a:solidFill>
              </a:rPr>
              <a:t>at least one </a:t>
            </a:r>
            <a:r>
              <a:rPr lang="en-US" sz="2400"/>
              <a:t>desirable output.</a:t>
            </a:r>
            <a:endParaRPr/>
          </a:p>
          <a:p>
            <a:pPr indent="-342900" lvl="1" marL="342900" rtl="0" algn="just">
              <a:lnSpc>
                <a:spcPct val="90000"/>
              </a:lnSpc>
              <a:spcBef>
                <a:spcPts val="1000"/>
              </a:spcBef>
              <a:spcAft>
                <a:spcPts val="0"/>
              </a:spcAft>
              <a:buSzPts val="2400"/>
              <a:buFont typeface="Noto Sans Symbols"/>
              <a:buChar char="⮚"/>
            </a:pPr>
            <a:r>
              <a:rPr b="1" lang="en-US" sz="2400"/>
              <a:t>Effectiveness</a:t>
            </a:r>
            <a:r>
              <a:rPr lang="en-US" sz="2400"/>
              <a:t>: All the operations to be performed in the algorithm </a:t>
            </a:r>
            <a:r>
              <a:rPr lang="en-US" sz="2400">
                <a:solidFill>
                  <a:srgbClr val="AD1457"/>
                </a:solidFill>
              </a:rPr>
              <a:t>must be sufficiently basic </a:t>
            </a:r>
            <a:r>
              <a:rPr lang="en-US" sz="2400"/>
              <a:t>and essential.</a:t>
            </a:r>
            <a:endParaRPr/>
          </a:p>
          <a:p>
            <a:pPr indent="-342900" lvl="1" marL="342900" rtl="0" algn="just">
              <a:lnSpc>
                <a:spcPct val="90000"/>
              </a:lnSpc>
              <a:spcBef>
                <a:spcPts val="1000"/>
              </a:spcBef>
              <a:spcAft>
                <a:spcPts val="0"/>
              </a:spcAft>
              <a:buSzPts val="2400"/>
              <a:buFont typeface="Noto Sans Symbols"/>
              <a:buChar char="⮚"/>
            </a:pPr>
            <a:r>
              <a:rPr b="1" lang="en-US" sz="2400"/>
              <a:t>Correctness</a:t>
            </a:r>
            <a:r>
              <a:rPr lang="en-US" sz="2400"/>
              <a:t>: An algorithm must produce </a:t>
            </a:r>
            <a:r>
              <a:rPr b="1" lang="en-US" sz="2400">
                <a:solidFill>
                  <a:srgbClr val="C00000"/>
                </a:solidFill>
              </a:rPr>
              <a:t>correct output </a:t>
            </a:r>
            <a:r>
              <a:rPr lang="en-US" sz="2400"/>
              <a:t>on </a:t>
            </a:r>
            <a:r>
              <a:rPr b="1" lang="en-US" sz="2400">
                <a:solidFill>
                  <a:srgbClr val="C00000"/>
                </a:solidFill>
              </a:rPr>
              <a:t>every possible input instance</a:t>
            </a:r>
            <a:r>
              <a:rPr lang="en-US" sz="2400"/>
              <a:t> of the problem. It is the most important property of an algorithm.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animEffect filter="fade" transition="in">
                                      <p:cBhvr>
                                        <p:cTn dur="500"/>
                                        <p:tgtEl>
                                          <p:spTgt spid="1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animEffect filter="fade" transition="in">
                                      <p:cBhvr>
                                        <p:cTn dur="500"/>
                                        <p:tgtEl>
                                          <p:spTgt spid="1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animEffect filter="fade" transition="in">
                                      <p:cBhvr>
                                        <p:cTn dur="500"/>
                                        <p:tgtEl>
                                          <p:spTgt spid="1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3" st="3"/>
                                            </p:txEl>
                                          </p:spTgt>
                                        </p:tgtEl>
                                        <p:attrNameLst>
                                          <p:attrName>style.visibility</p:attrName>
                                        </p:attrNameLst>
                                      </p:cBhvr>
                                      <p:to>
                                        <p:strVal val="visible"/>
                                      </p:to>
                                    </p:set>
                                    <p:animEffect filter="fade" transition="in">
                                      <p:cBhvr>
                                        <p:cTn dur="500"/>
                                        <p:tgtEl>
                                          <p:spTgt spid="1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4" st="4"/>
                                            </p:txEl>
                                          </p:spTgt>
                                        </p:tgtEl>
                                        <p:attrNameLst>
                                          <p:attrName>style.visibility</p:attrName>
                                        </p:attrNameLst>
                                      </p:cBhvr>
                                      <p:to>
                                        <p:strVal val="visible"/>
                                      </p:to>
                                    </p:set>
                                    <p:animEffect filter="fade" transition="in">
                                      <p:cBhvr>
                                        <p:cTn dur="500"/>
                                        <p:tgtEl>
                                          <p:spTgt spid="1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5" st="5"/>
                                            </p:txEl>
                                          </p:spTgt>
                                        </p:tgtEl>
                                        <p:attrNameLst>
                                          <p:attrName>style.visibility</p:attrName>
                                        </p:attrNameLst>
                                      </p:cBhvr>
                                      <p:to>
                                        <p:strVal val="visible"/>
                                      </p:to>
                                    </p:set>
                                    <p:animEffect filter="fade" transition="in">
                                      <p:cBhvr>
                                        <p:cTn dur="500"/>
                                        <p:tgtEl>
                                          <p:spTgt spid="11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xEl>
                                              <p:pRg end="6" st="6"/>
                                            </p:txEl>
                                          </p:spTgt>
                                        </p:tgtEl>
                                        <p:attrNameLst>
                                          <p:attrName>style.visibility</p:attrName>
                                        </p:attrNameLst>
                                      </p:cBhvr>
                                      <p:to>
                                        <p:strVal val="visible"/>
                                      </p:to>
                                    </p:set>
                                    <p:animEffect filter="fade" transition="in">
                                      <p:cBhvr>
                                        <p:cTn dur="500"/>
                                        <p:tgtEl>
                                          <p:spTgt spid="11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9"/>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Simple Multiplication Methods</a:t>
            </a:r>
            <a:endParaRPr/>
          </a:p>
        </p:txBody>
      </p:sp>
      <p:sp>
        <p:nvSpPr>
          <p:cNvPr id="122" name="Google Shape;122;p9"/>
          <p:cNvSpPr txBox="1"/>
          <p:nvPr/>
        </p:nvSpPr>
        <p:spPr>
          <a:xfrm>
            <a:off x="578223" y="1198937"/>
            <a:ext cx="3276600" cy="639762"/>
          </a:xfrm>
          <a:prstGeom prst="rect">
            <a:avLst/>
          </a:prstGeom>
          <a:noFill/>
          <a:ln>
            <a:noFill/>
          </a:ln>
        </p:spPr>
        <p:txBody>
          <a:bodyPr anchorCtr="0" anchor="t" bIns="45700" lIns="91425" spcFirstLastPara="1" rIns="91425" wrap="square" tIns="45700">
            <a:normAutofit/>
          </a:bodyPr>
          <a:lstStyle/>
          <a:p>
            <a:pPr indent="0" lvl="0" marL="0" marR="0" rtl="0" algn="ctr">
              <a:lnSpc>
                <a:spcPct val="114000"/>
              </a:lnSpc>
              <a:spcBef>
                <a:spcPts val="0"/>
              </a:spcBef>
              <a:spcAft>
                <a:spcPts val="0"/>
              </a:spcAft>
              <a:buClr>
                <a:srgbClr val="8A3531"/>
              </a:buClr>
              <a:buSzPts val="2400"/>
              <a:buFont typeface="Noto Sans Symbols"/>
              <a:buNone/>
            </a:pPr>
            <a:r>
              <a:rPr b="1" i="0" lang="en-US" sz="2400" u="none" cap="none" strike="noStrike">
                <a:solidFill>
                  <a:srgbClr val="8A3531"/>
                </a:solidFill>
                <a:latin typeface="Roboto Condensed"/>
                <a:ea typeface="Roboto Condensed"/>
                <a:cs typeface="Roboto Condensed"/>
                <a:sym typeface="Roboto Condensed"/>
              </a:rPr>
              <a:t>1. American approach</a:t>
            </a:r>
            <a:endParaRPr b="0" i="0" sz="1400" u="none" cap="none" strike="noStrike">
              <a:solidFill>
                <a:srgbClr val="000000"/>
              </a:solidFill>
              <a:latin typeface="Arial"/>
              <a:ea typeface="Arial"/>
              <a:cs typeface="Arial"/>
              <a:sym typeface="Arial"/>
            </a:endParaRPr>
          </a:p>
        </p:txBody>
      </p:sp>
      <p:sp>
        <p:nvSpPr>
          <p:cNvPr id="123" name="Google Shape;123;p9"/>
          <p:cNvSpPr txBox="1"/>
          <p:nvPr/>
        </p:nvSpPr>
        <p:spPr>
          <a:xfrm>
            <a:off x="5696052" y="1198937"/>
            <a:ext cx="3505200" cy="6397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8A3531"/>
              </a:buClr>
              <a:buSzPts val="2400"/>
              <a:buFont typeface="Arial"/>
              <a:buNone/>
            </a:pPr>
            <a:r>
              <a:rPr b="1" i="0" lang="en-US" sz="2400" u="none" cap="none" strike="noStrike">
                <a:solidFill>
                  <a:srgbClr val="8A3531"/>
                </a:solidFill>
                <a:latin typeface="Roboto Condensed"/>
                <a:ea typeface="Roboto Condensed"/>
                <a:cs typeface="Roboto Condensed"/>
                <a:sym typeface="Roboto Condensed"/>
              </a:rPr>
              <a:t>2. English approach</a:t>
            </a:r>
            <a:endParaRPr b="0" i="0" sz="1400" u="none" cap="none" strike="noStrike">
              <a:solidFill>
                <a:srgbClr val="000000"/>
              </a:solidFill>
              <a:latin typeface="Arial"/>
              <a:ea typeface="Arial"/>
              <a:cs typeface="Arial"/>
              <a:sym typeface="Arial"/>
            </a:endParaRPr>
          </a:p>
        </p:txBody>
      </p:sp>
      <p:sp>
        <p:nvSpPr>
          <p:cNvPr id="124" name="Google Shape;124;p9"/>
          <p:cNvSpPr/>
          <p:nvPr/>
        </p:nvSpPr>
        <p:spPr>
          <a:xfrm>
            <a:off x="1932758" y="1949824"/>
            <a:ext cx="1025912" cy="533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9 8 1</a:t>
            </a:r>
            <a:endParaRPr b="0" i="0" sz="1400" u="none" cap="none" strike="noStrike">
              <a:solidFill>
                <a:srgbClr val="000000"/>
              </a:solidFill>
              <a:latin typeface="Arial"/>
              <a:ea typeface="Arial"/>
              <a:cs typeface="Arial"/>
              <a:sym typeface="Arial"/>
            </a:endParaRPr>
          </a:p>
        </p:txBody>
      </p:sp>
      <p:sp>
        <p:nvSpPr>
          <p:cNvPr id="125" name="Google Shape;125;p9"/>
          <p:cNvSpPr/>
          <p:nvPr/>
        </p:nvSpPr>
        <p:spPr>
          <a:xfrm>
            <a:off x="1734233" y="3096287"/>
            <a:ext cx="1282390" cy="533400"/>
          </a:xfrm>
          <a:prstGeom prst="rect">
            <a:avLst/>
          </a:prstGeom>
          <a:solidFill>
            <a:srgbClr val="EEECE1"/>
          </a:solidFill>
          <a:ln cap="flat" cmpd="sng" w="12700">
            <a:solidFill>
              <a:srgbClr val="F48CA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3 9 2 4</a:t>
            </a:r>
            <a:endParaRPr b="0" i="0" sz="1400" u="none" cap="none" strike="noStrike">
              <a:solidFill>
                <a:srgbClr val="000000"/>
              </a:solidFill>
              <a:latin typeface="Arial"/>
              <a:ea typeface="Arial"/>
              <a:cs typeface="Arial"/>
              <a:sym typeface="Arial"/>
            </a:endParaRPr>
          </a:p>
        </p:txBody>
      </p:sp>
      <p:sp>
        <p:nvSpPr>
          <p:cNvPr id="126" name="Google Shape;126;p9"/>
          <p:cNvSpPr/>
          <p:nvPr/>
        </p:nvSpPr>
        <p:spPr>
          <a:xfrm>
            <a:off x="1492623" y="3629687"/>
            <a:ext cx="1295400" cy="533400"/>
          </a:xfrm>
          <a:prstGeom prst="rect">
            <a:avLst/>
          </a:prstGeom>
          <a:solidFill>
            <a:srgbClr val="EEECE1"/>
          </a:solidFill>
          <a:ln cap="flat" cmpd="sng" w="12700">
            <a:solidFill>
              <a:srgbClr val="F48CA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2 9 4 3</a:t>
            </a:r>
            <a:endParaRPr b="0" i="0" sz="1400" u="none" cap="none" strike="noStrike">
              <a:solidFill>
                <a:srgbClr val="000000"/>
              </a:solidFill>
              <a:latin typeface="Arial"/>
              <a:ea typeface="Arial"/>
              <a:cs typeface="Arial"/>
              <a:sym typeface="Arial"/>
            </a:endParaRPr>
          </a:p>
        </p:txBody>
      </p:sp>
      <p:sp>
        <p:nvSpPr>
          <p:cNvPr id="127" name="Google Shape;127;p9"/>
          <p:cNvSpPr/>
          <p:nvPr/>
        </p:nvSpPr>
        <p:spPr>
          <a:xfrm>
            <a:off x="1277032" y="4159624"/>
            <a:ext cx="1282390" cy="533400"/>
          </a:xfrm>
          <a:prstGeom prst="rect">
            <a:avLst/>
          </a:prstGeom>
          <a:solidFill>
            <a:srgbClr val="EEECE1"/>
          </a:solidFill>
          <a:ln cap="flat" cmpd="sng" w="12700">
            <a:solidFill>
              <a:srgbClr val="F48CA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1 9 6 2</a:t>
            </a:r>
            <a:endParaRPr b="0" i="0" sz="1400" u="none" cap="none" strike="noStrike">
              <a:solidFill>
                <a:srgbClr val="000000"/>
              </a:solidFill>
              <a:latin typeface="Arial"/>
              <a:ea typeface="Arial"/>
              <a:cs typeface="Arial"/>
              <a:sym typeface="Arial"/>
            </a:endParaRPr>
          </a:p>
        </p:txBody>
      </p:sp>
      <p:sp>
        <p:nvSpPr>
          <p:cNvPr id="128" name="Google Shape;128;p9"/>
          <p:cNvSpPr/>
          <p:nvPr/>
        </p:nvSpPr>
        <p:spPr>
          <a:xfrm>
            <a:off x="1277032" y="4693024"/>
            <a:ext cx="1025912" cy="552797"/>
          </a:xfrm>
          <a:prstGeom prst="rect">
            <a:avLst/>
          </a:prstGeom>
          <a:solidFill>
            <a:srgbClr val="EEECE1"/>
          </a:solidFill>
          <a:ln cap="flat" cmpd="sng" w="12700">
            <a:solidFill>
              <a:srgbClr val="F48CA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9 8 1</a:t>
            </a:r>
            <a:endParaRPr b="0" i="0" sz="1400" u="none" cap="none" strike="noStrike">
              <a:solidFill>
                <a:srgbClr val="000000"/>
              </a:solidFill>
              <a:latin typeface="Arial"/>
              <a:ea typeface="Arial"/>
              <a:cs typeface="Arial"/>
              <a:sym typeface="Arial"/>
            </a:endParaRPr>
          </a:p>
        </p:txBody>
      </p:sp>
      <p:sp>
        <p:nvSpPr>
          <p:cNvPr id="129" name="Google Shape;129;p9"/>
          <p:cNvSpPr/>
          <p:nvPr/>
        </p:nvSpPr>
        <p:spPr>
          <a:xfrm>
            <a:off x="1111623" y="5378824"/>
            <a:ext cx="1752600" cy="533400"/>
          </a:xfrm>
          <a:prstGeom prst="rect">
            <a:avLst/>
          </a:prstGeom>
          <a:solidFill>
            <a:srgbClr val="EEECE1"/>
          </a:solidFill>
          <a:ln cap="flat" cmpd="sng" w="12700">
            <a:solidFill>
              <a:srgbClr val="F48CA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24242"/>
              </a:buClr>
              <a:buSzPts val="2400"/>
              <a:buFont typeface="Roboto Condensed"/>
              <a:buNone/>
            </a:pPr>
            <a:r>
              <a:rPr b="1" i="0" lang="en-US" sz="2400" u="none" cap="none" strike="noStrike">
                <a:solidFill>
                  <a:srgbClr val="424242"/>
                </a:solidFill>
                <a:latin typeface="Roboto Condensed"/>
                <a:ea typeface="Roboto Condensed"/>
                <a:cs typeface="Roboto Condensed"/>
                <a:sym typeface="Roboto Condensed"/>
              </a:rPr>
              <a:t>1 2 1 0 5 5 4</a:t>
            </a:r>
            <a:endParaRPr b="0" i="0" sz="1400" u="none" cap="none" strike="noStrike">
              <a:solidFill>
                <a:srgbClr val="000000"/>
              </a:solidFill>
              <a:latin typeface="Arial"/>
              <a:ea typeface="Arial"/>
              <a:cs typeface="Arial"/>
              <a:sym typeface="Arial"/>
            </a:endParaRPr>
          </a:p>
        </p:txBody>
      </p:sp>
      <p:sp>
        <p:nvSpPr>
          <p:cNvPr id="130" name="Google Shape;130;p9"/>
          <p:cNvSpPr/>
          <p:nvPr/>
        </p:nvSpPr>
        <p:spPr>
          <a:xfrm>
            <a:off x="2559422" y="2483224"/>
            <a:ext cx="256817"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4</a:t>
            </a:r>
            <a:endParaRPr b="0" i="0" sz="1400" u="none" cap="none" strike="noStrike">
              <a:solidFill>
                <a:srgbClr val="000000"/>
              </a:solidFill>
              <a:latin typeface="Arial"/>
              <a:ea typeface="Arial"/>
              <a:cs typeface="Arial"/>
              <a:sym typeface="Arial"/>
            </a:endParaRPr>
          </a:p>
        </p:txBody>
      </p:sp>
      <p:sp>
        <p:nvSpPr>
          <p:cNvPr id="131" name="Google Shape;131;p9"/>
          <p:cNvSpPr/>
          <p:nvPr/>
        </p:nvSpPr>
        <p:spPr>
          <a:xfrm>
            <a:off x="2275067" y="2483224"/>
            <a:ext cx="284356"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3</a:t>
            </a:r>
            <a:endParaRPr b="0" i="0" sz="1400" u="none" cap="none" strike="noStrike">
              <a:solidFill>
                <a:srgbClr val="000000"/>
              </a:solidFill>
              <a:latin typeface="Arial"/>
              <a:ea typeface="Arial"/>
              <a:cs typeface="Arial"/>
              <a:sym typeface="Arial"/>
            </a:endParaRPr>
          </a:p>
        </p:txBody>
      </p:sp>
      <p:sp>
        <p:nvSpPr>
          <p:cNvPr id="132" name="Google Shape;132;p9"/>
          <p:cNvSpPr/>
          <p:nvPr/>
        </p:nvSpPr>
        <p:spPr>
          <a:xfrm>
            <a:off x="2054240" y="2483224"/>
            <a:ext cx="276583"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2</a:t>
            </a:r>
            <a:endParaRPr b="0" i="0" sz="1400" u="none" cap="none" strike="noStrike">
              <a:solidFill>
                <a:srgbClr val="000000"/>
              </a:solidFill>
              <a:latin typeface="Arial"/>
              <a:ea typeface="Arial"/>
              <a:cs typeface="Arial"/>
              <a:sym typeface="Arial"/>
            </a:endParaRPr>
          </a:p>
        </p:txBody>
      </p:sp>
      <p:sp>
        <p:nvSpPr>
          <p:cNvPr id="133" name="Google Shape;133;p9"/>
          <p:cNvSpPr/>
          <p:nvPr/>
        </p:nvSpPr>
        <p:spPr>
          <a:xfrm>
            <a:off x="1797423" y="2483224"/>
            <a:ext cx="256817"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1</a:t>
            </a:r>
            <a:endParaRPr b="0" i="0" sz="1400" u="none" cap="none" strike="noStrike">
              <a:solidFill>
                <a:srgbClr val="000000"/>
              </a:solidFill>
              <a:latin typeface="Arial"/>
              <a:ea typeface="Arial"/>
              <a:cs typeface="Arial"/>
              <a:sym typeface="Arial"/>
            </a:endParaRPr>
          </a:p>
        </p:txBody>
      </p:sp>
      <p:sp>
        <p:nvSpPr>
          <p:cNvPr id="134" name="Google Shape;134;p9"/>
          <p:cNvSpPr/>
          <p:nvPr/>
        </p:nvSpPr>
        <p:spPr>
          <a:xfrm>
            <a:off x="6964165" y="1949824"/>
            <a:ext cx="1025912" cy="533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9 8 1</a:t>
            </a:r>
            <a:endParaRPr b="0" i="0" sz="1400" u="none" cap="none" strike="noStrike">
              <a:solidFill>
                <a:srgbClr val="000000"/>
              </a:solidFill>
              <a:latin typeface="Arial"/>
              <a:ea typeface="Arial"/>
              <a:cs typeface="Arial"/>
              <a:sym typeface="Arial"/>
            </a:endParaRPr>
          </a:p>
        </p:txBody>
      </p:sp>
      <p:sp>
        <p:nvSpPr>
          <p:cNvPr id="135" name="Google Shape;135;p9"/>
          <p:cNvSpPr/>
          <p:nvPr/>
        </p:nvSpPr>
        <p:spPr>
          <a:xfrm>
            <a:off x="6676430" y="4616824"/>
            <a:ext cx="1282390" cy="533400"/>
          </a:xfrm>
          <a:prstGeom prst="rect">
            <a:avLst/>
          </a:prstGeom>
          <a:solidFill>
            <a:srgbClr val="EEECE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3 9 2 4</a:t>
            </a:r>
            <a:endParaRPr b="0" i="0" sz="1400" u="none" cap="none" strike="noStrike">
              <a:solidFill>
                <a:srgbClr val="000000"/>
              </a:solidFill>
              <a:latin typeface="Arial"/>
              <a:ea typeface="Arial"/>
              <a:cs typeface="Arial"/>
              <a:sym typeface="Arial"/>
            </a:endParaRPr>
          </a:p>
        </p:txBody>
      </p:sp>
      <p:sp>
        <p:nvSpPr>
          <p:cNvPr id="136" name="Google Shape;136;p9"/>
          <p:cNvSpPr/>
          <p:nvPr/>
        </p:nvSpPr>
        <p:spPr>
          <a:xfrm>
            <a:off x="6447830" y="4083424"/>
            <a:ext cx="1295400" cy="533400"/>
          </a:xfrm>
          <a:prstGeom prst="rect">
            <a:avLst/>
          </a:prstGeom>
          <a:solidFill>
            <a:srgbClr val="EEECE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2 9 4 3</a:t>
            </a:r>
            <a:endParaRPr b="0" i="0" sz="1400" u="none" cap="none" strike="noStrike">
              <a:solidFill>
                <a:srgbClr val="000000"/>
              </a:solidFill>
              <a:latin typeface="Arial"/>
              <a:ea typeface="Arial"/>
              <a:cs typeface="Arial"/>
              <a:sym typeface="Arial"/>
            </a:endParaRPr>
          </a:p>
        </p:txBody>
      </p:sp>
      <p:sp>
        <p:nvSpPr>
          <p:cNvPr id="137" name="Google Shape;137;p9"/>
          <p:cNvSpPr/>
          <p:nvPr/>
        </p:nvSpPr>
        <p:spPr>
          <a:xfrm>
            <a:off x="6219230" y="3550024"/>
            <a:ext cx="1282390" cy="533400"/>
          </a:xfrm>
          <a:prstGeom prst="rect">
            <a:avLst/>
          </a:prstGeom>
          <a:solidFill>
            <a:srgbClr val="EEECE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1 9 6 2</a:t>
            </a:r>
            <a:endParaRPr b="0" i="0" sz="1400" u="none" cap="none" strike="noStrike">
              <a:solidFill>
                <a:srgbClr val="000000"/>
              </a:solidFill>
              <a:latin typeface="Arial"/>
              <a:ea typeface="Arial"/>
              <a:cs typeface="Arial"/>
              <a:sym typeface="Arial"/>
            </a:endParaRPr>
          </a:p>
        </p:txBody>
      </p:sp>
      <p:sp>
        <p:nvSpPr>
          <p:cNvPr id="138" name="Google Shape;138;p9"/>
          <p:cNvSpPr/>
          <p:nvPr/>
        </p:nvSpPr>
        <p:spPr>
          <a:xfrm>
            <a:off x="6219230" y="3073427"/>
            <a:ext cx="1004708" cy="476597"/>
          </a:xfrm>
          <a:prstGeom prst="rect">
            <a:avLst/>
          </a:prstGeom>
          <a:solidFill>
            <a:srgbClr val="EEECE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9 8 1</a:t>
            </a:r>
            <a:endParaRPr b="0" i="0" sz="1400" u="none" cap="none" strike="noStrike">
              <a:solidFill>
                <a:srgbClr val="000000"/>
              </a:solidFill>
              <a:latin typeface="Arial"/>
              <a:ea typeface="Arial"/>
              <a:cs typeface="Arial"/>
              <a:sym typeface="Arial"/>
            </a:endParaRPr>
          </a:p>
        </p:txBody>
      </p:sp>
      <p:sp>
        <p:nvSpPr>
          <p:cNvPr id="139" name="Google Shape;139;p9"/>
          <p:cNvSpPr/>
          <p:nvPr/>
        </p:nvSpPr>
        <p:spPr>
          <a:xfrm>
            <a:off x="6143030" y="5302624"/>
            <a:ext cx="1752600" cy="533400"/>
          </a:xfrm>
          <a:prstGeom prst="rect">
            <a:avLst/>
          </a:prstGeom>
          <a:solidFill>
            <a:srgbClr val="EEECE1"/>
          </a:solidFill>
          <a:ln cap="flat" cmpd="sng" w="127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24242"/>
              </a:buClr>
              <a:buSzPts val="2400"/>
              <a:buFont typeface="Roboto Condensed"/>
              <a:buNone/>
            </a:pPr>
            <a:r>
              <a:rPr b="1" i="0" lang="en-US" sz="2400" u="none" cap="none" strike="noStrike">
                <a:solidFill>
                  <a:srgbClr val="424242"/>
                </a:solidFill>
                <a:latin typeface="Roboto Condensed"/>
                <a:ea typeface="Roboto Condensed"/>
                <a:cs typeface="Roboto Condensed"/>
                <a:sym typeface="Roboto Condensed"/>
              </a:rPr>
              <a:t>1 2 1 0 5 5 4</a:t>
            </a:r>
            <a:endParaRPr b="0" i="0" sz="1400" u="none" cap="none" strike="noStrike">
              <a:solidFill>
                <a:srgbClr val="000000"/>
              </a:solidFill>
              <a:latin typeface="Arial"/>
              <a:ea typeface="Arial"/>
              <a:cs typeface="Arial"/>
              <a:sym typeface="Arial"/>
            </a:endParaRPr>
          </a:p>
        </p:txBody>
      </p:sp>
      <p:sp>
        <p:nvSpPr>
          <p:cNvPr id="140" name="Google Shape;140;p9"/>
          <p:cNvSpPr/>
          <p:nvPr/>
        </p:nvSpPr>
        <p:spPr>
          <a:xfrm>
            <a:off x="7590829" y="2483224"/>
            <a:ext cx="256817"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4</a:t>
            </a:r>
            <a:endParaRPr b="0" i="0" sz="1400" u="none" cap="none" strike="noStrike">
              <a:solidFill>
                <a:srgbClr val="000000"/>
              </a:solidFill>
              <a:latin typeface="Arial"/>
              <a:ea typeface="Arial"/>
              <a:cs typeface="Arial"/>
              <a:sym typeface="Arial"/>
            </a:endParaRPr>
          </a:p>
        </p:txBody>
      </p:sp>
      <p:sp>
        <p:nvSpPr>
          <p:cNvPr id="141" name="Google Shape;141;p9"/>
          <p:cNvSpPr/>
          <p:nvPr/>
        </p:nvSpPr>
        <p:spPr>
          <a:xfrm>
            <a:off x="7306474" y="2483224"/>
            <a:ext cx="284356"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3</a:t>
            </a:r>
            <a:endParaRPr b="0" i="0" sz="1400" u="none" cap="none" strike="noStrike">
              <a:solidFill>
                <a:srgbClr val="000000"/>
              </a:solidFill>
              <a:latin typeface="Arial"/>
              <a:ea typeface="Arial"/>
              <a:cs typeface="Arial"/>
              <a:sym typeface="Arial"/>
            </a:endParaRPr>
          </a:p>
        </p:txBody>
      </p:sp>
      <p:sp>
        <p:nvSpPr>
          <p:cNvPr id="142" name="Google Shape;142;p9"/>
          <p:cNvSpPr/>
          <p:nvPr/>
        </p:nvSpPr>
        <p:spPr>
          <a:xfrm>
            <a:off x="7085647" y="2483224"/>
            <a:ext cx="276583"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2</a:t>
            </a:r>
            <a:endParaRPr b="0" i="0" sz="1400" u="none" cap="none" strike="noStrike">
              <a:solidFill>
                <a:srgbClr val="000000"/>
              </a:solidFill>
              <a:latin typeface="Arial"/>
              <a:ea typeface="Arial"/>
              <a:cs typeface="Arial"/>
              <a:sym typeface="Arial"/>
            </a:endParaRPr>
          </a:p>
        </p:txBody>
      </p:sp>
      <p:sp>
        <p:nvSpPr>
          <p:cNvPr id="143" name="Google Shape;143;p9"/>
          <p:cNvSpPr/>
          <p:nvPr/>
        </p:nvSpPr>
        <p:spPr>
          <a:xfrm>
            <a:off x="6828830" y="2483224"/>
            <a:ext cx="256817"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Roboto Condensed"/>
              <a:buNone/>
            </a:pPr>
            <a:r>
              <a:rPr b="1" i="0" lang="en-US" sz="2400" u="none" cap="none" strike="noStrike">
                <a:solidFill>
                  <a:srgbClr val="000000"/>
                </a:solidFill>
                <a:latin typeface="Roboto Condensed"/>
                <a:ea typeface="Roboto Condensed"/>
                <a:cs typeface="Roboto Condensed"/>
                <a:sym typeface="Roboto Condensed"/>
              </a:rPr>
              <a:t>1</a:t>
            </a:r>
            <a:endParaRPr b="0" i="0" sz="1400" u="none" cap="none" strike="noStrike">
              <a:solidFill>
                <a:srgbClr val="000000"/>
              </a:solidFill>
              <a:latin typeface="Arial"/>
              <a:ea typeface="Arial"/>
              <a:cs typeface="Arial"/>
              <a:sym typeface="Arial"/>
            </a:endParaRPr>
          </a:p>
        </p:txBody>
      </p:sp>
      <p:cxnSp>
        <p:nvCxnSpPr>
          <p:cNvPr id="144" name="Google Shape;144;p9"/>
          <p:cNvCxnSpPr/>
          <p:nvPr/>
        </p:nvCxnSpPr>
        <p:spPr>
          <a:xfrm>
            <a:off x="1290549" y="2940424"/>
            <a:ext cx="1954674" cy="0"/>
          </a:xfrm>
          <a:prstGeom prst="straightConnector1">
            <a:avLst/>
          </a:prstGeom>
          <a:noFill/>
          <a:ln cap="flat" cmpd="sng" w="19050">
            <a:solidFill>
              <a:srgbClr val="C00000"/>
            </a:solidFill>
            <a:prstDash val="solid"/>
            <a:round/>
            <a:headEnd len="sm" w="sm" type="none"/>
            <a:tailEnd len="sm" w="sm" type="none"/>
          </a:ln>
        </p:spPr>
      </p:cxnSp>
      <p:cxnSp>
        <p:nvCxnSpPr>
          <p:cNvPr id="145" name="Google Shape;145;p9"/>
          <p:cNvCxnSpPr/>
          <p:nvPr/>
        </p:nvCxnSpPr>
        <p:spPr>
          <a:xfrm>
            <a:off x="789758" y="5245821"/>
            <a:ext cx="2286000" cy="0"/>
          </a:xfrm>
          <a:prstGeom prst="straightConnector1">
            <a:avLst/>
          </a:prstGeom>
          <a:noFill/>
          <a:ln cap="flat" cmpd="sng" w="19050">
            <a:solidFill>
              <a:srgbClr val="C00000"/>
            </a:solidFill>
            <a:prstDash val="solid"/>
            <a:round/>
            <a:headEnd len="sm" w="sm" type="none"/>
            <a:tailEnd len="sm" w="sm" type="none"/>
          </a:ln>
        </p:spPr>
      </p:cxnSp>
      <p:cxnSp>
        <p:nvCxnSpPr>
          <p:cNvPr id="146" name="Google Shape;146;p9"/>
          <p:cNvCxnSpPr/>
          <p:nvPr/>
        </p:nvCxnSpPr>
        <p:spPr>
          <a:xfrm>
            <a:off x="6066830" y="2940424"/>
            <a:ext cx="2133600" cy="0"/>
          </a:xfrm>
          <a:prstGeom prst="straightConnector1">
            <a:avLst/>
          </a:prstGeom>
          <a:noFill/>
          <a:ln cap="flat" cmpd="sng" w="19050">
            <a:solidFill>
              <a:srgbClr val="C00000"/>
            </a:solidFill>
            <a:prstDash val="solid"/>
            <a:round/>
            <a:headEnd len="sm" w="sm" type="none"/>
            <a:tailEnd len="sm" w="sm" type="none"/>
          </a:ln>
        </p:spPr>
      </p:cxnSp>
      <p:cxnSp>
        <p:nvCxnSpPr>
          <p:cNvPr id="147" name="Google Shape;147;p9"/>
          <p:cNvCxnSpPr/>
          <p:nvPr/>
        </p:nvCxnSpPr>
        <p:spPr>
          <a:xfrm>
            <a:off x="5914430" y="5150224"/>
            <a:ext cx="2514600" cy="0"/>
          </a:xfrm>
          <a:prstGeom prst="straightConnector1">
            <a:avLst/>
          </a:prstGeom>
          <a:noFill/>
          <a:ln cap="flat" cmpd="sng" w="19050">
            <a:solidFill>
              <a:srgbClr val="C00000"/>
            </a:solidFill>
            <a:prstDash val="solid"/>
            <a:round/>
            <a:headEnd len="sm" w="sm" type="none"/>
            <a:tailEnd len="sm" w="sm" type="none"/>
          </a:ln>
        </p:spPr>
      </p:cxnSp>
      <p:grpSp>
        <p:nvGrpSpPr>
          <p:cNvPr id="148" name="Google Shape;148;p9"/>
          <p:cNvGrpSpPr/>
          <p:nvPr/>
        </p:nvGrpSpPr>
        <p:grpSpPr>
          <a:xfrm>
            <a:off x="4710597" y="1208462"/>
            <a:ext cx="100584" cy="4816499"/>
            <a:chOff x="4710597" y="1208462"/>
            <a:chExt cx="100584" cy="4816499"/>
          </a:xfrm>
        </p:grpSpPr>
        <p:cxnSp>
          <p:nvCxnSpPr>
            <p:cNvPr id="149" name="Google Shape;149;p9"/>
            <p:cNvCxnSpPr/>
            <p:nvPr/>
          </p:nvCxnSpPr>
          <p:spPr>
            <a:xfrm>
              <a:off x="4760889" y="1253462"/>
              <a:ext cx="0" cy="4771499"/>
            </a:xfrm>
            <a:prstGeom prst="straightConnector1">
              <a:avLst/>
            </a:prstGeom>
            <a:noFill/>
            <a:ln cap="flat" cmpd="sng" w="19050">
              <a:solidFill>
                <a:srgbClr val="424242"/>
              </a:solidFill>
              <a:prstDash val="solid"/>
              <a:miter lim="800000"/>
              <a:headEnd len="sm" w="sm" type="none"/>
              <a:tailEnd len="sm" w="sm" type="none"/>
            </a:ln>
          </p:spPr>
        </p:cxnSp>
        <p:sp>
          <p:nvSpPr>
            <p:cNvPr id="150" name="Google Shape;150;p9"/>
            <p:cNvSpPr/>
            <p:nvPr/>
          </p:nvSpPr>
          <p:spPr>
            <a:xfrm>
              <a:off x="4710597" y="1208462"/>
              <a:ext cx="100584" cy="91440"/>
            </a:xfrm>
            <a:prstGeom prst="ellipse">
              <a:avLst/>
            </a:prstGeom>
            <a:solidFill>
              <a:srgbClr val="424242"/>
            </a:solidFill>
            <a:ln cap="flat" cmpd="sng" w="12700">
              <a:solidFill>
                <a:srgbClr val="42424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boto Condensed"/>
                <a:ea typeface="Roboto Condensed"/>
                <a:cs typeface="Roboto Condensed"/>
                <a:sym typeface="Roboto Condense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par>
                                <p:cTn fill="hold" nodeType="with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par>
                                <p:cTn fill="hold" nodeType="with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0"/>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Introduction		</a:t>
            </a:r>
            <a:endParaRPr/>
          </a:p>
        </p:txBody>
      </p:sp>
      <p:sp>
        <p:nvSpPr>
          <p:cNvPr id="156" name="Google Shape;156;p10"/>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rPr b="1" lang="en-US"/>
              <a:t>What is an algorithm?</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Algorithms are </a:t>
            </a:r>
            <a:r>
              <a:rPr b="1" lang="en-US">
                <a:solidFill>
                  <a:srgbClr val="C00000"/>
                </a:solidFill>
              </a:rPr>
              <a:t>the ideas </a:t>
            </a:r>
            <a:r>
              <a:rPr lang="en-US"/>
              <a:t>behind computer programs.</a:t>
            </a:r>
            <a:endParaRPr/>
          </a:p>
          <a:p>
            <a:pPr indent="-190500" lvl="0" marL="3429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An algorithm is the thing which </a:t>
            </a:r>
            <a:r>
              <a:rPr b="1" lang="en-US">
                <a:solidFill>
                  <a:srgbClr val="C00000"/>
                </a:solidFill>
              </a:rPr>
              <a:t>stays the same </a:t>
            </a:r>
            <a:r>
              <a:rPr lang="en-US"/>
              <a:t>whether the program is in Pascal running on a Cray in New York or is in BASIC running on a Macintosh in Kathmandu!</a:t>
            </a:r>
            <a:endParaRPr/>
          </a:p>
          <a:p>
            <a:pPr indent="-190500" lvl="0" marL="3429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An algorithm has to </a:t>
            </a:r>
            <a:r>
              <a:rPr b="1" lang="en-US">
                <a:solidFill>
                  <a:srgbClr val="C00000"/>
                </a:solidFill>
              </a:rPr>
              <a:t>solve a general, well-specified problem</a:t>
            </a:r>
            <a:r>
              <a:rPr lang="en-US"/>
              <a:t>.  </a:t>
            </a:r>
            <a:endParaRPr/>
          </a:p>
          <a:p>
            <a:pPr indent="-190500" lvl="0" marL="3429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An algorithm is any well-defined computational procedure </a:t>
            </a:r>
            <a:r>
              <a:rPr b="1" lang="en-US">
                <a:solidFill>
                  <a:srgbClr val="C00000"/>
                </a:solidFill>
              </a:rPr>
              <a:t>that takes some value</a:t>
            </a:r>
            <a:r>
              <a:rPr lang="en-US"/>
              <a:t>, or set of values, as input and </a:t>
            </a:r>
            <a:r>
              <a:rPr b="1" lang="en-US">
                <a:solidFill>
                  <a:srgbClr val="C00000"/>
                </a:solidFill>
              </a:rPr>
              <a:t>produces some value</a:t>
            </a:r>
            <a:r>
              <a:rPr lang="en-US"/>
              <a:t>, or set of values, as output.  An algorithm is thus a sequence of computational steps that </a:t>
            </a:r>
            <a:r>
              <a:rPr b="1" lang="en-US">
                <a:solidFill>
                  <a:srgbClr val="C00000"/>
                </a:solidFill>
              </a:rPr>
              <a:t>transform the input into the output</a:t>
            </a:r>
            <a:r>
              <a:rPr lang="en-US"/>
              <a:t>.</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1"/>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t/>
            </a:r>
            <a:endParaRPr/>
          </a:p>
        </p:txBody>
      </p:sp>
      <p:sp>
        <p:nvSpPr>
          <p:cNvPr id="162" name="Google Shape;162;p11"/>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rPr b="1" lang="en-US"/>
              <a:t>What is an algorithm?</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We can also view an algorithm as </a:t>
            </a:r>
            <a:r>
              <a:rPr b="1" lang="en-US">
                <a:solidFill>
                  <a:srgbClr val="C00000"/>
                </a:solidFill>
              </a:rPr>
              <a:t>a tool for solving</a:t>
            </a:r>
            <a:r>
              <a:rPr lang="en-US"/>
              <a:t> a well-specified computational problem. The statement of the problem specifies in general terms the desired </a:t>
            </a:r>
            <a:r>
              <a:rPr b="1" lang="en-US">
                <a:solidFill>
                  <a:srgbClr val="C00000"/>
                </a:solidFill>
              </a:rPr>
              <a:t>input/output relationship</a:t>
            </a:r>
            <a:r>
              <a:rPr lang="en-US"/>
              <a:t>. The algorithm describes a specific computational procedure for achieving that input/output relationship.</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An algorithmic problem is specified by describing the complete set of instances it must work on and what desired properties the output must have.</a:t>
            </a:r>
            <a:endParaRPr/>
          </a:p>
          <a:p>
            <a:pPr indent="0" lvl="0" marL="0" rtl="0" algn="just">
              <a:lnSpc>
                <a:spcPct val="90000"/>
              </a:lnSpc>
              <a:spcBef>
                <a:spcPts val="1000"/>
              </a:spcBef>
              <a:spcAft>
                <a:spcPts val="0"/>
              </a:spcAft>
              <a:buSzPts val="2400"/>
              <a:buNone/>
            </a:pPr>
            <a:r>
              <a:rPr lang="en-US"/>
              <a:t>For example, we might need to sort a sequence of numbers into nondecreasing order.</a:t>
            </a:r>
            <a:endParaRPr/>
          </a:p>
          <a:p>
            <a:pPr indent="0" lvl="0" marL="0" rtl="0" algn="just">
              <a:lnSpc>
                <a:spcPct val="90000"/>
              </a:lnSpc>
              <a:spcBef>
                <a:spcPts val="1000"/>
              </a:spcBef>
              <a:spcAft>
                <a:spcPts val="0"/>
              </a:spcAft>
              <a:buSzPts val="2400"/>
              <a:buNone/>
            </a:pPr>
            <a:r>
              <a:rPr lang="en-US"/>
              <a:t>Here is how we formally define the sorting problem:</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pic>
        <p:nvPicPr>
          <p:cNvPr id="163" name="Google Shape;163;p11"/>
          <p:cNvPicPr preferRelativeResize="0"/>
          <p:nvPr/>
        </p:nvPicPr>
        <p:blipFill rotWithShape="1">
          <a:blip r:embed="rId3">
            <a:alphaModFix/>
          </a:blip>
          <a:srcRect b="0" l="0" r="0" t="0"/>
          <a:stretch/>
        </p:blipFill>
        <p:spPr>
          <a:xfrm>
            <a:off x="1358284" y="4738884"/>
            <a:ext cx="8696012" cy="11571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animEffect filter="fade" transition="in">
                                      <p:cBhvr>
                                        <p:cTn dur="500"/>
                                        <p:tgtEl>
                                          <p:spTgt spid="1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animEffect filter="fade" transition="in">
                                      <p:cBhvr>
                                        <p:cTn dur="500"/>
                                        <p:tgtEl>
                                          <p:spTgt spid="1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animEffect filter="fade" transition="in">
                                      <p:cBhvr>
                                        <p:cTn dur="500"/>
                                        <p:tgtEl>
                                          <p:spTgt spid="1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animEffect filter="fade" transition="in">
                                      <p:cBhvr>
                                        <p:cTn dur="500"/>
                                        <p:tgtEl>
                                          <p:spTgt spid="1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animEffect filter="fade" transition="in">
                                      <p:cBhvr>
                                        <p:cTn dur="500"/>
                                        <p:tgtEl>
                                          <p:spTgt spid="1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animEffect filter="fade" transition="in">
                                      <p:cBhvr>
                                        <p:cTn dur="500"/>
                                        <p:tgtEl>
                                          <p:spTgt spid="16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2"/>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t/>
            </a:r>
            <a:endParaRPr/>
          </a:p>
        </p:txBody>
      </p:sp>
      <p:sp>
        <p:nvSpPr>
          <p:cNvPr id="169" name="Google Shape;169;p12"/>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rPr b="1" lang="en-US"/>
              <a:t>Instance of a problem</a:t>
            </a:r>
            <a:endParaRPr/>
          </a:p>
          <a:p>
            <a:pPr indent="-265113" lvl="0" marL="265113" rtl="0" algn="just">
              <a:lnSpc>
                <a:spcPct val="90000"/>
              </a:lnSpc>
              <a:spcBef>
                <a:spcPts val="1000"/>
              </a:spcBef>
              <a:spcAft>
                <a:spcPts val="0"/>
              </a:spcAft>
              <a:buSzPts val="2400"/>
              <a:buFont typeface="Noto Sans Symbols"/>
              <a:buChar char="⮚"/>
            </a:pPr>
            <a:r>
              <a:rPr lang="en-US"/>
              <a:t>For example, given the input sequence (31, 41, 59, 26, 41, 58), a sorting algorithm returns as output the sequence (26, 31, 41, 41, 58, 59). Such an input sequence is called an instance of the sorting problem.</a:t>
            </a:r>
            <a:endParaRPr/>
          </a:p>
          <a:p>
            <a:pPr indent="-265113" lvl="0" marL="265113" rtl="0" algn="just">
              <a:lnSpc>
                <a:spcPct val="90000"/>
              </a:lnSpc>
              <a:spcBef>
                <a:spcPts val="1000"/>
              </a:spcBef>
              <a:spcAft>
                <a:spcPts val="0"/>
              </a:spcAft>
              <a:buSzPts val="2400"/>
              <a:buFont typeface="Noto Sans Symbols"/>
              <a:buChar char="⮚"/>
            </a:pPr>
            <a:r>
              <a:rPr lang="en-US"/>
              <a:t>In general, an instance of a problem consists of the input (satisfying whatever constraints are imposed in the problem statement) needed to compute a solution to the problem.</a:t>
            </a:r>
            <a:endParaRPr/>
          </a:p>
          <a:p>
            <a:pPr indent="0" lvl="0" marL="0" rtl="0" algn="just">
              <a:lnSpc>
                <a:spcPct val="90000"/>
              </a:lnSpc>
              <a:spcBef>
                <a:spcPts val="1000"/>
              </a:spcBef>
              <a:spcAft>
                <a:spcPts val="0"/>
              </a:spcAft>
              <a:buSzPts val="2400"/>
              <a:buNone/>
            </a:pPr>
            <a:r>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animEffect filter="fade" transition="in">
                                      <p:cBhvr>
                                        <p:cTn dur="500"/>
                                        <p:tgtEl>
                                          <p:spTgt spid="1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xEl>
                                              <p:pRg end="1" st="1"/>
                                            </p:txEl>
                                          </p:spTgt>
                                        </p:tgtEl>
                                        <p:attrNameLst>
                                          <p:attrName>style.visibility</p:attrName>
                                        </p:attrNameLst>
                                      </p:cBhvr>
                                      <p:to>
                                        <p:strVal val="visible"/>
                                      </p:to>
                                    </p:set>
                                    <p:animEffect filter="fade" transition="in">
                                      <p:cBhvr>
                                        <p:cTn dur="500"/>
                                        <p:tgtEl>
                                          <p:spTgt spid="1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xEl>
                                              <p:pRg end="2" st="2"/>
                                            </p:txEl>
                                          </p:spTgt>
                                        </p:tgtEl>
                                        <p:attrNameLst>
                                          <p:attrName>style.visibility</p:attrName>
                                        </p:attrNameLst>
                                      </p:cBhvr>
                                      <p:to>
                                        <p:strVal val="visible"/>
                                      </p:to>
                                    </p:set>
                                    <p:animEffect filter="fade" transition="in">
                                      <p:cBhvr>
                                        <p:cTn dur="500"/>
                                        <p:tgtEl>
                                          <p:spTgt spid="1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xEl>
                                              <p:pRg end="3" st="3"/>
                                            </p:txEl>
                                          </p:spTgt>
                                        </p:tgtEl>
                                        <p:attrNameLst>
                                          <p:attrName>style.visibility</p:attrName>
                                        </p:attrNameLst>
                                      </p:cBhvr>
                                      <p:to>
                                        <p:strVal val="visible"/>
                                      </p:to>
                                    </p:set>
                                    <p:animEffect filter="fade" transition="in">
                                      <p:cBhvr>
                                        <p:cTn dur="500"/>
                                        <p:tgtEl>
                                          <p:spTgt spid="16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When can we say that the algorithm is correct?</a:t>
            </a:r>
            <a:endParaRPr/>
          </a:p>
        </p:txBody>
      </p:sp>
      <p:sp>
        <p:nvSpPr>
          <p:cNvPr id="175" name="Google Shape;175;p13"/>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1000"/>
              </a:spcBef>
              <a:spcAft>
                <a:spcPts val="0"/>
              </a:spcAft>
              <a:buClr>
                <a:schemeClr val="accent6"/>
              </a:buClr>
              <a:buSzPts val="2400"/>
              <a:buFont typeface="Noto Sans Symbols"/>
              <a:buChar char="⮚"/>
            </a:pPr>
            <a:r>
              <a:rPr lang="en-US"/>
              <a:t>An algorithm is said to be </a:t>
            </a:r>
            <a:r>
              <a:rPr b="1" lang="en-US">
                <a:solidFill>
                  <a:srgbClr val="C00000"/>
                </a:solidFill>
              </a:rPr>
              <a:t>correct</a:t>
            </a:r>
            <a:r>
              <a:rPr lang="en-US"/>
              <a:t> if, for every input instance, it halts with the correct output. </a:t>
            </a:r>
            <a:endParaRPr/>
          </a:p>
          <a:p>
            <a:pPr indent="-190500" lvl="0" marL="3429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We say that a correct algorithm solves the given computational problem. </a:t>
            </a:r>
            <a:endParaRPr/>
          </a:p>
          <a:p>
            <a:pPr indent="-190500" lvl="0" marL="3429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An </a:t>
            </a:r>
            <a:r>
              <a:rPr b="1" lang="en-US">
                <a:solidFill>
                  <a:srgbClr val="C00000"/>
                </a:solidFill>
              </a:rPr>
              <a:t>incorrect</a:t>
            </a:r>
            <a:r>
              <a:rPr lang="en-US"/>
              <a:t> algorithm </a:t>
            </a:r>
            <a:r>
              <a:rPr b="1" lang="en-US">
                <a:solidFill>
                  <a:srgbClr val="C00000"/>
                </a:solidFill>
              </a:rPr>
              <a:t>might not halt at all</a:t>
            </a:r>
            <a:r>
              <a:rPr lang="en-US"/>
              <a:t> on some input instances, or it might halt with an incorrect answer. </a:t>
            </a:r>
            <a:endParaRPr/>
          </a:p>
          <a:p>
            <a:pPr indent="-190500" lvl="0" marL="3429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Contrary to what you might expect, incorrect algorithms can sometimes be useful, if we can </a:t>
            </a:r>
            <a:r>
              <a:rPr b="1" lang="en-US">
                <a:solidFill>
                  <a:srgbClr val="C00000"/>
                </a:solidFill>
              </a:rPr>
              <a:t>control their error rate.</a:t>
            </a:r>
            <a:endParaRPr/>
          </a:p>
          <a:p>
            <a:pPr indent="-190500" lvl="0" marL="3429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Ordinarily, however, we shall be concerned only with correct algorithms.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animEffect filter="fade" transition="in">
                                      <p:cBhvr>
                                        <p:cTn dur="500"/>
                                        <p:tgtEl>
                                          <p:spTgt spid="1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animEffect filter="fade" transition="in">
                                      <p:cBhvr>
                                        <p:cTn dur="500"/>
                                        <p:tgtEl>
                                          <p:spTgt spid="1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animEffect filter="fade" transition="in">
                                      <p:cBhvr>
                                        <p:cTn dur="500"/>
                                        <p:tgtEl>
                                          <p:spTgt spid="1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3" st="3"/>
                                            </p:txEl>
                                          </p:spTgt>
                                        </p:tgtEl>
                                        <p:attrNameLst>
                                          <p:attrName>style.visibility</p:attrName>
                                        </p:attrNameLst>
                                      </p:cBhvr>
                                      <p:to>
                                        <p:strVal val="visible"/>
                                      </p:to>
                                    </p:set>
                                    <p:animEffect filter="fade" transition="in">
                                      <p:cBhvr>
                                        <p:cTn dur="500"/>
                                        <p:tgtEl>
                                          <p:spTgt spid="1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4" st="4"/>
                                            </p:txEl>
                                          </p:spTgt>
                                        </p:tgtEl>
                                        <p:attrNameLst>
                                          <p:attrName>style.visibility</p:attrName>
                                        </p:attrNameLst>
                                      </p:cBhvr>
                                      <p:to>
                                        <p:strVal val="visible"/>
                                      </p:to>
                                    </p:set>
                                    <p:animEffect filter="fade" transition="in">
                                      <p:cBhvr>
                                        <p:cTn dur="500"/>
                                        <p:tgtEl>
                                          <p:spTgt spid="17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5" st="5"/>
                                            </p:txEl>
                                          </p:spTgt>
                                        </p:tgtEl>
                                        <p:attrNameLst>
                                          <p:attrName>style.visibility</p:attrName>
                                        </p:attrNameLst>
                                      </p:cBhvr>
                                      <p:to>
                                        <p:strVal val="visible"/>
                                      </p:to>
                                    </p:set>
                                    <p:animEffect filter="fade" transition="in">
                                      <p:cBhvr>
                                        <p:cTn dur="500"/>
                                        <p:tgtEl>
                                          <p:spTgt spid="17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6" st="6"/>
                                            </p:txEl>
                                          </p:spTgt>
                                        </p:tgtEl>
                                        <p:attrNameLst>
                                          <p:attrName>style.visibility</p:attrName>
                                        </p:attrNameLst>
                                      </p:cBhvr>
                                      <p:to>
                                        <p:strVal val="visible"/>
                                      </p:to>
                                    </p:set>
                                    <p:animEffect filter="fade" transition="in">
                                      <p:cBhvr>
                                        <p:cTn dur="500"/>
                                        <p:tgtEl>
                                          <p:spTgt spid="17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7" st="7"/>
                                            </p:txEl>
                                          </p:spTgt>
                                        </p:tgtEl>
                                        <p:attrNameLst>
                                          <p:attrName>style.visibility</p:attrName>
                                        </p:attrNameLst>
                                      </p:cBhvr>
                                      <p:to>
                                        <p:strVal val="visible"/>
                                      </p:to>
                                    </p:set>
                                    <p:animEffect filter="fade" transition="in">
                                      <p:cBhvr>
                                        <p:cTn dur="500"/>
                                        <p:tgtEl>
                                          <p:spTgt spid="17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xEl>
                                              <p:pRg end="8" st="8"/>
                                            </p:txEl>
                                          </p:spTgt>
                                        </p:tgtEl>
                                        <p:attrNameLst>
                                          <p:attrName>style.visibility</p:attrName>
                                        </p:attrNameLst>
                                      </p:cBhvr>
                                      <p:to>
                                        <p:strVal val="visible"/>
                                      </p:to>
                                    </p:set>
                                    <p:animEffect filter="fade" transition="in">
                                      <p:cBhvr>
                                        <p:cTn dur="500"/>
                                        <p:tgtEl>
                                          <p:spTgt spid="17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Design of an algorithm</a:t>
            </a:r>
            <a:endParaRPr/>
          </a:p>
        </p:txBody>
      </p:sp>
      <p:sp>
        <p:nvSpPr>
          <p:cNvPr id="181" name="Google Shape;181;p14"/>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rPr lang="en-US"/>
              <a:t>Designing an algorithm refers to the </a:t>
            </a:r>
            <a:r>
              <a:rPr lang="en-US">
                <a:solidFill>
                  <a:srgbClr val="C00000"/>
                </a:solidFill>
              </a:rPr>
              <a:t>method/process </a:t>
            </a:r>
            <a:r>
              <a:rPr lang="en-US"/>
              <a:t>used to solve the well-specified computational problem.</a:t>
            </a:r>
            <a:endParaRPr/>
          </a:p>
          <a:p>
            <a:pPr indent="0" lvl="0" marL="0" rtl="0" algn="just">
              <a:lnSpc>
                <a:spcPct val="90000"/>
              </a:lnSpc>
              <a:spcBef>
                <a:spcPts val="1000"/>
              </a:spcBef>
              <a:spcAft>
                <a:spcPts val="0"/>
              </a:spcAft>
              <a:buSzPts val="2400"/>
              <a:buNone/>
            </a:pPr>
            <a:r>
              <a:rPr lang="en-US"/>
              <a:t>Two basic design methods are:-</a:t>
            </a:r>
            <a:endParaRPr/>
          </a:p>
          <a:p>
            <a:pPr indent="-342900" lvl="0" marL="342900" rtl="0" algn="just">
              <a:lnSpc>
                <a:spcPct val="90000"/>
              </a:lnSpc>
              <a:spcBef>
                <a:spcPts val="1000"/>
              </a:spcBef>
              <a:spcAft>
                <a:spcPts val="0"/>
              </a:spcAft>
              <a:buClr>
                <a:schemeClr val="accent6"/>
              </a:buClr>
              <a:buSzPts val="2400"/>
              <a:buFont typeface="Noto Sans Symbols"/>
              <a:buChar char="⮚"/>
            </a:pPr>
            <a:r>
              <a:rPr b="1" lang="en-US"/>
              <a:t> </a:t>
            </a:r>
            <a:r>
              <a:rPr b="1" lang="en-US">
                <a:solidFill>
                  <a:srgbClr val="C00000"/>
                </a:solidFill>
              </a:rPr>
              <a:t>Recursive:  </a:t>
            </a:r>
            <a:r>
              <a:rPr lang="en-US"/>
              <a:t>A recursive algorithm works by splitting the input into two or more  smaller inputs, calls itself to solve smaller inputs and then combine partially computed results to solve the original problem.</a:t>
            </a:r>
            <a:endParaRPr/>
          </a:p>
          <a:p>
            <a:pPr indent="-352425" lvl="1" marL="809625" rtl="0" algn="just">
              <a:lnSpc>
                <a:spcPct val="90000"/>
              </a:lnSpc>
              <a:spcBef>
                <a:spcPts val="500"/>
              </a:spcBef>
              <a:spcAft>
                <a:spcPts val="0"/>
              </a:spcAft>
              <a:buSzPts val="2000"/>
              <a:buFont typeface="Noto Sans Symbols"/>
              <a:buChar char="⮚"/>
            </a:pPr>
            <a:r>
              <a:rPr lang="en-US"/>
              <a:t>Ex:- Merge Sort, Quick Sort</a:t>
            </a:r>
            <a:endParaRPr/>
          </a:p>
          <a:p>
            <a:pPr indent="-190500" lvl="0" marL="342900" rtl="0" algn="just">
              <a:lnSpc>
                <a:spcPct val="90000"/>
              </a:lnSpc>
              <a:spcBef>
                <a:spcPts val="1000"/>
              </a:spcBef>
              <a:spcAft>
                <a:spcPts val="0"/>
              </a:spcAft>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b="1" lang="en-US">
                <a:solidFill>
                  <a:srgbClr val="C00000"/>
                </a:solidFill>
              </a:rPr>
              <a:t>Non-recursive</a:t>
            </a:r>
            <a:r>
              <a:rPr lang="en-US">
                <a:solidFill>
                  <a:srgbClr val="C00000"/>
                </a:solidFill>
              </a:rPr>
              <a:t>: </a:t>
            </a:r>
            <a:r>
              <a:rPr lang="en-US"/>
              <a:t>A non-recursive algorithm works on “all at once” approach. It                                    does not split the original input.</a:t>
            </a:r>
            <a:endParaRPr/>
          </a:p>
          <a:p>
            <a:pPr indent="-352425" lvl="1" marL="809625" rtl="0" algn="just">
              <a:lnSpc>
                <a:spcPct val="90000"/>
              </a:lnSpc>
              <a:spcBef>
                <a:spcPts val="500"/>
              </a:spcBef>
              <a:spcAft>
                <a:spcPts val="0"/>
              </a:spcAft>
              <a:buSzPts val="2000"/>
              <a:buFont typeface="Noto Sans Symbols"/>
              <a:buChar char="⮚"/>
            </a:pPr>
            <a:r>
              <a:rPr lang="en-US"/>
              <a:t>Ex:- Bubble Sort, Insertion Sort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5"/>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t/>
            </a:r>
            <a:endParaRPr/>
          </a:p>
        </p:txBody>
      </p:sp>
      <p:sp>
        <p:nvSpPr>
          <p:cNvPr id="187" name="Google Shape;187;p15"/>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rPr b="1" lang="en-US"/>
              <a:t>Types of problem which can be solved by algorithms:</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Managing, manipulating &amp; retrieving the voluminous data</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Shortest Route finding</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Public-key cryptography and digital signatures</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Resource scheduling, etc.</a:t>
            </a:r>
            <a:endParaRPr/>
          </a:p>
          <a:p>
            <a:pPr indent="-352425" lvl="1" marL="809625" rtl="0" algn="just">
              <a:lnSpc>
                <a:spcPct val="90000"/>
              </a:lnSpc>
              <a:spcBef>
                <a:spcPts val="500"/>
              </a:spcBef>
              <a:spcAft>
                <a:spcPts val="0"/>
              </a:spcAft>
              <a:buSzPts val="2000"/>
              <a:buChar char="⮩"/>
            </a:pPr>
            <a:r>
              <a:rPr lang="en-US"/>
              <a:t>A political candidate may want to determine where to spend money buying campaign advertising in order to maximize the chances of winning an election. </a:t>
            </a:r>
            <a:endParaRPr/>
          </a:p>
          <a:p>
            <a:pPr indent="-352425" lvl="1" marL="809625" rtl="0" algn="just">
              <a:lnSpc>
                <a:spcPct val="90000"/>
              </a:lnSpc>
              <a:spcBef>
                <a:spcPts val="500"/>
              </a:spcBef>
              <a:spcAft>
                <a:spcPts val="0"/>
              </a:spcAft>
              <a:buSzPts val="2000"/>
              <a:buChar char="⮩"/>
            </a:pPr>
            <a:r>
              <a:rPr lang="en-US"/>
              <a:t>An airline may wish to assign crews to flights in the least expensive way possible, making sure that each flight is covered and that government regulations regarding crew scheduling are met. </a:t>
            </a:r>
            <a:endParaRPr/>
          </a:p>
          <a:p>
            <a:pPr indent="-352425" lvl="1" marL="809625" rtl="0" algn="just">
              <a:lnSpc>
                <a:spcPct val="90000"/>
              </a:lnSpc>
              <a:spcBef>
                <a:spcPts val="500"/>
              </a:spcBef>
              <a:spcAft>
                <a:spcPts val="0"/>
              </a:spcAft>
              <a:buSzPts val="2000"/>
              <a:buChar char="⮩"/>
            </a:pPr>
            <a:r>
              <a:rPr lang="en-US"/>
              <a:t>An Internet service provider may wish to determine where to place additional resources in order to serve its customers more effectively. </a:t>
            </a:r>
            <a:endParaRPr/>
          </a:p>
          <a:p>
            <a:pPr indent="-352425" lvl="1" marL="809625" rtl="0" algn="just">
              <a:lnSpc>
                <a:spcPct val="90000"/>
              </a:lnSpc>
              <a:spcBef>
                <a:spcPts val="500"/>
              </a:spcBef>
              <a:spcAft>
                <a:spcPts val="0"/>
              </a:spcAft>
              <a:buSzPts val="2000"/>
              <a:buChar char="⮩"/>
            </a:pPr>
            <a:r>
              <a:rPr lang="en-US"/>
              <a:t>All of these are examples of problems that can be solved using linear programming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animEffect filter="fade" transition="in">
                                      <p:cBhvr>
                                        <p:cTn dur="500"/>
                                        <p:tgtEl>
                                          <p:spTgt spid="1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1" st="1"/>
                                            </p:txEl>
                                          </p:spTgt>
                                        </p:tgtEl>
                                        <p:attrNameLst>
                                          <p:attrName>style.visibility</p:attrName>
                                        </p:attrNameLst>
                                      </p:cBhvr>
                                      <p:to>
                                        <p:strVal val="visible"/>
                                      </p:to>
                                    </p:set>
                                    <p:animEffect filter="fade" transition="in">
                                      <p:cBhvr>
                                        <p:cTn dur="500"/>
                                        <p:tgtEl>
                                          <p:spTgt spid="1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2" st="2"/>
                                            </p:txEl>
                                          </p:spTgt>
                                        </p:tgtEl>
                                        <p:attrNameLst>
                                          <p:attrName>style.visibility</p:attrName>
                                        </p:attrNameLst>
                                      </p:cBhvr>
                                      <p:to>
                                        <p:strVal val="visible"/>
                                      </p:to>
                                    </p:set>
                                    <p:animEffect filter="fade" transition="in">
                                      <p:cBhvr>
                                        <p:cTn dur="500"/>
                                        <p:tgtEl>
                                          <p:spTgt spid="1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3" st="3"/>
                                            </p:txEl>
                                          </p:spTgt>
                                        </p:tgtEl>
                                        <p:attrNameLst>
                                          <p:attrName>style.visibility</p:attrName>
                                        </p:attrNameLst>
                                      </p:cBhvr>
                                      <p:to>
                                        <p:strVal val="visible"/>
                                      </p:to>
                                    </p:set>
                                    <p:animEffect filter="fade" transition="in">
                                      <p:cBhvr>
                                        <p:cTn dur="500"/>
                                        <p:tgtEl>
                                          <p:spTgt spid="1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4" st="4"/>
                                            </p:txEl>
                                          </p:spTgt>
                                        </p:tgtEl>
                                        <p:attrNameLst>
                                          <p:attrName>style.visibility</p:attrName>
                                        </p:attrNameLst>
                                      </p:cBhvr>
                                      <p:to>
                                        <p:strVal val="visible"/>
                                      </p:to>
                                    </p:set>
                                    <p:animEffect filter="fade" transition="in">
                                      <p:cBhvr>
                                        <p:cTn dur="500"/>
                                        <p:tgtEl>
                                          <p:spTgt spid="1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5" st="5"/>
                                            </p:txEl>
                                          </p:spTgt>
                                        </p:tgtEl>
                                        <p:attrNameLst>
                                          <p:attrName>style.visibility</p:attrName>
                                        </p:attrNameLst>
                                      </p:cBhvr>
                                      <p:to>
                                        <p:strVal val="visible"/>
                                      </p:to>
                                    </p:set>
                                    <p:animEffect filter="fade" transition="in">
                                      <p:cBhvr>
                                        <p:cTn dur="500"/>
                                        <p:tgtEl>
                                          <p:spTgt spid="1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6" st="6"/>
                                            </p:txEl>
                                          </p:spTgt>
                                        </p:tgtEl>
                                        <p:attrNameLst>
                                          <p:attrName>style.visibility</p:attrName>
                                        </p:attrNameLst>
                                      </p:cBhvr>
                                      <p:to>
                                        <p:strVal val="visible"/>
                                      </p:to>
                                    </p:set>
                                    <p:animEffect filter="fade" transition="in">
                                      <p:cBhvr>
                                        <p:cTn dur="500"/>
                                        <p:tgtEl>
                                          <p:spTgt spid="18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7" st="7"/>
                                            </p:txEl>
                                          </p:spTgt>
                                        </p:tgtEl>
                                        <p:attrNameLst>
                                          <p:attrName>style.visibility</p:attrName>
                                        </p:attrNameLst>
                                      </p:cBhvr>
                                      <p:to>
                                        <p:strVal val="visible"/>
                                      </p:to>
                                    </p:set>
                                    <p:animEffect filter="fade" transition="in">
                                      <p:cBhvr>
                                        <p:cTn dur="500"/>
                                        <p:tgtEl>
                                          <p:spTgt spid="18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xEl>
                                              <p:pRg end="8" st="8"/>
                                            </p:txEl>
                                          </p:spTgt>
                                        </p:tgtEl>
                                        <p:attrNameLst>
                                          <p:attrName>style.visibility</p:attrName>
                                        </p:attrNameLst>
                                      </p:cBhvr>
                                      <p:to>
                                        <p:strVal val="visible"/>
                                      </p:to>
                                    </p:set>
                                    <p:animEffect filter="fade" transition="in">
                                      <p:cBhvr>
                                        <p:cTn dur="500"/>
                                        <p:tgtEl>
                                          <p:spTgt spid="187">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6"/>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Efficiency of an Algorithm – Does it Matter?</a:t>
            </a:r>
            <a:endParaRPr/>
          </a:p>
        </p:txBody>
      </p:sp>
      <p:sp>
        <p:nvSpPr>
          <p:cNvPr id="193" name="Google Shape;193;p16"/>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accent6"/>
              </a:buClr>
              <a:buSzPts val="2400"/>
              <a:buFont typeface="Noto Sans Symbols"/>
              <a:buChar char="⮚"/>
            </a:pPr>
            <a:r>
              <a:rPr lang="en-US"/>
              <a:t> Different algorithms devised to solve the same problem often differ dramatically in their </a:t>
            </a:r>
            <a:r>
              <a:rPr lang="en-US">
                <a:solidFill>
                  <a:srgbClr val="C00000"/>
                </a:solidFill>
              </a:rPr>
              <a:t>efficiency</a:t>
            </a:r>
            <a:r>
              <a:rPr lang="en-US"/>
              <a:t>.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These differences can be much more significant than differences due to hardware and software.</a:t>
            </a:r>
            <a:endParaRPr/>
          </a:p>
          <a:p>
            <a:pPr indent="-342900" lvl="0" marL="342900" rtl="0" algn="just">
              <a:lnSpc>
                <a:spcPct val="90000"/>
              </a:lnSpc>
              <a:spcBef>
                <a:spcPts val="1000"/>
              </a:spcBef>
              <a:spcAft>
                <a:spcPts val="0"/>
              </a:spcAft>
              <a:buSzPts val="2400"/>
              <a:buFont typeface="Noto Sans Symbols"/>
              <a:buChar char="⮚"/>
            </a:pPr>
            <a:r>
              <a:rPr lang="en-US"/>
              <a:t>As an example, we will see two algorithms for sorting. </a:t>
            </a:r>
            <a:endParaRPr/>
          </a:p>
          <a:p>
            <a:pPr indent="-342900" lvl="1" marL="800100" rtl="0" algn="just">
              <a:lnSpc>
                <a:spcPct val="90000"/>
              </a:lnSpc>
              <a:spcBef>
                <a:spcPts val="1000"/>
              </a:spcBef>
              <a:spcAft>
                <a:spcPts val="0"/>
              </a:spcAft>
              <a:buSzPts val="2400"/>
              <a:buFont typeface="Noto Sans Symbols"/>
              <a:buChar char="⮚"/>
            </a:pPr>
            <a:r>
              <a:rPr lang="en-US"/>
              <a:t> The first, known as insertion sort, takes time roughly equal to </a:t>
            </a:r>
            <a:r>
              <a:rPr lang="en-US">
                <a:solidFill>
                  <a:srgbClr val="C00000"/>
                </a:solidFill>
              </a:rPr>
              <a:t>c</a:t>
            </a:r>
            <a:r>
              <a:rPr baseline="-25000" lang="en-US">
                <a:solidFill>
                  <a:srgbClr val="C00000"/>
                </a:solidFill>
              </a:rPr>
              <a:t>1</a:t>
            </a:r>
            <a:r>
              <a:rPr lang="en-US">
                <a:solidFill>
                  <a:srgbClr val="C00000"/>
                </a:solidFill>
              </a:rPr>
              <a:t>*n</a:t>
            </a:r>
            <a:r>
              <a:rPr baseline="30000" lang="en-US">
                <a:solidFill>
                  <a:srgbClr val="C00000"/>
                </a:solidFill>
              </a:rPr>
              <a:t>2</a:t>
            </a:r>
            <a:r>
              <a:rPr lang="en-US">
                <a:solidFill>
                  <a:srgbClr val="C00000"/>
                </a:solidFill>
              </a:rPr>
              <a:t> </a:t>
            </a:r>
            <a:r>
              <a:rPr lang="en-US"/>
              <a:t>to sort n items, where </a:t>
            </a:r>
            <a:r>
              <a:rPr lang="en-US">
                <a:solidFill>
                  <a:srgbClr val="C00000"/>
                </a:solidFill>
              </a:rPr>
              <a:t>c</a:t>
            </a:r>
            <a:r>
              <a:rPr baseline="-25000" lang="en-US">
                <a:solidFill>
                  <a:srgbClr val="C00000"/>
                </a:solidFill>
              </a:rPr>
              <a:t>1</a:t>
            </a:r>
            <a:r>
              <a:rPr lang="en-US"/>
              <a:t> is a constant that does not depend on </a:t>
            </a:r>
            <a:r>
              <a:rPr lang="en-US">
                <a:solidFill>
                  <a:srgbClr val="C00000"/>
                </a:solidFill>
              </a:rPr>
              <a:t>n</a:t>
            </a:r>
            <a:r>
              <a:rPr lang="en-US"/>
              <a:t>. That is, it takes time roughly proportional to </a:t>
            </a:r>
            <a:r>
              <a:rPr lang="en-US">
                <a:solidFill>
                  <a:srgbClr val="C00000"/>
                </a:solidFill>
              </a:rPr>
              <a:t>n</a:t>
            </a:r>
            <a:r>
              <a:rPr baseline="30000" lang="en-US">
                <a:solidFill>
                  <a:srgbClr val="C00000"/>
                </a:solidFill>
              </a:rPr>
              <a:t>2</a:t>
            </a:r>
            <a:r>
              <a:rPr lang="en-US"/>
              <a:t>. </a:t>
            </a:r>
            <a:endParaRPr/>
          </a:p>
          <a:p>
            <a:pPr indent="-342900" lvl="1" marL="800100" rtl="0" algn="just">
              <a:lnSpc>
                <a:spcPct val="90000"/>
              </a:lnSpc>
              <a:spcBef>
                <a:spcPts val="1000"/>
              </a:spcBef>
              <a:spcAft>
                <a:spcPts val="0"/>
              </a:spcAft>
              <a:buSzPts val="2400"/>
              <a:buFont typeface="Noto Sans Symbols"/>
              <a:buChar char="⮚"/>
            </a:pPr>
            <a:r>
              <a:rPr lang="en-US"/>
              <a:t> The second, merge sort, takes time roughly equal to </a:t>
            </a:r>
            <a:r>
              <a:rPr lang="en-US">
                <a:solidFill>
                  <a:srgbClr val="C00000"/>
                </a:solidFill>
              </a:rPr>
              <a:t>c</a:t>
            </a:r>
            <a:r>
              <a:rPr baseline="-25000" lang="en-US">
                <a:solidFill>
                  <a:srgbClr val="C00000"/>
                </a:solidFill>
              </a:rPr>
              <a:t>2</a:t>
            </a:r>
            <a:r>
              <a:rPr lang="en-US">
                <a:solidFill>
                  <a:srgbClr val="C00000"/>
                </a:solidFill>
              </a:rPr>
              <a:t> *nlogn</a:t>
            </a:r>
            <a:r>
              <a:rPr lang="en-US"/>
              <a:t>, where lg n stands for </a:t>
            </a:r>
            <a:r>
              <a:rPr lang="en-US">
                <a:solidFill>
                  <a:srgbClr val="C00000"/>
                </a:solidFill>
              </a:rPr>
              <a:t>log</a:t>
            </a:r>
            <a:r>
              <a:rPr baseline="-25000" lang="en-US">
                <a:solidFill>
                  <a:srgbClr val="C00000"/>
                </a:solidFill>
              </a:rPr>
              <a:t>2</a:t>
            </a:r>
            <a:r>
              <a:rPr lang="en-US">
                <a:solidFill>
                  <a:srgbClr val="C00000"/>
                </a:solidFill>
              </a:rPr>
              <a:t> n</a:t>
            </a:r>
            <a:r>
              <a:rPr lang="en-US"/>
              <a:t> and </a:t>
            </a:r>
            <a:r>
              <a:rPr lang="en-US">
                <a:solidFill>
                  <a:srgbClr val="C00000"/>
                </a:solidFill>
              </a:rPr>
              <a:t>c</a:t>
            </a:r>
            <a:r>
              <a:rPr baseline="-25000" lang="en-US">
                <a:solidFill>
                  <a:srgbClr val="C00000"/>
                </a:solidFill>
              </a:rPr>
              <a:t>2</a:t>
            </a:r>
            <a:r>
              <a:rPr lang="en-US"/>
              <a:t> is another constant that also does not depend on </a:t>
            </a:r>
            <a:r>
              <a:rPr lang="en-US">
                <a:solidFill>
                  <a:srgbClr val="C00000"/>
                </a:solidFill>
              </a:rPr>
              <a:t>n</a:t>
            </a:r>
            <a:r>
              <a:rPr lang="en-US"/>
              <a:t>. </a:t>
            </a:r>
            <a:endParaRPr/>
          </a:p>
          <a:p>
            <a:pPr indent="-342900" lvl="1" marL="800100" rtl="0" algn="just">
              <a:lnSpc>
                <a:spcPct val="90000"/>
              </a:lnSpc>
              <a:spcBef>
                <a:spcPts val="1000"/>
              </a:spcBef>
              <a:spcAft>
                <a:spcPts val="0"/>
              </a:spcAft>
              <a:buSzPts val="2400"/>
              <a:buFont typeface="Noto Sans Symbols"/>
              <a:buChar char="⮚"/>
            </a:pPr>
            <a:r>
              <a:rPr lang="en-US"/>
              <a:t>Insertion sort typically has a smaller constant factor than merge sort, so that </a:t>
            </a:r>
            <a:r>
              <a:rPr lang="en-US">
                <a:solidFill>
                  <a:srgbClr val="C00000"/>
                </a:solidFill>
              </a:rPr>
              <a:t>c</a:t>
            </a:r>
            <a:r>
              <a:rPr baseline="-25000" lang="en-US">
                <a:solidFill>
                  <a:srgbClr val="C00000"/>
                </a:solidFill>
              </a:rPr>
              <a:t>1</a:t>
            </a:r>
            <a:r>
              <a:rPr lang="en-US">
                <a:solidFill>
                  <a:srgbClr val="C00000"/>
                </a:solidFill>
              </a:rPr>
              <a:t> &lt; c</a:t>
            </a:r>
            <a:r>
              <a:rPr baseline="-25000" lang="en-US">
                <a:solidFill>
                  <a:srgbClr val="C00000"/>
                </a:solidFill>
              </a:rPr>
              <a:t>2</a:t>
            </a:r>
            <a:r>
              <a:rPr lang="en-US"/>
              <a:t>.</a:t>
            </a:r>
            <a:endParaRPr/>
          </a:p>
          <a:p>
            <a:pPr indent="-342900" lvl="1" marL="800100" rtl="0" algn="just">
              <a:lnSpc>
                <a:spcPct val="90000"/>
              </a:lnSpc>
              <a:spcBef>
                <a:spcPts val="1000"/>
              </a:spcBef>
              <a:spcAft>
                <a:spcPts val="0"/>
              </a:spcAft>
              <a:buSzPts val="2400"/>
              <a:buFont typeface="Noto Sans Symbols"/>
              <a:buChar char="⮚"/>
            </a:pPr>
            <a:r>
              <a:rPr lang="en-US"/>
              <a:t>We shall see that the constant factors can have far less of an impact on the running time than the dependence on the input size </a:t>
            </a:r>
            <a:r>
              <a:rPr lang="en-US">
                <a:solidFill>
                  <a:srgbClr val="C00000"/>
                </a:solidFill>
              </a:rPr>
              <a:t>n</a:t>
            </a:r>
            <a:r>
              <a:rPr lang="en-US"/>
              <a:t>.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0" st="0"/>
                                            </p:txEl>
                                          </p:spTgt>
                                        </p:tgtEl>
                                        <p:attrNameLst>
                                          <p:attrName>style.visibility</p:attrName>
                                        </p:attrNameLst>
                                      </p:cBhvr>
                                      <p:to>
                                        <p:strVal val="visible"/>
                                      </p:to>
                                    </p:set>
                                    <p:animEffect filter="fade" transition="in">
                                      <p:cBhvr>
                                        <p:cTn dur="500"/>
                                        <p:tgtEl>
                                          <p:spTgt spid="1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1" st="1"/>
                                            </p:txEl>
                                          </p:spTgt>
                                        </p:tgtEl>
                                        <p:attrNameLst>
                                          <p:attrName>style.visibility</p:attrName>
                                        </p:attrNameLst>
                                      </p:cBhvr>
                                      <p:to>
                                        <p:strVal val="visible"/>
                                      </p:to>
                                    </p:set>
                                    <p:animEffect filter="fade" transition="in">
                                      <p:cBhvr>
                                        <p:cTn dur="500"/>
                                        <p:tgtEl>
                                          <p:spTgt spid="1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2" st="2"/>
                                            </p:txEl>
                                          </p:spTgt>
                                        </p:tgtEl>
                                        <p:attrNameLst>
                                          <p:attrName>style.visibility</p:attrName>
                                        </p:attrNameLst>
                                      </p:cBhvr>
                                      <p:to>
                                        <p:strVal val="visible"/>
                                      </p:to>
                                    </p:set>
                                    <p:animEffect filter="fade" transition="in">
                                      <p:cBhvr>
                                        <p:cTn dur="500"/>
                                        <p:tgtEl>
                                          <p:spTgt spid="1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3" st="3"/>
                                            </p:txEl>
                                          </p:spTgt>
                                        </p:tgtEl>
                                        <p:attrNameLst>
                                          <p:attrName>style.visibility</p:attrName>
                                        </p:attrNameLst>
                                      </p:cBhvr>
                                      <p:to>
                                        <p:strVal val="visible"/>
                                      </p:to>
                                    </p:set>
                                    <p:animEffect filter="fade" transition="in">
                                      <p:cBhvr>
                                        <p:cTn dur="500"/>
                                        <p:tgtEl>
                                          <p:spTgt spid="1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4" st="4"/>
                                            </p:txEl>
                                          </p:spTgt>
                                        </p:tgtEl>
                                        <p:attrNameLst>
                                          <p:attrName>style.visibility</p:attrName>
                                        </p:attrNameLst>
                                      </p:cBhvr>
                                      <p:to>
                                        <p:strVal val="visible"/>
                                      </p:to>
                                    </p:set>
                                    <p:animEffect filter="fade" transition="in">
                                      <p:cBhvr>
                                        <p:cTn dur="500"/>
                                        <p:tgtEl>
                                          <p:spTgt spid="19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5" st="5"/>
                                            </p:txEl>
                                          </p:spTgt>
                                        </p:tgtEl>
                                        <p:attrNameLst>
                                          <p:attrName>style.visibility</p:attrName>
                                        </p:attrNameLst>
                                      </p:cBhvr>
                                      <p:to>
                                        <p:strVal val="visible"/>
                                      </p:to>
                                    </p:set>
                                    <p:animEffect filter="fade" transition="in">
                                      <p:cBhvr>
                                        <p:cTn dur="500"/>
                                        <p:tgtEl>
                                          <p:spTgt spid="19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6" st="6"/>
                                            </p:txEl>
                                          </p:spTgt>
                                        </p:tgtEl>
                                        <p:attrNameLst>
                                          <p:attrName>style.visibility</p:attrName>
                                        </p:attrNameLst>
                                      </p:cBhvr>
                                      <p:to>
                                        <p:strVal val="visible"/>
                                      </p:to>
                                    </p:set>
                                    <p:animEffect filter="fade" transition="in">
                                      <p:cBhvr>
                                        <p:cTn dur="500"/>
                                        <p:tgtEl>
                                          <p:spTgt spid="19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xEl>
                                              <p:pRg end="7" st="7"/>
                                            </p:txEl>
                                          </p:spTgt>
                                        </p:tgtEl>
                                        <p:attrNameLst>
                                          <p:attrName>style.visibility</p:attrName>
                                        </p:attrNameLst>
                                      </p:cBhvr>
                                      <p:to>
                                        <p:strVal val="visible"/>
                                      </p:to>
                                    </p:set>
                                    <p:animEffect filter="fade" transition="in">
                                      <p:cBhvr>
                                        <p:cTn dur="500"/>
                                        <p:tgtEl>
                                          <p:spTgt spid="19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7"/>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Efficiency of an Algorithm – Does it Matter?</a:t>
            </a:r>
            <a:endParaRPr/>
          </a:p>
        </p:txBody>
      </p:sp>
      <p:sp>
        <p:nvSpPr>
          <p:cNvPr id="199" name="Google Shape;199;p17"/>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accent6"/>
              </a:buClr>
              <a:buSzPts val="2400"/>
              <a:buFont typeface="Noto Sans Symbols"/>
              <a:buChar char="⮚"/>
            </a:pPr>
            <a:r>
              <a:rPr lang="en-US"/>
              <a:t>Let’s write insertion sort’s running time as </a:t>
            </a:r>
            <a:r>
              <a:rPr lang="en-US">
                <a:solidFill>
                  <a:srgbClr val="C00000"/>
                </a:solidFill>
              </a:rPr>
              <a:t>c</a:t>
            </a:r>
            <a:r>
              <a:rPr baseline="-25000" lang="en-US">
                <a:solidFill>
                  <a:srgbClr val="C00000"/>
                </a:solidFill>
              </a:rPr>
              <a:t>1</a:t>
            </a:r>
            <a:r>
              <a:rPr lang="en-US">
                <a:solidFill>
                  <a:srgbClr val="C00000"/>
                </a:solidFill>
              </a:rPr>
              <a:t>*n*n</a:t>
            </a:r>
            <a:r>
              <a:rPr lang="en-US"/>
              <a:t> and merge sort’s running time as </a:t>
            </a:r>
            <a:r>
              <a:rPr lang="en-US">
                <a:solidFill>
                  <a:srgbClr val="C00000"/>
                </a:solidFill>
              </a:rPr>
              <a:t>c</a:t>
            </a:r>
            <a:r>
              <a:rPr baseline="-25000" lang="en-US">
                <a:solidFill>
                  <a:srgbClr val="C00000"/>
                </a:solidFill>
              </a:rPr>
              <a:t>2</a:t>
            </a:r>
            <a:r>
              <a:rPr lang="en-US">
                <a:solidFill>
                  <a:srgbClr val="C00000"/>
                </a:solidFill>
              </a:rPr>
              <a:t>*n*logn</a:t>
            </a:r>
            <a:r>
              <a:rPr lang="en-US"/>
              <a:t>.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Then we see that where insertion sort has a factor of </a:t>
            </a:r>
            <a:r>
              <a:rPr lang="en-US">
                <a:solidFill>
                  <a:srgbClr val="C00000"/>
                </a:solidFill>
              </a:rPr>
              <a:t>n</a:t>
            </a:r>
            <a:r>
              <a:rPr lang="en-US"/>
              <a:t> in its running time, merge sort has a factor of </a:t>
            </a:r>
            <a:r>
              <a:rPr lang="en-US">
                <a:solidFill>
                  <a:srgbClr val="C00000"/>
                </a:solidFill>
              </a:rPr>
              <a:t>log n</a:t>
            </a:r>
            <a:r>
              <a:rPr lang="en-US"/>
              <a:t>, which is much smaller. </a:t>
            </a:r>
            <a:endParaRPr/>
          </a:p>
          <a:p>
            <a:pPr indent="-342900" lvl="1" marL="800100" rtl="0" algn="just">
              <a:lnSpc>
                <a:spcPct val="90000"/>
              </a:lnSpc>
              <a:spcBef>
                <a:spcPts val="1000"/>
              </a:spcBef>
              <a:spcAft>
                <a:spcPts val="0"/>
              </a:spcAft>
              <a:buSzPts val="2400"/>
              <a:buFont typeface="Noto Sans Symbols"/>
              <a:buChar char="⮚"/>
            </a:pPr>
            <a:r>
              <a:rPr lang="en-US"/>
              <a:t>(For example, when n = 1000, log n is approximately 10, and when n equals one million, log n is approximately only 20.)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Although insertion sort usually runs </a:t>
            </a:r>
            <a:r>
              <a:rPr lang="en-US">
                <a:solidFill>
                  <a:srgbClr val="C00000"/>
                </a:solidFill>
              </a:rPr>
              <a:t>faster than </a:t>
            </a:r>
            <a:r>
              <a:rPr lang="en-US"/>
              <a:t>merge sort for small input sizes, once the input size </a:t>
            </a:r>
            <a:r>
              <a:rPr lang="en-US">
                <a:solidFill>
                  <a:srgbClr val="C00000"/>
                </a:solidFill>
              </a:rPr>
              <a:t>n</a:t>
            </a:r>
            <a:r>
              <a:rPr lang="en-US"/>
              <a:t> becomes </a:t>
            </a:r>
            <a:r>
              <a:rPr lang="en-US">
                <a:solidFill>
                  <a:srgbClr val="C00000"/>
                </a:solidFill>
              </a:rPr>
              <a:t>large enough</a:t>
            </a:r>
            <a:r>
              <a:rPr lang="en-US"/>
              <a:t>, merge sort’s advantage of </a:t>
            </a:r>
            <a:r>
              <a:rPr lang="en-US">
                <a:solidFill>
                  <a:srgbClr val="C00000"/>
                </a:solidFill>
              </a:rPr>
              <a:t>log n v/s n </a:t>
            </a:r>
            <a:r>
              <a:rPr lang="en-US"/>
              <a:t>will more than compensate for the difference in constant factors.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No matter how much smaller </a:t>
            </a:r>
            <a:r>
              <a:rPr lang="en-US">
                <a:solidFill>
                  <a:srgbClr val="C00000"/>
                </a:solidFill>
              </a:rPr>
              <a:t>c</a:t>
            </a:r>
            <a:r>
              <a:rPr baseline="-25000" lang="en-US">
                <a:solidFill>
                  <a:srgbClr val="C00000"/>
                </a:solidFill>
              </a:rPr>
              <a:t>1</a:t>
            </a:r>
            <a:r>
              <a:rPr lang="en-US"/>
              <a:t> is than </a:t>
            </a:r>
            <a:r>
              <a:rPr lang="en-US">
                <a:solidFill>
                  <a:srgbClr val="C00000"/>
                </a:solidFill>
              </a:rPr>
              <a:t>c</a:t>
            </a:r>
            <a:r>
              <a:rPr baseline="-25000" lang="en-US">
                <a:solidFill>
                  <a:srgbClr val="C00000"/>
                </a:solidFill>
              </a:rPr>
              <a:t>2</a:t>
            </a:r>
            <a:r>
              <a:rPr lang="en-US"/>
              <a:t>, there will always be a crossover point beyond which merge sort is faster.</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8"/>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Efficiency of an Algorithm – Does it Matter?</a:t>
            </a:r>
            <a:endParaRPr/>
          </a:p>
        </p:txBody>
      </p:sp>
      <p:sp>
        <p:nvSpPr>
          <p:cNvPr id="205" name="Google Shape;205;p18"/>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rPr lang="en-US"/>
              <a:t>Different algorithms, constants &amp; hardware proficiency</a:t>
            </a:r>
            <a:endParaRPr/>
          </a:p>
          <a:p>
            <a:pPr indent="0" lvl="0" marL="0" rtl="0" algn="just">
              <a:lnSpc>
                <a:spcPct val="90000"/>
              </a:lnSpc>
              <a:spcBef>
                <a:spcPts val="1000"/>
              </a:spcBef>
              <a:spcAft>
                <a:spcPts val="0"/>
              </a:spcAft>
              <a:buSzPts val="2400"/>
              <a:buNone/>
            </a:pPr>
            <a:r>
              <a:rPr b="1" lang="en-US"/>
              <a:t>Problem: Sort 10 million numbers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a:t>
            </a:r>
            <a:r>
              <a:rPr b="1" lang="en-US"/>
              <a:t>Computer A</a:t>
            </a:r>
            <a:r>
              <a:rPr lang="en-US"/>
              <a:t>: insertion sort, 10bi/s, c1=2</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a:t>
            </a:r>
            <a:r>
              <a:rPr b="1" lang="en-US"/>
              <a:t>Computer B</a:t>
            </a:r>
            <a:r>
              <a:rPr lang="en-US"/>
              <a:t>: merge sort, 10mi/s, c2=50</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Computer A: </a:t>
            </a:r>
            <a:endParaRPr/>
          </a:p>
          <a:p>
            <a:pPr indent="-190500" lvl="0" marL="342900" rtl="0" algn="just">
              <a:lnSpc>
                <a:spcPct val="90000"/>
              </a:lnSpc>
              <a:spcBef>
                <a:spcPts val="1000"/>
              </a:spcBef>
              <a:spcAft>
                <a:spcPts val="0"/>
              </a:spcAft>
              <a:buSzPts val="2400"/>
              <a:buFont typeface="Noto Sans Symbols"/>
              <a:buNone/>
            </a:pPr>
            <a:r>
              <a:t/>
            </a:r>
            <a:endParaRPr/>
          </a:p>
          <a:p>
            <a:pPr indent="-190500" lvl="0" marL="342900" rtl="0" algn="just">
              <a:lnSpc>
                <a:spcPct val="90000"/>
              </a:lnSpc>
              <a:spcBef>
                <a:spcPts val="1000"/>
              </a:spcBef>
              <a:spcAft>
                <a:spcPts val="0"/>
              </a:spcAft>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Computer B: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pic>
        <p:nvPicPr>
          <p:cNvPr id="206" name="Google Shape;206;p18"/>
          <p:cNvPicPr preferRelativeResize="0"/>
          <p:nvPr/>
        </p:nvPicPr>
        <p:blipFill rotWithShape="1">
          <a:blip r:embed="rId3">
            <a:alphaModFix/>
          </a:blip>
          <a:srcRect b="0" l="0" r="0" t="0"/>
          <a:stretch/>
        </p:blipFill>
        <p:spPr>
          <a:xfrm>
            <a:off x="2226801" y="2982898"/>
            <a:ext cx="6599417" cy="614980"/>
          </a:xfrm>
          <a:prstGeom prst="rect">
            <a:avLst/>
          </a:prstGeom>
          <a:noFill/>
          <a:ln>
            <a:noFill/>
          </a:ln>
        </p:spPr>
      </p:pic>
      <p:pic>
        <p:nvPicPr>
          <p:cNvPr id="207" name="Google Shape;207;p18"/>
          <p:cNvPicPr preferRelativeResize="0"/>
          <p:nvPr/>
        </p:nvPicPr>
        <p:blipFill rotWithShape="1">
          <a:blip r:embed="rId4">
            <a:alphaModFix/>
          </a:blip>
          <a:srcRect b="0" l="0" r="0" t="0"/>
          <a:stretch/>
        </p:blipFill>
        <p:spPr>
          <a:xfrm>
            <a:off x="2137619" y="4298487"/>
            <a:ext cx="6688599" cy="719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animEffect filter="fade" transition="in">
                                      <p:cBhvr>
                                        <p:cTn dur="500"/>
                                        <p:tgtEl>
                                          <p:spTgt spid="2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animEffect filter="fade" transition="in">
                                      <p:cBhvr>
                                        <p:cTn dur="500"/>
                                        <p:tgtEl>
                                          <p:spTgt spid="2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2" st="2"/>
                                            </p:txEl>
                                          </p:spTgt>
                                        </p:tgtEl>
                                        <p:attrNameLst>
                                          <p:attrName>style.visibility</p:attrName>
                                        </p:attrNameLst>
                                      </p:cBhvr>
                                      <p:to>
                                        <p:strVal val="visible"/>
                                      </p:to>
                                    </p:set>
                                    <p:animEffect filter="fade" transition="in">
                                      <p:cBhvr>
                                        <p:cTn dur="500"/>
                                        <p:tgtEl>
                                          <p:spTgt spid="2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3" st="3"/>
                                            </p:txEl>
                                          </p:spTgt>
                                        </p:tgtEl>
                                        <p:attrNameLst>
                                          <p:attrName>style.visibility</p:attrName>
                                        </p:attrNameLst>
                                      </p:cBhvr>
                                      <p:to>
                                        <p:strVal val="visible"/>
                                      </p:to>
                                    </p:set>
                                    <p:animEffect filter="fade" transition="in">
                                      <p:cBhvr>
                                        <p:cTn dur="500"/>
                                        <p:tgtEl>
                                          <p:spTgt spid="2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4" st="4"/>
                                            </p:txEl>
                                          </p:spTgt>
                                        </p:tgtEl>
                                        <p:attrNameLst>
                                          <p:attrName>style.visibility</p:attrName>
                                        </p:attrNameLst>
                                      </p:cBhvr>
                                      <p:to>
                                        <p:strVal val="visible"/>
                                      </p:to>
                                    </p:set>
                                    <p:animEffect filter="fade" transition="in">
                                      <p:cBhvr>
                                        <p:cTn dur="500"/>
                                        <p:tgtEl>
                                          <p:spTgt spid="20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5" st="5"/>
                                            </p:txEl>
                                          </p:spTgt>
                                        </p:tgtEl>
                                        <p:attrNameLst>
                                          <p:attrName>style.visibility</p:attrName>
                                        </p:attrNameLst>
                                      </p:cBhvr>
                                      <p:to>
                                        <p:strVal val="visible"/>
                                      </p:to>
                                    </p:set>
                                    <p:animEffect filter="fade" transition="in">
                                      <p:cBhvr>
                                        <p:cTn dur="500"/>
                                        <p:tgtEl>
                                          <p:spTgt spid="20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6" st="6"/>
                                            </p:txEl>
                                          </p:spTgt>
                                        </p:tgtEl>
                                        <p:attrNameLst>
                                          <p:attrName>style.visibility</p:attrName>
                                        </p:attrNameLst>
                                      </p:cBhvr>
                                      <p:to>
                                        <p:strVal val="visible"/>
                                      </p:to>
                                    </p:set>
                                    <p:animEffect filter="fade" transition="in">
                                      <p:cBhvr>
                                        <p:cTn dur="500"/>
                                        <p:tgtEl>
                                          <p:spTgt spid="20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7" st="7"/>
                                            </p:txEl>
                                          </p:spTgt>
                                        </p:tgtEl>
                                        <p:attrNameLst>
                                          <p:attrName>style.visibility</p:attrName>
                                        </p:attrNameLst>
                                      </p:cBhvr>
                                      <p:to>
                                        <p:strVal val="visible"/>
                                      </p:to>
                                    </p:set>
                                    <p:animEffect filter="fade" transition="in">
                                      <p:cBhvr>
                                        <p:cTn dur="500"/>
                                        <p:tgtEl>
                                          <p:spTgt spid="20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8" st="8"/>
                                            </p:txEl>
                                          </p:spTgt>
                                        </p:tgtEl>
                                        <p:attrNameLst>
                                          <p:attrName>style.visibility</p:attrName>
                                        </p:attrNameLst>
                                      </p:cBhvr>
                                      <p:to>
                                        <p:strVal val="visible"/>
                                      </p:to>
                                    </p:set>
                                    <p:animEffect filter="fade" transition="in">
                                      <p:cBhvr>
                                        <p:cTn dur="500"/>
                                        <p:tgtEl>
                                          <p:spTgt spid="20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9" st="9"/>
                                            </p:txEl>
                                          </p:spTgt>
                                        </p:tgtEl>
                                        <p:attrNameLst>
                                          <p:attrName>style.visibility</p:attrName>
                                        </p:attrNameLst>
                                      </p:cBhvr>
                                      <p:to>
                                        <p:strVal val="visible"/>
                                      </p:to>
                                    </p:set>
                                    <p:animEffect filter="fade" transition="in">
                                      <p:cBhvr>
                                        <p:cTn dur="500"/>
                                        <p:tgtEl>
                                          <p:spTgt spid="20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9"/>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Analyzing Algorithms</a:t>
            </a:r>
            <a:endParaRPr/>
          </a:p>
        </p:txBody>
      </p:sp>
      <p:sp>
        <p:nvSpPr>
          <p:cNvPr id="213" name="Google Shape;213;p19"/>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rPr lang="en-US"/>
              <a:t>Analysing an algorithm means predicting the resources that the algorithm requires</a:t>
            </a:r>
            <a:endParaRPr/>
          </a:p>
          <a:p>
            <a:pPr indent="0" lvl="0" marL="0" rtl="0" algn="just">
              <a:lnSpc>
                <a:spcPct val="90000"/>
              </a:lnSpc>
              <a:spcBef>
                <a:spcPts val="1000"/>
              </a:spcBef>
              <a:spcAft>
                <a:spcPts val="0"/>
              </a:spcAft>
              <a:buSzPts val="2400"/>
              <a:buNone/>
            </a:pPr>
            <a:r>
              <a:rPr b="1" lang="en-US"/>
              <a:t>What is to be analyzed?</a:t>
            </a:r>
            <a:endParaRPr/>
          </a:p>
          <a:p>
            <a:pPr indent="-342900" lvl="0" marL="342900" rtl="0" algn="just">
              <a:lnSpc>
                <a:spcPct val="90000"/>
              </a:lnSpc>
              <a:spcBef>
                <a:spcPts val="1000"/>
              </a:spcBef>
              <a:spcAft>
                <a:spcPts val="0"/>
              </a:spcAft>
              <a:buSzPts val="2400"/>
              <a:buFont typeface="Noto Sans Symbols"/>
              <a:buChar char="⮚"/>
            </a:pPr>
            <a:r>
              <a:rPr lang="en-US"/>
              <a:t> Memory, communication bandwidth, hardware, computational time</a:t>
            </a:r>
            <a:endParaRPr/>
          </a:p>
          <a:p>
            <a:pPr indent="-342900" lvl="0" marL="342900" rtl="0" algn="just">
              <a:lnSpc>
                <a:spcPct val="90000"/>
              </a:lnSpc>
              <a:spcBef>
                <a:spcPts val="1000"/>
              </a:spcBef>
              <a:spcAft>
                <a:spcPts val="0"/>
              </a:spcAft>
              <a:buSzPts val="2400"/>
              <a:buFont typeface="Noto Sans Symbols"/>
              <a:buChar char="⮚"/>
            </a:pPr>
            <a:r>
              <a:rPr lang="en-US"/>
              <a:t>One processor Random Access Machine (RAM) model</a:t>
            </a:r>
            <a:endParaRPr/>
          </a:p>
          <a:p>
            <a:pPr indent="-342900" lvl="1" marL="800100" rtl="0" algn="just">
              <a:lnSpc>
                <a:spcPct val="90000"/>
              </a:lnSpc>
              <a:spcBef>
                <a:spcPts val="500"/>
              </a:spcBef>
              <a:spcAft>
                <a:spcPts val="0"/>
              </a:spcAft>
              <a:buSzPts val="2000"/>
              <a:buFont typeface="Noto Sans Symbols"/>
              <a:buChar char="⮚"/>
            </a:pPr>
            <a:r>
              <a:rPr lang="en-US"/>
              <a:t> Implementation Technology</a:t>
            </a:r>
            <a:endParaRPr/>
          </a:p>
          <a:p>
            <a:pPr indent="-342900" lvl="1" marL="800100" rtl="0" algn="just">
              <a:lnSpc>
                <a:spcPct val="90000"/>
              </a:lnSpc>
              <a:spcBef>
                <a:spcPts val="500"/>
              </a:spcBef>
              <a:spcAft>
                <a:spcPts val="0"/>
              </a:spcAft>
              <a:buSzPts val="2000"/>
              <a:buFont typeface="Noto Sans Symbols"/>
              <a:buChar char="⮚"/>
            </a:pPr>
            <a:r>
              <a:rPr lang="en-US"/>
              <a:t> Instructions are executed one after another, with no concurrent operations</a:t>
            </a:r>
            <a:endParaRPr/>
          </a:p>
          <a:p>
            <a:pPr indent="-342900" lvl="1" marL="800100" rtl="0" algn="just">
              <a:lnSpc>
                <a:spcPct val="90000"/>
              </a:lnSpc>
              <a:spcBef>
                <a:spcPts val="500"/>
              </a:spcBef>
              <a:spcAft>
                <a:spcPts val="0"/>
              </a:spcAft>
              <a:buSzPts val="2000"/>
              <a:buFont typeface="Noto Sans Symbols"/>
              <a:buChar char="⮚"/>
            </a:pPr>
            <a:r>
              <a:rPr lang="en-US"/>
              <a:t> Instructions of RAM model</a:t>
            </a:r>
            <a:endParaRPr/>
          </a:p>
          <a:p>
            <a:pPr indent="-285750" lvl="2" marL="1200150" rtl="0" algn="just">
              <a:lnSpc>
                <a:spcPct val="90000"/>
              </a:lnSpc>
              <a:spcBef>
                <a:spcPts val="500"/>
              </a:spcBef>
              <a:spcAft>
                <a:spcPts val="0"/>
              </a:spcAft>
              <a:buSzPts val="1800"/>
              <a:buFont typeface="Noto Sans Symbols"/>
              <a:buChar char="⮚"/>
            </a:pPr>
            <a:r>
              <a:rPr lang="en-US"/>
              <a:t> Arithmetic (such as add, subtract, multiply, divide, remainder, floor, ceiling)</a:t>
            </a:r>
            <a:endParaRPr/>
          </a:p>
          <a:p>
            <a:pPr indent="-285750" lvl="2" marL="1200150" rtl="0" algn="just">
              <a:lnSpc>
                <a:spcPct val="90000"/>
              </a:lnSpc>
              <a:spcBef>
                <a:spcPts val="500"/>
              </a:spcBef>
              <a:spcAft>
                <a:spcPts val="0"/>
              </a:spcAft>
              <a:buSzPts val="1800"/>
              <a:buFont typeface="Noto Sans Symbols"/>
              <a:buChar char="⮚"/>
            </a:pPr>
            <a:r>
              <a:rPr lang="en-US"/>
              <a:t> Data movement (load, store, copy) and control (conditional and unconditional branch, subroutine call and return) </a:t>
            </a:r>
            <a:endParaRPr/>
          </a:p>
          <a:p>
            <a:pPr indent="-285750" lvl="2" marL="1200150" rtl="0" algn="just">
              <a:lnSpc>
                <a:spcPct val="90000"/>
              </a:lnSpc>
              <a:spcBef>
                <a:spcPts val="500"/>
              </a:spcBef>
              <a:spcAft>
                <a:spcPts val="0"/>
              </a:spcAft>
              <a:buSzPts val="1800"/>
              <a:buFont typeface="Noto Sans Symbols"/>
              <a:buChar char="⮚"/>
            </a:pPr>
            <a:r>
              <a:rPr lang="en-US"/>
              <a:t>Each such instruction takes constant amount of time – Primitive / Elementary Operations</a:t>
            </a:r>
            <a:endParaRPr/>
          </a:p>
          <a:p>
            <a:pPr indent="-342900" lvl="0" marL="342900" rtl="0" algn="just">
              <a:lnSpc>
                <a:spcPct val="90000"/>
              </a:lnSpc>
              <a:spcBef>
                <a:spcPts val="1000"/>
              </a:spcBef>
              <a:spcAft>
                <a:spcPts val="0"/>
              </a:spcAft>
              <a:buSzPts val="2400"/>
              <a:buFont typeface="Noto Sans Symbols"/>
              <a:buChar char="⮚"/>
            </a:pPr>
            <a:r>
              <a:rPr lang="en-US"/>
              <a:t>In the literature of “Algorithms”, </a:t>
            </a:r>
            <a:r>
              <a:rPr b="1" lang="en-US">
                <a:solidFill>
                  <a:srgbClr val="C00000"/>
                </a:solidFill>
              </a:rPr>
              <a:t>space</a:t>
            </a:r>
            <a:r>
              <a:rPr lang="en-US"/>
              <a:t> and </a:t>
            </a:r>
            <a:r>
              <a:rPr b="1" lang="en-US">
                <a:solidFill>
                  <a:srgbClr val="C00000"/>
                </a:solidFill>
              </a:rPr>
              <a:t>time</a:t>
            </a:r>
            <a:r>
              <a:rPr lang="en-US"/>
              <a:t> requirements of an algorithm are commonly referred to as “Space Complexity” and “Time Complexity” respectively.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0"/>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Analyzing Algorithms</a:t>
            </a:r>
            <a:endParaRPr/>
          </a:p>
        </p:txBody>
      </p:sp>
      <p:sp>
        <p:nvSpPr>
          <p:cNvPr id="219" name="Google Shape;219;p20"/>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rPr b="1" lang="en-US"/>
              <a:t>Input Size</a:t>
            </a:r>
            <a:endParaRPr/>
          </a:p>
          <a:p>
            <a:pPr indent="-352425" lvl="1" marL="809625" rtl="0" algn="just">
              <a:lnSpc>
                <a:spcPct val="90000"/>
              </a:lnSpc>
              <a:spcBef>
                <a:spcPts val="500"/>
              </a:spcBef>
              <a:spcAft>
                <a:spcPts val="0"/>
              </a:spcAft>
              <a:buSzPts val="2000"/>
              <a:buChar char="⮩"/>
            </a:pPr>
            <a:r>
              <a:rPr lang="en-US"/>
              <a:t> The best notion for input size depends on the </a:t>
            </a:r>
            <a:r>
              <a:rPr lang="en-US">
                <a:solidFill>
                  <a:srgbClr val="C00000"/>
                </a:solidFill>
              </a:rPr>
              <a:t>problem</a:t>
            </a:r>
            <a:r>
              <a:rPr lang="en-US"/>
              <a:t> being studied. </a:t>
            </a:r>
            <a:endParaRPr/>
          </a:p>
          <a:p>
            <a:pPr indent="-225425" lvl="1" marL="809625" rtl="0" algn="just">
              <a:lnSpc>
                <a:spcPct val="90000"/>
              </a:lnSpc>
              <a:spcBef>
                <a:spcPts val="500"/>
              </a:spcBef>
              <a:spcAft>
                <a:spcPts val="0"/>
              </a:spcAft>
              <a:buSzPts val="2000"/>
              <a:buNone/>
            </a:pPr>
            <a:r>
              <a:t/>
            </a:r>
            <a:endParaRPr/>
          </a:p>
          <a:p>
            <a:pPr indent="-352425" lvl="1" marL="809625" rtl="0" algn="just">
              <a:lnSpc>
                <a:spcPct val="90000"/>
              </a:lnSpc>
              <a:spcBef>
                <a:spcPts val="500"/>
              </a:spcBef>
              <a:spcAft>
                <a:spcPts val="0"/>
              </a:spcAft>
              <a:buSzPts val="2000"/>
              <a:buChar char="⮩"/>
            </a:pPr>
            <a:r>
              <a:rPr lang="en-US"/>
              <a:t> For many problems, such as sorting or computing discrete Fourier transforms, the </a:t>
            </a:r>
            <a:r>
              <a:rPr lang="en-US">
                <a:solidFill>
                  <a:srgbClr val="C00000"/>
                </a:solidFill>
              </a:rPr>
              <a:t>most natural measure is the number of items in the input</a:t>
            </a:r>
            <a:r>
              <a:rPr lang="en-US"/>
              <a:t>—for example, the array size n for sorting. </a:t>
            </a:r>
            <a:endParaRPr/>
          </a:p>
          <a:p>
            <a:pPr indent="-225425" lvl="1" marL="809625" rtl="0" algn="just">
              <a:lnSpc>
                <a:spcPct val="90000"/>
              </a:lnSpc>
              <a:spcBef>
                <a:spcPts val="500"/>
              </a:spcBef>
              <a:spcAft>
                <a:spcPts val="0"/>
              </a:spcAft>
              <a:buSzPts val="2000"/>
              <a:buNone/>
            </a:pPr>
            <a:r>
              <a:t/>
            </a:r>
            <a:endParaRPr/>
          </a:p>
          <a:p>
            <a:pPr indent="-352425" lvl="1" marL="809625" rtl="0" algn="just">
              <a:lnSpc>
                <a:spcPct val="90000"/>
              </a:lnSpc>
              <a:spcBef>
                <a:spcPts val="500"/>
              </a:spcBef>
              <a:spcAft>
                <a:spcPts val="0"/>
              </a:spcAft>
              <a:buSzPts val="2000"/>
              <a:buChar char="⮩"/>
            </a:pPr>
            <a:r>
              <a:rPr lang="en-US"/>
              <a:t> For many other problems, such as multiplying two integers, the best measure of input size is the </a:t>
            </a:r>
            <a:r>
              <a:rPr lang="en-US">
                <a:solidFill>
                  <a:srgbClr val="C00000"/>
                </a:solidFill>
              </a:rPr>
              <a:t>total number of bits needed </a:t>
            </a:r>
            <a:r>
              <a:rPr lang="en-US"/>
              <a:t>to represent the input in ordinary binary notation. </a:t>
            </a:r>
            <a:endParaRPr/>
          </a:p>
          <a:p>
            <a:pPr indent="-225425" lvl="1" marL="809625" rtl="0" algn="just">
              <a:lnSpc>
                <a:spcPct val="90000"/>
              </a:lnSpc>
              <a:spcBef>
                <a:spcPts val="500"/>
              </a:spcBef>
              <a:spcAft>
                <a:spcPts val="0"/>
              </a:spcAft>
              <a:buSzPts val="2000"/>
              <a:buNone/>
            </a:pPr>
            <a:r>
              <a:t/>
            </a:r>
            <a:endParaRPr/>
          </a:p>
          <a:p>
            <a:pPr indent="-352425" lvl="1" marL="809625" rtl="0" algn="just">
              <a:lnSpc>
                <a:spcPct val="90000"/>
              </a:lnSpc>
              <a:spcBef>
                <a:spcPts val="500"/>
              </a:spcBef>
              <a:spcAft>
                <a:spcPts val="0"/>
              </a:spcAft>
              <a:buSzPts val="2000"/>
              <a:buChar char="⮩"/>
            </a:pPr>
            <a:r>
              <a:rPr lang="en-US"/>
              <a:t> Sometimes, it is more appropriate to describe the size of the input with </a:t>
            </a:r>
            <a:r>
              <a:rPr lang="en-US">
                <a:solidFill>
                  <a:srgbClr val="C00000"/>
                </a:solidFill>
              </a:rPr>
              <a:t>two numbers </a:t>
            </a:r>
            <a:r>
              <a:rPr lang="en-US"/>
              <a:t>rather than one. </a:t>
            </a:r>
            <a:endParaRPr/>
          </a:p>
          <a:p>
            <a:pPr indent="-352425" lvl="2" marL="1266825" rtl="0" algn="just">
              <a:lnSpc>
                <a:spcPct val="90000"/>
              </a:lnSpc>
              <a:spcBef>
                <a:spcPts val="500"/>
              </a:spcBef>
              <a:spcAft>
                <a:spcPts val="0"/>
              </a:spcAft>
              <a:buSzPts val="2000"/>
              <a:buChar char="⮩"/>
            </a:pPr>
            <a:r>
              <a:rPr lang="en-US"/>
              <a:t>For instance, if the input to an algorithm is a graph, the input size can be described by the numbers of vertices and edges in the graph. </a:t>
            </a:r>
            <a:endParaRPr/>
          </a:p>
          <a:p>
            <a:pPr indent="-225425" lvl="1" marL="809625" rtl="0" algn="just">
              <a:lnSpc>
                <a:spcPct val="90000"/>
              </a:lnSpc>
              <a:spcBef>
                <a:spcPts val="500"/>
              </a:spcBef>
              <a:spcAft>
                <a:spcPts val="0"/>
              </a:spcAft>
              <a:buSzPts val="2000"/>
              <a:buNone/>
            </a:pPr>
            <a:r>
              <a:t/>
            </a:r>
            <a:endParaRPr/>
          </a:p>
          <a:p>
            <a:pPr indent="-352425" lvl="1" marL="809625" rtl="0" algn="just">
              <a:lnSpc>
                <a:spcPct val="90000"/>
              </a:lnSpc>
              <a:spcBef>
                <a:spcPts val="500"/>
              </a:spcBef>
              <a:spcAft>
                <a:spcPts val="0"/>
              </a:spcAft>
              <a:buSzPts val="2000"/>
              <a:buChar char="⮩"/>
            </a:pPr>
            <a:r>
              <a:rPr lang="en-US"/>
              <a:t> We shall indicate which input size measure is being used with each problem we study.</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Analyzing Algorithms</a:t>
            </a:r>
            <a:endParaRPr/>
          </a:p>
        </p:txBody>
      </p:sp>
      <p:sp>
        <p:nvSpPr>
          <p:cNvPr id="225" name="Google Shape;225;p21"/>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rPr b="1" lang="en-US"/>
              <a:t>Running Time</a:t>
            </a:r>
            <a:endParaRPr/>
          </a:p>
          <a:p>
            <a:pPr indent="-352425" lvl="1" marL="809625" rtl="0" algn="just">
              <a:lnSpc>
                <a:spcPct val="90000"/>
              </a:lnSpc>
              <a:spcBef>
                <a:spcPts val="500"/>
              </a:spcBef>
              <a:spcAft>
                <a:spcPts val="0"/>
              </a:spcAft>
              <a:buSzPts val="2000"/>
              <a:buChar char="⮩"/>
            </a:pPr>
            <a:r>
              <a:rPr lang="en-US"/>
              <a:t>The running time of an algorithm on a particular input is the </a:t>
            </a:r>
            <a:r>
              <a:rPr lang="en-US">
                <a:solidFill>
                  <a:srgbClr val="C00000"/>
                </a:solidFill>
              </a:rPr>
              <a:t>number of primitive operations or “steps” executed. </a:t>
            </a:r>
            <a:endParaRPr>
              <a:solidFill>
                <a:srgbClr val="C00000"/>
              </a:solidFill>
            </a:endParaRPr>
          </a:p>
          <a:p>
            <a:pPr indent="0" lvl="1" marL="457200" rtl="0" algn="just">
              <a:lnSpc>
                <a:spcPct val="90000"/>
              </a:lnSpc>
              <a:spcBef>
                <a:spcPts val="500"/>
              </a:spcBef>
              <a:spcAft>
                <a:spcPts val="0"/>
              </a:spcAft>
              <a:buSzPts val="2000"/>
              <a:buNone/>
            </a:pPr>
            <a:r>
              <a:rPr lang="en-US"/>
              <a:t> </a:t>
            </a:r>
            <a:endParaRPr/>
          </a:p>
          <a:p>
            <a:pPr indent="0" lvl="1" marL="457200" rtl="0" algn="just">
              <a:lnSpc>
                <a:spcPct val="90000"/>
              </a:lnSpc>
              <a:spcBef>
                <a:spcPts val="500"/>
              </a:spcBef>
              <a:spcAft>
                <a:spcPts val="0"/>
              </a:spcAft>
              <a:buSzPts val="2000"/>
              <a:buNone/>
            </a:pPr>
            <a:r>
              <a:rPr lang="en-US"/>
              <a:t>For the moment, let us adopt the following view. </a:t>
            </a:r>
            <a:endParaRPr/>
          </a:p>
          <a:p>
            <a:pPr indent="-352425" lvl="1" marL="809625" rtl="0" algn="just">
              <a:lnSpc>
                <a:spcPct val="90000"/>
              </a:lnSpc>
              <a:spcBef>
                <a:spcPts val="500"/>
              </a:spcBef>
              <a:spcAft>
                <a:spcPts val="0"/>
              </a:spcAft>
              <a:buSzPts val="2000"/>
              <a:buChar char="⮩"/>
            </a:pPr>
            <a:r>
              <a:rPr lang="en-US"/>
              <a:t> A </a:t>
            </a:r>
            <a:r>
              <a:rPr lang="en-US">
                <a:solidFill>
                  <a:srgbClr val="C00000"/>
                </a:solidFill>
              </a:rPr>
              <a:t>constant amount </a:t>
            </a:r>
            <a:r>
              <a:rPr lang="en-US"/>
              <a:t>of time is required to execute </a:t>
            </a:r>
            <a:r>
              <a:rPr lang="en-US">
                <a:solidFill>
                  <a:srgbClr val="C00000"/>
                </a:solidFill>
              </a:rPr>
              <a:t>each line </a:t>
            </a:r>
            <a:r>
              <a:rPr lang="en-US"/>
              <a:t>of our pseudocode. </a:t>
            </a:r>
            <a:endParaRPr/>
          </a:p>
          <a:p>
            <a:pPr indent="-352425" lvl="1" marL="809625" rtl="0" algn="just">
              <a:lnSpc>
                <a:spcPct val="90000"/>
              </a:lnSpc>
              <a:spcBef>
                <a:spcPts val="500"/>
              </a:spcBef>
              <a:spcAft>
                <a:spcPts val="0"/>
              </a:spcAft>
              <a:buSzPts val="2000"/>
              <a:buChar char="⮩"/>
            </a:pPr>
            <a:r>
              <a:rPr lang="en-US"/>
              <a:t> One line may take a different amount of time than another line, but we shall assume that each execution of the </a:t>
            </a:r>
            <a:r>
              <a:rPr lang="en-US">
                <a:solidFill>
                  <a:srgbClr val="C00000"/>
                </a:solidFill>
              </a:rPr>
              <a:t>i</a:t>
            </a:r>
            <a:r>
              <a:rPr baseline="30000" lang="en-US">
                <a:solidFill>
                  <a:srgbClr val="C00000"/>
                </a:solidFill>
              </a:rPr>
              <a:t>th</a:t>
            </a:r>
            <a:r>
              <a:rPr lang="en-US">
                <a:solidFill>
                  <a:srgbClr val="C00000"/>
                </a:solidFill>
              </a:rPr>
              <a:t> line </a:t>
            </a:r>
            <a:r>
              <a:rPr lang="en-US"/>
              <a:t>takes time </a:t>
            </a:r>
            <a:r>
              <a:rPr lang="en-US">
                <a:solidFill>
                  <a:srgbClr val="C00000"/>
                </a:solidFill>
              </a:rPr>
              <a:t>c</a:t>
            </a:r>
            <a:r>
              <a:rPr baseline="-25000" lang="en-US">
                <a:solidFill>
                  <a:srgbClr val="C00000"/>
                </a:solidFill>
              </a:rPr>
              <a:t>i</a:t>
            </a:r>
            <a:r>
              <a:rPr lang="en-US"/>
              <a:t>, where </a:t>
            </a:r>
            <a:r>
              <a:rPr lang="en-US">
                <a:solidFill>
                  <a:srgbClr val="C00000"/>
                </a:solidFill>
              </a:rPr>
              <a:t>c</a:t>
            </a:r>
            <a:r>
              <a:rPr baseline="-25000" lang="en-US">
                <a:solidFill>
                  <a:srgbClr val="C00000"/>
                </a:solidFill>
              </a:rPr>
              <a:t>i</a:t>
            </a:r>
            <a:r>
              <a:rPr lang="en-US"/>
              <a:t> is a constant. (Precisely, </a:t>
            </a:r>
            <a:r>
              <a:rPr lang="en-US">
                <a:solidFill>
                  <a:srgbClr val="C00000"/>
                </a:solidFill>
              </a:rPr>
              <a:t>c</a:t>
            </a:r>
            <a:r>
              <a:rPr baseline="-25000" lang="en-US">
                <a:solidFill>
                  <a:srgbClr val="C00000"/>
                </a:solidFill>
              </a:rPr>
              <a:t>i</a:t>
            </a:r>
            <a:r>
              <a:rPr lang="en-US"/>
              <a:t> bounds the time required to execute </a:t>
            </a:r>
            <a:r>
              <a:rPr lang="en-US">
                <a:solidFill>
                  <a:srgbClr val="C00000"/>
                </a:solidFill>
              </a:rPr>
              <a:t>i</a:t>
            </a:r>
            <a:r>
              <a:rPr baseline="30000" lang="en-US">
                <a:solidFill>
                  <a:srgbClr val="C00000"/>
                </a:solidFill>
              </a:rPr>
              <a:t>th</a:t>
            </a:r>
            <a:r>
              <a:rPr lang="en-US"/>
              <a:t> line, from above or below, based on whether we want to think of upper bound or lower bound on time requirement.)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Analyzing Algorithms</a:t>
            </a:r>
            <a:endParaRPr/>
          </a:p>
        </p:txBody>
      </p:sp>
      <p:sp>
        <p:nvSpPr>
          <p:cNvPr id="231" name="Google Shape;231;p22"/>
          <p:cNvSpPr txBox="1"/>
          <p:nvPr>
            <p:ph idx="1" type="body"/>
          </p:nvPr>
        </p:nvSpPr>
        <p:spPr>
          <a:xfrm>
            <a:off x="131178" y="846582"/>
            <a:ext cx="11929641" cy="5590565"/>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accent6"/>
              </a:buClr>
              <a:buSzPts val="2400"/>
              <a:buFont typeface="Noto Sans Symbols"/>
              <a:buChar char="⮚"/>
            </a:pPr>
            <a:r>
              <a:rPr b="1" lang="en-US"/>
              <a:t>Space Complexity :  </a:t>
            </a:r>
            <a:r>
              <a:rPr lang="en-US"/>
              <a:t>Space complexity is a measure of the amount of working storage (memory) an algorithm needs. That means, how much memory, in the worst case, is needed at any point in the algorithm.</a:t>
            </a:r>
            <a:endParaRPr/>
          </a:p>
          <a:p>
            <a:pPr indent="0" lvl="0" marL="0" rtl="0" algn="just">
              <a:lnSpc>
                <a:spcPct val="90000"/>
              </a:lnSpc>
              <a:spcBef>
                <a:spcPts val="1000"/>
              </a:spcBef>
              <a:spcAft>
                <a:spcPts val="0"/>
              </a:spcAft>
              <a:buSzPts val="2400"/>
              <a:buNone/>
            </a:pPr>
            <a:r>
              <a:rPr lang="en-US"/>
              <a:t>Ex:-  int sum(int x, int y, int z)</a:t>
            </a:r>
            <a:endParaRPr/>
          </a:p>
          <a:p>
            <a:pPr indent="0" lvl="0" marL="0" rtl="0" algn="just">
              <a:lnSpc>
                <a:spcPct val="90000"/>
              </a:lnSpc>
              <a:spcBef>
                <a:spcPts val="1000"/>
              </a:spcBef>
              <a:spcAft>
                <a:spcPts val="0"/>
              </a:spcAft>
              <a:buSzPts val="2400"/>
              <a:buNone/>
            </a:pPr>
            <a:r>
              <a:rPr lang="en-US"/>
              <a:t>          {</a:t>
            </a:r>
            <a:endParaRPr/>
          </a:p>
          <a:p>
            <a:pPr indent="0" lvl="0" marL="0" rtl="0" algn="just">
              <a:lnSpc>
                <a:spcPct val="90000"/>
              </a:lnSpc>
              <a:spcBef>
                <a:spcPts val="1000"/>
              </a:spcBef>
              <a:spcAft>
                <a:spcPts val="0"/>
              </a:spcAft>
              <a:buSzPts val="2400"/>
              <a:buNone/>
            </a:pPr>
            <a:r>
              <a:rPr lang="en-US"/>
              <a:t>            int r = x * y * z;</a:t>
            </a:r>
            <a:endParaRPr/>
          </a:p>
          <a:p>
            <a:pPr indent="0" lvl="0" marL="0" rtl="0" algn="just">
              <a:lnSpc>
                <a:spcPct val="90000"/>
              </a:lnSpc>
              <a:spcBef>
                <a:spcPts val="1000"/>
              </a:spcBef>
              <a:spcAft>
                <a:spcPts val="0"/>
              </a:spcAft>
              <a:buSzPts val="2400"/>
              <a:buNone/>
            </a:pPr>
            <a:r>
              <a:rPr lang="en-US"/>
              <a:t>            return r;</a:t>
            </a:r>
            <a:endParaRPr/>
          </a:p>
          <a:p>
            <a:pPr indent="0" lvl="0" marL="0" rtl="0" algn="just">
              <a:lnSpc>
                <a:spcPct val="90000"/>
              </a:lnSpc>
              <a:spcBef>
                <a:spcPts val="1000"/>
              </a:spcBef>
              <a:spcAft>
                <a:spcPts val="0"/>
              </a:spcAft>
              <a:buSzPts val="2400"/>
              <a:buNone/>
            </a:pPr>
            <a:r>
              <a:rPr lang="en-US"/>
              <a:t>          }</a:t>
            </a:r>
            <a:endParaRPr/>
          </a:p>
          <a:p>
            <a:pPr indent="0" lvl="0" marL="0" rtl="0" algn="just">
              <a:lnSpc>
                <a:spcPct val="90000"/>
              </a:lnSpc>
              <a:spcBef>
                <a:spcPts val="1000"/>
              </a:spcBef>
              <a:spcAft>
                <a:spcPts val="0"/>
              </a:spcAft>
              <a:buSzPts val="2400"/>
              <a:buNone/>
            </a:pPr>
            <a:r>
              <a:rPr lang="en-US"/>
              <a:t>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 The code requires 3 units of space for the parameters and 1 unit for the local variable.  </a:t>
            </a:r>
            <a:endParaRPr/>
          </a:p>
          <a:p>
            <a:pPr indent="0" lvl="0" marL="0" rtl="0" algn="just">
              <a:lnSpc>
                <a:spcPct val="90000"/>
              </a:lnSpc>
              <a:spcBef>
                <a:spcPts val="1000"/>
              </a:spcBef>
              <a:spcAft>
                <a:spcPts val="0"/>
              </a:spcAft>
              <a:buSzPts val="2400"/>
              <a:buNone/>
            </a:pPr>
            <a:r>
              <a:rPr lang="en-US"/>
              <a:t> </a:t>
            </a:r>
            <a:endParaRPr/>
          </a:p>
          <a:p>
            <a:pPr indent="-112713" lvl="0" marL="265113" rtl="0" algn="just">
              <a:lnSpc>
                <a:spcPct val="90000"/>
              </a:lnSpc>
              <a:spcBef>
                <a:spcPts val="1000"/>
              </a:spcBef>
              <a:spcAft>
                <a:spcPts val="0"/>
              </a:spcAft>
              <a:buClr>
                <a:schemeClr val="accent6"/>
              </a:buClr>
              <a:buSzPts val="2400"/>
              <a:buFont typeface="Noto Sans Symbols"/>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animEffect filter="fade" transition="in">
                                      <p:cBhvr>
                                        <p:cTn dur="500"/>
                                        <p:tgtEl>
                                          <p:spTgt spid="2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animEffect filter="fade" transition="in">
                                      <p:cBhvr>
                                        <p:cTn dur="500"/>
                                        <p:tgtEl>
                                          <p:spTgt spid="2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2" st="2"/>
                                            </p:txEl>
                                          </p:spTgt>
                                        </p:tgtEl>
                                        <p:attrNameLst>
                                          <p:attrName>style.visibility</p:attrName>
                                        </p:attrNameLst>
                                      </p:cBhvr>
                                      <p:to>
                                        <p:strVal val="visible"/>
                                      </p:to>
                                    </p:set>
                                    <p:animEffect filter="fade" transition="in">
                                      <p:cBhvr>
                                        <p:cTn dur="500"/>
                                        <p:tgtEl>
                                          <p:spTgt spid="2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3" st="3"/>
                                            </p:txEl>
                                          </p:spTgt>
                                        </p:tgtEl>
                                        <p:attrNameLst>
                                          <p:attrName>style.visibility</p:attrName>
                                        </p:attrNameLst>
                                      </p:cBhvr>
                                      <p:to>
                                        <p:strVal val="visible"/>
                                      </p:to>
                                    </p:set>
                                    <p:animEffect filter="fade" transition="in">
                                      <p:cBhvr>
                                        <p:cTn dur="500"/>
                                        <p:tgtEl>
                                          <p:spTgt spid="2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4" st="4"/>
                                            </p:txEl>
                                          </p:spTgt>
                                        </p:tgtEl>
                                        <p:attrNameLst>
                                          <p:attrName>style.visibility</p:attrName>
                                        </p:attrNameLst>
                                      </p:cBhvr>
                                      <p:to>
                                        <p:strVal val="visible"/>
                                      </p:to>
                                    </p:set>
                                    <p:animEffect filter="fade" transition="in">
                                      <p:cBhvr>
                                        <p:cTn dur="500"/>
                                        <p:tgtEl>
                                          <p:spTgt spid="2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5" st="5"/>
                                            </p:txEl>
                                          </p:spTgt>
                                        </p:tgtEl>
                                        <p:attrNameLst>
                                          <p:attrName>style.visibility</p:attrName>
                                        </p:attrNameLst>
                                      </p:cBhvr>
                                      <p:to>
                                        <p:strVal val="visible"/>
                                      </p:to>
                                    </p:set>
                                    <p:animEffect filter="fade" transition="in">
                                      <p:cBhvr>
                                        <p:cTn dur="500"/>
                                        <p:tgtEl>
                                          <p:spTgt spid="2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6" st="6"/>
                                            </p:txEl>
                                          </p:spTgt>
                                        </p:tgtEl>
                                        <p:attrNameLst>
                                          <p:attrName>style.visibility</p:attrName>
                                        </p:attrNameLst>
                                      </p:cBhvr>
                                      <p:to>
                                        <p:strVal val="visible"/>
                                      </p:to>
                                    </p:set>
                                    <p:animEffect filter="fade" transition="in">
                                      <p:cBhvr>
                                        <p:cTn dur="500"/>
                                        <p:tgtEl>
                                          <p:spTgt spid="23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7" st="7"/>
                                            </p:txEl>
                                          </p:spTgt>
                                        </p:tgtEl>
                                        <p:attrNameLst>
                                          <p:attrName>style.visibility</p:attrName>
                                        </p:attrNameLst>
                                      </p:cBhvr>
                                      <p:to>
                                        <p:strVal val="visible"/>
                                      </p:to>
                                    </p:set>
                                    <p:animEffect filter="fade" transition="in">
                                      <p:cBhvr>
                                        <p:cTn dur="500"/>
                                        <p:tgtEl>
                                          <p:spTgt spid="23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8" st="8"/>
                                            </p:txEl>
                                          </p:spTgt>
                                        </p:tgtEl>
                                        <p:attrNameLst>
                                          <p:attrName>style.visibility</p:attrName>
                                        </p:attrNameLst>
                                      </p:cBhvr>
                                      <p:to>
                                        <p:strVal val="visible"/>
                                      </p:to>
                                    </p:set>
                                    <p:animEffect filter="fade" transition="in">
                                      <p:cBhvr>
                                        <p:cTn dur="500"/>
                                        <p:tgtEl>
                                          <p:spTgt spid="23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9" st="9"/>
                                            </p:txEl>
                                          </p:spTgt>
                                        </p:tgtEl>
                                        <p:attrNameLst>
                                          <p:attrName>style.visibility</p:attrName>
                                        </p:attrNameLst>
                                      </p:cBhvr>
                                      <p:to>
                                        <p:strVal val="visible"/>
                                      </p:to>
                                    </p:set>
                                    <p:animEffect filter="fade" transition="in">
                                      <p:cBhvr>
                                        <p:cTn dur="500"/>
                                        <p:tgtEl>
                                          <p:spTgt spid="23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Analyzing Algorithms</a:t>
            </a:r>
            <a:endParaRPr/>
          </a:p>
        </p:txBody>
      </p:sp>
      <p:sp>
        <p:nvSpPr>
          <p:cNvPr id="237" name="Google Shape;237;p23"/>
          <p:cNvSpPr txBox="1"/>
          <p:nvPr>
            <p:ph idx="1" type="body"/>
          </p:nvPr>
        </p:nvSpPr>
        <p:spPr>
          <a:xfrm>
            <a:off x="131179" y="784438"/>
            <a:ext cx="11929641" cy="5590565"/>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2400"/>
              <a:buNone/>
            </a:pPr>
            <a:r>
              <a:rPr b="1" lang="en-US"/>
              <a:t>Time Complexity </a:t>
            </a:r>
            <a:r>
              <a:rPr lang="en-US"/>
              <a:t>: Time complexity is a measure of the amount of execution time an algorithm needs. It is most commonly estimated by counting the number of elementary steps (operations) performed by any algorithm to finish its execution. </a:t>
            </a:r>
            <a:endParaRPr/>
          </a:p>
          <a:p>
            <a:pPr indent="0" lvl="0" marL="0" rtl="0" algn="just">
              <a:lnSpc>
                <a:spcPct val="90000"/>
              </a:lnSpc>
              <a:spcBef>
                <a:spcPts val="1000"/>
              </a:spcBef>
              <a:spcAft>
                <a:spcPts val="0"/>
              </a:spcAft>
              <a:buSzPts val="2400"/>
              <a:buNone/>
            </a:pPr>
            <a:r>
              <a:rPr lang="en-US"/>
              <a:t>Ex:-    int sum(A,n)                // A is an array and n is the number of elements in A</a:t>
            </a:r>
            <a:endParaRPr/>
          </a:p>
          <a:p>
            <a:pPr indent="0" lvl="0" marL="0" rtl="0" algn="just">
              <a:lnSpc>
                <a:spcPct val="90000"/>
              </a:lnSpc>
              <a:spcBef>
                <a:spcPts val="1000"/>
              </a:spcBef>
              <a:spcAft>
                <a:spcPts val="0"/>
              </a:spcAft>
              <a:buSzPts val="2400"/>
              <a:buNone/>
            </a:pPr>
            <a:r>
              <a:rPr lang="en-US"/>
              <a:t>              {                                       </a:t>
            </a:r>
            <a:endParaRPr/>
          </a:p>
          <a:p>
            <a:pPr indent="0" lvl="0" marL="0" rtl="0" algn="just">
              <a:lnSpc>
                <a:spcPct val="90000"/>
              </a:lnSpc>
              <a:spcBef>
                <a:spcPts val="1000"/>
              </a:spcBef>
              <a:spcAft>
                <a:spcPts val="0"/>
              </a:spcAft>
              <a:buSzPts val="2400"/>
              <a:buNone/>
            </a:pPr>
            <a:r>
              <a:rPr lang="en-US"/>
              <a:t>                total = 0;                    //  cost = 1 and no. of times = 1              </a:t>
            </a:r>
            <a:endParaRPr/>
          </a:p>
          <a:p>
            <a:pPr indent="0" lvl="0" marL="0" rtl="0" algn="just">
              <a:lnSpc>
                <a:spcPct val="90000"/>
              </a:lnSpc>
              <a:spcBef>
                <a:spcPts val="1000"/>
              </a:spcBef>
              <a:spcAft>
                <a:spcPts val="0"/>
              </a:spcAft>
              <a:buSzPts val="2400"/>
              <a:buNone/>
            </a:pPr>
            <a:r>
              <a:rPr lang="en-US"/>
              <a:t>                for i = 0 to n-1           //  cost = 2 and no. of times = n+1 </a:t>
            </a:r>
            <a:endParaRPr/>
          </a:p>
          <a:p>
            <a:pPr indent="0" lvl="0" marL="0" rtl="0" algn="just">
              <a:lnSpc>
                <a:spcPct val="90000"/>
              </a:lnSpc>
              <a:spcBef>
                <a:spcPts val="1000"/>
              </a:spcBef>
              <a:spcAft>
                <a:spcPts val="0"/>
              </a:spcAft>
              <a:buSzPts val="2400"/>
              <a:buNone/>
            </a:pPr>
            <a:r>
              <a:rPr lang="en-US"/>
              <a:t>                sum = sum + A[i];     //  cost = 3 and no. of times = n  </a:t>
            </a:r>
            <a:endParaRPr/>
          </a:p>
          <a:p>
            <a:pPr indent="0" lvl="0" marL="0" rtl="0" algn="just">
              <a:lnSpc>
                <a:spcPct val="90000"/>
              </a:lnSpc>
              <a:spcBef>
                <a:spcPts val="1000"/>
              </a:spcBef>
              <a:spcAft>
                <a:spcPts val="0"/>
              </a:spcAft>
              <a:buSzPts val="2400"/>
              <a:buNone/>
            </a:pPr>
            <a:r>
              <a:rPr lang="en-US"/>
              <a:t>                return sum;               //  cost = 4 and no. of times = 1</a:t>
            </a:r>
            <a:endParaRPr/>
          </a:p>
          <a:p>
            <a:pPr indent="0" lvl="0" marL="0" rtl="0" algn="just">
              <a:lnSpc>
                <a:spcPct val="90000"/>
              </a:lnSpc>
              <a:spcBef>
                <a:spcPts val="1000"/>
              </a:spcBef>
              <a:spcAft>
                <a:spcPts val="0"/>
              </a:spcAft>
              <a:buSzPts val="2400"/>
              <a:buNone/>
            </a:pPr>
            <a:r>
              <a:rPr lang="en-US"/>
              <a:t>                }</a:t>
            </a:r>
            <a:endParaRPr/>
          </a:p>
          <a:p>
            <a:pPr indent="-342900" lvl="0" marL="342900" rtl="0" algn="just">
              <a:lnSpc>
                <a:spcPct val="90000"/>
              </a:lnSpc>
              <a:spcBef>
                <a:spcPts val="1000"/>
              </a:spcBef>
              <a:spcAft>
                <a:spcPts val="0"/>
              </a:spcAft>
              <a:buClr>
                <a:schemeClr val="accent6"/>
              </a:buClr>
              <a:buSzPts val="2000"/>
              <a:buFont typeface="Noto Sans Symbols"/>
              <a:buChar char="⮚"/>
            </a:pPr>
            <a:r>
              <a:rPr lang="en-US" sz="2000"/>
              <a:t>       Time required = 1(1) + 2(n+1) + 3(n) + 4(1) </a:t>
            </a:r>
            <a:endParaRPr/>
          </a:p>
          <a:p>
            <a:pPr indent="-342900" lvl="0" marL="342900" rtl="0" algn="just">
              <a:lnSpc>
                <a:spcPct val="90000"/>
              </a:lnSpc>
              <a:spcBef>
                <a:spcPts val="1000"/>
              </a:spcBef>
              <a:spcAft>
                <a:spcPts val="0"/>
              </a:spcAft>
              <a:buClr>
                <a:schemeClr val="accent6"/>
              </a:buClr>
              <a:buSzPts val="2000"/>
              <a:buFont typeface="Noto Sans Symbols"/>
              <a:buChar char="⮚"/>
            </a:pPr>
            <a:r>
              <a:rPr lang="en-US" sz="2000"/>
              <a:t>                                = 1 + 2n +2 + 3n + 4 </a:t>
            </a:r>
            <a:endParaRPr/>
          </a:p>
          <a:p>
            <a:pPr indent="-342900" lvl="0" marL="342900" rtl="0" algn="just">
              <a:lnSpc>
                <a:spcPct val="90000"/>
              </a:lnSpc>
              <a:spcBef>
                <a:spcPts val="1000"/>
              </a:spcBef>
              <a:spcAft>
                <a:spcPts val="0"/>
              </a:spcAft>
              <a:buClr>
                <a:schemeClr val="accent6"/>
              </a:buClr>
              <a:buSzPts val="2000"/>
              <a:buFont typeface="Noto Sans Symbols"/>
              <a:buChar char="⮚"/>
            </a:pPr>
            <a:r>
              <a:rPr lang="en-US" sz="2000"/>
              <a:t>                                = 5n + 7</a:t>
            </a:r>
            <a:endParaRPr/>
          </a:p>
          <a:p>
            <a:pPr indent="-342900" lvl="0" marL="342900" rtl="0" algn="just">
              <a:lnSpc>
                <a:spcPct val="90000"/>
              </a:lnSpc>
              <a:spcBef>
                <a:spcPts val="1000"/>
              </a:spcBef>
              <a:spcAft>
                <a:spcPts val="0"/>
              </a:spcAft>
              <a:buClr>
                <a:schemeClr val="accent6"/>
              </a:buClr>
              <a:buSzPts val="2000"/>
              <a:buFont typeface="Noto Sans Symbols"/>
              <a:buChar char="⮚"/>
            </a:pPr>
            <a:r>
              <a:rPr lang="en-US" sz="2000"/>
              <a:t>                                = cn + b (c and b are constants)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animEffect filter="fade" transition="in">
                                      <p:cBhvr>
                                        <p:cTn dur="500"/>
                                        <p:tgtEl>
                                          <p:spTgt spid="2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1" st="1"/>
                                            </p:txEl>
                                          </p:spTgt>
                                        </p:tgtEl>
                                        <p:attrNameLst>
                                          <p:attrName>style.visibility</p:attrName>
                                        </p:attrNameLst>
                                      </p:cBhvr>
                                      <p:to>
                                        <p:strVal val="visible"/>
                                      </p:to>
                                    </p:set>
                                    <p:animEffect filter="fade" transition="in">
                                      <p:cBhvr>
                                        <p:cTn dur="500"/>
                                        <p:tgtEl>
                                          <p:spTgt spid="2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2" st="2"/>
                                            </p:txEl>
                                          </p:spTgt>
                                        </p:tgtEl>
                                        <p:attrNameLst>
                                          <p:attrName>style.visibility</p:attrName>
                                        </p:attrNameLst>
                                      </p:cBhvr>
                                      <p:to>
                                        <p:strVal val="visible"/>
                                      </p:to>
                                    </p:set>
                                    <p:animEffect filter="fade" transition="in">
                                      <p:cBhvr>
                                        <p:cTn dur="500"/>
                                        <p:tgtEl>
                                          <p:spTgt spid="2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3" st="3"/>
                                            </p:txEl>
                                          </p:spTgt>
                                        </p:tgtEl>
                                        <p:attrNameLst>
                                          <p:attrName>style.visibility</p:attrName>
                                        </p:attrNameLst>
                                      </p:cBhvr>
                                      <p:to>
                                        <p:strVal val="visible"/>
                                      </p:to>
                                    </p:set>
                                    <p:animEffect filter="fade" transition="in">
                                      <p:cBhvr>
                                        <p:cTn dur="500"/>
                                        <p:tgtEl>
                                          <p:spTgt spid="2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4" st="4"/>
                                            </p:txEl>
                                          </p:spTgt>
                                        </p:tgtEl>
                                        <p:attrNameLst>
                                          <p:attrName>style.visibility</p:attrName>
                                        </p:attrNameLst>
                                      </p:cBhvr>
                                      <p:to>
                                        <p:strVal val="visible"/>
                                      </p:to>
                                    </p:set>
                                    <p:animEffect filter="fade" transition="in">
                                      <p:cBhvr>
                                        <p:cTn dur="500"/>
                                        <p:tgtEl>
                                          <p:spTgt spid="2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5" st="5"/>
                                            </p:txEl>
                                          </p:spTgt>
                                        </p:tgtEl>
                                        <p:attrNameLst>
                                          <p:attrName>style.visibility</p:attrName>
                                        </p:attrNameLst>
                                      </p:cBhvr>
                                      <p:to>
                                        <p:strVal val="visible"/>
                                      </p:to>
                                    </p:set>
                                    <p:animEffect filter="fade" transition="in">
                                      <p:cBhvr>
                                        <p:cTn dur="500"/>
                                        <p:tgtEl>
                                          <p:spTgt spid="2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6" st="6"/>
                                            </p:txEl>
                                          </p:spTgt>
                                        </p:tgtEl>
                                        <p:attrNameLst>
                                          <p:attrName>style.visibility</p:attrName>
                                        </p:attrNameLst>
                                      </p:cBhvr>
                                      <p:to>
                                        <p:strVal val="visible"/>
                                      </p:to>
                                    </p:set>
                                    <p:animEffect filter="fade" transition="in">
                                      <p:cBhvr>
                                        <p:cTn dur="500"/>
                                        <p:tgtEl>
                                          <p:spTgt spid="23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7" st="7"/>
                                            </p:txEl>
                                          </p:spTgt>
                                        </p:tgtEl>
                                        <p:attrNameLst>
                                          <p:attrName>style.visibility</p:attrName>
                                        </p:attrNameLst>
                                      </p:cBhvr>
                                      <p:to>
                                        <p:strVal val="visible"/>
                                      </p:to>
                                    </p:set>
                                    <p:animEffect filter="fade" transition="in">
                                      <p:cBhvr>
                                        <p:cTn dur="500"/>
                                        <p:tgtEl>
                                          <p:spTgt spid="23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8" st="8"/>
                                            </p:txEl>
                                          </p:spTgt>
                                        </p:tgtEl>
                                        <p:attrNameLst>
                                          <p:attrName>style.visibility</p:attrName>
                                        </p:attrNameLst>
                                      </p:cBhvr>
                                      <p:to>
                                        <p:strVal val="visible"/>
                                      </p:to>
                                    </p:set>
                                    <p:animEffect filter="fade" transition="in">
                                      <p:cBhvr>
                                        <p:cTn dur="500"/>
                                        <p:tgtEl>
                                          <p:spTgt spid="23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9" st="9"/>
                                            </p:txEl>
                                          </p:spTgt>
                                        </p:tgtEl>
                                        <p:attrNameLst>
                                          <p:attrName>style.visibility</p:attrName>
                                        </p:attrNameLst>
                                      </p:cBhvr>
                                      <p:to>
                                        <p:strVal val="visible"/>
                                      </p:to>
                                    </p:set>
                                    <p:animEffect filter="fade" transition="in">
                                      <p:cBhvr>
                                        <p:cTn dur="500"/>
                                        <p:tgtEl>
                                          <p:spTgt spid="23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10" st="10"/>
                                            </p:txEl>
                                          </p:spTgt>
                                        </p:tgtEl>
                                        <p:attrNameLst>
                                          <p:attrName>style.visibility</p:attrName>
                                        </p:attrNameLst>
                                      </p:cBhvr>
                                      <p:to>
                                        <p:strVal val="visible"/>
                                      </p:to>
                                    </p:set>
                                    <p:animEffect filter="fade" transition="in">
                                      <p:cBhvr>
                                        <p:cTn dur="500"/>
                                        <p:tgtEl>
                                          <p:spTgt spid="23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11" st="11"/>
                                            </p:txEl>
                                          </p:spTgt>
                                        </p:tgtEl>
                                        <p:attrNameLst>
                                          <p:attrName>style.visibility</p:attrName>
                                        </p:attrNameLst>
                                      </p:cBhvr>
                                      <p:to>
                                        <p:strVal val="visible"/>
                                      </p:to>
                                    </p:set>
                                    <p:animEffect filter="fade" transition="in">
                                      <p:cBhvr>
                                        <p:cTn dur="500"/>
                                        <p:tgtEl>
                                          <p:spTgt spid="237">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4"/>
          <p:cNvSpPr txBox="1"/>
          <p:nvPr>
            <p:ph type="title"/>
          </p:nvPr>
        </p:nvSpPr>
        <p:spPr>
          <a:xfrm>
            <a:off x="0" y="1"/>
            <a:ext cx="12192000" cy="711200"/>
          </a:xfrm>
          <a:prstGeom prst="rect">
            <a:avLst/>
          </a:prstGeom>
          <a:solidFill>
            <a:srgbClr val="DFDFDF">
              <a:alpha val="49411"/>
            </a:srgbClr>
          </a:solidFill>
          <a:ln>
            <a:noFill/>
          </a:ln>
        </p:spPr>
        <p:txBody>
          <a:bodyPr anchorCtr="0" anchor="ctr" bIns="108000" lIns="216000" spcFirstLastPara="1" rIns="216000" wrap="square" tIns="108000">
            <a:normAutofit/>
          </a:bodyPr>
          <a:lstStyle/>
          <a:p>
            <a:pPr indent="0" lvl="0" marL="0" rtl="0" algn="l">
              <a:lnSpc>
                <a:spcPct val="90000"/>
              </a:lnSpc>
              <a:spcBef>
                <a:spcPts val="0"/>
              </a:spcBef>
              <a:spcAft>
                <a:spcPts val="0"/>
              </a:spcAft>
              <a:buClr>
                <a:srgbClr val="363636"/>
              </a:buClr>
              <a:buSzPts val="3400"/>
              <a:buFont typeface="Roboto Condensed"/>
              <a:buNone/>
            </a:pPr>
            <a:r>
              <a:rPr lang="en-US"/>
              <a:t>Significance of Time Complexity</a:t>
            </a:r>
            <a:endParaRPr/>
          </a:p>
        </p:txBody>
      </p:sp>
      <p:sp>
        <p:nvSpPr>
          <p:cNvPr id="243" name="Google Shape;243;p24"/>
          <p:cNvSpPr txBox="1"/>
          <p:nvPr>
            <p:ph idx="1" type="body"/>
          </p:nvPr>
        </p:nvSpPr>
        <p:spPr>
          <a:xfrm>
            <a:off x="131178" y="998982"/>
            <a:ext cx="11929500" cy="55905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accent6"/>
              </a:buClr>
              <a:buSzPts val="2400"/>
              <a:buFont typeface="Noto Sans Symbols"/>
              <a:buChar char="⮚"/>
            </a:pPr>
            <a:r>
              <a:rPr lang="en-US"/>
              <a:t>As memory is available cheaply and in abundance, the space complexity of an algorithm is </a:t>
            </a:r>
            <a:r>
              <a:rPr b="1" lang="en-US">
                <a:solidFill>
                  <a:srgbClr val="C00000"/>
                </a:solidFill>
              </a:rPr>
              <a:t>not</a:t>
            </a:r>
            <a:r>
              <a:rPr lang="en-US"/>
              <a:t> considered as an </a:t>
            </a:r>
            <a:r>
              <a:rPr b="1" lang="en-US">
                <a:solidFill>
                  <a:srgbClr val="C00000"/>
                </a:solidFill>
              </a:rPr>
              <a:t>effective measure </a:t>
            </a:r>
            <a:r>
              <a:rPr lang="en-US"/>
              <a:t>for analysing an algorithm’s performance.</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Running time of an algorithm with respect to the problem </a:t>
            </a:r>
            <a:r>
              <a:rPr b="1" lang="en-US">
                <a:solidFill>
                  <a:srgbClr val="C00000"/>
                </a:solidFill>
              </a:rPr>
              <a:t>instances of different sizes</a:t>
            </a:r>
            <a:r>
              <a:rPr lang="en-US"/>
              <a:t>, is often considered to be the </a:t>
            </a:r>
            <a:r>
              <a:rPr lang="en-US">
                <a:solidFill>
                  <a:srgbClr val="C00000"/>
                </a:solidFill>
              </a:rPr>
              <a:t>decisive measure </a:t>
            </a:r>
            <a:r>
              <a:rPr lang="en-US"/>
              <a:t>in differentiating between average algorithms and the optimal one.   </a:t>
            </a:r>
            <a:endParaRPr/>
          </a:p>
          <a:p>
            <a:pPr indent="-190500" lvl="0" marL="495300" rtl="0" algn="just">
              <a:lnSpc>
                <a:spcPct val="90000"/>
              </a:lnSpc>
              <a:spcBef>
                <a:spcPts val="1000"/>
              </a:spcBef>
              <a:spcAft>
                <a:spcPts val="0"/>
              </a:spcAft>
              <a:buClr>
                <a:schemeClr val="accent6"/>
              </a:buClr>
              <a:buSzPts val="2400"/>
              <a:buFont typeface="Noto Sans Symbols"/>
              <a:buNone/>
            </a:pPr>
            <a:r>
              <a:t/>
            </a:r>
            <a:endParaRPr/>
          </a:p>
          <a:p>
            <a:pPr indent="-342900" lvl="0" marL="342900" rtl="0" algn="just">
              <a:lnSpc>
                <a:spcPct val="90000"/>
              </a:lnSpc>
              <a:spcBef>
                <a:spcPts val="1000"/>
              </a:spcBef>
              <a:spcAft>
                <a:spcPts val="0"/>
              </a:spcAft>
              <a:buClr>
                <a:schemeClr val="accent6"/>
              </a:buClr>
              <a:buSzPts val="2400"/>
              <a:buFont typeface="Noto Sans Symbols"/>
              <a:buChar char="⮚"/>
            </a:pPr>
            <a:r>
              <a:rPr lang="en-US"/>
              <a:t>Thus, analysing the time complexity of an algorithm is </a:t>
            </a:r>
            <a:r>
              <a:rPr lang="en-US">
                <a:solidFill>
                  <a:srgbClr val="C00000"/>
                </a:solidFill>
              </a:rPr>
              <a:t>more important </a:t>
            </a:r>
            <a:r>
              <a:rPr lang="en-US"/>
              <a:t>than analysing the space complexity.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Effect filter="fade" transition="in">
                                      <p:cBhvr>
                                        <p:cTn dur="500"/>
                                        <p:tgtEl>
                                          <p:spTgt spid="2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animEffect filter="fade" transition="in">
                                      <p:cBhvr>
                                        <p:cTn dur="500"/>
                                        <p:tgtEl>
                                          <p:spTgt spid="2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animEffect filter="fade" transition="in">
                                      <p:cBhvr>
                                        <p:cTn dur="500"/>
                                        <p:tgtEl>
                                          <p:spTgt spid="2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3" st="3"/>
                                            </p:txEl>
                                          </p:spTgt>
                                        </p:tgtEl>
                                        <p:attrNameLst>
                                          <p:attrName>style.visibility</p:attrName>
                                        </p:attrNameLst>
                                      </p:cBhvr>
                                      <p:to>
                                        <p:strVal val="visible"/>
                                      </p:to>
                                    </p:set>
                                    <p:animEffect filter="fade" transition="in">
                                      <p:cBhvr>
                                        <p:cTn dur="500"/>
                                        <p:tgtEl>
                                          <p:spTgt spid="2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4" st="4"/>
                                            </p:txEl>
                                          </p:spTgt>
                                        </p:tgtEl>
                                        <p:attrNameLst>
                                          <p:attrName>style.visibility</p:attrName>
                                        </p:attrNameLst>
                                      </p:cBhvr>
                                      <p:to>
                                        <p:strVal val="visible"/>
                                      </p:to>
                                    </p:set>
                                    <p:animEffect filter="fade" transition="in">
                                      <p:cBhvr>
                                        <p:cTn dur="500"/>
                                        <p:tgtEl>
                                          <p:spTgt spid="24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Jay">
      <a:dk1>
        <a:srgbClr val="212121"/>
      </a:dk1>
      <a:lt1>
        <a:srgbClr val="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2020-05-01T05:09:15Z</dcterms:created>
  <dc:creator>ADMIN</dc:creator>
</cp:coreProperties>
</file>