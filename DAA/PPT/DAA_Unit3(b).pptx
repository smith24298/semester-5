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1"/>
  </p:notesMasterIdLst>
  <p:sldIdLst>
    <p:sldId id="503" r:id="rId2"/>
    <p:sldId id="378" r:id="rId3"/>
    <p:sldId id="380" r:id="rId4"/>
    <p:sldId id="523" r:id="rId5"/>
    <p:sldId id="504" r:id="rId6"/>
    <p:sldId id="505" r:id="rId7"/>
    <p:sldId id="506" r:id="rId8"/>
    <p:sldId id="507" r:id="rId9"/>
    <p:sldId id="508" r:id="rId10"/>
    <p:sldId id="509" r:id="rId11"/>
    <p:sldId id="510" r:id="rId12"/>
    <p:sldId id="511" r:id="rId13"/>
    <p:sldId id="512" r:id="rId14"/>
    <p:sldId id="525" r:id="rId15"/>
    <p:sldId id="478" r:id="rId16"/>
    <p:sldId id="479" r:id="rId17"/>
    <p:sldId id="429" r:id="rId18"/>
    <p:sldId id="477" r:id="rId19"/>
    <p:sldId id="481" r:id="rId20"/>
    <p:sldId id="396" r:id="rId21"/>
    <p:sldId id="526" r:id="rId22"/>
    <p:sldId id="482" r:id="rId23"/>
    <p:sldId id="483" r:id="rId24"/>
    <p:sldId id="484" r:id="rId25"/>
    <p:sldId id="485" r:id="rId26"/>
    <p:sldId id="486" r:id="rId27"/>
    <p:sldId id="402" r:id="rId28"/>
    <p:sldId id="487" r:id="rId29"/>
    <p:sldId id="403" r:id="rId30"/>
    <p:sldId id="404" r:id="rId31"/>
    <p:sldId id="524" r:id="rId32"/>
    <p:sldId id="467" r:id="rId33"/>
    <p:sldId id="381" r:id="rId34"/>
    <p:sldId id="468" r:id="rId35"/>
    <p:sldId id="571" r:id="rId36"/>
    <p:sldId id="570" r:id="rId37"/>
    <p:sldId id="383" r:id="rId38"/>
    <p:sldId id="419" r:id="rId39"/>
    <p:sldId id="527" r:id="rId40"/>
    <p:sldId id="491" r:id="rId41"/>
    <p:sldId id="437" r:id="rId42"/>
    <p:sldId id="573" r:id="rId43"/>
    <p:sldId id="572" r:id="rId44"/>
    <p:sldId id="574" r:id="rId45"/>
    <p:sldId id="575" r:id="rId46"/>
    <p:sldId id="581" r:id="rId47"/>
    <p:sldId id="576" r:id="rId48"/>
    <p:sldId id="577" r:id="rId49"/>
    <p:sldId id="436" r:id="rId50"/>
    <p:sldId id="492" r:id="rId51"/>
    <p:sldId id="440" r:id="rId52"/>
    <p:sldId id="528" r:id="rId53"/>
    <p:sldId id="428" r:id="rId54"/>
    <p:sldId id="431" r:id="rId55"/>
    <p:sldId id="432" r:id="rId56"/>
    <p:sldId id="495" r:id="rId57"/>
    <p:sldId id="496" r:id="rId58"/>
    <p:sldId id="499" r:id="rId59"/>
    <p:sldId id="500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02"/>
    <a:srgbClr val="8AAC46"/>
    <a:srgbClr val="E40524"/>
    <a:srgbClr val="34495E"/>
    <a:srgbClr val="0066FF"/>
    <a:srgbClr val="F8EDEC"/>
    <a:srgbClr val="D6B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3537" autoAdjust="0"/>
  </p:normalViewPr>
  <p:slideViewPr>
    <p:cSldViewPr>
      <p:cViewPr varScale="1">
        <p:scale>
          <a:sx n="61" d="100"/>
          <a:sy n="61" d="100"/>
        </p:scale>
        <p:origin x="828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192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21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55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31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78400" y="6492876"/>
            <a:ext cx="609600" cy="365125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7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8.png"/><Relationship Id="rId5" Type="http://schemas.openxmlformats.org/officeDocument/2006/relationships/image" Target="../media/image101.png"/><Relationship Id="rId10" Type="http://schemas.openxmlformats.org/officeDocument/2006/relationships/image" Target="../media/image107.png"/><Relationship Id="rId4" Type="http://schemas.openxmlformats.org/officeDocument/2006/relationships/image" Target="../media/image100.png"/><Relationship Id="rId9" Type="http://schemas.openxmlformats.org/officeDocument/2006/relationships/image" Target="../media/image10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1.png"/><Relationship Id="rId7" Type="http://schemas.openxmlformats.org/officeDocument/2006/relationships/image" Target="../media/image109.png"/><Relationship Id="rId2" Type="http://schemas.openxmlformats.org/officeDocument/2006/relationships/image" Target="../media/image5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1.png"/><Relationship Id="rId11" Type="http://schemas.openxmlformats.org/officeDocument/2006/relationships/image" Target="../media/image108.png"/><Relationship Id="rId5" Type="http://schemas.openxmlformats.org/officeDocument/2006/relationships/image" Target="../media/image731.png"/><Relationship Id="rId10" Type="http://schemas.openxmlformats.org/officeDocument/2006/relationships/image" Target="../media/image107.png"/><Relationship Id="rId4" Type="http://schemas.openxmlformats.org/officeDocument/2006/relationships/image" Target="../media/image58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1.png"/><Relationship Id="rId7" Type="http://schemas.openxmlformats.org/officeDocument/2006/relationships/image" Target="../media/image113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1.png"/><Relationship Id="rId4" Type="http://schemas.openxmlformats.org/officeDocument/2006/relationships/image" Target="../media/image110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1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0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01782" y="2245294"/>
            <a:ext cx="41881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Unit-3</a:t>
            </a:r>
          </a:p>
          <a:p>
            <a:r>
              <a:rPr lang="en-US" sz="3600" b="1" dirty="0">
                <a:solidFill>
                  <a:schemeClr val="bg1"/>
                </a:solidFill>
                <a:ea typeface="Open Sans Semibold" panose="020B0706030804020204" pitchFamily="34" charset="0"/>
                <a:cs typeface="Open Sans Semibold" panose="020B0706030804020204" pitchFamily="34" charset="0"/>
              </a:rPr>
              <a:t>Divide and Conquer Algorithm</a:t>
            </a:r>
            <a:endParaRPr lang="en-US" sz="3600" b="1" dirty="0">
              <a:solidFill>
                <a:schemeClr val="bg1"/>
              </a:solidFill>
              <a:latin typeface="Swis721 Cn BT" panose="020B050602020203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28944" y="4487342"/>
            <a:ext cx="405675" cy="29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" descr="Image result for ANALYSIS AND DESIGN OF ALGORITHMS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754" y="2070483"/>
            <a:ext cx="185273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7">
            <a:extLst>
              <a:ext uri="{FF2B5EF4-FFF2-40B4-BE49-F238E27FC236}">
                <a16:creationId xmlns:a16="http://schemas.microsoft.com/office/drawing/2014/main" id="{2364638C-97FF-409E-B60F-C549459DF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3"/>
            <a:ext cx="7803275" cy="3740801"/>
          </a:xfrm>
        </p:spPr>
        <p:txBody>
          <a:bodyPr>
            <a:normAutofit/>
          </a:bodyPr>
          <a:lstStyle/>
          <a:p>
            <a:r>
              <a:rPr lang="en-US" sz="5400" b="0" dirty="0">
                <a:latin typeface="Roboto Condensed" panose="02000000000000000000" pitchFamily="2" charset="0"/>
                <a:ea typeface="Roboto Condensed" panose="02000000000000000000" pitchFamily="2" charset="0"/>
              </a:rPr>
              <a:t>2CS503 Design &amp; Analysis of Algorithm</a:t>
            </a:r>
            <a:br>
              <a:rPr lang="en-US" sz="5400" b="0" dirty="0"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br>
              <a:rPr lang="en-US" sz="5400" b="0" dirty="0"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endParaRPr lang="en-US" sz="54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420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Divide &amp; Conquer (D&amp;C)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useful algorithms are </a:t>
            </a:r>
            <a:r>
              <a:rPr lang="en-US" b="1" dirty="0"/>
              <a:t>recursive</a:t>
            </a:r>
            <a:r>
              <a:rPr lang="en-US" dirty="0"/>
              <a:t> in structure: to solve a given problem, they call themselves recursively one or more times.</a:t>
            </a:r>
          </a:p>
          <a:p>
            <a:r>
              <a:rPr lang="en-US" dirty="0"/>
              <a:t>These algorithms typically follow a </a:t>
            </a:r>
            <a:r>
              <a:rPr lang="en-US" b="1" dirty="0"/>
              <a:t>divide-and-conquer</a:t>
            </a:r>
            <a:r>
              <a:rPr lang="en-US" dirty="0"/>
              <a:t> approach:</a:t>
            </a:r>
          </a:p>
          <a:p>
            <a:r>
              <a:rPr lang="en-US" dirty="0"/>
              <a:t>The divide-and-conquer approach involves </a:t>
            </a:r>
            <a:r>
              <a:rPr lang="en-US" b="1" dirty="0"/>
              <a:t>three steps </a:t>
            </a:r>
            <a:r>
              <a:rPr lang="en-US" dirty="0"/>
              <a:t>at each level of the recursion: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200" b="1" dirty="0"/>
              <a:t>Divide: </a:t>
            </a:r>
            <a:r>
              <a:rPr lang="en-US" sz="2200" dirty="0"/>
              <a:t>Break the problem into several sub problems that are similar to the original problem but smaller in size.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200" b="1" dirty="0"/>
              <a:t>Conquer: </a:t>
            </a:r>
            <a:r>
              <a:rPr lang="en-US" sz="2200" dirty="0"/>
              <a:t>Solve the sub problems recursively. If the sub problem sizes are small enough, just solve the sub problems in a straightforward manner.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200" b="1" dirty="0"/>
              <a:t>Combine: </a:t>
            </a:r>
            <a:r>
              <a:rPr lang="en-US" sz="2200" dirty="0"/>
              <a:t>Combine these solutions to create a solution to the original problem.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65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D&amp;C: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running-time analysis </a:t>
                </a:r>
                <a:r>
                  <a:rPr lang="en-US" dirty="0"/>
                  <a:t>of such divide-and-conquer (D&amp;C) algorithms is almost automatic. 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</a:t>
                </a:r>
                <a:r>
                  <a:rPr lang="en-US" b="1" dirty="0"/>
                  <a:t>time required by D&amp;C </a:t>
                </a:r>
                <a:r>
                  <a:rPr lang="en-US" dirty="0"/>
                  <a:t>on instances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total time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taken by this divide-and-conquer algorithm is given by recurrence equation,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r>
                  <a:rPr lang="en-US" dirty="0"/>
                  <a:t>The solution of equation is given as,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𝑙𝑜𝑔𝑛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𝑙𝑜𝑔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&gt;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1" t="-457" r="-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010400" y="3810000"/>
                <a:ext cx="3108960" cy="4572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:endParaRPr lang="en-US" sz="2400" dirty="0">
                  <a:solidFill>
                    <a:schemeClr val="bg1"/>
                  </a:solidFill>
                </a:endParaRPr>
              </a:p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000" i="1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𝑎𝑇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3810000"/>
                <a:ext cx="3108960" cy="457200"/>
              </a:xfrm>
              <a:prstGeom prst="roundRect">
                <a:avLst/>
              </a:prstGeom>
              <a:blipFill>
                <a:blip r:embed="rId3"/>
                <a:stretch>
                  <a:fillRect b="-139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09800" y="5947073"/>
                <a:ext cx="381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is the power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947073"/>
                <a:ext cx="3810000" cy="461665"/>
              </a:xfrm>
              <a:prstGeom prst="rect">
                <a:avLst/>
              </a:prstGeom>
              <a:blipFill>
                <a:blip r:embed="rId4"/>
                <a:stretch>
                  <a:fillRect l="-480" t="-10667" b="-3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784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5" grpId="1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3012283"/>
            <a:ext cx="3200400" cy="833437"/>
          </a:xfrm>
          <a:noFill/>
        </p:spPr>
        <p:txBody>
          <a:bodyPr/>
          <a:lstStyle/>
          <a:p>
            <a:r>
              <a:rPr lang="en-US" cap="none" dirty="0">
                <a:solidFill>
                  <a:srgbClr val="C00000"/>
                </a:solidFill>
              </a:rPr>
              <a:t>Binary 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Pentagon 4"/>
          <p:cNvSpPr/>
          <p:nvPr/>
        </p:nvSpPr>
        <p:spPr>
          <a:xfrm rot="5400000">
            <a:off x="-1490568" y="3017522"/>
            <a:ext cx="6858000" cy="822960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7BA1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664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Binary Search is an extremely well-known instance of </a:t>
                </a:r>
                <a:r>
                  <a:rPr lang="en-US" b="1" dirty="0"/>
                  <a:t>divide-and-conquer</a:t>
                </a:r>
                <a:r>
                  <a:rPr lang="en-US" dirty="0"/>
                  <a:t> approach.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[1 . . .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be an array of </a:t>
                </a:r>
                <a:r>
                  <a:rPr lang="en-US" b="1" dirty="0"/>
                  <a:t>increasing sorted order</a:t>
                </a:r>
                <a:r>
                  <a:rPr lang="en-US" dirty="0"/>
                  <a:t>; that is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 whenever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be some number. The problem consists of </a:t>
                </a:r>
                <a:r>
                  <a:rPr lang="en-US" b="1" dirty="0"/>
                  <a:t>finding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the array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if it is there.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not in the array, then we want to find </a:t>
                </a:r>
                <a:r>
                  <a:rPr lang="en-US" b="1" dirty="0"/>
                  <a:t>the position </a:t>
                </a:r>
                <a:r>
                  <a:rPr lang="en-US" dirty="0"/>
                  <a:t>where it might be inserted.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56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562600" y="6492876"/>
            <a:ext cx="457200" cy="365125"/>
          </a:xfrm>
        </p:spPr>
        <p:txBody>
          <a:bodyPr/>
          <a:lstStyle/>
          <a:p>
            <a:fld id="{5EA8BEFB-AE5B-48F9-BBAD-B489CDE48C8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635250" y="15287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569800" y="15287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[ 1 ]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"/>
              <p:cNvSpPr txBox="1">
                <a:spLocks noChangeArrowheads="1"/>
              </p:cNvSpPr>
              <p:nvPr/>
            </p:nvSpPr>
            <p:spPr bwMode="auto">
              <a:xfrm>
                <a:off x="2307761" y="893613"/>
                <a:ext cx="660713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dirty="0"/>
                  <a:t>Input: sorted array of integer values. 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altLang="en-US" sz="2800" dirty="0">
                    <a:solidFill>
                      <a:srgbClr val="FF0000"/>
                    </a:solidFill>
                  </a:rPr>
                  <a:t>.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7761" y="893613"/>
                <a:ext cx="6607130" cy="523220"/>
              </a:xfrm>
              <a:prstGeom prst="rect">
                <a:avLst/>
              </a:prstGeom>
              <a:blipFill>
                <a:blip r:embed="rId2"/>
                <a:stretch>
                  <a:fillRect l="-1939" t="-11765" r="-1016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514600" y="1981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429000" y="1981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343400" y="1981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5257800" y="1981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172200" y="1981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7086600" y="1981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8001000" y="1981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4419600" y="15240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5354150" y="15240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6248400" y="15240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7182950" y="15240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8077200" y="15240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 dirty="0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37" name="Rectangle 1027"/>
          <p:cNvSpPr>
            <a:spLocks noChangeArrowheads="1"/>
          </p:cNvSpPr>
          <p:nvPr/>
        </p:nvSpPr>
        <p:spPr bwMode="auto">
          <a:xfrm>
            <a:off x="2635250" y="4002089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38" name="Rectangle 1028"/>
          <p:cNvSpPr>
            <a:spLocks noChangeArrowheads="1"/>
          </p:cNvSpPr>
          <p:nvPr/>
        </p:nvSpPr>
        <p:spPr bwMode="auto">
          <a:xfrm>
            <a:off x="3569800" y="4002089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40" name="Rectangle 1030"/>
          <p:cNvSpPr>
            <a:spLocks noChangeArrowheads="1"/>
          </p:cNvSpPr>
          <p:nvPr/>
        </p:nvSpPr>
        <p:spPr bwMode="auto">
          <a:xfrm>
            <a:off x="2514600" y="4454525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1" name="Rectangle 1031"/>
          <p:cNvSpPr>
            <a:spLocks noChangeArrowheads="1"/>
          </p:cNvSpPr>
          <p:nvPr/>
        </p:nvSpPr>
        <p:spPr bwMode="auto">
          <a:xfrm>
            <a:off x="3429000" y="4454525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2" name="Rectangle 1032"/>
          <p:cNvSpPr>
            <a:spLocks noChangeArrowheads="1"/>
          </p:cNvSpPr>
          <p:nvPr/>
        </p:nvSpPr>
        <p:spPr bwMode="auto">
          <a:xfrm>
            <a:off x="4343400" y="4454525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3" name="Rectangle 1033"/>
          <p:cNvSpPr>
            <a:spLocks noChangeArrowheads="1"/>
          </p:cNvSpPr>
          <p:nvPr/>
        </p:nvSpPr>
        <p:spPr bwMode="auto">
          <a:xfrm>
            <a:off x="5257800" y="4454525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44" name="Rectangle 1034"/>
          <p:cNvSpPr>
            <a:spLocks noChangeArrowheads="1"/>
          </p:cNvSpPr>
          <p:nvPr/>
        </p:nvSpPr>
        <p:spPr bwMode="auto">
          <a:xfrm>
            <a:off x="6172200" y="4454525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45" name="Rectangle 1035"/>
          <p:cNvSpPr>
            <a:spLocks noChangeArrowheads="1"/>
          </p:cNvSpPr>
          <p:nvPr/>
        </p:nvSpPr>
        <p:spPr bwMode="auto">
          <a:xfrm>
            <a:off x="7086600" y="4454525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46" name="Rectangle 1036"/>
          <p:cNvSpPr>
            <a:spLocks noChangeArrowheads="1"/>
          </p:cNvSpPr>
          <p:nvPr/>
        </p:nvSpPr>
        <p:spPr bwMode="auto">
          <a:xfrm>
            <a:off x="8001000" y="4454525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47" name="Rectangle 1037"/>
          <p:cNvSpPr>
            <a:spLocks noChangeArrowheads="1"/>
          </p:cNvSpPr>
          <p:nvPr/>
        </p:nvSpPr>
        <p:spPr bwMode="auto">
          <a:xfrm>
            <a:off x="4419600" y="3997326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48" name="Rectangle 1038"/>
          <p:cNvSpPr>
            <a:spLocks noChangeArrowheads="1"/>
          </p:cNvSpPr>
          <p:nvPr/>
        </p:nvSpPr>
        <p:spPr bwMode="auto">
          <a:xfrm>
            <a:off x="5354150" y="3997326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49" name="Rectangle 1039"/>
          <p:cNvSpPr>
            <a:spLocks noChangeArrowheads="1"/>
          </p:cNvSpPr>
          <p:nvPr/>
        </p:nvSpPr>
        <p:spPr bwMode="auto">
          <a:xfrm>
            <a:off x="6248400" y="3997326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50" name="Rectangle 1040"/>
          <p:cNvSpPr>
            <a:spLocks noChangeArrowheads="1"/>
          </p:cNvSpPr>
          <p:nvPr/>
        </p:nvSpPr>
        <p:spPr bwMode="auto">
          <a:xfrm>
            <a:off x="7182950" y="3997326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51" name="Rectangle 1041"/>
          <p:cNvSpPr>
            <a:spLocks noChangeArrowheads="1"/>
          </p:cNvSpPr>
          <p:nvPr/>
        </p:nvSpPr>
        <p:spPr bwMode="auto">
          <a:xfrm>
            <a:off x="8077200" y="3997326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52" name="Line 1042"/>
          <p:cNvSpPr>
            <a:spLocks noChangeShapeType="1"/>
          </p:cNvSpPr>
          <p:nvPr/>
        </p:nvSpPr>
        <p:spPr bwMode="auto">
          <a:xfrm>
            <a:off x="5791200" y="5521325"/>
            <a:ext cx="0" cy="566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Text Box 1043"/>
          <p:cNvSpPr txBox="1">
            <a:spLocks noChangeArrowheads="1"/>
          </p:cNvSpPr>
          <p:nvPr/>
        </p:nvSpPr>
        <p:spPr bwMode="auto">
          <a:xfrm>
            <a:off x="4114800" y="6019801"/>
            <a:ext cx="3567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Find approximate midpoint</a:t>
            </a:r>
          </a:p>
        </p:txBody>
      </p:sp>
    </p:spTree>
    <p:extLst>
      <p:ext uri="{BB962C8B-B14F-4D97-AF65-F5344CB8AC3E}">
        <p14:creationId xmlns:p14="http://schemas.microsoft.com/office/powerpoint/2010/main" val="98059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37" grpId="0"/>
      <p:bldP spid="38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 animBg="1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1027"/>
          <p:cNvSpPr>
            <a:spLocks noChangeArrowheads="1"/>
          </p:cNvSpPr>
          <p:nvPr/>
        </p:nvSpPr>
        <p:spPr bwMode="auto">
          <a:xfrm>
            <a:off x="2635250" y="10461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6" name="Rectangle 1028"/>
          <p:cNvSpPr>
            <a:spLocks noChangeArrowheads="1"/>
          </p:cNvSpPr>
          <p:nvPr/>
        </p:nvSpPr>
        <p:spPr bwMode="auto">
          <a:xfrm>
            <a:off x="3569800" y="10461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7" name="Rectangle 1030"/>
          <p:cNvSpPr>
            <a:spLocks noChangeArrowheads="1"/>
          </p:cNvSpPr>
          <p:nvPr/>
        </p:nvSpPr>
        <p:spPr bwMode="auto">
          <a:xfrm>
            <a:off x="2514600" y="14986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Rectangle 1031"/>
          <p:cNvSpPr>
            <a:spLocks noChangeArrowheads="1"/>
          </p:cNvSpPr>
          <p:nvPr/>
        </p:nvSpPr>
        <p:spPr bwMode="auto">
          <a:xfrm>
            <a:off x="3429000" y="14986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9" name="Rectangle 1032"/>
          <p:cNvSpPr>
            <a:spLocks noChangeArrowheads="1"/>
          </p:cNvSpPr>
          <p:nvPr/>
        </p:nvSpPr>
        <p:spPr bwMode="auto">
          <a:xfrm>
            <a:off x="4343400" y="14986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0" name="Rectangle 1033"/>
          <p:cNvSpPr>
            <a:spLocks noChangeArrowheads="1"/>
          </p:cNvSpPr>
          <p:nvPr/>
        </p:nvSpPr>
        <p:spPr bwMode="auto">
          <a:xfrm>
            <a:off x="5257800" y="14986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1" name="Rectangle 1034"/>
          <p:cNvSpPr>
            <a:spLocks noChangeArrowheads="1"/>
          </p:cNvSpPr>
          <p:nvPr/>
        </p:nvSpPr>
        <p:spPr bwMode="auto">
          <a:xfrm>
            <a:off x="6172200" y="14986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12" name="Rectangle 1035"/>
          <p:cNvSpPr>
            <a:spLocks noChangeArrowheads="1"/>
          </p:cNvSpPr>
          <p:nvPr/>
        </p:nvSpPr>
        <p:spPr bwMode="auto">
          <a:xfrm>
            <a:off x="7086600" y="14986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13" name="Rectangle 1036"/>
          <p:cNvSpPr>
            <a:spLocks noChangeArrowheads="1"/>
          </p:cNvSpPr>
          <p:nvPr/>
        </p:nvSpPr>
        <p:spPr bwMode="auto">
          <a:xfrm>
            <a:off x="8001000" y="14986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4" name="Rectangle 1037"/>
          <p:cNvSpPr>
            <a:spLocks noChangeArrowheads="1"/>
          </p:cNvSpPr>
          <p:nvPr/>
        </p:nvSpPr>
        <p:spPr bwMode="auto">
          <a:xfrm>
            <a:off x="4419600" y="1041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15" name="Rectangle 1038"/>
          <p:cNvSpPr>
            <a:spLocks noChangeArrowheads="1"/>
          </p:cNvSpPr>
          <p:nvPr/>
        </p:nvSpPr>
        <p:spPr bwMode="auto">
          <a:xfrm>
            <a:off x="5354150" y="1041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16" name="Rectangle 1039"/>
          <p:cNvSpPr>
            <a:spLocks noChangeArrowheads="1"/>
          </p:cNvSpPr>
          <p:nvPr/>
        </p:nvSpPr>
        <p:spPr bwMode="auto">
          <a:xfrm>
            <a:off x="6248400" y="1041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17" name="Rectangle 1040"/>
          <p:cNvSpPr>
            <a:spLocks noChangeArrowheads="1"/>
          </p:cNvSpPr>
          <p:nvPr/>
        </p:nvSpPr>
        <p:spPr bwMode="auto">
          <a:xfrm>
            <a:off x="7182950" y="1041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18" name="Rectangle 1041"/>
          <p:cNvSpPr>
            <a:spLocks noChangeArrowheads="1"/>
          </p:cNvSpPr>
          <p:nvPr/>
        </p:nvSpPr>
        <p:spPr bwMode="auto">
          <a:xfrm>
            <a:off x="8077200" y="1041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19" name="Line 1042"/>
          <p:cNvSpPr>
            <a:spLocks noChangeShapeType="1"/>
          </p:cNvSpPr>
          <p:nvPr/>
        </p:nvSpPr>
        <p:spPr bwMode="auto">
          <a:xfrm>
            <a:off x="5791200" y="2565400"/>
            <a:ext cx="0" cy="63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Text Box 1043"/>
          <p:cNvSpPr txBox="1">
            <a:spLocks noChangeArrowheads="1"/>
          </p:cNvSpPr>
          <p:nvPr/>
        </p:nvSpPr>
        <p:spPr bwMode="auto">
          <a:xfrm>
            <a:off x="4354513" y="3200401"/>
            <a:ext cx="33457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Is 7 = midpoint key?  NO.</a:t>
            </a:r>
          </a:p>
        </p:txBody>
      </p:sp>
      <p:sp>
        <p:nvSpPr>
          <p:cNvPr id="37" name="Text Box 1043"/>
          <p:cNvSpPr txBox="1">
            <a:spLocks noChangeArrowheads="1"/>
          </p:cNvSpPr>
          <p:nvPr/>
        </p:nvSpPr>
        <p:spPr bwMode="auto">
          <a:xfrm>
            <a:off x="4127501" y="3235326"/>
            <a:ext cx="3768725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Is 7 &lt; midpoint value? YES. </a:t>
            </a:r>
          </a:p>
        </p:txBody>
      </p:sp>
      <p:sp>
        <p:nvSpPr>
          <p:cNvPr id="38" name="Rectangle 1027"/>
          <p:cNvSpPr>
            <a:spLocks noChangeArrowheads="1"/>
          </p:cNvSpPr>
          <p:nvPr/>
        </p:nvSpPr>
        <p:spPr bwMode="auto">
          <a:xfrm>
            <a:off x="2787650" y="405477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39" name="Rectangle 1028"/>
          <p:cNvSpPr>
            <a:spLocks noChangeArrowheads="1"/>
          </p:cNvSpPr>
          <p:nvPr/>
        </p:nvSpPr>
        <p:spPr bwMode="auto">
          <a:xfrm>
            <a:off x="3722200" y="405477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40" name="Rectangle 1030"/>
          <p:cNvSpPr>
            <a:spLocks noChangeArrowheads="1"/>
          </p:cNvSpPr>
          <p:nvPr/>
        </p:nvSpPr>
        <p:spPr bwMode="auto">
          <a:xfrm>
            <a:off x="2667000" y="450721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1" name="Rectangle 1031"/>
          <p:cNvSpPr>
            <a:spLocks noChangeArrowheads="1"/>
          </p:cNvSpPr>
          <p:nvPr/>
        </p:nvSpPr>
        <p:spPr bwMode="auto">
          <a:xfrm>
            <a:off x="3581400" y="450721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2" name="Rectangle 1032"/>
          <p:cNvSpPr>
            <a:spLocks noChangeArrowheads="1"/>
          </p:cNvSpPr>
          <p:nvPr/>
        </p:nvSpPr>
        <p:spPr bwMode="auto">
          <a:xfrm>
            <a:off x="4495800" y="450721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3" name="Rectangle 1033"/>
          <p:cNvSpPr>
            <a:spLocks noChangeArrowheads="1"/>
          </p:cNvSpPr>
          <p:nvPr/>
        </p:nvSpPr>
        <p:spPr bwMode="auto">
          <a:xfrm>
            <a:off x="5410200" y="450721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11</a:t>
            </a:r>
          </a:p>
        </p:txBody>
      </p:sp>
      <p:sp>
        <p:nvSpPr>
          <p:cNvPr id="44" name="Rectangle 1034"/>
          <p:cNvSpPr>
            <a:spLocks noChangeArrowheads="1"/>
          </p:cNvSpPr>
          <p:nvPr/>
        </p:nvSpPr>
        <p:spPr bwMode="auto">
          <a:xfrm>
            <a:off x="6324600" y="450721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32</a:t>
            </a:r>
          </a:p>
        </p:txBody>
      </p:sp>
      <p:sp>
        <p:nvSpPr>
          <p:cNvPr id="45" name="Rectangle 1035"/>
          <p:cNvSpPr>
            <a:spLocks noChangeArrowheads="1"/>
          </p:cNvSpPr>
          <p:nvPr/>
        </p:nvSpPr>
        <p:spPr bwMode="auto">
          <a:xfrm>
            <a:off x="7239000" y="450721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33</a:t>
            </a:r>
          </a:p>
        </p:txBody>
      </p:sp>
      <p:sp>
        <p:nvSpPr>
          <p:cNvPr id="46" name="Rectangle 1036"/>
          <p:cNvSpPr>
            <a:spLocks noChangeArrowheads="1"/>
          </p:cNvSpPr>
          <p:nvPr/>
        </p:nvSpPr>
        <p:spPr bwMode="auto">
          <a:xfrm>
            <a:off x="8153400" y="450721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53</a:t>
            </a:r>
          </a:p>
        </p:txBody>
      </p:sp>
      <p:sp>
        <p:nvSpPr>
          <p:cNvPr id="47" name="Rectangle 1037"/>
          <p:cNvSpPr>
            <a:spLocks noChangeArrowheads="1"/>
          </p:cNvSpPr>
          <p:nvPr/>
        </p:nvSpPr>
        <p:spPr bwMode="auto">
          <a:xfrm>
            <a:off x="4572000" y="405001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48" name="Rectangle 1038"/>
          <p:cNvSpPr>
            <a:spLocks noChangeArrowheads="1"/>
          </p:cNvSpPr>
          <p:nvPr/>
        </p:nvSpPr>
        <p:spPr bwMode="auto">
          <a:xfrm>
            <a:off x="5506550" y="405001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49" name="Rectangle 1039"/>
          <p:cNvSpPr>
            <a:spLocks noChangeArrowheads="1"/>
          </p:cNvSpPr>
          <p:nvPr/>
        </p:nvSpPr>
        <p:spPr bwMode="auto">
          <a:xfrm>
            <a:off x="6400800" y="405001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50" name="Rectangle 1040"/>
          <p:cNvSpPr>
            <a:spLocks noChangeArrowheads="1"/>
          </p:cNvSpPr>
          <p:nvPr/>
        </p:nvSpPr>
        <p:spPr bwMode="auto">
          <a:xfrm>
            <a:off x="7335350" y="405001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51" name="Rectangle 1041"/>
          <p:cNvSpPr>
            <a:spLocks noChangeArrowheads="1"/>
          </p:cNvSpPr>
          <p:nvPr/>
        </p:nvSpPr>
        <p:spPr bwMode="auto">
          <a:xfrm>
            <a:off x="8229600" y="405001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52" name="Text Box 1042"/>
          <p:cNvSpPr txBox="1">
            <a:spLocks noChangeArrowheads="1"/>
          </p:cNvSpPr>
          <p:nvPr/>
        </p:nvSpPr>
        <p:spPr bwMode="auto">
          <a:xfrm>
            <a:off x="2475823" y="6015336"/>
            <a:ext cx="63978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 dirty="0"/>
              <a:t>Search for the target in the area before midpoint. </a:t>
            </a:r>
          </a:p>
        </p:txBody>
      </p:sp>
      <p:sp>
        <p:nvSpPr>
          <p:cNvPr id="53" name="AutoShape 1043"/>
          <p:cNvSpPr>
            <a:spLocks/>
          </p:cNvSpPr>
          <p:nvPr/>
        </p:nvSpPr>
        <p:spPr bwMode="auto">
          <a:xfrm rot="16200000">
            <a:off x="3771900" y="4392910"/>
            <a:ext cx="533400" cy="2743200"/>
          </a:xfrm>
          <a:prstGeom prst="leftBrace">
            <a:avLst>
              <a:gd name="adj1" fmla="val 4285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/>
              <p:cNvSpPr/>
              <p:nvPr/>
            </p:nvSpPr>
            <p:spPr>
              <a:xfrm>
                <a:off x="9372601" y="1041400"/>
                <a:ext cx="1150937" cy="609600"/>
              </a:xfrm>
              <a:prstGeom prst="roundRect">
                <a:avLst/>
              </a:prstGeom>
              <a:no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ounded 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601" y="1041400"/>
                <a:ext cx="1150937" cy="6096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99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 animBg="1"/>
      <p:bldP spid="20" grpId="0"/>
      <p:bldP spid="20" grpId="1"/>
      <p:bldP spid="37" grpId="0" animBg="1"/>
      <p:bldP spid="38" grpId="0"/>
      <p:bldP spid="39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1" name="Rectangle 1027"/>
          <p:cNvSpPr>
            <a:spLocks noChangeArrowheads="1"/>
          </p:cNvSpPr>
          <p:nvPr/>
        </p:nvSpPr>
        <p:spPr bwMode="auto">
          <a:xfrm>
            <a:off x="2635250" y="9953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22" name="Rectangle 1028"/>
          <p:cNvSpPr>
            <a:spLocks noChangeArrowheads="1"/>
          </p:cNvSpPr>
          <p:nvPr/>
        </p:nvSpPr>
        <p:spPr bwMode="auto">
          <a:xfrm>
            <a:off x="3569800" y="9953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23" name="Rectangle 1030"/>
          <p:cNvSpPr>
            <a:spLocks noChangeArrowheads="1"/>
          </p:cNvSpPr>
          <p:nvPr/>
        </p:nvSpPr>
        <p:spPr bwMode="auto">
          <a:xfrm>
            <a:off x="2514600" y="14478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4" name="Rectangle 1031"/>
          <p:cNvSpPr>
            <a:spLocks noChangeArrowheads="1"/>
          </p:cNvSpPr>
          <p:nvPr/>
        </p:nvSpPr>
        <p:spPr bwMode="auto">
          <a:xfrm>
            <a:off x="3429000" y="14478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5" name="Rectangle 1032"/>
          <p:cNvSpPr>
            <a:spLocks noChangeArrowheads="1"/>
          </p:cNvSpPr>
          <p:nvPr/>
        </p:nvSpPr>
        <p:spPr bwMode="auto">
          <a:xfrm>
            <a:off x="4343400" y="14478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6" name="Rectangle 1033"/>
          <p:cNvSpPr>
            <a:spLocks noChangeArrowheads="1"/>
          </p:cNvSpPr>
          <p:nvPr/>
        </p:nvSpPr>
        <p:spPr bwMode="auto">
          <a:xfrm>
            <a:off x="5257800" y="14478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11</a:t>
            </a:r>
          </a:p>
        </p:txBody>
      </p:sp>
      <p:sp>
        <p:nvSpPr>
          <p:cNvPr id="27" name="Rectangle 1034"/>
          <p:cNvSpPr>
            <a:spLocks noChangeArrowheads="1"/>
          </p:cNvSpPr>
          <p:nvPr/>
        </p:nvSpPr>
        <p:spPr bwMode="auto">
          <a:xfrm>
            <a:off x="6172200" y="14478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32</a:t>
            </a:r>
          </a:p>
        </p:txBody>
      </p:sp>
      <p:sp>
        <p:nvSpPr>
          <p:cNvPr id="28" name="Rectangle 1035"/>
          <p:cNvSpPr>
            <a:spLocks noChangeArrowheads="1"/>
          </p:cNvSpPr>
          <p:nvPr/>
        </p:nvSpPr>
        <p:spPr bwMode="auto">
          <a:xfrm>
            <a:off x="7086600" y="14478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33</a:t>
            </a:r>
          </a:p>
        </p:txBody>
      </p:sp>
      <p:sp>
        <p:nvSpPr>
          <p:cNvPr id="29" name="Rectangle 1036"/>
          <p:cNvSpPr>
            <a:spLocks noChangeArrowheads="1"/>
          </p:cNvSpPr>
          <p:nvPr/>
        </p:nvSpPr>
        <p:spPr bwMode="auto">
          <a:xfrm>
            <a:off x="8001000" y="14478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53</a:t>
            </a:r>
          </a:p>
        </p:txBody>
      </p:sp>
      <p:sp>
        <p:nvSpPr>
          <p:cNvPr id="30" name="Rectangle 1037"/>
          <p:cNvSpPr>
            <a:spLocks noChangeArrowheads="1"/>
          </p:cNvSpPr>
          <p:nvPr/>
        </p:nvSpPr>
        <p:spPr bwMode="auto">
          <a:xfrm>
            <a:off x="4419600" y="9906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31" name="Rectangle 1038"/>
          <p:cNvSpPr>
            <a:spLocks noChangeArrowheads="1"/>
          </p:cNvSpPr>
          <p:nvPr/>
        </p:nvSpPr>
        <p:spPr bwMode="auto">
          <a:xfrm>
            <a:off x="5354150" y="9906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32" name="Rectangle 1039"/>
          <p:cNvSpPr>
            <a:spLocks noChangeArrowheads="1"/>
          </p:cNvSpPr>
          <p:nvPr/>
        </p:nvSpPr>
        <p:spPr bwMode="auto">
          <a:xfrm>
            <a:off x="6248400" y="9906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33" name="Rectangle 1040"/>
          <p:cNvSpPr>
            <a:spLocks noChangeArrowheads="1"/>
          </p:cNvSpPr>
          <p:nvPr/>
        </p:nvSpPr>
        <p:spPr bwMode="auto">
          <a:xfrm>
            <a:off x="7182950" y="9906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34" name="Rectangle 1041"/>
          <p:cNvSpPr>
            <a:spLocks noChangeArrowheads="1"/>
          </p:cNvSpPr>
          <p:nvPr/>
        </p:nvSpPr>
        <p:spPr bwMode="auto">
          <a:xfrm>
            <a:off x="8077200" y="9906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35" name="Line 1044"/>
          <p:cNvSpPr>
            <a:spLocks noChangeShapeType="1"/>
          </p:cNvSpPr>
          <p:nvPr/>
        </p:nvSpPr>
        <p:spPr bwMode="auto">
          <a:xfrm>
            <a:off x="3886200" y="2514601"/>
            <a:ext cx="0" cy="422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Text Box 1045"/>
          <p:cNvSpPr txBox="1">
            <a:spLocks noChangeArrowheads="1"/>
          </p:cNvSpPr>
          <p:nvPr/>
        </p:nvSpPr>
        <p:spPr bwMode="auto">
          <a:xfrm>
            <a:off x="2209800" y="2860676"/>
            <a:ext cx="3567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Find approximate midpoint</a:t>
            </a:r>
          </a:p>
        </p:txBody>
      </p:sp>
      <p:sp>
        <p:nvSpPr>
          <p:cNvPr id="37" name="Rectangle 1027"/>
          <p:cNvSpPr>
            <a:spLocks noChangeArrowheads="1"/>
          </p:cNvSpPr>
          <p:nvPr/>
        </p:nvSpPr>
        <p:spPr bwMode="auto">
          <a:xfrm>
            <a:off x="2635250" y="38909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38" name="Rectangle 1028"/>
          <p:cNvSpPr>
            <a:spLocks noChangeArrowheads="1"/>
          </p:cNvSpPr>
          <p:nvPr/>
        </p:nvSpPr>
        <p:spPr bwMode="auto">
          <a:xfrm>
            <a:off x="3569800" y="38909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39" name="Rectangle 1030"/>
          <p:cNvSpPr>
            <a:spLocks noChangeArrowheads="1"/>
          </p:cNvSpPr>
          <p:nvPr/>
        </p:nvSpPr>
        <p:spPr bwMode="auto">
          <a:xfrm>
            <a:off x="2514600" y="43434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0" name="Rectangle 1031"/>
          <p:cNvSpPr>
            <a:spLocks noChangeArrowheads="1"/>
          </p:cNvSpPr>
          <p:nvPr/>
        </p:nvSpPr>
        <p:spPr bwMode="auto">
          <a:xfrm>
            <a:off x="3429000" y="43434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1" name="Rectangle 1032"/>
          <p:cNvSpPr>
            <a:spLocks noChangeArrowheads="1"/>
          </p:cNvSpPr>
          <p:nvPr/>
        </p:nvSpPr>
        <p:spPr bwMode="auto">
          <a:xfrm>
            <a:off x="4343400" y="43434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2" name="Rectangle 1033"/>
          <p:cNvSpPr>
            <a:spLocks noChangeArrowheads="1"/>
          </p:cNvSpPr>
          <p:nvPr/>
        </p:nvSpPr>
        <p:spPr bwMode="auto">
          <a:xfrm>
            <a:off x="5257800" y="43434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11</a:t>
            </a:r>
          </a:p>
        </p:txBody>
      </p:sp>
      <p:sp>
        <p:nvSpPr>
          <p:cNvPr id="43" name="Rectangle 1034"/>
          <p:cNvSpPr>
            <a:spLocks noChangeArrowheads="1"/>
          </p:cNvSpPr>
          <p:nvPr/>
        </p:nvSpPr>
        <p:spPr bwMode="auto">
          <a:xfrm>
            <a:off x="6172200" y="43434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32</a:t>
            </a:r>
          </a:p>
        </p:txBody>
      </p:sp>
      <p:sp>
        <p:nvSpPr>
          <p:cNvPr id="44" name="Rectangle 1035"/>
          <p:cNvSpPr>
            <a:spLocks noChangeArrowheads="1"/>
          </p:cNvSpPr>
          <p:nvPr/>
        </p:nvSpPr>
        <p:spPr bwMode="auto">
          <a:xfrm>
            <a:off x="7086600" y="43434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33</a:t>
            </a:r>
          </a:p>
        </p:txBody>
      </p:sp>
      <p:sp>
        <p:nvSpPr>
          <p:cNvPr id="45" name="Rectangle 1036"/>
          <p:cNvSpPr>
            <a:spLocks noChangeArrowheads="1"/>
          </p:cNvSpPr>
          <p:nvPr/>
        </p:nvSpPr>
        <p:spPr bwMode="auto">
          <a:xfrm>
            <a:off x="8001000" y="43434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53</a:t>
            </a:r>
          </a:p>
        </p:txBody>
      </p:sp>
      <p:sp>
        <p:nvSpPr>
          <p:cNvPr id="46" name="Rectangle 1037"/>
          <p:cNvSpPr>
            <a:spLocks noChangeArrowheads="1"/>
          </p:cNvSpPr>
          <p:nvPr/>
        </p:nvSpPr>
        <p:spPr bwMode="auto">
          <a:xfrm>
            <a:off x="4419600" y="38862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47" name="Rectangle 1038"/>
          <p:cNvSpPr>
            <a:spLocks noChangeArrowheads="1"/>
          </p:cNvSpPr>
          <p:nvPr/>
        </p:nvSpPr>
        <p:spPr bwMode="auto">
          <a:xfrm>
            <a:off x="5354150" y="38862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48" name="Rectangle 1039"/>
          <p:cNvSpPr>
            <a:spLocks noChangeArrowheads="1"/>
          </p:cNvSpPr>
          <p:nvPr/>
        </p:nvSpPr>
        <p:spPr bwMode="auto">
          <a:xfrm>
            <a:off x="6248400" y="38862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49" name="Rectangle 1040"/>
          <p:cNvSpPr>
            <a:spLocks noChangeArrowheads="1"/>
          </p:cNvSpPr>
          <p:nvPr/>
        </p:nvSpPr>
        <p:spPr bwMode="auto">
          <a:xfrm>
            <a:off x="7182950" y="38862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50" name="Rectangle 1041"/>
          <p:cNvSpPr>
            <a:spLocks noChangeArrowheads="1"/>
          </p:cNvSpPr>
          <p:nvPr/>
        </p:nvSpPr>
        <p:spPr bwMode="auto">
          <a:xfrm>
            <a:off x="8077200" y="38862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51" name="Line 1042"/>
          <p:cNvSpPr>
            <a:spLocks noChangeShapeType="1"/>
          </p:cNvSpPr>
          <p:nvPr/>
        </p:nvSpPr>
        <p:spPr bwMode="auto">
          <a:xfrm>
            <a:off x="3886200" y="53340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1043"/>
              <p:cNvSpPr txBox="1">
                <a:spLocks noChangeArrowheads="1"/>
              </p:cNvSpPr>
              <p:nvPr/>
            </p:nvSpPr>
            <p:spPr bwMode="auto">
              <a:xfrm>
                <a:off x="2250176" y="5943601"/>
                <a:ext cx="353237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400" dirty="0"/>
                  <a:t> = value of midpoint? NO.</a:t>
                </a:r>
              </a:p>
            </p:txBody>
          </p:sp>
        </mc:Choice>
        <mc:Fallback xmlns="">
          <p:sp>
            <p:nvSpPr>
              <p:cNvPr id="52" name="Text Box 10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0176" y="5943601"/>
                <a:ext cx="3532377" cy="461665"/>
              </a:xfrm>
              <a:prstGeom prst="rect">
                <a:avLst/>
              </a:prstGeom>
              <a:blipFill>
                <a:blip r:embed="rId2"/>
                <a:stretch>
                  <a:fillRect t="-10526" r="-1724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Box 1043"/>
              <p:cNvSpPr txBox="1">
                <a:spLocks noChangeArrowheads="1"/>
              </p:cNvSpPr>
              <p:nvPr/>
            </p:nvSpPr>
            <p:spPr bwMode="auto">
              <a:xfrm>
                <a:off x="2290551" y="5943601"/>
                <a:ext cx="3532377" cy="4616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400" dirty="0"/>
                  <a:t> &lt; value of midpoint? NO.</a:t>
                </a:r>
              </a:p>
            </p:txBody>
          </p:sp>
        </mc:Choice>
        <mc:Fallback xmlns="">
          <p:sp>
            <p:nvSpPr>
              <p:cNvPr id="53" name="Text Box 10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0551" y="5943601"/>
                <a:ext cx="3532377" cy="461665"/>
              </a:xfrm>
              <a:prstGeom prst="rect">
                <a:avLst/>
              </a:prstGeom>
              <a:blipFill>
                <a:blip r:embed="rId3"/>
                <a:stretch>
                  <a:fillRect t="-10526" r="-1727" b="-289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ounded Rectangle 55"/>
              <p:cNvSpPr/>
              <p:nvPr/>
            </p:nvSpPr>
            <p:spPr>
              <a:xfrm>
                <a:off x="9372601" y="1041400"/>
                <a:ext cx="1150937" cy="609600"/>
              </a:xfrm>
              <a:prstGeom prst="roundRect">
                <a:avLst/>
              </a:prstGeom>
              <a:no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Rounded 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601" y="1041400"/>
                <a:ext cx="1150937" cy="6096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Box 1043"/>
              <p:cNvSpPr txBox="1">
                <a:spLocks noChangeArrowheads="1"/>
              </p:cNvSpPr>
              <p:nvPr/>
            </p:nvSpPr>
            <p:spPr bwMode="auto">
              <a:xfrm>
                <a:off x="2361689" y="5943600"/>
                <a:ext cx="3573927" cy="4616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400" dirty="0"/>
                  <a:t> &gt; value of midpoint? YES.</a:t>
                </a:r>
              </a:p>
            </p:txBody>
          </p:sp>
        </mc:Choice>
        <mc:Fallback xmlns="">
          <p:sp>
            <p:nvSpPr>
              <p:cNvPr id="55" name="Text Box 10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1689" y="5943600"/>
                <a:ext cx="3573927" cy="461665"/>
              </a:xfrm>
              <a:prstGeom prst="rect">
                <a:avLst/>
              </a:prstGeom>
              <a:blipFill>
                <a:blip r:embed="rId5"/>
                <a:stretch>
                  <a:fillRect t="-10526" r="-1704" b="-289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94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  <p:bldP spid="35" grpId="0" animBg="1"/>
      <p:bldP spid="36" grpId="0"/>
      <p:bldP spid="37" grpId="0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1" grpId="0" animBg="1"/>
      <p:bldP spid="52" grpId="0"/>
      <p:bldP spid="52" grpId="1"/>
      <p:bldP spid="53" grpId="0" animBg="1"/>
      <p:bldP spid="53" grpId="1" animBg="1"/>
      <p:bldP spid="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1" name="Rectangle 1027"/>
          <p:cNvSpPr>
            <a:spLocks noChangeArrowheads="1"/>
          </p:cNvSpPr>
          <p:nvPr/>
        </p:nvSpPr>
        <p:spPr bwMode="auto">
          <a:xfrm>
            <a:off x="2635250" y="9191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22" name="Rectangle 1028"/>
          <p:cNvSpPr>
            <a:spLocks noChangeArrowheads="1"/>
          </p:cNvSpPr>
          <p:nvPr/>
        </p:nvSpPr>
        <p:spPr bwMode="auto">
          <a:xfrm>
            <a:off x="3569800" y="9191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23" name="Rectangle 1030"/>
          <p:cNvSpPr>
            <a:spLocks noChangeArrowheads="1"/>
          </p:cNvSpPr>
          <p:nvPr/>
        </p:nvSpPr>
        <p:spPr bwMode="auto">
          <a:xfrm>
            <a:off x="2514600" y="1371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</a:t>
            </a:r>
          </a:p>
        </p:txBody>
      </p:sp>
      <p:sp>
        <p:nvSpPr>
          <p:cNvPr id="24" name="Rectangle 1031"/>
          <p:cNvSpPr>
            <a:spLocks noChangeArrowheads="1"/>
          </p:cNvSpPr>
          <p:nvPr/>
        </p:nvSpPr>
        <p:spPr bwMode="auto">
          <a:xfrm>
            <a:off x="3429000" y="1371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6</a:t>
            </a:r>
          </a:p>
        </p:txBody>
      </p:sp>
      <p:sp>
        <p:nvSpPr>
          <p:cNvPr id="25" name="Rectangle 1032"/>
          <p:cNvSpPr>
            <a:spLocks noChangeArrowheads="1"/>
          </p:cNvSpPr>
          <p:nvPr/>
        </p:nvSpPr>
        <p:spPr bwMode="auto">
          <a:xfrm>
            <a:off x="4343400" y="13716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6" name="Rectangle 1033"/>
          <p:cNvSpPr>
            <a:spLocks noChangeArrowheads="1"/>
          </p:cNvSpPr>
          <p:nvPr/>
        </p:nvSpPr>
        <p:spPr bwMode="auto">
          <a:xfrm>
            <a:off x="5257800" y="1371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11</a:t>
            </a:r>
          </a:p>
        </p:txBody>
      </p:sp>
      <p:sp>
        <p:nvSpPr>
          <p:cNvPr id="27" name="Rectangle 1034"/>
          <p:cNvSpPr>
            <a:spLocks noChangeArrowheads="1"/>
          </p:cNvSpPr>
          <p:nvPr/>
        </p:nvSpPr>
        <p:spPr bwMode="auto">
          <a:xfrm>
            <a:off x="6172200" y="1371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32</a:t>
            </a:r>
          </a:p>
        </p:txBody>
      </p:sp>
      <p:sp>
        <p:nvSpPr>
          <p:cNvPr id="28" name="Rectangle 1035"/>
          <p:cNvSpPr>
            <a:spLocks noChangeArrowheads="1"/>
          </p:cNvSpPr>
          <p:nvPr/>
        </p:nvSpPr>
        <p:spPr bwMode="auto">
          <a:xfrm>
            <a:off x="7086600" y="1371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33</a:t>
            </a:r>
          </a:p>
        </p:txBody>
      </p:sp>
      <p:sp>
        <p:nvSpPr>
          <p:cNvPr id="29" name="Rectangle 1036"/>
          <p:cNvSpPr>
            <a:spLocks noChangeArrowheads="1"/>
          </p:cNvSpPr>
          <p:nvPr/>
        </p:nvSpPr>
        <p:spPr bwMode="auto">
          <a:xfrm>
            <a:off x="8001000" y="1371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53</a:t>
            </a:r>
          </a:p>
        </p:txBody>
      </p:sp>
      <p:sp>
        <p:nvSpPr>
          <p:cNvPr id="30" name="Rectangle 1037"/>
          <p:cNvSpPr>
            <a:spLocks noChangeArrowheads="1"/>
          </p:cNvSpPr>
          <p:nvPr/>
        </p:nvSpPr>
        <p:spPr bwMode="auto">
          <a:xfrm>
            <a:off x="4419600" y="914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31" name="Rectangle 1038"/>
          <p:cNvSpPr>
            <a:spLocks noChangeArrowheads="1"/>
          </p:cNvSpPr>
          <p:nvPr/>
        </p:nvSpPr>
        <p:spPr bwMode="auto">
          <a:xfrm>
            <a:off x="5354150" y="914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32" name="Rectangle 1039"/>
          <p:cNvSpPr>
            <a:spLocks noChangeArrowheads="1"/>
          </p:cNvSpPr>
          <p:nvPr/>
        </p:nvSpPr>
        <p:spPr bwMode="auto">
          <a:xfrm>
            <a:off x="6248400" y="914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33" name="Rectangle 1040"/>
          <p:cNvSpPr>
            <a:spLocks noChangeArrowheads="1"/>
          </p:cNvSpPr>
          <p:nvPr/>
        </p:nvSpPr>
        <p:spPr bwMode="auto">
          <a:xfrm>
            <a:off x="7182950" y="914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34" name="Rectangle 1041"/>
          <p:cNvSpPr>
            <a:spLocks noChangeArrowheads="1"/>
          </p:cNvSpPr>
          <p:nvPr/>
        </p:nvSpPr>
        <p:spPr bwMode="auto">
          <a:xfrm>
            <a:off x="8077200" y="914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[ 6 ]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044"/>
              <p:cNvSpPr txBox="1">
                <a:spLocks noChangeArrowheads="1"/>
              </p:cNvSpPr>
              <p:nvPr/>
            </p:nvSpPr>
            <p:spPr bwMode="auto">
              <a:xfrm>
                <a:off x="2717871" y="2895601"/>
                <a:ext cx="5523692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400" dirty="0"/>
                  <a:t>Search for the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400" dirty="0"/>
                  <a:t> in the area after midpoint.</a:t>
                </a:r>
              </a:p>
              <a:p>
                <a:pPr algn="ctr"/>
                <a:r>
                  <a:rPr lang="en-US" altLang="en-US" sz="2400" dirty="0"/>
                  <a:t> </a:t>
                </a:r>
              </a:p>
            </p:txBody>
          </p:sp>
        </mc:Choice>
        <mc:Fallback xmlns="">
          <p:sp>
            <p:nvSpPr>
              <p:cNvPr id="35" name="Text Box 10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7871" y="2895601"/>
                <a:ext cx="5523692" cy="830997"/>
              </a:xfrm>
              <a:prstGeom prst="rect">
                <a:avLst/>
              </a:prstGeom>
              <a:blipFill>
                <a:blip r:embed="rId2"/>
                <a:stretch>
                  <a:fillRect l="-1435" t="-5882" r="-12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utoShape 1045"/>
          <p:cNvSpPr>
            <a:spLocks/>
          </p:cNvSpPr>
          <p:nvPr/>
        </p:nvSpPr>
        <p:spPr bwMode="auto">
          <a:xfrm rot="16200000">
            <a:off x="4533900" y="2171700"/>
            <a:ext cx="533400" cy="914400"/>
          </a:xfrm>
          <a:prstGeom prst="leftBrace">
            <a:avLst>
              <a:gd name="adj1" fmla="val 1428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1027"/>
          <p:cNvSpPr>
            <a:spLocks noChangeArrowheads="1"/>
          </p:cNvSpPr>
          <p:nvPr/>
        </p:nvSpPr>
        <p:spPr bwMode="auto">
          <a:xfrm>
            <a:off x="2635250" y="37131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38" name="Rectangle 1028"/>
          <p:cNvSpPr>
            <a:spLocks noChangeArrowheads="1"/>
          </p:cNvSpPr>
          <p:nvPr/>
        </p:nvSpPr>
        <p:spPr bwMode="auto">
          <a:xfrm>
            <a:off x="3569800" y="37131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39" name="Rectangle 1030"/>
          <p:cNvSpPr>
            <a:spLocks noChangeArrowheads="1"/>
          </p:cNvSpPr>
          <p:nvPr/>
        </p:nvSpPr>
        <p:spPr bwMode="auto">
          <a:xfrm>
            <a:off x="2514600" y="4165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</a:t>
            </a:r>
          </a:p>
        </p:txBody>
      </p:sp>
      <p:sp>
        <p:nvSpPr>
          <p:cNvPr id="40" name="Rectangle 1031"/>
          <p:cNvSpPr>
            <a:spLocks noChangeArrowheads="1"/>
          </p:cNvSpPr>
          <p:nvPr/>
        </p:nvSpPr>
        <p:spPr bwMode="auto">
          <a:xfrm>
            <a:off x="3429000" y="4165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6</a:t>
            </a:r>
          </a:p>
        </p:txBody>
      </p:sp>
      <p:sp>
        <p:nvSpPr>
          <p:cNvPr id="41" name="Rectangle 1032"/>
          <p:cNvSpPr>
            <a:spLocks noChangeArrowheads="1"/>
          </p:cNvSpPr>
          <p:nvPr/>
        </p:nvSpPr>
        <p:spPr bwMode="auto">
          <a:xfrm>
            <a:off x="4343400" y="41656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2" name="Rectangle 1033"/>
          <p:cNvSpPr>
            <a:spLocks noChangeArrowheads="1"/>
          </p:cNvSpPr>
          <p:nvPr/>
        </p:nvSpPr>
        <p:spPr bwMode="auto">
          <a:xfrm>
            <a:off x="5257800" y="4165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11</a:t>
            </a:r>
          </a:p>
        </p:txBody>
      </p:sp>
      <p:sp>
        <p:nvSpPr>
          <p:cNvPr id="43" name="Rectangle 1034"/>
          <p:cNvSpPr>
            <a:spLocks noChangeArrowheads="1"/>
          </p:cNvSpPr>
          <p:nvPr/>
        </p:nvSpPr>
        <p:spPr bwMode="auto">
          <a:xfrm>
            <a:off x="6172200" y="4165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32</a:t>
            </a:r>
          </a:p>
        </p:txBody>
      </p:sp>
      <p:sp>
        <p:nvSpPr>
          <p:cNvPr id="44" name="Rectangle 1035"/>
          <p:cNvSpPr>
            <a:spLocks noChangeArrowheads="1"/>
          </p:cNvSpPr>
          <p:nvPr/>
        </p:nvSpPr>
        <p:spPr bwMode="auto">
          <a:xfrm>
            <a:off x="7086600" y="4165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33</a:t>
            </a:r>
          </a:p>
        </p:txBody>
      </p:sp>
      <p:sp>
        <p:nvSpPr>
          <p:cNvPr id="45" name="Rectangle 1036"/>
          <p:cNvSpPr>
            <a:spLocks noChangeArrowheads="1"/>
          </p:cNvSpPr>
          <p:nvPr/>
        </p:nvSpPr>
        <p:spPr bwMode="auto">
          <a:xfrm>
            <a:off x="8001000" y="41656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/>
              <a:t>53</a:t>
            </a:r>
          </a:p>
        </p:txBody>
      </p:sp>
      <p:sp>
        <p:nvSpPr>
          <p:cNvPr id="46" name="Rectangle 1037"/>
          <p:cNvSpPr>
            <a:spLocks noChangeArrowheads="1"/>
          </p:cNvSpPr>
          <p:nvPr/>
        </p:nvSpPr>
        <p:spPr bwMode="auto">
          <a:xfrm>
            <a:off x="4419600" y="3708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47" name="Rectangle 1038"/>
          <p:cNvSpPr>
            <a:spLocks noChangeArrowheads="1"/>
          </p:cNvSpPr>
          <p:nvPr/>
        </p:nvSpPr>
        <p:spPr bwMode="auto">
          <a:xfrm>
            <a:off x="5354150" y="3708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48" name="Rectangle 1039"/>
          <p:cNvSpPr>
            <a:spLocks noChangeArrowheads="1"/>
          </p:cNvSpPr>
          <p:nvPr/>
        </p:nvSpPr>
        <p:spPr bwMode="auto">
          <a:xfrm>
            <a:off x="6248400" y="3708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49" name="Rectangle 1040"/>
          <p:cNvSpPr>
            <a:spLocks noChangeArrowheads="1"/>
          </p:cNvSpPr>
          <p:nvPr/>
        </p:nvSpPr>
        <p:spPr bwMode="auto">
          <a:xfrm>
            <a:off x="7182950" y="3708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50" name="Rectangle 1041"/>
          <p:cNvSpPr>
            <a:spLocks noChangeArrowheads="1"/>
          </p:cNvSpPr>
          <p:nvPr/>
        </p:nvSpPr>
        <p:spPr bwMode="auto">
          <a:xfrm>
            <a:off x="8077200" y="37084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51" name="Line 1044"/>
          <p:cNvSpPr>
            <a:spLocks noChangeShapeType="1"/>
          </p:cNvSpPr>
          <p:nvPr/>
        </p:nvSpPr>
        <p:spPr bwMode="auto">
          <a:xfrm>
            <a:off x="4791075" y="5232401"/>
            <a:ext cx="9525" cy="47539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1045"/>
              <p:cNvSpPr txBox="1">
                <a:spLocks noChangeArrowheads="1"/>
              </p:cNvSpPr>
              <p:nvPr/>
            </p:nvSpPr>
            <p:spPr bwMode="auto">
              <a:xfrm>
                <a:off x="3114675" y="5638801"/>
                <a:ext cx="3644716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400" dirty="0"/>
                  <a:t>Find approximate midpoint.</a:t>
                </a:r>
              </a:p>
              <a:p>
                <a:r>
                  <a:rPr lang="en-US" altLang="en-US" sz="2400" dirty="0"/>
                  <a:t>Is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400" dirty="0"/>
                  <a:t> = midpoint value?  YES.</a:t>
                </a:r>
              </a:p>
            </p:txBody>
          </p:sp>
        </mc:Choice>
        <mc:Fallback xmlns="">
          <p:sp>
            <p:nvSpPr>
              <p:cNvPr id="52" name="Text Box 10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4675" y="5638801"/>
                <a:ext cx="3644716" cy="830997"/>
              </a:xfrm>
              <a:prstGeom prst="rect">
                <a:avLst/>
              </a:prstGeom>
              <a:blipFill>
                <a:blip r:embed="rId3"/>
                <a:stretch>
                  <a:fillRect l="-2676" t="-5882" r="-1338" b="-161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ounded Rectangle 53"/>
              <p:cNvSpPr/>
              <p:nvPr/>
            </p:nvSpPr>
            <p:spPr>
              <a:xfrm>
                <a:off x="9372601" y="1041400"/>
                <a:ext cx="1150937" cy="609600"/>
              </a:xfrm>
              <a:prstGeom prst="roundRect">
                <a:avLst/>
              </a:prstGeom>
              <a:no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4" name="Rounded 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601" y="1041400"/>
                <a:ext cx="1150937" cy="6096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7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36" grpId="0" animBg="1"/>
      <p:bldP spid="37" grpId="0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1" grpId="0" animBg="1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Binary Search – Iterative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1714500" y="990601"/>
            <a:ext cx="8763000" cy="4867358"/>
          </a:xfrm>
          <a:prstGeom prst="rect">
            <a:avLst/>
          </a:prstGeom>
          <a:solidFill>
            <a:schemeClr val="bg2"/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Lucida Fax" panose="02060602050505020204" pitchFamily="18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C00000"/>
                </a:solidFill>
                <a:latin typeface="Lucida Fax" panose="02060602050505020204" pitchFamily="18" charset="0"/>
                <a:cs typeface="Consolas" pitchFamily="49" charset="0"/>
              </a:rPr>
              <a:t>BinarySearch</a:t>
            </a:r>
            <a:r>
              <a:rPr lang="en-IN" b="1" dirty="0">
                <a:solidFill>
                  <a:srgbClr val="C00000"/>
                </a:solidFill>
                <a:latin typeface="Lucida Fax" panose="02060602050505020204" pitchFamily="18" charset="0"/>
                <a:cs typeface="Consolas" pitchFamily="49" charset="0"/>
              </a:rPr>
              <a:t>(T[1,…,n], x)</a:t>
            </a:r>
          </a:p>
          <a:p>
            <a:pPr marL="914400" lvl="2" indent="0">
              <a:buNone/>
            </a:pP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if </a:t>
            </a:r>
            <a:r>
              <a:rPr lang="en-US" sz="2400" b="1" dirty="0">
                <a:solidFill>
                  <a:srgbClr val="FF0000"/>
                </a:solidFill>
                <a:latin typeface="Lucida Fax" panose="02060602050505020204" pitchFamily="18" charset="0"/>
                <a:cs typeface="Consolas" panose="020B0609020204030204" pitchFamily="49" charset="0"/>
              </a:rPr>
              <a:t>x &gt; T[n] </a:t>
            </a: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then </a:t>
            </a:r>
            <a:r>
              <a:rPr lang="en-US" sz="2200" b="1" dirty="0">
                <a:latin typeface="Lucida Fax" panose="02060602050505020204" pitchFamily="18" charset="0"/>
                <a:cs typeface="Consolas" panose="020B0609020204030204" pitchFamily="49" charset="0"/>
              </a:rPr>
              <a:t>return n+1</a:t>
            </a:r>
          </a:p>
          <a:p>
            <a:pPr marL="914400" lvl="2" indent="0">
              <a:buNone/>
            </a:pPr>
            <a:r>
              <a:rPr lang="en-US" sz="2400" b="1" dirty="0" err="1">
                <a:latin typeface="Lucida Fax" panose="02060602050505020204" pitchFamily="18" charset="0"/>
                <a:cs typeface="Consolas" panose="020B0609020204030204" pitchFamily="49" charset="0"/>
              </a:rPr>
              <a:t>i</a:t>
            </a: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 ← 1; </a:t>
            </a:r>
          </a:p>
          <a:p>
            <a:pPr marL="914400" lvl="2" indent="0">
              <a:buNone/>
            </a:pP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j ← n;</a:t>
            </a:r>
          </a:p>
          <a:p>
            <a:pPr marL="914400" lvl="2" indent="0">
              <a:buNone/>
            </a:pP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while </a:t>
            </a:r>
            <a:r>
              <a:rPr lang="en-US" sz="2400" b="1" dirty="0" err="1">
                <a:solidFill>
                  <a:srgbClr val="FF0000"/>
                </a:solidFill>
                <a:latin typeface="Lucida Fax" panose="02060602050505020204" pitchFamily="18" charset="0"/>
                <a:cs typeface="Consolas" panose="020B0609020204030204" pitchFamily="49" charset="0"/>
              </a:rPr>
              <a:t>i</a:t>
            </a:r>
            <a:r>
              <a:rPr lang="en-US" sz="2400" b="1" dirty="0">
                <a:solidFill>
                  <a:srgbClr val="FF0000"/>
                </a:solidFill>
                <a:latin typeface="Lucida Fax" panose="02060602050505020204" pitchFamily="18" charset="0"/>
                <a:cs typeface="Consolas" panose="020B0609020204030204" pitchFamily="49" charset="0"/>
              </a:rPr>
              <a:t> &lt; j </a:t>
            </a: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do</a:t>
            </a:r>
          </a:p>
          <a:p>
            <a:pPr marL="914400" lvl="2" indent="0">
              <a:buNone/>
            </a:pP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    k ← (</a:t>
            </a:r>
            <a:r>
              <a:rPr lang="en-US" sz="2400" b="1" dirty="0" err="1">
                <a:latin typeface="Lucida Fax" panose="02060602050505020204" pitchFamily="18" charset="0"/>
                <a:cs typeface="Consolas" panose="020B0609020204030204" pitchFamily="49" charset="0"/>
              </a:rPr>
              <a:t>i</a:t>
            </a: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 + j ) ÷ 2</a:t>
            </a:r>
            <a:endParaRPr lang="en-US" sz="2400" dirty="0">
              <a:latin typeface="Lucida Fax" panose="02060602050505020204" pitchFamily="18" charset="0"/>
              <a:cs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if  x ≤ T [k]  then  j ← k </a:t>
            </a:r>
            <a:endParaRPr lang="en-US" sz="2400" dirty="0">
              <a:latin typeface="Lucida Fax" panose="02060602050505020204" pitchFamily="18" charset="0"/>
              <a:cs typeface="Consolas" panose="020B0609020204030204" pitchFamily="49" charset="0"/>
            </a:endParaRPr>
          </a:p>
          <a:p>
            <a:pPr marL="1828800" lvl="4" indent="0">
              <a:buNone/>
            </a:pP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else </a:t>
            </a:r>
            <a:r>
              <a:rPr lang="en-US" sz="2400" b="1" dirty="0" err="1">
                <a:latin typeface="Lucida Fax" panose="02060602050505020204" pitchFamily="18" charset="0"/>
                <a:cs typeface="Consolas" panose="020B0609020204030204" pitchFamily="49" charset="0"/>
              </a:rPr>
              <a:t>i</a:t>
            </a: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 ← k + 1</a:t>
            </a:r>
            <a:endParaRPr lang="en-US" sz="2400" dirty="0">
              <a:latin typeface="Lucida Fax" panose="02060602050505020204" pitchFamily="18" charset="0"/>
              <a:cs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return </a:t>
            </a:r>
            <a:r>
              <a:rPr lang="en-US" sz="2400" b="1" dirty="0" err="1">
                <a:latin typeface="Lucida Fax" panose="02060602050505020204" pitchFamily="18" charset="0"/>
                <a:cs typeface="Consolas" panose="020B0609020204030204" pitchFamily="49" charset="0"/>
              </a:rPr>
              <a:t>i</a:t>
            </a:r>
            <a:r>
              <a:rPr lang="en-US" sz="2400" b="1" dirty="0">
                <a:latin typeface="Lucida Fax" panose="02060602050505020204" pitchFamily="18" charset="0"/>
                <a:cs typeface="Consolas" panose="020B0609020204030204" pitchFamily="49" charset="0"/>
              </a:rPr>
              <a:t> </a:t>
            </a:r>
            <a:r>
              <a:rPr lang="en-IN" sz="2400" dirty="0">
                <a:solidFill>
                  <a:schemeClr val="bg2"/>
                </a:solidFill>
                <a:latin typeface="Lucida Fax" panose="02060602050505020204" pitchFamily="18" charset="0"/>
                <a:cs typeface="Consolas" pitchFamily="49" charset="0"/>
              </a:rPr>
              <a:t>        </a:t>
            </a:r>
            <a:r>
              <a:rPr lang="en-IN" sz="24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A[j] ← A[j+1]          A[j+1] ← temp</a:t>
            </a:r>
          </a:p>
        </p:txBody>
      </p:sp>
      <p:sp>
        <p:nvSpPr>
          <p:cNvPr id="3" name="Rectangle 2"/>
          <p:cNvSpPr/>
          <p:nvPr/>
        </p:nvSpPr>
        <p:spPr>
          <a:xfrm>
            <a:off x="9677400" y="1676400"/>
            <a:ext cx="548640" cy="54864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80022" y="2225872"/>
            <a:ext cx="548640" cy="54864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9678711" y="2775344"/>
            <a:ext cx="548640" cy="54864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9683955" y="3859540"/>
            <a:ext cx="548640" cy="54864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81333" y="4409012"/>
            <a:ext cx="548640" cy="54864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82644" y="4958483"/>
            <a:ext cx="548640" cy="54864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53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83955" y="3312578"/>
            <a:ext cx="548640" cy="54864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11</a:t>
            </a:r>
          </a:p>
        </p:txBody>
      </p:sp>
      <p:sp>
        <p:nvSpPr>
          <p:cNvPr id="14" name="Oval 13"/>
          <p:cNvSpPr/>
          <p:nvPr/>
        </p:nvSpPr>
        <p:spPr>
          <a:xfrm>
            <a:off x="8991600" y="1752600"/>
            <a:ext cx="457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</a:rPr>
              <a:t>i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991600" y="5029200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026783"/>
            <a:ext cx="73152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n=7</a:t>
            </a:r>
          </a:p>
        </p:txBody>
      </p:sp>
      <p:sp>
        <p:nvSpPr>
          <p:cNvPr id="17" name="Oval 16"/>
          <p:cNvSpPr/>
          <p:nvPr/>
        </p:nvSpPr>
        <p:spPr>
          <a:xfrm>
            <a:off x="8991600" y="3429000"/>
            <a:ext cx="457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48000" y="3915696"/>
            <a:ext cx="4572000" cy="5219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8991600" y="5029200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j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9448800" y="3312578"/>
            <a:ext cx="10287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448800" y="3856704"/>
            <a:ext cx="10287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26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3.33333E-6 -0.23334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364 0.04375 0 -0.00949 0 0.06458 C 0 0.07106 -0.00104 0.07754 -0.00156 0.08403 C -0.00364 0.07546 -0.00312 0.07963 -0.00312 0.07106 L -0.00156 0.07315 " pathEditMode="relative" ptsTypes="AAAAAA">
                                      <p:cBhvr>
                                        <p:cTn id="1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3.33333E-6 0.32222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111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4" grpId="1" animBg="1"/>
      <p:bldP spid="15" grpId="0" animBg="1"/>
      <p:bldP spid="15" grpId="1" animBg="1"/>
      <p:bldP spid="15" grpId="2" animBg="1"/>
      <p:bldP spid="16" grpId="0" animBg="1"/>
      <p:bldP spid="17" grpId="0" animBg="1"/>
      <p:bldP spid="17" grpId="1" animBg="1"/>
      <p:bldP spid="18" grpId="0" animBg="1"/>
      <p:bldP spid="18" grpId="1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Binary Search – Recursive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254000" y="990601"/>
            <a:ext cx="11684000" cy="4967257"/>
          </a:xfrm>
          <a:prstGeom prst="rect">
            <a:avLst/>
          </a:prstGeom>
          <a:solidFill>
            <a:schemeClr val="bg2"/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2400" b="1" dirty="0" err="1">
                <a:solidFill>
                  <a:srgbClr val="C00000"/>
                </a:solidFill>
                <a:latin typeface="Lucida Fax" panose="02060602050505020204" pitchFamily="18" charset="0"/>
                <a:cs typeface="Consolas" pitchFamily="49" charset="0"/>
              </a:rPr>
              <a:t>BinarySearch</a:t>
            </a:r>
            <a:r>
              <a:rPr lang="en-IN" sz="2400" b="1" dirty="0">
                <a:solidFill>
                  <a:srgbClr val="C00000"/>
                </a:solidFill>
                <a:latin typeface="Lucida Fax" panose="02060602050505020204" pitchFamily="18" charset="0"/>
                <a:cs typeface="Consolas" pitchFamily="49" charset="0"/>
              </a:rPr>
              <a:t>(</a:t>
            </a:r>
            <a:r>
              <a:rPr lang="en-IN" sz="2400" b="1" dirty="0" err="1">
                <a:solidFill>
                  <a:srgbClr val="C00000"/>
                </a:solidFill>
                <a:latin typeface="Lucida Fax" panose="02060602050505020204" pitchFamily="18" charset="0"/>
                <a:cs typeface="Consolas" pitchFamily="49" charset="0"/>
              </a:rPr>
              <a:t>arr</a:t>
            </a:r>
            <a:r>
              <a:rPr lang="en-IN" sz="2400" b="1" dirty="0">
                <a:solidFill>
                  <a:srgbClr val="C00000"/>
                </a:solidFill>
                <a:latin typeface="Lucida Fax" panose="02060602050505020204" pitchFamily="18" charset="0"/>
                <a:cs typeface="Consolas" pitchFamily="49" charset="0"/>
              </a:rPr>
              <a:t>, item, beg, end)</a:t>
            </a:r>
          </a:p>
          <a:p>
            <a:pPr marL="914400" lvl="2" indent="0">
              <a:buNone/>
            </a:pP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if beg&lt;=end</a:t>
            </a:r>
          </a:p>
          <a:p>
            <a:pPr marL="914400" lvl="2" indent="0">
              <a:buNone/>
            </a:pP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        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midIndex</a:t>
            </a: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 = (beg + end) / 2 </a:t>
            </a:r>
          </a:p>
          <a:p>
            <a:pPr marL="914400" lvl="2" indent="0">
              <a:buNone/>
            </a:pP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        if item == 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arr</a:t>
            </a: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[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midIndex</a:t>
            </a: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]</a:t>
            </a:r>
          </a:p>
          <a:p>
            <a:pPr marL="914400" lvl="2" indent="0">
              <a:buNone/>
            </a:pP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            return 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midIndex</a:t>
            </a:r>
            <a:endParaRPr lang="en-IN" sz="2400" dirty="0">
              <a:latin typeface="Lucida Fax" panose="02060602050505020204" pitchFamily="18" charset="0"/>
              <a:cs typeface="Consolas" pitchFamily="49" charset="0"/>
            </a:endParaRPr>
          </a:p>
          <a:p>
            <a:pPr marL="914400" lvl="2" indent="0">
              <a:buNone/>
            </a:pP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        else if item &lt; 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arr</a:t>
            </a: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[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midIndex</a:t>
            </a: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]        </a:t>
            </a:r>
          </a:p>
          <a:p>
            <a:pPr marL="914400" lvl="2" indent="0">
              <a:buNone/>
            </a:pP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            return 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binarySearch</a:t>
            </a: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(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arr</a:t>
            </a: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, item, 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midIndex</a:t>
            </a: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 + 1, end)</a:t>
            </a:r>
          </a:p>
          <a:p>
            <a:pPr marL="914400" lvl="2" indent="0">
              <a:buNone/>
            </a:pP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        else                              </a:t>
            </a:r>
          </a:p>
          <a:p>
            <a:pPr marL="914400" lvl="2" indent="0">
              <a:buNone/>
            </a:pP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            return 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binarySearch</a:t>
            </a: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(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arr</a:t>
            </a: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, item, beg, </a:t>
            </a:r>
            <a:r>
              <a:rPr lang="en-IN" sz="2400" dirty="0" err="1">
                <a:latin typeface="Lucida Fax" panose="02060602050505020204" pitchFamily="18" charset="0"/>
                <a:cs typeface="Consolas" pitchFamily="49" charset="0"/>
              </a:rPr>
              <a:t>midIndex</a:t>
            </a: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 – 1)</a:t>
            </a:r>
          </a:p>
          <a:p>
            <a:pPr marL="914400" lvl="2" indent="0">
              <a:buNone/>
            </a:pPr>
            <a:r>
              <a:rPr lang="en-IN" sz="2400" dirty="0">
                <a:latin typeface="Lucida Fax" panose="02060602050505020204" pitchFamily="18" charset="0"/>
                <a:cs typeface="Consolas" pitchFamily="49" charset="0"/>
              </a:rPr>
              <a:t>return -1</a:t>
            </a:r>
          </a:p>
        </p:txBody>
      </p:sp>
    </p:spTree>
    <p:extLst>
      <p:ext uri="{BB962C8B-B14F-4D97-AF65-F5344CB8AC3E}">
        <p14:creationId xmlns:p14="http://schemas.microsoft.com/office/powerpoint/2010/main" val="171041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time required for a call on </a:t>
                </a:r>
                <a:r>
                  <a:rPr lang="en-US" dirty="0" err="1"/>
                  <a:t>binrec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),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 + 1 </m:t>
                    </m:r>
                  </m:oMath>
                </a14:m>
                <a:r>
                  <a:rPr lang="en-US" dirty="0"/>
                  <a:t>is the number of elements </a:t>
                </a:r>
                <a:r>
                  <a:rPr lang="en-US" b="1" dirty="0"/>
                  <a:t>still under consideration </a:t>
                </a:r>
                <a:r>
                  <a:rPr lang="en-US" dirty="0"/>
                  <a:t>in the search.</a:t>
                </a:r>
              </a:p>
              <a:p>
                <a:r>
                  <a:rPr lang="en-US" dirty="0"/>
                  <a:t>The recurrence equation is given as,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Comparing this to the general template for divide and conquer algorithm,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=2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l-G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𝒐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The complexity of binary search is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4286250" y="5466735"/>
                <a:ext cx="3931920" cy="6400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i="1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𝑎𝑇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50" y="5466735"/>
                <a:ext cx="3931920" cy="64008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956810" y="4267200"/>
            <a:ext cx="1295400" cy="45720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7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5" grpId="1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–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Demonstrate binary search algorithm and find the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=12 </m:t>
                    </m:r>
                  </m:oMath>
                </a14:m>
                <a:r>
                  <a:rPr lang="en-US" dirty="0"/>
                  <a:t>in the following array. [3 / 4]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2, 5, 8, 12, 16, 23, 38, 56, 72, 91</m:t>
                      </m:r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Explain binary search algorithm and find the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=31 </m:t>
                    </m:r>
                  </m:oMath>
                </a14:m>
                <a:r>
                  <a:rPr lang="en-US" dirty="0"/>
                  <a:t>in the following array. [7]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10, 15, 18, 26, 27, 31, 38, 45, 59</m:t>
                      </m:r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be a sorted array of distinct integers. Give an algorithm that can find an index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provided such an index exists. Prove that your algorithm takes time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𝑙𝑜𝑔𝑛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in the worst case. (</a:t>
                </a:r>
                <a:r>
                  <a:rPr lang="en-US" dirty="0">
                    <a:solidFill>
                      <a:srgbClr val="FF0000"/>
                    </a:solidFill>
                  </a:rPr>
                  <a:t>**</a:t>
                </a:r>
                <a:r>
                  <a:rPr lang="en-US" dirty="0"/>
                  <a:t>)</a:t>
                </a:r>
                <a:endParaRPr lang="en-US" sz="2800" dirty="0">
                  <a:solidFill>
                    <a:srgbClr val="0066FF"/>
                  </a:solidFill>
                </a:endParaRPr>
              </a:p>
              <a:p>
                <a:pPr marL="0" indent="0" algn="ctr">
                  <a:buNone/>
                </a:pPr>
                <a:endParaRPr lang="en-US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3" t="-686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68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20" y="3012283"/>
            <a:ext cx="2651760" cy="833437"/>
          </a:xfrm>
          <a:noFill/>
        </p:spPr>
        <p:txBody>
          <a:bodyPr>
            <a:noAutofit/>
          </a:bodyPr>
          <a:lstStyle/>
          <a:p>
            <a:r>
              <a:rPr lang="en-US" cap="none" dirty="0">
                <a:solidFill>
                  <a:srgbClr val="C00000"/>
                </a:solidFill>
              </a:rPr>
              <a:t>Merge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Pentagon 4"/>
          <p:cNvSpPr/>
          <p:nvPr/>
        </p:nvSpPr>
        <p:spPr>
          <a:xfrm rot="5400000">
            <a:off x="-1490568" y="3017522"/>
            <a:ext cx="6858000" cy="822960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7BA1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442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Merge Sort - Example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05200" y="1528465"/>
          <a:ext cx="5249336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451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30676" y="1066801"/>
            <a:ext cx="2130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00964" y="2057400"/>
          <a:ext cx="524933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1752600" y="2603500"/>
            <a:ext cx="8686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048000" y="3733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3810000" y="3733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4572000" y="3733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5334000" y="3733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6096000" y="3733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14" name="Rectangle 13"/>
          <p:cNvSpPr/>
          <p:nvPr/>
        </p:nvSpPr>
        <p:spPr>
          <a:xfrm>
            <a:off x="6858000" y="3733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7620000" y="3733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8382000" y="3733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3048000" y="32766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10000" y="32766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2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0" y="32766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3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34000" y="32766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4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96000" y="32766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5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58000" y="32766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6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620000" y="32766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7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382000" y="32766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8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51124" y="2787135"/>
            <a:ext cx="84596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Step 1: Split the selected array</a:t>
            </a:r>
            <a:endParaRPr lang="en-US" sz="2400" b="1" dirty="0"/>
          </a:p>
        </p:txBody>
      </p:sp>
      <p:sp>
        <p:nvSpPr>
          <p:cNvPr id="26" name="Rectangle 25"/>
          <p:cNvSpPr/>
          <p:nvPr/>
        </p:nvSpPr>
        <p:spPr>
          <a:xfrm>
            <a:off x="2057400" y="4953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2819400" y="4953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3581400" y="4953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29" name="Rectangle 28"/>
          <p:cNvSpPr/>
          <p:nvPr/>
        </p:nvSpPr>
        <p:spPr>
          <a:xfrm>
            <a:off x="4343400" y="4953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30" name="Rectangle 29"/>
          <p:cNvSpPr/>
          <p:nvPr/>
        </p:nvSpPr>
        <p:spPr>
          <a:xfrm>
            <a:off x="2057400" y="53594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819400" y="53594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2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581400" y="53594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3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43400" y="53594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4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162800" y="4953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35" name="Rectangle 34"/>
          <p:cNvSpPr/>
          <p:nvPr/>
        </p:nvSpPr>
        <p:spPr>
          <a:xfrm>
            <a:off x="7924800" y="4953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36" name="Rectangle 35"/>
          <p:cNvSpPr/>
          <p:nvPr/>
        </p:nvSpPr>
        <p:spPr>
          <a:xfrm>
            <a:off x="8686800" y="4953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37" name="Rectangle 36"/>
          <p:cNvSpPr/>
          <p:nvPr/>
        </p:nvSpPr>
        <p:spPr>
          <a:xfrm>
            <a:off x="9448800" y="4953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38" name="Rectangle 37"/>
          <p:cNvSpPr/>
          <p:nvPr/>
        </p:nvSpPr>
        <p:spPr>
          <a:xfrm>
            <a:off x="7162800" y="53594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924800" y="53594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2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686800" y="53594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3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448800" y="53594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4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3581400" y="4114800"/>
            <a:ext cx="251460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6096000" y="4114800"/>
            <a:ext cx="259080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01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Merge Sort -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37311" y="914401"/>
            <a:ext cx="403777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Select the left subarray and </a:t>
            </a:r>
            <a:r>
              <a:rPr lang="en-IN" sz="2200" b="1" dirty="0"/>
              <a:t>Split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3048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3810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4572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2286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2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3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4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39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14" name="Rectangle 13"/>
          <p:cNvSpPr/>
          <p:nvPr/>
        </p:nvSpPr>
        <p:spPr>
          <a:xfrm>
            <a:off x="8001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8763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9525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7239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2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63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3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25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4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981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2743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1981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000" b="1" dirty="0">
                <a:solidFill>
                  <a:srgbClr val="C00000"/>
                </a:solidFill>
              </a:rPr>
              <a:t>2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038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4800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038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800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000" b="1" dirty="0">
                <a:solidFill>
                  <a:srgbClr val="C00000"/>
                </a:solidFill>
              </a:rPr>
              <a:t>2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2743200" y="21336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810000" y="2133600"/>
            <a:ext cx="99060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6764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35" name="Rectangle 34"/>
          <p:cNvSpPr/>
          <p:nvPr/>
        </p:nvSpPr>
        <p:spPr>
          <a:xfrm>
            <a:off x="16764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8956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37" name="Rectangle 36"/>
          <p:cNvSpPr/>
          <p:nvPr/>
        </p:nvSpPr>
        <p:spPr>
          <a:xfrm>
            <a:off x="28956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8100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39" name="Rectangle 38"/>
          <p:cNvSpPr/>
          <p:nvPr/>
        </p:nvSpPr>
        <p:spPr>
          <a:xfrm>
            <a:off x="38100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9530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41" name="Rectangle 40"/>
          <p:cNvSpPr/>
          <p:nvPr/>
        </p:nvSpPr>
        <p:spPr>
          <a:xfrm>
            <a:off x="49530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2057400" y="3200400"/>
            <a:ext cx="6858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2743200" y="3200400"/>
            <a:ext cx="533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4114800" y="3200400"/>
            <a:ext cx="6858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800600" y="3200400"/>
            <a:ext cx="533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981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52" name="Rectangle 51"/>
          <p:cNvSpPr/>
          <p:nvPr/>
        </p:nvSpPr>
        <p:spPr>
          <a:xfrm>
            <a:off x="2743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53" name="Rectangle 52"/>
          <p:cNvSpPr/>
          <p:nvPr/>
        </p:nvSpPr>
        <p:spPr>
          <a:xfrm>
            <a:off x="4038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54" name="Rectangle 53"/>
          <p:cNvSpPr/>
          <p:nvPr/>
        </p:nvSpPr>
        <p:spPr>
          <a:xfrm>
            <a:off x="4800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cxnSp>
        <p:nvCxnSpPr>
          <p:cNvPr id="56" name="Straight Arrow Connector 55"/>
          <p:cNvCxnSpPr>
            <a:stCxn id="34" idx="2"/>
          </p:cNvCxnSpPr>
          <p:nvPr/>
        </p:nvCxnSpPr>
        <p:spPr>
          <a:xfrm>
            <a:off x="2057400" y="4267200"/>
            <a:ext cx="6858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36" idx="2"/>
          </p:cNvCxnSpPr>
          <p:nvPr/>
        </p:nvCxnSpPr>
        <p:spPr>
          <a:xfrm flipH="1">
            <a:off x="2743200" y="42672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38" idx="2"/>
          </p:cNvCxnSpPr>
          <p:nvPr/>
        </p:nvCxnSpPr>
        <p:spPr>
          <a:xfrm>
            <a:off x="4191000" y="4267200"/>
            <a:ext cx="6096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0" idx="2"/>
          </p:cNvCxnSpPr>
          <p:nvPr/>
        </p:nvCxnSpPr>
        <p:spPr>
          <a:xfrm flipH="1">
            <a:off x="4800600" y="42672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260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64" name="Rectangle 63"/>
          <p:cNvSpPr/>
          <p:nvPr/>
        </p:nvSpPr>
        <p:spPr>
          <a:xfrm>
            <a:off x="3022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65" name="Rectangle 64"/>
          <p:cNvSpPr/>
          <p:nvPr/>
        </p:nvSpPr>
        <p:spPr>
          <a:xfrm>
            <a:off x="3784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66" name="Rectangle 65"/>
          <p:cNvSpPr/>
          <p:nvPr/>
        </p:nvSpPr>
        <p:spPr>
          <a:xfrm>
            <a:off x="4546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2743200" y="4953000"/>
            <a:ext cx="1041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3810000" y="4953000"/>
            <a:ext cx="9906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6934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72" name="Rectangle 71"/>
          <p:cNvSpPr/>
          <p:nvPr/>
        </p:nvSpPr>
        <p:spPr>
          <a:xfrm>
            <a:off x="7696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73" name="Rectangle 72"/>
          <p:cNvSpPr/>
          <p:nvPr/>
        </p:nvSpPr>
        <p:spPr>
          <a:xfrm>
            <a:off x="6934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696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000" b="1" dirty="0">
                <a:solidFill>
                  <a:srgbClr val="C00000"/>
                </a:solidFill>
              </a:rPr>
              <a:t>2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991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76" name="Rectangle 75"/>
          <p:cNvSpPr/>
          <p:nvPr/>
        </p:nvSpPr>
        <p:spPr>
          <a:xfrm>
            <a:off x="9753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77" name="Rectangle 76"/>
          <p:cNvSpPr/>
          <p:nvPr/>
        </p:nvSpPr>
        <p:spPr>
          <a:xfrm>
            <a:off x="8991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9753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000" b="1" dirty="0">
                <a:solidFill>
                  <a:srgbClr val="C00000"/>
                </a:solidFill>
              </a:rPr>
              <a:t>2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79" name="Straight Arrow Connector 78"/>
          <p:cNvCxnSpPr/>
          <p:nvPr/>
        </p:nvCxnSpPr>
        <p:spPr>
          <a:xfrm flipH="1">
            <a:off x="7696200" y="21336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8763000" y="2133600"/>
            <a:ext cx="99060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66294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82" name="Rectangle 81"/>
          <p:cNvSpPr/>
          <p:nvPr/>
        </p:nvSpPr>
        <p:spPr>
          <a:xfrm>
            <a:off x="66294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78486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84" name="Rectangle 83"/>
          <p:cNvSpPr/>
          <p:nvPr/>
        </p:nvSpPr>
        <p:spPr>
          <a:xfrm>
            <a:off x="78486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87630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86" name="Rectangle 85"/>
          <p:cNvSpPr/>
          <p:nvPr/>
        </p:nvSpPr>
        <p:spPr>
          <a:xfrm>
            <a:off x="87630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8298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88" name="Rectangle 87"/>
          <p:cNvSpPr/>
          <p:nvPr/>
        </p:nvSpPr>
        <p:spPr>
          <a:xfrm>
            <a:off x="98298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000" b="1" dirty="0">
                <a:solidFill>
                  <a:srgbClr val="C00000"/>
                </a:solidFill>
              </a:rPr>
              <a:t>1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89" name="Straight Arrow Connector 88"/>
          <p:cNvCxnSpPr/>
          <p:nvPr/>
        </p:nvCxnSpPr>
        <p:spPr>
          <a:xfrm flipH="1">
            <a:off x="7010400" y="3200400"/>
            <a:ext cx="6858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7696200" y="3200400"/>
            <a:ext cx="533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>
            <a:off x="9067800" y="3200400"/>
            <a:ext cx="6858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753600" y="3200400"/>
            <a:ext cx="533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6934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94" name="Rectangle 93"/>
          <p:cNvSpPr/>
          <p:nvPr/>
        </p:nvSpPr>
        <p:spPr>
          <a:xfrm>
            <a:off x="7696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95" name="Rectangle 94"/>
          <p:cNvSpPr/>
          <p:nvPr/>
        </p:nvSpPr>
        <p:spPr>
          <a:xfrm>
            <a:off x="8991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96" name="Rectangle 95"/>
          <p:cNvSpPr/>
          <p:nvPr/>
        </p:nvSpPr>
        <p:spPr>
          <a:xfrm>
            <a:off x="9753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cxnSp>
        <p:nvCxnSpPr>
          <p:cNvPr id="97" name="Straight Arrow Connector 96"/>
          <p:cNvCxnSpPr>
            <a:stCxn id="81" idx="2"/>
          </p:cNvCxnSpPr>
          <p:nvPr/>
        </p:nvCxnSpPr>
        <p:spPr>
          <a:xfrm>
            <a:off x="7010400" y="4267200"/>
            <a:ext cx="6858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3" idx="2"/>
          </p:cNvCxnSpPr>
          <p:nvPr/>
        </p:nvCxnSpPr>
        <p:spPr>
          <a:xfrm flipH="1">
            <a:off x="7696200" y="42672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85" idx="2"/>
          </p:cNvCxnSpPr>
          <p:nvPr/>
        </p:nvCxnSpPr>
        <p:spPr>
          <a:xfrm>
            <a:off x="9144000" y="4267200"/>
            <a:ext cx="6096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87" idx="2"/>
          </p:cNvCxnSpPr>
          <p:nvPr/>
        </p:nvCxnSpPr>
        <p:spPr>
          <a:xfrm flipH="1">
            <a:off x="9677400" y="42672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7213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02" name="Rectangle 101"/>
          <p:cNvSpPr/>
          <p:nvPr/>
        </p:nvSpPr>
        <p:spPr>
          <a:xfrm>
            <a:off x="7975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03" name="Rectangle 102"/>
          <p:cNvSpPr/>
          <p:nvPr/>
        </p:nvSpPr>
        <p:spPr>
          <a:xfrm>
            <a:off x="8737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04" name="Rectangle 103"/>
          <p:cNvSpPr/>
          <p:nvPr/>
        </p:nvSpPr>
        <p:spPr>
          <a:xfrm>
            <a:off x="9499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7696200" y="4953000"/>
            <a:ext cx="1041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flipH="1">
            <a:off x="8763000" y="4953000"/>
            <a:ext cx="9906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3124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108" name="Rectangle 107"/>
          <p:cNvSpPr/>
          <p:nvPr/>
        </p:nvSpPr>
        <p:spPr>
          <a:xfrm>
            <a:off x="3886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09" name="Rectangle 108"/>
          <p:cNvSpPr/>
          <p:nvPr/>
        </p:nvSpPr>
        <p:spPr>
          <a:xfrm>
            <a:off x="4648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110" name="Rectangle 109"/>
          <p:cNvSpPr/>
          <p:nvPr/>
        </p:nvSpPr>
        <p:spPr>
          <a:xfrm>
            <a:off x="5410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11" name="Rectangle 110"/>
          <p:cNvSpPr/>
          <p:nvPr/>
        </p:nvSpPr>
        <p:spPr>
          <a:xfrm>
            <a:off x="6172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12" name="Rectangle 111"/>
          <p:cNvSpPr/>
          <p:nvPr/>
        </p:nvSpPr>
        <p:spPr>
          <a:xfrm>
            <a:off x="6934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113" name="Rectangle 112"/>
          <p:cNvSpPr/>
          <p:nvPr/>
        </p:nvSpPr>
        <p:spPr>
          <a:xfrm>
            <a:off x="7696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114" name="Rectangle 113"/>
          <p:cNvSpPr/>
          <p:nvPr/>
        </p:nvSpPr>
        <p:spPr>
          <a:xfrm>
            <a:off x="8458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3784600" y="5638800"/>
            <a:ext cx="23876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flipH="1">
            <a:off x="6172200" y="5638800"/>
            <a:ext cx="25908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6400800" y="914401"/>
            <a:ext cx="418948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Select the right subarray and </a:t>
            </a:r>
            <a:r>
              <a:rPr lang="en-IN" sz="2200" b="1" dirty="0"/>
              <a:t>Split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1284" y="2438054"/>
            <a:ext cx="778117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Split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44496" y="4874568"/>
            <a:ext cx="1005840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Merge </a:t>
            </a:r>
          </a:p>
        </p:txBody>
      </p:sp>
      <p:cxnSp>
        <p:nvCxnSpPr>
          <p:cNvPr id="46" name="Straight Arrow Connector 45"/>
          <p:cNvCxnSpPr>
            <a:stCxn id="42" idx="0"/>
          </p:cNvCxnSpPr>
          <p:nvPr/>
        </p:nvCxnSpPr>
        <p:spPr>
          <a:xfrm flipV="1">
            <a:off x="6240342" y="1750825"/>
            <a:ext cx="0" cy="687229"/>
          </a:xfrm>
          <a:prstGeom prst="straightConnector1">
            <a:avLst/>
          </a:prstGeom>
          <a:ln w="28575">
            <a:solidFill>
              <a:srgbClr val="0066FF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2" idx="2"/>
          </p:cNvCxnSpPr>
          <p:nvPr/>
        </p:nvCxnSpPr>
        <p:spPr>
          <a:xfrm flipH="1">
            <a:off x="6240342" y="2899718"/>
            <a:ext cx="1" cy="1092766"/>
          </a:xfrm>
          <a:prstGeom prst="straightConnector1">
            <a:avLst/>
          </a:prstGeom>
          <a:ln w="28575">
            <a:solidFill>
              <a:srgbClr val="0066FF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943599" y="4038600"/>
            <a:ext cx="5715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115" idx="0"/>
          </p:cNvCxnSpPr>
          <p:nvPr/>
        </p:nvCxnSpPr>
        <p:spPr>
          <a:xfrm flipV="1">
            <a:off x="6247416" y="4076701"/>
            <a:ext cx="0" cy="797867"/>
          </a:xfrm>
          <a:prstGeom prst="straightConnector1">
            <a:avLst/>
          </a:prstGeom>
          <a:ln w="28575">
            <a:solidFill>
              <a:srgbClr val="0066FF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115" idx="2"/>
          </p:cNvCxnSpPr>
          <p:nvPr/>
        </p:nvCxnSpPr>
        <p:spPr>
          <a:xfrm>
            <a:off x="6247416" y="5336232"/>
            <a:ext cx="0" cy="683568"/>
          </a:xfrm>
          <a:prstGeom prst="straightConnector1">
            <a:avLst/>
          </a:prstGeom>
          <a:ln w="28575">
            <a:solidFill>
              <a:srgbClr val="0066FF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2450116" y="5268123"/>
            <a:ext cx="36576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7406640" y="5257800"/>
            <a:ext cx="36576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7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521 -0.00069 0.01059 -0.00254 0.01597 -0.00208 C 0.01996 -0.00185 0.02343 0.00116 0.02725 0.00209 C 0.03264 0.00348 0.03802 0.00348 0.0434 0.0044 L 0.08385 0.00209 L 0.08385 0.00209 " pathEditMode="relative" ptsTypes="AAAAAAA">
                                      <p:cBhvr>
                                        <p:cTn id="37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500"/>
                            </p:stCondLst>
                            <p:childTnLst>
                              <p:par>
                                <p:cTn id="3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1000"/>
                            </p:stCondLst>
                            <p:childTnLst>
                              <p:par>
                                <p:cTn id="3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1500"/>
                            </p:stCondLst>
                            <p:childTnLst>
                              <p:par>
                                <p:cTn id="3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2000"/>
                            </p:stCondLst>
                            <p:childTnLst>
                              <p:par>
                                <p:cTn id="3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6" fill="hold">
                            <p:stCondLst>
                              <p:cond delay="2500"/>
                            </p:stCondLst>
                            <p:childTnLst>
                              <p:par>
                                <p:cTn id="3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3000"/>
                            </p:stCondLst>
                            <p:childTnLst>
                              <p:par>
                                <p:cTn id="4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51" grpId="0" animBg="1"/>
      <p:bldP spid="52" grpId="0" animBg="1"/>
      <p:bldP spid="53" grpId="0" animBg="1"/>
      <p:bldP spid="54" grpId="0" animBg="1"/>
      <p:bldP spid="63" grpId="0" animBg="1"/>
      <p:bldP spid="64" grpId="0" animBg="1"/>
      <p:bldP spid="65" grpId="0" animBg="1"/>
      <p:bldP spid="66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3" grpId="0" animBg="1"/>
      <p:bldP spid="94" grpId="0" animBg="1"/>
      <p:bldP spid="95" grpId="0" animBg="1"/>
      <p:bldP spid="96" grpId="0" animBg="1"/>
      <p:bldP spid="101" grpId="0" animBg="1"/>
      <p:bldP spid="102" grpId="0" animBg="1"/>
      <p:bldP spid="103" grpId="0" animBg="1"/>
      <p:bldP spid="104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9" grpId="0"/>
      <p:bldP spid="42" grpId="0" animBg="1"/>
      <p:bldP spid="115" grpId="0" animBg="1"/>
      <p:bldP spid="3" grpId="0" animBg="1"/>
      <p:bldP spid="3" grpId="1" animBg="1"/>
      <p:bldP spid="1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Example (HW)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Sort given numbers into descending order using merge sort.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66FF"/>
                </a:solidFill>
              </a:rPr>
              <a:t>38, 27, 43, 3, 9, 82, 10, 67, 71, 54, 97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99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-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Merge Sort is an example of </a:t>
            </a:r>
            <a:r>
              <a:rPr lang="en-US" b="1" dirty="0"/>
              <a:t>divide and conquer algorithm.</a:t>
            </a:r>
          </a:p>
          <a:p>
            <a:pPr>
              <a:buClr>
                <a:schemeClr val="tx1"/>
              </a:buClr>
            </a:pPr>
            <a:r>
              <a:rPr lang="en-US" dirty="0"/>
              <a:t>It is based on the </a:t>
            </a:r>
            <a:r>
              <a:rPr lang="en-US" b="1" dirty="0"/>
              <a:t>idea of breaking down a list into several sub-lists </a:t>
            </a:r>
            <a:r>
              <a:rPr lang="en-US" dirty="0"/>
              <a:t>until each sub list consists of a </a:t>
            </a:r>
            <a:r>
              <a:rPr lang="en-US" b="1" dirty="0"/>
              <a:t>single element.</a:t>
            </a:r>
          </a:p>
          <a:p>
            <a:pPr>
              <a:buClr>
                <a:schemeClr val="tx1"/>
              </a:buClr>
            </a:pPr>
            <a:r>
              <a:rPr lang="en-US" b="1" dirty="0"/>
              <a:t>Merging those sub lists </a:t>
            </a:r>
            <a:r>
              <a:rPr lang="en-US" dirty="0"/>
              <a:t>in a manner that results into a sorted list.</a:t>
            </a:r>
          </a:p>
          <a:p>
            <a:pPr>
              <a:buClr>
                <a:schemeClr val="tx1"/>
              </a:buClr>
            </a:pPr>
            <a:r>
              <a:rPr lang="en-US" b="1" dirty="0"/>
              <a:t>Procedure</a:t>
            </a:r>
          </a:p>
          <a:p>
            <a:pPr lvl="1" algn="l">
              <a:buClr>
                <a:schemeClr val="tx1"/>
              </a:buClr>
            </a:pPr>
            <a:r>
              <a:rPr lang="en-US" dirty="0"/>
              <a:t>Divide the unsorted list into N sub lists, each containing 1 element</a:t>
            </a:r>
          </a:p>
          <a:p>
            <a:pPr lvl="1" algn="l">
              <a:buClr>
                <a:schemeClr val="tx1"/>
              </a:buClr>
            </a:pPr>
            <a:r>
              <a:rPr lang="en-US" dirty="0"/>
              <a:t>Take adjacent pairs of two singleton lists and merge them to form a list of 2 elements. N will now convert into N/2 lists of size 2</a:t>
            </a:r>
          </a:p>
          <a:p>
            <a:pPr lvl="1" algn="l">
              <a:buClr>
                <a:schemeClr val="tx1"/>
              </a:buClr>
            </a:pPr>
            <a:r>
              <a:rPr lang="en-US" dirty="0"/>
              <a:t>Repeat the process till a single sorted list of obtained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00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-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76200" y="990600"/>
            <a:ext cx="4533900" cy="3456587"/>
          </a:xfrm>
          <a:prstGeom prst="rect">
            <a:avLst/>
          </a:prstGeom>
          <a:solidFill>
            <a:schemeClr val="bg2"/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MergeSort(A, p, r):</a:t>
            </a:r>
          </a:p>
          <a:p>
            <a:pPr marL="0" indent="0">
              <a:buNone/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    if p &gt; r </a:t>
            </a:r>
          </a:p>
          <a:p>
            <a:pPr marL="0" indent="0">
              <a:buNone/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        return</a:t>
            </a:r>
          </a:p>
          <a:p>
            <a:pPr marL="0" indent="0">
              <a:buNone/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    q = (p+r)/2</a:t>
            </a:r>
          </a:p>
          <a:p>
            <a:pPr marL="0" indent="0">
              <a:buNone/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    mergeSort(A, p, q)</a:t>
            </a:r>
          </a:p>
          <a:p>
            <a:pPr marL="0" indent="0">
              <a:buNone/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    mergeSort(A, q+1, r)</a:t>
            </a:r>
          </a:p>
          <a:p>
            <a:pPr marL="0" indent="0">
              <a:buNone/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    merge(A, p, q, r)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0723B09-B6CA-4852-A424-D3865A295615}"/>
              </a:ext>
            </a:extLst>
          </p:cNvPr>
          <p:cNvSpPr txBox="1">
            <a:spLocks/>
          </p:cNvSpPr>
          <p:nvPr/>
        </p:nvSpPr>
        <p:spPr>
          <a:xfrm>
            <a:off x="6765925" y="705930"/>
            <a:ext cx="5143500" cy="5758371"/>
          </a:xfrm>
          <a:prstGeom prst="rect">
            <a:avLst/>
          </a:prstGeom>
          <a:solidFill>
            <a:schemeClr val="bg2"/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342900" indent="-3429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pt-BR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merge(U[p..q],V[q+1..r],T[])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sz="2400" b="1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b="1" dirty="0">
                <a:latin typeface="Consolas" pitchFamily="49" charset="0"/>
                <a:cs typeface="Consolas" pitchFamily="49" charset="0"/>
              </a:rPr>
              <a:t> ← 1;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sz="2400" b="1" dirty="0">
                <a:latin typeface="Consolas" pitchFamily="49" charset="0"/>
                <a:cs typeface="Consolas" pitchFamily="49" charset="0"/>
              </a:rPr>
              <a:t>j ← 1;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sz="2400" b="1" dirty="0">
                <a:latin typeface="Consolas" pitchFamily="49" charset="0"/>
                <a:cs typeface="Consolas" pitchFamily="49" charset="0"/>
              </a:rPr>
              <a:t>U[q+1], V[r+1] ← ∞;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sz="2400" b="1" dirty="0">
                <a:latin typeface="Consolas" pitchFamily="49" charset="0"/>
                <a:cs typeface="Consolas" pitchFamily="49" charset="0"/>
              </a:rPr>
              <a:t>for k ← 1 to q + r do 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sz="2400" b="1" dirty="0">
                <a:latin typeface="Consolas" pitchFamily="49" charset="0"/>
                <a:cs typeface="Consolas" pitchFamily="49" charset="0"/>
              </a:rPr>
              <a:t>	if </a:t>
            </a:r>
            <a:r>
              <a:rPr lang="en-IN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U[</a:t>
            </a:r>
            <a:r>
              <a:rPr lang="en-IN" sz="24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] &lt; V[j] 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sz="2400" b="1" dirty="0">
                <a:latin typeface="Consolas" pitchFamily="49" charset="0"/>
                <a:cs typeface="Consolas" pitchFamily="49" charset="0"/>
              </a:rPr>
              <a:t>           T[k] ← U[</a:t>
            </a:r>
            <a:r>
              <a:rPr lang="en-IN" sz="2400" b="1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b="1" dirty="0">
                <a:latin typeface="Consolas" pitchFamily="49" charset="0"/>
                <a:cs typeface="Consolas" pitchFamily="49" charset="0"/>
              </a:rPr>
              <a:t>]; 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sz="2400" b="1" dirty="0">
                <a:latin typeface="Consolas" pitchFamily="49" charset="0"/>
                <a:cs typeface="Consolas" pitchFamily="49" charset="0"/>
              </a:rPr>
              <a:t>           </a:t>
            </a:r>
            <a:r>
              <a:rPr lang="en-IN" sz="2400" b="1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en-IN" sz="2400" b="1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b="1" dirty="0">
                <a:latin typeface="Consolas" pitchFamily="49" charset="0"/>
                <a:cs typeface="Consolas" pitchFamily="49" charset="0"/>
              </a:rPr>
              <a:t> + 1;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sz="2400" b="1" dirty="0">
                <a:latin typeface="Consolas" pitchFamily="49" charset="0"/>
                <a:cs typeface="Consolas" pitchFamily="49" charset="0"/>
              </a:rPr>
              <a:t>     else 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sz="2400" b="1" dirty="0">
                <a:latin typeface="Consolas" pitchFamily="49" charset="0"/>
                <a:cs typeface="Consolas" pitchFamily="49" charset="0"/>
              </a:rPr>
              <a:t>           T[k] ← V[j]; 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sz="2400" b="1" dirty="0">
                <a:latin typeface="Consolas" pitchFamily="49" charset="0"/>
                <a:cs typeface="Consolas" pitchFamily="49" charset="0"/>
              </a:rPr>
              <a:t>           j ← j + 1;</a:t>
            </a:r>
            <a:r>
              <a:rPr lang="en-IN" sz="2400" b="1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]     </a:t>
            </a:r>
            <a:r>
              <a:rPr lang="en-IN" b="1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A[j+1← temp</a:t>
            </a:r>
          </a:p>
        </p:txBody>
      </p:sp>
    </p:spTree>
    <p:extLst>
      <p:ext uri="{BB962C8B-B14F-4D97-AF65-F5344CB8AC3E}">
        <p14:creationId xmlns:p14="http://schemas.microsoft.com/office/powerpoint/2010/main" val="396148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-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be the time taken </a:t>
                </a:r>
                <a:r>
                  <a:rPr lang="en-US" dirty="0"/>
                  <a:t>by this algorithm to sort an array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elements.</a:t>
                </a:r>
              </a:p>
              <a:p>
                <a:r>
                  <a:rPr lang="en-US" dirty="0"/>
                  <a:t>Separating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takes </a:t>
                </a:r>
                <a:r>
                  <a:rPr lang="en-US" b="1" dirty="0"/>
                  <a:t>linear time</a:t>
                </a:r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𝑚𝑒𝑟𝑔𝑒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also takes </a:t>
                </a:r>
                <a:r>
                  <a:rPr lang="en-US" b="1" dirty="0"/>
                  <a:t>linear time</a:t>
                </a:r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/2)+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/2)+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  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)∈</m:t>
                    </m:r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/2)+ </m:t>
                      </m:r>
                      <m:r>
                        <m:rPr>
                          <m:sty m:val="p"/>
                        </m:rP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Applying  the general case,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baseline="30000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 </a:t>
                </a:r>
                <a:r>
                  <a:rPr lang="en-US" b="1" dirty="0"/>
                  <a:t>second case </a:t>
                </a:r>
                <a:r>
                  <a:rPr lang="en-US" dirty="0"/>
                  <a:t>applies so,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)∈</m:t>
                    </m:r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𝑛𝑙𝑜𝑔𝑛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Time complexity of merge sort is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𝛉</m:t>
                    </m:r>
                    <m:r>
                      <a:rPr lang="el-GR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𝒏𝒍𝒐𝒈𝒏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1" t="-4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4343400" y="4754803"/>
                <a:ext cx="4495800" cy="159796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&lt;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𝑙𝑜𝑔𝑛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𝑙𝑜𝑔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&gt;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4754803"/>
                <a:ext cx="4495800" cy="159796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4648200" y="2743200"/>
                <a:ext cx="3505200" cy="533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2743200"/>
                <a:ext cx="3505200" cy="533400"/>
              </a:xfrm>
              <a:prstGeom prst="roundRect">
                <a:avLst/>
              </a:prstGeom>
              <a:blipFill>
                <a:blip r:embed="rId4"/>
                <a:stretch>
                  <a:fillRect b="-5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14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5" grpId="1" animBg="1"/>
      <p:bldP spid="6" grpId="0" animBg="1"/>
      <p:bldP spid="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20" y="3012283"/>
            <a:ext cx="2651760" cy="833437"/>
          </a:xfrm>
          <a:noFill/>
        </p:spPr>
        <p:txBody>
          <a:bodyPr>
            <a:noAutofit/>
          </a:bodyPr>
          <a:lstStyle/>
          <a:p>
            <a:r>
              <a:rPr lang="en-US" cap="none" dirty="0">
                <a:solidFill>
                  <a:srgbClr val="C00000"/>
                </a:solidFill>
              </a:rPr>
              <a:t>Quick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Pentagon 4"/>
          <p:cNvSpPr/>
          <p:nvPr/>
        </p:nvSpPr>
        <p:spPr>
          <a:xfrm rot="5400000">
            <a:off x="-1490568" y="3017522"/>
            <a:ext cx="6858000" cy="822960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7BA1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762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– Example(</a:t>
            </a:r>
            <a:r>
              <a:rPr lang="en-US" dirty="0" err="1"/>
              <a:t>Inplace</a:t>
            </a:r>
            <a:r>
              <a:rPr lang="en-US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5200" y="5264076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600" y="52640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9536" y="52640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7" name="Rectangle 6"/>
          <p:cNvSpPr/>
          <p:nvPr/>
        </p:nvSpPr>
        <p:spPr>
          <a:xfrm>
            <a:off x="5112936" y="52640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6336" y="52640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9736" y="52640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3136" y="52640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6536" y="52640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5200" y="4860664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8600" y="4860664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9536" y="4860664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2936" y="4860664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46336" y="4860664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9736" y="4860664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13136" y="4860664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6536" y="4860664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52640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5800" y="52640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4860664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5800" y="4860664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7752" y="603102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cxnSp>
        <p:nvCxnSpPr>
          <p:cNvPr id="53" name="Straight Arrow Connector 52"/>
          <p:cNvCxnSpPr>
            <a:stCxn id="51" idx="0"/>
            <a:endCxn id="4" idx="2"/>
          </p:cNvCxnSpPr>
          <p:nvPr/>
        </p:nvCxnSpPr>
        <p:spPr>
          <a:xfrm flipH="1" flipV="1">
            <a:off x="3771900" y="5645076"/>
            <a:ext cx="1998" cy="385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31878" y="603146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55" name="Straight Arrow Connector 54"/>
          <p:cNvCxnSpPr>
            <a:stCxn id="54" idx="0"/>
          </p:cNvCxnSpPr>
          <p:nvPr/>
        </p:nvCxnSpPr>
        <p:spPr>
          <a:xfrm flipH="1" flipV="1">
            <a:off x="8562476" y="5645524"/>
            <a:ext cx="1998" cy="385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11125200" cy="2895600"/>
          </a:xfrm>
        </p:spPr>
        <p:txBody>
          <a:bodyPr>
            <a:normAutofit/>
          </a:bodyPr>
          <a:lstStyle/>
          <a:p>
            <a:r>
              <a:rPr lang="en-US" dirty="0"/>
              <a:t>Quick sort chooses the first element as a </a:t>
            </a:r>
            <a:r>
              <a:rPr lang="en-US" dirty="0">
                <a:solidFill>
                  <a:srgbClr val="FF0000"/>
                </a:solidFill>
              </a:rPr>
              <a:t>pivot element,</a:t>
            </a:r>
            <a:r>
              <a:rPr lang="en-US" dirty="0"/>
              <a:t> a </a:t>
            </a:r>
            <a:r>
              <a:rPr lang="en-US" b="1" dirty="0"/>
              <a:t>lower bound is the first index </a:t>
            </a:r>
            <a:r>
              <a:rPr lang="en-US" dirty="0"/>
              <a:t>and an </a:t>
            </a:r>
            <a:r>
              <a:rPr lang="en-US" b="1" dirty="0"/>
              <a:t>upper bound is the last index</a:t>
            </a:r>
            <a:r>
              <a:rPr lang="en-US" dirty="0"/>
              <a:t>.</a:t>
            </a:r>
          </a:p>
          <a:p>
            <a:r>
              <a:rPr lang="en-US" dirty="0"/>
              <a:t>The array is then </a:t>
            </a:r>
            <a:r>
              <a:rPr lang="en-US" b="1" dirty="0"/>
              <a:t>partitioned</a:t>
            </a:r>
            <a:r>
              <a:rPr lang="en-US" dirty="0"/>
              <a:t> on either side of the </a:t>
            </a:r>
            <a:r>
              <a:rPr lang="en-US" dirty="0">
                <a:solidFill>
                  <a:srgbClr val="FF0000"/>
                </a:solidFill>
              </a:rPr>
              <a:t>pivot.</a:t>
            </a:r>
          </a:p>
          <a:p>
            <a:r>
              <a:rPr lang="en-US" dirty="0"/>
              <a:t>Elements are moved so that, those </a:t>
            </a:r>
            <a:r>
              <a:rPr lang="en-US" b="1" dirty="0"/>
              <a:t>greater</a:t>
            </a:r>
            <a:r>
              <a:rPr lang="en-US" dirty="0"/>
              <a:t> than the </a:t>
            </a:r>
            <a:r>
              <a:rPr lang="en-US" dirty="0">
                <a:solidFill>
                  <a:srgbClr val="FF0000"/>
                </a:solidFill>
              </a:rPr>
              <a:t>pivot</a:t>
            </a:r>
            <a:r>
              <a:rPr lang="en-US" dirty="0"/>
              <a:t> are shifted to its </a:t>
            </a:r>
            <a:r>
              <a:rPr lang="en-US" b="1" dirty="0"/>
              <a:t>right </a:t>
            </a:r>
            <a:r>
              <a:rPr lang="en-US" dirty="0"/>
              <a:t>whereas the others are shifted to its </a:t>
            </a:r>
            <a:r>
              <a:rPr lang="en-US" b="1" dirty="0"/>
              <a:t>left.</a:t>
            </a:r>
            <a:r>
              <a:rPr lang="en-US" dirty="0"/>
              <a:t> </a:t>
            </a:r>
          </a:p>
          <a:p>
            <a:r>
              <a:rPr lang="en-US" dirty="0"/>
              <a:t>Each Partition is </a:t>
            </a:r>
            <a:r>
              <a:rPr lang="en-US" b="1" dirty="0"/>
              <a:t>internally sorted recursively</a:t>
            </a:r>
            <a:r>
              <a:rPr lang="en-US" dirty="0"/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6600" y="3733801"/>
            <a:ext cx="972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Pivot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Element</a:t>
            </a:r>
          </a:p>
        </p:txBody>
      </p:sp>
      <p:cxnSp>
        <p:nvCxnSpPr>
          <p:cNvPr id="20" name="Straight Arrow Connector 19"/>
          <p:cNvCxnSpPr>
            <a:stCxn id="30" idx="2"/>
            <a:endCxn id="12" idx="0"/>
          </p:cNvCxnSpPr>
          <p:nvPr/>
        </p:nvCxnSpPr>
        <p:spPr>
          <a:xfrm>
            <a:off x="3763016" y="4380132"/>
            <a:ext cx="8885" cy="480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64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animBg="1"/>
      <p:bldP spid="5" grpId="0" uiExpand="1" animBg="1"/>
      <p:bldP spid="6" grpId="0" uiExpand="1" animBg="1"/>
      <p:bldP spid="7" grpId="0" uiExpand="1" animBg="1"/>
      <p:bldP spid="8" grpId="0" uiExpand="1" animBg="1"/>
      <p:bldP spid="9" grpId="0" uiExpand="1" animBg="1"/>
      <p:bldP spid="10" grpId="0" uiExpand="1" animBg="1"/>
      <p:bldP spid="11" grpId="0" uiExpand="1" animBg="1"/>
      <p:bldP spid="12" grpId="0" uiExpand="1" animBg="1"/>
      <p:bldP spid="13" grpId="0" uiExpand="1" animBg="1"/>
      <p:bldP spid="14" grpId="0" uiExpand="1" animBg="1"/>
      <p:bldP spid="15" grpId="0" uiExpand="1" animBg="1"/>
      <p:bldP spid="16" grpId="0" uiExpand="1" animBg="1"/>
      <p:bldP spid="17" grpId="0" uiExpand="1" animBg="1"/>
      <p:bldP spid="18" grpId="0" uiExpand="1" animBg="1"/>
      <p:bldP spid="19" grpId="0" uiExpand="1" animBg="1"/>
      <p:bldP spid="25" grpId="0" uiExpand="1" animBg="1"/>
      <p:bldP spid="26" grpId="0" uiExpand="1" animBg="1"/>
      <p:bldP spid="27" grpId="0" uiExpand="1" animBg="1"/>
      <p:bldP spid="28" grpId="0" uiExpand="1" animBg="1"/>
      <p:bldP spid="51" grpId="0" uiExpand="1"/>
      <p:bldP spid="54" grpId="0" uiExpand="1"/>
      <p:bldP spid="29" grpId="0" uiExpand="1" build="p"/>
      <p:bldP spid="30" grpId="0" uiExpan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-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999704" y="14702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5533104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607404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7" name="Rectangle 6"/>
          <p:cNvSpPr/>
          <p:nvPr/>
        </p:nvSpPr>
        <p:spPr>
          <a:xfrm>
            <a:off x="660744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084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767424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0764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4104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9704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3104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404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744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4084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7424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764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4104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66904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00304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66904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00304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6400" y="1079352"/>
            <a:ext cx="3230242" cy="4031873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Procedure pivot(T[i,…,j]; var l)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p ← T[i]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k ← i; l ← j+1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Repeat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k ← k+1 until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T[k] &gt; 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or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k     ≥ j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Repeat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l ← l-1 until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T[l] ≤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While k &lt; l do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Swap T[k] and T[l]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Repeat k ← k+1 until  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T[k] &gt;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Repeat l ← l-1 until      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T[l] ≤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Swap T[i] and T[l]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6400" y="5105400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LB = 0, UB =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2600" y="548640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k 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0724" y="5486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2600" y="57848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 =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84020" y="5784868"/>
            <a:ext cx="48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4410" y="5105400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 = 42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5100621" y="1754960"/>
            <a:ext cx="311304" cy="443173"/>
            <a:chOff x="3701591" y="1754959"/>
            <a:chExt cx="311304" cy="443173"/>
          </a:xfrm>
        </p:grpSpPr>
        <p:sp>
          <p:nvSpPr>
            <p:cNvPr id="32" name="TextBox 31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0403400" y="1812100"/>
            <a:ext cx="311304" cy="443173"/>
            <a:chOff x="3701591" y="1754959"/>
            <a:chExt cx="311304" cy="443173"/>
          </a:xfrm>
        </p:grpSpPr>
        <p:sp>
          <p:nvSpPr>
            <p:cNvPr id="37" name="TextBox 36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1" name="Rectangle 40"/>
          <p:cNvSpPr/>
          <p:nvPr/>
        </p:nvSpPr>
        <p:spPr>
          <a:xfrm>
            <a:off x="4999704" y="26894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3104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7404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0744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4084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7424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0764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4104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66904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00304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5644152" y="2979812"/>
            <a:ext cx="311304" cy="443173"/>
            <a:chOff x="3701591" y="1754959"/>
            <a:chExt cx="311304" cy="443173"/>
          </a:xfrm>
        </p:grpSpPr>
        <p:sp>
          <p:nvSpPr>
            <p:cNvPr id="52" name="TextBox 51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9925535" y="2976958"/>
            <a:ext cx="311304" cy="443173"/>
            <a:chOff x="3701591" y="1754959"/>
            <a:chExt cx="311304" cy="443173"/>
          </a:xfrm>
        </p:grpSpPr>
        <p:sp>
          <p:nvSpPr>
            <p:cNvPr id="55" name="TextBox 5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7" name="Rectangle 56"/>
          <p:cNvSpPr/>
          <p:nvPr/>
        </p:nvSpPr>
        <p:spPr>
          <a:xfrm>
            <a:off x="6074040" y="2689412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41040" y="2689412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59" name="Freeform 58"/>
          <p:cNvSpPr/>
          <p:nvPr/>
        </p:nvSpPr>
        <p:spPr>
          <a:xfrm flipV="1">
            <a:off x="6324287" y="2427058"/>
            <a:ext cx="2690100" cy="24480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7371435" y="2381656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99704" y="3922639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33104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404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744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4084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7424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0764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4104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66904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00304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6153402" y="4205028"/>
            <a:ext cx="311304" cy="443173"/>
            <a:chOff x="3701591" y="1754959"/>
            <a:chExt cx="311304" cy="443173"/>
          </a:xfrm>
        </p:grpSpPr>
        <p:sp>
          <p:nvSpPr>
            <p:cNvPr id="72" name="TextBox 71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8852088" y="4205028"/>
            <a:ext cx="311304" cy="443173"/>
            <a:chOff x="3701591" y="1754959"/>
            <a:chExt cx="311304" cy="443173"/>
          </a:xfrm>
        </p:grpSpPr>
        <p:sp>
          <p:nvSpPr>
            <p:cNvPr id="75" name="TextBox 7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0" name="Rectangle 79"/>
          <p:cNvSpPr/>
          <p:nvPr/>
        </p:nvSpPr>
        <p:spPr>
          <a:xfrm>
            <a:off x="6607440" y="3922639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99704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2" name="Freeform 81"/>
          <p:cNvSpPr/>
          <p:nvPr/>
        </p:nvSpPr>
        <p:spPr>
          <a:xfrm flipV="1">
            <a:off x="5213461" y="3670986"/>
            <a:ext cx="1673133" cy="24480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5749160" y="3621256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7840" y="2116689"/>
            <a:ext cx="3097867" cy="4938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4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33333E-6 L 0.05921 3.33333E-6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L 0 0.09885 L -0.00156 0.10116 " pathEditMode="relative" ptsTypes="AAAA">
                                      <p:cBhvr>
                                        <p:cTn id="1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3.7037E-6 L -0.05989 -3.7037E-6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885 -3.7037E-6 L -0.11736 -3.7037E-6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-3.7037E-7 L 0.05677 -3.7037E-7 " pathEditMode="relative" rAng="0" ptsTypes="AA">
                                      <p:cBhvr>
                                        <p:cTn id="171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77 -3.7037E-7 L 0.12014 -3.7037E-7 " pathEditMode="relative" rAng="0" ptsTypes="AA">
                                      <p:cBhvr>
                                        <p:cTn id="175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7 -3.7037E-7 L -0.06111 -3.7037E-7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111 -3.7037E-7 L -0.11666 -3.7037E-7 " pathEditMode="relative" rAng="0" ptsTypes="AA">
                                      <p:cBhvr>
                                        <p:cTn id="183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666 -3.7037E-7 L -0.18837 -3.7037E-7 " pathEditMode="relative" rAng="0" ptsTypes="AA">
                                      <p:cBhvr>
                                        <p:cTn id="187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9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837 0.00023 L -0.23837 0.00023 " pathEditMode="relative" rAng="0" ptsTypes="AA">
                                      <p:cBhvr>
                                        <p:cTn id="191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28" grpId="0"/>
      <p:bldP spid="29" grpId="0"/>
      <p:bldP spid="30" grpId="0"/>
      <p:bldP spid="31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80" grpId="0" animBg="1"/>
      <p:bldP spid="81" grpId="0" animBg="1"/>
      <p:bldP spid="82" grpId="0" animBg="1"/>
      <p:bldP spid="83" grpId="0"/>
      <p:bldP spid="3" grpId="0" animBg="1"/>
      <p:bldP spid="3" grpId="1" animBg="1"/>
      <p:bldP spid="3" grpId="2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-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4674" y="2079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58074" y="2079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010" y="2079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6732410" y="2079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5810" y="2079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9210" y="2079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32610" y="2079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6010" y="2079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4674" y="16764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58074" y="16764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010" y="16764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32410" y="16764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5810" y="16764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99210" y="16764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2610" y="16764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6010" y="16764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1874" y="2079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5274" y="2079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91874" y="16764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5274" y="16764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5228" y="118872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6766" y="1188720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6732410" y="1143000"/>
            <a:ext cx="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7239000" y="1143000"/>
            <a:ext cx="0" cy="9368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105400" y="2918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8800" y="2918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9736" y="2918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5215127" y="3222813"/>
            <a:ext cx="311304" cy="443173"/>
            <a:chOff x="3701591" y="1754959"/>
            <a:chExt cx="311304" cy="443173"/>
          </a:xfrm>
        </p:grpSpPr>
        <p:sp>
          <p:nvSpPr>
            <p:cNvPr id="40" name="TextBox 39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811928" y="3222813"/>
            <a:ext cx="311304" cy="443173"/>
            <a:chOff x="3701591" y="1754959"/>
            <a:chExt cx="311304" cy="443173"/>
          </a:xfrm>
        </p:grpSpPr>
        <p:sp>
          <p:nvSpPr>
            <p:cNvPr id="43" name="TextBox 42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5" name="Rectangle 44"/>
          <p:cNvSpPr/>
          <p:nvPr/>
        </p:nvSpPr>
        <p:spPr>
          <a:xfrm>
            <a:off x="5105400" y="2918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05400" y="4289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38800" y="4289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9736" y="4289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13136" y="4289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46536" y="4289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9936" y="4289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13336" y="4289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46736" y="4289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600" y="4289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06000" y="4289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5029200" y="3733800"/>
            <a:ext cx="5410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5658074" y="3810000"/>
            <a:ext cx="0" cy="434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18628" y="3846786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3114" y="3840680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38800" y="4876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9736" y="4876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5769122" y="5181601"/>
            <a:ext cx="311304" cy="443173"/>
            <a:chOff x="3701591" y="1754959"/>
            <a:chExt cx="311304" cy="443173"/>
          </a:xfrm>
        </p:grpSpPr>
        <p:sp>
          <p:nvSpPr>
            <p:cNvPr id="67" name="TextBox 66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775296" y="5181601"/>
            <a:ext cx="311304" cy="443173"/>
            <a:chOff x="3701591" y="1754959"/>
            <a:chExt cx="311304" cy="443173"/>
          </a:xfrm>
        </p:grpSpPr>
        <p:sp>
          <p:nvSpPr>
            <p:cNvPr id="70" name="TextBox 69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cxnSp>
          <p:nvCxnSpPr>
            <p:cNvPr id="71" name="Straight Arrow Connector 70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2" name="Rectangle 71"/>
          <p:cNvSpPr/>
          <p:nvPr/>
        </p:nvSpPr>
        <p:spPr>
          <a:xfrm>
            <a:off x="5638800" y="48768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05400" y="6076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38800" y="6076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9736" y="6076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13136" y="6076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46536" y="6076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9936" y="6076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13336" y="6076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46736" y="6076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372600" y="6076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06000" y="6076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cxnSp>
        <p:nvCxnSpPr>
          <p:cNvPr id="83" name="Straight Connector 82"/>
          <p:cNvCxnSpPr/>
          <p:nvPr/>
        </p:nvCxnSpPr>
        <p:spPr>
          <a:xfrm>
            <a:off x="5181600" y="5638800"/>
            <a:ext cx="5410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6179736" y="6076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76400" y="1079352"/>
            <a:ext cx="3230242" cy="4031873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Procedure pivot(T[i,…,j]; var l)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p ← T[i]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k ← i; l ← j+1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Repeat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k ← k+1 until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T[k] &gt; 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or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k     ≥ j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Repeat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l ← l-1 until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T[l] ≤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While k &lt; l do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Swap T[k] and T[l]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Repeat k ← k+1 until  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T[k] &gt;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Repeat l ← l-1 until      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T[l] ≤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Swap T[i] and T[l]</a:t>
            </a:r>
          </a:p>
        </p:txBody>
      </p:sp>
    </p:spTree>
    <p:extLst>
      <p:ext uri="{BB962C8B-B14F-4D97-AF65-F5344CB8AC3E}">
        <p14:creationId xmlns:p14="http://schemas.microsoft.com/office/powerpoint/2010/main" val="126809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33333E-6 L 0.06042 -3.33333E-6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33333E-6 L -0.05712 -3.33333E-6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364 -3.33333E-6 L -0.12864 -3.33333E-6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864 -3.33333E-6 L -0.17465 -3.33333E-6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0.06875 -1.48148E-6 " pathEditMode="relative" rAng="0" ptsTypes="AA">
                                      <p:cBhvr>
                                        <p:cTn id="150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1.48148E-6 L -0.06632 -1.48148E-6 " pathEditMode="relative" rAng="0" ptsTypes="AA">
                                      <p:cBhvr>
                                        <p:cTn id="154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632 -1.48148E-6 L -0.11007 -1.48148E-6 " pathEditMode="relative" rAng="0" ptsTypes="AA">
                                      <p:cBhvr>
                                        <p:cTn id="158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33" grpId="0" animBg="1"/>
      <p:bldP spid="34" grpId="0" animBg="1"/>
      <p:bldP spid="35" grpId="0" animBg="1"/>
      <p:bldP spid="45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62" grpId="0"/>
      <p:bldP spid="63" grpId="0"/>
      <p:bldP spid="64" grpId="0" animBg="1"/>
      <p:bldP spid="65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-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5400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800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9736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6713136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2465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99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33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467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0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0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58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92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26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60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91874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5274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6364" y="989024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2810" y="937274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7246536" y="1066800"/>
            <a:ext cx="0" cy="5649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1722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56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390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8264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31664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287235" y="2906642"/>
            <a:ext cx="311304" cy="443173"/>
            <a:chOff x="3701591" y="1754959"/>
            <a:chExt cx="311304" cy="443173"/>
          </a:xfrm>
        </p:grpSpPr>
        <p:sp>
          <p:nvSpPr>
            <p:cNvPr id="36" name="TextBox 35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9518496" y="2906642"/>
            <a:ext cx="311304" cy="443173"/>
            <a:chOff x="3701591" y="1754959"/>
            <a:chExt cx="311304" cy="443173"/>
          </a:xfrm>
        </p:grpSpPr>
        <p:sp>
          <p:nvSpPr>
            <p:cNvPr id="39" name="TextBox 38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1" name="Rectangle 40"/>
          <p:cNvSpPr/>
          <p:nvPr/>
        </p:nvSpPr>
        <p:spPr>
          <a:xfrm>
            <a:off x="6172200" y="25908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05600" y="25908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590800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44" name="Freeform 43"/>
          <p:cNvSpPr/>
          <p:nvPr/>
        </p:nvSpPr>
        <p:spPr>
          <a:xfrm flipV="1">
            <a:off x="6464802" y="2303107"/>
            <a:ext cx="516191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400801" y="2001878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465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99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05800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39200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05600" y="36576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054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388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9736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13136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39000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724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05800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39200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65064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98464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390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390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85628" y="42672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06000" y="4267200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05800" y="4331732"/>
            <a:ext cx="0" cy="2733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676400" y="1079352"/>
            <a:ext cx="3230242" cy="4031873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Procedure pivot(T[i,…,j]; var l)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p ← T[i]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k ← i; l ← j+1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Repeat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k ← k+1 until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T[k] &gt; 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or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k     ≥ j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Repeat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l ← l-1 until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T[l] ≤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While k &lt; l do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Swap T[k] and T[l]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Repeat k ← k+1 until  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T[k] &gt;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Repeat l ← l-1 until      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T[l] ≤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Swap T[i] and T[l]</a:t>
            </a:r>
          </a:p>
        </p:txBody>
      </p:sp>
    </p:spTree>
    <p:extLst>
      <p:ext uri="{BB962C8B-B14F-4D97-AF65-F5344CB8AC3E}">
        <p14:creationId xmlns:p14="http://schemas.microsoft.com/office/powerpoint/2010/main" val="272215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48148E-6 L 0.05885 1.48148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215 1.48148E-6 L 0.11718 1.48148E-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48148E-6 L -0.06302 1.48148E-6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632 1.48148E-6 L -0.11962 1.48148E-6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465 1.48148E-6 L -0.17882 1.48148E-6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299 1.48148E-6 L -0.24635 1.48148E-6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74 1.48148E-6 L -0.29132 1.48148E-6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 animBg="1"/>
      <p:bldP spid="48" grpId="0" animBg="1"/>
      <p:bldP spid="49" grpId="0" animBg="1"/>
      <p:bldP spid="50" grpId="0" animBg="1"/>
      <p:bldP spid="51" grpId="0" animBg="1"/>
      <p:bldP spid="58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80" grpId="0" animBg="1"/>
      <p:bldP spid="81" grpId="0"/>
      <p:bldP spid="8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- Example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433786" y="1894451"/>
            <a:ext cx="311304" cy="443173"/>
            <a:chOff x="3701591" y="1754959"/>
            <a:chExt cx="311304" cy="443173"/>
          </a:xfrm>
        </p:grpSpPr>
        <p:sp>
          <p:nvSpPr>
            <p:cNvPr id="5" name="TextBox 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" name="Freeform 6"/>
          <p:cNvSpPr/>
          <p:nvPr/>
        </p:nvSpPr>
        <p:spPr>
          <a:xfrm flipV="1">
            <a:off x="7593758" y="2275941"/>
            <a:ext cx="1058304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800029" y="2208445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3884" y="1546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48600" y="1546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74464" y="1546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7864" y="1546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9677400" y="1894451"/>
            <a:ext cx="311304" cy="443173"/>
            <a:chOff x="3701591" y="1754959"/>
            <a:chExt cx="311304" cy="443173"/>
          </a:xfrm>
        </p:grpSpPr>
        <p:sp>
          <p:nvSpPr>
            <p:cNvPr id="14" name="TextBox 13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8941968" y="914400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2798" y="9906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3884" y="15464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4464" y="1546412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7864" y="1546412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537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49916" y="2537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75780" y="2537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9180" y="2537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537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8485512" y="2853481"/>
            <a:ext cx="311304" cy="443173"/>
            <a:chOff x="3701591" y="1754959"/>
            <a:chExt cx="311304" cy="443173"/>
          </a:xfrm>
        </p:grpSpPr>
        <p:sp>
          <p:nvSpPr>
            <p:cNvPr id="30" name="TextBox 29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9137496" y="2853481"/>
            <a:ext cx="311304" cy="443173"/>
            <a:chOff x="3701591" y="1754959"/>
            <a:chExt cx="311304" cy="443173"/>
          </a:xfrm>
        </p:grpSpPr>
        <p:sp>
          <p:nvSpPr>
            <p:cNvPr id="33" name="TextBox 32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7" name="Rectangle 36"/>
          <p:cNvSpPr/>
          <p:nvPr/>
        </p:nvSpPr>
        <p:spPr>
          <a:xfrm>
            <a:off x="7315200" y="2537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75780" y="2537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41" name="Freeform 40"/>
          <p:cNvSpPr/>
          <p:nvPr/>
        </p:nvSpPr>
        <p:spPr>
          <a:xfrm flipV="1">
            <a:off x="8619096" y="1231598"/>
            <a:ext cx="601104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8619097" y="1175471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3" name="Freeform 42"/>
          <p:cNvSpPr/>
          <p:nvPr/>
        </p:nvSpPr>
        <p:spPr>
          <a:xfrm flipV="1">
            <a:off x="7450720" y="3776052"/>
            <a:ext cx="626481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7454367" y="3731565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3716" y="4061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39000" y="4061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95786" y="3276600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6685" y="32766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7327179" y="4371012"/>
            <a:ext cx="311304" cy="443173"/>
            <a:chOff x="3701591" y="1754959"/>
            <a:chExt cx="311304" cy="443173"/>
          </a:xfrm>
        </p:grpSpPr>
        <p:sp>
          <p:nvSpPr>
            <p:cNvPr id="55" name="TextBox 5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8395819" y="4371012"/>
            <a:ext cx="311304" cy="443173"/>
            <a:chOff x="3701591" y="1754959"/>
            <a:chExt cx="311304" cy="443173"/>
          </a:xfrm>
        </p:grpSpPr>
        <p:sp>
          <p:nvSpPr>
            <p:cNvPr id="58" name="TextBox 57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0" name="Rectangle 59"/>
          <p:cNvSpPr/>
          <p:nvPr/>
        </p:nvSpPr>
        <p:spPr>
          <a:xfrm>
            <a:off x="7239000" y="4061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39000" y="4061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3716" y="4061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7010400" y="3276600"/>
            <a:ext cx="3467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839200" y="4061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05800" y="4061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8305800" y="3370769"/>
            <a:ext cx="0" cy="5773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7010400" y="4953000"/>
            <a:ext cx="3467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239000" y="5585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3716" y="5585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39200" y="55850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05800" y="5585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39000" y="5585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39200" y="5585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038600" y="5585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5585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12936" y="5585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46336" y="5585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705600" y="5585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72200" y="55850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76400" y="1079352"/>
            <a:ext cx="3230242" cy="4031873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Procedure pivot(T[i,…,j]; var l)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p ← T[i]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k ← i; l ← j+1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Repeat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k ← k+1 until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T[k] &gt; 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or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k     ≥ j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Repeat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l ← l-1 until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T[l] ≤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While k &lt; l do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Swap T[k] and T[l]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Repeat k ← k+1 until  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T[k] &gt;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Repeat l ← l-1 until      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pt-BR" sz="16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T[l] ≤ p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Swap T[i] and T[l]</a:t>
            </a:r>
          </a:p>
        </p:txBody>
      </p:sp>
    </p:spTree>
    <p:extLst>
      <p:ext uri="{BB962C8B-B14F-4D97-AF65-F5344CB8AC3E}">
        <p14:creationId xmlns:p14="http://schemas.microsoft.com/office/powerpoint/2010/main" val="304093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4.81481E-6 L 0.05746 -4.81481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63 -4.81481E-6 L 0.11493 -4.81481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81481E-6 L -0.07205 -4.81481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3.7037E-7 L 0.05434 3.7037E-7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7 L -0.07136 3.7037E-7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06493 4.07407E-6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26 4.07407E-6 L 0.13784 4.07407E-6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2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07407E-6 L -0.04358 4.07407E-6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7" grpId="0" animBg="1"/>
      <p:bldP spid="40" grpId="0" animBg="1"/>
      <p:bldP spid="41" grpId="0" animBg="1"/>
      <p:bldP spid="42" grpId="0"/>
      <p:bldP spid="43" grpId="0" animBg="1"/>
      <p:bldP spid="44" grpId="0"/>
      <p:bldP spid="46" grpId="0" animBg="1"/>
      <p:bldP spid="50" grpId="0" animBg="1"/>
      <p:bldP spid="52" grpId="0"/>
      <p:bldP spid="53" grpId="0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69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5" grpId="0" animBg="1"/>
      <p:bldP spid="8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-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Sort the following array in ascending order using quick sort algorithm. </a:t>
            </a:r>
          </a:p>
          <a:p>
            <a:pPr marL="914400" lvl="1" indent="-514350" algn="l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5, 3, 8, 9, 1, 7, 0, 2, 6</a:t>
            </a:r>
            <a:r>
              <a:rPr lang="en-US" sz="2400">
                <a:solidFill>
                  <a:srgbClr val="FF0000"/>
                </a:solidFill>
              </a:rPr>
              <a:t>, 4</a:t>
            </a:r>
            <a:endParaRPr lang="en-US" sz="2400" dirty="0">
              <a:solidFill>
                <a:srgbClr val="FF0000"/>
              </a:solidFill>
            </a:endParaRPr>
          </a:p>
          <a:p>
            <a:pPr marL="914400" lvl="1" indent="-514350" algn="l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3, 1, 4, 1, 5, 9, 2, 6, 5, 3, 5, 8, 9 (HW)</a:t>
            </a:r>
          </a:p>
          <a:p>
            <a:pPr marL="914400" lvl="1" indent="-514350" algn="l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9, 7, 5, 11, 12, 2, 14, 3, 10, 6 (HW)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58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-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99B84AA-A92A-4100-A40C-3295C0BC9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8865" y="914401"/>
            <a:ext cx="5796935" cy="1820676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72BCAA-E339-4575-BAD1-71DD9EBC0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914401"/>
            <a:ext cx="6111438" cy="456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92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-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Worst Case </a:t>
                </a:r>
              </a:p>
              <a:p>
                <a:pPr lvl="1" indent="-342900"/>
                <a:r>
                  <a:rPr lang="en-US" dirty="0"/>
                  <a:t>Running time depends on </a:t>
                </a:r>
                <a:r>
                  <a:rPr lang="en-US" b="1" dirty="0"/>
                  <a:t>which element is chosen as key or pivot </a:t>
                </a:r>
                <a:r>
                  <a:rPr lang="en-US" dirty="0"/>
                  <a:t>element.</a:t>
                </a:r>
              </a:p>
              <a:p>
                <a:pPr lvl="1" indent="-342900"/>
                <a:r>
                  <a:rPr lang="en-US" dirty="0"/>
                  <a:t>The worst case behavior for quick sort occurs when the array is partitioned into one sub-array with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elements and the other with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 element</a:t>
                </a:r>
                <a:r>
                  <a:rPr lang="en-US" dirty="0"/>
                  <a:t>.</a:t>
                </a:r>
              </a:p>
              <a:p>
                <a:pPr lvl="1" indent="-342900"/>
                <a:r>
                  <a:rPr lang="en-US" dirty="0"/>
                  <a:t>In this case, the recurrence will be,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−1)+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(0)+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−1)+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l-GR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baseline="30000" dirty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𝑝𝑎𝑟𝑡𝑖𝑡𝑖𝑜𝑛𝑖𝑛𝑔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𝑒𝑎𝑐h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𝑙𝑒𝑣𝑒𝑙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which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times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we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are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moving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this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case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−1 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When does the worst case appear?: when the element are sorted.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5" t="-6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5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-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Best Case</a:t>
                </a:r>
              </a:p>
              <a:p>
                <a:pPr lvl="1"/>
                <a:r>
                  <a:rPr lang="en-US" b="1" dirty="0"/>
                  <a:t>Occurs when partition produces sub-problems each of size n/2.</a:t>
                </a:r>
              </a:p>
              <a:p>
                <a:pPr lvl="1" indent="-342900"/>
                <a:r>
                  <a:rPr lang="en-US" dirty="0"/>
                  <a:t>Recurrence equation: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)=2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/2)+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2,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2,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1,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baseline="30000" dirty="0" err="1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aseline="30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>
                          <a:latin typeface="Cambria Math" panose="02040503050406030204" pitchFamily="18" charset="0"/>
                        </a:rPr>
                        <m:t>𝒏𝒍𝒐𝒈𝒏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Average Case</a:t>
                </a:r>
              </a:p>
              <a:p>
                <a:pPr lvl="1"/>
                <a:r>
                  <a:rPr lang="en-US" dirty="0"/>
                  <a:t>Average case running time is much closer to the best case.</a:t>
                </a:r>
              </a:p>
              <a:p>
                <a:pPr lvl="1"/>
                <a:r>
                  <a:rPr lang="en-US" dirty="0"/>
                  <a:t>If suppose the partitioning algorithm produces a </a:t>
                </a:r>
                <a:r>
                  <a:rPr lang="en-US" b="1" dirty="0"/>
                  <a:t>9:1 proportional </a:t>
                </a:r>
                <a:r>
                  <a:rPr lang="en-US" dirty="0"/>
                  <a:t>split the recurrence will be,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(9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/10)+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/10)+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>
                          <a:latin typeface="Cambria Math" panose="02040503050406030204" pitchFamily="18" charset="0"/>
                        </a:rPr>
                        <m:t>𝒏𝒍𝒐𝒈𝒏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3" t="-686" r="-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70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5640" y="3012283"/>
            <a:ext cx="5760720" cy="833437"/>
          </a:xfrm>
          <a:noFill/>
        </p:spPr>
        <p:txBody>
          <a:bodyPr>
            <a:noAutofit/>
          </a:bodyPr>
          <a:lstStyle/>
          <a:p>
            <a:r>
              <a:rPr lang="en-US" cap="none" dirty="0">
                <a:solidFill>
                  <a:srgbClr val="C00000"/>
                </a:solidFill>
              </a:rPr>
              <a:t>Multiplying Large Integers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Pentagon 4"/>
          <p:cNvSpPr/>
          <p:nvPr/>
        </p:nvSpPr>
        <p:spPr>
          <a:xfrm rot="5400000">
            <a:off x="-1490568" y="3017522"/>
            <a:ext cx="6858000" cy="822960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7BA1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136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Multiplying Large Integers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Multiplying two 𝑛 digit large integers using divide and conquer method. </a:t>
                </a:r>
              </a:p>
              <a:p>
                <a:r>
                  <a:rPr lang="en-US" dirty="0"/>
                  <a:t>Example: Multiplication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𝟗𝟖𝟏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𝟏𝟐𝟑𝟒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Convert both the numbers into same length nos. and split each operand into two parts: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We can write as,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686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475704" y="3276600"/>
                <a:ext cx="1371600" cy="5334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0981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704" y="3276600"/>
                <a:ext cx="1371600" cy="533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781800" y="3276600"/>
                <a:ext cx="1371600" cy="5334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1234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3276600"/>
                <a:ext cx="1371600" cy="533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4117260" y="3276600"/>
            <a:ext cx="0" cy="53340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417452" y="3276600"/>
            <a:ext cx="0" cy="53340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667000" y="4114800"/>
                <a:ext cx="1371600" cy="5334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=09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114800"/>
                <a:ext cx="1371600" cy="53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191000" y="4114800"/>
                <a:ext cx="1371600" cy="5334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=81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4114800"/>
                <a:ext cx="1371600" cy="533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019800" y="4114800"/>
                <a:ext cx="1371600" cy="5334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4114800"/>
                <a:ext cx="1371600" cy="533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528560" y="4114800"/>
                <a:ext cx="1371600" cy="5334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=34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560" y="4114800"/>
                <a:ext cx="1371600" cy="533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276600" y="5334000"/>
                <a:ext cx="2743200" cy="7620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0981=10</m:t>
                      </m:r>
                      <m:r>
                        <a:rPr lang="en-US" sz="2400" i="1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334000"/>
                <a:ext cx="2743200" cy="762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358275" y="5334000"/>
                <a:ext cx="2743200" cy="7620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1234=10</m:t>
                      </m:r>
                      <m:r>
                        <a:rPr lang="en-US" sz="2400" i="1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275" y="5334000"/>
                <a:ext cx="2743200" cy="762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/>
              <p:cNvSpPr/>
              <p:nvPr/>
            </p:nvSpPr>
            <p:spPr>
              <a:xfrm>
                <a:off x="9285297" y="4846319"/>
                <a:ext cx="2468880" cy="1554480"/>
              </a:xfrm>
              <a:prstGeom prst="roundRect">
                <a:avLst/>
              </a:prstGeom>
              <a:no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400" i="1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sz="2400" i="1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09</m:t>
                          </m:r>
                        </m:e>
                      </m:d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+81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=900+81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lvl="1" algn="just"/>
                <a:r>
                  <a:rPr lang="en-US" sz="2400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981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ounded 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297" y="4846319"/>
                <a:ext cx="2468880" cy="1554480"/>
              </a:xfrm>
              <a:prstGeom prst="roundRect">
                <a:avLst/>
              </a:prstGeom>
              <a:blipFill>
                <a:blip r:embed="rId11"/>
                <a:stretch>
                  <a:fillRect b="-8108"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endCxn id="13" idx="0"/>
          </p:cNvCxnSpPr>
          <p:nvPr/>
        </p:nvCxnSpPr>
        <p:spPr>
          <a:xfrm flipH="1">
            <a:off x="3352800" y="3810000"/>
            <a:ext cx="457200" cy="304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442461" y="3810000"/>
            <a:ext cx="310453" cy="304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17" idx="0"/>
          </p:cNvCxnSpPr>
          <p:nvPr/>
        </p:nvCxnSpPr>
        <p:spPr>
          <a:xfrm flipH="1">
            <a:off x="6705600" y="3810000"/>
            <a:ext cx="457200" cy="304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18" idx="0"/>
          </p:cNvCxnSpPr>
          <p:nvPr/>
        </p:nvCxnSpPr>
        <p:spPr>
          <a:xfrm>
            <a:off x="7848600" y="3810000"/>
            <a:ext cx="365760" cy="304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21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2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900" baseline="30000" dirty="0"/>
            </a:br>
            <a:endParaRPr lang="en-US" sz="49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Now, the required product can be computed as,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0981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×1234=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1080000 + 127800 + 2754 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1210554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above procedure still needs four half-size multiplications: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𝑖𝑖𝑖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𝑖𝑣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computation of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66FF"/>
                    </a:solidFill>
                  </a:rPr>
                  <a:t> </a:t>
                </a:r>
                <a:r>
                  <a:rPr lang="en-US" dirty="0"/>
                  <a:t>can be done as,</a:t>
                </a:r>
              </a:p>
              <a:p>
                <a:endParaRPr lang="en-US" dirty="0"/>
              </a:p>
              <a:p>
                <a:r>
                  <a:rPr lang="en-US" dirty="0"/>
                  <a:t>Only one multiplication is required instead of two.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04" t="-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52600" y="76201"/>
            <a:ext cx="8763000" cy="808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Multiplying Large Integers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67348" y="1676400"/>
                <a:ext cx="1341120" cy="15240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=09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=81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=34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348" y="1676400"/>
                <a:ext cx="1341120" cy="1524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4390104" y="2286000"/>
            <a:ext cx="609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019800" y="2290916"/>
            <a:ext cx="609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934200" y="2290916"/>
            <a:ext cx="609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001000" y="2286000"/>
            <a:ext cx="609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359740" y="4495801"/>
                <a:ext cx="3276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740" y="4495801"/>
                <a:ext cx="3276600" cy="461665"/>
              </a:xfrm>
              <a:prstGeom prst="rect">
                <a:avLst/>
              </a:prstGeom>
              <a:blipFill>
                <a:blip r:embed="rId5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410200" y="4495801"/>
                <a:ext cx="426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4495801"/>
                <a:ext cx="4267200" cy="461665"/>
              </a:xfrm>
              <a:prstGeom prst="rect">
                <a:avLst/>
              </a:prstGeom>
              <a:blipFill>
                <a:blip r:embed="rId6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4174776" y="4572000"/>
            <a:ext cx="27432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4810433" y="4522839"/>
            <a:ext cx="609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697794" y="4522839"/>
            <a:ext cx="609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801521" y="4557253"/>
            <a:ext cx="706947" cy="38546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8940470" y="4554795"/>
            <a:ext cx="706947" cy="38546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7" idx="2"/>
            <a:endCxn id="12" idx="0"/>
          </p:cNvCxnSpPr>
          <p:nvPr/>
        </p:nvCxnSpPr>
        <p:spPr>
          <a:xfrm>
            <a:off x="6154995" y="4942717"/>
            <a:ext cx="2921409" cy="982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2" idx="2"/>
            <a:endCxn id="12" idx="0"/>
          </p:cNvCxnSpPr>
          <p:nvPr/>
        </p:nvCxnSpPr>
        <p:spPr>
          <a:xfrm flipH="1">
            <a:off x="9076403" y="4940259"/>
            <a:ext cx="217540" cy="984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42006" y="5924720"/>
            <a:ext cx="2268794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Additional terms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843548"/>
            <a:ext cx="4724400" cy="457200"/>
          </a:xfrm>
          <a:prstGeom prst="roundRect">
            <a:avLst/>
          </a:prstGeom>
          <a:noFill/>
          <a:ln w="38100">
            <a:solidFill>
              <a:srgbClr val="FF67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4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6" grpId="1" animBg="1"/>
      <p:bldP spid="17" grpId="0"/>
      <p:bldP spid="18" grpId="0"/>
      <p:bldP spid="19" grpId="0" animBg="1"/>
      <p:bldP spid="7" grpId="0" animBg="1"/>
      <p:bldP spid="22" grpId="0" animBg="1"/>
      <p:bldP spid="12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Multiplying Large Integers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can compute the required product as follows: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767348" y="1600200"/>
                <a:ext cx="1341120" cy="15240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=09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=81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=34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348" y="1600200"/>
                <a:ext cx="134112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297680" y="1600200"/>
                <a:ext cx="5486400" cy="457200"/>
              </a:xfrm>
              <a:prstGeom prst="rect">
                <a:avLst/>
              </a:prstGeom>
              <a:noFill/>
              <a:ln w="1270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09∙12 =108</m:t>
                      </m:r>
                    </m:oMath>
                  </m:oMathPara>
                </a14:m>
                <a:endParaRPr lang="pl-PL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0" y="1600200"/>
                <a:ext cx="5486400" cy="457200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  <a:ln w="127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297680" y="2133600"/>
                <a:ext cx="5486400" cy="457200"/>
              </a:xfrm>
              <a:prstGeom prst="rect">
                <a:avLst/>
              </a:prstGeom>
              <a:noFill/>
              <a:ln w="1270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81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34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2754</m:t>
                      </m:r>
                    </m:oMath>
                  </m:oMathPara>
                </a14:m>
                <a:endParaRPr lang="pl-PL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0" y="2133600"/>
                <a:ext cx="5486400" cy="45720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  <a:ln w="127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297680" y="2667000"/>
                <a:ext cx="5486400" cy="457200"/>
              </a:xfrm>
              <a:prstGeom prst="rect">
                <a:avLst/>
              </a:prstGeom>
              <a:noFill/>
              <a:ln w="1270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=90∙46=4140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0" y="2667000"/>
                <a:ext cx="5486400" cy="457200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  <a:ln w="127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886200" y="4724400"/>
                <a:ext cx="6400800" cy="457200"/>
              </a:xfrm>
              <a:prstGeom prst="rect">
                <a:avLst/>
              </a:prstGeom>
              <a:noFill/>
              <a:ln w="1270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981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1234 = 10</m:t>
                      </m:r>
                      <m:r>
                        <a:rPr lang="en-US" sz="2400" i="1" baseline="30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724400"/>
                <a:ext cx="6400800" cy="457200"/>
              </a:xfrm>
              <a:prstGeom prst="rect">
                <a:avLst/>
              </a:prstGeom>
              <a:blipFill>
                <a:blip r:embed="rId6"/>
                <a:stretch>
                  <a:fillRect b="-16883"/>
                </a:stretch>
              </a:blipFill>
              <a:ln w="127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886200" y="5243052"/>
                <a:ext cx="6400800" cy="457200"/>
              </a:xfrm>
              <a:prstGeom prst="rect">
                <a:avLst/>
              </a:prstGeom>
              <a:noFill/>
              <a:ln w="1270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1080000 + 127800 + 2754</m:t>
                      </m:r>
                    </m:oMath>
                  </m:oMathPara>
                </a14:m>
                <a:endParaRPr lang="pl-PL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5243052"/>
                <a:ext cx="64008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886200" y="5775960"/>
                <a:ext cx="6400800" cy="457200"/>
              </a:xfrm>
              <a:prstGeom prst="rect">
                <a:avLst/>
              </a:prstGeom>
              <a:noFill/>
              <a:ln w="1270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1210554.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5775960"/>
                <a:ext cx="64008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572000" y="4114800"/>
                <a:ext cx="4937760" cy="457200"/>
              </a:xfrm>
              <a:prstGeom prst="rect">
                <a:avLst/>
              </a:prstGeom>
              <a:noFill/>
              <a:ln w="38100">
                <a:solidFill>
                  <a:srgbClr val="FF67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114800"/>
                <a:ext cx="4937760" cy="457200"/>
              </a:xfrm>
              <a:prstGeom prst="rect">
                <a:avLst/>
              </a:prstGeom>
              <a:blipFill>
                <a:blip r:embed="rId9"/>
                <a:stretch>
                  <a:fillRect b="-6173"/>
                </a:stretch>
              </a:blipFill>
              <a:ln w="38100">
                <a:solidFill>
                  <a:srgbClr val="FF670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438400" y="3424536"/>
                <a:ext cx="3276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3424536"/>
                <a:ext cx="3276600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88860" y="3424536"/>
                <a:ext cx="426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860" y="3424536"/>
                <a:ext cx="4267200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94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6" grpId="0" animBg="1"/>
      <p:bldP spid="17" grpId="0" animBg="1"/>
      <p:bldP spid="18" grpId="0" animBg="1"/>
      <p:bldP spid="19" grpId="0" animBg="1"/>
      <p:bldP spid="13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                                    for Binary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457200"/>
            <a:ext cx="11684000" cy="5867400"/>
          </a:xfrm>
        </p:spPr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a=</a:t>
            </a:r>
            <a:r>
              <a:rPr lang="en-US" dirty="0"/>
              <a:t>  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b=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767348" y="1600200"/>
                <a:ext cx="1341120" cy="15240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200" b="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200" baseline="-250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200" b="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sz="2200" b="0" i="1" baseline="-25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200" b="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IN" sz="2200" b="0" i="1" baseline="-25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200" b="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2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348" y="1600200"/>
                <a:ext cx="134112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297680" y="1600200"/>
                <a:ext cx="5486400" cy="457200"/>
              </a:xfrm>
              <a:prstGeom prst="rect">
                <a:avLst/>
              </a:prstGeom>
              <a:noFill/>
              <a:ln w="1270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l-PL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l-PL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I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400" b="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𝑏𝐿</m:t>
                      </m:r>
                    </m:oMath>
                  </m:oMathPara>
                </a14:m>
                <a:endParaRPr lang="pl-PL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0" y="1600200"/>
                <a:ext cx="5486400" cy="457200"/>
              </a:xfrm>
              <a:prstGeom prst="rect">
                <a:avLst/>
              </a:prstGeom>
              <a:blipFill>
                <a:blip r:embed="rId3"/>
                <a:stretch>
                  <a:fillRect b="-11688"/>
                </a:stretch>
              </a:blipFill>
              <a:ln w="127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297680" y="2133600"/>
                <a:ext cx="5486400" cy="457200"/>
              </a:xfrm>
              <a:prstGeom prst="rect">
                <a:avLst/>
              </a:prstGeom>
              <a:noFill/>
              <a:ln w="1270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I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400" b="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𝑏𝑅</m:t>
                      </m:r>
                    </m:oMath>
                  </m:oMathPara>
                </a14:m>
                <a:endParaRPr lang="pl-PL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0" y="2133600"/>
                <a:ext cx="5486400" cy="457200"/>
              </a:xfrm>
              <a:prstGeom prst="rect">
                <a:avLst/>
              </a:prstGeom>
              <a:blipFill>
                <a:blip r:embed="rId4"/>
                <a:stretch>
                  <a:fillRect b="-11688"/>
                </a:stretch>
              </a:blipFill>
              <a:ln w="127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297680" y="2667000"/>
                <a:ext cx="6400800" cy="457200"/>
              </a:xfrm>
              <a:prstGeom prst="rect">
                <a:avLst/>
              </a:prstGeom>
              <a:noFill/>
              <a:ln w="1270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l-PL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sz="2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sz="2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IN" sz="2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IN" sz="2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0" y="2667000"/>
                <a:ext cx="6400800" cy="457200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  <a:ln w="127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767348" y="4724400"/>
                <a:ext cx="8519652" cy="457200"/>
              </a:xfrm>
              <a:prstGeom prst="rect">
                <a:avLst/>
              </a:prstGeom>
              <a:noFill/>
              <a:ln w="1270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IN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400" b="0" i="1" baseline="300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IN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348" y="4724400"/>
                <a:ext cx="8519652" cy="457200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  <a:ln w="127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590800" y="4114800"/>
                <a:ext cx="6918960" cy="457200"/>
              </a:xfrm>
              <a:prstGeom prst="rect">
                <a:avLst/>
              </a:prstGeom>
              <a:noFill/>
              <a:ln w="38100">
                <a:solidFill>
                  <a:srgbClr val="FF67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e>
                        <m:sup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I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sz="2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IN" sz="2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sz="2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IN" sz="2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I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IN" sz="24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114800"/>
                <a:ext cx="691896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FF670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438400" y="3424536"/>
                <a:ext cx="3276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3424536"/>
                <a:ext cx="3276600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88860" y="3424536"/>
                <a:ext cx="426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860" y="3424536"/>
                <a:ext cx="4267200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65259BBF-8F47-462D-92B4-E9525FB62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140984"/>
              </p:ext>
            </p:extLst>
          </p:nvPr>
        </p:nvGraphicFramePr>
        <p:xfrm>
          <a:off x="1066800" y="545792"/>
          <a:ext cx="1524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7054423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369228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</a:t>
                      </a:r>
                      <a:r>
                        <a:rPr lang="en-IN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</a:t>
                      </a:r>
                      <a:endParaRPr lang="en-IN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</a:t>
                      </a:r>
                      <a:r>
                        <a:rPr lang="en-IN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endParaRPr lang="en-IN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67085"/>
                  </a:ext>
                </a:extLst>
              </a:tr>
            </a:tbl>
          </a:graphicData>
        </a:graphic>
      </p:graphicFrame>
      <p:graphicFrame>
        <p:nvGraphicFramePr>
          <p:cNvPr id="20" name="Table 9">
            <a:extLst>
              <a:ext uri="{FF2B5EF4-FFF2-40B4-BE49-F238E27FC236}">
                <a16:creationId xmlns:a16="http://schemas.microsoft.com/office/drawing/2014/main" id="{02C15B7F-D97D-4EBD-BD70-9595C2642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110206"/>
              </p:ext>
            </p:extLst>
          </p:nvPr>
        </p:nvGraphicFramePr>
        <p:xfrm>
          <a:off x="1066800" y="1053942"/>
          <a:ext cx="1524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7054423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369228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</a:t>
                      </a:r>
                      <a:r>
                        <a:rPr lang="en-IN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</a:t>
                      </a:r>
                      <a:endParaRPr lang="en-IN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</a:t>
                      </a:r>
                      <a:r>
                        <a:rPr lang="en-IN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endParaRPr lang="en-IN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67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9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6" grpId="0" animBg="1"/>
      <p:bldP spid="19" grpId="0" animBg="1"/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3C8B-20AD-4CF8-8EDE-2943DC9E1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BFB86-292D-475A-AC5A-A68376A46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2ECC4A-16FC-4905-A909-6C0B880BB1EF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254000" y="914401"/>
                <a:ext cx="11684000" cy="557838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  <a:latin typeface="Lucida Fax" panose="02060602050505020204" pitchFamily="18" charset="0"/>
                    <a:cs typeface="Consolas" pitchFamily="49" charset="0"/>
                  </a:rPr>
                  <a:t>Multiply(a, b, n)</a:t>
                </a:r>
              </a:p>
              <a:p>
                <a:pPr marL="914400" lvl="2" indent="0">
                  <a:buNone/>
                </a:pP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if n = 1 return a*b</a:t>
                </a:r>
              </a:p>
              <a:p>
                <a:pPr marL="914400" lvl="2" indent="0">
                  <a:buNone/>
                </a:pP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        </a:t>
                </a:r>
                <a:r>
                  <a:rPr lang="en-IN" sz="2200" dirty="0" err="1">
                    <a:latin typeface="Lucida Fax" panose="02060602050505020204" pitchFamily="18" charset="0"/>
                    <a:cs typeface="Consolas" pitchFamily="49" charset="0"/>
                  </a:rPr>
                  <a:t>a</a:t>
                </a:r>
                <a:r>
                  <a:rPr lang="en-IN" sz="2200" baseline="-25000" dirty="0" err="1">
                    <a:latin typeface="Lucida Fax" panose="02060602050505020204" pitchFamily="18" charset="0"/>
                    <a:cs typeface="Consolas" pitchFamily="49" charset="0"/>
                  </a:rPr>
                  <a:t>L</a:t>
                </a: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= The left half of a</a:t>
                </a:r>
              </a:p>
              <a:p>
                <a:pPr marL="914400" lvl="2" indent="0">
                  <a:buNone/>
                </a:pP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        </a:t>
                </a:r>
                <a:r>
                  <a:rPr lang="en-IN" sz="2200" dirty="0" err="1">
                    <a:latin typeface="Lucida Fax" panose="02060602050505020204" pitchFamily="18" charset="0"/>
                    <a:cs typeface="Consolas" pitchFamily="49" charset="0"/>
                  </a:rPr>
                  <a:t>a</a:t>
                </a:r>
                <a:r>
                  <a:rPr lang="en-IN" sz="2200" baseline="-25000" dirty="0" err="1">
                    <a:latin typeface="Lucida Fax" panose="02060602050505020204" pitchFamily="18" charset="0"/>
                    <a:cs typeface="Consolas" pitchFamily="49" charset="0"/>
                  </a:rPr>
                  <a:t>R</a:t>
                </a: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= The right half of a</a:t>
                </a:r>
              </a:p>
              <a:p>
                <a:pPr marL="914400" lvl="2" indent="0">
                  <a:buNone/>
                </a:pP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        </a:t>
                </a:r>
                <a:r>
                  <a:rPr lang="en-IN" sz="2200" dirty="0" err="1">
                    <a:latin typeface="Lucida Fax" panose="02060602050505020204" pitchFamily="18" charset="0"/>
                    <a:cs typeface="Consolas" pitchFamily="49" charset="0"/>
                  </a:rPr>
                  <a:t>b</a:t>
                </a:r>
                <a:r>
                  <a:rPr lang="en-IN" sz="2200" baseline="-25000" dirty="0" err="1">
                    <a:latin typeface="Lucida Fax" panose="02060602050505020204" pitchFamily="18" charset="0"/>
                    <a:cs typeface="Consolas" pitchFamily="49" charset="0"/>
                  </a:rPr>
                  <a:t>L</a:t>
                </a: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= The left half of b</a:t>
                </a:r>
              </a:p>
              <a:p>
                <a:pPr marL="914400" lvl="2" indent="0">
                  <a:buNone/>
                </a:pP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        </a:t>
                </a:r>
                <a:r>
                  <a:rPr lang="en-IN" sz="2200" dirty="0" err="1">
                    <a:latin typeface="Lucida Fax" panose="02060602050505020204" pitchFamily="18" charset="0"/>
                    <a:cs typeface="Consolas" pitchFamily="49" charset="0"/>
                  </a:rPr>
                  <a:t>b</a:t>
                </a:r>
                <a:r>
                  <a:rPr lang="en-IN" sz="2200" baseline="-25000" dirty="0" err="1">
                    <a:latin typeface="Lucida Fax" panose="02060602050505020204" pitchFamily="18" charset="0"/>
                    <a:cs typeface="Consolas" pitchFamily="49" charset="0"/>
                  </a:rPr>
                  <a:t>R</a:t>
                </a: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= The right half of b</a:t>
                </a:r>
              </a:p>
              <a:p>
                <a:pPr marL="914400" lvl="2" indent="0">
                  <a:buNone/>
                </a:pP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       </a:t>
                </a:r>
              </a:p>
              <a:p>
                <a:pPr marL="914400" lvl="2" indent="0">
                  <a:buNone/>
                </a:pP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        p= Multiply(</a:t>
                </a:r>
                <a:r>
                  <a:rPr lang="en-IN" sz="2200" dirty="0" err="1">
                    <a:latin typeface="Lucida Fax" panose="02060602050505020204" pitchFamily="18" charset="0"/>
                    <a:cs typeface="Consolas" pitchFamily="49" charset="0"/>
                  </a:rPr>
                  <a:t>a</a:t>
                </a:r>
                <a:r>
                  <a:rPr lang="en-IN" sz="2200" baseline="-25000" dirty="0" err="1">
                    <a:latin typeface="Lucida Fax" panose="02060602050505020204" pitchFamily="18" charset="0"/>
                    <a:cs typeface="Consolas" pitchFamily="49" charset="0"/>
                  </a:rPr>
                  <a:t>L</a:t>
                </a: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, </a:t>
                </a:r>
                <a:r>
                  <a:rPr lang="en-IN" sz="2200" dirty="0" err="1">
                    <a:latin typeface="Lucida Fax" panose="02060602050505020204" pitchFamily="18" charset="0"/>
                    <a:cs typeface="Consolas" pitchFamily="49" charset="0"/>
                  </a:rPr>
                  <a:t>a</a:t>
                </a:r>
                <a:r>
                  <a:rPr lang="en-IN" sz="2200" baseline="-25000" dirty="0" err="1">
                    <a:latin typeface="Lucida Fax" panose="02060602050505020204" pitchFamily="18" charset="0"/>
                    <a:cs typeface="Consolas" pitchFamily="49" charset="0"/>
                  </a:rPr>
                  <a:t>R</a:t>
                </a: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, n/2) //recursive call</a:t>
                </a:r>
              </a:p>
              <a:p>
                <a:pPr marL="914400" lvl="2" indent="0">
                  <a:buNone/>
                </a:pP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        q= Multiply(</a:t>
                </a:r>
                <a:r>
                  <a:rPr lang="en-IN" sz="2200" dirty="0" err="1">
                    <a:latin typeface="Lucida Fax" panose="02060602050505020204" pitchFamily="18" charset="0"/>
                    <a:cs typeface="Consolas" pitchFamily="49" charset="0"/>
                  </a:rPr>
                  <a:t>b</a:t>
                </a:r>
                <a:r>
                  <a:rPr lang="en-IN" sz="2200" baseline="-25000" dirty="0" err="1">
                    <a:latin typeface="Lucida Fax" panose="02060602050505020204" pitchFamily="18" charset="0"/>
                    <a:cs typeface="Consolas" pitchFamily="49" charset="0"/>
                  </a:rPr>
                  <a:t>L</a:t>
                </a: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, </a:t>
                </a:r>
                <a:r>
                  <a:rPr lang="en-IN" sz="2200" dirty="0" err="1">
                    <a:latin typeface="Lucida Fax" panose="02060602050505020204" pitchFamily="18" charset="0"/>
                    <a:cs typeface="Consolas" pitchFamily="49" charset="0"/>
                  </a:rPr>
                  <a:t>b</a:t>
                </a:r>
                <a:r>
                  <a:rPr lang="en-IN" sz="2200" baseline="-25000" dirty="0" err="1">
                    <a:latin typeface="Lucida Fax" panose="02060602050505020204" pitchFamily="18" charset="0"/>
                    <a:cs typeface="Consolas" pitchFamily="49" charset="0"/>
                  </a:rPr>
                  <a:t>R</a:t>
                </a: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, n/2) //recursive call</a:t>
                </a:r>
              </a:p>
              <a:p>
                <a:pPr marL="914400" lvl="2" indent="0">
                  <a:buNone/>
                </a:pP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        r=</a:t>
                </a:r>
                <a:r>
                  <a:rPr lang="en-US" sz="2200" dirty="0"/>
                  <a:t> 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200" i="1" baseline="-2500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I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IN" sz="22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IN" sz="2200" b="1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IN" sz="22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I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IN" sz="22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, n/2) //recursive call</a:t>
                </a:r>
              </a:p>
              <a:p>
                <a:pPr marL="914400" lvl="2" indent="0">
                  <a:buNone/>
                </a:pPr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return </a:t>
                </a:r>
                <a14:m>
                  <m:oMath xmlns:m="http://schemas.openxmlformats.org/officeDocument/2006/math">
                    <m:r>
                      <a:rPr lang="en-IN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200" i="1" baseline="30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IN" sz="2200" dirty="0">
                    <a:latin typeface="Lucida Fax" panose="02060602050505020204" pitchFamily="18" charset="0"/>
                    <a:cs typeface="Consolas" pitchFamily="49" charset="0"/>
                  </a:rPr>
                  <a:t> // </a:t>
                </a:r>
              </a:p>
              <a:p>
                <a:pPr marL="914400" lvl="2" indent="0">
                  <a:buNone/>
                </a:pPr>
                <a:r>
                  <a:rPr lang="en-IN" sz="1400" dirty="0">
                    <a:latin typeface="Lucida Fax" panose="02060602050505020204" pitchFamily="18" charset="0"/>
                    <a:cs typeface="Consolas" pitchFamily="49" charset="0"/>
                  </a:rPr>
                  <a:t>time taken by p, q, and r are n/2, while </a:t>
                </a:r>
                <a14:m>
                  <m:oMath xmlns:m="http://schemas.openxmlformats.org/officeDocument/2006/math">
                    <m:r>
                      <a:rPr lang="en-IN" sz="1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1400" i="1" baseline="30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400" dirty="0">
                    <a:latin typeface="Lucida Fax" panose="02060602050505020204" pitchFamily="18" charset="0"/>
                    <a:cs typeface="Consolas" pitchFamily="49" charset="0"/>
                  </a:rPr>
                  <a:t>appending n zeros to right will be proportional to n, addition and subtraction are proportional to n.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2ECC4A-16FC-4905-A909-6C0B880BB1E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000" y="914401"/>
                <a:ext cx="11684000" cy="5578387"/>
              </a:xfrm>
              <a:prstGeom prst="rect">
                <a:avLst/>
              </a:prstGeom>
              <a:blipFill>
                <a:blip r:embed="rId2"/>
                <a:stretch>
                  <a:fillRect l="-835" t="-656" r="-157" b="-1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78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of Time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981 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1234 </m:t>
                    </m:r>
                  </m:oMath>
                </a14:m>
                <a:r>
                  <a:rPr lang="en-US" dirty="0"/>
                  <a:t>can be reduced to </a:t>
                </a:r>
                <a:r>
                  <a:rPr lang="en-US" b="1" dirty="0"/>
                  <a:t>three multiplications </a:t>
                </a:r>
                <a:r>
                  <a:rPr lang="en-US" dirty="0"/>
                  <a:t>of two-figure numbers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(09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12, 81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34 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90∙46) </m:t>
                    </m:r>
                  </m:oMath>
                </a14:m>
                <a:r>
                  <a:rPr lang="en-US" dirty="0"/>
                  <a:t>together with a certain number of shifts, additions and subtractions.</a:t>
                </a:r>
              </a:p>
              <a:p>
                <a:r>
                  <a:rPr lang="en-US" dirty="0"/>
                  <a:t>Reducing </a:t>
                </a:r>
                <a:r>
                  <a:rPr lang="en-US" b="1" dirty="0"/>
                  <a:t>four multiplications to three</a:t>
                </a:r>
                <a:r>
                  <a:rPr lang="en-US" dirty="0"/>
                  <a:t> will enable us to cut </a:t>
                </a:r>
                <a:r>
                  <a:rPr lang="en-US" dirty="0">
                    <a:solidFill>
                      <a:srgbClr val="FF0000"/>
                    </a:solidFill>
                  </a:rPr>
                  <a:t>25% </a:t>
                </a:r>
                <a:r>
                  <a:rPr lang="en-US" dirty="0"/>
                  <a:t>of the computing time required for large multiplications. </a:t>
                </a:r>
              </a:p>
              <a:p>
                <a:r>
                  <a:rPr lang="en-US" dirty="0"/>
                  <a:t>We obtain an algorithm that can multiply two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-figure numbers in a time,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dirty="0"/>
                  <a:t> vs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400050" lvl="1" indent="0" algn="l">
                  <a:buNone/>
                </a:pPr>
                <a:r>
                  <a:rPr lang="en-US" sz="2400" dirty="0"/>
                  <a:t>Solving it gives,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I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𝒐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𝐧</m:t>
                      </m:r>
                      <m:r>
                        <a:rPr lang="en-IN" b="1" i="0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IN" b="1" i="0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IN" b="1" i="0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𝟓𝟗</m:t>
                      </m:r>
                    </m:oMath>
                  </m:oMathPara>
                </a14:m>
                <a:endParaRPr lang="en-US" b="1" baseline="30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1" t="-457" r="-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24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Multiplying Large Integers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Example: Multiply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8114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7622</m:t>
                    </m:r>
                  </m:oMath>
                </a14:m>
                <a:r>
                  <a:rPr lang="en-US" dirty="0"/>
                  <a:t> using divide &amp; conquer method.</a:t>
                </a:r>
              </a:p>
              <a:p>
                <a:r>
                  <a:rPr lang="en-US" dirty="0"/>
                  <a:t>Solution using D&amp;C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3657600" y="2424545"/>
                <a:ext cx="1371600" cy="457200"/>
              </a:xfrm>
              <a:prstGeom prst="roundRect">
                <a:avLst/>
              </a:prstGeom>
              <a:no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=81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424545"/>
                <a:ext cx="1371600" cy="4572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5257800" y="2438400"/>
                <a:ext cx="1371600" cy="457200"/>
              </a:xfrm>
              <a:prstGeom prst="roundRect">
                <a:avLst/>
              </a:prstGeom>
              <a:no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438400"/>
                <a:ext cx="1371600" cy="4572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6858000" y="2424545"/>
                <a:ext cx="1371600" cy="457200"/>
              </a:xfrm>
              <a:prstGeom prst="roundRect">
                <a:avLst/>
              </a:prstGeom>
              <a:no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=76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2424545"/>
                <a:ext cx="1371600" cy="457200"/>
              </a:xfrm>
              <a:prstGeom prst="roundRect">
                <a:avLst/>
              </a:prstGeom>
              <a:blipFill>
                <a:blip r:embed="rId5"/>
                <a:stretch>
                  <a:fillRect b="-7595"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8458200" y="2424545"/>
                <a:ext cx="1371600" cy="457200"/>
              </a:xfrm>
              <a:prstGeom prst="roundRect">
                <a:avLst/>
              </a:prstGeom>
              <a:no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=22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0" y="2424545"/>
                <a:ext cx="1371600" cy="4572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194560" y="2424545"/>
            <a:ext cx="1097280" cy="457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Step 1: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3120177"/>
            <a:ext cx="1097280" cy="457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Step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657600" y="3115713"/>
                <a:ext cx="2971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Calculate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3115713"/>
                <a:ext cx="2971800" cy="461665"/>
              </a:xfrm>
              <a:prstGeom prst="rect">
                <a:avLst/>
              </a:prstGeom>
              <a:blipFill>
                <a:blip r:embed="rId7"/>
                <a:stretch>
                  <a:fillRect l="-3074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657600" y="3808886"/>
                <a:ext cx="6126480" cy="24688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l-PL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pl-PL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=81∙76=6156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l-PL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pl-PL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l-PL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=14∙22=308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pl-PL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pl-PL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pl-PL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pl-PL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l-PL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)∙(</m:t>
                    </m:r>
                    <m:r>
                      <a:rPr lang="pl-PL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pl-PL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l-PL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pl-PL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)=95∙98=931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0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8114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7622=</m:t>
                      </m:r>
                      <m:r>
                        <a:rPr lang="en-US" sz="24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400" b="1" i="1" baseline="300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400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24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400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61560000+284600+308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=61844908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3808886"/>
                <a:ext cx="6126480" cy="24688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9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9960" y="2788920"/>
            <a:ext cx="5212080" cy="1280160"/>
          </a:xfrm>
          <a:noFill/>
        </p:spPr>
        <p:txBody>
          <a:bodyPr>
            <a:noAutofit/>
          </a:bodyPr>
          <a:lstStyle/>
          <a:p>
            <a:r>
              <a:rPr lang="en-US" cap="none" dirty="0">
                <a:solidFill>
                  <a:srgbClr val="C00000"/>
                </a:solidFill>
              </a:rPr>
              <a:t>Strassen’s Algorithm for Matrix Multiplication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Pentagon 4"/>
          <p:cNvSpPr/>
          <p:nvPr/>
        </p:nvSpPr>
        <p:spPr>
          <a:xfrm rot="5400000">
            <a:off x="-1490568" y="3017522"/>
            <a:ext cx="6858000" cy="822960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7BA1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058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Matrix Multiplication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Multiply following two matrices. Count how many scalar multiplications are required.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×6+3×4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×8+3×2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×6+5×4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×8+5×2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 multiply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dirty="0"/>
                  <a:t>matrices, total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US" i="1" baseline="30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scalar multiplications are required.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1" t="-4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40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5181600" y="3551904"/>
            <a:ext cx="228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166852" y="3915696"/>
            <a:ext cx="228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233652" y="3566652"/>
            <a:ext cx="228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233652" y="3915696"/>
            <a:ext cx="228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21792" y="3566652"/>
            <a:ext cx="228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224252" y="3918156"/>
            <a:ext cx="228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291052" y="3566652"/>
            <a:ext cx="228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276304" y="3918156"/>
            <a:ext cx="228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Matrix Multiplication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In general,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are two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</m:oMath>
                </a14:m>
                <a:r>
                  <a:rPr lang="en-US" dirty="0"/>
                  <a:t> matrices to be multiplied.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Computing each entry in the product takes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/>
                  <a:t> multiplications </a:t>
                </a:r>
                <a:r>
                  <a:rPr lang="en-US" dirty="0"/>
                  <a:t>and there are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baseline="30000" dirty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 baseline="30000" dirty="0"/>
                  <a:t> </a:t>
                </a:r>
                <a:r>
                  <a:rPr lang="en-US" b="1" dirty="0"/>
                  <a:t>entries </a:t>
                </a:r>
                <a:r>
                  <a:rPr lang="en-US" dirty="0"/>
                  <a:t>for a total of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baseline="30000" dirty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b="1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5" t="-343" r="-834" b="-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31D6C0-439C-4CAB-8664-2EC5F6A5F9CB}"/>
                  </a:ext>
                </a:extLst>
              </p:cNvPr>
              <p:cNvSpPr txBox="1"/>
              <p:nvPr/>
            </p:nvSpPr>
            <p:spPr>
              <a:xfrm>
                <a:off x="457200" y="4038600"/>
                <a:ext cx="26716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baseline="-25000" dirty="0" err="1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i,j</a:t>
                </a:r>
                <a:r>
                  <a:rPr lang="en-IN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pt-BR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b="0" i="1" baseline="-250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𝐵𝑘𝑗</m:t>
                            </m:r>
                          </m:e>
                        </m:d>
                      </m:e>
                    </m:nary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31D6C0-439C-4CAB-8664-2EC5F6A5F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038600"/>
                <a:ext cx="2671629" cy="461665"/>
              </a:xfrm>
              <a:prstGeom prst="rect">
                <a:avLst/>
              </a:prstGeom>
              <a:blipFill>
                <a:blip r:embed="rId3"/>
                <a:stretch>
                  <a:fillRect l="-3425" t="-130667" b="-198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99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A49F-6412-4040-9CCD-3340F5EF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for simple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3E981-1A60-430D-84B7-346181BAC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  <a:ea typeface="+mj-ea"/>
              </a:rPr>
              <a:t>Time Complexity of above method is </a:t>
            </a:r>
            <a:r>
              <a:rPr lang="en-US" sz="2000" b="1" dirty="0">
                <a:solidFill>
                  <a:srgbClr val="C00000"/>
                </a:solidFill>
                <a:latin typeface="Consolas" pitchFamily="49" charset="0"/>
                <a:ea typeface="+mj-ea"/>
              </a:rPr>
              <a:t>O(n</a:t>
            </a:r>
            <a:r>
              <a:rPr lang="en-US" sz="2000" b="1" baseline="30000" dirty="0">
                <a:solidFill>
                  <a:srgbClr val="C00000"/>
                </a:solidFill>
                <a:latin typeface="Consolas" pitchFamily="49" charset="0"/>
                <a:ea typeface="+mj-ea"/>
              </a:rPr>
              <a:t>2</a:t>
            </a:r>
            <a:r>
              <a:rPr lang="en-US" sz="2000" b="1" dirty="0">
                <a:solidFill>
                  <a:srgbClr val="C00000"/>
                </a:solidFill>
                <a:latin typeface="Consolas" pitchFamily="49" charset="0"/>
                <a:ea typeface="+mj-ea"/>
              </a:rPr>
              <a:t>). </a:t>
            </a:r>
            <a:endParaRPr lang="en-IN" sz="32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08A7F-3CBF-40DC-936E-61A70409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956B87-A6F5-4037-9776-C26457AE4D8E}"/>
              </a:ext>
            </a:extLst>
          </p:cNvPr>
          <p:cNvSpPr txBox="1">
            <a:spLocks/>
          </p:cNvSpPr>
          <p:nvPr/>
        </p:nvSpPr>
        <p:spPr>
          <a:xfrm>
            <a:off x="217487" y="918719"/>
            <a:ext cx="11757025" cy="3269357"/>
          </a:xfrm>
          <a:prstGeom prst="rect">
            <a:avLst/>
          </a:prstGeom>
          <a:solidFill>
            <a:schemeClr val="bg2"/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342900" indent="-3429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>
                <a:solidFill>
                  <a:srgbClr val="C00000"/>
                </a:solidFill>
                <a:latin typeface="Consolas" pitchFamily="49" charset="0"/>
              </a:rPr>
              <a:t>Addition(A,B) </a:t>
            </a:r>
            <a:r>
              <a:rPr lang="en-US" sz="2000" dirty="0">
                <a:latin typeface="Consolas" pitchFamily="49" charset="0"/>
              </a:rPr>
              <a:t>//A,B,C are two dimensional matrices.</a:t>
            </a: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</a:rPr>
              <a:t>N </a:t>
            </a:r>
            <a:r>
              <a:rPr lang="en-US" sz="2000" dirty="0">
                <a:latin typeface="Consolas" pitchFamily="49" charset="0"/>
                <a:sym typeface="Wingdings" pitchFamily="2" charset="2"/>
              </a:rPr>
              <a:t>  rows[A]</a:t>
            </a: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  <a:sym typeface="Wingdings" pitchFamily="2" charset="2"/>
              </a:rPr>
              <a:t>Let C be the matrix having A+B of size n*n.</a:t>
            </a:r>
            <a:endParaRPr lang="en-US" sz="2000" dirty="0">
              <a:latin typeface="Consolas" pitchFamily="49" charset="0"/>
            </a:endParaRP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</a:rPr>
              <a:t>for 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  <a:sym typeface="Wingdings" pitchFamily="2" charset="2"/>
              </a:rPr>
              <a:t></a:t>
            </a:r>
            <a:r>
              <a:rPr lang="en-US" sz="2000" dirty="0">
                <a:latin typeface="Consolas" pitchFamily="49" charset="0"/>
              </a:rPr>
              <a:t> 0 to n </a:t>
            </a: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</a:rPr>
              <a:t>    for j</a:t>
            </a:r>
            <a:r>
              <a:rPr lang="en-US" sz="2000" dirty="0">
                <a:latin typeface="Consolas" pitchFamily="49" charset="0"/>
                <a:sym typeface="Wingdings" pitchFamily="2" charset="2"/>
              </a:rPr>
              <a:t></a:t>
            </a:r>
            <a:r>
              <a:rPr lang="en-US" sz="2000" dirty="0">
                <a:latin typeface="Consolas" pitchFamily="49" charset="0"/>
              </a:rPr>
              <a:t> 0 to n</a:t>
            </a: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</a:rPr>
              <a:t>	</a:t>
            </a:r>
            <a:r>
              <a:rPr lang="en-US" sz="2000" dirty="0">
                <a:latin typeface="Consolas" pitchFamily="49" charset="0"/>
                <a:sym typeface="Wingdings" pitchFamily="2" charset="2"/>
              </a:rPr>
              <a:t>   </a:t>
            </a:r>
            <a:r>
              <a:rPr lang="en-US" sz="2000" dirty="0">
                <a:latin typeface="Consolas" pitchFamily="49" charset="0"/>
              </a:rPr>
              <a:t>C[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][j] </a:t>
            </a:r>
            <a:r>
              <a:rPr lang="en-US" sz="2000" dirty="0">
                <a:latin typeface="Consolas" pitchFamily="49" charset="0"/>
                <a:sym typeface="Wingdings" pitchFamily="2" charset="2"/>
              </a:rPr>
              <a:t></a:t>
            </a:r>
            <a:r>
              <a:rPr lang="en-US" sz="2000" dirty="0">
                <a:latin typeface="Consolas" pitchFamily="49" charset="0"/>
              </a:rPr>
              <a:t> (A[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][k]+B[k][j])</a:t>
            </a: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</a:rPr>
              <a:t>return C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b="1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A[j+1← temp</a:t>
            </a:r>
          </a:p>
        </p:txBody>
      </p:sp>
    </p:spTree>
    <p:extLst>
      <p:ext uri="{BB962C8B-B14F-4D97-AF65-F5344CB8AC3E}">
        <p14:creationId xmlns:p14="http://schemas.microsoft.com/office/powerpoint/2010/main" val="262480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A49F-6412-4040-9CCD-3340F5EF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for simple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3E981-1A60-430D-84B7-346181BAC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dirty="0">
              <a:latin typeface="Consolas" pitchFamily="49" charset="0"/>
              <a:ea typeface="+mj-ea"/>
            </a:endParaRP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  <a:ea typeface="+mj-ea"/>
              </a:rPr>
              <a:t>Time Complexity of above method is </a:t>
            </a:r>
            <a:r>
              <a:rPr lang="en-US" sz="2800" b="1" dirty="0">
                <a:solidFill>
                  <a:srgbClr val="C00000"/>
                </a:solidFill>
                <a:latin typeface="Consolas" pitchFamily="49" charset="0"/>
                <a:ea typeface="+mj-ea"/>
              </a:rPr>
              <a:t>O(n</a:t>
            </a:r>
            <a:r>
              <a:rPr lang="en-US" sz="2800" b="1" baseline="30000" dirty="0">
                <a:solidFill>
                  <a:srgbClr val="C00000"/>
                </a:solidFill>
                <a:latin typeface="Consolas" pitchFamily="49" charset="0"/>
                <a:ea typeface="+mj-ea"/>
              </a:rPr>
              <a:t>3</a:t>
            </a:r>
            <a:r>
              <a:rPr lang="en-US" sz="2800" b="1" dirty="0">
                <a:solidFill>
                  <a:srgbClr val="C00000"/>
                </a:solidFill>
                <a:latin typeface="Consolas" pitchFamily="49" charset="0"/>
                <a:ea typeface="+mj-ea"/>
              </a:rPr>
              <a:t>).</a:t>
            </a:r>
            <a:endParaRPr lang="en-IN" sz="32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08A7F-3CBF-40DC-936E-61A70409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956B87-A6F5-4037-9776-C26457AE4D8E}"/>
              </a:ext>
            </a:extLst>
          </p:cNvPr>
          <p:cNvSpPr txBox="1">
            <a:spLocks/>
          </p:cNvSpPr>
          <p:nvPr/>
        </p:nvSpPr>
        <p:spPr>
          <a:xfrm>
            <a:off x="217487" y="918719"/>
            <a:ext cx="11757025" cy="3681777"/>
          </a:xfrm>
          <a:prstGeom prst="rect">
            <a:avLst/>
          </a:prstGeom>
          <a:solidFill>
            <a:schemeClr val="bg2"/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342900" indent="-3429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 err="1">
                <a:solidFill>
                  <a:srgbClr val="C00000"/>
                </a:solidFill>
                <a:latin typeface="Consolas" pitchFamily="49" charset="0"/>
              </a:rPr>
              <a:t>Naive_square_multiply</a:t>
            </a:r>
            <a:r>
              <a:rPr lang="en-US" sz="2000" b="1" dirty="0">
                <a:solidFill>
                  <a:srgbClr val="C00000"/>
                </a:solidFill>
                <a:latin typeface="Consolas" pitchFamily="49" charset="0"/>
              </a:rPr>
              <a:t>(A,B) </a:t>
            </a:r>
            <a:r>
              <a:rPr lang="en-US" sz="2000" dirty="0">
                <a:latin typeface="Consolas" pitchFamily="49" charset="0"/>
              </a:rPr>
              <a:t>//A,B,C are two dimensional matrices.</a:t>
            </a: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</a:rPr>
              <a:t>n </a:t>
            </a:r>
            <a:r>
              <a:rPr lang="en-US" sz="2000" dirty="0">
                <a:latin typeface="Consolas" pitchFamily="49" charset="0"/>
                <a:sym typeface="Wingdings" pitchFamily="2" charset="2"/>
              </a:rPr>
              <a:t>  rows[A]</a:t>
            </a: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  <a:sym typeface="Wingdings" pitchFamily="2" charset="2"/>
              </a:rPr>
              <a:t>Let C be the matrix having A*B of size n*n.</a:t>
            </a:r>
            <a:endParaRPr lang="en-US" sz="2000" dirty="0">
              <a:latin typeface="Consolas" pitchFamily="49" charset="0"/>
            </a:endParaRP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</a:rPr>
              <a:t>for 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  <a:sym typeface="Wingdings" pitchFamily="2" charset="2"/>
              </a:rPr>
              <a:t></a:t>
            </a:r>
            <a:r>
              <a:rPr lang="en-US" sz="2000" dirty="0">
                <a:latin typeface="Consolas" pitchFamily="49" charset="0"/>
              </a:rPr>
              <a:t> 0 to n </a:t>
            </a: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</a:rPr>
              <a:t>    for j</a:t>
            </a:r>
            <a:r>
              <a:rPr lang="en-US" sz="2000" dirty="0">
                <a:latin typeface="Consolas" pitchFamily="49" charset="0"/>
                <a:sym typeface="Wingdings" pitchFamily="2" charset="2"/>
              </a:rPr>
              <a:t></a:t>
            </a:r>
            <a:r>
              <a:rPr lang="en-US" sz="2000" dirty="0">
                <a:latin typeface="Consolas" pitchFamily="49" charset="0"/>
              </a:rPr>
              <a:t> 0 to n</a:t>
            </a: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</a:rPr>
              <a:t>	 for k</a:t>
            </a:r>
            <a:r>
              <a:rPr lang="en-US" sz="2000" dirty="0">
                <a:latin typeface="Consolas" pitchFamily="49" charset="0"/>
                <a:sym typeface="Wingdings" pitchFamily="2" charset="2"/>
              </a:rPr>
              <a:t> 0 to n</a:t>
            </a:r>
          </a:p>
          <a:p>
            <a:pPr marL="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  <a:sym typeface="Wingdings" pitchFamily="2" charset="2"/>
              </a:rPr>
              <a:t>             </a:t>
            </a:r>
            <a:r>
              <a:rPr lang="en-US" sz="2000" dirty="0">
                <a:latin typeface="Consolas" pitchFamily="49" charset="0"/>
              </a:rPr>
              <a:t>C[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][j] </a:t>
            </a:r>
            <a:r>
              <a:rPr lang="en-US" sz="2000" dirty="0">
                <a:latin typeface="Consolas" pitchFamily="49" charset="0"/>
                <a:sym typeface="Wingdings" pitchFamily="2" charset="2"/>
              </a:rPr>
              <a:t></a:t>
            </a:r>
            <a:r>
              <a:rPr lang="en-US" sz="2000" dirty="0">
                <a:latin typeface="Consolas" pitchFamily="49" charset="0"/>
              </a:rPr>
              <a:t> C[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][j] +(A[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][k]*B[k][j])</a:t>
            </a:r>
          </a:p>
          <a:p>
            <a:pPr marL="0" indent="-742950" algn="l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Consolas" pitchFamily="49" charset="0"/>
              </a:rPr>
              <a:t>return C</a:t>
            </a:r>
          </a:p>
          <a:p>
            <a:pPr marL="914400" lvl="2" indent="0" algn="l">
              <a:buFont typeface="Arial" pitchFamily="34" charset="0"/>
              <a:buNone/>
            </a:pPr>
            <a:r>
              <a:rPr lang="en-IN" b="1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A[j+1← temp</a:t>
            </a:r>
          </a:p>
        </p:txBody>
      </p:sp>
    </p:spTree>
    <p:extLst>
      <p:ext uri="{BB962C8B-B14F-4D97-AF65-F5344CB8AC3E}">
        <p14:creationId xmlns:p14="http://schemas.microsoft.com/office/powerpoint/2010/main" val="190012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36F5A-3860-47FB-A784-179F9298C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Divide and Conquer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68D87-EC7C-48E8-B945-816BFA647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us first assume that n is an </a:t>
            </a:r>
            <a:r>
              <a:rPr lang="en-US" b="1" dirty="0">
                <a:solidFill>
                  <a:srgbClr val="C00000"/>
                </a:solidFill>
              </a:rPr>
              <a:t>exact power of 2 </a:t>
            </a:r>
            <a:r>
              <a:rPr lang="en-US" dirty="0"/>
              <a:t>in each of the </a:t>
            </a:r>
            <a:r>
              <a:rPr lang="en-US" b="1" dirty="0">
                <a:solidFill>
                  <a:srgbClr val="C00000"/>
                </a:solidFill>
              </a:rPr>
              <a:t>n x n</a:t>
            </a:r>
            <a:r>
              <a:rPr lang="en-US" b="1" dirty="0"/>
              <a:t> </a:t>
            </a:r>
            <a:r>
              <a:rPr lang="en-US" dirty="0"/>
              <a:t>matrices for A and B. This simplifying assumption allows us to break a big </a:t>
            </a:r>
            <a:r>
              <a:rPr lang="en-US" b="1" dirty="0">
                <a:solidFill>
                  <a:srgbClr val="C00000"/>
                </a:solidFill>
              </a:rPr>
              <a:t>n x n </a:t>
            </a:r>
            <a:r>
              <a:rPr lang="en-US" dirty="0"/>
              <a:t>matrix into smaller blocks or quadrants of size </a:t>
            </a:r>
            <a:r>
              <a:rPr lang="en-US" b="1" dirty="0">
                <a:solidFill>
                  <a:srgbClr val="C00000"/>
                </a:solidFill>
              </a:rPr>
              <a:t>n/2 x n/2</a:t>
            </a:r>
            <a:r>
              <a:rPr lang="en-US" dirty="0"/>
              <a:t>, while also ensuring that the dimension </a:t>
            </a:r>
            <a:r>
              <a:rPr lang="en-US" b="1" dirty="0">
                <a:solidFill>
                  <a:srgbClr val="C00000"/>
                </a:solidFill>
              </a:rPr>
              <a:t>n/2</a:t>
            </a:r>
            <a:r>
              <a:rPr lang="en-US" dirty="0"/>
              <a:t> is an integer.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 calculate following values recursively. ae + </a:t>
            </a:r>
            <a:r>
              <a:rPr lang="en-US" dirty="0" err="1"/>
              <a:t>bg</a:t>
            </a:r>
            <a:r>
              <a:rPr lang="en-US" dirty="0"/>
              <a:t>, </a:t>
            </a:r>
            <a:r>
              <a:rPr lang="en-US" dirty="0" err="1"/>
              <a:t>af</a:t>
            </a:r>
            <a:r>
              <a:rPr lang="en-US" dirty="0"/>
              <a:t> + </a:t>
            </a:r>
            <a:r>
              <a:rPr lang="en-US" dirty="0" err="1"/>
              <a:t>bh</a:t>
            </a:r>
            <a:r>
              <a:rPr lang="en-US" dirty="0"/>
              <a:t>, </a:t>
            </a:r>
            <a:r>
              <a:rPr lang="en-US" dirty="0" err="1"/>
              <a:t>ce</a:t>
            </a:r>
            <a:r>
              <a:rPr lang="en-US" dirty="0"/>
              <a:t> + dg and </a:t>
            </a:r>
            <a:r>
              <a:rPr lang="en-US" dirty="0" err="1"/>
              <a:t>cf</a:t>
            </a:r>
            <a:r>
              <a:rPr lang="en-US" dirty="0"/>
              <a:t> + dh.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3DEBD-DC11-4760-8C88-0FFE7191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1DBAE-842B-41E4-B50B-6475DCDDA2BB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979738"/>
            <a:ext cx="8001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4748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FD26-8229-4540-9909-5DC492B58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39489-A4B1-4868-8C66-35F16CDB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4DAC2-340D-41D2-B72A-65708AB8A3B9}"/>
              </a:ext>
            </a:extLst>
          </p:cNvPr>
          <p:cNvSpPr txBox="1"/>
          <p:nvPr/>
        </p:nvSpPr>
        <p:spPr>
          <a:xfrm>
            <a:off x="131762" y="4724400"/>
            <a:ext cx="119284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dirty="0">
                <a:solidFill>
                  <a:srgbClr val="000000"/>
                </a:solidFill>
                <a:latin typeface="Open Sans"/>
                <a:cs typeface="Arial" pitchFamily="34" charset="0"/>
              </a:rPr>
              <a:t>In the above method, we do </a:t>
            </a:r>
            <a:r>
              <a:rPr lang="en-US" b="1" dirty="0">
                <a:solidFill>
                  <a:srgbClr val="000000"/>
                </a:solidFill>
                <a:latin typeface="Open Sans"/>
                <a:cs typeface="Arial" pitchFamily="34" charset="0"/>
              </a:rPr>
              <a:t>8 multiplications for matrices of size N/2 x N/2 and 4 additions. Addition of two matrices takes O(N</a:t>
            </a:r>
            <a:r>
              <a:rPr lang="en-US" b="1" baseline="30000" dirty="0">
                <a:solidFill>
                  <a:srgbClr val="000000"/>
                </a:solidFill>
                <a:latin typeface="Open Sans"/>
                <a:cs typeface="Arial" pitchFamily="34" charset="0"/>
              </a:rPr>
              <a:t>2</a:t>
            </a:r>
            <a:r>
              <a:rPr lang="en-US" b="1" dirty="0">
                <a:solidFill>
                  <a:srgbClr val="000000"/>
                </a:solidFill>
                <a:latin typeface="Open Sans"/>
                <a:cs typeface="Arial" pitchFamily="34" charset="0"/>
              </a:rPr>
              <a:t>) time</a:t>
            </a:r>
            <a:r>
              <a:rPr lang="en-US" dirty="0">
                <a:solidFill>
                  <a:srgbClr val="000000"/>
                </a:solidFill>
                <a:latin typeface="Open Sans"/>
                <a:cs typeface="Arial" pitchFamily="34" charset="0"/>
              </a:rPr>
              <a:t>. So the time complexity can be written as</a:t>
            </a:r>
            <a:endParaRPr lang="en-US" sz="1200" dirty="0">
              <a:solidFill>
                <a:srgbClr val="000000"/>
              </a:solidFill>
              <a:latin typeface="Consolas" pitchFamily="49" charset="0"/>
              <a:cs typeface="Arial" pitchFamily="34" charset="0"/>
            </a:endParaRPr>
          </a:p>
          <a:p>
            <a:pPr eaLnBrk="0" hangingPunct="0">
              <a:defRPr/>
            </a:pPr>
            <a:r>
              <a:rPr lang="en-US" sz="3200" b="1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T(N) = 8T(N/2) + O(N</a:t>
            </a:r>
            <a:r>
              <a:rPr lang="en-US" sz="3200" b="1" baseline="30000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2</a:t>
            </a:r>
            <a:r>
              <a:rPr lang="en-US" sz="3200" b="1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)    </a:t>
            </a:r>
          </a:p>
          <a:p>
            <a:pPr eaLnBrk="0" hangingPunct="0">
              <a:defRPr/>
            </a:pPr>
            <a:r>
              <a:rPr lang="en-US" sz="3200" b="1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O(N</a:t>
            </a:r>
            <a:r>
              <a:rPr lang="en-US" sz="3200" b="1" baseline="30000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3</a:t>
            </a:r>
            <a:r>
              <a:rPr lang="en-US" sz="3200" b="1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)(no better than naïve algorithm)</a:t>
            </a:r>
            <a:endParaRPr lang="en-US" sz="6600" b="1" baseline="30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21AA82B3-00ED-4891-9B3F-8EBFFE1A0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650" y="2055549"/>
            <a:ext cx="5726012" cy="1896741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779A64-0FF5-49EB-8E31-0497E6B92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999" y="990600"/>
            <a:ext cx="11683999" cy="5334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48C618FE-E36B-4C11-A4BA-7C18F6D75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06364"/>
            <a:ext cx="68124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5918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DA125-C03F-4485-8141-0C21CFDA3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06A98-DCC2-4973-A9AA-8C7929790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251A34-760C-49C9-8A1B-0455F10FE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73" y="1524000"/>
            <a:ext cx="6708564" cy="411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6BA3A9-7DA6-4486-AE32-C4E875B13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055674"/>
            <a:ext cx="5391427" cy="571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714665-35EE-455A-B40B-01D8F6D9D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5152" y="2133600"/>
            <a:ext cx="3829247" cy="5778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4C0DCB-178F-4180-AF3B-8E2827802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3217877"/>
            <a:ext cx="2616334" cy="112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97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3F55-856A-4397-A411-9DA9A7213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FC666-C4ED-4A10-A3FB-255A16367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en-US" dirty="0"/>
              <a:t>For multiplying two matrices of size n x n, we make 8 recursive calls above, each on a matrix/subproblem with size n/2 x n/2. Each of these recursive calls multiplies two n/2 x n/2 matrices, which are then added together. For the addition, we add two matrices of size n</a:t>
            </a:r>
            <a:r>
              <a:rPr lang="en-US" baseline="30000" dirty="0"/>
              <a:t>2</a:t>
            </a:r>
            <a:r>
              <a:rPr lang="en-US" dirty="0"/>
              <a:t>/4 , so each addition takes Θ(n</a:t>
            </a:r>
            <a:r>
              <a:rPr lang="en-US" baseline="30000" dirty="0"/>
              <a:t>2</a:t>
            </a:r>
            <a:r>
              <a:rPr lang="en-US" dirty="0"/>
              <a:t>/4)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dirty="0"/>
              <a:t> time. We can write this recurrence in the form of the following equations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Hence, recurrence 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T(N) = 8T(N/2) + O(N</a:t>
            </a:r>
            <a:r>
              <a:rPr lang="en-US" b="1" baseline="30000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2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)     </a:t>
            </a:r>
            <a:r>
              <a:rPr lang="en-US" b="1" dirty="0" err="1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i.e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 O(N</a:t>
            </a:r>
            <a:r>
              <a:rPr lang="en-US" b="1" baseline="30000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3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  <a:cs typeface="Arial" pitchFamily="34" charset="0"/>
              </a:rPr>
              <a:t>)</a:t>
            </a:r>
            <a:endParaRPr lang="en-US" sz="5400" b="1" baseline="30000" dirty="0">
              <a:latin typeface="Arial" pitchFamily="34" charset="0"/>
              <a:cs typeface="Arial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FF32D-0117-49FF-A1F1-A09FDF85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CC045-A07C-4F96-BBAE-9B37869E7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657600"/>
            <a:ext cx="4218943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9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F1C4-C2B2-468A-A72D-3D5818DAC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MOTIVATION BEHIND STRASSEN 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1E80D-9823-49BC-B217-40DE798E3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Simple Divide and Conquer also leads to O(N</a:t>
            </a:r>
            <a:r>
              <a:rPr lang="en-US" b="1" baseline="30000" dirty="0">
                <a:solidFill>
                  <a:srgbClr val="C00000"/>
                </a:solidFill>
              </a:rPr>
              <a:t>3</a:t>
            </a:r>
            <a:r>
              <a:rPr lang="en-US" b="1" dirty="0">
                <a:solidFill>
                  <a:srgbClr val="C00000"/>
                </a:solidFill>
              </a:rPr>
              <a:t>), can there be a better way?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the above divide and conquer method, the main component for high time complexity is 8 recursive calls. The idea of Strassen’s method is to reduce the number of recursive calls to 7. Multiplication is more costly operation than addition.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Addition and Subtraction of two matrices takes O(N</a:t>
            </a:r>
            <a:r>
              <a:rPr lang="en-US" baseline="30000" dirty="0"/>
              <a:t>2</a:t>
            </a:r>
            <a:r>
              <a:rPr lang="en-US" dirty="0"/>
              <a:t>) time. So time complexity can be written as</a:t>
            </a:r>
          </a:p>
          <a:p>
            <a:pPr marL="0" indent="0">
              <a:buNone/>
            </a:pPr>
            <a:r>
              <a:rPr lang="en-US" dirty="0"/>
              <a:t> 			</a:t>
            </a:r>
            <a:r>
              <a:rPr lang="en-US" b="1" dirty="0"/>
              <a:t>T(N) = 7T(N/2) + O(N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From Master's Theorem, time complexity of above method is O(N</a:t>
            </a:r>
            <a:r>
              <a:rPr lang="en-US" baseline="30000" dirty="0"/>
              <a:t>log</a:t>
            </a:r>
            <a:r>
              <a:rPr lang="en-US" baseline="-25000" dirty="0"/>
              <a:t>2</a:t>
            </a:r>
            <a:r>
              <a:rPr lang="en-US" baseline="30000" dirty="0"/>
              <a:t>7</a:t>
            </a:r>
            <a:r>
              <a:rPr lang="en-US" dirty="0"/>
              <a:t>) which is approximately O(N</a:t>
            </a:r>
            <a:r>
              <a:rPr lang="en-US" baseline="30000" dirty="0"/>
              <a:t>2.8074</a:t>
            </a:r>
            <a:r>
              <a:rPr lang="en-US" dirty="0"/>
              <a:t>) </a:t>
            </a:r>
            <a:r>
              <a:rPr lang="en-US" dirty="0" err="1"/>
              <a:t>i.e</a:t>
            </a:r>
            <a:r>
              <a:rPr lang="en-US" dirty="0"/>
              <a:t> O(N</a:t>
            </a:r>
            <a:r>
              <a:rPr lang="en-US" baseline="30000" dirty="0"/>
              <a:t>2.81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7F166-820B-4D89-8014-2B7490F4E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04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 err="1"/>
              <a:t>Strassen’s</a:t>
            </a:r>
            <a:r>
              <a:rPr lang="fr-FR" sz="2800" dirty="0"/>
              <a:t> </a:t>
            </a:r>
            <a:r>
              <a:rPr lang="fr-FR" sz="2800" dirty="0" err="1"/>
              <a:t>Algorithm</a:t>
            </a:r>
            <a:r>
              <a:rPr lang="fr-FR" sz="2800" dirty="0"/>
              <a:t> for Matrix Multiplication 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problem of </a:t>
                </a:r>
                <a:r>
                  <a:rPr lang="en-US" b="1" dirty="0"/>
                  <a:t>multiplying</a:t>
                </a:r>
                <a:r>
                  <a:rPr lang="en-US" dirty="0"/>
                  <a:t> two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matrices. </a:t>
                </a:r>
              </a:p>
              <a:p>
                <a:r>
                  <a:rPr lang="en-US" dirty="0"/>
                  <a:t>Strassen’s devised a better method which has the </a:t>
                </a:r>
                <a:r>
                  <a:rPr lang="en-US" b="1" dirty="0"/>
                  <a:t>same basic method </a:t>
                </a:r>
                <a:r>
                  <a:rPr lang="en-US" dirty="0"/>
                  <a:t>as the multiplication of long integers. </a:t>
                </a:r>
              </a:p>
              <a:p>
                <a:r>
                  <a:rPr lang="en-US" dirty="0"/>
                  <a:t>The main idea is </a:t>
                </a:r>
                <a:r>
                  <a:rPr lang="en-US" b="1" dirty="0"/>
                  <a:t>to save one multiplication </a:t>
                </a:r>
                <a:r>
                  <a:rPr lang="en-US" dirty="0"/>
                  <a:t>on a small problem and then use recursion.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66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0" y="104182"/>
            <a:ext cx="8153399" cy="808037"/>
          </a:xfrm>
        </p:spPr>
        <p:txBody>
          <a:bodyPr>
            <a:noAutofit/>
          </a:bodyPr>
          <a:lstStyle/>
          <a:p>
            <a:r>
              <a:rPr lang="fr-FR" sz="3200" b="1" dirty="0" err="1"/>
              <a:t>Strassen’s</a:t>
            </a:r>
            <a:r>
              <a:rPr lang="fr-FR" sz="3200" b="1" dirty="0"/>
              <a:t> </a:t>
            </a:r>
            <a:r>
              <a:rPr lang="fr-FR" sz="3200" b="1" dirty="0" err="1"/>
              <a:t>Algorithm</a:t>
            </a:r>
            <a:r>
              <a:rPr lang="fr-FR" sz="3200" b="1" dirty="0"/>
              <a:t> for Matrix Multiplication </a:t>
            </a:r>
            <a:endParaRPr lang="en-US" sz="3200" b="1" dirty="0"/>
          </a:p>
        </p:txBody>
      </p:sp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26517C4E-BFEC-40E3-86C3-3774536BF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605" y="304800"/>
            <a:ext cx="924269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757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Strassen’s</a:t>
            </a:r>
            <a:r>
              <a:rPr lang="fr-FR" dirty="0"/>
              <a:t> </a:t>
            </a:r>
            <a:r>
              <a:rPr lang="fr-FR" dirty="0" err="1"/>
              <a:t>Algorithm</a:t>
            </a:r>
            <a:r>
              <a:rPr lang="fr-FR" dirty="0"/>
              <a:t> - </a:t>
            </a:r>
            <a:r>
              <a:rPr lang="fr-FR" dirty="0" err="1"/>
              <a:t>Analysis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35282" y="1036637"/>
                <a:ext cx="8763000" cy="5334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It is therefore possible to multiply two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2 </m:t>
                    </m:r>
                  </m:oMath>
                </a14:m>
                <a:r>
                  <a:rPr lang="en-US" dirty="0"/>
                  <a:t>matrices using only </a:t>
                </a:r>
                <a:r>
                  <a:rPr lang="en-US" b="1" dirty="0"/>
                  <a:t>seven scalar multiplications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time needed to multiply two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matrices by </a:t>
                </a:r>
                <a:r>
                  <a:rPr lang="en-US" b="1" dirty="0"/>
                  <a:t>recursive use of equations</a:t>
                </a:r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8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general equation applies with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=7,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 </a:t>
                </a:r>
                <a:r>
                  <a:rPr lang="en-US" b="1" dirty="0"/>
                  <a:t>third case </a:t>
                </a:r>
                <a:r>
                  <a:rPr lang="en-US" dirty="0"/>
                  <a:t>applies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𝑙𝑔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7&gt;2.81</m:t>
                    </m:r>
                  </m:oMath>
                </a14:m>
                <a:r>
                  <a:rPr lang="en-US" dirty="0"/>
                  <a:t>, it is possible to multiply two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matrices in a time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𝟖𝟏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35282" y="1036637"/>
                <a:ext cx="8763000" cy="5334000"/>
              </a:xfrm>
              <a:blipFill>
                <a:blip r:embed="rId2"/>
                <a:stretch>
                  <a:fillRect l="-974" t="-457" r="-10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08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640" y="2788920"/>
            <a:ext cx="3474720" cy="640080"/>
          </a:xfrm>
          <a:noFill/>
        </p:spPr>
        <p:txBody>
          <a:bodyPr>
            <a:noAutofit/>
          </a:bodyPr>
          <a:lstStyle/>
          <a:p>
            <a:r>
              <a:rPr lang="en-US" cap="none" dirty="0">
                <a:solidFill>
                  <a:srgbClr val="C00000"/>
                </a:solidFill>
              </a:rPr>
              <a:t>Exponentiation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Pentagon 4"/>
          <p:cNvSpPr/>
          <p:nvPr/>
        </p:nvSpPr>
        <p:spPr>
          <a:xfrm rot="5400000">
            <a:off x="-1490568" y="3017522"/>
            <a:ext cx="6858000" cy="822960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7BA1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9637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Exponentiation - Sequential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be two integers. We wish to compute the </a:t>
                </a:r>
                <a:r>
                  <a:rPr lang="en-US" b="1" dirty="0"/>
                  <a:t>exponentiation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Algorithm using </a:t>
                </a:r>
                <a:r>
                  <a:rPr lang="en-US" b="1" dirty="0"/>
                  <a:t>Sequential Approach: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algorithm takes a time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since the instruction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/>
                  <a:t> is executed exactly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r>
                  <a:rPr lang="en-US" dirty="0"/>
                  <a:t>, provided the multiplications are counted as elementary operations.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1" t="-457" r="-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3829050" y="2383938"/>
            <a:ext cx="4533900" cy="2492862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342900" indent="-3429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function exposeq(a, n)</a:t>
            </a:r>
          </a:p>
          <a:p>
            <a:pPr marL="400050" lvl="1" indent="0">
              <a:buNone/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r ← a</a:t>
            </a:r>
          </a:p>
          <a:p>
            <a:pPr marL="400050" lvl="1" indent="0">
              <a:buNone/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 ← 1 to n - 1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do </a:t>
            </a:r>
          </a:p>
          <a:p>
            <a:pPr marL="800100" lvl="2" indent="0">
              <a:buNone/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r ← a * r</a:t>
            </a:r>
          </a:p>
          <a:p>
            <a:pPr marL="400050" lvl="1" indent="0">
              <a:buNone/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return r</a:t>
            </a:r>
          </a:p>
        </p:txBody>
      </p:sp>
    </p:spTree>
    <p:extLst>
      <p:ext uri="{BB962C8B-B14F-4D97-AF65-F5344CB8AC3E}">
        <p14:creationId xmlns:p14="http://schemas.microsoft.com/office/powerpoint/2010/main" val="82296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Exponentiation - Sequential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But </a:t>
                </a:r>
                <a:r>
                  <a:rPr lang="en-US" b="1" dirty="0"/>
                  <a:t>to handle larger operands</a:t>
                </a:r>
                <a:r>
                  <a:rPr lang="en-US" dirty="0"/>
                  <a:t>, we must consider the time required for each multiplication. 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be the size of operand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Therefore, the multiplication performed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b="1" dirty="0"/>
                  <a:t> time </a:t>
                </a:r>
                <a:r>
                  <a:rPr lang="en-US" dirty="0"/>
                  <a:t>round the loop concerns </a:t>
                </a:r>
                <a:r>
                  <a:rPr lang="en-US" b="1" dirty="0"/>
                  <a:t>an integer of size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:r>
                  <a:rPr lang="en-US" b="1" dirty="0"/>
                  <a:t>an integer whose size is between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𝒊𝒎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𝒊𝒎</m:t>
                    </m:r>
                  </m:oMath>
                </a14:m>
                <a:r>
                  <a:rPr lang="en-US" dirty="0"/>
                  <a:t>, which takes a time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+ 1)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54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2133600" y="4191000"/>
                <a:ext cx="8153400" cy="2209800"/>
              </a:xfrm>
              <a:prstGeom prst="round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14000"/>
                  </a:lnSpc>
                </a:pP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=5  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𝑠𝑜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i="1" dirty="0">
                    <a:solidFill>
                      <a:srgbClr val="0066FF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=25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and suppose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200" i="1" dirty="0">
                  <a:solidFill>
                    <a:srgbClr val="0066FF"/>
                  </a:solidFill>
                </a:endParaRPr>
              </a:p>
              <a:p>
                <a:pPr algn="just">
                  <a:lnSpc>
                    <a:spcPct val="114000"/>
                  </a:lnSpc>
                </a:pPr>
                <a:r>
                  <a:rPr lang="en-US" sz="2200" dirty="0">
                    <a:solidFill>
                      <a:schemeClr val="tx1"/>
                    </a:solidFill>
                  </a:rPr>
                  <a:t>The body of loop executes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2200" i="1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𝑡h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time as,</a:t>
                </a:r>
              </a:p>
              <a:p>
                <a:pPr lvl="2" algn="just"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2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2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n-US" sz="22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2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2200" dirty="0">
                    <a:solidFill>
                      <a:schemeClr val="tx1"/>
                    </a:solidFill>
                  </a:rPr>
                  <a:t>here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times multiplication is already done so </a:t>
                </a:r>
                <a14:m>
                  <m:oMath xmlns:m="http://schemas.openxmlformats.org/officeDocument/2006/math">
                    <m:r>
                      <a:rPr lang="en-US" sz="22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2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=1953125</m:t>
                    </m:r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14000"/>
                  </a:lnSpc>
                </a:pPr>
                <a:r>
                  <a:rPr lang="en-US" sz="2200" dirty="0">
                    <a:solidFill>
                      <a:schemeClr val="tx1"/>
                    </a:solidFill>
                  </a:rPr>
                  <a:t>The size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is between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𝑖𝑚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err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𝑖𝑚</m:t>
                    </m:r>
                    <m:r>
                      <a:rPr 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i.e., between </a:t>
                </a:r>
                <a14:m>
                  <m:oMath xmlns:m="http://schemas.openxmlformats.org/officeDocument/2006/math">
                    <m:r>
                      <a:rPr lang="en-US" sz="22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2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𝒕𝒐</m:t>
                    </m:r>
                    <m:r>
                      <a:rPr lang="en-US" sz="22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2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191000"/>
                <a:ext cx="8153400" cy="2209800"/>
              </a:xfrm>
              <a:prstGeom prst="roundRect">
                <a:avLst/>
              </a:prstGeom>
              <a:blipFill>
                <a:blip r:embed="rId3"/>
                <a:stretch>
                  <a:fillRect b="-275"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091816" y="3672348"/>
            <a:ext cx="449334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Exponentiation - Sequential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total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spent multiplying when computing a</a:t>
                </a:r>
                <a:r>
                  <a:rPr lang="en-US" baseline="30000" dirty="0"/>
                  <a:t>n</a:t>
                </a:r>
                <a:r>
                  <a:rPr lang="en-US" dirty="0"/>
                  <a:t> with </a:t>
                </a:r>
                <a:r>
                  <a:rPr lang="en-US" b="1" i="1" dirty="0" err="1"/>
                  <a:t>exposeq</a:t>
                </a:r>
                <a:r>
                  <a:rPr lang="en-US" dirty="0"/>
                  <a:t> is therefore,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−1+1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𝑖𝑚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𝑖𝑚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𝑖𝑚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If we use the </a:t>
                </a:r>
                <a:r>
                  <a:rPr lang="en-US" b="1" dirty="0"/>
                  <a:t>divide-and-conquer</a:t>
                </a:r>
                <a:r>
                  <a:rPr lang="en-US" dirty="0"/>
                  <a:t> multiplication algorithm, 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𝒍𝒈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baseline="30000" dirty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1" t="-4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19800" y="5486400"/>
            <a:ext cx="1554480" cy="46101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Exponentiation – D &amp;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efficient exponentiation algorithm is based on the simple observation that for an even n, a</a:t>
                </a:r>
                <a:r>
                  <a:rPr lang="en-US" baseline="30000" dirty="0"/>
                  <a:t>n</a:t>
                </a:r>
                <a:r>
                  <a:rPr lang="en-US" dirty="0"/>
                  <a:t>=a</a:t>
                </a:r>
                <a:r>
                  <a:rPr lang="en-US" baseline="30000" dirty="0"/>
                  <a:t>(n/2)</a:t>
                </a:r>
                <a:r>
                  <a:rPr lang="en-US" dirty="0"/>
                  <a:t> * a</a:t>
                </a:r>
                <a:r>
                  <a:rPr lang="en-US" baseline="30000" dirty="0"/>
                  <a:t>(n/2)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The case of odd b is trivial, as it's obvious that a</a:t>
                </a:r>
                <a:r>
                  <a:rPr lang="en-US" baseline="30000" dirty="0"/>
                  <a:t>n</a:t>
                </a:r>
                <a:r>
                  <a:rPr lang="en-US" dirty="0"/>
                  <a:t>=a</a:t>
                </a:r>
                <a:r>
                  <a:rPr lang="en-US" baseline="30000" dirty="0"/>
                  <a:t> </a:t>
                </a:r>
                <a:r>
                  <a:rPr lang="en-US" dirty="0"/>
                  <a:t>* a</a:t>
                </a:r>
                <a:r>
                  <a:rPr lang="en-US" baseline="30000" dirty="0"/>
                  <a:t>(n-1)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So now we can compute by doing only log(n) </a:t>
                </a:r>
                <a:r>
                  <a:rPr lang="en-US" dirty="0" err="1"/>
                  <a:t>squarings</a:t>
                </a:r>
                <a:r>
                  <a:rPr lang="en-US" dirty="0"/>
                  <a:t> and no more than log(n) multiplications, instead of n multiplications - and this is a very improvement </a:t>
                </a:r>
                <a:r>
                  <a:rPr lang="en-US" dirty="0">
                    <a:solidFill>
                      <a:srgbClr val="C00000"/>
                    </a:solidFill>
                  </a:rPr>
                  <a:t>for a large n</a:t>
                </a:r>
                <a:r>
                  <a:rPr lang="en-US" dirty="0"/>
                  <a:t>.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Suppose, we want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p>
                    </m:sSup>
                  </m:oMath>
                </a14:m>
                <a:endParaRPr lang="en-US" sz="2800" b="1" dirty="0"/>
              </a:p>
              <a:p>
                <a:pPr marL="0" indent="0">
                  <a:buNone/>
                </a:pPr>
                <a:r>
                  <a:rPr lang="en-US" dirty="0"/>
                  <a:t>We can write as,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800" i="1" baseline="30000" dirty="0">
                          <a:latin typeface="Cambria Math" panose="02040503050406030204" pitchFamily="18" charset="0"/>
                        </a:rPr>
                        <m:t>10  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= (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800" i="1" baseline="30000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sz="2800" i="1" baseline="30000" dirty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= (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800" i="1" baseline="30000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sz="2800" i="1" baseline="30000" dirty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= (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.(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8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 )</m:t>
                      </m:r>
                      <m:r>
                        <a:rPr lang="fr-FR" sz="28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sz="2800" i="1" baseline="30000" dirty="0">
                          <a:latin typeface="Cambria Math" panose="02040503050406030204" pitchFamily="18" charset="0"/>
                        </a:rPr>
                        <m:t>2   </m:t>
                      </m:r>
                    </m:oMath>
                  </m:oMathPara>
                </a14:m>
                <a:endParaRPr lang="fr-FR" sz="2800" baseline="30000" dirty="0"/>
              </a:p>
              <a:p>
                <a:r>
                  <a:rPr lang="en-US" dirty="0"/>
                  <a:t>In general,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           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𝑖𝑓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       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𝑖𝑓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f>
                                              <m:fPr>
                                                <m:type m:val="lin"/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𝑒𝑣𝑒𝑛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78" t="-1143" r="-6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07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Exponentiation – D &amp;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4000" y="990600"/>
                <a:ext cx="11684000" cy="550227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Algorithm using </a:t>
                </a:r>
                <a:r>
                  <a:rPr lang="en-US" b="1" dirty="0"/>
                  <a:t>Divide &amp; Conquer Approach: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dirty="0"/>
                  <a:t>Number of operations performed by the algorithm is given by,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               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𝑖𝑓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             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𝑒𝑣𝑒𝑛</m:t>
                              </m:r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000" y="990600"/>
                <a:ext cx="11684000" cy="5502276"/>
              </a:xfrm>
              <a:blipFill>
                <a:blip r:embed="rId2"/>
                <a:stretch>
                  <a:fillRect l="-574" t="-7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2247900" y="1447800"/>
            <a:ext cx="7696200" cy="2466829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342900" indent="-3429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nsolas" pitchFamily="49" charset="0"/>
                <a:cs typeface="Consolas" pitchFamily="49" charset="0"/>
              </a:rPr>
              <a:t>function </a:t>
            </a:r>
            <a:r>
              <a:rPr lang="en-US" b="1" dirty="0" err="1">
                <a:latin typeface="Consolas" pitchFamily="49" charset="0"/>
                <a:cs typeface="Consolas" pitchFamily="49" charset="0"/>
              </a:rPr>
              <a:t>expoDC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(a, n)</a:t>
            </a:r>
          </a:p>
          <a:p>
            <a:pPr marL="0" indent="0">
              <a:buNone/>
            </a:pPr>
            <a:r>
              <a:rPr lang="en-US" b="1" dirty="0">
                <a:latin typeface="Consolas" pitchFamily="49" charset="0"/>
                <a:cs typeface="Consolas" pitchFamily="49" charset="0"/>
              </a:rPr>
              <a:t>  if n = 0 then return  1 </a:t>
            </a:r>
          </a:p>
          <a:p>
            <a:pPr marL="0" indent="0">
              <a:buNone/>
            </a:pPr>
            <a:r>
              <a:rPr lang="en-US" sz="2400" b="1" dirty="0">
                <a:latin typeface="Consolas" pitchFamily="49" charset="0"/>
                <a:cs typeface="Consolas" pitchFamily="49" charset="0"/>
              </a:rPr>
              <a:t>  if n = 1 then return  a</a:t>
            </a:r>
            <a:endParaRPr lang="en-US" b="1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nsolas" pitchFamily="49" charset="0"/>
                <a:cs typeface="Consolas" pitchFamily="49" charset="0"/>
              </a:rPr>
              <a:t>  if n is even then return </a:t>
            </a:r>
            <a:r>
              <a:rPr lang="en-US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sz="24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expoDC</a:t>
            </a:r>
            <a:r>
              <a:rPr lang="en-US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(a, n/2)]</a:t>
            </a:r>
            <a:r>
              <a:rPr lang="en-US" sz="2400" b="1" baseline="300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2</a:t>
            </a:r>
          </a:p>
          <a:p>
            <a:pPr marL="0" indent="0">
              <a:buNone/>
            </a:pPr>
            <a:r>
              <a:rPr lang="en-US" b="1" baseline="300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else 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return </a:t>
            </a:r>
            <a:r>
              <a:rPr lang="en-US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a * </a:t>
            </a:r>
            <a:r>
              <a:rPr lang="en-US" sz="24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expoDC</a:t>
            </a:r>
            <a:r>
              <a:rPr lang="en-US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(a, n - 1)</a:t>
            </a:r>
          </a:p>
        </p:txBody>
      </p:sp>
    </p:spTree>
    <p:extLst>
      <p:ext uri="{BB962C8B-B14F-4D97-AF65-F5344CB8AC3E}">
        <p14:creationId xmlns:p14="http://schemas.microsoft.com/office/powerpoint/2010/main" val="61381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Exponentiation – D &amp;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1400" y="3810000"/>
            <a:ext cx="4546600" cy="25146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N/2</a:t>
            </a:r>
            <a:r>
              <a:rPr lang="en-US" baseline="30000" dirty="0"/>
              <a:t>x </a:t>
            </a:r>
            <a:r>
              <a:rPr lang="en-US" dirty="0"/>
              <a:t>= 1</a:t>
            </a:r>
          </a:p>
          <a:p>
            <a:r>
              <a:rPr lang="en-US" dirty="0"/>
              <a:t>N = 2</a:t>
            </a:r>
            <a:r>
              <a:rPr lang="en-US" baseline="30000" dirty="0"/>
              <a:t>x</a:t>
            </a:r>
          </a:p>
          <a:p>
            <a:r>
              <a:rPr lang="en-US" dirty="0" err="1"/>
              <a:t>logN</a:t>
            </a:r>
            <a:r>
              <a:rPr lang="en-US" dirty="0"/>
              <a:t> = x</a:t>
            </a:r>
          </a:p>
          <a:p>
            <a:r>
              <a:rPr lang="en-US" dirty="0"/>
              <a:t>O(</a:t>
            </a:r>
            <a:r>
              <a:rPr lang="en-US" dirty="0" err="1"/>
              <a:t>logN</a:t>
            </a:r>
            <a:r>
              <a:rPr lang="en-US" dirty="0"/>
              <a:t>)</a:t>
            </a:r>
          </a:p>
          <a:p>
            <a:r>
              <a:rPr lang="en-US" dirty="0"/>
              <a:t>N=2</a:t>
            </a:r>
            <a:r>
              <a:rPr lang="en-US" baseline="30000" dirty="0"/>
              <a:t>12</a:t>
            </a:r>
          </a:p>
          <a:p>
            <a:r>
              <a:rPr lang="en-US" dirty="0"/>
              <a:t>Speed of the machine is 2</a:t>
            </a:r>
            <a:r>
              <a:rPr lang="en-US" baseline="30000" dirty="0"/>
              <a:t>10</a:t>
            </a:r>
            <a:r>
              <a:rPr lang="en-US" dirty="0"/>
              <a:t> / second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ADEA94-471D-4AF6-9F68-2E07E54A01C5}"/>
              </a:ext>
            </a:extLst>
          </p:cNvPr>
          <p:cNvSpPr/>
          <p:nvPr/>
        </p:nvSpPr>
        <p:spPr>
          <a:xfrm>
            <a:off x="5511720" y="914401"/>
            <a:ext cx="685800" cy="6858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a</a:t>
            </a:r>
            <a:r>
              <a:rPr lang="en-IN" sz="2800" baseline="30000" dirty="0"/>
              <a:t>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EDBEEE-D4A4-4357-8830-07553B82D404}"/>
              </a:ext>
            </a:extLst>
          </p:cNvPr>
          <p:cNvSpPr/>
          <p:nvPr/>
        </p:nvSpPr>
        <p:spPr>
          <a:xfrm>
            <a:off x="4495800" y="1905000"/>
            <a:ext cx="685800" cy="6858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a</a:t>
            </a:r>
            <a:r>
              <a:rPr lang="en-IN" sz="1600" baseline="30000" dirty="0"/>
              <a:t>n/2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46E3A7-8C98-4F26-BB9B-ECE64C342B3C}"/>
              </a:ext>
            </a:extLst>
          </p:cNvPr>
          <p:cNvSpPr/>
          <p:nvPr/>
        </p:nvSpPr>
        <p:spPr>
          <a:xfrm>
            <a:off x="6400800" y="2019300"/>
            <a:ext cx="685800" cy="685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a</a:t>
            </a:r>
            <a:r>
              <a:rPr lang="en-IN" sz="1600" baseline="30000" dirty="0"/>
              <a:t>n/2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AA0DE60-8045-4588-A9CE-2217F51EF6EE}"/>
              </a:ext>
            </a:extLst>
          </p:cNvPr>
          <p:cNvSpPr/>
          <p:nvPr/>
        </p:nvSpPr>
        <p:spPr>
          <a:xfrm>
            <a:off x="3505200" y="3028951"/>
            <a:ext cx="685800" cy="6858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a</a:t>
            </a:r>
            <a:r>
              <a:rPr lang="en-IN" sz="1600" baseline="30000" dirty="0"/>
              <a:t>n/4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DF2764-D804-40C5-A347-78C83ED053A4}"/>
              </a:ext>
            </a:extLst>
          </p:cNvPr>
          <p:cNvSpPr/>
          <p:nvPr/>
        </p:nvSpPr>
        <p:spPr>
          <a:xfrm>
            <a:off x="5410200" y="3067050"/>
            <a:ext cx="685800" cy="685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a</a:t>
            </a:r>
            <a:r>
              <a:rPr lang="en-IN" sz="1600" baseline="30000" dirty="0"/>
              <a:t>n/4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95E0D08-8E78-442A-902B-5D55020A9B11}"/>
              </a:ext>
            </a:extLst>
          </p:cNvPr>
          <p:cNvSpPr/>
          <p:nvPr/>
        </p:nvSpPr>
        <p:spPr>
          <a:xfrm>
            <a:off x="2590800" y="4152900"/>
            <a:ext cx="685800" cy="6858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a</a:t>
            </a:r>
            <a:r>
              <a:rPr lang="en-IN" sz="1600" baseline="30000" dirty="0"/>
              <a:t>n/8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6690D8-4887-4E94-BC32-714871713A0D}"/>
              </a:ext>
            </a:extLst>
          </p:cNvPr>
          <p:cNvSpPr/>
          <p:nvPr/>
        </p:nvSpPr>
        <p:spPr>
          <a:xfrm>
            <a:off x="4343400" y="4215234"/>
            <a:ext cx="685800" cy="685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a</a:t>
            </a:r>
            <a:r>
              <a:rPr lang="en-IN" sz="1600" baseline="30000" dirty="0"/>
              <a:t>n/8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A5A752-58EA-49E9-AAAF-439C5A3CC34E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5081167" y="1499768"/>
            <a:ext cx="530986" cy="5056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1787DD-C66C-4362-AFDA-12F2C08C279A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4090567" y="2490367"/>
            <a:ext cx="505666" cy="6390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1E1B32-670B-4D64-A958-D68D4910174B}"/>
              </a:ext>
            </a:extLst>
          </p:cNvPr>
          <p:cNvCxnSpPr>
            <a:cxnSpLocks/>
            <a:endCxn id="13" idx="7"/>
          </p:cNvCxnSpPr>
          <p:nvPr/>
        </p:nvCxnSpPr>
        <p:spPr>
          <a:xfrm flipH="1">
            <a:off x="3176167" y="3633367"/>
            <a:ext cx="454786" cy="6199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986128-0EE5-450A-8555-BDDEBB35A479}"/>
              </a:ext>
            </a:extLst>
          </p:cNvPr>
          <p:cNvCxnSpPr>
            <a:stCxn id="6" idx="5"/>
            <a:endCxn id="9" idx="1"/>
          </p:cNvCxnSpPr>
          <p:nvPr/>
        </p:nvCxnSpPr>
        <p:spPr>
          <a:xfrm>
            <a:off x="6097087" y="1499768"/>
            <a:ext cx="404146" cy="61996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B392E3-AD84-4C44-81D6-E1C481D62A7C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5081167" y="2490367"/>
            <a:ext cx="429466" cy="67711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BE54599-81B3-4DE4-9BB8-BA3A47D6356F}"/>
              </a:ext>
            </a:extLst>
          </p:cNvPr>
          <p:cNvCxnSpPr>
            <a:cxnSpLocks/>
            <a:stCxn id="11" idx="5"/>
            <a:endCxn id="14" idx="1"/>
          </p:cNvCxnSpPr>
          <p:nvPr/>
        </p:nvCxnSpPr>
        <p:spPr>
          <a:xfrm>
            <a:off x="4090567" y="3614318"/>
            <a:ext cx="353266" cy="70134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FCC8D01-273B-4FE8-BBC6-CF13BF969280}"/>
              </a:ext>
            </a:extLst>
          </p:cNvPr>
          <p:cNvSpPr/>
          <p:nvPr/>
        </p:nvSpPr>
        <p:spPr>
          <a:xfrm>
            <a:off x="1752600" y="5410200"/>
            <a:ext cx="685800" cy="6858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a</a:t>
            </a:r>
            <a:r>
              <a:rPr lang="en-IN" sz="1600" baseline="30000" dirty="0"/>
              <a:t>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B0D51AC-4A06-4D6F-A2EB-5792A853331E}"/>
              </a:ext>
            </a:extLst>
          </p:cNvPr>
          <p:cNvCxnSpPr>
            <a:stCxn id="13" idx="3"/>
            <a:endCxn id="33" idx="0"/>
          </p:cNvCxnSpPr>
          <p:nvPr/>
        </p:nvCxnSpPr>
        <p:spPr>
          <a:xfrm flipH="1">
            <a:off x="2095500" y="4738267"/>
            <a:ext cx="595733" cy="67193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5238F7AB-38B8-4D1B-88D9-6B1E77131F9E}"/>
              </a:ext>
            </a:extLst>
          </p:cNvPr>
          <p:cNvSpPr/>
          <p:nvPr/>
        </p:nvSpPr>
        <p:spPr>
          <a:xfrm>
            <a:off x="3060660" y="5486401"/>
            <a:ext cx="685800" cy="6858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a</a:t>
            </a:r>
            <a:r>
              <a:rPr lang="en-IN" sz="1600" baseline="30000" dirty="0"/>
              <a:t>1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94F17FC-3934-49A4-85DA-610299E0D8FC}"/>
              </a:ext>
            </a:extLst>
          </p:cNvPr>
          <p:cNvCxnSpPr>
            <a:stCxn id="13" idx="4"/>
            <a:endCxn id="37" idx="1"/>
          </p:cNvCxnSpPr>
          <p:nvPr/>
        </p:nvCxnSpPr>
        <p:spPr>
          <a:xfrm>
            <a:off x="2933700" y="4838700"/>
            <a:ext cx="227393" cy="74813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5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41291" y="2767282"/>
            <a:ext cx="490942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50071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35867</TotalTime>
  <Words>5190</Words>
  <Application>Microsoft Office PowerPoint</Application>
  <PresentationFormat>Widescreen</PresentationFormat>
  <Paragraphs>1055</Paragraphs>
  <Slides>59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1" baseType="lpstr">
      <vt:lpstr>Arial</vt:lpstr>
      <vt:lpstr>Calibri</vt:lpstr>
      <vt:lpstr>Cambria Math</vt:lpstr>
      <vt:lpstr>Consolas</vt:lpstr>
      <vt:lpstr>Lucida Fax</vt:lpstr>
      <vt:lpstr>Open Sans</vt:lpstr>
      <vt:lpstr>Open Sans Extrabold</vt:lpstr>
      <vt:lpstr>Open Sans Semibold</vt:lpstr>
      <vt:lpstr>Roboto Condensed</vt:lpstr>
      <vt:lpstr>Swis721 Cn BT</vt:lpstr>
      <vt:lpstr>Wingdings</vt:lpstr>
      <vt:lpstr>Office Theme</vt:lpstr>
      <vt:lpstr>2CS503 Design &amp; Analysis of Algorithm  </vt:lpstr>
      <vt:lpstr>Divide &amp; Conquer (D&amp;C) Technique</vt:lpstr>
      <vt:lpstr>D&amp;C: Running Time Analysis</vt:lpstr>
      <vt:lpstr>Binary Search</vt:lpstr>
      <vt:lpstr>Binary Search</vt:lpstr>
      <vt:lpstr>Binary Search - Example</vt:lpstr>
      <vt:lpstr>Binary Search - Example</vt:lpstr>
      <vt:lpstr>Binary Search - Example</vt:lpstr>
      <vt:lpstr>Binary Search - Example</vt:lpstr>
      <vt:lpstr>Binary Search – Iterative Algorithm</vt:lpstr>
      <vt:lpstr>Binary Search – Recursive Algorithm</vt:lpstr>
      <vt:lpstr>Binary Search - Analysis</vt:lpstr>
      <vt:lpstr>Binary Search – Examples</vt:lpstr>
      <vt:lpstr>Merge Sort</vt:lpstr>
      <vt:lpstr>Merge Sort - Example</vt:lpstr>
      <vt:lpstr>Merge Sort - Example</vt:lpstr>
      <vt:lpstr>Merge Sort – Example (HW)</vt:lpstr>
      <vt:lpstr>Merge Sort - Algorithm</vt:lpstr>
      <vt:lpstr>Merge Sort - Algorithm</vt:lpstr>
      <vt:lpstr>Merge Sort - Analysis</vt:lpstr>
      <vt:lpstr>Quick Sort</vt:lpstr>
      <vt:lpstr>Quick Sort – Example(Inplace)</vt:lpstr>
      <vt:lpstr>Quick Sort - Example</vt:lpstr>
      <vt:lpstr>Quick Sort - Example</vt:lpstr>
      <vt:lpstr>Quick Sort - Example</vt:lpstr>
      <vt:lpstr>Quick Sort - Example</vt:lpstr>
      <vt:lpstr>Quick Sort - Examples</vt:lpstr>
      <vt:lpstr>Quick Sort - Algorithm</vt:lpstr>
      <vt:lpstr>Quick Sort - Analysis</vt:lpstr>
      <vt:lpstr>Quick Sort - Analysis</vt:lpstr>
      <vt:lpstr>Multiplying Large Integers</vt:lpstr>
      <vt:lpstr>Multiplying Large Integers Problem</vt:lpstr>
      <vt:lpstr> </vt:lpstr>
      <vt:lpstr>Multiplying Large Integers Problem</vt:lpstr>
      <vt:lpstr>                                    for Binary Number</vt:lpstr>
      <vt:lpstr>Algorithm</vt:lpstr>
      <vt:lpstr>Analysis of Time Complexity</vt:lpstr>
      <vt:lpstr>Multiplying Large Integers Problem</vt:lpstr>
      <vt:lpstr>Strassen’s Algorithm for Matrix Multiplication </vt:lpstr>
      <vt:lpstr>Matrix Multiplication</vt:lpstr>
      <vt:lpstr>Matrix Multiplication</vt:lpstr>
      <vt:lpstr>Algorithm for simple Addition</vt:lpstr>
      <vt:lpstr>Algorithm for simple multiplication</vt:lpstr>
      <vt:lpstr>Divide and Conquer Approach</vt:lpstr>
      <vt:lpstr>PowerPoint Presentation</vt:lpstr>
      <vt:lpstr>PowerPoint Presentation</vt:lpstr>
      <vt:lpstr>Logic</vt:lpstr>
      <vt:lpstr>MOTIVATION BEHIND STRASSEN ALGORITHM</vt:lpstr>
      <vt:lpstr>Strassen’s Algorithm for Matrix Multiplication </vt:lpstr>
      <vt:lpstr>Strassen’s Algorithm for Matrix Multiplication </vt:lpstr>
      <vt:lpstr>Strassen’s Algorithm - Analysis</vt:lpstr>
      <vt:lpstr>Exponentiation </vt:lpstr>
      <vt:lpstr>Exponentiation - Sequential </vt:lpstr>
      <vt:lpstr>Exponentiation - Sequential </vt:lpstr>
      <vt:lpstr>Exponentiation - Sequential </vt:lpstr>
      <vt:lpstr>Exponentiation – D &amp; C</vt:lpstr>
      <vt:lpstr>Exponentiation – D &amp; C</vt:lpstr>
      <vt:lpstr>Exponentiation – D &amp; C</vt:lpstr>
      <vt:lpstr>PowerPoint Presentation</vt:lpstr>
    </vt:vector>
  </TitlesOfParts>
  <Company>Darshan Institute of Engg. &amp; Tech.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W5 of Computer Engineering (Why, What, When, Where, How)</dc:title>
  <dc:creator>Darshan Institute of Engg. &amp; Tech.</dc:creator>
  <cp:lastModifiedBy>CSE-31</cp:lastModifiedBy>
  <cp:revision>1536</cp:revision>
  <dcterms:created xsi:type="dcterms:W3CDTF">2013-05-17T03:00:03Z</dcterms:created>
  <dcterms:modified xsi:type="dcterms:W3CDTF">2024-09-05T03:49:39Z</dcterms:modified>
</cp:coreProperties>
</file>